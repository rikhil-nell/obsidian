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96" r:id="rId2"/>
    <p:sldId id="298" r:id="rId3"/>
    <p:sldId id="301" r:id="rId4"/>
    <p:sldId id="303" r:id="rId5"/>
    <p:sldId id="304" r:id="rId6"/>
    <p:sldId id="306" r:id="rId7"/>
    <p:sldId id="307" r:id="rId8"/>
    <p:sldId id="308" r:id="rId9"/>
    <p:sldId id="310" r:id="rId10"/>
    <p:sldId id="311" r:id="rId11"/>
    <p:sldId id="312" r:id="rId12"/>
    <p:sldId id="313" r:id="rId13"/>
    <p:sldId id="295" r:id="rId14"/>
  </p:sldIdLst>
  <p:sldSz cx="12192000" cy="6858000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B7B7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6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072" y="-10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9387EB4-6FE1-4E66-A631-E74C03BDD1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Op-Amps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543C8E0-1C9F-49F3-AD62-5FB4218B90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02/14/2008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7ED71B2-F137-45C5-A69D-515571E3F26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Lecture 9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87F00686-1F65-4C21-942B-1C0DCFE3E1E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48F1E16-0E89-4263-8D10-91979CB69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2BC91E-E728-4743-9099-EAF8858D82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Op-Amps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DBB6CD8-94C9-4D13-A199-B59843AEFC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02/14/2008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321083F-7D54-4FB0-931E-F89523C673A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F3ADAD8-E8B9-4810-95F1-75E3E694DCC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CE23CF8-D703-48F1-B3EE-305E992E01E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Lecture 9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80A368D4-746A-45CB-B21C-5591E67ADC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0B9879E-8E6E-4DA8-9150-B3E92DC60D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Op-Amps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B9879E-8E6E-4DA8-9150-B3E92DC60D6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94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7CD1C6-533B-4E95-95F3-D7842C1CC5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7EB928-3B32-4CFF-911C-63B2FF90D1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0AF13F-BDB9-436D-8578-7596C24026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036F2-9428-41D3-A99E-2808D2184F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229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7D63F7-0AD2-4956-AAE5-FF14A2169B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4191AD-7304-438D-9BF3-73608D663E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45ECD1-C6F3-4401-8A70-90CA8473A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6F340-DDB2-4B82-9285-5089977D97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44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01C37E-E551-4D43-B768-EEF02A4D2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04827B-49E1-4702-AC10-0E51CD6D4A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D6FA47-8903-44E8-AD60-CB39D062BC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AD06D-A12A-4604-B624-B615DD6F75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19200"/>
            <a:ext cx="508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0BA10F-1AB2-437B-AA0E-6717B1735C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14BFE-A48A-4E87-9D22-3042CE57DE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FF579-5B6D-4DBD-B3F3-93D498FA9D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97080-24CA-4275-8313-EB42C6927A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3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1E2490-8108-4EBC-842C-A30D612646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54B3D2A-97E1-4334-A994-0421993B30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64E3E0D-0447-418A-B389-BCBA9C82CA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BF533-2756-4D10-AD6B-8A979441E1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20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1E51AD8-94B4-4BCC-8C40-5BEAF5089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DCBDA7-F256-4031-98D1-6694B57BCD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836EC5-BB7A-42A0-B601-9AF44139B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A2DCE-A678-4B0E-BEB7-1AE7B483FA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203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29F851E-BB5E-46D5-9B2F-8111C2433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BD2636-4093-4332-BA02-927826D2F7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2E1B28-414D-4736-AA7C-ECFD99A95C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91B54-6484-459A-927A-173745D0FF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9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60C0BE-95B3-427D-878B-063A65673A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C7A9F-6E88-4BE0-B823-1435821EB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67418-C3BA-4C32-8FCC-260F99AB72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F1941-0464-4F01-A261-6342802F5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14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7851D-5644-417F-B23D-5B4D8A18F5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6112F-ABF8-47A9-8549-F4D921C8FC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AF9D07-BFBB-4D93-B2F8-082EB4F6F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554B9-EEE9-4FD8-A831-21F2AB5176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787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548F04-29F4-4D3C-B7CC-74E646864B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C574FF-4C0D-4275-9248-BC892B464B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6E8DF6-135B-40ED-ACD7-7A5C2A7F3F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B0A6E-ACFE-4510-AEC6-F3E04E9C56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06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"/>
            <a:ext cx="2590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76200"/>
            <a:ext cx="75692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D81E5E-EDD4-4D69-B074-2654ACFB78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3422B3-D1FC-4989-8023-7DBE81523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82BCCE-C02B-4C2D-8749-145C7E10F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89A7E-882F-4003-9CE6-F68D0D66BD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879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219200"/>
            <a:ext cx="508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08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4F214-41A4-4E40-8473-2F811D94BF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EF19F7-005A-4426-BF8F-1B8E9325AC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017A2-698D-404D-9345-D4F54BBEBE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30CB4-003B-4D20-BB5A-E2915041B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94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9F90F5-425D-4134-A5BA-118AE04C9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A23716-9D33-427D-909B-86A5FC586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19200"/>
            <a:ext cx="10363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5CE3D40-C037-4DF8-AF61-8D56808DF3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n-US" altLang="en-US"/>
              <a:t>Winter 2012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29DD4E-72F2-4880-A3CE-ECDB5C7268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534400" y="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/>
              <a:t>UCSD: Physics 121; 2012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7A58A0E-2B0C-4611-9CBC-CA1366597C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53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651BEFF4-858C-48F9-8585-12DDC6930F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E880-CC01-A5A3-5A49-9DB4AD8B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857500"/>
            <a:ext cx="10363200" cy="1143000"/>
          </a:xfrm>
        </p:spPr>
        <p:txBody>
          <a:bodyPr/>
          <a:lstStyle/>
          <a:p>
            <a:r>
              <a:rPr lang="en-IN" b="1" dirty="0">
                <a:effectLst/>
              </a:rPr>
              <a:t>Internal Circuit of Op-Amp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92225-FE11-9163-4212-3C704EF6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333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48B5-341C-EC23-F292-174A813B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Op-Amp Internal Circuit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FAFA6-601C-3389-6DF3-7148A4C62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op-amp is a multistage, direct-coupled, high-gain amplifier that uses negative feedback, consists of one or more differential amplifier stages, and ends with a level translator and an output stage.</a:t>
            </a:r>
          </a:p>
          <a:p>
            <a:r>
              <a:rPr lang="en-US" dirty="0"/>
              <a:t>The input (differential) stage, often implemented using two cascaded differential amplifiers, provides high input resistance and the initial voltage gain of the op-amp.</a:t>
            </a:r>
          </a:p>
          <a:p>
            <a:r>
              <a:rPr lang="en-US" dirty="0"/>
              <a:t>Differential amplifier is a basic building block of an op-amp. The function of a differential amplifier is to amplify the difference between two input signals. The two transistors Q1 and Q2 have identical characteristics.</a:t>
            </a:r>
          </a:p>
          <a:p>
            <a:r>
              <a:rPr lang="en-US" dirty="0"/>
              <a:t>The resistances of the circuits are equal, i.e. RE1 = R E2, RC1 = R C2 and the magnitude of +VCC is equal to the magnitude of -VEE. These voltages are measured with respect to ground.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43971-BD58-61D1-4B08-780AB2F3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105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2DD33-D349-5D1C-1574-3326566C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2219E6-F9ED-52A9-87CB-3A4D6996D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123950"/>
            <a:ext cx="85915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36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3D733-3AC4-3CAA-3C13-1B6DB4F8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234DC-778E-353A-FAB8-CA05F54D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685800"/>
            <a:ext cx="8605837" cy="469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72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E3A9A-1488-6214-DE7B-3A32B4FD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DE7C92-02DC-F1FB-8303-8827F76F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685800"/>
            <a:ext cx="8859944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3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82B-C172-3FCB-141F-4638443F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Cascaded differential stage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3A06-AA52-1559-5CAE-F0A5711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28B2CA-44F3-AE63-63BE-0D3064E5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089" y="1066800"/>
            <a:ext cx="9456511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62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D22D-FC50-7B80-646B-01ADFB70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Shifter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A5462-ACED-4D9E-FAC1-28EF44FA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effectLst/>
              </a:rPr>
              <a:t>Direct coupling between successive differential stages causes a progressive rise in DC bias voltage levels, shifting operating points, limiting output swing, and risking signal distortion.</a:t>
            </a:r>
          </a:p>
          <a:p>
            <a:pPr algn="just"/>
            <a:r>
              <a:rPr lang="en-US" dirty="0">
                <a:effectLst/>
              </a:rPr>
              <a:t>To restore the DC output level to zero or a desired reference voltage, level translator circuits—typically emitter followers with resistive dividers—are inserted between stages.</a:t>
            </a:r>
          </a:p>
          <a:p>
            <a:pPr algn="just"/>
            <a:r>
              <a:rPr lang="en-US" dirty="0">
                <a:effectLst/>
              </a:rPr>
              <a:t>Simple voltage-divider emitter followers can be enhanced with diode-based or current-mirror biasing for better thermal stability, lower output impedance, and more precise DC level shifting.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C29EE-3FFD-2496-B187-B5B45045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62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BE32-7BCB-04DB-1F03-8F1744F6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400" dirty="0"/>
              <a:t>Here LS act like a buffer to isolate high gain stages from output. The amount of shift obtained is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B529EA-2AD2-2304-0079-0FFC22D95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09954" y="906685"/>
            <a:ext cx="3105082" cy="381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14DAC-280D-F6AB-5777-61DA9A8D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45389F-ECDD-0C6A-76D6-715FF5B9AF0F}"/>
              </a:ext>
            </a:extLst>
          </p:cNvPr>
          <p:cNvGrpSpPr/>
          <p:nvPr/>
        </p:nvGrpSpPr>
        <p:grpSpPr>
          <a:xfrm>
            <a:off x="7687129" y="1066800"/>
            <a:ext cx="3609975" cy="4229100"/>
            <a:chOff x="6096000" y="1066800"/>
            <a:chExt cx="3609975" cy="42291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99F7837-CE0F-C7B9-6FEB-1C0AF5391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400" y="1066800"/>
              <a:ext cx="3076575" cy="42291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0F59A8-3E34-F6AB-097A-4E0F45E6A95B}"/>
                </a:ext>
              </a:extLst>
            </p:cNvPr>
            <p:cNvSpPr/>
            <p:nvPr/>
          </p:nvSpPr>
          <p:spPr bwMode="auto">
            <a:xfrm>
              <a:off x="6096000" y="1219200"/>
              <a:ext cx="1295400" cy="83820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9C72230-D952-8358-45E3-CD843C581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68" y="4723942"/>
            <a:ext cx="3276600" cy="1057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F5D643-AA8A-6C4F-0264-AA4F4D32E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547" y="5412014"/>
            <a:ext cx="3438525" cy="590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D38098-CBE4-CC61-F38E-EECA963B9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190171"/>
            <a:ext cx="3330575" cy="46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3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5C76-8127-65F3-112D-2595E676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stage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2D2E-FB27-B04E-2A5A-46D5E35A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7010400" cy="5029200"/>
          </a:xfrm>
        </p:spPr>
        <p:txBody>
          <a:bodyPr/>
          <a:lstStyle/>
          <a:p>
            <a:pPr algn="just"/>
            <a:r>
              <a:rPr lang="en-US" dirty="0"/>
              <a:t>The final stage is usually a push pull complementary symmetry amplifier output stage. The output stage increases the voltage swing and raises the ground supplying capabilities of the op-amp. A well designed output stage also provides low output resistance.</a:t>
            </a:r>
          </a:p>
          <a:p>
            <a:pPr algn="just"/>
            <a:r>
              <a:rPr lang="en-US" dirty="0"/>
              <a:t>If Vi is positive , Q1 is ON and supplies current to load RL. If Vi is negative, Q1 is Cutoff, Q2 acts as sink to remove current from load </a:t>
            </a:r>
            <a:r>
              <a:rPr lang="en-US" dirty="0" err="1"/>
              <a:t>RL.The</a:t>
            </a:r>
            <a:r>
              <a:rPr lang="en-US" dirty="0"/>
              <a:t> limitation of this circuit is the output voltage Vo remains zero until Vi exceeds </a:t>
            </a:r>
            <a:r>
              <a:rPr lang="en-US" dirty="0" err="1"/>
              <a:t>Vbe</a:t>
            </a:r>
            <a:r>
              <a:rPr lang="en-US" dirty="0"/>
              <a:t>(cut-in). This is called cross over distortion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9FC19-E018-2564-C136-1DDE2C41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15391F-FBB2-1198-12FF-C06298C9A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447800"/>
            <a:ext cx="3699252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33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D7D56-C612-9A5F-6527-18E6A8A3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6826E-6EDF-4AC3-722B-49D194781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8077200" cy="5029200"/>
          </a:xfrm>
        </p:spPr>
        <p:txBody>
          <a:bodyPr/>
          <a:lstStyle/>
          <a:p>
            <a:r>
              <a:rPr lang="en-US" dirty="0"/>
              <a:t>The problem with above circuit can be eliminated by applying bias voltage V slightly greater than 2Vbe = 1 V between two bases, so that small current flows in transistors even in Quiescent state. The figure shows the output stage of uA741 op-amp. V represents VBE Multiplier and 25 ohm resistor to stabilize Quiescent base current.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A529B-F389-F20D-2FA0-8F6CA4DF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DF3BA-181A-9F96-047E-8361F78A2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425" y="1066800"/>
            <a:ext cx="28003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46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24459-42FD-E074-949A-FF6FB852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8E7C9-3CC3-1D6F-FF13-E83950C67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26544"/>
            <a:ext cx="9540118" cy="554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82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B24D8-62A0-7FE4-38F0-E7A4C410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021FBB-A004-AA29-B84E-E1BCC8F19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94"/>
          <a:stretch/>
        </p:blipFill>
        <p:spPr bwMode="auto">
          <a:xfrm>
            <a:off x="-15240" y="-179882"/>
            <a:ext cx="12550773" cy="67330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7319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8F67-9731-E53B-D1F8-69ABD671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E1FC-49B1-14E8-E17F-FB42CFA3C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6C018-2FD2-AC12-9BEB-39B122BE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06F340-DDB2-4B82-9285-5089977D97C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F863E-A045-515E-676B-BA9F81E70E44}"/>
              </a:ext>
            </a:extLst>
          </p:cNvPr>
          <p:cNvSpPr/>
          <p:nvPr/>
        </p:nvSpPr>
        <p:spPr>
          <a:xfrm>
            <a:off x="4150501" y="29673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You!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5892516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1B28F6"/>
      </a:dk1>
      <a:lt1>
        <a:srgbClr val="FFFFD9"/>
      </a:lt1>
      <a:dk2>
        <a:srgbClr val="8C20F2"/>
      </a:dk2>
      <a:lt2>
        <a:srgbClr val="535BAB"/>
      </a:lt2>
      <a:accent1>
        <a:srgbClr val="FFFFF7"/>
      </a:accent1>
      <a:accent2>
        <a:srgbClr val="0B871F"/>
      </a:accent2>
      <a:accent3>
        <a:srgbClr val="FFFFE9"/>
      </a:accent3>
      <a:accent4>
        <a:srgbClr val="1521D2"/>
      </a:accent4>
      <a:accent5>
        <a:srgbClr val="FFFFFA"/>
      </a:accent5>
      <a:accent6>
        <a:srgbClr val="097A1B"/>
      </a:accent6>
      <a:hlink>
        <a:srgbClr val="FF2C2C"/>
      </a:hlink>
      <a:folHlink>
        <a:srgbClr val="FF99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2763F6"/>
        </a:dk1>
        <a:lt1>
          <a:srgbClr val="FFFFD9"/>
        </a:lt1>
        <a:dk2>
          <a:srgbClr val="8C20F2"/>
        </a:dk2>
        <a:lt2>
          <a:srgbClr val="535BAB"/>
        </a:lt2>
        <a:accent1>
          <a:srgbClr val="FFFFF7"/>
        </a:accent1>
        <a:accent2>
          <a:srgbClr val="17CC71"/>
        </a:accent2>
        <a:accent3>
          <a:srgbClr val="FFFFE9"/>
        </a:accent3>
        <a:accent4>
          <a:srgbClr val="2053D2"/>
        </a:accent4>
        <a:accent5>
          <a:srgbClr val="FFFFFA"/>
        </a:accent5>
        <a:accent6>
          <a:srgbClr val="14B966"/>
        </a:accent6>
        <a:hlink>
          <a:srgbClr val="FF2C2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23888</TotalTime>
  <Words>448</Words>
  <Application>Microsoft Office PowerPoint</Application>
  <PresentationFormat>Widescreen</PresentationFormat>
  <Paragraphs>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Blank Presentation</vt:lpstr>
      <vt:lpstr>Internal Circuit of Op-Amp</vt:lpstr>
      <vt:lpstr>Op-Amp Internal Circuit</vt:lpstr>
      <vt:lpstr>PowerPoint Presentation</vt:lpstr>
      <vt:lpstr>PowerPoint Presentation</vt:lpstr>
      <vt:lpstr>PowerPoint Presentation</vt:lpstr>
      <vt:lpstr>Cascaded differential stage</vt:lpstr>
      <vt:lpstr>Level Shifter</vt:lpstr>
      <vt:lpstr>Here LS act like a buffer to isolate high gain stages from output. The amount of shift obtained is</vt:lpstr>
      <vt:lpstr>Output stage</vt:lpstr>
      <vt:lpstr>PowerPoint Presentation</vt:lpstr>
      <vt:lpstr>PowerPoint Presentation</vt:lpstr>
      <vt:lpstr>PowerPoint Presentation</vt:lpstr>
      <vt:lpstr>PowerPoint Presentation</vt:lpstr>
    </vt:vector>
  </TitlesOfParts>
  <Company>Physics 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Physics UCSD</dc:creator>
  <cp:lastModifiedBy>Sankush Krishna</cp:lastModifiedBy>
  <cp:revision>209</cp:revision>
  <cp:lastPrinted>2011-02-15T18:50:50Z</cp:lastPrinted>
  <dcterms:created xsi:type="dcterms:W3CDTF">2011-02-15T18:42:48Z</dcterms:created>
  <dcterms:modified xsi:type="dcterms:W3CDTF">2026-01-30T03:25:57Z</dcterms:modified>
</cp:coreProperties>
</file>