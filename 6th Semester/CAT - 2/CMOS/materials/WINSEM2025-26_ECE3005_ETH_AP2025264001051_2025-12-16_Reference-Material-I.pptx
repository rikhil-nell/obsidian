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25"/>
  </p:notesMasterIdLst>
  <p:sldIdLst>
    <p:sldId id="256" r:id="rId2"/>
    <p:sldId id="257" r:id="rId3"/>
    <p:sldId id="295" r:id="rId4"/>
    <p:sldId id="296" r:id="rId5"/>
    <p:sldId id="297" r:id="rId6"/>
    <p:sldId id="298" r:id="rId7"/>
    <p:sldId id="300" r:id="rId8"/>
    <p:sldId id="302" r:id="rId9"/>
    <p:sldId id="303" r:id="rId10"/>
    <p:sldId id="306" r:id="rId11"/>
    <p:sldId id="304" r:id="rId12"/>
    <p:sldId id="307" r:id="rId13"/>
    <p:sldId id="310" r:id="rId14"/>
    <p:sldId id="311" r:id="rId15"/>
    <p:sldId id="313" r:id="rId16"/>
    <p:sldId id="314" r:id="rId17"/>
    <p:sldId id="315" r:id="rId18"/>
    <p:sldId id="316" r:id="rId19"/>
    <p:sldId id="317" r:id="rId20"/>
    <p:sldId id="318" r:id="rId21"/>
    <p:sldId id="319" r:id="rId22"/>
    <p:sldId id="320"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t>23-11-2023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t>23-11-2023</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t>23-11-2023</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t>23-11-2023</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t>23-11-2023</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t>23-11-2023</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t>23-11-2023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000" b="1"/>
              <a:t>Delay</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a:t>Rohit Lorenzo , VIT-AP</a:t>
            </a:r>
          </a:p>
        </p:txBody>
      </p:sp>
    </p:spTree>
    <p:extLst>
      <p:ext uri="{BB962C8B-B14F-4D97-AF65-F5344CB8AC3E}">
        <p14:creationId xmlns:p14="http://schemas.microsoft.com/office/powerpoint/2010/main" val="1808153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Talk Outline</a:t>
            </a:r>
          </a:p>
        </p:txBody>
      </p:sp>
      <p:sp>
        <p:nvSpPr>
          <p:cNvPr id="3" name="Content Placeholder 2"/>
          <p:cNvSpPr>
            <a:spLocks noGrp="1"/>
          </p:cNvSpPr>
          <p:nvPr>
            <p:ph idx="1"/>
          </p:nvPr>
        </p:nvSpPr>
        <p:spPr/>
        <p:txBody>
          <a:bodyPr>
            <a:normAutofit/>
          </a:bodyPr>
          <a:lstStyle/>
          <a:p>
            <a:endParaRPr lang="en-IN" sz="2400" b="1" dirty="0"/>
          </a:p>
          <a:p>
            <a:r>
              <a:rPr lang="en-US" sz="2400" b="1" dirty="0"/>
              <a:t>Delay Definitions</a:t>
            </a:r>
            <a:endParaRPr lang="en-IN" sz="2400" b="1" dirty="0"/>
          </a:p>
          <a:p>
            <a:r>
              <a:rPr lang="en-US" sz="2400" b="1" dirty="0"/>
              <a:t>Timing Optimization</a:t>
            </a:r>
          </a:p>
          <a:p>
            <a:r>
              <a:rPr lang="en-US" sz="2400" b="1" dirty="0"/>
              <a:t>RC Delay</a:t>
            </a:r>
          </a:p>
          <a:p>
            <a:r>
              <a:rPr lang="en-US" sz="2400" b="1" dirty="0"/>
              <a:t>Problems</a:t>
            </a:r>
          </a:p>
          <a:p>
            <a:r>
              <a:rPr lang="en-US" sz="2400" b="1" dirty="0"/>
              <a:t>Logical Effort</a:t>
            </a:r>
            <a:endParaRPr lang="en-IN" sz="2400" b="1" dirty="0"/>
          </a:p>
          <a:p>
            <a:pPr marL="0" indent="0">
              <a:buNone/>
            </a:pPr>
            <a:endParaRPr lang="en-IN" sz="2400" b="1" dirty="0"/>
          </a:p>
        </p:txBody>
      </p:sp>
      <p:sp>
        <p:nvSpPr>
          <p:cNvPr id="4" name="Footer Placeholder 3">
            <a:extLst>
              <a:ext uri="{FF2B5EF4-FFF2-40B4-BE49-F238E27FC236}">
                <a16:creationId xmlns:a16="http://schemas.microsoft.com/office/drawing/2014/main" id="{9A6A3AA7-0270-47EF-94A5-59AC9EA7893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1402140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AD63-250F-4106-8276-29E747C57D11}"/>
              </a:ext>
            </a:extLst>
          </p:cNvPr>
          <p:cNvSpPr>
            <a:spLocks noGrp="1"/>
          </p:cNvSpPr>
          <p:nvPr>
            <p:ph type="title"/>
          </p:nvPr>
        </p:nvSpPr>
        <p:spPr/>
        <p:txBody>
          <a:bodyPr/>
          <a:lstStyle/>
          <a:p>
            <a:r>
              <a:rPr lang="en-IN" sz="3200" b="1" dirty="0"/>
              <a:t>Delay Definitions</a:t>
            </a:r>
            <a:r>
              <a:rPr lang="en-IN" b="1" dirty="0"/>
              <a:t/>
            </a:r>
            <a:br>
              <a:rPr lang="en-IN" b="1" dirty="0"/>
            </a:br>
            <a:endParaRPr lang="en-IN" dirty="0"/>
          </a:p>
        </p:txBody>
      </p:sp>
      <p:sp>
        <p:nvSpPr>
          <p:cNvPr id="3" name="Content Placeholder 2">
            <a:extLst>
              <a:ext uri="{FF2B5EF4-FFF2-40B4-BE49-F238E27FC236}">
                <a16:creationId xmlns:a16="http://schemas.microsoft.com/office/drawing/2014/main" id="{174D21A1-6D28-40B9-8BF9-8E90C7235AFC}"/>
              </a:ext>
            </a:extLst>
          </p:cNvPr>
          <p:cNvSpPr>
            <a:spLocks noGrp="1"/>
          </p:cNvSpPr>
          <p:nvPr>
            <p:ph idx="1"/>
          </p:nvPr>
        </p:nvSpPr>
        <p:spPr>
          <a:xfrm>
            <a:off x="1111045" y="1676400"/>
            <a:ext cx="10854813" cy="4459408"/>
          </a:xfrm>
        </p:spPr>
        <p:txBody>
          <a:bodyPr>
            <a:normAutofit/>
          </a:bodyPr>
          <a:lstStyle/>
          <a:p>
            <a:r>
              <a:rPr lang="en-US" b="1" i="1" dirty="0">
                <a:solidFill>
                  <a:srgbClr val="231F20"/>
                </a:solidFill>
                <a:latin typeface="Arial" panose="020B0604020202020204" pitchFamily="34" charset="0"/>
                <a:cs typeface="Arial" panose="020B0604020202020204" pitchFamily="34" charset="0"/>
              </a:rPr>
              <a:t>Propagation delay time</a:t>
            </a:r>
            <a:r>
              <a:rPr lang="en-US" dirty="0">
                <a:solidFill>
                  <a:srgbClr val="231F20"/>
                </a:solidFill>
                <a:latin typeface="Arial" panose="020B0604020202020204" pitchFamily="34" charset="0"/>
                <a:cs typeface="Arial" panose="020B0604020202020204" pitchFamily="34" charset="0"/>
              </a:rPr>
              <a:t>, </a:t>
            </a:r>
            <a:r>
              <a:rPr lang="en-US" b="1" i="1" dirty="0" err="1">
                <a:solidFill>
                  <a:srgbClr val="231F20"/>
                </a:solidFill>
                <a:latin typeface="Arial" panose="020B0604020202020204" pitchFamily="34" charset="0"/>
                <a:cs typeface="Arial" panose="020B0604020202020204" pitchFamily="34" charset="0"/>
              </a:rPr>
              <a:t>t</a:t>
            </a:r>
            <a:r>
              <a:rPr lang="en-US" sz="1400" b="1" i="1" dirty="0" err="1">
                <a:solidFill>
                  <a:srgbClr val="231F20"/>
                </a:solidFill>
                <a:latin typeface="Arial" panose="020B0604020202020204" pitchFamily="34" charset="0"/>
                <a:cs typeface="Arial" panose="020B0604020202020204" pitchFamily="34" charset="0"/>
              </a:rPr>
              <a:t>pd</a:t>
            </a:r>
            <a:r>
              <a:rPr lang="en-US" sz="1400" dirty="0">
                <a:solidFill>
                  <a:srgbClr val="231F20"/>
                </a:solidFill>
                <a:latin typeface="Arial" panose="020B0604020202020204" pitchFamily="34" charset="0"/>
                <a:cs typeface="Arial" panose="020B0604020202020204" pitchFamily="34" charset="0"/>
              </a:rPr>
              <a:t> </a:t>
            </a:r>
            <a:r>
              <a:rPr lang="en-US" dirty="0">
                <a:solidFill>
                  <a:srgbClr val="231F20"/>
                </a:solidFill>
                <a:latin typeface="Arial" panose="020B0604020202020204" pitchFamily="34" charset="0"/>
                <a:cs typeface="Arial" panose="020B0604020202020204" pitchFamily="34" charset="0"/>
              </a:rPr>
              <a:t>= maximum time from the </a:t>
            </a:r>
            <a:r>
              <a:rPr lang="en-US" dirty="0">
                <a:latin typeface="Arial" panose="020B0604020202020204" pitchFamily="34" charset="0"/>
                <a:cs typeface="Arial" panose="020B0604020202020204" pitchFamily="34" charset="0"/>
              </a:rPr>
              <a:t>input crossing 50% to the output crossing 50% . </a:t>
            </a:r>
          </a:p>
          <a:p>
            <a:r>
              <a:rPr lang="en-US" b="1" i="1" dirty="0">
                <a:solidFill>
                  <a:srgbClr val="231F20"/>
                </a:solidFill>
                <a:latin typeface="Arial" panose="020B0604020202020204" pitchFamily="34" charset="0"/>
                <a:cs typeface="Arial" panose="020B0604020202020204" pitchFamily="34" charset="0"/>
              </a:rPr>
              <a:t>Contamination delay time</a:t>
            </a:r>
            <a:r>
              <a:rPr lang="en-US" i="1" dirty="0">
                <a:solidFill>
                  <a:srgbClr val="231F20"/>
                </a:solidFill>
                <a:latin typeface="Arial" panose="020B0604020202020204" pitchFamily="34" charset="0"/>
                <a:cs typeface="Arial" panose="020B0604020202020204" pitchFamily="34" charset="0"/>
              </a:rPr>
              <a:t>, </a:t>
            </a:r>
            <a:r>
              <a:rPr lang="en-US" b="1" i="1" dirty="0" err="1">
                <a:solidFill>
                  <a:srgbClr val="231F20"/>
                </a:solidFill>
                <a:latin typeface="Arial" panose="020B0604020202020204" pitchFamily="34" charset="0"/>
                <a:cs typeface="Arial" panose="020B0604020202020204" pitchFamily="34" charset="0"/>
              </a:rPr>
              <a:t>t</a:t>
            </a:r>
            <a:r>
              <a:rPr lang="en-US" sz="1400" b="1" i="1" dirty="0" err="1">
                <a:solidFill>
                  <a:srgbClr val="231F20"/>
                </a:solidFill>
                <a:latin typeface="Arial" panose="020B0604020202020204" pitchFamily="34" charset="0"/>
                <a:cs typeface="Arial" panose="020B0604020202020204" pitchFamily="34" charset="0"/>
              </a:rPr>
              <a:t>cd</a:t>
            </a:r>
            <a:r>
              <a:rPr lang="en-US" sz="1400" b="1" i="1" dirty="0">
                <a:solidFill>
                  <a:srgbClr val="231F20"/>
                </a:solidFill>
                <a:latin typeface="Arial" panose="020B0604020202020204" pitchFamily="34" charset="0"/>
                <a:cs typeface="Arial" panose="020B0604020202020204" pitchFamily="34" charset="0"/>
              </a:rPr>
              <a:t> </a:t>
            </a:r>
            <a:r>
              <a:rPr lang="en-US" dirty="0">
                <a:solidFill>
                  <a:srgbClr val="231F20"/>
                </a:solidFill>
                <a:latin typeface="Arial" panose="020B0604020202020204" pitchFamily="34" charset="0"/>
                <a:cs typeface="Arial" panose="020B0604020202020204" pitchFamily="34" charset="0"/>
              </a:rPr>
              <a:t>= minimum time from the</a:t>
            </a:r>
          </a:p>
          <a:p>
            <a:pPr marL="0" indent="0">
              <a:buNone/>
            </a:pPr>
            <a:r>
              <a:rPr lang="en-US" dirty="0">
                <a:solidFill>
                  <a:srgbClr val="231F20"/>
                </a:solidFill>
                <a:latin typeface="Arial" panose="020B0604020202020204" pitchFamily="34" charset="0"/>
                <a:cs typeface="Arial" panose="020B0604020202020204" pitchFamily="34" charset="0"/>
              </a:rPr>
              <a:t>     input crossing 50% to the output crossing 50%.</a:t>
            </a:r>
          </a:p>
          <a:p>
            <a:endParaRPr lang="en-US" dirty="0">
              <a:solidFill>
                <a:srgbClr val="231F20"/>
              </a:solidFill>
              <a:latin typeface="Arial" panose="020B0604020202020204" pitchFamily="34" charset="0"/>
              <a:cs typeface="Arial" panose="020B0604020202020204" pitchFamily="34" charset="0"/>
            </a:endParaRPr>
          </a:p>
          <a:p>
            <a:r>
              <a:rPr lang="en-US" b="1" i="1" dirty="0">
                <a:latin typeface="Arial" panose="020B0604020202020204" pitchFamily="34" charset="0"/>
                <a:cs typeface="Arial" panose="020B0604020202020204" pitchFamily="34" charset="0"/>
              </a:rPr>
              <a:t>Rise time</a:t>
            </a:r>
            <a:r>
              <a:rPr lang="en-US" i="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a:t>
            </a:r>
            <a:r>
              <a:rPr lang="en-US" b="1" i="1" baseline="-25000" dirty="0" err="1">
                <a:latin typeface="Arial" panose="020B0604020202020204" pitchFamily="34" charset="0"/>
                <a:cs typeface="Arial" panose="020B0604020202020204" pitchFamily="34" charset="0"/>
              </a:rPr>
              <a:t>r</a:t>
            </a:r>
            <a:r>
              <a:rPr lang="en-US" b="1" i="1"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time for a waveform to rise from 20% to</a:t>
            </a:r>
          </a:p>
          <a:p>
            <a:pPr marL="0" indent="0">
              <a:buNone/>
            </a:pPr>
            <a:r>
              <a:rPr lang="en-US" dirty="0">
                <a:latin typeface="Arial" panose="020B0604020202020204" pitchFamily="34" charset="0"/>
                <a:cs typeface="Arial" panose="020B0604020202020204" pitchFamily="34" charset="0"/>
              </a:rPr>
              <a:t>      80% of its steady-state value. </a:t>
            </a:r>
          </a:p>
          <a:p>
            <a:r>
              <a:rPr lang="en-US" b="1" i="1" dirty="0"/>
              <a:t>Fall time</a:t>
            </a:r>
            <a:r>
              <a:rPr lang="en-US" i="1" dirty="0"/>
              <a:t>, </a:t>
            </a:r>
            <a:r>
              <a:rPr lang="en-US" b="1" i="1" dirty="0" err="1"/>
              <a:t>t</a:t>
            </a:r>
            <a:r>
              <a:rPr lang="en-US" b="1" i="1" baseline="-25000" dirty="0" err="1"/>
              <a:t>f</a:t>
            </a:r>
            <a:r>
              <a:rPr lang="en-US" b="1" i="1" baseline="-25000" dirty="0"/>
              <a:t> </a:t>
            </a:r>
            <a:r>
              <a:rPr lang="en-US" dirty="0"/>
              <a:t>= time for a waveform to fall from 80% to</a:t>
            </a:r>
          </a:p>
          <a:p>
            <a:pPr marL="0" indent="0">
              <a:buNone/>
            </a:pPr>
            <a:r>
              <a:rPr lang="en-US" dirty="0"/>
              <a:t>      20% of its steady-state value.</a:t>
            </a:r>
          </a:p>
          <a:p>
            <a:pPr marL="0" indent="0">
              <a:buNone/>
            </a:pPr>
            <a:endParaRPr lang="en-US" dirty="0">
              <a:solidFill>
                <a:srgbClr val="231F20"/>
              </a:solidFill>
              <a:latin typeface="Arial" panose="020B0604020202020204" pitchFamily="34" charset="0"/>
              <a:cs typeface="Arial" panose="020B0604020202020204" pitchFamily="34" charset="0"/>
            </a:endParaRPr>
          </a:p>
          <a:p>
            <a:pPr>
              <a:buFont typeface="Wingdings" panose="05000000000000000000" pitchFamily="2" charset="2"/>
              <a:buChar char="Ø"/>
            </a:pPr>
            <a:r>
              <a:rPr lang="en-US" b="1" i="1" dirty="0"/>
              <a:t> Edge rate</a:t>
            </a:r>
            <a:r>
              <a:rPr lang="en-US" i="1" dirty="0"/>
              <a:t>, </a:t>
            </a:r>
            <a:r>
              <a:rPr lang="en-US" b="1" i="1" dirty="0" err="1"/>
              <a:t>t</a:t>
            </a:r>
            <a:r>
              <a:rPr lang="en-US" b="1" i="1" baseline="-25000" dirty="0" err="1"/>
              <a:t>rf</a:t>
            </a:r>
            <a:r>
              <a:rPr lang="en-US" b="1" i="1" dirty="0"/>
              <a:t> </a:t>
            </a:r>
            <a:r>
              <a:rPr lang="en-US" b="1" dirty="0"/>
              <a:t>= (</a:t>
            </a:r>
            <a:r>
              <a:rPr lang="en-US" b="1" i="1" dirty="0" err="1"/>
              <a:t>t</a:t>
            </a:r>
            <a:r>
              <a:rPr lang="en-US" b="1" i="1" baseline="-25000" dirty="0" err="1"/>
              <a:t>r</a:t>
            </a:r>
            <a:r>
              <a:rPr lang="en-US" b="1" i="1" dirty="0"/>
              <a:t> </a:t>
            </a:r>
            <a:r>
              <a:rPr lang="en-US" b="1" dirty="0"/>
              <a:t>+ </a:t>
            </a:r>
            <a:r>
              <a:rPr lang="en-US" b="1" i="1" dirty="0" err="1"/>
              <a:t>t</a:t>
            </a:r>
            <a:r>
              <a:rPr lang="en-US" b="1" i="1" baseline="-25000" dirty="0" err="1"/>
              <a:t>f</a:t>
            </a:r>
            <a:r>
              <a:rPr lang="en-US" b="1" i="1" baseline="-25000" dirty="0"/>
              <a:t> </a:t>
            </a:r>
            <a:r>
              <a:rPr lang="en-US" b="1" dirty="0"/>
              <a:t>)/2</a:t>
            </a:r>
            <a:endParaRPr lang="en-US" b="1" dirty="0">
              <a:solidFill>
                <a:srgbClr val="231F20"/>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5A073A6F-A66A-46CE-86B4-9A31ED569E3B}"/>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2"/>
          <a:stretch>
            <a:fillRect/>
          </a:stretch>
        </p:blipFill>
        <p:spPr>
          <a:xfrm>
            <a:off x="7344697" y="2122613"/>
            <a:ext cx="4756715" cy="4484664"/>
          </a:xfrm>
          <a:prstGeom prst="rect">
            <a:avLst/>
          </a:prstGeom>
        </p:spPr>
      </p:pic>
    </p:spTree>
    <p:extLst>
      <p:ext uri="{BB962C8B-B14F-4D97-AF65-F5344CB8AC3E}">
        <p14:creationId xmlns:p14="http://schemas.microsoft.com/office/powerpoint/2010/main" val="20088674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F71A4-B2AF-434D-AAB4-3FE5FFC26118}"/>
              </a:ext>
            </a:extLst>
          </p:cNvPr>
          <p:cNvSpPr>
            <a:spLocks noGrp="1"/>
          </p:cNvSpPr>
          <p:nvPr>
            <p:ph type="title"/>
          </p:nvPr>
        </p:nvSpPr>
        <p:spPr>
          <a:xfrm>
            <a:off x="1789471" y="613950"/>
            <a:ext cx="9715141" cy="1280890"/>
          </a:xfrm>
        </p:spPr>
        <p:txBody>
          <a:bodyPr>
            <a:normAutofit/>
          </a:bodyPr>
          <a:lstStyle/>
          <a:p>
            <a:r>
              <a:rPr lang="en-US" sz="3200" b="1" dirty="0"/>
              <a:t>Continue….</a:t>
            </a:r>
            <a:endParaRPr lang="en-IN" sz="3200" b="1" dirty="0"/>
          </a:p>
        </p:txBody>
      </p:sp>
      <p:sp>
        <p:nvSpPr>
          <p:cNvPr id="3" name="Content Placeholder 2">
            <a:extLst>
              <a:ext uri="{FF2B5EF4-FFF2-40B4-BE49-F238E27FC236}">
                <a16:creationId xmlns:a16="http://schemas.microsoft.com/office/drawing/2014/main" id="{6D5AAD76-C957-42F4-8C63-C5632026DD6C}"/>
              </a:ext>
            </a:extLst>
          </p:cNvPr>
          <p:cNvSpPr>
            <a:spLocks noGrp="1"/>
          </p:cNvSpPr>
          <p:nvPr>
            <p:ph idx="1"/>
          </p:nvPr>
        </p:nvSpPr>
        <p:spPr>
          <a:xfrm>
            <a:off x="687388" y="1238865"/>
            <a:ext cx="11199812" cy="4896943"/>
          </a:xfrm>
        </p:spPr>
        <p:txBody>
          <a:bodyPr>
            <a:normAutofit/>
          </a:bodyPr>
          <a:lstStyle/>
          <a:p>
            <a:r>
              <a:rPr lang="en-US" dirty="0">
                <a:solidFill>
                  <a:srgbClr val="231F20"/>
                </a:solidFill>
                <a:latin typeface="Arial" panose="020B0604020202020204" pitchFamily="34" charset="0"/>
                <a:cs typeface="Arial" panose="020B0604020202020204" pitchFamily="34" charset="0"/>
              </a:rPr>
              <a:t>when an input changes, the output will retain its old value for at least the contamination delay and take</a:t>
            </a:r>
          </a:p>
          <a:p>
            <a:pPr marL="0" indent="0">
              <a:buNone/>
            </a:pPr>
            <a:r>
              <a:rPr lang="en-US" dirty="0">
                <a:solidFill>
                  <a:srgbClr val="231F20"/>
                </a:solidFill>
                <a:latin typeface="Arial" panose="020B0604020202020204" pitchFamily="34" charset="0"/>
                <a:cs typeface="Arial" panose="020B0604020202020204" pitchFamily="34" charset="0"/>
              </a:rPr>
              <a:t>      on its new value in at most the propagation delay</a:t>
            </a:r>
            <a:r>
              <a:rPr lang="en-US" dirty="0">
                <a:latin typeface="Arial" panose="020B0604020202020204" pitchFamily="34" charset="0"/>
                <a:cs typeface="Arial" panose="020B0604020202020204" pitchFamily="34" charset="0"/>
              </a:rPr>
              <a:t>.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Rise/fall times are also sometimes called </a:t>
            </a:r>
            <a:r>
              <a:rPr lang="en-US" b="1" i="1" dirty="0">
                <a:latin typeface="Arial" panose="020B0604020202020204" pitchFamily="34" charset="0"/>
                <a:cs typeface="Arial" panose="020B0604020202020204" pitchFamily="34" charset="0"/>
              </a:rPr>
              <a:t>slopes </a:t>
            </a:r>
            <a:r>
              <a:rPr lang="en-US" b="1" dirty="0">
                <a:latin typeface="Arial" panose="020B0604020202020204" pitchFamily="34" charset="0"/>
                <a:cs typeface="Arial" panose="020B0604020202020204" pitchFamily="34" charset="0"/>
              </a:rPr>
              <a:t>or </a:t>
            </a:r>
            <a:r>
              <a:rPr lang="en-US" b="1" i="1" dirty="0">
                <a:latin typeface="Arial" panose="020B0604020202020204" pitchFamily="34" charset="0"/>
                <a:cs typeface="Arial" panose="020B0604020202020204" pitchFamily="34" charset="0"/>
              </a:rPr>
              <a:t>edge rates</a:t>
            </a:r>
            <a:r>
              <a:rPr lang="en-US" i="1" dirty="0">
                <a:latin typeface="Arial" panose="020B0604020202020204" pitchFamily="34" charset="0"/>
                <a:cs typeface="Arial" panose="020B0604020202020204" pitchFamily="34" charset="0"/>
              </a:rPr>
              <a:t>. </a:t>
            </a:r>
          </a:p>
          <a:p>
            <a:pPr>
              <a:buFont typeface="Wingdings" panose="05000000000000000000" pitchFamily="2" charset="2"/>
              <a:buChar char="Ø"/>
            </a:pPr>
            <a:r>
              <a:rPr lang="en-IN" dirty="0">
                <a:latin typeface="Arial" panose="020B0604020202020204" pitchFamily="34" charset="0"/>
                <a:cs typeface="Arial" panose="020B0604020202020204" pitchFamily="34" charset="0"/>
              </a:rPr>
              <a:t>Propagation and contamination  </a:t>
            </a:r>
            <a:r>
              <a:rPr lang="en-US" dirty="0">
                <a:latin typeface="Arial" panose="020B0604020202020204" pitchFamily="34" charset="0"/>
                <a:cs typeface="Arial" panose="020B0604020202020204" pitchFamily="34" charset="0"/>
              </a:rPr>
              <a:t>delay times are also called</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max-time </a:t>
            </a:r>
            <a:r>
              <a:rPr lang="en-US" dirty="0">
                <a:latin typeface="Arial" panose="020B0604020202020204" pitchFamily="34" charset="0"/>
                <a:cs typeface="Arial" panose="020B0604020202020204" pitchFamily="34" charset="0"/>
              </a:rPr>
              <a:t>and </a:t>
            </a:r>
            <a:r>
              <a:rPr lang="en-US" b="1" i="1" dirty="0">
                <a:latin typeface="Arial" panose="020B0604020202020204" pitchFamily="34" charset="0"/>
                <a:cs typeface="Arial" panose="020B0604020202020204" pitchFamily="34" charset="0"/>
              </a:rPr>
              <a:t>min-time</a:t>
            </a:r>
            <a:r>
              <a:rPr lang="en-US" dirty="0"/>
              <a:t>. </a:t>
            </a:r>
          </a:p>
          <a:p>
            <a:pPr>
              <a:buFont typeface="Wingdings" panose="05000000000000000000" pitchFamily="2" charset="2"/>
              <a:buChar char="Ø"/>
            </a:pPr>
            <a:r>
              <a:rPr lang="en-IN" dirty="0">
                <a:latin typeface="Arial" panose="020B0604020202020204" pitchFamily="34" charset="0"/>
                <a:cs typeface="Arial" panose="020B0604020202020204" pitchFamily="34" charset="0"/>
              </a:rPr>
              <a:t>The gate that </a:t>
            </a:r>
            <a:r>
              <a:rPr lang="en-US" dirty="0">
                <a:latin typeface="Arial" panose="020B0604020202020204" pitchFamily="34" charset="0"/>
                <a:cs typeface="Arial" panose="020B0604020202020204" pitchFamily="34" charset="0"/>
              </a:rPr>
              <a:t>charges or discharges a node is called the</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driver </a:t>
            </a:r>
            <a:r>
              <a:rPr lang="en-US" dirty="0">
                <a:latin typeface="Arial" panose="020B0604020202020204" pitchFamily="34" charset="0"/>
                <a:cs typeface="Arial" panose="020B0604020202020204" pitchFamily="34" charset="0"/>
              </a:rPr>
              <a:t>and the gates and wire being driven are </a:t>
            </a:r>
            <a:r>
              <a:rPr lang="en-IN" dirty="0">
                <a:latin typeface="Arial" panose="020B0604020202020204" pitchFamily="34" charset="0"/>
                <a:cs typeface="Arial" panose="020B0604020202020204" pitchFamily="34" charset="0"/>
              </a:rPr>
              <a:t>called the</a:t>
            </a:r>
            <a:r>
              <a:rPr lang="en-IN" b="1" dirty="0">
                <a:latin typeface="Arial" panose="020B0604020202020204" pitchFamily="34" charset="0"/>
                <a:cs typeface="Arial" panose="020B0604020202020204" pitchFamily="34" charset="0"/>
              </a:rPr>
              <a:t> </a:t>
            </a:r>
            <a:r>
              <a:rPr lang="en-IN" b="1" i="1" dirty="0">
                <a:latin typeface="Arial" panose="020B0604020202020204" pitchFamily="34" charset="0"/>
                <a:cs typeface="Arial" panose="020B0604020202020204" pitchFamily="34" charset="0"/>
              </a:rPr>
              <a:t>load</a:t>
            </a:r>
            <a:r>
              <a:rPr lang="en-IN" dirty="0">
                <a:latin typeface="Arial" panose="020B0604020202020204" pitchFamily="34" charset="0"/>
                <a:cs typeface="Arial" panose="020B0604020202020204" pitchFamily="34" charset="0"/>
              </a:rPr>
              <a:t>.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Propagation delay is usually the most relevant value of interest, and is often </a:t>
            </a:r>
            <a:r>
              <a:rPr lang="en-IN" dirty="0">
                <a:latin typeface="Arial" panose="020B0604020202020204" pitchFamily="34" charset="0"/>
                <a:cs typeface="Arial" panose="020B0604020202020204" pitchFamily="34" charset="0"/>
              </a:rPr>
              <a:t>simply called </a:t>
            </a:r>
            <a:r>
              <a:rPr lang="en-IN" b="1" i="1" dirty="0"/>
              <a:t>delay</a:t>
            </a:r>
            <a:r>
              <a:rPr lang="en-IN" dirty="0"/>
              <a:t>. </a:t>
            </a:r>
          </a:p>
          <a:p>
            <a:pPr>
              <a:buFont typeface="Wingdings" panose="05000000000000000000" pitchFamily="2" charset="2"/>
              <a:buChar char="Ø"/>
            </a:pPr>
            <a:r>
              <a:rPr lang="en-US" dirty="0"/>
              <a:t> </a:t>
            </a:r>
            <a:r>
              <a:rPr lang="en-US" dirty="0">
                <a:latin typeface="Arial" panose="020B0604020202020204" pitchFamily="34" charset="0"/>
                <a:cs typeface="Arial" panose="020B0604020202020204" pitchFamily="34" charset="0"/>
              </a:rPr>
              <a:t>The nodes are classified  as inputs, outputs, and internal </a:t>
            </a:r>
            <a:r>
              <a:rPr lang="en-IN" dirty="0">
                <a:latin typeface="Arial" panose="020B0604020202020204" pitchFamily="34" charset="0"/>
                <a:cs typeface="Arial" panose="020B0604020202020204" pitchFamily="34" charset="0"/>
              </a:rPr>
              <a:t>nodes</a:t>
            </a:r>
            <a:r>
              <a:rPr lang="en-IN" dirty="0"/>
              <a:t>. </a:t>
            </a:r>
            <a:r>
              <a:rPr lang="en-US" dirty="0">
                <a:latin typeface="Arial" panose="020B0604020202020204" pitchFamily="34" charset="0"/>
                <a:cs typeface="Arial" panose="020B0604020202020204" pitchFamily="34" charset="0"/>
              </a:rPr>
              <a:t>The user must specify the </a:t>
            </a:r>
            <a:r>
              <a:rPr lang="en-US" b="1" i="1" dirty="0">
                <a:latin typeface="Arial" panose="020B0604020202020204" pitchFamily="34" charset="0"/>
                <a:cs typeface="Arial" panose="020B0604020202020204" pitchFamily="34" charset="0"/>
              </a:rPr>
              <a:t>arrival time </a:t>
            </a:r>
            <a:r>
              <a:rPr lang="en-US" dirty="0">
                <a:latin typeface="Arial" panose="020B0604020202020204" pitchFamily="34" charset="0"/>
                <a:cs typeface="Arial" panose="020B0604020202020204" pitchFamily="34" charset="0"/>
              </a:rPr>
              <a:t>of inputs and the time data is required at the </a:t>
            </a:r>
            <a:r>
              <a:rPr lang="en-IN" dirty="0">
                <a:latin typeface="Arial" panose="020B0604020202020204" pitchFamily="34" charset="0"/>
                <a:cs typeface="Arial" panose="020B0604020202020204" pitchFamily="34" charset="0"/>
              </a:rPr>
              <a:t>outputs.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timing analyzer computes the arrival times at each node and checks that the outputs arrive by their required time.</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 The </a:t>
            </a:r>
            <a:r>
              <a:rPr lang="en-US" b="1" i="1" dirty="0">
                <a:latin typeface="Arial" panose="020B0604020202020204" pitchFamily="34" charset="0"/>
                <a:cs typeface="Arial" panose="020B0604020202020204" pitchFamily="34" charset="0"/>
              </a:rPr>
              <a:t>slack </a:t>
            </a:r>
            <a:r>
              <a:rPr lang="en-US" dirty="0">
                <a:latin typeface="Arial" panose="020B0604020202020204" pitchFamily="34" charset="0"/>
                <a:cs typeface="Arial" panose="020B0604020202020204" pitchFamily="34" charset="0"/>
              </a:rPr>
              <a:t>is the difference between the required and </a:t>
            </a:r>
            <a:r>
              <a:rPr lang="en-US" b="1" dirty="0">
                <a:latin typeface="Arial" panose="020B0604020202020204" pitchFamily="34" charset="0"/>
                <a:cs typeface="Arial" panose="020B0604020202020204" pitchFamily="34" charset="0"/>
              </a:rPr>
              <a:t>arrival times</a:t>
            </a:r>
            <a:r>
              <a:rPr lang="en-US"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Positive slack </a:t>
            </a:r>
            <a:r>
              <a:rPr lang="en-US" dirty="0">
                <a:latin typeface="Arial" panose="020B0604020202020204" pitchFamily="34" charset="0"/>
                <a:cs typeface="Arial" panose="020B0604020202020204" pitchFamily="34" charset="0"/>
              </a:rPr>
              <a:t>means that the circuit meets timing. </a:t>
            </a:r>
            <a:r>
              <a:rPr lang="en-US" b="1" i="1" dirty="0">
                <a:latin typeface="Arial" panose="020B0604020202020204" pitchFamily="34" charset="0"/>
                <a:cs typeface="Arial" panose="020B0604020202020204" pitchFamily="34" charset="0"/>
              </a:rPr>
              <a:t>Negative slack </a:t>
            </a:r>
            <a:r>
              <a:rPr lang="en-US" dirty="0">
                <a:latin typeface="Arial" panose="020B0604020202020204" pitchFamily="34" charset="0"/>
                <a:cs typeface="Arial" panose="020B0604020202020204" pitchFamily="34" charset="0"/>
              </a:rPr>
              <a:t>means that the circuit </a:t>
            </a:r>
            <a:r>
              <a:rPr lang="en-IN" dirty="0">
                <a:latin typeface="Arial" panose="020B0604020202020204" pitchFamily="34" charset="0"/>
                <a:cs typeface="Arial" panose="020B0604020202020204" pitchFamily="34" charset="0"/>
              </a:rPr>
              <a:t>is not fast enough.</a:t>
            </a:r>
          </a:p>
        </p:txBody>
      </p:sp>
      <p:sp>
        <p:nvSpPr>
          <p:cNvPr id="4" name="Footer Placeholder 3">
            <a:extLst>
              <a:ext uri="{FF2B5EF4-FFF2-40B4-BE49-F238E27FC236}">
                <a16:creationId xmlns:a16="http://schemas.microsoft.com/office/drawing/2014/main" id="{218624A5-32E4-4ABB-B95B-4506A5BA04D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22127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C775-5C5E-44C6-AF37-8862644FEE86}"/>
              </a:ext>
            </a:extLst>
          </p:cNvPr>
          <p:cNvSpPr>
            <a:spLocks noGrp="1"/>
          </p:cNvSpPr>
          <p:nvPr>
            <p:ph type="title"/>
          </p:nvPr>
        </p:nvSpPr>
        <p:spPr>
          <a:xfrm>
            <a:off x="1788161" y="624110"/>
            <a:ext cx="9716452" cy="1280890"/>
          </a:xfrm>
        </p:spPr>
        <p:txBody>
          <a:bodyPr>
            <a:normAutofit/>
          </a:bodyPr>
          <a:lstStyle/>
          <a:p>
            <a:r>
              <a:rPr lang="en-IN" dirty="0">
                <a:latin typeface="Arial" panose="020B0604020202020204" pitchFamily="34" charset="0"/>
                <a:cs typeface="Arial" panose="020B0604020202020204" pitchFamily="34" charset="0"/>
              </a:rPr>
              <a:t>Continue….</a:t>
            </a:r>
          </a:p>
        </p:txBody>
      </p:sp>
      <p:sp>
        <p:nvSpPr>
          <p:cNvPr id="4" name="Footer Placeholder 3">
            <a:extLst>
              <a:ext uri="{FF2B5EF4-FFF2-40B4-BE49-F238E27FC236}">
                <a16:creationId xmlns:a16="http://schemas.microsoft.com/office/drawing/2014/main" id="{8A54FE58-DD1F-4476-A9A2-0D08E6F93900}"/>
              </a:ext>
            </a:extLst>
          </p:cNvPr>
          <p:cNvSpPr>
            <a:spLocks noGrp="1"/>
          </p:cNvSpPr>
          <p:nvPr>
            <p:ph type="ftr" sz="quarter" idx="11"/>
          </p:nvPr>
        </p:nvSpPr>
        <p:spPr>
          <a:xfrm>
            <a:off x="1879600" y="6139822"/>
            <a:ext cx="8329611" cy="361111"/>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7" name="Content Placeholder 6"/>
          <p:cNvSpPr>
            <a:spLocks noGrp="1"/>
          </p:cNvSpPr>
          <p:nvPr>
            <p:ph idx="1"/>
          </p:nvPr>
        </p:nvSpPr>
        <p:spPr>
          <a:xfrm>
            <a:off x="1061884" y="1573161"/>
            <a:ext cx="10766322" cy="4566661"/>
          </a:xfrm>
        </p:spPr>
        <p:txBody>
          <a:bodyPr/>
          <a:lstStyle/>
          <a:p>
            <a:r>
              <a:rPr lang="en-US" b="1" dirty="0">
                <a:latin typeface="Arial" panose="020B0604020202020204" pitchFamily="34" charset="0"/>
                <a:cs typeface="Arial" panose="020B0604020202020204" pitchFamily="34" charset="0"/>
              </a:rPr>
              <a:t>Critical Path </a:t>
            </a:r>
            <a:r>
              <a:rPr lang="en-US" dirty="0"/>
              <a:t>-  </a:t>
            </a: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critical path</a:t>
            </a:r>
            <a:r>
              <a:rPr lang="en-US" dirty="0">
                <a:latin typeface="Arial" panose="020B0604020202020204" pitchFamily="34" charset="0"/>
                <a:cs typeface="Arial" panose="020B0604020202020204" pitchFamily="34" charset="0"/>
              </a:rPr>
              <a:t> is the longest </a:t>
            </a:r>
            <a:r>
              <a:rPr lang="en-US" b="1" dirty="0">
                <a:latin typeface="Arial" panose="020B0604020202020204" pitchFamily="34" charset="0"/>
                <a:cs typeface="Arial" panose="020B0604020202020204" pitchFamily="34" charset="0"/>
              </a:rPr>
              <a:t>path</a:t>
            </a:r>
            <a:r>
              <a:rPr lang="en-US" dirty="0">
                <a:latin typeface="Arial" panose="020B0604020202020204" pitchFamily="34" charset="0"/>
                <a:cs typeface="Arial" panose="020B0604020202020204" pitchFamily="34" charset="0"/>
              </a:rPr>
              <a:t> in the circuit. </a:t>
            </a:r>
            <a:endParaRPr lang="en-IN" dirty="0">
              <a:latin typeface="Arial" panose="020B0604020202020204" pitchFamily="34" charset="0"/>
              <a:cs typeface="Arial" panose="020B0604020202020204" pitchFamily="34" charset="0"/>
            </a:endParaRPr>
          </a:p>
        </p:txBody>
      </p:sp>
      <p:pic>
        <p:nvPicPr>
          <p:cNvPr id="8" name="Picture 7"/>
          <p:cNvPicPr>
            <a:picLocks noChangeAspect="1"/>
          </p:cNvPicPr>
          <p:nvPr/>
        </p:nvPicPr>
        <p:blipFill>
          <a:blip r:embed="rId2"/>
          <a:stretch>
            <a:fillRect/>
          </a:stretch>
        </p:blipFill>
        <p:spPr>
          <a:xfrm>
            <a:off x="3421627" y="2163097"/>
            <a:ext cx="6400799" cy="3293805"/>
          </a:xfrm>
          <a:prstGeom prst="rect">
            <a:avLst/>
          </a:prstGeom>
        </p:spPr>
      </p:pic>
    </p:spTree>
    <p:extLst>
      <p:ext uri="{BB962C8B-B14F-4D97-AF65-F5344CB8AC3E}">
        <p14:creationId xmlns:p14="http://schemas.microsoft.com/office/powerpoint/2010/main" val="24907757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889761" y="624110"/>
            <a:ext cx="9614852" cy="1280890"/>
          </a:xfrm>
        </p:spPr>
        <p:txBody>
          <a:bodyPr>
            <a:normAutofit/>
          </a:bodyPr>
          <a:lstStyle/>
          <a:p>
            <a:r>
              <a:rPr lang="en-IN" sz="3200" b="1" dirty="0"/>
              <a:t>Continue…..</a:t>
            </a:r>
            <a:endParaRPr lang="en-IN" sz="3200" dirty="0"/>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883920" y="1595120"/>
            <a:ext cx="10620692" cy="4316102"/>
          </a:xfrm>
        </p:spPr>
        <p:txBody>
          <a:bodyPr/>
          <a:lstStyle/>
          <a:p>
            <a:r>
              <a:rPr lang="en-US" b="1" dirty="0">
                <a:latin typeface="Arial" panose="020B0604020202020204" pitchFamily="34" charset="0"/>
                <a:cs typeface="Arial" panose="020B0604020202020204" pitchFamily="34" charset="0"/>
              </a:rPr>
              <a:t>Setup Time: </a:t>
            </a:r>
            <a:r>
              <a:rPr lang="en-US" dirty="0">
                <a:latin typeface="Arial" panose="020B0604020202020204" pitchFamily="34" charset="0"/>
                <a:cs typeface="Arial" panose="020B0604020202020204" pitchFamily="34" charset="0"/>
              </a:rPr>
              <a:t>The amount of time the data at the synchronous input (D) must be stable before the active edge of clock.</a:t>
            </a:r>
          </a:p>
          <a:p>
            <a:r>
              <a:rPr lang="en-US" b="1" dirty="0">
                <a:latin typeface="Arial" panose="020B0604020202020204" pitchFamily="34" charset="0"/>
                <a:cs typeface="Arial" panose="020B0604020202020204" pitchFamily="34" charset="0"/>
              </a:rPr>
              <a:t>Hold Time: </a:t>
            </a:r>
            <a:r>
              <a:rPr lang="en-US" dirty="0">
                <a:latin typeface="Arial" panose="020B0604020202020204" pitchFamily="34" charset="0"/>
                <a:cs typeface="Arial" panose="020B0604020202020204" pitchFamily="34" charset="0"/>
              </a:rPr>
              <a:t>The amount of time the data at the synchronous input (D) must be stable after the active edge of clock.</a:t>
            </a:r>
            <a:endParaRPr lang="en-US" dirty="0">
              <a:solidFill>
                <a:srgbClr val="000000"/>
              </a:solidFill>
              <a:latin typeface="Arial" panose="020B0604020202020204" pitchFamily="34" charset="0"/>
              <a:cs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889760" y="6116320"/>
            <a:ext cx="8319451" cy="38461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7" name="Picture 6"/>
          <p:cNvPicPr>
            <a:picLocks noChangeAspect="1"/>
          </p:cNvPicPr>
          <p:nvPr/>
        </p:nvPicPr>
        <p:blipFill>
          <a:blip r:embed="rId2"/>
          <a:stretch>
            <a:fillRect/>
          </a:stretch>
        </p:blipFill>
        <p:spPr>
          <a:xfrm>
            <a:off x="2151978" y="3401962"/>
            <a:ext cx="7795014" cy="983225"/>
          </a:xfrm>
          <a:prstGeom prst="rect">
            <a:avLst/>
          </a:prstGeom>
        </p:spPr>
      </p:pic>
    </p:spTree>
    <p:extLst>
      <p:ext uri="{BB962C8B-B14F-4D97-AF65-F5344CB8AC3E}">
        <p14:creationId xmlns:p14="http://schemas.microsoft.com/office/powerpoint/2010/main" val="25273124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C7D29-077B-4F8D-BB03-2FA6D3A2ACB3}"/>
              </a:ext>
            </a:extLst>
          </p:cNvPr>
          <p:cNvSpPr>
            <a:spLocks noGrp="1"/>
          </p:cNvSpPr>
          <p:nvPr>
            <p:ph type="title"/>
          </p:nvPr>
        </p:nvSpPr>
        <p:spPr>
          <a:xfrm>
            <a:off x="1838633" y="624110"/>
            <a:ext cx="9665980" cy="1280890"/>
          </a:xfrm>
        </p:spPr>
        <p:txBody>
          <a:bodyPr>
            <a:normAutofit/>
          </a:bodyPr>
          <a:lstStyle/>
          <a:p>
            <a:r>
              <a:rPr lang="en-IN" sz="3200" b="1" dirty="0"/>
              <a:t>Delay of a single gate</a:t>
            </a:r>
            <a:endParaRPr lang="en-IN" sz="3200" dirty="0"/>
          </a:p>
        </p:txBody>
      </p:sp>
      <p:sp>
        <p:nvSpPr>
          <p:cNvPr id="3" name="Content Placeholder 2">
            <a:extLst>
              <a:ext uri="{FF2B5EF4-FFF2-40B4-BE49-F238E27FC236}">
                <a16:creationId xmlns:a16="http://schemas.microsoft.com/office/drawing/2014/main" id="{46C8192F-F76B-4489-A27E-7BA410AA1783}"/>
              </a:ext>
            </a:extLst>
          </p:cNvPr>
          <p:cNvSpPr>
            <a:spLocks noGrp="1"/>
          </p:cNvSpPr>
          <p:nvPr>
            <p:ph idx="1"/>
          </p:nvPr>
        </p:nvSpPr>
        <p:spPr>
          <a:xfrm>
            <a:off x="1750142" y="1297858"/>
            <a:ext cx="9754470" cy="4837950"/>
          </a:xfrm>
        </p:spPr>
        <p:txBody>
          <a:bodyPr>
            <a:normAutofit/>
          </a:bodyPr>
          <a:lstStyle/>
          <a:p>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ir</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Input rise  &amp;   </a:t>
            </a:r>
            <a:r>
              <a:rPr lang="en-US" b="1" dirty="0" err="1">
                <a:latin typeface="Arial" panose="020B0604020202020204" pitchFamily="34" charset="0"/>
                <a:cs typeface="Arial" panose="020B0604020202020204" pitchFamily="34" charset="0"/>
              </a:rPr>
              <a:t>S</a:t>
            </a:r>
            <a:r>
              <a:rPr lang="en-US" b="1" baseline="-25000" dirty="0" err="1">
                <a:latin typeface="Arial" panose="020B0604020202020204" pitchFamily="34" charset="0"/>
                <a:cs typeface="Arial" panose="020B0604020202020204" pitchFamily="34" charset="0"/>
              </a:rPr>
              <a:t>of</a:t>
            </a:r>
            <a:r>
              <a:rPr lang="en-US" dirty="0">
                <a:latin typeface="Arial" panose="020B0604020202020204" pitchFamily="34" charset="0"/>
                <a:cs typeface="Arial" panose="020B0604020202020204" pitchFamily="34" charset="0"/>
              </a:rPr>
              <a:t> – Output Fall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p>
          <a:p>
            <a:endParaRPr lang="en-US" b="1" baseline="30000" dirty="0">
              <a:latin typeface="Arial" panose="020B0604020202020204" pitchFamily="34" charset="0"/>
              <a:cs typeface="Arial" panose="020B0604020202020204" pitchFamily="34" charset="0"/>
            </a:endParaRPr>
          </a:p>
          <a:p>
            <a:endParaRPr lang="en-US" b="1" baseline="30000" dirty="0">
              <a:latin typeface="Arial" panose="020B0604020202020204" pitchFamily="34" charset="0"/>
              <a:cs typeface="Arial" panose="020B0604020202020204" pitchFamily="34" charset="0"/>
            </a:endParaRPr>
          </a:p>
          <a:p>
            <a:endParaRPr lang="en-US" b="1" baseline="30000" dirty="0">
              <a:latin typeface="Arial" panose="020B0604020202020204" pitchFamily="34" charset="0"/>
              <a:cs typeface="Arial" panose="020B0604020202020204" pitchFamily="34" charset="0"/>
            </a:endParaRPr>
          </a:p>
          <a:p>
            <a:endParaRPr lang="en-IN" b="1" baseline="30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AF9B74B3-57C1-4BB8-9660-53BFBCF93A6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10" name="Picture 9"/>
          <p:cNvPicPr>
            <a:picLocks noChangeAspect="1"/>
          </p:cNvPicPr>
          <p:nvPr/>
        </p:nvPicPr>
        <p:blipFill>
          <a:blip r:embed="rId2"/>
          <a:stretch>
            <a:fillRect/>
          </a:stretch>
        </p:blipFill>
        <p:spPr>
          <a:xfrm>
            <a:off x="4788310" y="1761784"/>
            <a:ext cx="6373498" cy="4237887"/>
          </a:xfrm>
          <a:prstGeom prst="rect">
            <a:avLst/>
          </a:prstGeom>
        </p:spPr>
      </p:pic>
    </p:spTree>
    <p:extLst>
      <p:ext uri="{BB962C8B-B14F-4D97-AF65-F5344CB8AC3E}">
        <p14:creationId xmlns:p14="http://schemas.microsoft.com/office/powerpoint/2010/main" val="137981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C3762-F855-4DB0-B9B9-78F5D24BDD96}"/>
              </a:ext>
            </a:extLst>
          </p:cNvPr>
          <p:cNvSpPr>
            <a:spLocks noGrp="1"/>
          </p:cNvSpPr>
          <p:nvPr>
            <p:ph type="title"/>
          </p:nvPr>
        </p:nvSpPr>
        <p:spPr>
          <a:xfrm>
            <a:off x="1727201" y="624110"/>
            <a:ext cx="9777412" cy="1280890"/>
          </a:xfrm>
        </p:spPr>
        <p:txBody>
          <a:bodyPr>
            <a:normAutofit/>
          </a:bodyPr>
          <a:lstStyle/>
          <a:p>
            <a:r>
              <a:rPr lang="en-IN" b="1" dirty="0">
                <a:latin typeface="Arial" panose="020B0604020202020204" pitchFamily="34" charset="0"/>
                <a:cs typeface="Arial" panose="020B0604020202020204" pitchFamily="34" charset="0"/>
              </a:rPr>
              <a:t>RC Model of a transistor</a:t>
            </a:r>
          </a:p>
        </p:txBody>
      </p:sp>
      <p:pic>
        <p:nvPicPr>
          <p:cNvPr id="5" name="Content Placeholder 4"/>
          <p:cNvPicPr>
            <a:picLocks noGrp="1" noChangeAspect="1"/>
          </p:cNvPicPr>
          <p:nvPr>
            <p:ph idx="1"/>
          </p:nvPr>
        </p:nvPicPr>
        <p:blipFill>
          <a:blip r:embed="rId2"/>
          <a:stretch>
            <a:fillRect/>
          </a:stretch>
        </p:blipFill>
        <p:spPr>
          <a:xfrm>
            <a:off x="2656954" y="1473200"/>
            <a:ext cx="7714705" cy="4438650"/>
          </a:xfrm>
          <a:prstGeom prst="rect">
            <a:avLst/>
          </a:prstGeom>
        </p:spPr>
      </p:pic>
      <p:sp>
        <p:nvSpPr>
          <p:cNvPr id="4" name="Footer Placeholder 3">
            <a:extLst>
              <a:ext uri="{FF2B5EF4-FFF2-40B4-BE49-F238E27FC236}">
                <a16:creationId xmlns:a16="http://schemas.microsoft.com/office/drawing/2014/main" id="{FFF7E0F4-A5AE-4DB9-9541-EC1B2F1746CB}"/>
              </a:ext>
            </a:extLst>
          </p:cNvPr>
          <p:cNvSpPr>
            <a:spLocks noGrp="1"/>
          </p:cNvSpPr>
          <p:nvPr>
            <p:ph type="ftr" sz="quarter" idx="11"/>
          </p:nvPr>
        </p:nvSpPr>
        <p:spPr>
          <a:xfrm>
            <a:off x="1727200" y="6139822"/>
            <a:ext cx="848201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endParaRPr lang="en-IN" dirty="0"/>
          </a:p>
        </p:txBody>
      </p:sp>
    </p:spTree>
    <p:extLst>
      <p:ext uri="{BB962C8B-B14F-4D97-AF65-F5344CB8AC3E}">
        <p14:creationId xmlns:p14="http://schemas.microsoft.com/office/powerpoint/2010/main" val="20860331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92DA-AC58-4B27-8E38-D6D5F5BB1056}"/>
              </a:ext>
            </a:extLst>
          </p:cNvPr>
          <p:cNvSpPr>
            <a:spLocks noGrp="1"/>
          </p:cNvSpPr>
          <p:nvPr>
            <p:ph type="title"/>
          </p:nvPr>
        </p:nvSpPr>
        <p:spPr>
          <a:xfrm>
            <a:off x="1818641" y="613950"/>
            <a:ext cx="9685972" cy="1280890"/>
          </a:xfrm>
        </p:spPr>
        <p:txBody>
          <a:bodyPr/>
          <a:lstStyle/>
          <a:p>
            <a:r>
              <a:rPr lang="en-IN" sz="3200" b="1" dirty="0">
                <a:solidFill>
                  <a:prstClr val="black">
                    <a:lumMod val="85000"/>
                    <a:lumOff val="15000"/>
                  </a:prstClr>
                </a:solidFill>
              </a:rPr>
              <a:t>Capacitances</a:t>
            </a:r>
            <a:endParaRPr lang="en-IN" dirty="0"/>
          </a:p>
        </p:txBody>
      </p:sp>
      <p:sp>
        <p:nvSpPr>
          <p:cNvPr id="3" name="Content Placeholder 2">
            <a:extLst>
              <a:ext uri="{FF2B5EF4-FFF2-40B4-BE49-F238E27FC236}">
                <a16:creationId xmlns:a16="http://schemas.microsoft.com/office/drawing/2014/main" id="{6BF0488C-7A88-4A1F-84B5-B439F11A165A}"/>
              </a:ext>
            </a:extLst>
          </p:cNvPr>
          <p:cNvSpPr>
            <a:spLocks noGrp="1"/>
          </p:cNvSpPr>
          <p:nvPr>
            <p:ph idx="1"/>
          </p:nvPr>
        </p:nvSpPr>
        <p:spPr>
          <a:xfrm>
            <a:off x="894080" y="1330960"/>
            <a:ext cx="10610532" cy="4704080"/>
          </a:xfrm>
        </p:spPr>
        <p:txBody>
          <a:bodyPr>
            <a:normAutofit/>
          </a:bodyPr>
          <a:lstStyle/>
          <a:p>
            <a:r>
              <a:rPr lang="en-US" dirty="0">
                <a:latin typeface="Arial" panose="020B0604020202020204" pitchFamily="34" charset="0"/>
                <a:cs typeface="Arial" panose="020B0604020202020204" pitchFamily="34" charset="0"/>
              </a:rPr>
              <a:t>Voltage dependence capacitance </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 = </a:t>
            </a:r>
            <a:r>
              <a:rPr lang="en-US" b="1" dirty="0" err="1">
                <a:latin typeface="Arial" panose="020B0604020202020204" pitchFamily="34" charset="0"/>
                <a:cs typeface="Arial" panose="020B0604020202020204" pitchFamily="34" charset="0"/>
              </a:rPr>
              <a:t>dq</a:t>
            </a:r>
            <a:r>
              <a:rPr lang="en-US" b="1" dirty="0">
                <a:latin typeface="Arial" panose="020B0604020202020204" pitchFamily="34" charset="0"/>
                <a:cs typeface="Arial" panose="020B0604020202020204" pitchFamily="34" charset="0"/>
              </a:rPr>
              <a:t>/dv</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AF32451A-3766-4A92-9B93-0954750ECC56}"/>
              </a:ext>
            </a:extLst>
          </p:cNvPr>
          <p:cNvSpPr>
            <a:spLocks noGrp="1"/>
          </p:cNvSpPr>
          <p:nvPr>
            <p:ph type="ftr" sz="quarter" idx="11"/>
          </p:nvPr>
        </p:nvSpPr>
        <p:spPr>
          <a:xfrm>
            <a:off x="1889760" y="6139822"/>
            <a:ext cx="831945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9" name="Picture 8"/>
          <p:cNvPicPr>
            <a:picLocks noChangeAspect="1"/>
          </p:cNvPicPr>
          <p:nvPr/>
        </p:nvPicPr>
        <p:blipFill>
          <a:blip r:embed="rId2"/>
          <a:stretch>
            <a:fillRect/>
          </a:stretch>
        </p:blipFill>
        <p:spPr>
          <a:xfrm>
            <a:off x="6342274" y="1573161"/>
            <a:ext cx="5351608" cy="4113745"/>
          </a:xfrm>
          <a:prstGeom prst="rect">
            <a:avLst/>
          </a:prstGeom>
        </p:spPr>
      </p:pic>
    </p:spTree>
    <p:extLst>
      <p:ext uri="{BB962C8B-B14F-4D97-AF65-F5344CB8AC3E}">
        <p14:creationId xmlns:p14="http://schemas.microsoft.com/office/powerpoint/2010/main" val="2575897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6C2B-9345-4381-8942-BD29C093DAFC}"/>
              </a:ext>
            </a:extLst>
          </p:cNvPr>
          <p:cNvSpPr>
            <a:spLocks noGrp="1"/>
          </p:cNvSpPr>
          <p:nvPr>
            <p:ph type="title"/>
          </p:nvPr>
        </p:nvSpPr>
        <p:spPr>
          <a:xfrm>
            <a:off x="1899921" y="624110"/>
            <a:ext cx="9604692" cy="1280890"/>
          </a:xfrm>
        </p:spPr>
        <p:txBody>
          <a:bodyPr/>
          <a:lstStyle/>
          <a:p>
            <a:r>
              <a:rPr lang="en-US" sz="3200" b="1" dirty="0">
                <a:solidFill>
                  <a:prstClr val="black">
                    <a:lumMod val="85000"/>
                    <a:lumOff val="15000"/>
                  </a:prstClr>
                </a:solidFill>
              </a:rPr>
              <a:t>Simplified Model</a:t>
            </a:r>
            <a:endParaRPr lang="en-IN" dirty="0"/>
          </a:p>
        </p:txBody>
      </p:sp>
      <p:sp>
        <p:nvSpPr>
          <p:cNvPr id="4" name="Footer Placeholder 3">
            <a:extLst>
              <a:ext uri="{FF2B5EF4-FFF2-40B4-BE49-F238E27FC236}">
                <a16:creationId xmlns:a16="http://schemas.microsoft.com/office/drawing/2014/main" id="{073A7E6F-85EC-483B-8DF3-CD92F434CDF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1612490" y="1376517"/>
            <a:ext cx="9892122" cy="4759292"/>
          </a:xfrm>
        </p:spPr>
        <p:txBody>
          <a:bodyPr/>
          <a:lstStyle/>
          <a:p>
            <a:r>
              <a:rPr lang="en-US" sz="2400" i="1" dirty="0">
                <a:latin typeface="Arial" panose="020B0604020202020204" pitchFamily="34" charset="0"/>
                <a:cs typeface="Arial" panose="020B0604020202020204" pitchFamily="34" charset="0"/>
              </a:rPr>
              <a:t>C</a:t>
            </a:r>
            <a:r>
              <a:rPr lang="en-US" sz="2400" i="1" baseline="-25000" dirty="0">
                <a:latin typeface="Arial" panose="020B0604020202020204" pitchFamily="34" charset="0"/>
                <a:cs typeface="Arial" panose="020B0604020202020204" pitchFamily="34" charset="0"/>
              </a:rPr>
              <a:t>s </a:t>
            </a:r>
            <a:r>
              <a:rPr lang="en-US" sz="2400" i="1" dirty="0">
                <a:latin typeface="Arial" panose="020B0604020202020204" pitchFamily="34" charset="0"/>
                <a:cs typeface="Arial" panose="020B0604020202020204" pitchFamily="34" charset="0"/>
              </a:rPr>
              <a:t>= AS× </a:t>
            </a:r>
            <a:r>
              <a:rPr lang="en-US" sz="2400" i="1" dirty="0" err="1">
                <a:latin typeface="Arial" panose="020B0604020202020204" pitchFamily="34" charset="0"/>
                <a:cs typeface="Arial" panose="020B0604020202020204" pitchFamily="34" charset="0"/>
              </a:rPr>
              <a:t>C</a:t>
            </a:r>
            <a:r>
              <a:rPr lang="en-US" sz="2400" i="1" baseline="-25000" dirty="0" err="1">
                <a:latin typeface="Arial" panose="020B0604020202020204" pitchFamily="34" charset="0"/>
                <a:cs typeface="Arial" panose="020B0604020202020204" pitchFamily="34" charset="0"/>
              </a:rPr>
              <a:t>jbs</a:t>
            </a:r>
            <a:r>
              <a:rPr lang="en-US" sz="2400" i="1" dirty="0">
                <a:latin typeface="Arial" panose="020B0604020202020204" pitchFamily="34" charset="0"/>
                <a:cs typeface="Arial" panose="020B0604020202020204" pitchFamily="34" charset="0"/>
              </a:rPr>
              <a:t> + PS × </a:t>
            </a:r>
            <a:r>
              <a:rPr lang="en-US" sz="2400" i="1" dirty="0" err="1">
                <a:latin typeface="Arial" panose="020B0604020202020204" pitchFamily="34" charset="0"/>
                <a:cs typeface="Arial" panose="020B0604020202020204" pitchFamily="34" charset="0"/>
              </a:rPr>
              <a:t>C</a:t>
            </a:r>
            <a:r>
              <a:rPr lang="en-US" sz="2400" i="1" baseline="-25000" dirty="0" err="1">
                <a:latin typeface="Arial" panose="020B0604020202020204" pitchFamily="34" charset="0"/>
                <a:cs typeface="Arial" panose="020B0604020202020204" pitchFamily="34" charset="0"/>
              </a:rPr>
              <a:t>jbsw</a:t>
            </a:r>
            <a:endParaRPr lang="en-US" sz="2400" baseline="-250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2000" b="1" i="1" dirty="0">
                <a:latin typeface="Arial" panose="020B0604020202020204" pitchFamily="34" charset="0"/>
                <a:cs typeface="Arial" panose="020B0604020202020204" pitchFamily="34" charset="0"/>
              </a:rPr>
              <a:t>AS </a:t>
            </a:r>
            <a:r>
              <a:rPr lang="en-US" sz="2000" i="1" dirty="0">
                <a:latin typeface="Arial" panose="020B0604020202020204" pitchFamily="34" charset="0"/>
                <a:cs typeface="Arial" panose="020B0604020202020204" pitchFamily="34" charset="0"/>
              </a:rPr>
              <a:t>= Area of Diffusion region = </a:t>
            </a:r>
            <a:r>
              <a:rPr lang="en-US" sz="2000" b="1" i="1" dirty="0">
                <a:latin typeface="Arial" panose="020B0604020202020204" pitchFamily="34" charset="0"/>
                <a:cs typeface="Arial" panose="020B0604020202020204" pitchFamily="34" charset="0"/>
              </a:rPr>
              <a:t>D×W</a:t>
            </a:r>
          </a:p>
          <a:p>
            <a:r>
              <a:rPr lang="en-US" sz="2000" b="1" i="1" dirty="0">
                <a:latin typeface="Arial" panose="020B0604020202020204" pitchFamily="34" charset="0"/>
                <a:cs typeface="Arial" panose="020B0604020202020204" pitchFamily="34" charset="0"/>
              </a:rPr>
              <a:t>PS </a:t>
            </a:r>
            <a:r>
              <a:rPr lang="en-US" sz="2000" i="1" dirty="0">
                <a:latin typeface="Arial" panose="020B0604020202020204" pitchFamily="34" charset="0"/>
                <a:cs typeface="Arial" panose="020B0604020202020204" pitchFamily="34" charset="0"/>
              </a:rPr>
              <a:t>= Perimeter of Diffusion region = </a:t>
            </a:r>
            <a:r>
              <a:rPr lang="en-US" sz="2000" b="1" i="1" dirty="0">
                <a:latin typeface="Arial" panose="020B0604020202020204" pitchFamily="34" charset="0"/>
                <a:cs typeface="Arial" panose="020B0604020202020204" pitchFamily="34" charset="0"/>
              </a:rPr>
              <a:t>2W+2D</a:t>
            </a:r>
          </a:p>
          <a:p>
            <a:r>
              <a:rPr lang="en-US" sz="2000" b="1" i="1" dirty="0" err="1">
                <a:latin typeface="Arial" panose="020B0604020202020204" pitchFamily="34" charset="0"/>
                <a:cs typeface="Arial" panose="020B0604020202020204" pitchFamily="34" charset="0"/>
              </a:rPr>
              <a:t>C</a:t>
            </a:r>
            <a:r>
              <a:rPr lang="en-US" sz="2000" b="1" i="1" baseline="-25000" dirty="0" err="1">
                <a:latin typeface="Arial" panose="020B0604020202020204" pitchFamily="34" charset="0"/>
                <a:cs typeface="Arial" panose="020B0604020202020204" pitchFamily="34" charset="0"/>
              </a:rPr>
              <a:t>jb</a:t>
            </a:r>
            <a:r>
              <a:rPr lang="en-US" sz="2000" i="1" dirty="0">
                <a:latin typeface="Arial" panose="020B0604020202020204" pitchFamily="34" charset="0"/>
                <a:cs typeface="Arial" panose="020B0604020202020204" pitchFamily="34" charset="0"/>
              </a:rPr>
              <a:t>= Unit area capacitance to body  </a:t>
            </a:r>
          </a:p>
          <a:p>
            <a:r>
              <a:rPr lang="en-US" sz="2000" b="1" i="1" dirty="0" err="1">
                <a:latin typeface="Arial" panose="020B0604020202020204" pitchFamily="34" charset="0"/>
                <a:cs typeface="Arial" panose="020B0604020202020204" pitchFamily="34" charset="0"/>
              </a:rPr>
              <a:t>C</a:t>
            </a:r>
            <a:r>
              <a:rPr lang="en-US" sz="2000" b="1" i="1" baseline="-25000" dirty="0" err="1">
                <a:latin typeface="Arial" panose="020B0604020202020204" pitchFamily="34" charset="0"/>
                <a:cs typeface="Arial" panose="020B0604020202020204" pitchFamily="34" charset="0"/>
              </a:rPr>
              <a:t>jbsw</a:t>
            </a:r>
            <a:r>
              <a:rPr lang="en-US" sz="2000" i="1" baseline="-25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 =Units of capacitance/length  </a:t>
            </a:r>
          </a:p>
          <a:p>
            <a:endParaRPr lang="en-US" sz="2000" baseline="-25000" dirty="0">
              <a:latin typeface="Arial" panose="020B0604020202020204" pitchFamily="34" charset="0"/>
              <a:cs typeface="Arial" panose="020B0604020202020204" pitchFamily="34" charset="0"/>
            </a:endParaRPr>
          </a:p>
          <a:p>
            <a:endParaRPr lang="en-US" sz="2000" dirty="0"/>
          </a:p>
        </p:txBody>
      </p:sp>
      <p:pic>
        <p:nvPicPr>
          <p:cNvPr id="8" name="Picture 7"/>
          <p:cNvPicPr>
            <a:picLocks noChangeAspect="1"/>
          </p:cNvPicPr>
          <p:nvPr/>
        </p:nvPicPr>
        <p:blipFill>
          <a:blip r:embed="rId2"/>
          <a:stretch>
            <a:fillRect/>
          </a:stretch>
        </p:blipFill>
        <p:spPr>
          <a:xfrm>
            <a:off x="8023384" y="2005077"/>
            <a:ext cx="3481228" cy="2488264"/>
          </a:xfrm>
          <a:prstGeom prst="rect">
            <a:avLst/>
          </a:prstGeom>
        </p:spPr>
      </p:pic>
    </p:spTree>
    <p:extLst>
      <p:ext uri="{BB962C8B-B14F-4D97-AF65-F5344CB8AC3E}">
        <p14:creationId xmlns:p14="http://schemas.microsoft.com/office/powerpoint/2010/main" val="1497981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52F7-3A2C-45DC-B511-8A217AD0954F}"/>
              </a:ext>
            </a:extLst>
          </p:cNvPr>
          <p:cNvSpPr>
            <a:spLocks noGrp="1"/>
          </p:cNvSpPr>
          <p:nvPr>
            <p:ph type="title"/>
          </p:nvPr>
        </p:nvSpPr>
        <p:spPr>
          <a:xfrm>
            <a:off x="1910081" y="624110"/>
            <a:ext cx="9594532" cy="1280890"/>
          </a:xfrm>
        </p:spPr>
        <p:txBody>
          <a:bodyPr/>
          <a:lstStyle/>
          <a:p>
            <a:r>
              <a:rPr lang="en-US" sz="3200" b="1" dirty="0">
                <a:solidFill>
                  <a:prstClr val="black">
                    <a:lumMod val="85000"/>
                    <a:lumOff val="15000"/>
                  </a:prstClr>
                </a:solidFill>
              </a:rPr>
              <a:t>Sizing Impact on R and C</a:t>
            </a:r>
            <a:endParaRPr lang="en-IN" dirty="0"/>
          </a:p>
        </p:txBody>
      </p:sp>
      <p:sp>
        <p:nvSpPr>
          <p:cNvPr id="3" name="Content Placeholder 2">
            <a:extLst>
              <a:ext uri="{FF2B5EF4-FFF2-40B4-BE49-F238E27FC236}">
                <a16:creationId xmlns:a16="http://schemas.microsoft.com/office/drawing/2014/main" id="{1C667624-3326-4FC8-A971-5CEEC87CB6DE}"/>
              </a:ext>
            </a:extLst>
          </p:cNvPr>
          <p:cNvSpPr>
            <a:spLocks noGrp="1"/>
          </p:cNvSpPr>
          <p:nvPr>
            <p:ph idx="1"/>
          </p:nvPr>
        </p:nvSpPr>
        <p:spPr>
          <a:xfrm>
            <a:off x="648929" y="1351280"/>
            <a:ext cx="11360191" cy="4882610"/>
          </a:xfrm>
        </p:spPr>
        <p:txBody>
          <a:bodyPr>
            <a:normAutofit/>
          </a:bodyPr>
          <a:lstStyle/>
          <a:p>
            <a:pPr>
              <a:spcBef>
                <a:spcPts val="0"/>
              </a:spcBef>
            </a:pPr>
            <a:r>
              <a:rPr lang="en-US" dirty="0">
                <a:solidFill>
                  <a:srgbClr val="231F20"/>
                </a:solidFill>
                <a:latin typeface="Arial" panose="020B0604020202020204" pitchFamily="34" charset="0"/>
                <a:cs typeface="Arial" panose="020B0604020202020204" pitchFamily="34" charset="0"/>
              </a:rPr>
              <a:t>Figure  shows equivalent RC circuit models for </a:t>
            </a:r>
            <a:r>
              <a:rPr lang="en-US" dirty="0" err="1">
                <a:solidFill>
                  <a:srgbClr val="231F20"/>
                </a:solidFill>
                <a:latin typeface="Arial" panose="020B0604020202020204" pitchFamily="34" charset="0"/>
                <a:cs typeface="Arial" panose="020B0604020202020204" pitchFamily="34" charset="0"/>
              </a:rPr>
              <a:t>nMOS</a:t>
            </a:r>
            <a:r>
              <a:rPr lang="en-US" dirty="0">
                <a:solidFill>
                  <a:srgbClr val="231F20"/>
                </a:solidFill>
                <a:latin typeface="Arial" panose="020B0604020202020204" pitchFamily="34" charset="0"/>
                <a:cs typeface="Arial" panose="020B0604020202020204" pitchFamily="34" charset="0"/>
              </a:rPr>
              <a:t> and </a:t>
            </a:r>
            <a:r>
              <a:rPr lang="en-US" dirty="0" err="1">
                <a:solidFill>
                  <a:srgbClr val="231F20"/>
                </a:solidFill>
                <a:latin typeface="Arial" panose="020B0604020202020204" pitchFamily="34" charset="0"/>
                <a:cs typeface="Arial" panose="020B0604020202020204" pitchFamily="34" charset="0"/>
              </a:rPr>
              <a:t>pMOS</a:t>
            </a:r>
            <a:r>
              <a:rPr lang="en-US" dirty="0">
                <a:solidFill>
                  <a:srgbClr val="231F20"/>
                </a:solidFill>
                <a:latin typeface="Arial" panose="020B0604020202020204" pitchFamily="34" charset="0"/>
                <a:cs typeface="Arial" panose="020B0604020202020204" pitchFamily="34" charset="0"/>
              </a:rPr>
              <a:t> </a:t>
            </a:r>
          </a:p>
          <a:p>
            <a:pPr marL="0" indent="0">
              <a:spcBef>
                <a:spcPts val="0"/>
              </a:spcBef>
              <a:buNone/>
            </a:pPr>
            <a:r>
              <a:rPr lang="en-US" dirty="0">
                <a:solidFill>
                  <a:srgbClr val="231F20"/>
                </a:solidFill>
                <a:latin typeface="Arial" panose="020B0604020202020204" pitchFamily="34" charset="0"/>
                <a:cs typeface="Arial" panose="020B0604020202020204" pitchFamily="34" charset="0"/>
              </a:rPr>
              <a:t>      transistors of width </a:t>
            </a:r>
            <a:r>
              <a:rPr lang="en-US" i="1" dirty="0">
                <a:solidFill>
                  <a:srgbClr val="231F20"/>
                </a:solidFill>
                <a:latin typeface="Arial" panose="020B0604020202020204" pitchFamily="34" charset="0"/>
                <a:cs typeface="Arial" panose="020B0604020202020204" pitchFamily="34" charset="0"/>
              </a:rPr>
              <a:t>k </a:t>
            </a:r>
            <a:r>
              <a:rPr lang="en-US" dirty="0">
                <a:solidFill>
                  <a:srgbClr val="231F20"/>
                </a:solidFill>
                <a:latin typeface="Arial" panose="020B0604020202020204" pitchFamily="34" charset="0"/>
                <a:cs typeface="Arial" panose="020B0604020202020204" pitchFamily="34" charset="0"/>
              </a:rPr>
              <a:t>with contacted diffusion on both source and drain.</a:t>
            </a:r>
          </a:p>
          <a:p>
            <a:pPr marL="0" indent="0">
              <a:buNone/>
            </a:pPr>
            <a:endParaRPr lang="en-US" dirty="0">
              <a:solidFill>
                <a:srgbClr val="231F20"/>
              </a:solidFill>
              <a:latin typeface="Arial" panose="020B0604020202020204" pitchFamily="34" charset="0"/>
              <a:cs typeface="Arial" panose="020B0604020202020204" pitchFamily="34" charset="0"/>
            </a:endParaRPr>
          </a:p>
          <a:p>
            <a:pPr marL="0" indent="0">
              <a:buNone/>
            </a:pPr>
            <a:r>
              <a:rPr lang="en-US" dirty="0">
                <a:solidFill>
                  <a:srgbClr val="231F20"/>
                </a:solidFill>
                <a:latin typeface="Arial" panose="020B0604020202020204" pitchFamily="34" charset="0"/>
                <a:cs typeface="Arial" panose="020B0604020202020204" pitchFamily="34" charset="0"/>
              </a:rPr>
              <a:t> </a:t>
            </a:r>
          </a:p>
          <a:p>
            <a:pPr>
              <a:spcBef>
                <a:spcPts val="0"/>
              </a:spcBef>
            </a:pPr>
            <a:r>
              <a:rPr lang="en-IN" dirty="0">
                <a:latin typeface="Arial" panose="020B0604020202020204" pitchFamily="34" charset="0"/>
                <a:cs typeface="Arial" panose="020B0604020202020204" pitchFamily="34" charset="0"/>
              </a:rPr>
              <a:t>The </a:t>
            </a:r>
            <a:r>
              <a:rPr lang="en-IN" dirty="0" err="1">
                <a:latin typeface="Arial" panose="020B0604020202020204" pitchFamily="34" charset="0"/>
                <a:cs typeface="Arial" panose="020B0604020202020204" pitchFamily="34" charset="0"/>
              </a:rPr>
              <a:t>pMOS</a:t>
            </a: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transistor has approximately twice the resistance of the</a:t>
            </a:r>
          </a:p>
          <a:p>
            <a:pPr marL="0" indent="0">
              <a:spcBef>
                <a:spcPts val="0"/>
              </a:spcBef>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nMOS</a:t>
            </a:r>
            <a:r>
              <a:rPr lang="en-US" dirty="0">
                <a:latin typeface="Arial" panose="020B0604020202020204" pitchFamily="34" charset="0"/>
                <a:cs typeface="Arial" panose="020B0604020202020204" pitchFamily="34" charset="0"/>
              </a:rPr>
              <a:t> transistor because holes have lower mobility than electrons.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67BD876-A46E-485F-BD21-7071966C4FB9}"/>
              </a:ext>
            </a:extLst>
          </p:cNvPr>
          <p:cNvSpPr>
            <a:spLocks noGrp="1"/>
          </p:cNvSpPr>
          <p:nvPr>
            <p:ph type="ftr" sz="quarter" idx="11"/>
          </p:nvPr>
        </p:nvSpPr>
        <p:spPr>
          <a:xfrm>
            <a:off x="1503680" y="6035040"/>
            <a:ext cx="8705531" cy="46589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a:p>
            <a:pPr lvl="0"/>
            <a:endParaRPr lang="en-IN" sz="1600" dirty="0">
              <a:solidFill>
                <a:srgbClr val="C00000"/>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8141374" y="2059112"/>
            <a:ext cx="3691030" cy="4701486"/>
          </a:xfrm>
          <a:prstGeom prst="rect">
            <a:avLst/>
          </a:prstGeom>
        </p:spPr>
      </p:pic>
    </p:spTree>
    <p:extLst>
      <p:ext uri="{BB962C8B-B14F-4D97-AF65-F5344CB8AC3E}">
        <p14:creationId xmlns:p14="http://schemas.microsoft.com/office/powerpoint/2010/main" val="35057144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BFE3618-8387-4153-870E-99EA1B9784F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11AA16-F526-41BE-A9A8-0F0E4894A049}"/>
              </a:ext>
            </a:extLst>
          </p:cNvPr>
          <p:cNvSpPr>
            <a:spLocks noGrp="1"/>
          </p:cNvSpPr>
          <p:nvPr>
            <p:ph type="title"/>
          </p:nvPr>
        </p:nvSpPr>
        <p:spPr>
          <a:xfrm>
            <a:off x="649224" y="645106"/>
            <a:ext cx="3650279" cy="1259894"/>
          </a:xfrm>
        </p:spPr>
        <p:txBody>
          <a:bodyPr>
            <a:normAutofit/>
          </a:bodyPr>
          <a:lstStyle/>
          <a:p>
            <a:r>
              <a:rPr lang="en-IN" sz="3300" dirty="0">
                <a:latin typeface="Arial" panose="020B0604020202020204" pitchFamily="34" charset="0"/>
                <a:cs typeface="Arial" panose="020B0604020202020204" pitchFamily="34" charset="0"/>
              </a:rPr>
              <a:t>Equivalent Circuit of Inverter </a:t>
            </a:r>
          </a:p>
        </p:txBody>
      </p:sp>
      <p:sp>
        <p:nvSpPr>
          <p:cNvPr id="30" name="Rectangle 29">
            <a:extLst>
              <a:ext uri="{FF2B5EF4-FFF2-40B4-BE49-F238E27FC236}">
                <a16:creationId xmlns:a16="http://schemas.microsoft.com/office/drawing/2014/main" id="{BB99A42A-5548-4BB8-9115-A05821C360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3712151C-DF40-4473-ADFA-11AA26116A0F}"/>
              </a:ext>
            </a:extLst>
          </p:cNvPr>
          <p:cNvSpPr>
            <a:spLocks noGrp="1"/>
          </p:cNvSpPr>
          <p:nvPr>
            <p:ph idx="1"/>
          </p:nvPr>
        </p:nvSpPr>
        <p:spPr>
          <a:xfrm>
            <a:off x="649224" y="1787703"/>
            <a:ext cx="4826902" cy="4268771"/>
          </a:xfrm>
        </p:spPr>
        <p:txBody>
          <a:bodyPr>
            <a:normAutofit/>
          </a:bodyPr>
          <a:lstStyle/>
          <a:p>
            <a:pPr algn="just"/>
            <a:r>
              <a:rPr lang="en-US" dirty="0">
                <a:latin typeface="Arial" panose="020B0604020202020204" pitchFamily="34" charset="0"/>
                <a:cs typeface="Arial" panose="020B0604020202020204" pitchFamily="34" charset="0"/>
              </a:rPr>
              <a:t>Figure  shows the equivalent circuit for a fanout-of-1 inverter </a:t>
            </a:r>
            <a:r>
              <a:rPr lang="en-IN" dirty="0">
                <a:latin typeface="Arial" panose="020B0604020202020204" pitchFamily="34" charset="0"/>
                <a:cs typeface="Arial" panose="020B0604020202020204" pitchFamily="34" charset="0"/>
              </a:rPr>
              <a:t>with negligible wire capacitance.</a:t>
            </a:r>
          </a:p>
          <a:p>
            <a:pPr algn="just"/>
            <a:r>
              <a:rPr lang="en-US" dirty="0">
                <a:latin typeface="Arial" panose="020B0604020202020204" pitchFamily="34" charset="0"/>
                <a:cs typeface="Arial" panose="020B0604020202020204" pitchFamily="34" charset="0"/>
              </a:rPr>
              <a:t>The unit inverters of Figure are composed from an </a:t>
            </a:r>
            <a:r>
              <a:rPr lang="en-US" dirty="0" err="1">
                <a:latin typeface="Arial" panose="020B0604020202020204" pitchFamily="34" charset="0"/>
                <a:cs typeface="Arial" panose="020B0604020202020204" pitchFamily="34" charset="0"/>
              </a:rPr>
              <a:t>nMOS</a:t>
            </a:r>
            <a:r>
              <a:rPr lang="en-US" dirty="0">
                <a:latin typeface="Arial" panose="020B0604020202020204" pitchFamily="34" charset="0"/>
                <a:cs typeface="Arial" panose="020B0604020202020204" pitchFamily="34" charset="0"/>
              </a:rPr>
              <a:t> transistor of unit size and a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 of twice unit width to achieve equal rise and fall resistance. </a:t>
            </a:r>
            <a:endParaRPr lang="en-IN" dirty="0"/>
          </a:p>
          <a:p>
            <a:pPr algn="just"/>
            <a:r>
              <a:rPr lang="en-US" dirty="0">
                <a:latin typeface="Arial" panose="020B0604020202020204" pitchFamily="34" charset="0"/>
                <a:cs typeface="Arial" panose="020B0604020202020204" pitchFamily="34" charset="0"/>
              </a:rPr>
              <a:t>If input </a:t>
            </a:r>
            <a:r>
              <a:rPr lang="en-US" i="1" dirty="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rises, the </a:t>
            </a:r>
            <a:r>
              <a:rPr lang="en-US" dirty="0" err="1">
                <a:latin typeface="Arial" panose="020B0604020202020204" pitchFamily="34" charset="0"/>
                <a:cs typeface="Arial" panose="020B0604020202020204" pitchFamily="34" charset="0"/>
              </a:rPr>
              <a:t>nMOS</a:t>
            </a:r>
            <a:r>
              <a:rPr lang="en-US" dirty="0">
                <a:latin typeface="Arial" panose="020B0604020202020204" pitchFamily="34" charset="0"/>
                <a:cs typeface="Arial" panose="020B0604020202020204" pitchFamily="34" charset="0"/>
              </a:rPr>
              <a:t> transistor will be ON and the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OFF.</a:t>
            </a:r>
          </a:p>
          <a:p>
            <a:pPr algn="just"/>
            <a:r>
              <a:rPr lang="en-IN" dirty="0">
                <a:latin typeface="Arial" panose="020B0604020202020204" pitchFamily="34" charset="0"/>
                <a:cs typeface="Arial" panose="020B0604020202020204" pitchFamily="34" charset="0"/>
              </a:rPr>
              <a:t>The capacitors shorted between </a:t>
            </a:r>
            <a:r>
              <a:rPr lang="en-US" dirty="0">
                <a:latin typeface="Arial" panose="020B0604020202020204" pitchFamily="34" charset="0"/>
                <a:cs typeface="Arial" panose="020B0604020202020204" pitchFamily="34" charset="0"/>
              </a:rPr>
              <a:t>two constant supplies are also removed because they are not charged or discharged</a:t>
            </a: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7574D48-9992-4BD9-B5A5-B7929CC11761}"/>
              </a:ext>
            </a:extLst>
          </p:cNvPr>
          <p:cNvPicPr>
            <a:picLocks noChangeAspect="1"/>
          </p:cNvPicPr>
          <p:nvPr/>
        </p:nvPicPr>
        <p:blipFill>
          <a:blip r:embed="rId2"/>
          <a:stretch>
            <a:fillRect/>
          </a:stretch>
        </p:blipFill>
        <p:spPr>
          <a:xfrm>
            <a:off x="5753528" y="1027102"/>
            <a:ext cx="6359703" cy="4779001"/>
          </a:xfrm>
          <a:prstGeom prst="rect">
            <a:avLst/>
          </a:prstGeom>
        </p:spPr>
      </p:pic>
      <p:sp>
        <p:nvSpPr>
          <p:cNvPr id="32" name="Freeform 11">
            <a:extLst>
              <a:ext uri="{FF2B5EF4-FFF2-40B4-BE49-F238E27FC236}">
                <a16:creationId xmlns:a16="http://schemas.microsoft.com/office/drawing/2014/main" id="{D49441E5-946F-46B3-BDD2-BAD0885323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943CD70F-D559-468B-816F-167CDFC47E49}"/>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lvl="0">
              <a:spcAft>
                <a:spcPts val="600"/>
              </a:spcAft>
            </a:pPr>
            <a:endParaRPr lang="en-IN" dirty="0"/>
          </a:p>
        </p:txBody>
      </p:sp>
    </p:spTree>
    <p:extLst>
      <p:ext uri="{BB962C8B-B14F-4D97-AF65-F5344CB8AC3E}">
        <p14:creationId xmlns:p14="http://schemas.microsoft.com/office/powerpoint/2010/main" val="41212746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D9BD230D-0708-4782-93C2-6421485EDE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9FE93-17FB-4451-A683-998F350B81BF}"/>
              </a:ext>
            </a:extLst>
          </p:cNvPr>
          <p:cNvSpPr>
            <a:spLocks noGrp="1"/>
          </p:cNvSpPr>
          <p:nvPr>
            <p:ph type="title"/>
          </p:nvPr>
        </p:nvSpPr>
        <p:spPr>
          <a:xfrm>
            <a:off x="649224" y="645106"/>
            <a:ext cx="6574536" cy="1259894"/>
          </a:xfrm>
        </p:spPr>
        <p:txBody>
          <a:bodyPr>
            <a:normAutofit/>
          </a:bodyPr>
          <a:lstStyle/>
          <a:p>
            <a:r>
              <a:rPr lang="en-US" dirty="0">
                <a:latin typeface="Arial" panose="020B0604020202020204" pitchFamily="34" charset="0"/>
                <a:cs typeface="Arial" panose="020B0604020202020204" pitchFamily="34" charset="0"/>
              </a:rPr>
              <a:t>Problem 1</a:t>
            </a:r>
            <a:endParaRPr lang="en-IN" dirty="0">
              <a:latin typeface="Arial" panose="020B0604020202020204" pitchFamily="34" charset="0"/>
              <a:cs typeface="Arial" panose="020B0604020202020204" pitchFamily="34" charset="0"/>
            </a:endParaRPr>
          </a:p>
        </p:txBody>
      </p:sp>
      <p:sp>
        <p:nvSpPr>
          <p:cNvPr id="17" name="Rectangle 11">
            <a:extLst>
              <a:ext uri="{FF2B5EF4-FFF2-40B4-BE49-F238E27FC236}">
                <a16:creationId xmlns:a16="http://schemas.microsoft.com/office/drawing/2014/main" id="{D630D25A-547E-4D17-B65E-FA2B888931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AF67F08-40BD-4B53-9A87-C3304F663A1A}"/>
              </a:ext>
            </a:extLst>
          </p:cNvPr>
          <p:cNvSpPr>
            <a:spLocks noGrp="1"/>
          </p:cNvSpPr>
          <p:nvPr>
            <p:ph idx="1"/>
          </p:nvPr>
        </p:nvSpPr>
        <p:spPr>
          <a:xfrm>
            <a:off x="649224" y="1417834"/>
            <a:ext cx="6574535" cy="4475019"/>
          </a:xfrm>
        </p:spPr>
        <p:txBody>
          <a:bodyPr>
            <a:noAutofit/>
          </a:bodyPr>
          <a:lstStyle/>
          <a:p>
            <a:pPr lvl="0" algn="just">
              <a:lnSpc>
                <a:spcPct val="90000"/>
              </a:lnSpc>
              <a:buClr>
                <a:srgbClr val="E78712"/>
              </a:buClr>
            </a:pPr>
            <a:r>
              <a:rPr lang="en-US" b="1" dirty="0">
                <a:latin typeface="Arial" panose="020B0604020202020204" pitchFamily="34" charset="0"/>
                <a:cs typeface="Arial" panose="020B0604020202020204" pitchFamily="34" charset="0"/>
              </a:rPr>
              <a:t>Q) </a:t>
            </a:r>
            <a:r>
              <a:rPr lang="en-US" dirty="0">
                <a:latin typeface="Arial" panose="020B0604020202020204" pitchFamily="34" charset="0"/>
                <a:cs typeface="Arial" panose="020B0604020202020204" pitchFamily="34" charset="0"/>
              </a:rPr>
              <a:t>Sketch a 3-input NAND gate with transistor widths chosen to achieve effective rise and fall resistance equal to that of a unit inverter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Annotate the gate with its gate and diffusion capacitances. Assume all diffusion nodes are contacted. Then sketch equivalent circuits for the falling output transition and for the worst-case rising output transition ?</a:t>
            </a:r>
          </a:p>
          <a:p>
            <a:pPr marL="0" lvl="0" indent="0">
              <a:lnSpc>
                <a:spcPct val="90000"/>
              </a:lnSpc>
              <a:buClr>
                <a:srgbClr val="E78712"/>
              </a:buClr>
              <a:buNone/>
            </a:pPr>
            <a:endParaRPr lang="en-IN" dirty="0">
              <a:latin typeface="Arial" panose="020B0604020202020204" pitchFamily="34" charset="0"/>
              <a:cs typeface="Arial" panose="020B0604020202020204" pitchFamily="34" charset="0"/>
            </a:endParaRPr>
          </a:p>
          <a:p>
            <a:pPr>
              <a:lnSpc>
                <a:spcPct val="90000"/>
              </a:lnSpc>
            </a:pPr>
            <a:r>
              <a:rPr lang="en-IN" b="1" u="sng" dirty="0">
                <a:latin typeface="Arial" panose="020B0604020202020204" pitchFamily="34" charset="0"/>
                <a:cs typeface="Arial" panose="020B0604020202020204" pitchFamily="34" charset="0"/>
              </a:rPr>
              <a:t>Solution</a:t>
            </a:r>
            <a:r>
              <a:rPr lang="en-IN" b="1" dirty="0">
                <a:latin typeface="Arial" panose="020B0604020202020204" pitchFamily="34" charset="0"/>
                <a:cs typeface="Arial" panose="020B0604020202020204" pitchFamily="34" charset="0"/>
              </a:rPr>
              <a:t> :</a:t>
            </a:r>
          </a:p>
          <a:p>
            <a:pPr algn="just">
              <a:lnSpc>
                <a:spcPct val="90000"/>
              </a:lnSpc>
            </a:pPr>
            <a:r>
              <a:rPr lang="en-US" dirty="0">
                <a:latin typeface="Arial" panose="020B0604020202020204" pitchFamily="34" charset="0"/>
                <a:cs typeface="Arial" panose="020B0604020202020204" pitchFamily="34" charset="0"/>
              </a:rPr>
              <a:t>The three </a:t>
            </a:r>
            <a:r>
              <a:rPr lang="en-US" dirty="0" err="1">
                <a:latin typeface="Arial" panose="020B0604020202020204" pitchFamily="34" charset="0"/>
                <a:cs typeface="Arial" panose="020B0604020202020204" pitchFamily="34" charset="0"/>
              </a:rPr>
              <a:t>nMOS</a:t>
            </a:r>
            <a:r>
              <a:rPr lang="en-US" dirty="0">
                <a:latin typeface="Arial" panose="020B0604020202020204" pitchFamily="34" charset="0"/>
                <a:cs typeface="Arial" panose="020B0604020202020204" pitchFamily="34" charset="0"/>
              </a:rPr>
              <a:t> transistors are in series so the resistance is three times that of a single transistor. Therefore, each must be three times unit width to compensate. In other words, each transistor has resistance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and the series combination has resistance </a:t>
            </a:r>
            <a:r>
              <a:rPr lang="en-US" i="1" dirty="0" err="1">
                <a:latin typeface="Arial" panose="020B0604020202020204" pitchFamily="34" charset="0"/>
                <a:cs typeface="Arial" panose="020B0604020202020204" pitchFamily="34" charset="0"/>
              </a:rPr>
              <a:t>R</a:t>
            </a:r>
            <a:r>
              <a:rPr lang="en-US" dirty="0" err="1">
                <a:latin typeface="Arial" panose="020B0604020202020204" pitchFamily="34" charset="0"/>
                <a:cs typeface="Arial" panose="020B0604020202020204" pitchFamily="34" charset="0"/>
              </a:rPr>
              <a:t>.The</a:t>
            </a:r>
            <a:r>
              <a:rPr lang="en-US" dirty="0">
                <a:latin typeface="Arial" panose="020B0604020202020204" pitchFamily="34" charset="0"/>
                <a:cs typeface="Arial" panose="020B0604020202020204" pitchFamily="34" charset="0"/>
              </a:rPr>
              <a:t> two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transistors are in parallel. In the worst case (with one of the inputs low), only one of the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transistors is ON. Therefore, each must be twice unit width to have resistance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a:t>
            </a:r>
            <a:endParaRPr lang="en-IN"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2C7CF72-E91B-4ACA-AE95-AB64D6E17F60}"/>
              </a:ext>
            </a:extLst>
          </p:cNvPr>
          <p:cNvPicPr>
            <a:picLocks noChangeAspect="1"/>
          </p:cNvPicPr>
          <p:nvPr/>
        </p:nvPicPr>
        <p:blipFill>
          <a:blip r:embed="rId2"/>
          <a:stretch>
            <a:fillRect/>
          </a:stretch>
        </p:blipFill>
        <p:spPr>
          <a:xfrm>
            <a:off x="7562088" y="1314846"/>
            <a:ext cx="3981455" cy="3908266"/>
          </a:xfrm>
          <a:prstGeom prst="rect">
            <a:avLst/>
          </a:prstGeom>
        </p:spPr>
      </p:pic>
      <p:sp>
        <p:nvSpPr>
          <p:cNvPr id="18" name="Freeform 11">
            <a:extLst>
              <a:ext uri="{FF2B5EF4-FFF2-40B4-BE49-F238E27FC236}">
                <a16:creationId xmlns:a16="http://schemas.microsoft.com/office/drawing/2014/main" id="{F39C56FC-EE04-4CE0-8DE2-736A201E9A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3BD59B42-9506-42AA-9B65-60C089A4F69E}"/>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a:spcAft>
                <a:spcPts val="600"/>
              </a:spcAft>
            </a:pPr>
            <a:endParaRPr lang="en-IN" dirty="0"/>
          </a:p>
        </p:txBody>
      </p:sp>
    </p:spTree>
    <p:extLst>
      <p:ext uri="{BB962C8B-B14F-4D97-AF65-F5344CB8AC3E}">
        <p14:creationId xmlns:p14="http://schemas.microsoft.com/office/powerpoint/2010/main" val="131787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C55EE7-46F1-4FCE-8963-702DFF95541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10C21F-2F76-4FE8-92C9-E65FF74A3522}"/>
              </a:ext>
            </a:extLst>
          </p:cNvPr>
          <p:cNvSpPr>
            <a:spLocks noGrp="1"/>
          </p:cNvSpPr>
          <p:nvPr>
            <p:ph type="title"/>
          </p:nvPr>
        </p:nvSpPr>
        <p:spPr>
          <a:xfrm>
            <a:off x="649224" y="645106"/>
            <a:ext cx="5122652" cy="1259894"/>
          </a:xfrm>
        </p:spPr>
        <p:txBody>
          <a:bodyPr>
            <a:normAutofit/>
          </a:bodyPr>
          <a:lstStyle/>
          <a:p>
            <a:r>
              <a:rPr lang="en-IN" dirty="0"/>
              <a:t>Continue….</a:t>
            </a:r>
          </a:p>
        </p:txBody>
      </p:sp>
      <p:sp>
        <p:nvSpPr>
          <p:cNvPr id="13" name="Rectangle 12">
            <a:extLst>
              <a:ext uri="{FF2B5EF4-FFF2-40B4-BE49-F238E27FC236}">
                <a16:creationId xmlns:a16="http://schemas.microsoft.com/office/drawing/2014/main" id="{84EFD645-DA65-4344-9A09-F1A9ECA780A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640DC5F3-056D-48DB-9096-7F5EDD989334}"/>
              </a:ext>
            </a:extLst>
          </p:cNvPr>
          <p:cNvSpPr>
            <a:spLocks noGrp="1"/>
          </p:cNvSpPr>
          <p:nvPr>
            <p:ph idx="1"/>
          </p:nvPr>
        </p:nvSpPr>
        <p:spPr>
          <a:xfrm>
            <a:off x="649225" y="2133600"/>
            <a:ext cx="5122652" cy="3759253"/>
          </a:xfrm>
        </p:spPr>
        <p:txBody>
          <a:bodyPr>
            <a:normAutofit/>
          </a:bodyPr>
          <a:lstStyle/>
          <a:p>
            <a:pPr algn="just"/>
            <a:r>
              <a:rPr lang="en-US" dirty="0">
                <a:latin typeface="Arial" panose="020B0604020202020204" pitchFamily="34" charset="0"/>
                <a:cs typeface="Arial" panose="020B0604020202020204" pitchFamily="34" charset="0"/>
              </a:rPr>
              <a:t>Figure (b) shows the capacitances. Each input presents five units of gate capacitance to whatever circuit drives that input. Notice that the capacitors on source diffusions attached to the rails have both terminals shorted together so they are irrelevant to circuit operation. Figure (c) redraws the gate with these capacitances deleted and the remaining capacitances </a:t>
            </a:r>
            <a:r>
              <a:rPr lang="en-IN" dirty="0">
                <a:latin typeface="Arial" panose="020B0604020202020204" pitchFamily="34" charset="0"/>
                <a:cs typeface="Arial" panose="020B0604020202020204" pitchFamily="34" charset="0"/>
              </a:rPr>
              <a:t>lumped to ground.</a:t>
            </a:r>
          </a:p>
        </p:txBody>
      </p:sp>
      <p:pic>
        <p:nvPicPr>
          <p:cNvPr id="5" name="Picture 4">
            <a:extLst>
              <a:ext uri="{FF2B5EF4-FFF2-40B4-BE49-F238E27FC236}">
                <a16:creationId xmlns:a16="http://schemas.microsoft.com/office/drawing/2014/main" id="{DE1BC781-8536-4445-89D6-6796497C7F4B}"/>
              </a:ext>
            </a:extLst>
          </p:cNvPr>
          <p:cNvPicPr>
            <a:picLocks noChangeAspect="1"/>
          </p:cNvPicPr>
          <p:nvPr/>
        </p:nvPicPr>
        <p:blipFill>
          <a:blip r:embed="rId2"/>
          <a:stretch>
            <a:fillRect/>
          </a:stretch>
        </p:blipFill>
        <p:spPr>
          <a:xfrm>
            <a:off x="7566834" y="189697"/>
            <a:ext cx="4221903" cy="3247414"/>
          </a:xfrm>
          <a:prstGeom prst="rect">
            <a:avLst/>
          </a:prstGeom>
        </p:spPr>
      </p:pic>
      <p:pic>
        <p:nvPicPr>
          <p:cNvPr id="6" name="Picture 5">
            <a:extLst>
              <a:ext uri="{FF2B5EF4-FFF2-40B4-BE49-F238E27FC236}">
                <a16:creationId xmlns:a16="http://schemas.microsoft.com/office/drawing/2014/main" id="{CB3DFAA4-061B-4A5A-AE3B-DE0C1BEED729}"/>
              </a:ext>
            </a:extLst>
          </p:cNvPr>
          <p:cNvPicPr>
            <a:picLocks noChangeAspect="1"/>
          </p:cNvPicPr>
          <p:nvPr/>
        </p:nvPicPr>
        <p:blipFill>
          <a:blip r:embed="rId3"/>
          <a:stretch>
            <a:fillRect/>
          </a:stretch>
        </p:blipFill>
        <p:spPr>
          <a:xfrm>
            <a:off x="7566834" y="4013226"/>
            <a:ext cx="4099230" cy="2707920"/>
          </a:xfrm>
          <a:prstGeom prst="rect">
            <a:avLst/>
          </a:prstGeom>
        </p:spPr>
      </p:pic>
      <p:sp>
        <p:nvSpPr>
          <p:cNvPr id="15" name="Freeform 12">
            <a:extLst>
              <a:ext uri="{FF2B5EF4-FFF2-40B4-BE49-F238E27FC236}">
                <a16:creationId xmlns:a16="http://schemas.microsoft.com/office/drawing/2014/main" id="{52E1387C-B186-463D-8EC6-72189C2FAD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EAAAB70A-C9B1-41C5-A823-1508DE671A3D}"/>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21095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C55EE7-46F1-4FCE-8963-702DFF95541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2910C21F-2F76-4FE8-92C9-E65FF74A3522}"/>
              </a:ext>
            </a:extLst>
          </p:cNvPr>
          <p:cNvSpPr>
            <a:spLocks noGrp="1"/>
          </p:cNvSpPr>
          <p:nvPr>
            <p:ph type="title"/>
          </p:nvPr>
        </p:nvSpPr>
        <p:spPr>
          <a:xfrm>
            <a:off x="649224" y="645106"/>
            <a:ext cx="5122652" cy="1259894"/>
          </a:xfrm>
        </p:spPr>
        <p:txBody>
          <a:bodyPr>
            <a:normAutofit/>
          </a:bodyPr>
          <a:lstStyle/>
          <a:p>
            <a:r>
              <a:rPr lang="en-IN" dirty="0"/>
              <a:t>Continue….</a:t>
            </a:r>
          </a:p>
        </p:txBody>
      </p:sp>
      <p:sp>
        <p:nvSpPr>
          <p:cNvPr id="13" name="Rectangle 12">
            <a:extLst>
              <a:ext uri="{FF2B5EF4-FFF2-40B4-BE49-F238E27FC236}">
                <a16:creationId xmlns:a16="http://schemas.microsoft.com/office/drawing/2014/main" id="{84EFD645-DA65-4344-9A09-F1A9ECA780A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640DC5F3-056D-48DB-9096-7F5EDD989334}"/>
              </a:ext>
            </a:extLst>
          </p:cNvPr>
          <p:cNvSpPr>
            <a:spLocks noGrp="1"/>
          </p:cNvSpPr>
          <p:nvPr>
            <p:ph idx="1"/>
          </p:nvPr>
        </p:nvSpPr>
        <p:spPr>
          <a:xfrm>
            <a:off x="649224" y="1746608"/>
            <a:ext cx="5446775" cy="4384452"/>
          </a:xfrm>
        </p:spPr>
        <p:txBody>
          <a:bodyPr>
            <a:normAutofit/>
          </a:bodyPr>
          <a:lstStyle/>
          <a:p>
            <a:pPr algn="just"/>
            <a:r>
              <a:rPr lang="en-US" dirty="0">
                <a:solidFill>
                  <a:srgbClr val="231F20"/>
                </a:solidFill>
                <a:latin typeface="Arial" panose="020B0604020202020204" pitchFamily="34" charset="0"/>
                <a:cs typeface="Arial" panose="020B0604020202020204" pitchFamily="34" charset="0"/>
              </a:rPr>
              <a:t>Figure (d) shows the equivalent circuit for the falling output transition. The output pulls down through the three series </a:t>
            </a:r>
            <a:r>
              <a:rPr lang="en-US" dirty="0" err="1">
                <a:solidFill>
                  <a:srgbClr val="231F20"/>
                </a:solidFill>
                <a:latin typeface="Arial" panose="020B0604020202020204" pitchFamily="34" charset="0"/>
                <a:cs typeface="Arial" panose="020B0604020202020204" pitchFamily="34" charset="0"/>
              </a:rPr>
              <a:t>nMOS</a:t>
            </a:r>
            <a:r>
              <a:rPr lang="en-US" dirty="0">
                <a:solidFill>
                  <a:srgbClr val="231F20"/>
                </a:solidFill>
                <a:latin typeface="Arial" panose="020B0604020202020204" pitchFamily="34" charset="0"/>
                <a:cs typeface="Arial" panose="020B0604020202020204" pitchFamily="34" charset="0"/>
              </a:rPr>
              <a:t> transistors. Figure 4.7(e) shows the equivalent circuit for the rising output transition. </a:t>
            </a:r>
            <a:r>
              <a:rPr lang="en-US" dirty="0" err="1">
                <a:solidFill>
                  <a:srgbClr val="231F20"/>
                </a:solidFill>
                <a:latin typeface="Arial" panose="020B0604020202020204" pitchFamily="34" charset="0"/>
                <a:cs typeface="Arial" panose="020B0604020202020204" pitchFamily="34" charset="0"/>
              </a:rPr>
              <a:t>Inthe</a:t>
            </a:r>
            <a:r>
              <a:rPr lang="en-US" dirty="0">
                <a:solidFill>
                  <a:srgbClr val="231F20"/>
                </a:solidFill>
                <a:latin typeface="Arial" panose="020B0604020202020204" pitchFamily="34" charset="0"/>
                <a:cs typeface="Arial" panose="020B0604020202020204" pitchFamily="34" charset="0"/>
              </a:rPr>
              <a:t> worst case, the upper two inputs are 1 and the bottom one falls to 0. The output pulls up through a single </a:t>
            </a:r>
            <a:r>
              <a:rPr lang="en-US" dirty="0" err="1">
                <a:solidFill>
                  <a:srgbClr val="231F20"/>
                </a:solidFill>
                <a:latin typeface="Arial" panose="020B0604020202020204" pitchFamily="34" charset="0"/>
                <a:cs typeface="Arial" panose="020B0604020202020204" pitchFamily="34" charset="0"/>
              </a:rPr>
              <a:t>pMOS</a:t>
            </a:r>
            <a:r>
              <a:rPr lang="en-US" dirty="0">
                <a:solidFill>
                  <a:srgbClr val="231F20"/>
                </a:solidFill>
                <a:latin typeface="Arial" panose="020B0604020202020204" pitchFamily="34" charset="0"/>
                <a:cs typeface="Arial" panose="020B0604020202020204" pitchFamily="34" charset="0"/>
              </a:rPr>
              <a:t> transistor. The upper two </a:t>
            </a:r>
            <a:r>
              <a:rPr lang="en-US" dirty="0" err="1">
                <a:solidFill>
                  <a:srgbClr val="231F20"/>
                </a:solidFill>
                <a:latin typeface="Arial" panose="020B0604020202020204" pitchFamily="34" charset="0"/>
                <a:cs typeface="Arial" panose="020B0604020202020204" pitchFamily="34" charset="0"/>
              </a:rPr>
              <a:t>nMOS</a:t>
            </a:r>
            <a:r>
              <a:rPr lang="en-US" dirty="0">
                <a:solidFill>
                  <a:srgbClr val="231F20"/>
                </a:solidFill>
                <a:latin typeface="Arial" panose="020B0604020202020204" pitchFamily="34" charset="0"/>
                <a:cs typeface="Arial" panose="020B0604020202020204" pitchFamily="34" charset="0"/>
              </a:rPr>
              <a:t> transistors are still on, so the diffusion capacitance between </a:t>
            </a:r>
            <a:r>
              <a:rPr lang="en-US" dirty="0" err="1">
                <a:solidFill>
                  <a:srgbClr val="231F20"/>
                </a:solidFill>
                <a:latin typeface="Arial" panose="020B0604020202020204" pitchFamily="34" charset="0"/>
                <a:cs typeface="Arial" panose="020B0604020202020204" pitchFamily="34" charset="0"/>
              </a:rPr>
              <a:t>theseries</a:t>
            </a:r>
            <a:r>
              <a:rPr lang="en-US" dirty="0">
                <a:solidFill>
                  <a:srgbClr val="231F20"/>
                </a:solidFill>
                <a:latin typeface="Arial" panose="020B0604020202020204" pitchFamily="34" charset="0"/>
                <a:cs typeface="Arial" panose="020B0604020202020204" pitchFamily="34" charset="0"/>
              </a:rPr>
              <a:t> </a:t>
            </a:r>
            <a:r>
              <a:rPr lang="en-US" dirty="0" err="1">
                <a:solidFill>
                  <a:srgbClr val="231F20"/>
                </a:solidFill>
                <a:latin typeface="Arial" panose="020B0604020202020204" pitchFamily="34" charset="0"/>
                <a:cs typeface="Arial" panose="020B0604020202020204" pitchFamily="34" charset="0"/>
              </a:rPr>
              <a:t>nMOS</a:t>
            </a:r>
            <a:r>
              <a:rPr lang="en-US" dirty="0">
                <a:solidFill>
                  <a:srgbClr val="231F20"/>
                </a:solidFill>
                <a:latin typeface="Arial" panose="020B0604020202020204" pitchFamily="34" charset="0"/>
                <a:cs typeface="Arial" panose="020B0604020202020204" pitchFamily="34" charset="0"/>
              </a:rPr>
              <a:t> transistors must also be discharged.</a:t>
            </a:r>
            <a:endParaRPr lang="en-IN" dirty="0">
              <a:latin typeface="Arial" panose="020B0604020202020204" pitchFamily="34" charset="0"/>
              <a:cs typeface="Arial" panose="020B0604020202020204" pitchFamily="34" charset="0"/>
            </a:endParaRPr>
          </a:p>
        </p:txBody>
      </p:sp>
      <p:sp>
        <p:nvSpPr>
          <p:cNvPr id="15" name="Freeform 12">
            <a:extLst>
              <a:ext uri="{FF2B5EF4-FFF2-40B4-BE49-F238E27FC236}">
                <a16:creationId xmlns:a16="http://schemas.microsoft.com/office/drawing/2014/main" id="{52E1387C-B186-463D-8EC6-72189C2FAD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Footer Placeholder 3">
            <a:extLst>
              <a:ext uri="{FF2B5EF4-FFF2-40B4-BE49-F238E27FC236}">
                <a16:creationId xmlns:a16="http://schemas.microsoft.com/office/drawing/2014/main" id="{EAAAB70A-C9B1-41C5-A823-1508DE671A3D}"/>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6">
            <a:extLst>
              <a:ext uri="{FF2B5EF4-FFF2-40B4-BE49-F238E27FC236}">
                <a16:creationId xmlns:a16="http://schemas.microsoft.com/office/drawing/2014/main" id="{F2C076AD-F9F6-41C5-A642-10F1FBF4C089}"/>
              </a:ext>
            </a:extLst>
          </p:cNvPr>
          <p:cNvPicPr>
            <a:picLocks noChangeAspect="1"/>
          </p:cNvPicPr>
          <p:nvPr/>
        </p:nvPicPr>
        <p:blipFill>
          <a:blip r:embed="rId2"/>
          <a:stretch>
            <a:fillRect/>
          </a:stretch>
        </p:blipFill>
        <p:spPr>
          <a:xfrm>
            <a:off x="7152665" y="1357274"/>
            <a:ext cx="3676650" cy="3781425"/>
          </a:xfrm>
          <a:prstGeom prst="rect">
            <a:avLst/>
          </a:prstGeom>
        </p:spPr>
      </p:pic>
    </p:spTree>
    <p:extLst>
      <p:ext uri="{BB962C8B-B14F-4D97-AF65-F5344CB8AC3E}">
        <p14:creationId xmlns:p14="http://schemas.microsoft.com/office/powerpoint/2010/main" val="73980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642B-6890-4F22-A64D-21D9D095B31A}"/>
              </a:ext>
            </a:extLst>
          </p:cNvPr>
          <p:cNvSpPr>
            <a:spLocks noGrp="1"/>
          </p:cNvSpPr>
          <p:nvPr>
            <p:ph type="title"/>
          </p:nvPr>
        </p:nvSpPr>
        <p:spPr>
          <a:xfrm>
            <a:off x="1808253" y="624110"/>
            <a:ext cx="9696360" cy="1280890"/>
          </a:xfrm>
        </p:spPr>
        <p:txBody>
          <a:bodyPr/>
          <a:lstStyle/>
          <a:p>
            <a:r>
              <a:rPr lang="en-IN" b="1" dirty="0">
                <a:solidFill>
                  <a:prstClr val="black"/>
                </a:solidFill>
                <a:latin typeface="TradeGothic-Bold"/>
              </a:rPr>
              <a:t>Elmore</a:t>
            </a:r>
            <a:r>
              <a:rPr lang="en-IN" b="1" dirty="0">
                <a:solidFill>
                  <a:srgbClr val="00AEF0"/>
                </a:solidFill>
                <a:latin typeface="TradeGothic-Bold"/>
              </a:rPr>
              <a:t> </a:t>
            </a:r>
            <a:r>
              <a:rPr lang="en-IN" b="1" dirty="0">
                <a:solidFill>
                  <a:prstClr val="black"/>
                </a:solidFill>
                <a:latin typeface="TradeGothic-Bold"/>
              </a:rPr>
              <a:t>Delay</a:t>
            </a:r>
            <a:endParaRPr lang="en-IN" dirty="0"/>
          </a:p>
        </p:txBody>
      </p:sp>
      <p:sp>
        <p:nvSpPr>
          <p:cNvPr id="3" name="Content Placeholder 2">
            <a:extLst>
              <a:ext uri="{FF2B5EF4-FFF2-40B4-BE49-F238E27FC236}">
                <a16:creationId xmlns:a16="http://schemas.microsoft.com/office/drawing/2014/main" id="{900DAC43-A23E-4E9E-878F-A02762C9DF6A}"/>
              </a:ext>
            </a:extLst>
          </p:cNvPr>
          <p:cNvSpPr>
            <a:spLocks noGrp="1"/>
          </p:cNvSpPr>
          <p:nvPr>
            <p:ph idx="1"/>
          </p:nvPr>
        </p:nvSpPr>
        <p:spPr>
          <a:xfrm>
            <a:off x="996593" y="1551398"/>
            <a:ext cx="10623479" cy="4458983"/>
          </a:xfrm>
        </p:spPr>
        <p:txBody>
          <a:bodyPr>
            <a:normAutofit/>
          </a:bodyPr>
          <a:lstStyle/>
          <a:p>
            <a:r>
              <a:rPr lang="en-US" dirty="0">
                <a:solidFill>
                  <a:srgbClr val="231F20"/>
                </a:solidFill>
                <a:latin typeface="Arial" panose="020B0604020202020204" pitchFamily="34" charset="0"/>
                <a:cs typeface="Arial" panose="020B0604020202020204" pitchFamily="34" charset="0"/>
              </a:rPr>
              <a:t>Most circuits of interest can be represented as an </a:t>
            </a:r>
            <a:r>
              <a:rPr lang="en-US" i="1" dirty="0">
                <a:solidFill>
                  <a:srgbClr val="231F20"/>
                </a:solidFill>
                <a:latin typeface="Arial" panose="020B0604020202020204" pitchFamily="34" charset="0"/>
                <a:cs typeface="Arial" panose="020B0604020202020204" pitchFamily="34" charset="0"/>
              </a:rPr>
              <a:t>RC tree</a:t>
            </a:r>
            <a:r>
              <a:rPr lang="en-US" dirty="0">
                <a:solidFill>
                  <a:srgbClr val="231F20"/>
                </a:solidFill>
                <a:latin typeface="Arial" panose="020B0604020202020204" pitchFamily="34" charset="0"/>
                <a:cs typeface="Arial" panose="020B0604020202020204" pitchFamily="34" charset="0"/>
              </a:rPr>
              <a:t>, i.e., an RC circuit </a:t>
            </a:r>
            <a:r>
              <a:rPr lang="en-IN" dirty="0">
                <a:solidFill>
                  <a:srgbClr val="231F20"/>
                </a:solidFill>
                <a:latin typeface="Arial" panose="020B0604020202020204" pitchFamily="34" charset="0"/>
                <a:cs typeface="Arial" panose="020B0604020202020204" pitchFamily="34" charset="0"/>
              </a:rPr>
              <a:t>with no loops. </a:t>
            </a:r>
            <a:r>
              <a:rPr lang="en-US" dirty="0">
                <a:latin typeface="Arial" panose="020B0604020202020204" pitchFamily="34" charset="0"/>
                <a:cs typeface="Arial" panose="020B0604020202020204" pitchFamily="34" charset="0"/>
              </a:rPr>
              <a:t>The root of the tree is the voltage source and the leaves are the capacitors at the ends of the branches. </a:t>
            </a:r>
          </a:p>
          <a:p>
            <a:pPr algn="just"/>
            <a:r>
              <a:rPr lang="en-US" dirty="0">
                <a:latin typeface="Arial" panose="020B0604020202020204" pitchFamily="34" charset="0"/>
                <a:cs typeface="Arial" panose="020B0604020202020204" pitchFamily="34" charset="0"/>
              </a:rPr>
              <a:t>The Elmore delay model estimates the delay from a source switching to one of the leaf nodes changing as the sum over each node</a:t>
            </a:r>
            <a:r>
              <a:rPr lang="en-US" sz="2000" b="1" dirty="0">
                <a:latin typeface="Arial" panose="020B0604020202020204" pitchFamily="34" charset="0"/>
                <a:cs typeface="Arial" panose="020B0604020202020204" pitchFamily="34" charset="0"/>
              </a:rPr>
              <a:t> </a:t>
            </a:r>
            <a:r>
              <a:rPr lang="en-US" sz="2000" b="1" i="1" dirty="0" err="1">
                <a:latin typeface="Arial" panose="020B0604020202020204" pitchFamily="34" charset="0"/>
                <a:cs typeface="Arial" panose="020B0604020202020204" pitchFamily="34" charset="0"/>
              </a:rPr>
              <a:t>i</a:t>
            </a:r>
            <a:r>
              <a:rPr lang="en-US" sz="2000"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of the capacitance </a:t>
            </a:r>
            <a:r>
              <a:rPr lang="en-US" sz="2000" b="1" i="1" dirty="0">
                <a:latin typeface="Arial" panose="020B0604020202020204" pitchFamily="34" charset="0"/>
                <a:cs typeface="Arial" panose="020B0604020202020204" pitchFamily="34" charset="0"/>
              </a:rPr>
              <a:t>C</a:t>
            </a:r>
            <a:r>
              <a:rPr lang="en-US" sz="2000" b="1" i="1" baseline="-25000" dirty="0">
                <a:latin typeface="Arial" panose="020B0604020202020204" pitchFamily="34" charset="0"/>
                <a:cs typeface="Arial" panose="020B0604020202020204" pitchFamily="34" charset="0"/>
              </a:rPr>
              <a:t>i</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on the node, multiplied by the effective resistance </a:t>
            </a:r>
            <a:r>
              <a:rPr lang="en-US" b="1" i="1" dirty="0" err="1">
                <a:latin typeface="Arial" panose="020B0604020202020204" pitchFamily="34" charset="0"/>
                <a:cs typeface="Arial" panose="020B0604020202020204" pitchFamily="34" charset="0"/>
              </a:rPr>
              <a:t>R</a:t>
            </a:r>
            <a:r>
              <a:rPr lang="en-US" b="1" i="1" baseline="-25000" dirty="0" err="1">
                <a:latin typeface="Arial" panose="020B0604020202020204" pitchFamily="34" charset="0"/>
                <a:cs typeface="Arial" panose="020B0604020202020204" pitchFamily="34" charset="0"/>
              </a:rPr>
              <a:t>is</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on the shared path from the source to the node and the leaf</a:t>
            </a:r>
            <a:r>
              <a:rPr lang="en-US" dirty="0"/>
              <a:t>.</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E052C3D-B28D-4399-830E-93005ED4D1E9}"/>
              </a:ext>
            </a:extLst>
          </p:cNvPr>
          <p:cNvSpPr>
            <a:spLocks noGrp="1"/>
          </p:cNvSpPr>
          <p:nvPr>
            <p:ph type="ftr" sz="quarter" idx="11"/>
          </p:nvPr>
        </p:nvSpPr>
        <p:spPr>
          <a:xfrm>
            <a:off x="1664414" y="6139822"/>
            <a:ext cx="8544798"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1BEE2CB0-1313-4444-BEF1-0C7A57D536D4}"/>
              </a:ext>
            </a:extLst>
          </p:cNvPr>
          <p:cNvPicPr>
            <a:picLocks noChangeAspect="1"/>
          </p:cNvPicPr>
          <p:nvPr/>
        </p:nvPicPr>
        <p:blipFill>
          <a:blip r:embed="rId2"/>
          <a:stretch>
            <a:fillRect/>
          </a:stretch>
        </p:blipFill>
        <p:spPr>
          <a:xfrm>
            <a:off x="4730554" y="3428999"/>
            <a:ext cx="1819935" cy="824501"/>
          </a:xfrm>
          <a:prstGeom prst="rect">
            <a:avLst/>
          </a:prstGeom>
        </p:spPr>
      </p:pic>
    </p:spTree>
    <p:extLst>
      <p:ext uri="{BB962C8B-B14F-4D97-AF65-F5344CB8AC3E}">
        <p14:creationId xmlns:p14="http://schemas.microsoft.com/office/powerpoint/2010/main" val="38520221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C568C-EF81-468B-B05C-343C0324B5B6}"/>
              </a:ext>
            </a:extLst>
          </p:cNvPr>
          <p:cNvSpPr>
            <a:spLocks noGrp="1"/>
          </p:cNvSpPr>
          <p:nvPr>
            <p:ph type="title"/>
          </p:nvPr>
        </p:nvSpPr>
        <p:spPr>
          <a:xfrm>
            <a:off x="1839075" y="624110"/>
            <a:ext cx="9665538" cy="1280890"/>
          </a:xfrm>
        </p:spPr>
        <p:txBody>
          <a:bodyPr/>
          <a:lstStyle/>
          <a:p>
            <a:r>
              <a:rPr lang="en-IN" dirty="0">
                <a:latin typeface="Arial" panose="020B0604020202020204" pitchFamily="34" charset="0"/>
                <a:cs typeface="Arial" panose="020B0604020202020204" pitchFamily="34" charset="0"/>
              </a:rPr>
              <a:t>Problem2</a:t>
            </a:r>
          </a:p>
        </p:txBody>
      </p:sp>
      <p:sp>
        <p:nvSpPr>
          <p:cNvPr id="3" name="Content Placeholder 2">
            <a:extLst>
              <a:ext uri="{FF2B5EF4-FFF2-40B4-BE49-F238E27FC236}">
                <a16:creationId xmlns:a16="http://schemas.microsoft.com/office/drawing/2014/main" id="{79B03B38-6287-4688-8D63-52D135F734BD}"/>
              </a:ext>
            </a:extLst>
          </p:cNvPr>
          <p:cNvSpPr>
            <a:spLocks noGrp="1"/>
          </p:cNvSpPr>
          <p:nvPr>
            <p:ph idx="1"/>
          </p:nvPr>
        </p:nvSpPr>
        <p:spPr>
          <a:xfrm>
            <a:off x="1325366" y="1623317"/>
            <a:ext cx="10179247" cy="4287905"/>
          </a:xfrm>
        </p:spPr>
        <p:txBody>
          <a:bodyPr/>
          <a:lstStyle/>
          <a:p>
            <a:r>
              <a:rPr lang="en-US" dirty="0">
                <a:solidFill>
                  <a:srgbClr val="231F20"/>
                </a:solidFill>
                <a:latin typeface="Arial" panose="020B0604020202020204" pitchFamily="34" charset="0"/>
                <a:cs typeface="Arial" panose="020B0604020202020204" pitchFamily="34" charset="0"/>
              </a:rPr>
              <a:t>Q) Compute the Elmore delay for </a:t>
            </a:r>
            <a:r>
              <a:rPr lang="en-US" i="1" dirty="0" err="1">
                <a:solidFill>
                  <a:srgbClr val="231F20"/>
                </a:solidFill>
                <a:latin typeface="Arial" panose="020B0604020202020204" pitchFamily="34" charset="0"/>
                <a:cs typeface="Arial" panose="020B0604020202020204" pitchFamily="34" charset="0"/>
              </a:rPr>
              <a:t>V</a:t>
            </a:r>
            <a:r>
              <a:rPr lang="en-US" sz="1400" dirty="0" err="1">
                <a:solidFill>
                  <a:srgbClr val="231F20"/>
                </a:solidFill>
                <a:latin typeface="Arial" panose="020B0604020202020204" pitchFamily="34" charset="0"/>
                <a:cs typeface="Arial" panose="020B0604020202020204" pitchFamily="34" charset="0"/>
              </a:rPr>
              <a:t>out</a:t>
            </a:r>
            <a:r>
              <a:rPr lang="en-US" sz="1400" dirty="0">
                <a:solidFill>
                  <a:srgbClr val="231F20"/>
                </a:solidFill>
                <a:latin typeface="Arial" panose="020B0604020202020204" pitchFamily="34" charset="0"/>
                <a:cs typeface="Arial" panose="020B0604020202020204" pitchFamily="34" charset="0"/>
              </a:rPr>
              <a:t> </a:t>
            </a:r>
            <a:r>
              <a:rPr lang="en-US" dirty="0">
                <a:solidFill>
                  <a:srgbClr val="231F20"/>
                </a:solidFill>
                <a:latin typeface="Arial" panose="020B0604020202020204" pitchFamily="34" charset="0"/>
                <a:cs typeface="Arial" panose="020B0604020202020204" pitchFamily="34" charset="0"/>
              </a:rPr>
              <a:t>in the 2nd order RC system from Figure?</a:t>
            </a:r>
          </a:p>
          <a:p>
            <a:endParaRPr lang="en-US" dirty="0">
              <a:solidFill>
                <a:srgbClr val="231F20"/>
              </a:solidFill>
              <a:latin typeface="Arial" panose="020B0604020202020204" pitchFamily="34" charset="0"/>
              <a:cs typeface="Arial" panose="020B0604020202020204" pitchFamily="34" charset="0"/>
            </a:endParaRPr>
          </a:p>
          <a:p>
            <a:endParaRPr lang="en-US" dirty="0">
              <a:solidFill>
                <a:srgbClr val="231F20"/>
              </a:solidFill>
              <a:latin typeface="Arial" panose="020B0604020202020204" pitchFamily="34" charset="0"/>
              <a:cs typeface="Arial" panose="020B0604020202020204" pitchFamily="34" charset="0"/>
            </a:endParaRPr>
          </a:p>
          <a:p>
            <a:endParaRPr lang="en-US" dirty="0">
              <a:solidFill>
                <a:srgbClr val="231F20"/>
              </a:solidFill>
              <a:latin typeface="Arial" panose="020B0604020202020204" pitchFamily="34" charset="0"/>
              <a:cs typeface="Arial" panose="020B0604020202020204" pitchFamily="34" charset="0"/>
            </a:endParaRPr>
          </a:p>
          <a:p>
            <a:endParaRPr lang="en-US" dirty="0">
              <a:solidFill>
                <a:srgbClr val="231F20"/>
              </a:solidFill>
              <a:latin typeface="Arial" panose="020B0604020202020204" pitchFamily="34" charset="0"/>
              <a:cs typeface="Arial" panose="020B0604020202020204" pitchFamily="34" charset="0"/>
            </a:endParaRPr>
          </a:p>
          <a:p>
            <a:endParaRPr lang="en-US" dirty="0">
              <a:solidFill>
                <a:srgbClr val="231F20"/>
              </a:solidFill>
              <a:latin typeface="Arial" panose="020B0604020202020204" pitchFamily="34" charset="0"/>
              <a:cs typeface="Arial" panose="020B0604020202020204" pitchFamily="34" charset="0"/>
            </a:endParaRPr>
          </a:p>
          <a:p>
            <a:r>
              <a:rPr lang="en-US" b="1" u="sng" dirty="0">
                <a:solidFill>
                  <a:srgbClr val="231F20"/>
                </a:solidFill>
                <a:latin typeface="Arial" panose="020B0604020202020204" pitchFamily="34" charset="0"/>
                <a:cs typeface="Arial" panose="020B0604020202020204" pitchFamily="34" charset="0"/>
              </a:rPr>
              <a:t>Solution </a:t>
            </a:r>
          </a:p>
          <a:p>
            <a:pPr algn="just"/>
            <a:r>
              <a:rPr lang="en-US" dirty="0">
                <a:latin typeface="Arial" panose="020B0604020202020204" pitchFamily="34" charset="0"/>
                <a:cs typeface="Arial" panose="020B0604020202020204" pitchFamily="34" charset="0"/>
              </a:rPr>
              <a:t>The circuit has a source and two nodes. At node </a:t>
            </a:r>
            <a:r>
              <a:rPr lang="en-US" b="1" i="1" dirty="0">
                <a:latin typeface="Arial" panose="020B0604020202020204" pitchFamily="34" charset="0"/>
                <a:cs typeface="Arial" panose="020B0604020202020204" pitchFamily="34" charset="0"/>
              </a:rPr>
              <a:t>n</a:t>
            </a:r>
            <a:r>
              <a:rPr lang="en-US" b="1"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the capacitance is </a:t>
            </a:r>
            <a:r>
              <a:rPr lang="en-US" b="1" i="1" dirty="0">
                <a:latin typeface="Arial" panose="020B0604020202020204" pitchFamily="34" charset="0"/>
                <a:cs typeface="Arial" panose="020B0604020202020204" pitchFamily="34" charset="0"/>
              </a:rPr>
              <a:t>C</a:t>
            </a:r>
            <a:r>
              <a:rPr lang="en-US" b="1"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and the resistance to the source is </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At node</a:t>
            </a:r>
            <a:r>
              <a:rPr lang="en-US" b="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V</a:t>
            </a:r>
            <a:r>
              <a:rPr lang="en-US" b="1" baseline="-25000" dirty="0" err="1">
                <a:latin typeface="Arial" panose="020B0604020202020204" pitchFamily="34" charset="0"/>
                <a:cs typeface="Arial" panose="020B0604020202020204" pitchFamily="34" charset="0"/>
              </a:rPr>
              <a:t>out</a:t>
            </a:r>
            <a:r>
              <a:rPr lang="en-US" dirty="0">
                <a:latin typeface="Arial" panose="020B0604020202020204" pitchFamily="34" charset="0"/>
                <a:cs typeface="Arial" panose="020B0604020202020204" pitchFamily="34" charset="0"/>
              </a:rPr>
              <a:t>, the capacitance is </a:t>
            </a:r>
            <a:r>
              <a:rPr lang="en-US" i="1" dirty="0">
                <a:latin typeface="Arial" panose="020B0604020202020204" pitchFamily="34" charset="0"/>
                <a:cs typeface="Arial" panose="020B0604020202020204" pitchFamily="34" charset="0"/>
              </a:rPr>
              <a:t>C</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and the resistance to the source is </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Hence, the Elmore delay is </a:t>
            </a:r>
            <a:r>
              <a:rPr lang="en-US" b="1" i="1" dirty="0" err="1">
                <a:latin typeface="Arial" panose="020B0604020202020204" pitchFamily="34" charset="0"/>
                <a:cs typeface="Arial" panose="020B0604020202020204" pitchFamily="34" charset="0"/>
              </a:rPr>
              <a:t>t</a:t>
            </a:r>
            <a:r>
              <a:rPr lang="en-US" b="1" i="1" baseline="-25000" dirty="0" err="1">
                <a:latin typeface="Arial" panose="020B0604020202020204" pitchFamily="34" charset="0"/>
                <a:cs typeface="Arial" panose="020B0604020202020204" pitchFamily="34" charset="0"/>
              </a:rPr>
              <a:t>pd</a:t>
            </a:r>
            <a:r>
              <a:rPr lang="en-US" b="1" i="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1</a:t>
            </a:r>
            <a:r>
              <a:rPr lang="en-US" b="1" i="1" dirty="0">
                <a:latin typeface="Arial" panose="020B0604020202020204" pitchFamily="34" charset="0"/>
                <a:cs typeface="Arial" panose="020B0604020202020204" pitchFamily="34" charset="0"/>
              </a:rPr>
              <a:t>C</a:t>
            </a:r>
            <a:r>
              <a:rPr lang="en-US" b="1" baseline="-25000" dirty="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 + </a:t>
            </a:r>
            <a:r>
              <a:rPr lang="en-US" b="1" i="1" dirty="0">
                <a:latin typeface="Arial" panose="020B0604020202020204" pitchFamily="34" charset="0"/>
                <a:cs typeface="Arial" panose="020B0604020202020204" pitchFamily="34" charset="0"/>
              </a:rPr>
              <a:t>R</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C</a:t>
            </a:r>
            <a:r>
              <a:rPr lang="en-US" b="1" baseline="-25000" dirty="0">
                <a:latin typeface="Arial" panose="020B0604020202020204" pitchFamily="34" charset="0"/>
                <a:cs typeface="Arial" panose="020B0604020202020204" pitchFamily="34" charset="0"/>
              </a:rPr>
              <a:t>2</a:t>
            </a:r>
            <a:endParaRPr lang="en-IN" b="1" u="sng" baseline="-25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68DA1ACF-9BE8-4514-A344-5309CE285116}"/>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1CF48AC8-C5C4-411D-86E2-F9AD2EB11B42}"/>
              </a:ext>
            </a:extLst>
          </p:cNvPr>
          <p:cNvPicPr>
            <a:picLocks noChangeAspect="1"/>
          </p:cNvPicPr>
          <p:nvPr/>
        </p:nvPicPr>
        <p:blipFill>
          <a:blip r:embed="rId2"/>
          <a:stretch>
            <a:fillRect/>
          </a:stretch>
        </p:blipFill>
        <p:spPr>
          <a:xfrm>
            <a:off x="1839075" y="2224219"/>
            <a:ext cx="3324225" cy="1543050"/>
          </a:xfrm>
          <a:prstGeom prst="rect">
            <a:avLst/>
          </a:prstGeom>
        </p:spPr>
      </p:pic>
    </p:spTree>
    <p:extLst>
      <p:ext uri="{BB962C8B-B14F-4D97-AF65-F5344CB8AC3E}">
        <p14:creationId xmlns:p14="http://schemas.microsoft.com/office/powerpoint/2010/main" val="341545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1000"/>
                                        <p:tgtEl>
                                          <p:spTgt spid="3">
                                            <p:txEl>
                                              <p:pRg st="7" end="7"/>
                                            </p:txEl>
                                          </p:spTgt>
                                        </p:tgtEl>
                                      </p:cBhvr>
                                    </p:animEffect>
                                    <p:anim calcmode="lin" valueType="num">
                                      <p:cBhvr>
                                        <p:cTn id="1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3419E28B-721B-4D0D-A1D3-78EAC57253A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240B18-D198-4824-A339-AB2D2BDE34CE}"/>
              </a:ext>
            </a:extLst>
          </p:cNvPr>
          <p:cNvSpPr>
            <a:spLocks noGrp="1"/>
          </p:cNvSpPr>
          <p:nvPr>
            <p:ph type="title"/>
          </p:nvPr>
        </p:nvSpPr>
        <p:spPr>
          <a:xfrm>
            <a:off x="649224" y="645106"/>
            <a:ext cx="5122652" cy="1259894"/>
          </a:xfrm>
        </p:spPr>
        <p:txBody>
          <a:bodyPr>
            <a:normAutofit/>
          </a:bodyPr>
          <a:lstStyle/>
          <a:p>
            <a:r>
              <a:rPr lang="en-US" dirty="0"/>
              <a:t>Problem3</a:t>
            </a:r>
            <a:endParaRPr lang="en-IN" dirty="0"/>
          </a:p>
        </p:txBody>
      </p:sp>
      <p:sp>
        <p:nvSpPr>
          <p:cNvPr id="17" name="Rectangle 11">
            <a:extLst>
              <a:ext uri="{FF2B5EF4-FFF2-40B4-BE49-F238E27FC236}">
                <a16:creationId xmlns:a16="http://schemas.microsoft.com/office/drawing/2014/main" id="{359E45B9-0D24-465E-84AD-FEDBA836B56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2345DA0E-5B8E-41E9-A79D-4DE7F601A3EA}"/>
              </a:ext>
            </a:extLst>
          </p:cNvPr>
          <p:cNvSpPr>
            <a:spLocks noGrp="1"/>
          </p:cNvSpPr>
          <p:nvPr>
            <p:ph idx="1"/>
          </p:nvPr>
        </p:nvSpPr>
        <p:spPr>
          <a:xfrm>
            <a:off x="649225" y="1664414"/>
            <a:ext cx="5122652" cy="4228440"/>
          </a:xfrm>
        </p:spPr>
        <p:txBody>
          <a:bodyPr>
            <a:noAutofit/>
          </a:bodyPr>
          <a:lstStyle/>
          <a:p>
            <a:pPr>
              <a:lnSpc>
                <a:spcPct val="90000"/>
              </a:lnSpc>
            </a:pPr>
            <a:r>
              <a:rPr lang="en-US" b="1" dirty="0">
                <a:latin typeface="Arial" panose="020B0604020202020204" pitchFamily="34" charset="0"/>
                <a:cs typeface="Arial" panose="020B0604020202020204" pitchFamily="34" charset="0"/>
              </a:rPr>
              <a:t>Q) </a:t>
            </a:r>
            <a:r>
              <a:rPr lang="en-US" dirty="0">
                <a:latin typeface="Arial" panose="020B0604020202020204" pitchFamily="34" charset="0"/>
                <a:cs typeface="Arial" panose="020B0604020202020204" pitchFamily="34" charset="0"/>
              </a:rPr>
              <a:t>Estimate </a:t>
            </a:r>
            <a:r>
              <a:rPr lang="en-US" b="1" i="1" dirty="0" err="1">
                <a:latin typeface="Arial" panose="020B0604020202020204" pitchFamily="34" charset="0"/>
                <a:cs typeface="Arial" panose="020B0604020202020204" pitchFamily="34" charset="0"/>
              </a:rPr>
              <a:t>Elmores</a:t>
            </a:r>
            <a:r>
              <a:rPr lang="en-US" b="1" i="1" dirty="0">
                <a:latin typeface="Arial" panose="020B0604020202020204" pitchFamily="34" charset="0"/>
                <a:cs typeface="Arial" panose="020B0604020202020204" pitchFamily="34" charset="0"/>
              </a:rPr>
              <a:t> delay</a:t>
            </a:r>
            <a:r>
              <a:rPr lang="en-US" i="1"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for a unit inverter driving </a:t>
            </a:r>
            <a:r>
              <a:rPr lang="en-US" b="1" i="1" dirty="0">
                <a:latin typeface="Arial" panose="020B0604020202020204" pitchFamily="34" charset="0"/>
                <a:cs typeface="Arial" panose="020B0604020202020204" pitchFamily="34" charset="0"/>
              </a:rPr>
              <a:t>m</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identical unit inverters</a:t>
            </a:r>
            <a:r>
              <a:rPr lang="en-US" dirty="0">
                <a:latin typeface="ACaslon-Regular"/>
              </a:rPr>
              <a:t>.?  </a:t>
            </a:r>
          </a:p>
          <a:p>
            <a:pPr>
              <a:lnSpc>
                <a:spcPct val="90000"/>
              </a:lnSpc>
            </a:pPr>
            <a:r>
              <a:rPr lang="en-US" b="1" u="sng" dirty="0">
                <a:latin typeface="Arial" panose="020B0604020202020204" pitchFamily="34" charset="0"/>
                <a:cs typeface="Arial" panose="020B0604020202020204" pitchFamily="34" charset="0"/>
              </a:rPr>
              <a:t>Solution</a:t>
            </a:r>
            <a:r>
              <a:rPr lang="en-US" b="1" dirty="0">
                <a:latin typeface="Arial" panose="020B0604020202020204" pitchFamily="34" charset="0"/>
                <a:cs typeface="Arial" panose="020B0604020202020204" pitchFamily="34" charset="0"/>
              </a:rPr>
              <a:t> </a:t>
            </a:r>
          </a:p>
          <a:p>
            <a:pPr algn="just">
              <a:lnSpc>
                <a:spcPct val="90000"/>
              </a:lnSpc>
            </a:pPr>
            <a:r>
              <a:rPr lang="en-IN" dirty="0">
                <a:latin typeface="Arial" panose="020B0604020202020204" pitchFamily="34" charset="0"/>
                <a:cs typeface="Arial" panose="020B0604020202020204" pitchFamily="34" charset="0"/>
              </a:rPr>
              <a:t>Each load </a:t>
            </a:r>
            <a:r>
              <a:rPr lang="en-US" dirty="0">
                <a:latin typeface="Arial" panose="020B0604020202020204" pitchFamily="34" charset="0"/>
                <a:cs typeface="Arial" panose="020B0604020202020204" pitchFamily="34" charset="0"/>
              </a:rPr>
              <a:t>inverter presents </a:t>
            </a:r>
            <a:r>
              <a:rPr lang="en-US" b="1" dirty="0">
                <a:latin typeface="Arial" panose="020B0604020202020204" pitchFamily="34" charset="0"/>
                <a:cs typeface="Arial" panose="020B0604020202020204" pitchFamily="34" charset="0"/>
              </a:rPr>
              <a:t>3</a:t>
            </a:r>
            <a:r>
              <a:rPr lang="en-US" b="1" i="1" dirty="0">
                <a:latin typeface="Arial" panose="020B0604020202020204" pitchFamily="34" charset="0"/>
                <a:cs typeface="Arial" panose="020B0604020202020204" pitchFamily="34" charset="0"/>
              </a:rPr>
              <a:t>C</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units of gate capacitance, for a total of </a:t>
            </a:r>
            <a:r>
              <a:rPr lang="en-US" b="1" dirty="0">
                <a:latin typeface="Arial" panose="020B0604020202020204" pitchFamily="34" charset="0"/>
                <a:cs typeface="Arial" panose="020B0604020202020204" pitchFamily="34" charset="0"/>
              </a:rPr>
              <a:t>3</a:t>
            </a:r>
            <a:r>
              <a:rPr lang="en-US" b="1" i="1" dirty="0">
                <a:latin typeface="Arial" panose="020B0604020202020204" pitchFamily="34" charset="0"/>
                <a:cs typeface="Arial" panose="020B0604020202020204" pitchFamily="34" charset="0"/>
              </a:rPr>
              <a:t>mC</a:t>
            </a:r>
            <a:r>
              <a:rPr lang="en-US" dirty="0">
                <a:latin typeface="Arial" panose="020B0604020202020204" pitchFamily="34" charset="0"/>
                <a:cs typeface="Arial" panose="020B0604020202020204" pitchFamily="34" charset="0"/>
              </a:rPr>
              <a:t>. The output node also sees a capacitance of </a:t>
            </a:r>
            <a:r>
              <a:rPr lang="en-US" b="1" dirty="0">
                <a:latin typeface="Arial" panose="020B0604020202020204" pitchFamily="34" charset="0"/>
                <a:cs typeface="Arial" panose="020B0604020202020204" pitchFamily="34" charset="0"/>
              </a:rPr>
              <a:t>3</a:t>
            </a:r>
            <a:r>
              <a:rPr lang="en-US" b="1" i="1" dirty="0">
                <a:latin typeface="Arial" panose="020B0604020202020204" pitchFamily="34" charset="0"/>
                <a:cs typeface="Arial" panose="020B0604020202020204" pitchFamily="34" charset="0"/>
              </a:rPr>
              <a:t>C</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from the drain diffusions of the driving inverter. This capacitance is called </a:t>
            </a:r>
            <a:r>
              <a:rPr lang="en-US" i="1" dirty="0">
                <a:latin typeface="Arial" panose="020B0604020202020204" pitchFamily="34" charset="0"/>
                <a:cs typeface="Arial" panose="020B0604020202020204" pitchFamily="34" charset="0"/>
              </a:rPr>
              <a:t>parasitic </a:t>
            </a:r>
            <a:r>
              <a:rPr lang="en-US" dirty="0">
                <a:latin typeface="Arial" panose="020B0604020202020204" pitchFamily="34" charset="0"/>
                <a:cs typeface="Arial" panose="020B0604020202020204" pitchFamily="34" charset="0"/>
              </a:rPr>
              <a:t>because it is an undesired side-effect of the need to make the drain large enough to contact. The parasitic capacitance is independent of the load that the inverter is driving. Hence, the total capacitance is </a:t>
            </a:r>
            <a:r>
              <a:rPr lang="en-US" b="1" dirty="0">
                <a:latin typeface="Arial" panose="020B0604020202020204" pitchFamily="34" charset="0"/>
                <a:cs typeface="Arial" panose="020B0604020202020204" pitchFamily="34" charset="0"/>
              </a:rPr>
              <a:t>(3 + 3</a:t>
            </a:r>
            <a:r>
              <a:rPr lang="en-US" b="1" i="1" dirty="0">
                <a:latin typeface="Arial" panose="020B0604020202020204" pitchFamily="34" charset="0"/>
                <a:cs typeface="Arial" panose="020B0604020202020204" pitchFamily="34" charset="0"/>
              </a:rPr>
              <a:t>m</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The resistance is </a:t>
            </a:r>
            <a:r>
              <a:rPr lang="en-US" b="1"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so the Elmore delay is </a:t>
            </a:r>
            <a:r>
              <a:rPr lang="en-US" b="1" i="1" dirty="0" err="1">
                <a:latin typeface="Arial" panose="020B0604020202020204" pitchFamily="34" charset="0"/>
                <a:cs typeface="Arial" panose="020B0604020202020204" pitchFamily="34" charset="0"/>
              </a:rPr>
              <a:t>tpd</a:t>
            </a:r>
            <a:r>
              <a:rPr lang="en-US" b="1" i="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(3 + 3</a:t>
            </a:r>
            <a:r>
              <a:rPr lang="en-US" b="1" i="1" dirty="0">
                <a:latin typeface="Arial" panose="020B0604020202020204" pitchFamily="34" charset="0"/>
                <a:cs typeface="Arial" panose="020B0604020202020204" pitchFamily="34" charset="0"/>
              </a:rPr>
              <a:t>m</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RC</a:t>
            </a:r>
            <a:r>
              <a:rPr lang="en-US" dirty="0">
                <a:latin typeface="Arial" panose="020B0604020202020204" pitchFamily="34" charset="0"/>
                <a:cs typeface="Arial" panose="020B0604020202020204" pitchFamily="34" charset="0"/>
              </a:rPr>
              <a:t>. The equivalent circuit for the rising transition </a:t>
            </a:r>
            <a:r>
              <a:rPr lang="en-IN" dirty="0">
                <a:latin typeface="Arial" panose="020B0604020202020204" pitchFamily="34" charset="0"/>
                <a:cs typeface="Arial" panose="020B0604020202020204" pitchFamily="34" charset="0"/>
              </a:rPr>
              <a:t>gives the same results.</a:t>
            </a:r>
            <a:endParaRPr lang="en-IN" b="1" dirty="0">
              <a:latin typeface="Arial" panose="020B0604020202020204" pitchFamily="34" charset="0"/>
              <a:cs typeface="Arial" panose="020B0604020202020204" pitchFamily="34" charset="0"/>
            </a:endParaRPr>
          </a:p>
        </p:txBody>
      </p:sp>
      <p:pic>
        <p:nvPicPr>
          <p:cNvPr id="5" name="Picture 4" descr="A close up of a sign&#10;&#10;Description automatically generated">
            <a:extLst>
              <a:ext uri="{FF2B5EF4-FFF2-40B4-BE49-F238E27FC236}">
                <a16:creationId xmlns:a16="http://schemas.microsoft.com/office/drawing/2014/main" id="{CB9DA0A0-6DAE-4EC0-87BD-D9D2407AB9C0}"/>
              </a:ext>
            </a:extLst>
          </p:cNvPr>
          <p:cNvPicPr>
            <a:picLocks noChangeAspect="1"/>
          </p:cNvPicPr>
          <p:nvPr/>
        </p:nvPicPr>
        <p:blipFill>
          <a:blip r:embed="rId2"/>
          <a:stretch>
            <a:fillRect/>
          </a:stretch>
        </p:blipFill>
        <p:spPr>
          <a:xfrm>
            <a:off x="6091916" y="1402846"/>
            <a:ext cx="5451627" cy="3732267"/>
          </a:xfrm>
          <a:prstGeom prst="rect">
            <a:avLst/>
          </a:prstGeom>
        </p:spPr>
      </p:pic>
      <p:sp>
        <p:nvSpPr>
          <p:cNvPr id="18" name="Freeform 12">
            <a:extLst>
              <a:ext uri="{FF2B5EF4-FFF2-40B4-BE49-F238E27FC236}">
                <a16:creationId xmlns:a16="http://schemas.microsoft.com/office/drawing/2014/main" id="{1F36A2FB-17CD-4DA6-9D8A-BFD6ADF6A32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F7098A8E-CB05-4097-B205-85FBE8CB69A5}"/>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58175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929E-FF4A-40BC-AC2A-3E16D5615379}"/>
              </a:ext>
            </a:extLst>
          </p:cNvPr>
          <p:cNvSpPr>
            <a:spLocks noGrp="1"/>
          </p:cNvSpPr>
          <p:nvPr>
            <p:ph type="title"/>
          </p:nvPr>
        </p:nvSpPr>
        <p:spPr>
          <a:xfrm>
            <a:off x="1602769" y="624110"/>
            <a:ext cx="9901843" cy="1280890"/>
          </a:xfrm>
        </p:spPr>
        <p:txBody>
          <a:bodyPr>
            <a:normAutofit/>
          </a:bodyPr>
          <a:lstStyle/>
          <a:p>
            <a:r>
              <a:rPr lang="en-US" b="1" dirty="0"/>
              <a:t>Problem4</a:t>
            </a:r>
            <a:endParaRPr lang="en-IN" b="1" dirty="0"/>
          </a:p>
        </p:txBody>
      </p:sp>
      <p:sp>
        <p:nvSpPr>
          <p:cNvPr id="3" name="Content Placeholder 2">
            <a:extLst>
              <a:ext uri="{FF2B5EF4-FFF2-40B4-BE49-F238E27FC236}">
                <a16:creationId xmlns:a16="http://schemas.microsoft.com/office/drawing/2014/main" id="{719597BF-7F4B-4017-B02C-860B1AAC3871}"/>
              </a:ext>
            </a:extLst>
          </p:cNvPr>
          <p:cNvSpPr>
            <a:spLocks noGrp="1"/>
          </p:cNvSpPr>
          <p:nvPr>
            <p:ph idx="1"/>
          </p:nvPr>
        </p:nvSpPr>
        <p:spPr>
          <a:xfrm>
            <a:off x="1027416" y="2125362"/>
            <a:ext cx="7396917" cy="3785860"/>
          </a:xfrm>
        </p:spPr>
        <p:txBody>
          <a:bodyPr>
            <a:normAutofit lnSpcReduction="10000"/>
          </a:bodyPr>
          <a:lstStyle/>
          <a:p>
            <a:r>
              <a:rPr lang="en-US" b="1" dirty="0">
                <a:latin typeface="Arial" panose="020B0604020202020204" pitchFamily="34" charset="0"/>
                <a:cs typeface="Arial" panose="020B0604020202020204" pitchFamily="34" charset="0"/>
              </a:rPr>
              <a:t>Q) </a:t>
            </a:r>
            <a:r>
              <a:rPr lang="en-US" dirty="0">
                <a:latin typeface="Arial" panose="020B0604020202020204" pitchFamily="34" charset="0"/>
                <a:cs typeface="Arial" panose="020B0604020202020204" pitchFamily="34" charset="0"/>
              </a:rPr>
              <a:t>Repeat  the previous problem  if the driver is </a:t>
            </a:r>
            <a:r>
              <a:rPr lang="en-US" sz="2000" b="1" i="1" dirty="0">
                <a:latin typeface="Arial" panose="020B0604020202020204" pitchFamily="34" charset="0"/>
                <a:cs typeface="Arial" panose="020B0604020202020204" pitchFamily="34" charset="0"/>
              </a:rPr>
              <a:t>w</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times unit size. Calculate the fan-out of a gate?</a:t>
            </a:r>
          </a:p>
          <a:p>
            <a:r>
              <a:rPr lang="en-US" b="1" u="sng" dirty="0">
                <a:latin typeface="Arial" panose="020B0604020202020204" pitchFamily="34" charset="0"/>
                <a:cs typeface="Arial" panose="020B0604020202020204" pitchFamily="34" charset="0"/>
              </a:rPr>
              <a:t>Solution  </a:t>
            </a:r>
          </a:p>
          <a:p>
            <a:pPr algn="just"/>
            <a:r>
              <a:rPr lang="en-US" dirty="0">
                <a:latin typeface="Arial" panose="020B0604020202020204" pitchFamily="34" charset="0"/>
                <a:cs typeface="Arial" panose="020B0604020202020204" pitchFamily="34" charset="0"/>
              </a:rPr>
              <a:t>The driver transistors are </a:t>
            </a:r>
            <a:r>
              <a:rPr lang="en-US" i="1" dirty="0">
                <a:latin typeface="Arial" panose="020B0604020202020204" pitchFamily="34" charset="0"/>
                <a:cs typeface="Arial" panose="020B0604020202020204" pitchFamily="34" charset="0"/>
              </a:rPr>
              <a:t>w </a:t>
            </a:r>
            <a:r>
              <a:rPr lang="en-US" dirty="0">
                <a:latin typeface="Arial" panose="020B0604020202020204" pitchFamily="34" charset="0"/>
                <a:cs typeface="Arial" panose="020B0604020202020204" pitchFamily="34" charset="0"/>
              </a:rPr>
              <a:t>times as wide, so the effective resistance decreases by a factor of</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w </a:t>
            </a:r>
            <a:r>
              <a:rPr lang="en-US" dirty="0">
                <a:latin typeface="Arial" panose="020B0604020202020204" pitchFamily="34" charset="0"/>
                <a:cs typeface="Arial" panose="020B0604020202020204" pitchFamily="34" charset="0"/>
              </a:rPr>
              <a:t>. The diffusion capacitance increases by a factor of </a:t>
            </a:r>
            <a:r>
              <a:rPr lang="en-US" b="1"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The Elmore delay is </a:t>
            </a:r>
            <a:r>
              <a:rPr lang="en-US" b="1" i="1" dirty="0" err="1">
                <a:latin typeface="Arial" panose="020B0604020202020204" pitchFamily="34" charset="0"/>
                <a:cs typeface="Arial" panose="020B0604020202020204" pitchFamily="34" charset="0"/>
              </a:rPr>
              <a:t>tpd</a:t>
            </a:r>
            <a:r>
              <a:rPr lang="en-US" b="1" i="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((3</a:t>
            </a:r>
            <a:r>
              <a:rPr lang="en-US" b="1" i="1" dirty="0">
                <a:latin typeface="Arial" panose="020B0604020202020204" pitchFamily="34" charset="0"/>
                <a:cs typeface="Arial" panose="020B0604020202020204" pitchFamily="34" charset="0"/>
              </a:rPr>
              <a:t>w </a:t>
            </a:r>
            <a:r>
              <a:rPr lang="en-US" b="1" dirty="0">
                <a:latin typeface="Arial" panose="020B0604020202020204" pitchFamily="34" charset="0"/>
                <a:cs typeface="Arial" panose="020B0604020202020204" pitchFamily="34" charset="0"/>
              </a:rPr>
              <a:t>+ 3</a:t>
            </a:r>
            <a:r>
              <a:rPr lang="en-US" b="1" i="1" dirty="0">
                <a:latin typeface="Arial" panose="020B0604020202020204" pitchFamily="34" charset="0"/>
                <a:cs typeface="Arial" panose="020B0604020202020204" pitchFamily="34" charset="0"/>
              </a:rPr>
              <a:t>m</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C</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R</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w</a:t>
            </a:r>
            <a:r>
              <a:rPr lang="en-US" b="1" dirty="0">
                <a:latin typeface="Arial" panose="020B0604020202020204" pitchFamily="34" charset="0"/>
                <a:cs typeface="Arial" panose="020B0604020202020204" pitchFamily="34" charset="0"/>
              </a:rPr>
              <a:t>) = (3 + 3</a:t>
            </a:r>
            <a:r>
              <a:rPr lang="en-US" b="1" i="1" dirty="0">
                <a:latin typeface="Arial" panose="020B0604020202020204" pitchFamily="34" charset="0"/>
                <a:cs typeface="Arial" panose="020B0604020202020204" pitchFamily="34" charset="0"/>
              </a:rPr>
              <a:t>m</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w</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RC</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Define the </a:t>
            </a:r>
            <a:r>
              <a:rPr lang="en-US" i="1" dirty="0">
                <a:latin typeface="Arial" panose="020B0604020202020204" pitchFamily="34" charset="0"/>
                <a:cs typeface="Arial" panose="020B0604020202020204" pitchFamily="34" charset="0"/>
              </a:rPr>
              <a:t>fanout </a:t>
            </a:r>
            <a:r>
              <a:rPr lang="en-US" dirty="0">
                <a:latin typeface="Arial" panose="020B0604020202020204" pitchFamily="34" charset="0"/>
                <a:cs typeface="Arial" panose="020B0604020202020204" pitchFamily="34" charset="0"/>
              </a:rPr>
              <a:t>of the gate, </a:t>
            </a:r>
            <a:r>
              <a:rPr lang="en-US" i="1"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 to be the ratio of the load capacitance to the input capacitance. (Diffusion capacitance is not counted in the fanout.) The load capacitance is 3</a:t>
            </a:r>
            <a:r>
              <a:rPr lang="en-US" i="1" dirty="0">
                <a:latin typeface="Arial" panose="020B0604020202020204" pitchFamily="34" charset="0"/>
                <a:cs typeface="Arial" panose="020B0604020202020204" pitchFamily="34" charset="0"/>
              </a:rPr>
              <a:t>mC</a:t>
            </a:r>
            <a:r>
              <a:rPr lang="en-US" dirty="0">
                <a:latin typeface="Arial" panose="020B0604020202020204" pitchFamily="34" charset="0"/>
                <a:cs typeface="Arial" panose="020B0604020202020204" pitchFamily="34" charset="0"/>
              </a:rPr>
              <a:t>. The input capacitance is 3</a:t>
            </a:r>
            <a:r>
              <a:rPr lang="en-US" i="1" dirty="0">
                <a:latin typeface="Arial" panose="020B0604020202020204" pitchFamily="34" charset="0"/>
                <a:cs typeface="Arial" panose="020B0604020202020204" pitchFamily="34" charset="0"/>
              </a:rPr>
              <a:t>wC</a:t>
            </a:r>
            <a:r>
              <a:rPr lang="en-US" dirty="0">
                <a:latin typeface="Arial" panose="020B0604020202020204" pitchFamily="34" charset="0"/>
                <a:cs typeface="Arial" panose="020B0604020202020204" pitchFamily="34" charset="0"/>
              </a:rPr>
              <a:t>. Thus, the inverter has a fanout of </a:t>
            </a:r>
            <a:r>
              <a:rPr lang="en-US" i="1" dirty="0">
                <a:latin typeface="Arial" panose="020B0604020202020204" pitchFamily="34" charset="0"/>
                <a:cs typeface="Arial" panose="020B0604020202020204" pitchFamily="34" charset="0"/>
              </a:rPr>
              <a:t>h </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w </a:t>
            </a:r>
            <a:r>
              <a:rPr lang="en-US" dirty="0">
                <a:latin typeface="Arial" panose="020B0604020202020204" pitchFamily="34" charset="0"/>
                <a:cs typeface="Arial" panose="020B0604020202020204" pitchFamily="34" charset="0"/>
              </a:rPr>
              <a:t>and the delay can be written as (3 + 3</a:t>
            </a:r>
            <a:r>
              <a:rPr lang="en-US" i="1"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RC</a:t>
            </a:r>
            <a:endParaRPr lang="en-IN" b="1" u="sng"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4C5EDFA-1B28-406E-BD97-ABD8E1088AA2}"/>
              </a:ext>
            </a:extLst>
          </p:cNvPr>
          <p:cNvPicPr>
            <a:picLocks noChangeAspect="1"/>
          </p:cNvPicPr>
          <p:nvPr/>
        </p:nvPicPr>
        <p:blipFill>
          <a:blip r:embed="rId2"/>
          <a:stretch>
            <a:fillRect/>
          </a:stretch>
        </p:blipFill>
        <p:spPr>
          <a:xfrm>
            <a:off x="8757265" y="2188045"/>
            <a:ext cx="3065846" cy="1620518"/>
          </a:xfrm>
          <a:prstGeom prst="rect">
            <a:avLst/>
          </a:prstGeom>
        </p:spPr>
      </p:pic>
      <p:sp>
        <p:nvSpPr>
          <p:cNvPr id="4" name="Footer Placeholder 3">
            <a:extLst>
              <a:ext uri="{FF2B5EF4-FFF2-40B4-BE49-F238E27FC236}">
                <a16:creationId xmlns:a16="http://schemas.microsoft.com/office/drawing/2014/main" id="{6B5CE13C-9CC9-4509-90B4-FE31687BBCE7}"/>
              </a:ext>
            </a:extLst>
          </p:cNvPr>
          <p:cNvSpPr>
            <a:spLocks noGrp="1"/>
          </p:cNvSpPr>
          <p:nvPr>
            <p:ph type="ftr" sz="quarter" idx="11"/>
          </p:nvPr>
        </p:nvSpPr>
        <p:spPr>
          <a:xfrm>
            <a:off x="2589212"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5669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62D448-0CA8-4182-B455-53A1E60B1D42}"/>
              </a:ext>
            </a:extLst>
          </p:cNvPr>
          <p:cNvSpPr>
            <a:spLocks noGrp="1"/>
          </p:cNvSpPr>
          <p:nvPr>
            <p:ph type="title"/>
          </p:nvPr>
        </p:nvSpPr>
        <p:spPr>
          <a:xfrm>
            <a:off x="649224" y="645106"/>
            <a:ext cx="6574536" cy="1259894"/>
          </a:xfrm>
        </p:spPr>
        <p:txBody>
          <a:bodyPr>
            <a:normAutofit/>
          </a:bodyPr>
          <a:lstStyle/>
          <a:p>
            <a:r>
              <a:rPr lang="en-US" b="1" dirty="0"/>
              <a:t>Problem5</a:t>
            </a:r>
            <a:endParaRPr lang="en-IN" dirty="0"/>
          </a:p>
        </p:txBody>
      </p:sp>
      <p:sp>
        <p:nvSpPr>
          <p:cNvPr id="12" name="Rectangle 11">
            <a:extLst>
              <a:ext uri="{FF2B5EF4-FFF2-40B4-BE49-F238E27FC236}">
                <a16:creationId xmlns:a16="http://schemas.microsoft.com/office/drawing/2014/main" id="{D630D25A-547E-4D17-B65E-FA2B888931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44C154A5-FE7D-4E0C-A33B-9C63EBDE17E0}"/>
              </a:ext>
            </a:extLst>
          </p:cNvPr>
          <p:cNvSpPr>
            <a:spLocks noGrp="1"/>
          </p:cNvSpPr>
          <p:nvPr>
            <p:ph idx="1"/>
          </p:nvPr>
        </p:nvSpPr>
        <p:spPr>
          <a:xfrm>
            <a:off x="649224" y="1797978"/>
            <a:ext cx="6574535" cy="4094875"/>
          </a:xfrm>
        </p:spPr>
        <p:txBody>
          <a:bodyPr>
            <a:normAutofit/>
          </a:bodyPr>
          <a:lstStyle/>
          <a:p>
            <a:r>
              <a:rPr lang="en-US" b="1" dirty="0">
                <a:latin typeface="Arial" panose="020B0604020202020204" pitchFamily="34" charset="0"/>
                <a:cs typeface="Arial" panose="020B0604020202020204" pitchFamily="34" charset="0"/>
              </a:rPr>
              <a:t>Q)</a:t>
            </a:r>
            <a:r>
              <a:rPr lang="en-US" dirty="0">
                <a:latin typeface="Arial" panose="020B0604020202020204" pitchFamily="34" charset="0"/>
                <a:cs typeface="Arial" panose="020B0604020202020204" pitchFamily="34" charset="0"/>
              </a:rPr>
              <a:t>If a unit transistor has </a:t>
            </a:r>
            <a:r>
              <a:rPr lang="en-US" i="1" dirty="0">
                <a:latin typeface="Arial" panose="020B0604020202020204" pitchFamily="34" charset="0"/>
                <a:cs typeface="Arial" panose="020B0604020202020204" pitchFamily="34" charset="0"/>
              </a:rPr>
              <a:t>R </a:t>
            </a:r>
            <a:r>
              <a:rPr lang="en-US" dirty="0">
                <a:latin typeface="Arial" panose="020B0604020202020204" pitchFamily="34" charset="0"/>
                <a:cs typeface="Arial" panose="020B0604020202020204" pitchFamily="34" charset="0"/>
              </a:rPr>
              <a:t>= 10 </a:t>
            </a:r>
            <a:r>
              <a:rPr lang="en-US" dirty="0" err="1">
                <a:latin typeface="Arial" panose="020B0604020202020204" pitchFamily="34" charset="0"/>
                <a:cs typeface="Arial" panose="020B0604020202020204" pitchFamily="34" charset="0"/>
              </a:rPr>
              <a:t>kΩ</a:t>
            </a:r>
            <a:r>
              <a:rPr lang="en-US" dirty="0">
                <a:latin typeface="Arial" panose="020B0604020202020204" pitchFamily="34" charset="0"/>
                <a:cs typeface="Arial" panose="020B0604020202020204" pitchFamily="34" charset="0"/>
              </a:rPr>
              <a:t> and </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 0.1 </a:t>
            </a:r>
            <a:r>
              <a:rPr lang="en-US"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 in a 65 nm process, compute the delay, in picoseconds, of the inverter in Figure 4.14 with a fanout of </a:t>
            </a:r>
            <a:r>
              <a:rPr lang="en-US" i="1" dirty="0">
                <a:latin typeface="Arial" panose="020B0604020202020204" pitchFamily="34" charset="0"/>
                <a:cs typeface="Arial" panose="020B0604020202020204" pitchFamily="34" charset="0"/>
              </a:rPr>
              <a:t>h </a:t>
            </a:r>
            <a:r>
              <a:rPr lang="en-US" dirty="0">
                <a:latin typeface="Arial" panose="020B0604020202020204" pitchFamily="34" charset="0"/>
                <a:cs typeface="Arial" panose="020B0604020202020204" pitchFamily="34" charset="0"/>
              </a:rPr>
              <a:t>= 4 ?  </a:t>
            </a:r>
          </a:p>
          <a:p>
            <a:r>
              <a:rPr lang="en-US" b="1" u="sng" dirty="0">
                <a:latin typeface="Arial" panose="020B0604020202020204" pitchFamily="34" charset="0"/>
                <a:cs typeface="Arial" panose="020B0604020202020204" pitchFamily="34" charset="0"/>
              </a:rPr>
              <a:t>Solution </a:t>
            </a:r>
          </a:p>
          <a:p>
            <a:pPr algn="just"/>
            <a:r>
              <a:rPr lang="en-US" dirty="0">
                <a:solidFill>
                  <a:srgbClr val="231F20"/>
                </a:solidFill>
                <a:latin typeface="Arial" panose="020B0604020202020204" pitchFamily="34" charset="0"/>
                <a:cs typeface="Arial" panose="020B0604020202020204" pitchFamily="34" charset="0"/>
              </a:rPr>
              <a:t>The </a:t>
            </a:r>
            <a:r>
              <a:rPr lang="en-US" i="1" dirty="0">
                <a:solidFill>
                  <a:srgbClr val="231F20"/>
                </a:solidFill>
                <a:latin typeface="Arial" panose="020B0604020202020204" pitchFamily="34" charset="0"/>
                <a:cs typeface="Arial" panose="020B0604020202020204" pitchFamily="34" charset="0"/>
              </a:rPr>
              <a:t>RC </a:t>
            </a:r>
            <a:r>
              <a:rPr lang="en-US" dirty="0">
                <a:solidFill>
                  <a:srgbClr val="231F20"/>
                </a:solidFill>
                <a:latin typeface="Arial" panose="020B0604020202020204" pitchFamily="34" charset="0"/>
                <a:cs typeface="Arial" panose="020B0604020202020204" pitchFamily="34" charset="0"/>
              </a:rPr>
              <a:t>product in the 65 nm process is (10 k</a:t>
            </a:r>
            <a:r>
              <a:rPr lang="el-GR" dirty="0">
                <a:solidFill>
                  <a:srgbClr val="231F20"/>
                </a:solidFill>
                <a:latin typeface="Century Gothic" panose="020B0502020202020204" pitchFamily="34" charset="0"/>
                <a:cs typeface="Arial" panose="020B0604020202020204" pitchFamily="34" charset="0"/>
              </a:rPr>
              <a:t>Ω</a:t>
            </a:r>
            <a:r>
              <a:rPr lang="en-US" dirty="0">
                <a:solidFill>
                  <a:srgbClr val="231F20"/>
                </a:solidFill>
                <a:latin typeface="Arial" panose="020B0604020202020204" pitchFamily="34" charset="0"/>
                <a:cs typeface="Arial" panose="020B0604020202020204" pitchFamily="34" charset="0"/>
              </a:rPr>
              <a:t>)(0.1 </a:t>
            </a:r>
            <a:r>
              <a:rPr lang="en-US" dirty="0" err="1">
                <a:solidFill>
                  <a:srgbClr val="231F20"/>
                </a:solidFill>
                <a:latin typeface="Arial" panose="020B0604020202020204" pitchFamily="34" charset="0"/>
                <a:cs typeface="Arial" panose="020B0604020202020204" pitchFamily="34" charset="0"/>
              </a:rPr>
              <a:t>fF</a:t>
            </a:r>
            <a:r>
              <a:rPr lang="en-US" dirty="0">
                <a:solidFill>
                  <a:srgbClr val="231F20"/>
                </a:solidFill>
                <a:latin typeface="Arial" panose="020B0604020202020204" pitchFamily="34" charset="0"/>
                <a:cs typeface="Arial" panose="020B0604020202020204" pitchFamily="34" charset="0"/>
              </a:rPr>
              <a:t>) = 1 ps. For </a:t>
            </a:r>
            <a:r>
              <a:rPr lang="en-US" i="1" dirty="0">
                <a:solidFill>
                  <a:srgbClr val="231F20"/>
                </a:solidFill>
                <a:latin typeface="Arial" panose="020B0604020202020204" pitchFamily="34" charset="0"/>
                <a:cs typeface="Arial" panose="020B0604020202020204" pitchFamily="34" charset="0"/>
              </a:rPr>
              <a:t>h </a:t>
            </a:r>
            <a:r>
              <a:rPr lang="en-US" dirty="0">
                <a:solidFill>
                  <a:srgbClr val="231F20"/>
                </a:solidFill>
                <a:latin typeface="Arial" panose="020B0604020202020204" pitchFamily="34" charset="0"/>
                <a:cs typeface="Arial" panose="020B0604020202020204" pitchFamily="34" charset="0"/>
              </a:rPr>
              <a:t>= 4, the delay is (3 + 3</a:t>
            </a:r>
            <a:r>
              <a:rPr lang="en-US" i="1" dirty="0">
                <a:solidFill>
                  <a:srgbClr val="231F20"/>
                </a:solidFill>
                <a:latin typeface="Arial" panose="020B0604020202020204" pitchFamily="34" charset="0"/>
                <a:cs typeface="Arial" panose="020B0604020202020204" pitchFamily="34" charset="0"/>
              </a:rPr>
              <a:t>h</a:t>
            </a:r>
            <a:r>
              <a:rPr lang="en-US" dirty="0">
                <a:solidFill>
                  <a:srgbClr val="231F20"/>
                </a:solidFill>
                <a:latin typeface="Arial" panose="020B0604020202020204" pitchFamily="34" charset="0"/>
                <a:cs typeface="Arial" panose="020B0604020202020204" pitchFamily="34" charset="0"/>
              </a:rPr>
              <a:t>)(1 </a:t>
            </a:r>
            <a:r>
              <a:rPr lang="en-US" dirty="0" err="1">
                <a:solidFill>
                  <a:srgbClr val="231F20"/>
                </a:solidFill>
                <a:latin typeface="Arial" panose="020B0604020202020204" pitchFamily="34" charset="0"/>
                <a:cs typeface="Arial" panose="020B0604020202020204" pitchFamily="34" charset="0"/>
              </a:rPr>
              <a:t>ps</a:t>
            </a:r>
            <a:r>
              <a:rPr lang="en-US" dirty="0">
                <a:solidFill>
                  <a:srgbClr val="231F20"/>
                </a:solidFill>
                <a:latin typeface="Arial" panose="020B0604020202020204" pitchFamily="34" charset="0"/>
                <a:cs typeface="Arial" panose="020B0604020202020204" pitchFamily="34" charset="0"/>
              </a:rPr>
              <a:t>) = 15 ps. This is called the </a:t>
            </a:r>
            <a:r>
              <a:rPr lang="en-US" i="1" dirty="0">
                <a:solidFill>
                  <a:srgbClr val="231F20"/>
                </a:solidFill>
                <a:latin typeface="Arial" panose="020B0604020202020204" pitchFamily="34" charset="0"/>
                <a:cs typeface="Arial" panose="020B0604020202020204" pitchFamily="34" charset="0"/>
              </a:rPr>
              <a:t>fanout-of-4 (FO4) inverter delay </a:t>
            </a:r>
            <a:r>
              <a:rPr lang="en-US" dirty="0">
                <a:solidFill>
                  <a:srgbClr val="231F20"/>
                </a:solidFill>
                <a:latin typeface="Arial" panose="020B0604020202020204" pitchFamily="34" charset="0"/>
                <a:cs typeface="Arial" panose="020B0604020202020204" pitchFamily="34" charset="0"/>
              </a:rPr>
              <a:t>and is representative of gate delays in a typical circuit.</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7783497-A9B7-4231-BB97-D46A9665F6E8}"/>
              </a:ext>
            </a:extLst>
          </p:cNvPr>
          <p:cNvPicPr>
            <a:picLocks noChangeAspect="1"/>
          </p:cNvPicPr>
          <p:nvPr/>
        </p:nvPicPr>
        <p:blipFill>
          <a:blip r:embed="rId2"/>
          <a:stretch>
            <a:fillRect/>
          </a:stretch>
        </p:blipFill>
        <p:spPr>
          <a:xfrm>
            <a:off x="7562088" y="1975366"/>
            <a:ext cx="3981455" cy="2587227"/>
          </a:xfrm>
          <a:prstGeom prst="rect">
            <a:avLst/>
          </a:prstGeom>
        </p:spPr>
      </p:pic>
      <p:sp>
        <p:nvSpPr>
          <p:cNvPr id="14" name="Freeform 11">
            <a:extLst>
              <a:ext uri="{FF2B5EF4-FFF2-40B4-BE49-F238E27FC236}">
                <a16:creationId xmlns:a16="http://schemas.microsoft.com/office/drawing/2014/main" id="{F39C56FC-EE04-4CE0-8DE2-736A201E9A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CB7DA1D-9521-40AD-923B-FA17D4E53992}"/>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81836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BFE3618-8387-4153-870E-99EA1B9784F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B746C1-C79C-4CB0-A119-DDE20EA38150}"/>
              </a:ext>
            </a:extLst>
          </p:cNvPr>
          <p:cNvSpPr>
            <a:spLocks noGrp="1"/>
          </p:cNvSpPr>
          <p:nvPr>
            <p:ph type="title"/>
          </p:nvPr>
        </p:nvSpPr>
        <p:spPr>
          <a:xfrm>
            <a:off x="649224" y="645106"/>
            <a:ext cx="3650279" cy="1259894"/>
          </a:xfrm>
        </p:spPr>
        <p:txBody>
          <a:bodyPr>
            <a:normAutofit/>
          </a:bodyPr>
          <a:lstStyle/>
          <a:p>
            <a:r>
              <a:rPr lang="en-IN" dirty="0">
                <a:latin typeface="Arial" panose="020B0604020202020204" pitchFamily="34" charset="0"/>
                <a:cs typeface="Arial" panose="020B0604020202020204" pitchFamily="34" charset="0"/>
              </a:rPr>
              <a:t>Problem 6</a:t>
            </a:r>
          </a:p>
        </p:txBody>
      </p:sp>
      <p:sp>
        <p:nvSpPr>
          <p:cNvPr id="25" name="Rectangle 24">
            <a:extLst>
              <a:ext uri="{FF2B5EF4-FFF2-40B4-BE49-F238E27FC236}">
                <a16:creationId xmlns:a16="http://schemas.microsoft.com/office/drawing/2014/main" id="{BB99A42A-5548-4BB8-9115-A05821C360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AC8BEEA-5368-4C48-94EA-BA736B7D358B}"/>
              </a:ext>
            </a:extLst>
          </p:cNvPr>
          <p:cNvSpPr>
            <a:spLocks noGrp="1"/>
          </p:cNvSpPr>
          <p:nvPr>
            <p:ph idx="1"/>
          </p:nvPr>
        </p:nvSpPr>
        <p:spPr>
          <a:xfrm>
            <a:off x="649225" y="2133600"/>
            <a:ext cx="3650278" cy="3759253"/>
          </a:xfrm>
        </p:spPr>
        <p:txBody>
          <a:bodyPr>
            <a:normAutofit/>
          </a:bodyPr>
          <a:lstStyle/>
          <a:p>
            <a:r>
              <a:rPr lang="en-US" b="1" dirty="0">
                <a:latin typeface="Arial" panose="020B0604020202020204" pitchFamily="34" charset="0"/>
                <a:cs typeface="Arial" panose="020B0604020202020204" pitchFamily="34" charset="0"/>
              </a:rPr>
              <a:t>Q) </a:t>
            </a:r>
            <a:r>
              <a:rPr lang="en-US" dirty="0">
                <a:latin typeface="Arial" panose="020B0604020202020204" pitchFamily="34" charset="0"/>
                <a:cs typeface="Arial" panose="020B0604020202020204" pitchFamily="34" charset="0"/>
              </a:rPr>
              <a:t>Estimate </a:t>
            </a:r>
            <a:r>
              <a:rPr lang="en-US" b="1" i="1" dirty="0" err="1">
                <a:latin typeface="Arial" panose="020B0604020202020204" pitchFamily="34" charset="0"/>
                <a:cs typeface="Arial" panose="020B0604020202020204" pitchFamily="34" charset="0"/>
              </a:rPr>
              <a:t>t</a:t>
            </a:r>
            <a:r>
              <a:rPr lang="en-US" b="1" i="1" baseline="-25000" dirty="0" err="1">
                <a:latin typeface="Arial" panose="020B0604020202020204" pitchFamily="34" charset="0"/>
                <a:cs typeface="Arial" panose="020B0604020202020204" pitchFamily="34" charset="0"/>
              </a:rPr>
              <a:t>pdf</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b="1" i="1" dirty="0" err="1">
                <a:latin typeface="Arial" panose="020B0604020202020204" pitchFamily="34" charset="0"/>
                <a:cs typeface="Arial" panose="020B0604020202020204" pitchFamily="34" charset="0"/>
              </a:rPr>
              <a:t>t</a:t>
            </a:r>
            <a:r>
              <a:rPr lang="en-US" b="1" i="1" baseline="-25000" dirty="0" err="1">
                <a:latin typeface="Arial" panose="020B0604020202020204" pitchFamily="34" charset="0"/>
                <a:cs typeface="Arial" panose="020B0604020202020204" pitchFamily="34" charset="0"/>
              </a:rPr>
              <a:t>pdr</a:t>
            </a:r>
            <a:r>
              <a:rPr lang="en-US" i="1"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for the 3-input NAND gate from given figure (Problem1) if the output is loaded with </a:t>
            </a:r>
            <a:r>
              <a:rPr lang="en-US" i="1" dirty="0">
                <a:latin typeface="Arial" panose="020B0604020202020204" pitchFamily="34" charset="0"/>
                <a:cs typeface="Arial" panose="020B0604020202020204" pitchFamily="34" charset="0"/>
              </a:rPr>
              <a:t>h </a:t>
            </a:r>
            <a:r>
              <a:rPr lang="en-US" dirty="0">
                <a:latin typeface="Arial" panose="020B0604020202020204" pitchFamily="34" charset="0"/>
                <a:cs typeface="Arial" panose="020B0604020202020204" pitchFamily="34" charset="0"/>
              </a:rPr>
              <a:t>identical NAND gates? </a:t>
            </a:r>
          </a:p>
          <a:p>
            <a:endParaRPr lang="en-IN" b="1" u="sng"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4193BBB-967C-4DE3-9CE4-46C46AAD7D94}"/>
              </a:ext>
            </a:extLst>
          </p:cNvPr>
          <p:cNvPicPr>
            <a:picLocks noChangeAspect="1"/>
          </p:cNvPicPr>
          <p:nvPr/>
        </p:nvPicPr>
        <p:blipFill>
          <a:blip r:embed="rId2"/>
          <a:stretch>
            <a:fillRect/>
          </a:stretch>
        </p:blipFill>
        <p:spPr>
          <a:xfrm>
            <a:off x="4978959" y="640080"/>
            <a:ext cx="6234745" cy="5252773"/>
          </a:xfrm>
          <a:prstGeom prst="rect">
            <a:avLst/>
          </a:prstGeom>
        </p:spPr>
      </p:pic>
      <p:sp>
        <p:nvSpPr>
          <p:cNvPr id="27" name="Freeform 11">
            <a:extLst>
              <a:ext uri="{FF2B5EF4-FFF2-40B4-BE49-F238E27FC236}">
                <a16:creationId xmlns:a16="http://schemas.microsoft.com/office/drawing/2014/main" id="{D49441E5-946F-46B3-BDD2-BAD0885323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15C9759-7380-45E0-9117-19AC2665F855}"/>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0623632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8F4B0-EB74-4CC4-A4CB-C1C9FAD72EBC}"/>
              </a:ext>
            </a:extLst>
          </p:cNvPr>
          <p:cNvSpPr>
            <a:spLocks noGrp="1"/>
          </p:cNvSpPr>
          <p:nvPr>
            <p:ph type="title"/>
          </p:nvPr>
        </p:nvSpPr>
        <p:spPr>
          <a:xfrm>
            <a:off x="649224" y="645106"/>
            <a:ext cx="6574536" cy="1259894"/>
          </a:xfrm>
        </p:spPr>
        <p:txBody>
          <a:bodyPr>
            <a:normAutofit/>
          </a:bodyPr>
          <a:lstStyle/>
          <a:p>
            <a:r>
              <a:rPr lang="en-IN" dirty="0">
                <a:latin typeface="Arial" panose="020B0604020202020204" pitchFamily="34" charset="0"/>
                <a:cs typeface="Arial" panose="020B0604020202020204" pitchFamily="34" charset="0"/>
              </a:rPr>
              <a:t>Solution</a:t>
            </a:r>
          </a:p>
        </p:txBody>
      </p:sp>
      <p:sp>
        <p:nvSpPr>
          <p:cNvPr id="12" name="Rectangle 11">
            <a:extLst>
              <a:ext uri="{FF2B5EF4-FFF2-40B4-BE49-F238E27FC236}">
                <a16:creationId xmlns:a16="http://schemas.microsoft.com/office/drawing/2014/main" id="{D630D25A-547E-4D17-B65E-FA2B888931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A266B55B-FBAE-4A39-99FD-6C812AEC11F1}"/>
              </a:ext>
            </a:extLst>
          </p:cNvPr>
          <p:cNvSpPr>
            <a:spLocks noGrp="1"/>
          </p:cNvSpPr>
          <p:nvPr>
            <p:ph idx="1"/>
          </p:nvPr>
        </p:nvSpPr>
        <p:spPr>
          <a:xfrm>
            <a:off x="441790" y="1325366"/>
            <a:ext cx="6781970" cy="4567487"/>
          </a:xfrm>
        </p:spPr>
        <p:txBody>
          <a:bodyPr>
            <a:normAutofit fontScale="92500" lnSpcReduction="20000"/>
          </a:bodyPr>
          <a:lstStyle/>
          <a:p>
            <a:pPr algn="just"/>
            <a:r>
              <a:rPr lang="en-US" dirty="0">
                <a:latin typeface="Arial" panose="020B0604020202020204" pitchFamily="34" charset="0"/>
                <a:cs typeface="Arial" panose="020B0604020202020204" pitchFamily="34" charset="0"/>
              </a:rPr>
              <a:t>Each NAND gate load presents 5 units of capacitance on a given input. Figure (a) shows the equivalent circuit including the load for the falling transition. Node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1 has capacitance 3</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and resistance of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to ground. Node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2 has capacitance 3</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and resistance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to ground. Node </a:t>
            </a:r>
            <a:r>
              <a:rPr lang="en-US" i="1" dirty="0">
                <a:latin typeface="Arial" panose="020B0604020202020204" pitchFamily="34" charset="0"/>
                <a:cs typeface="Arial" panose="020B0604020202020204" pitchFamily="34" charset="0"/>
              </a:rPr>
              <a:t>Y </a:t>
            </a:r>
            <a:r>
              <a:rPr lang="en-US" dirty="0">
                <a:latin typeface="Arial" panose="020B0604020202020204" pitchFamily="34" charset="0"/>
                <a:cs typeface="Arial" panose="020B0604020202020204" pitchFamily="34" charset="0"/>
              </a:rPr>
              <a:t>has capacitance (9 + 5</a:t>
            </a:r>
            <a:r>
              <a:rPr lang="en-US" i="1"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and resistance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to ground. The Elmore delay for the falling output is the sum of </a:t>
            </a:r>
            <a:r>
              <a:rPr lang="pt-BR" dirty="0">
                <a:latin typeface="Arial" panose="020B0604020202020204" pitchFamily="34" charset="0"/>
                <a:cs typeface="Arial" panose="020B0604020202020204" pitchFamily="34" charset="0"/>
              </a:rPr>
              <a:t>these RC products, </a:t>
            </a:r>
            <a:r>
              <a:rPr lang="pt-BR" i="1" dirty="0">
                <a:latin typeface="Arial" panose="020B0604020202020204" pitchFamily="34" charset="0"/>
                <a:cs typeface="Arial" panose="020B0604020202020204" pitchFamily="34" charset="0"/>
              </a:rPr>
              <a:t>tpdf </a:t>
            </a:r>
            <a:r>
              <a:rPr lang="pt-BR" dirty="0">
                <a:latin typeface="Arial" panose="020B0604020202020204" pitchFamily="34" charset="0"/>
                <a:cs typeface="Arial" panose="020B0604020202020204" pitchFamily="34" charset="0"/>
              </a:rPr>
              <a:t>= (3</a:t>
            </a:r>
            <a:r>
              <a:rPr lang="pt-BR" i="1" dirty="0">
                <a:latin typeface="Arial" panose="020B0604020202020204" pitchFamily="34" charset="0"/>
                <a:cs typeface="Arial" panose="020B0604020202020204" pitchFamily="34" charset="0"/>
              </a:rPr>
              <a:t>C</a:t>
            </a:r>
            <a:r>
              <a:rPr lang="pt-BR" dirty="0">
                <a:latin typeface="Arial" panose="020B0604020202020204" pitchFamily="34" charset="0"/>
                <a:cs typeface="Arial" panose="020B0604020202020204" pitchFamily="34" charset="0"/>
              </a:rPr>
              <a:t>)(</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 (3</a:t>
            </a:r>
            <a:r>
              <a:rPr lang="pt-BR" i="1" dirty="0">
                <a:latin typeface="Arial" panose="020B0604020202020204" pitchFamily="34" charset="0"/>
                <a:cs typeface="Arial" panose="020B0604020202020204" pitchFamily="34" charset="0"/>
              </a:rPr>
              <a:t>C</a:t>
            </a:r>
            <a:r>
              <a:rPr lang="pt-BR" dirty="0">
                <a:latin typeface="Arial" panose="020B0604020202020204" pitchFamily="34" charset="0"/>
                <a:cs typeface="Arial" panose="020B0604020202020204" pitchFamily="34" charset="0"/>
              </a:rPr>
              <a:t>)(</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 </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 ((9 + 5</a:t>
            </a:r>
            <a:r>
              <a:rPr lang="pt-BR" i="1" dirty="0">
                <a:latin typeface="Arial" panose="020B0604020202020204" pitchFamily="34" charset="0"/>
                <a:cs typeface="Arial" panose="020B0604020202020204" pitchFamily="34" charset="0"/>
              </a:rPr>
              <a:t>h</a:t>
            </a:r>
            <a:r>
              <a:rPr lang="pt-BR" dirty="0">
                <a:latin typeface="Arial" panose="020B0604020202020204" pitchFamily="34" charset="0"/>
                <a:cs typeface="Arial" panose="020B0604020202020204" pitchFamily="34" charset="0"/>
              </a:rPr>
              <a:t>)</a:t>
            </a:r>
            <a:r>
              <a:rPr lang="pt-BR" i="1" dirty="0">
                <a:latin typeface="Arial" panose="020B0604020202020204" pitchFamily="34" charset="0"/>
                <a:cs typeface="Arial" panose="020B0604020202020204" pitchFamily="34" charset="0"/>
              </a:rPr>
              <a:t>C</a:t>
            </a:r>
            <a:r>
              <a:rPr lang="pt-BR" dirty="0">
                <a:latin typeface="Arial" panose="020B0604020202020204" pitchFamily="34" charset="0"/>
                <a:cs typeface="Arial" panose="020B0604020202020204" pitchFamily="34" charset="0"/>
              </a:rPr>
              <a:t>)(</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 </a:t>
            </a:r>
            <a:r>
              <a:rPr lang="pt-BR" i="1" dirty="0">
                <a:latin typeface="Arial" panose="020B0604020202020204" pitchFamily="34" charset="0"/>
                <a:cs typeface="Arial" panose="020B0604020202020204" pitchFamily="34" charset="0"/>
              </a:rPr>
              <a:t>R</a:t>
            </a:r>
            <a:r>
              <a:rPr lang="pt-BR" dirty="0">
                <a:latin typeface="Arial" panose="020B0604020202020204" pitchFamily="34" charset="0"/>
                <a:cs typeface="Arial" panose="020B0604020202020204" pitchFamily="34" charset="0"/>
              </a:rPr>
              <a:t>/3) = (12 + 5</a:t>
            </a:r>
            <a:r>
              <a:rPr lang="pt-BR" i="1" dirty="0">
                <a:latin typeface="Arial" panose="020B0604020202020204" pitchFamily="34" charset="0"/>
                <a:cs typeface="Arial" panose="020B0604020202020204" pitchFamily="34" charset="0"/>
              </a:rPr>
              <a:t>h</a:t>
            </a:r>
            <a:r>
              <a:rPr lang="pt-BR" dirty="0">
                <a:latin typeface="Arial" panose="020B0604020202020204" pitchFamily="34" charset="0"/>
                <a:cs typeface="Arial" panose="020B0604020202020204" pitchFamily="34" charset="0"/>
              </a:rPr>
              <a:t>)</a:t>
            </a:r>
            <a:r>
              <a:rPr lang="pt-BR" i="1" dirty="0">
                <a:latin typeface="Arial" panose="020B0604020202020204" pitchFamily="34" charset="0"/>
                <a:cs typeface="Arial" panose="020B0604020202020204" pitchFamily="34" charset="0"/>
              </a:rPr>
              <a:t>RC</a:t>
            </a:r>
            <a:r>
              <a:rPr lang="pt-BR"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Figure 4.15(b) shows the equivalent circuit for the falling transition. </a:t>
            </a:r>
            <a:r>
              <a:rPr lang="en-IN" dirty="0">
                <a:latin typeface="Arial" panose="020B0604020202020204" pitchFamily="34" charset="0"/>
                <a:cs typeface="Arial" panose="020B0604020202020204" pitchFamily="34" charset="0"/>
              </a:rPr>
              <a:t>In </a:t>
            </a:r>
            <a:r>
              <a:rPr lang="en-US" dirty="0">
                <a:latin typeface="Arial" panose="020B0604020202020204" pitchFamily="34" charset="0"/>
                <a:cs typeface="Arial" panose="020B0604020202020204" pitchFamily="34" charset="0"/>
              </a:rPr>
              <a:t>the worst case, the two inner inputs are 1 and the outer input falls. </a:t>
            </a:r>
            <a:r>
              <a:rPr lang="en-US" i="1" dirty="0">
                <a:latin typeface="Arial" panose="020B0604020202020204" pitchFamily="34" charset="0"/>
                <a:cs typeface="Arial" panose="020B0604020202020204" pitchFamily="34" charset="0"/>
              </a:rPr>
              <a:t>Y </a:t>
            </a:r>
            <a:r>
              <a:rPr lang="en-US" dirty="0">
                <a:latin typeface="Arial" panose="020B0604020202020204" pitchFamily="34" charset="0"/>
                <a:cs typeface="Arial" panose="020B0604020202020204" pitchFamily="34" charset="0"/>
              </a:rPr>
              <a:t>is pulled up to </a:t>
            </a:r>
            <a:r>
              <a:rPr lang="en-US" i="1" dirty="0">
                <a:latin typeface="Arial" panose="020B0604020202020204" pitchFamily="34" charset="0"/>
                <a:cs typeface="Arial" panose="020B0604020202020204" pitchFamily="34" charset="0"/>
              </a:rPr>
              <a:t>VDD </a:t>
            </a:r>
            <a:r>
              <a:rPr lang="en-US" dirty="0">
                <a:latin typeface="Arial" panose="020B0604020202020204" pitchFamily="34" charset="0"/>
                <a:cs typeface="Arial" panose="020B0604020202020204" pitchFamily="34" charset="0"/>
              </a:rPr>
              <a:t>through a single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 Node </a:t>
            </a:r>
            <a:r>
              <a:rPr lang="en-US" i="1" dirty="0">
                <a:latin typeface="Arial" panose="020B0604020202020204" pitchFamily="34" charset="0"/>
                <a:cs typeface="Arial" panose="020B0604020202020204" pitchFamily="34" charset="0"/>
              </a:rPr>
              <a:t>Y </a:t>
            </a:r>
            <a:r>
              <a:rPr lang="en-US" dirty="0">
                <a:latin typeface="Arial" panose="020B0604020202020204" pitchFamily="34" charset="0"/>
                <a:cs typeface="Arial" panose="020B0604020202020204" pitchFamily="34" charset="0"/>
              </a:rPr>
              <a:t>has capacitance (9 + 5</a:t>
            </a:r>
            <a:r>
              <a:rPr lang="en-US" i="1"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and resistance </a:t>
            </a:r>
            <a:r>
              <a:rPr lang="en-US" i="1" dirty="0">
                <a:latin typeface="Arial" panose="020B0604020202020204" pitchFamily="34" charset="0"/>
                <a:cs typeface="Arial" panose="020B0604020202020204" pitchFamily="34" charset="0"/>
              </a:rPr>
              <a:t>R </a:t>
            </a:r>
            <a:r>
              <a:rPr lang="en-US" dirty="0">
                <a:latin typeface="Arial" panose="020B0604020202020204" pitchFamily="34" charset="0"/>
                <a:cs typeface="Arial" panose="020B0604020202020204" pitchFamily="34" charset="0"/>
              </a:rPr>
              <a:t>to the </a:t>
            </a:r>
            <a:r>
              <a:rPr lang="en-US" i="1" dirty="0">
                <a:latin typeface="Arial" panose="020B0604020202020204" pitchFamily="34" charset="0"/>
                <a:cs typeface="Arial" panose="020B0604020202020204" pitchFamily="34" charset="0"/>
              </a:rPr>
              <a:t>VDD </a:t>
            </a:r>
            <a:r>
              <a:rPr lang="en-US" dirty="0">
                <a:latin typeface="Arial" panose="020B0604020202020204" pitchFamily="34" charset="0"/>
                <a:cs typeface="Arial" panose="020B0604020202020204" pitchFamily="34" charset="0"/>
              </a:rPr>
              <a:t>supply. Node </a:t>
            </a:r>
            <a:r>
              <a:rPr lang="en-US" i="1" dirty="0">
                <a:latin typeface="Arial" panose="020B0604020202020204" pitchFamily="34" charset="0"/>
                <a:cs typeface="Arial" panose="020B0604020202020204" pitchFamily="34" charset="0"/>
              </a:rPr>
              <a:t>n</a:t>
            </a:r>
            <a:r>
              <a:rPr lang="en-US" baseline="-25000" dirty="0">
                <a:latin typeface="Arial" panose="020B0604020202020204" pitchFamily="34" charset="0"/>
                <a:cs typeface="Arial" panose="020B0604020202020204" pitchFamily="34" charset="0"/>
              </a:rPr>
              <a:t>2 </a:t>
            </a:r>
            <a:r>
              <a:rPr lang="en-US" dirty="0">
                <a:latin typeface="Arial" panose="020B0604020202020204" pitchFamily="34" charset="0"/>
                <a:cs typeface="Arial" panose="020B0604020202020204" pitchFamily="34" charset="0"/>
              </a:rPr>
              <a:t>has capacitance 3</a:t>
            </a:r>
            <a:r>
              <a:rPr lang="en-US" i="1" dirty="0">
                <a:latin typeface="Arial" panose="020B0604020202020204" pitchFamily="34" charset="0"/>
                <a:cs typeface="Arial" panose="020B0604020202020204" pitchFamily="34" charset="0"/>
              </a:rPr>
              <a:t>C</a:t>
            </a:r>
          </a:p>
          <a:p>
            <a:pPr algn="just"/>
            <a:r>
              <a:rPr lang="en-US" dirty="0">
                <a:latin typeface="Arial" panose="020B0604020202020204" pitchFamily="34" charset="0"/>
                <a:cs typeface="Arial" panose="020B0604020202020204" pitchFamily="34" charset="0"/>
              </a:rPr>
              <a:t>The relevant resistance is only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not (</a:t>
            </a:r>
            <a:r>
              <a:rPr lang="en-US" i="1" dirty="0">
                <a:latin typeface="Arial" panose="020B0604020202020204" pitchFamily="34" charset="0"/>
                <a:cs typeface="Arial" panose="020B0604020202020204" pitchFamily="34" charset="0"/>
              </a:rPr>
              <a:t>R </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/3), because the output is being charged only through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This is what is </a:t>
            </a:r>
            <a:r>
              <a:rPr lang="en-US" dirty="0" err="1">
                <a:latin typeface="Arial" panose="020B0604020202020204" pitchFamily="34" charset="0"/>
                <a:cs typeface="Arial" panose="020B0604020202020204" pitchFamily="34" charset="0"/>
              </a:rPr>
              <a:t>meantby</a:t>
            </a:r>
            <a:r>
              <a:rPr lang="en-US" dirty="0">
                <a:latin typeface="Arial" panose="020B0604020202020204" pitchFamily="34" charset="0"/>
                <a:cs typeface="Arial" panose="020B0604020202020204" pitchFamily="34" charset="0"/>
              </a:rPr>
              <a:t> the resistance on the shared path from the source (</a:t>
            </a:r>
            <a:r>
              <a:rPr lang="en-US" i="1" dirty="0">
                <a:latin typeface="Arial" panose="020B0604020202020204" pitchFamily="34" charset="0"/>
                <a:cs typeface="Arial" panose="020B0604020202020204" pitchFamily="34" charset="0"/>
              </a:rPr>
              <a:t>VDD</a:t>
            </a:r>
            <a:r>
              <a:rPr lang="en-US" dirty="0">
                <a:latin typeface="Arial" panose="020B0604020202020204" pitchFamily="34" charset="0"/>
                <a:cs typeface="Arial" panose="020B0604020202020204" pitchFamily="34" charset="0"/>
              </a:rPr>
              <a:t>) to the node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2) and the leaf(</a:t>
            </a:r>
            <a:r>
              <a:rPr lang="en-US" i="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Similarly, node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1 has capacitance 3</a:t>
            </a:r>
            <a:r>
              <a:rPr lang="en-US" i="1" dirty="0">
                <a:latin typeface="Arial" panose="020B0604020202020204" pitchFamily="34" charset="0"/>
                <a:cs typeface="Arial" panose="020B0604020202020204" pitchFamily="34" charset="0"/>
              </a:rPr>
              <a:t>C </a:t>
            </a:r>
            <a:r>
              <a:rPr lang="en-US" dirty="0">
                <a:latin typeface="Arial" panose="020B0604020202020204" pitchFamily="34" charset="0"/>
                <a:cs typeface="Arial" panose="020B0604020202020204" pitchFamily="34" charset="0"/>
              </a:rPr>
              <a:t>and resistance </a:t>
            </a:r>
            <a:r>
              <a:rPr lang="en-US" i="1" dirty="0">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Hence, the Elmore </a:t>
            </a:r>
            <a:r>
              <a:rPr lang="en-US" dirty="0" err="1">
                <a:latin typeface="Arial" panose="020B0604020202020204" pitchFamily="34" charset="0"/>
                <a:cs typeface="Arial" panose="020B0604020202020204" pitchFamily="34" charset="0"/>
              </a:rPr>
              <a:t>delayfor</a:t>
            </a:r>
            <a:r>
              <a:rPr lang="en-US" dirty="0">
                <a:latin typeface="Arial" panose="020B0604020202020204" pitchFamily="34" charset="0"/>
                <a:cs typeface="Arial" panose="020B0604020202020204" pitchFamily="34" charset="0"/>
              </a:rPr>
              <a:t> the rising output is </a:t>
            </a:r>
            <a:r>
              <a:rPr lang="en-US" i="1" dirty="0" err="1">
                <a:latin typeface="Arial" panose="020B0604020202020204" pitchFamily="34" charset="0"/>
                <a:cs typeface="Arial" panose="020B0604020202020204" pitchFamily="34" charset="0"/>
              </a:rPr>
              <a:t>tpdr</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(3C)R +(3C)R +(9=5h)R= (15 + 5</a:t>
            </a:r>
            <a:r>
              <a:rPr lang="en-US" i="1" dirty="0">
                <a:latin typeface="Arial" panose="020B0604020202020204" pitchFamily="34" charset="0"/>
                <a:cs typeface="Arial" panose="020B0604020202020204" pitchFamily="34" charset="0"/>
              </a:rPr>
              <a:t>h</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RC</a:t>
            </a:r>
            <a:r>
              <a:rPr lang="en-US" dirty="0">
                <a:latin typeface="Arial" panose="020B0604020202020204" pitchFamily="34" charset="0"/>
                <a:cs typeface="Arial" panose="020B0604020202020204" pitchFamily="34" charset="0"/>
              </a:rPr>
              <a:t>.</a:t>
            </a:r>
            <a:endParaRPr lang="pt-BR"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5" name="Picture 4" descr="A close up of text on a white background&#10;&#10;Description automatically generated">
            <a:extLst>
              <a:ext uri="{FF2B5EF4-FFF2-40B4-BE49-F238E27FC236}">
                <a16:creationId xmlns:a16="http://schemas.microsoft.com/office/drawing/2014/main" id="{A2AF5DBE-29C3-4092-AEFA-2F546A6E7E45}"/>
              </a:ext>
            </a:extLst>
          </p:cNvPr>
          <p:cNvPicPr>
            <a:picLocks noChangeAspect="1"/>
          </p:cNvPicPr>
          <p:nvPr/>
        </p:nvPicPr>
        <p:blipFill>
          <a:blip r:embed="rId2"/>
          <a:stretch>
            <a:fillRect/>
          </a:stretch>
        </p:blipFill>
        <p:spPr>
          <a:xfrm>
            <a:off x="8116892" y="1556121"/>
            <a:ext cx="3981455" cy="3104975"/>
          </a:xfrm>
          <a:prstGeom prst="rect">
            <a:avLst/>
          </a:prstGeom>
        </p:spPr>
      </p:pic>
      <p:sp>
        <p:nvSpPr>
          <p:cNvPr id="14" name="Freeform 11">
            <a:extLst>
              <a:ext uri="{FF2B5EF4-FFF2-40B4-BE49-F238E27FC236}">
                <a16:creationId xmlns:a16="http://schemas.microsoft.com/office/drawing/2014/main" id="{F39C56FC-EE04-4CE0-8DE2-736A201E9A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EB1E4F8D-4E70-48ED-A962-BD8AF4521CDB}"/>
              </a:ext>
            </a:extLst>
          </p:cNvPr>
          <p:cNvSpPr>
            <a:spLocks noGrp="1"/>
          </p:cNvSpPr>
          <p:nvPr>
            <p:ph type="ftr" sz="quarter" idx="11"/>
          </p:nvPr>
        </p:nvSpPr>
        <p:spPr>
          <a:xfrm>
            <a:off x="1220916" y="6135808"/>
            <a:ext cx="7619999" cy="365125"/>
          </a:xfrm>
        </p:spPr>
        <p:txBody>
          <a:bodyPr>
            <a:normAutofit/>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974096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1848</Words>
  <Application>Microsoft Office PowerPoint</Application>
  <PresentationFormat>Widescreen</PresentationFormat>
  <Paragraphs>151</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ACaslon-Regular</vt:lpstr>
      <vt:lpstr>Arial</vt:lpstr>
      <vt:lpstr>Calibri</vt:lpstr>
      <vt:lpstr>Century Gothic</vt:lpstr>
      <vt:lpstr>TradeGothic-Bold</vt:lpstr>
      <vt:lpstr>Wingdings</vt:lpstr>
      <vt:lpstr>Wingdings 3</vt:lpstr>
      <vt:lpstr>Wisp</vt:lpstr>
      <vt:lpstr>Delay</vt:lpstr>
      <vt:lpstr>Talk Outline</vt:lpstr>
      <vt:lpstr>Delay Definitions </vt:lpstr>
      <vt:lpstr>Continue….</vt:lpstr>
      <vt:lpstr>Continue….</vt:lpstr>
      <vt:lpstr>Continue…..</vt:lpstr>
      <vt:lpstr>Delay of a single gate</vt:lpstr>
      <vt:lpstr>RC Model of a transistor</vt:lpstr>
      <vt:lpstr>Capacitances</vt:lpstr>
      <vt:lpstr>Simplified Model</vt:lpstr>
      <vt:lpstr>Sizing Impact on R and C</vt:lpstr>
      <vt:lpstr>Equivalent Circuit of Inverter </vt:lpstr>
      <vt:lpstr>Problem 1</vt:lpstr>
      <vt:lpstr>Continue….</vt:lpstr>
      <vt:lpstr>Continue….</vt:lpstr>
      <vt:lpstr>Elmore Delay</vt:lpstr>
      <vt:lpstr>Problem2</vt:lpstr>
      <vt:lpstr>Problem3</vt:lpstr>
      <vt:lpstr>Problem4</vt:lpstr>
      <vt:lpstr>Problem5</vt:lpstr>
      <vt:lpstr>Problem 6</vt:lpstr>
      <vt:lpstr>Solution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dc:title>
  <dc:creator>Rohit Lorenzo</dc:creator>
  <cp:lastModifiedBy>Rohit Lorenzo</cp:lastModifiedBy>
  <cp:revision>16</cp:revision>
  <cp:lastPrinted>2020-10-15T07:06:43Z</cp:lastPrinted>
  <dcterms:created xsi:type="dcterms:W3CDTF">2020-02-29T06:50:22Z</dcterms:created>
  <dcterms:modified xsi:type="dcterms:W3CDTF">2023-11-23T12:11:36Z</dcterms:modified>
</cp:coreProperties>
</file>