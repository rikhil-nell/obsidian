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59"/>
  </p:notesMasterIdLst>
  <p:sldIdLst>
    <p:sldId id="256" r:id="rId2"/>
    <p:sldId id="257" r:id="rId3"/>
    <p:sldId id="406" r:id="rId4"/>
    <p:sldId id="324" r:id="rId5"/>
    <p:sldId id="407" r:id="rId6"/>
    <p:sldId id="300" r:id="rId7"/>
    <p:sldId id="301" r:id="rId8"/>
    <p:sldId id="302" r:id="rId9"/>
    <p:sldId id="303" r:id="rId10"/>
    <p:sldId id="306" r:id="rId11"/>
    <p:sldId id="304" r:id="rId12"/>
    <p:sldId id="305" r:id="rId13"/>
    <p:sldId id="307" r:id="rId14"/>
    <p:sldId id="308" r:id="rId15"/>
    <p:sldId id="309" r:id="rId16"/>
    <p:sldId id="310" r:id="rId17"/>
    <p:sldId id="311" r:id="rId18"/>
    <p:sldId id="312" r:id="rId19"/>
    <p:sldId id="313" r:id="rId20"/>
    <p:sldId id="314" r:id="rId21"/>
    <p:sldId id="315" r:id="rId22"/>
    <p:sldId id="316" r:id="rId23"/>
    <p:sldId id="317" r:id="rId24"/>
    <p:sldId id="438" r:id="rId25"/>
    <p:sldId id="440" r:id="rId26"/>
    <p:sldId id="320" r:id="rId27"/>
    <p:sldId id="319" r:id="rId28"/>
    <p:sldId id="321" r:id="rId29"/>
    <p:sldId id="322" r:id="rId30"/>
    <p:sldId id="323" r:id="rId31"/>
    <p:sldId id="408" r:id="rId32"/>
    <p:sldId id="409" r:id="rId33"/>
    <p:sldId id="427" r:id="rId34"/>
    <p:sldId id="410" r:id="rId35"/>
    <p:sldId id="411" r:id="rId36"/>
    <p:sldId id="413" r:id="rId37"/>
    <p:sldId id="415" r:id="rId38"/>
    <p:sldId id="417" r:id="rId39"/>
    <p:sldId id="419" r:id="rId40"/>
    <p:sldId id="421" r:id="rId41"/>
    <p:sldId id="423" r:id="rId42"/>
    <p:sldId id="424" r:id="rId43"/>
    <p:sldId id="426" r:id="rId44"/>
    <p:sldId id="429" r:id="rId45"/>
    <p:sldId id="431" r:id="rId46"/>
    <p:sldId id="430" r:id="rId47"/>
    <p:sldId id="432" r:id="rId48"/>
    <p:sldId id="428" r:id="rId49"/>
    <p:sldId id="538" r:id="rId50"/>
    <p:sldId id="534" r:id="rId51"/>
    <p:sldId id="535" r:id="rId52"/>
    <p:sldId id="537" r:id="rId53"/>
    <p:sldId id="539" r:id="rId54"/>
    <p:sldId id="436" r:id="rId55"/>
    <p:sldId id="442" r:id="rId56"/>
    <p:sldId id="444" r:id="rId57"/>
    <p:sldId id="270"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88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C73D7-7640-40F9-8434-A0F03C5760E6}" type="datetimeFigureOut">
              <a:rPr lang="en-IN" smtClean="0"/>
              <a:pPr/>
              <a:t>19-11-2021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2B883-0CBF-46F6-B001-F5F9F89E9899}" type="slidenum">
              <a:rPr lang="en-IN" smtClean="0"/>
              <a:pPr/>
              <a:t>‹#›</a:t>
            </a:fld>
            <a:endParaRPr lang="en-IN"/>
          </a:p>
        </p:txBody>
      </p:sp>
    </p:spTree>
    <p:extLst>
      <p:ext uri="{BB962C8B-B14F-4D97-AF65-F5344CB8AC3E}">
        <p14:creationId xmlns:p14="http://schemas.microsoft.com/office/powerpoint/2010/main" val="317026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582B883-0CBF-46F6-B001-F5F9F89E9899}" type="slidenum">
              <a:rPr lang="en-IN" smtClean="0"/>
              <a:pPr/>
              <a:t>10</a:t>
            </a:fld>
            <a:endParaRPr lang="en-IN"/>
          </a:p>
        </p:txBody>
      </p:sp>
    </p:spTree>
    <p:extLst>
      <p:ext uri="{BB962C8B-B14F-4D97-AF65-F5344CB8AC3E}">
        <p14:creationId xmlns:p14="http://schemas.microsoft.com/office/powerpoint/2010/main" val="2862668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793FC6-7D19-42F4-A915-A22E318BB010}" type="datetime1">
              <a:rPr lang="en-IN" smtClean="0"/>
              <a:pPr/>
              <a:t>19-11-2021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6533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11B98C-9C5A-4162-993F-316E4E6C62BB}" type="datetime1">
              <a:rPr lang="en-IN" smtClean="0"/>
              <a:pPr/>
              <a:t>19-11-2021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858345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A9ED1CE-D0E4-49F6-AA4E-0C3DE4D5CA9F}" type="datetime1">
              <a:rPr lang="en-IN" smtClean="0"/>
              <a:pPr/>
              <a:t>19-11-2021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113757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B6DC15E-93BC-4995-B67D-673FA7BA3E92}" type="datetime1">
              <a:rPr lang="en-IN" smtClean="0"/>
              <a:pPr/>
              <a:t>19-11-2021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948977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90AC8C-1DD9-4769-A93E-CB9191A82FBE}" type="datetime1">
              <a:rPr lang="en-IN" smtClean="0"/>
              <a:pPr/>
              <a:t>19-11-2021</a:t>
            </a:fld>
            <a:endParaRPr lang="en-IN"/>
          </a:p>
        </p:txBody>
      </p:sp>
      <p:sp>
        <p:nvSpPr>
          <p:cNvPr id="8" name="Footer Placeholder 7"/>
          <p:cNvSpPr>
            <a:spLocks noGrp="1"/>
          </p:cNvSpPr>
          <p:nvPr>
            <p:ph type="ftr" sz="quarter" idx="11"/>
          </p:nvPr>
        </p:nvSpPr>
        <p:spPr/>
        <p:txBody>
          <a:bodyPr/>
          <a:lstStyle/>
          <a:p>
            <a:r>
              <a:rPr lang="en-IN"/>
              <a:t>Rohit Lorenzo , VIT-AP</a:t>
            </a: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94879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9D4AB-23A7-43B1-AC37-7A69E1B162CB}" type="datetime1">
              <a:rPr lang="en-IN" smtClean="0"/>
              <a:pPr/>
              <a:t>19-11-2021</a:t>
            </a:fld>
            <a:endParaRPr lang="en-IN"/>
          </a:p>
        </p:txBody>
      </p:sp>
      <p:sp>
        <p:nvSpPr>
          <p:cNvPr id="4" name="Footer Placeholder 3"/>
          <p:cNvSpPr>
            <a:spLocks noGrp="1"/>
          </p:cNvSpPr>
          <p:nvPr>
            <p:ph type="ftr" sz="quarter" idx="11"/>
          </p:nvPr>
        </p:nvSpPr>
        <p:spPr/>
        <p:txBody>
          <a:bodyPr/>
          <a:lstStyle/>
          <a:p>
            <a:r>
              <a:rPr lang="en-IN"/>
              <a:t>Rohit Lorenzo , VIT-AP</a:t>
            </a: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688461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DFFC48-1A3A-47F9-AB3E-F0A947B0BE83}" type="datetime1">
              <a:rPr lang="en-IN" smtClean="0"/>
              <a:pPr/>
              <a:t>19-11-2021</a:t>
            </a:fld>
            <a:endParaRPr lang="en-IN"/>
          </a:p>
        </p:txBody>
      </p:sp>
      <p:sp>
        <p:nvSpPr>
          <p:cNvPr id="3" name="Footer Placeholder 2"/>
          <p:cNvSpPr>
            <a:spLocks noGrp="1"/>
          </p:cNvSpPr>
          <p:nvPr>
            <p:ph type="ftr" sz="quarter" idx="11"/>
          </p:nvPr>
        </p:nvSpPr>
        <p:spPr/>
        <p:txBody>
          <a:bodyPr/>
          <a:lstStyle/>
          <a:p>
            <a:r>
              <a:rPr lang="en-IN"/>
              <a:t>Rohit Lorenzo , VIT-AP</a:t>
            </a: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9122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0B7AB3-5AA6-4B2A-A848-6B9056B8F888}" type="datetime1">
              <a:rPr lang="en-IN" smtClean="0"/>
              <a:pPr/>
              <a:t>19-11-2021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787837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962A0A8-2993-4F46-873E-B317420EEF1D}" type="datetime1">
              <a:rPr lang="en-IN" smtClean="0"/>
              <a:pPr/>
              <a:t>19-11-2021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005223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4AF5B2-9161-484D-941E-09E7D7D8822D}" type="datetime1">
              <a:rPr lang="en-IN" smtClean="0"/>
              <a:pPr/>
              <a:t>19-11-2021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927654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802EE73-49A5-4032-8312-39A4654D8975}" type="datetime1">
              <a:rPr lang="en-IN" smtClean="0"/>
              <a:pPr/>
              <a:t>19-11-2021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0C73DF5-5965-4AE9-8750-706DE33B318E}" type="slidenum">
              <a:rPr lang="en-IN" smtClean="0"/>
              <a:pPr/>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7853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13B1249-61C8-4A7F-8E7B-53A384F44D16}" type="datetime1">
              <a:rPr lang="en-IN" smtClean="0"/>
              <a:pPr/>
              <a:t>19-11-2021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408125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433059DD-5442-4AC6-B4D8-568940477A5F}" type="datetime1">
              <a:rPr lang="en-IN" smtClean="0"/>
              <a:pPr/>
              <a:t>19-11-2021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37447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A093278-5D43-45AE-BD96-13E9B97C202A}" type="datetime1">
              <a:rPr lang="en-IN" smtClean="0"/>
              <a:pPr/>
              <a:t>19-11-2021</a:t>
            </a:fld>
            <a:endParaRPr lang="en-IN"/>
          </a:p>
        </p:txBody>
      </p:sp>
      <p:sp>
        <p:nvSpPr>
          <p:cNvPr id="6" name="Footer Placeholder 5"/>
          <p:cNvSpPr>
            <a:spLocks noGrp="1"/>
          </p:cNvSpPr>
          <p:nvPr>
            <p:ph type="ftr" sz="quarter" idx="11"/>
          </p:nvPr>
        </p:nvSpPr>
        <p:spPr/>
        <p:txBody>
          <a:bodyPr/>
          <a:lstStyle/>
          <a:p>
            <a:r>
              <a:rPr lang="en-IN"/>
              <a:t>Rohit Lorenzo , VIT-AP</a:t>
            </a: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117826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90D21C-79F6-4EA2-9761-2BBE3077020C}" type="datetime1">
              <a:rPr lang="en-IN" smtClean="0"/>
              <a:pPr/>
              <a:t>19-11-2021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2784775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744E18-DFA2-43E5-8F6D-0DBE05038609}" type="datetime1">
              <a:rPr lang="en-IN" smtClean="0"/>
              <a:pPr/>
              <a:t>19-11-2021</a:t>
            </a:fld>
            <a:endParaRPr lang="en-IN"/>
          </a:p>
        </p:txBody>
      </p:sp>
      <p:sp>
        <p:nvSpPr>
          <p:cNvPr id="5" name="Footer Placeholder 4"/>
          <p:cNvSpPr>
            <a:spLocks noGrp="1"/>
          </p:cNvSpPr>
          <p:nvPr>
            <p:ph type="ftr" sz="quarter" idx="11"/>
          </p:nvPr>
        </p:nvSpPr>
        <p:spPr/>
        <p:txBody>
          <a:bodyPr/>
          <a:lstStyle/>
          <a:p>
            <a:r>
              <a:rPr lang="en-IN"/>
              <a:t>Rohit Lorenzo , VIT-AP</a:t>
            </a: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0C73DF5-5965-4AE9-8750-706DE33B318E}" type="slidenum">
              <a:rPr lang="en-IN" smtClean="0"/>
              <a:pPr/>
              <a:t>‹#›</a:t>
            </a:fld>
            <a:endParaRPr lang="en-IN"/>
          </a:p>
        </p:txBody>
      </p:sp>
    </p:spTree>
    <p:extLst>
      <p:ext uri="{BB962C8B-B14F-4D97-AF65-F5344CB8AC3E}">
        <p14:creationId xmlns:p14="http://schemas.microsoft.com/office/powerpoint/2010/main" val="3686937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31D4EE5-909F-48DF-A25F-F957D1B95CC9}" type="datetime1">
              <a:rPr lang="en-IN" smtClean="0"/>
              <a:pPr/>
              <a:t>19-11-2021</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Rohit Lorenzo , VIT-AP</a:t>
            </a:r>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0C73DF5-5965-4AE9-8750-706DE33B318E}" type="slidenum">
              <a:rPr lang="en-IN" smtClean="0"/>
              <a:pPr/>
              <a:t>‹#›</a:t>
            </a:fld>
            <a:endParaRPr lang="en-IN"/>
          </a:p>
        </p:txBody>
      </p:sp>
    </p:spTree>
    <p:extLst>
      <p:ext uri="{BB962C8B-B14F-4D97-AF65-F5344CB8AC3E}">
        <p14:creationId xmlns:p14="http://schemas.microsoft.com/office/powerpoint/2010/main" val="366094531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 id="2147483888" r:id="rId14"/>
    <p:sldLayoutId id="2147483889" r:id="rId15"/>
    <p:sldLayoutId id="2147483890" r:id="rId16"/>
  </p:sldLayoutIdLst>
  <p:hf sldNum="0"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1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20.emf"/></Relationships>
</file>

<file path=ppt/slides/_rels/slide2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5.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9.emf"/></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000" b="1" dirty="0"/>
              <a:t>Power</a:t>
            </a:r>
            <a:endParaRPr lang="en-IN" sz="3000" b="1" dirty="0"/>
          </a:p>
        </p:txBody>
      </p:sp>
      <p:sp>
        <p:nvSpPr>
          <p:cNvPr id="3" name="Content Placeholder 2"/>
          <p:cNvSpPr>
            <a:spLocks noGrp="1"/>
          </p:cNvSpPr>
          <p:nvPr>
            <p:ph idx="1"/>
          </p:nvPr>
        </p:nvSpPr>
        <p:spPr>
          <a:xfrm>
            <a:off x="1450731" y="2133599"/>
            <a:ext cx="10278207" cy="4399085"/>
          </a:xfrm>
        </p:spPr>
        <p:txBody>
          <a:bodyPr/>
          <a:lstStyle/>
          <a:p>
            <a:pPr marL="0" indent="0" algn="ctr">
              <a:buNone/>
            </a:pPr>
            <a:r>
              <a:rPr lang="en-IN" b="1" dirty="0"/>
              <a:t>By</a:t>
            </a:r>
          </a:p>
          <a:p>
            <a:pPr marL="0" indent="0" algn="ctr">
              <a:buNone/>
            </a:pPr>
            <a:endParaRPr lang="en-IN" dirty="0"/>
          </a:p>
          <a:p>
            <a:pPr marL="0" indent="0" algn="ctr">
              <a:buNone/>
            </a:pPr>
            <a:r>
              <a:rPr lang="en-IN" sz="2000" b="1" dirty="0" err="1"/>
              <a:t>Dr.Rohit</a:t>
            </a:r>
            <a:r>
              <a:rPr lang="en-IN" sz="2000" b="1" dirty="0"/>
              <a:t> Lorenzo</a:t>
            </a:r>
          </a:p>
          <a:p>
            <a:pPr marL="0" indent="0" algn="ctr">
              <a:buNone/>
            </a:pPr>
            <a:r>
              <a:rPr lang="en-IN" sz="2000" b="1" dirty="0"/>
              <a:t>Assistant Professor Sr. Grade -1</a:t>
            </a:r>
          </a:p>
          <a:p>
            <a:pPr marL="0" indent="0" algn="ctr">
              <a:buNone/>
            </a:pPr>
            <a:r>
              <a:rPr lang="en-IN" sz="2000" b="1" dirty="0"/>
              <a:t>School of Electronics Engineering (SENSE)</a:t>
            </a:r>
          </a:p>
          <a:p>
            <a:pPr marL="0" indent="0" algn="ctr">
              <a:buNone/>
            </a:pPr>
            <a:endParaRPr lang="en-IN" b="1" dirty="0"/>
          </a:p>
          <a:p>
            <a:pPr marL="0" indent="0" algn="ctr">
              <a:buNone/>
            </a:pPr>
            <a:r>
              <a:rPr lang="en-IN" dirty="0"/>
              <a:t> </a:t>
            </a:r>
          </a:p>
        </p:txBody>
      </p:sp>
      <p:pic>
        <p:nvPicPr>
          <p:cNvPr id="4" name="Picture 3">
            <a:extLst>
              <a:ext uri="{FF2B5EF4-FFF2-40B4-BE49-F238E27FC236}">
                <a16:creationId xmlns:a16="http://schemas.microsoft.com/office/drawing/2014/main" id="{E7D8A5F9-ED45-42EF-B008-2ACDB3324E29}"/>
              </a:ext>
            </a:extLst>
          </p:cNvPr>
          <p:cNvPicPr>
            <a:picLocks noChangeAspect="1"/>
          </p:cNvPicPr>
          <p:nvPr/>
        </p:nvPicPr>
        <p:blipFill>
          <a:blip r:embed="rId2" cstate="print"/>
          <a:stretch>
            <a:fillRect/>
          </a:stretch>
        </p:blipFill>
        <p:spPr>
          <a:xfrm>
            <a:off x="5518271" y="4206557"/>
            <a:ext cx="2143125" cy="2143125"/>
          </a:xfrm>
          <a:prstGeom prst="rect">
            <a:avLst/>
          </a:prstGeom>
        </p:spPr>
      </p:pic>
      <p:sp>
        <p:nvSpPr>
          <p:cNvPr id="6" name="Footer Placeholder 5">
            <a:extLst>
              <a:ext uri="{FF2B5EF4-FFF2-40B4-BE49-F238E27FC236}">
                <a16:creationId xmlns:a16="http://schemas.microsoft.com/office/drawing/2014/main" id="{5E9579B1-487B-4D07-8C3A-2D1E584D45E5}"/>
              </a:ext>
            </a:extLst>
          </p:cNvPr>
          <p:cNvSpPr>
            <a:spLocks noGrp="1"/>
          </p:cNvSpPr>
          <p:nvPr>
            <p:ph type="ftr" sz="quarter" idx="11"/>
          </p:nvPr>
        </p:nvSpPr>
        <p:spPr/>
        <p:txBody>
          <a:bodyPr/>
          <a:lstStyle/>
          <a:p>
            <a:r>
              <a:rPr lang="en-IN"/>
              <a:t>Rohit Lorenzo , VIT-AP</a:t>
            </a:r>
          </a:p>
        </p:txBody>
      </p:sp>
    </p:spTree>
    <p:extLst>
      <p:ext uri="{BB962C8B-B14F-4D97-AF65-F5344CB8AC3E}">
        <p14:creationId xmlns:p14="http://schemas.microsoft.com/office/powerpoint/2010/main" val="180815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Talk Outline</a:t>
            </a:r>
          </a:p>
        </p:txBody>
      </p:sp>
      <p:sp>
        <p:nvSpPr>
          <p:cNvPr id="3" name="Content Placeholder 2"/>
          <p:cNvSpPr>
            <a:spLocks noGrp="1"/>
          </p:cNvSpPr>
          <p:nvPr>
            <p:ph idx="1"/>
          </p:nvPr>
        </p:nvSpPr>
        <p:spPr/>
        <p:txBody>
          <a:bodyPr>
            <a:normAutofit/>
          </a:bodyPr>
          <a:lstStyle/>
          <a:p>
            <a:pPr>
              <a:buFont typeface="Wingdings" pitchFamily="2" charset="2"/>
              <a:buChar char="Ø"/>
            </a:pPr>
            <a:r>
              <a:rPr lang="en-US" sz="2400" b="1" dirty="0">
                <a:cs typeface="Aharoni" pitchFamily="2" charset="-79"/>
              </a:rPr>
              <a:t>Motivation - Why Low Power</a:t>
            </a:r>
          </a:p>
          <a:p>
            <a:pPr>
              <a:buFont typeface="Wingdings" pitchFamily="2" charset="2"/>
              <a:buChar char="Ø"/>
            </a:pPr>
            <a:r>
              <a:rPr lang="en-US" sz="2400" b="1" dirty="0">
                <a:cs typeface="Aharoni" pitchFamily="2" charset="-79"/>
              </a:rPr>
              <a:t>Sources of power dissipation</a:t>
            </a:r>
          </a:p>
          <a:p>
            <a:pPr>
              <a:buFont typeface="Wingdings" pitchFamily="2" charset="2"/>
              <a:buChar char="Ø"/>
            </a:pPr>
            <a:r>
              <a:rPr lang="en-US" sz="2400" b="1" dirty="0">
                <a:cs typeface="Aharoni" pitchFamily="2" charset="-79"/>
              </a:rPr>
              <a:t>Why Leakage Power is Important</a:t>
            </a:r>
          </a:p>
          <a:p>
            <a:pPr>
              <a:buFont typeface="Wingdings" pitchFamily="2" charset="2"/>
              <a:buChar char="Ø"/>
            </a:pPr>
            <a:r>
              <a:rPr lang="en-US" sz="2400" b="1" dirty="0">
                <a:cs typeface="Aharoni" pitchFamily="2" charset="-79"/>
              </a:rPr>
              <a:t>Impact of Process parameter variation</a:t>
            </a:r>
          </a:p>
          <a:p>
            <a:pPr>
              <a:buFont typeface="Wingdings" pitchFamily="2" charset="2"/>
              <a:buChar char="Ø"/>
            </a:pPr>
            <a:r>
              <a:rPr lang="en-US" sz="2400" b="1" dirty="0">
                <a:cs typeface="Aharoni" pitchFamily="2" charset="-79"/>
              </a:rPr>
              <a:t>Mechanism Of Leakage components</a:t>
            </a:r>
          </a:p>
          <a:p>
            <a:pPr marL="0" indent="0">
              <a:buNone/>
            </a:pPr>
            <a:r>
              <a:rPr lang="en-IN" sz="2400" b="1" dirty="0"/>
              <a:t>                         </a:t>
            </a:r>
          </a:p>
        </p:txBody>
      </p:sp>
      <p:sp>
        <p:nvSpPr>
          <p:cNvPr id="4" name="Footer Placeholder 3">
            <a:extLst>
              <a:ext uri="{FF2B5EF4-FFF2-40B4-BE49-F238E27FC236}">
                <a16:creationId xmlns:a16="http://schemas.microsoft.com/office/drawing/2014/main" id="{9A6A3AA7-0270-47EF-94A5-59AC9EA7893D}"/>
              </a:ext>
            </a:extLst>
          </p:cNvPr>
          <p:cNvSpPr>
            <a:spLocks noGrp="1"/>
          </p:cNvSpPr>
          <p:nvPr>
            <p:ph type="ftr" sz="quarter" idx="11"/>
          </p:nvPr>
        </p:nvSpPr>
        <p:spPr/>
        <p:txBody>
          <a:bodyPr/>
          <a:lstStyle/>
          <a:p>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140214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344B4-E925-4993-A089-7286C9D9407D}"/>
              </a:ext>
            </a:extLst>
          </p:cNvPr>
          <p:cNvSpPr>
            <a:spLocks noGrp="1"/>
          </p:cNvSpPr>
          <p:nvPr>
            <p:ph type="title"/>
          </p:nvPr>
        </p:nvSpPr>
        <p:spPr>
          <a:xfrm>
            <a:off x="1717041" y="624110"/>
            <a:ext cx="9787572" cy="1280890"/>
          </a:xfrm>
        </p:spPr>
        <p:txBody>
          <a:bodyPr/>
          <a:lstStyle/>
          <a:p>
            <a:r>
              <a:rPr lang="en-IN" b="1" dirty="0"/>
              <a:t>Power Dissipation</a:t>
            </a:r>
            <a:endParaRPr lang="en-IN" dirty="0"/>
          </a:p>
        </p:txBody>
      </p:sp>
      <p:sp>
        <p:nvSpPr>
          <p:cNvPr id="3" name="Content Placeholder 2">
            <a:extLst>
              <a:ext uri="{FF2B5EF4-FFF2-40B4-BE49-F238E27FC236}">
                <a16:creationId xmlns:a16="http://schemas.microsoft.com/office/drawing/2014/main" id="{636C7238-147F-413C-8CF1-ED347CEEACD4}"/>
              </a:ext>
            </a:extLst>
          </p:cNvPr>
          <p:cNvSpPr>
            <a:spLocks noGrp="1"/>
          </p:cNvSpPr>
          <p:nvPr>
            <p:ph idx="1"/>
          </p:nvPr>
        </p:nvSpPr>
        <p:spPr>
          <a:xfrm>
            <a:off x="1544320" y="1483360"/>
            <a:ext cx="9960292" cy="4438022"/>
          </a:xfrm>
        </p:spPr>
        <p:txBody>
          <a:bodyPr/>
          <a:lstStyle/>
          <a:p>
            <a:pPr fontAlgn="base">
              <a:lnSpc>
                <a:spcPct val="110000"/>
              </a:lnSpc>
              <a:spcBef>
                <a:spcPct val="40000"/>
              </a:spcBef>
              <a:spcAft>
                <a:spcPct val="0"/>
              </a:spcAft>
              <a:buClr>
                <a:srgbClr val="336666"/>
              </a:buClr>
              <a:buSzPct val="75000"/>
              <a:buFont typeface="Wingdings" pitchFamily="2" charset="2"/>
              <a:buChar char="è"/>
            </a:pPr>
            <a:r>
              <a:rPr lang="en-US" dirty="0">
                <a:solidFill>
                  <a:srgbClr val="000000"/>
                </a:solidFill>
                <a:latin typeface="Arial" charset="0"/>
              </a:rPr>
              <a:t>Today: power dissipation is a main problem</a:t>
            </a:r>
          </a:p>
          <a:p>
            <a:pPr fontAlgn="base">
              <a:lnSpc>
                <a:spcPct val="110000"/>
              </a:lnSpc>
              <a:spcBef>
                <a:spcPct val="40000"/>
              </a:spcBef>
              <a:spcAft>
                <a:spcPct val="0"/>
              </a:spcAft>
              <a:buClr>
                <a:srgbClr val="336666"/>
              </a:buClr>
              <a:buSzPct val="75000"/>
              <a:buFont typeface="Wingdings" pitchFamily="2" charset="2"/>
              <a:buChar char="n"/>
            </a:pPr>
            <a:r>
              <a:rPr lang="en-US" dirty="0">
                <a:solidFill>
                  <a:srgbClr val="000000"/>
                </a:solidFill>
                <a:latin typeface="Arial" charset="0"/>
              </a:rPr>
              <a:t>High Power dissipation leads to </a:t>
            </a:r>
          </a:p>
          <a:p>
            <a:pPr marL="0" indent="0" fontAlgn="base">
              <a:lnSpc>
                <a:spcPct val="110000"/>
              </a:lnSpc>
              <a:spcBef>
                <a:spcPct val="40000"/>
              </a:spcBef>
              <a:spcAft>
                <a:spcPct val="0"/>
              </a:spcAft>
              <a:buClr>
                <a:srgbClr val="336666"/>
              </a:buClr>
              <a:buSzPct val="75000"/>
              <a:buNone/>
            </a:pPr>
            <a:endParaRPr lang="en-US" dirty="0">
              <a:solidFill>
                <a:srgbClr val="000000"/>
              </a:solidFill>
              <a:latin typeface="Arial" charset="0"/>
            </a:endParaRPr>
          </a:p>
          <a:p>
            <a:pPr marL="361950" indent="-361950" fontAlgn="base">
              <a:spcBef>
                <a:spcPct val="50000"/>
              </a:spcBef>
              <a:spcAft>
                <a:spcPct val="0"/>
              </a:spcAft>
              <a:buClr>
                <a:srgbClr val="CC0000"/>
              </a:buClr>
              <a:buFont typeface="Wingdings" pitchFamily="2" charset="2"/>
              <a:buChar char="L"/>
            </a:pPr>
            <a:r>
              <a:rPr lang="en-US" dirty="0">
                <a:solidFill>
                  <a:srgbClr val="000000"/>
                </a:solidFill>
                <a:latin typeface="Arial" charset="0"/>
              </a:rPr>
              <a:t>Higher weight (batteries)</a:t>
            </a:r>
          </a:p>
          <a:p>
            <a:pPr marL="361950" indent="-361950" fontAlgn="base">
              <a:spcBef>
                <a:spcPct val="50000"/>
              </a:spcBef>
              <a:spcAft>
                <a:spcPct val="0"/>
              </a:spcAft>
              <a:buClr>
                <a:srgbClr val="CC0000"/>
              </a:buClr>
              <a:buFont typeface="Wingdings" pitchFamily="2" charset="2"/>
              <a:buChar char="L"/>
            </a:pPr>
            <a:r>
              <a:rPr lang="en-US" dirty="0">
                <a:solidFill>
                  <a:srgbClr val="000000"/>
                </a:solidFill>
                <a:latin typeface="Arial" charset="0"/>
              </a:rPr>
              <a:t>Reduced mobility </a:t>
            </a:r>
          </a:p>
          <a:p>
            <a:pPr marL="361950" indent="-361950" fontAlgn="base">
              <a:spcBef>
                <a:spcPct val="50000"/>
              </a:spcBef>
              <a:spcAft>
                <a:spcPct val="0"/>
              </a:spcAft>
              <a:buClr>
                <a:srgbClr val="CC0000"/>
              </a:buClr>
              <a:buFont typeface="Wingdings" pitchFamily="2" charset="2"/>
              <a:buChar char="L"/>
            </a:pPr>
            <a:r>
              <a:rPr lang="en-US" dirty="0">
                <a:solidFill>
                  <a:srgbClr val="000000"/>
                </a:solidFill>
                <a:latin typeface="Arial" charset="0"/>
              </a:rPr>
              <a:t>High efforts for cooling</a:t>
            </a:r>
          </a:p>
          <a:p>
            <a:pPr marL="361950" indent="-361950" fontAlgn="base">
              <a:spcBef>
                <a:spcPct val="50000"/>
              </a:spcBef>
              <a:spcAft>
                <a:spcPct val="0"/>
              </a:spcAft>
              <a:buClr>
                <a:srgbClr val="CC0000"/>
              </a:buClr>
              <a:buFont typeface="Wingdings" pitchFamily="2" charset="2"/>
              <a:buChar char="L"/>
            </a:pPr>
            <a:r>
              <a:rPr lang="en-US" dirty="0">
                <a:solidFill>
                  <a:srgbClr val="000000"/>
                </a:solidFill>
                <a:latin typeface="Arial" charset="0"/>
              </a:rPr>
              <a:t>Increasing operational costs</a:t>
            </a:r>
          </a:p>
          <a:p>
            <a:pPr marL="361950" indent="-361950" fontAlgn="base">
              <a:spcBef>
                <a:spcPct val="50000"/>
              </a:spcBef>
              <a:spcAft>
                <a:spcPct val="0"/>
              </a:spcAft>
              <a:buClr>
                <a:srgbClr val="CC0000"/>
              </a:buClr>
              <a:buFont typeface="Wingdings" pitchFamily="2" charset="2"/>
              <a:buChar char="L"/>
            </a:pPr>
            <a:r>
              <a:rPr lang="en-US" dirty="0">
                <a:solidFill>
                  <a:srgbClr val="000000"/>
                </a:solidFill>
                <a:latin typeface="Arial" charset="0"/>
              </a:rPr>
              <a:t>Reduced reliability</a:t>
            </a:r>
          </a:p>
          <a:p>
            <a:pPr marL="361950" indent="-361950" fontAlgn="base">
              <a:spcBef>
                <a:spcPct val="50000"/>
              </a:spcBef>
              <a:spcAft>
                <a:spcPct val="0"/>
              </a:spcAft>
              <a:buClr>
                <a:srgbClr val="CC0000"/>
              </a:buClr>
              <a:buFont typeface="Wingdings" pitchFamily="2" charset="2"/>
              <a:buChar char="L"/>
            </a:pPr>
            <a:endParaRPr lang="en-US" dirty="0">
              <a:solidFill>
                <a:srgbClr val="000000"/>
              </a:solidFill>
              <a:latin typeface="Arial" charset="0"/>
            </a:endParaRPr>
          </a:p>
          <a:p>
            <a:pPr fontAlgn="base">
              <a:lnSpc>
                <a:spcPct val="110000"/>
              </a:lnSpc>
              <a:spcBef>
                <a:spcPct val="40000"/>
              </a:spcBef>
              <a:spcAft>
                <a:spcPct val="0"/>
              </a:spcAft>
              <a:buClr>
                <a:srgbClr val="336666"/>
              </a:buClr>
              <a:buSzPct val="75000"/>
              <a:buFont typeface="Wingdings" pitchFamily="2" charset="2"/>
              <a:buChar char="n"/>
            </a:pPr>
            <a:endParaRPr lang="en-IN" dirty="0"/>
          </a:p>
        </p:txBody>
      </p:sp>
      <p:sp>
        <p:nvSpPr>
          <p:cNvPr id="4" name="Footer Placeholder 3">
            <a:extLst>
              <a:ext uri="{FF2B5EF4-FFF2-40B4-BE49-F238E27FC236}">
                <a16:creationId xmlns:a16="http://schemas.microsoft.com/office/drawing/2014/main" id="{CD284353-7A7B-4554-A1EF-2EF027FE662A}"/>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FC2D37FA-81C2-4159-8CE8-8510B149DE32}"/>
              </a:ext>
            </a:extLst>
          </p:cNvPr>
          <p:cNvPicPr>
            <a:picLocks noChangeAspect="1"/>
          </p:cNvPicPr>
          <p:nvPr/>
        </p:nvPicPr>
        <p:blipFill>
          <a:blip r:embed="rId2" cstate="print"/>
          <a:stretch>
            <a:fillRect/>
          </a:stretch>
        </p:blipFill>
        <p:spPr>
          <a:xfrm>
            <a:off x="9828727" y="1552449"/>
            <a:ext cx="1292464" cy="1133954"/>
          </a:xfrm>
          <a:prstGeom prst="rect">
            <a:avLst/>
          </a:prstGeom>
        </p:spPr>
      </p:pic>
      <p:pic>
        <p:nvPicPr>
          <p:cNvPr id="6" name="Picture 5">
            <a:extLst>
              <a:ext uri="{FF2B5EF4-FFF2-40B4-BE49-F238E27FC236}">
                <a16:creationId xmlns:a16="http://schemas.microsoft.com/office/drawing/2014/main" id="{00EFD64D-1014-44C3-907F-EE195E9EFA3F}"/>
              </a:ext>
            </a:extLst>
          </p:cNvPr>
          <p:cNvPicPr>
            <a:picLocks noChangeAspect="1"/>
          </p:cNvPicPr>
          <p:nvPr/>
        </p:nvPicPr>
        <p:blipFill>
          <a:blip r:embed="rId3" cstate="print"/>
          <a:stretch>
            <a:fillRect/>
          </a:stretch>
        </p:blipFill>
        <p:spPr>
          <a:xfrm>
            <a:off x="10388577" y="2888973"/>
            <a:ext cx="518205" cy="1024217"/>
          </a:xfrm>
          <a:prstGeom prst="rect">
            <a:avLst/>
          </a:prstGeom>
        </p:spPr>
      </p:pic>
      <p:pic>
        <p:nvPicPr>
          <p:cNvPr id="7" name="Picture 6">
            <a:extLst>
              <a:ext uri="{FF2B5EF4-FFF2-40B4-BE49-F238E27FC236}">
                <a16:creationId xmlns:a16="http://schemas.microsoft.com/office/drawing/2014/main" id="{8729DD90-7B12-47A5-ABA0-F8684D7A6CDA}"/>
              </a:ext>
            </a:extLst>
          </p:cNvPr>
          <p:cNvPicPr>
            <a:picLocks noChangeAspect="1"/>
          </p:cNvPicPr>
          <p:nvPr/>
        </p:nvPicPr>
        <p:blipFill>
          <a:blip r:embed="rId4" cstate="print"/>
          <a:stretch>
            <a:fillRect/>
          </a:stretch>
        </p:blipFill>
        <p:spPr>
          <a:xfrm>
            <a:off x="9392825" y="2888973"/>
            <a:ext cx="871804" cy="1012024"/>
          </a:xfrm>
          <a:prstGeom prst="rect">
            <a:avLst/>
          </a:prstGeom>
        </p:spPr>
      </p:pic>
      <p:pic>
        <p:nvPicPr>
          <p:cNvPr id="8" name="Picture 7">
            <a:extLst>
              <a:ext uri="{FF2B5EF4-FFF2-40B4-BE49-F238E27FC236}">
                <a16:creationId xmlns:a16="http://schemas.microsoft.com/office/drawing/2014/main" id="{D3E1D0E0-785A-4C1E-8606-988023708ADC}"/>
              </a:ext>
            </a:extLst>
          </p:cNvPr>
          <p:cNvPicPr>
            <a:picLocks noChangeAspect="1"/>
          </p:cNvPicPr>
          <p:nvPr/>
        </p:nvPicPr>
        <p:blipFill>
          <a:blip r:embed="rId5" cstate="print"/>
          <a:stretch>
            <a:fillRect/>
          </a:stretch>
        </p:blipFill>
        <p:spPr>
          <a:xfrm>
            <a:off x="9828727" y="4103567"/>
            <a:ext cx="1536325" cy="1030313"/>
          </a:xfrm>
          <a:prstGeom prst="rect">
            <a:avLst/>
          </a:prstGeom>
        </p:spPr>
      </p:pic>
    </p:spTree>
    <p:extLst>
      <p:ext uri="{BB962C8B-B14F-4D97-AF65-F5344CB8AC3E}">
        <p14:creationId xmlns:p14="http://schemas.microsoft.com/office/powerpoint/2010/main" val="3406893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78607-5A4F-4315-A870-3E9D6848456E}"/>
              </a:ext>
            </a:extLst>
          </p:cNvPr>
          <p:cNvSpPr>
            <a:spLocks noGrp="1"/>
          </p:cNvSpPr>
          <p:nvPr>
            <p:ph type="title"/>
          </p:nvPr>
        </p:nvSpPr>
        <p:spPr>
          <a:xfrm>
            <a:off x="1544321" y="624110"/>
            <a:ext cx="9960292" cy="1280890"/>
          </a:xfrm>
        </p:spPr>
        <p:txBody>
          <a:bodyPr/>
          <a:lstStyle/>
          <a:p>
            <a:r>
              <a:rPr lang="en-IN" b="1" dirty="0"/>
              <a:t>Motivation - Why Low Power</a:t>
            </a:r>
            <a:endParaRPr lang="en-IN" dirty="0"/>
          </a:p>
        </p:txBody>
      </p:sp>
      <p:sp>
        <p:nvSpPr>
          <p:cNvPr id="3" name="Content Placeholder 2">
            <a:extLst>
              <a:ext uri="{FF2B5EF4-FFF2-40B4-BE49-F238E27FC236}">
                <a16:creationId xmlns:a16="http://schemas.microsoft.com/office/drawing/2014/main" id="{F1F91F70-13E5-4268-A752-99F7180D0CD3}"/>
              </a:ext>
            </a:extLst>
          </p:cNvPr>
          <p:cNvSpPr>
            <a:spLocks noGrp="1"/>
          </p:cNvSpPr>
          <p:nvPr>
            <p:ph idx="1"/>
          </p:nvPr>
        </p:nvSpPr>
        <p:spPr>
          <a:xfrm>
            <a:off x="1544320" y="1696720"/>
            <a:ext cx="9960292" cy="4537170"/>
          </a:xfrm>
        </p:spPr>
        <p:txBody>
          <a:bodyPr>
            <a:normAutofit/>
          </a:bodyPr>
          <a:lstStyle/>
          <a:p>
            <a:pPr>
              <a:buFont typeface="Wingdings" pitchFamily="2" charset="2"/>
              <a:buChar char="q"/>
            </a:pPr>
            <a:r>
              <a:rPr lang="en-US" sz="2400" dirty="0">
                <a:solidFill>
                  <a:srgbClr val="C00000"/>
                </a:solidFill>
              </a:rPr>
              <a:t>Changing Trend</a:t>
            </a:r>
          </a:p>
          <a:p>
            <a:pPr algn="just">
              <a:buFont typeface="Courier New" pitchFamily="49" charset="0"/>
              <a:buChar char="o"/>
            </a:pPr>
            <a:r>
              <a:rPr lang="en-US" dirty="0">
                <a:latin typeface="Arial" panose="020B0604020202020204" pitchFamily="34" charset="0"/>
                <a:cs typeface="Arial" panose="020B0604020202020204" pitchFamily="34" charset="0"/>
              </a:rPr>
              <a:t>Until recently performance has been synonyms with circuit speed or processing  Power e.g. MIPS</a:t>
            </a:r>
          </a:p>
          <a:p>
            <a:pPr algn="just">
              <a:buFont typeface="Courier New" pitchFamily="49" charset="0"/>
              <a:buChar char="o"/>
            </a:pPr>
            <a:r>
              <a:rPr lang="en-US" dirty="0">
                <a:latin typeface="Arial" panose="020B0604020202020204" pitchFamily="34" charset="0"/>
                <a:cs typeface="Arial" panose="020B0604020202020204" pitchFamily="34" charset="0"/>
              </a:rPr>
              <a:t>Earlier power consumption were of secondary concern</a:t>
            </a:r>
          </a:p>
          <a:p>
            <a:pPr algn="just">
              <a:buFont typeface="Courier New" pitchFamily="49" charset="0"/>
              <a:buChar char="o"/>
            </a:pPr>
            <a:r>
              <a:rPr lang="en-US" dirty="0">
                <a:latin typeface="Arial" panose="020B0604020202020204" pitchFamily="34" charset="0"/>
                <a:cs typeface="Arial" panose="020B0604020202020204" pitchFamily="34" charset="0"/>
              </a:rPr>
              <a:t>In Nanometer technology power has become a most important issue because of </a:t>
            </a:r>
          </a:p>
          <a:p>
            <a:pPr algn="just">
              <a:buFont typeface="Wingdings" pitchFamily="2" charset="2"/>
              <a:buChar char="Ø"/>
            </a:pPr>
            <a:r>
              <a:rPr lang="en-US" dirty="0">
                <a:latin typeface="Arial" panose="020B0604020202020204" pitchFamily="34" charset="0"/>
                <a:cs typeface="Arial" panose="020B0604020202020204" pitchFamily="34" charset="0"/>
              </a:rPr>
              <a:t>       Increasing transistor count</a:t>
            </a:r>
          </a:p>
          <a:p>
            <a:pPr algn="just">
              <a:buFont typeface="Wingdings" pitchFamily="2" charset="2"/>
              <a:buChar char="Ø"/>
            </a:pPr>
            <a:r>
              <a:rPr lang="en-US" dirty="0">
                <a:latin typeface="Arial" panose="020B0604020202020204" pitchFamily="34" charset="0"/>
                <a:cs typeface="Arial" panose="020B0604020202020204" pitchFamily="34" charset="0"/>
              </a:rPr>
              <a:t>       Higher speed of operation </a:t>
            </a:r>
          </a:p>
          <a:p>
            <a:pPr algn="just">
              <a:buFont typeface="Wingdings" pitchFamily="2" charset="2"/>
              <a:buChar char="Ø"/>
            </a:pPr>
            <a:r>
              <a:rPr lang="en-US" dirty="0">
                <a:latin typeface="Arial" panose="020B0604020202020204" pitchFamily="34" charset="0"/>
                <a:cs typeface="Arial" panose="020B0604020202020204" pitchFamily="34" charset="0"/>
              </a:rPr>
              <a:t>       Greater device leakage current</a:t>
            </a:r>
          </a:p>
          <a:p>
            <a:pPr algn="just">
              <a:buFont typeface="Wingdings" pitchFamily="2" charset="2"/>
              <a:buChar char="Ø"/>
            </a:pPr>
            <a:endParaRPr lang="en-US" dirty="0">
              <a:latin typeface="Arial" panose="020B0604020202020204" pitchFamily="34" charset="0"/>
              <a:cs typeface="Arial" panose="020B0604020202020204" pitchFamily="34" charset="0"/>
            </a:endParaRPr>
          </a:p>
          <a:p>
            <a:pPr algn="just">
              <a:buFont typeface="Wingdings" pitchFamily="2" charset="2"/>
              <a:buChar char="Ø"/>
            </a:pPr>
            <a:r>
              <a:rPr lang="en-US" dirty="0">
                <a:latin typeface="Arial" panose="020B0604020202020204" pitchFamily="34" charset="0"/>
                <a:cs typeface="Arial" panose="020B0604020202020204" pitchFamily="34" charset="0"/>
              </a:rPr>
              <a:t>Increased process parameter variability due to aggressive scaling has created problem in reliability &amp; Testing</a:t>
            </a:r>
          </a:p>
          <a:p>
            <a:endParaRPr lang="en-IN" dirty="0"/>
          </a:p>
        </p:txBody>
      </p:sp>
      <p:sp>
        <p:nvSpPr>
          <p:cNvPr id="4" name="Footer Placeholder 3">
            <a:extLst>
              <a:ext uri="{FF2B5EF4-FFF2-40B4-BE49-F238E27FC236}">
                <a16:creationId xmlns:a16="http://schemas.microsoft.com/office/drawing/2014/main" id="{8D14D036-C182-4F34-AEED-7B4EC0E5022C}"/>
              </a:ext>
            </a:extLst>
          </p:cNvPr>
          <p:cNvSpPr>
            <a:spLocks noGrp="1"/>
          </p:cNvSpPr>
          <p:nvPr>
            <p:ph type="ftr" sz="quarter" idx="11"/>
          </p:nvPr>
        </p:nvSpPr>
        <p:spPr>
          <a:xfrm>
            <a:off x="2011680" y="6156960"/>
            <a:ext cx="8197531" cy="343973"/>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a:p>
            <a:endParaRPr lang="en-IN" dirty="0"/>
          </a:p>
        </p:txBody>
      </p:sp>
    </p:spTree>
    <p:extLst>
      <p:ext uri="{BB962C8B-B14F-4D97-AF65-F5344CB8AC3E}">
        <p14:creationId xmlns:p14="http://schemas.microsoft.com/office/powerpoint/2010/main" val="100798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8A3A2-725B-4EC2-935E-E00F08E71E5D}"/>
              </a:ext>
            </a:extLst>
          </p:cNvPr>
          <p:cNvSpPr>
            <a:spLocks noGrp="1"/>
          </p:cNvSpPr>
          <p:nvPr>
            <p:ph type="title"/>
          </p:nvPr>
        </p:nvSpPr>
        <p:spPr>
          <a:xfrm>
            <a:off x="1940561" y="613950"/>
            <a:ext cx="9564052" cy="1280890"/>
          </a:xfrm>
        </p:spPr>
        <p:txBody>
          <a:bodyPr/>
          <a:lstStyle/>
          <a:p>
            <a:r>
              <a:rPr lang="en-IN" b="1" dirty="0"/>
              <a:t>Why Low Power</a:t>
            </a:r>
            <a:endParaRPr lang="en-IN" dirty="0"/>
          </a:p>
        </p:txBody>
      </p:sp>
      <p:pic>
        <p:nvPicPr>
          <p:cNvPr id="5" name="Content Placeholder 4">
            <a:extLst>
              <a:ext uri="{FF2B5EF4-FFF2-40B4-BE49-F238E27FC236}">
                <a16:creationId xmlns:a16="http://schemas.microsoft.com/office/drawing/2014/main" id="{E36AC2C3-E2AF-414C-B9F4-D47EA36E6FAE}"/>
              </a:ext>
            </a:extLst>
          </p:cNvPr>
          <p:cNvPicPr>
            <a:picLocks noGrp="1" noChangeAspect="1"/>
          </p:cNvPicPr>
          <p:nvPr>
            <p:ph idx="1"/>
          </p:nvPr>
        </p:nvPicPr>
        <p:blipFill>
          <a:blip r:embed="rId2" cstate="print"/>
          <a:stretch>
            <a:fillRect/>
          </a:stretch>
        </p:blipFill>
        <p:spPr>
          <a:xfrm>
            <a:off x="1261225" y="1691968"/>
            <a:ext cx="1005927" cy="1207113"/>
          </a:xfrm>
          <a:prstGeom prst="rect">
            <a:avLst/>
          </a:prstGeom>
        </p:spPr>
      </p:pic>
      <p:sp>
        <p:nvSpPr>
          <p:cNvPr id="4" name="Footer Placeholder 3">
            <a:extLst>
              <a:ext uri="{FF2B5EF4-FFF2-40B4-BE49-F238E27FC236}">
                <a16:creationId xmlns:a16="http://schemas.microsoft.com/office/drawing/2014/main" id="{2ACB36EA-C817-4F05-A8BF-6424B63092B4}"/>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6" name="Picture 4">
            <a:extLst>
              <a:ext uri="{FF2B5EF4-FFF2-40B4-BE49-F238E27FC236}">
                <a16:creationId xmlns:a16="http://schemas.microsoft.com/office/drawing/2014/main" id="{325415B8-59A9-4D5A-A162-B91F73CFF0FA}"/>
              </a:ext>
            </a:extLst>
          </p:cNvPr>
          <p:cNvPicPr>
            <a:picLocks noChangeAspect="1" noChangeArrowheads="1"/>
          </p:cNvPicPr>
          <p:nvPr/>
        </p:nvPicPr>
        <p:blipFill>
          <a:blip r:embed="rId3" cstate="print"/>
          <a:srcRect/>
          <a:stretch>
            <a:fillRect/>
          </a:stretch>
        </p:blipFill>
        <p:spPr bwMode="auto">
          <a:xfrm>
            <a:off x="2391091" y="1391280"/>
            <a:ext cx="7620000" cy="4744528"/>
          </a:xfrm>
          <a:prstGeom prst="rect">
            <a:avLst/>
          </a:prstGeom>
          <a:noFill/>
          <a:ln w="9525">
            <a:noFill/>
            <a:miter lim="800000"/>
            <a:headEnd/>
            <a:tailEnd/>
          </a:ln>
          <a:effectLst/>
        </p:spPr>
      </p:pic>
    </p:spTree>
    <p:extLst>
      <p:ext uri="{BB962C8B-B14F-4D97-AF65-F5344CB8AC3E}">
        <p14:creationId xmlns:p14="http://schemas.microsoft.com/office/powerpoint/2010/main" val="1519485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C7D29-077B-4F8D-BB03-2FA6D3A2ACB3}"/>
              </a:ext>
            </a:extLst>
          </p:cNvPr>
          <p:cNvSpPr>
            <a:spLocks noGrp="1"/>
          </p:cNvSpPr>
          <p:nvPr>
            <p:ph type="title"/>
          </p:nvPr>
        </p:nvSpPr>
        <p:spPr>
          <a:xfrm>
            <a:off x="1849121" y="613950"/>
            <a:ext cx="9655492" cy="1280890"/>
          </a:xfrm>
        </p:spPr>
        <p:txBody>
          <a:bodyPr>
            <a:normAutofit/>
          </a:bodyPr>
          <a:lstStyle/>
          <a:p>
            <a:r>
              <a:rPr lang="en-IN" sz="3200" b="1" dirty="0"/>
              <a:t> Why Low Power</a:t>
            </a:r>
            <a:endParaRPr lang="en-IN" sz="3200" dirty="0"/>
          </a:p>
        </p:txBody>
      </p:sp>
      <p:pic>
        <p:nvPicPr>
          <p:cNvPr id="5" name="Content Placeholder 4">
            <a:extLst>
              <a:ext uri="{FF2B5EF4-FFF2-40B4-BE49-F238E27FC236}">
                <a16:creationId xmlns:a16="http://schemas.microsoft.com/office/drawing/2014/main" id="{F773777E-CEEA-408F-8E0C-99D85CBCFA85}"/>
              </a:ext>
            </a:extLst>
          </p:cNvPr>
          <p:cNvPicPr>
            <a:picLocks noGrp="1" noChangeAspect="1"/>
          </p:cNvPicPr>
          <p:nvPr>
            <p:ph idx="1"/>
          </p:nvPr>
        </p:nvPicPr>
        <p:blipFill>
          <a:blip r:embed="rId2" cstate="print"/>
          <a:stretch>
            <a:fillRect/>
          </a:stretch>
        </p:blipFill>
        <p:spPr>
          <a:xfrm>
            <a:off x="2729523" y="1755856"/>
            <a:ext cx="7895004" cy="3974937"/>
          </a:xfrm>
          <a:prstGeom prst="rect">
            <a:avLst/>
          </a:prstGeom>
        </p:spPr>
      </p:pic>
      <p:sp>
        <p:nvSpPr>
          <p:cNvPr id="4" name="Footer Placeholder 3">
            <a:extLst>
              <a:ext uri="{FF2B5EF4-FFF2-40B4-BE49-F238E27FC236}">
                <a16:creationId xmlns:a16="http://schemas.microsoft.com/office/drawing/2014/main" id="{AF9B74B3-57C1-4BB8-9660-53BFBCF93A6D}"/>
              </a:ext>
            </a:extLst>
          </p:cNvPr>
          <p:cNvSpPr>
            <a:spLocks noGrp="1"/>
          </p:cNvSpPr>
          <p:nvPr>
            <p:ph type="ftr" sz="quarter" idx="11"/>
          </p:nvPr>
        </p:nvSpPr>
        <p:spPr>
          <a:xfrm>
            <a:off x="1969452" y="6051327"/>
            <a:ext cx="7619999" cy="365125"/>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cxnSp>
        <p:nvCxnSpPr>
          <p:cNvPr id="6" name="Straight Arrow Connector 5">
            <a:extLst>
              <a:ext uri="{FF2B5EF4-FFF2-40B4-BE49-F238E27FC236}">
                <a16:creationId xmlns:a16="http://schemas.microsoft.com/office/drawing/2014/main" id="{A2BA186F-B891-41CE-BE52-DC240368A759}"/>
              </a:ext>
            </a:extLst>
          </p:cNvPr>
          <p:cNvCxnSpPr/>
          <p:nvPr/>
        </p:nvCxnSpPr>
        <p:spPr>
          <a:xfrm>
            <a:off x="7508240" y="3830320"/>
            <a:ext cx="396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981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A257-E411-4578-8219-677B66F26090}"/>
              </a:ext>
            </a:extLst>
          </p:cNvPr>
          <p:cNvSpPr>
            <a:spLocks noGrp="1"/>
          </p:cNvSpPr>
          <p:nvPr>
            <p:ph type="title"/>
          </p:nvPr>
        </p:nvSpPr>
        <p:spPr>
          <a:xfrm>
            <a:off x="1859281" y="624110"/>
            <a:ext cx="9645332" cy="1280890"/>
          </a:xfrm>
        </p:spPr>
        <p:txBody>
          <a:bodyPr/>
          <a:lstStyle/>
          <a:p>
            <a:r>
              <a:rPr lang="en-IN" sz="3200" b="1" dirty="0">
                <a:solidFill>
                  <a:prstClr val="black">
                    <a:lumMod val="85000"/>
                    <a:lumOff val="15000"/>
                  </a:prstClr>
                </a:solidFill>
              </a:rPr>
              <a:t>Latest Processor </a:t>
            </a:r>
            <a:endParaRPr lang="en-IN" dirty="0"/>
          </a:p>
        </p:txBody>
      </p:sp>
      <p:sp>
        <p:nvSpPr>
          <p:cNvPr id="3" name="Content Placeholder 2">
            <a:extLst>
              <a:ext uri="{FF2B5EF4-FFF2-40B4-BE49-F238E27FC236}">
                <a16:creationId xmlns:a16="http://schemas.microsoft.com/office/drawing/2014/main" id="{CEAA8F7F-478F-4809-82BB-0F3C6DB6F61C}"/>
              </a:ext>
            </a:extLst>
          </p:cNvPr>
          <p:cNvSpPr>
            <a:spLocks noGrp="1"/>
          </p:cNvSpPr>
          <p:nvPr>
            <p:ph idx="1"/>
          </p:nvPr>
        </p:nvSpPr>
        <p:spPr>
          <a:xfrm>
            <a:off x="1381760" y="1239520"/>
            <a:ext cx="10122852" cy="4994370"/>
          </a:xfrm>
        </p:spPr>
        <p:txBody>
          <a:bodyPr>
            <a:normAutofit/>
          </a:bodyPr>
          <a:lstStyle/>
          <a:p>
            <a:pPr marL="0" indent="0">
              <a:buNone/>
            </a:pPr>
            <a:endParaRPr lang="en-US" dirty="0">
              <a:latin typeface="Arial" panose="020B0604020202020204" pitchFamily="34" charset="0"/>
              <a:cs typeface="Arial" panose="020B0604020202020204" pitchFamily="34" charset="0"/>
            </a:endParaRPr>
          </a:p>
          <a:p>
            <a:endParaRPr lang="en-IN" sz="2000" b="1" baseline="-25000" dirty="0"/>
          </a:p>
        </p:txBody>
      </p:sp>
      <p:sp>
        <p:nvSpPr>
          <p:cNvPr id="4" name="Footer Placeholder 3">
            <a:extLst>
              <a:ext uri="{FF2B5EF4-FFF2-40B4-BE49-F238E27FC236}">
                <a16:creationId xmlns:a16="http://schemas.microsoft.com/office/drawing/2014/main" id="{8D3BC85B-A428-4DC3-A854-61858082CDE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6" name="Picture 5">
            <a:extLst>
              <a:ext uri="{FF2B5EF4-FFF2-40B4-BE49-F238E27FC236}">
                <a16:creationId xmlns:a16="http://schemas.microsoft.com/office/drawing/2014/main" id="{66463AAC-7B1F-45D0-9966-767EF36F7FB0}"/>
              </a:ext>
            </a:extLst>
          </p:cNvPr>
          <p:cNvPicPr>
            <a:picLocks noChangeAspect="1"/>
          </p:cNvPicPr>
          <p:nvPr/>
        </p:nvPicPr>
        <p:blipFill>
          <a:blip r:embed="rId2" cstate="print"/>
          <a:stretch>
            <a:fillRect/>
          </a:stretch>
        </p:blipFill>
        <p:spPr>
          <a:xfrm>
            <a:off x="1478756" y="1444578"/>
            <a:ext cx="9928860" cy="4691230"/>
          </a:xfrm>
          <a:prstGeom prst="rect">
            <a:avLst/>
          </a:prstGeom>
        </p:spPr>
      </p:pic>
    </p:spTree>
    <p:extLst>
      <p:ext uri="{BB962C8B-B14F-4D97-AF65-F5344CB8AC3E}">
        <p14:creationId xmlns:p14="http://schemas.microsoft.com/office/powerpoint/2010/main" val="830705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C3762-F855-4DB0-B9B9-78F5D24BDD96}"/>
              </a:ext>
            </a:extLst>
          </p:cNvPr>
          <p:cNvSpPr>
            <a:spLocks noGrp="1"/>
          </p:cNvSpPr>
          <p:nvPr>
            <p:ph type="title"/>
          </p:nvPr>
        </p:nvSpPr>
        <p:spPr>
          <a:xfrm>
            <a:off x="1727201" y="624110"/>
            <a:ext cx="9777412" cy="1280890"/>
          </a:xfrm>
        </p:spPr>
        <p:txBody>
          <a:bodyPr/>
          <a:lstStyle/>
          <a:p>
            <a:r>
              <a:rPr lang="en-IN" sz="3200" b="1" dirty="0">
                <a:solidFill>
                  <a:prstClr val="black">
                    <a:lumMod val="85000"/>
                    <a:lumOff val="15000"/>
                  </a:prstClr>
                </a:solidFill>
              </a:rPr>
              <a:t>Increased Power Dissipation in DSM</a:t>
            </a:r>
            <a:endParaRPr lang="en-IN" dirty="0"/>
          </a:p>
        </p:txBody>
      </p:sp>
      <p:sp>
        <p:nvSpPr>
          <p:cNvPr id="3" name="Content Placeholder 2">
            <a:extLst>
              <a:ext uri="{FF2B5EF4-FFF2-40B4-BE49-F238E27FC236}">
                <a16:creationId xmlns:a16="http://schemas.microsoft.com/office/drawing/2014/main" id="{2974E487-B61E-4171-9A08-970B133A89A3}"/>
              </a:ext>
            </a:extLst>
          </p:cNvPr>
          <p:cNvSpPr>
            <a:spLocks noGrp="1"/>
          </p:cNvSpPr>
          <p:nvPr>
            <p:ph idx="1"/>
          </p:nvPr>
        </p:nvSpPr>
        <p:spPr>
          <a:xfrm>
            <a:off x="1524000" y="1473200"/>
            <a:ext cx="9980612" cy="4438022"/>
          </a:xfrm>
        </p:spPr>
        <p:txBody>
          <a:bodyPr/>
          <a:lstStyle/>
          <a:p>
            <a:r>
              <a:rPr lang="en-US" dirty="0">
                <a:latin typeface="Arial" panose="020B0604020202020204" pitchFamily="34" charset="0"/>
                <a:cs typeface="Arial" panose="020B0604020202020204" pitchFamily="34" charset="0"/>
              </a:rPr>
              <a:t>As the device dimension shrink down power goes on increasing in deep sub micron technology (DSM).</a:t>
            </a:r>
          </a:p>
          <a:p>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FFF7E0F4-A5AE-4DB9-9541-EC1B2F1746CB}"/>
              </a:ext>
            </a:extLst>
          </p:cNvPr>
          <p:cNvSpPr>
            <a:spLocks noGrp="1"/>
          </p:cNvSpPr>
          <p:nvPr>
            <p:ph type="ftr" sz="quarter" idx="11"/>
          </p:nvPr>
        </p:nvSpPr>
        <p:spPr>
          <a:xfrm>
            <a:off x="1727200" y="6139822"/>
            <a:ext cx="8482011" cy="361111"/>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a:p>
            <a:endParaRPr lang="en-IN" dirty="0"/>
          </a:p>
        </p:txBody>
      </p:sp>
      <p:pic>
        <p:nvPicPr>
          <p:cNvPr id="5" name="Picture 4">
            <a:extLst>
              <a:ext uri="{FF2B5EF4-FFF2-40B4-BE49-F238E27FC236}">
                <a16:creationId xmlns:a16="http://schemas.microsoft.com/office/drawing/2014/main" id="{FFFBB954-74E3-414D-B340-B7CCA10400AD}"/>
              </a:ext>
            </a:extLst>
          </p:cNvPr>
          <p:cNvPicPr>
            <a:picLocks noChangeAspect="1"/>
          </p:cNvPicPr>
          <p:nvPr/>
        </p:nvPicPr>
        <p:blipFill>
          <a:blip r:embed="rId2" cstate="print"/>
          <a:stretch>
            <a:fillRect/>
          </a:stretch>
        </p:blipFill>
        <p:spPr>
          <a:xfrm>
            <a:off x="4886959" y="2120487"/>
            <a:ext cx="5998845" cy="4199890"/>
          </a:xfrm>
          <a:prstGeom prst="rect">
            <a:avLst/>
          </a:prstGeom>
        </p:spPr>
      </p:pic>
    </p:spTree>
    <p:extLst>
      <p:ext uri="{BB962C8B-B14F-4D97-AF65-F5344CB8AC3E}">
        <p14:creationId xmlns:p14="http://schemas.microsoft.com/office/powerpoint/2010/main" val="2086033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C92DA-AC58-4B27-8E38-D6D5F5BB1056}"/>
              </a:ext>
            </a:extLst>
          </p:cNvPr>
          <p:cNvSpPr>
            <a:spLocks noGrp="1"/>
          </p:cNvSpPr>
          <p:nvPr>
            <p:ph type="title"/>
          </p:nvPr>
        </p:nvSpPr>
        <p:spPr>
          <a:xfrm>
            <a:off x="1818641" y="613950"/>
            <a:ext cx="9685972" cy="1280890"/>
          </a:xfrm>
        </p:spPr>
        <p:txBody>
          <a:bodyPr/>
          <a:lstStyle/>
          <a:p>
            <a:r>
              <a:rPr lang="en-IN" sz="3200" b="1" dirty="0">
                <a:solidFill>
                  <a:prstClr val="black">
                    <a:lumMod val="85000"/>
                    <a:lumOff val="15000"/>
                  </a:prstClr>
                </a:solidFill>
              </a:rPr>
              <a:t>Packaging  and Cooling Cost</a:t>
            </a:r>
            <a:endParaRPr lang="en-IN" dirty="0"/>
          </a:p>
        </p:txBody>
      </p:sp>
      <p:sp>
        <p:nvSpPr>
          <p:cNvPr id="3" name="Content Placeholder 2">
            <a:extLst>
              <a:ext uri="{FF2B5EF4-FFF2-40B4-BE49-F238E27FC236}">
                <a16:creationId xmlns:a16="http://schemas.microsoft.com/office/drawing/2014/main" id="{6BF0488C-7A88-4A1F-84B5-B439F11A165A}"/>
              </a:ext>
            </a:extLst>
          </p:cNvPr>
          <p:cNvSpPr>
            <a:spLocks noGrp="1"/>
          </p:cNvSpPr>
          <p:nvPr>
            <p:ph idx="1"/>
          </p:nvPr>
        </p:nvSpPr>
        <p:spPr>
          <a:xfrm>
            <a:off x="894080" y="1330960"/>
            <a:ext cx="10610532" cy="4704080"/>
          </a:xfrm>
        </p:spPr>
        <p:txBody>
          <a:bodyPr>
            <a:normAutofit/>
          </a:bodyPr>
          <a:lstStyle/>
          <a:p>
            <a:pPr algn="just">
              <a:buFont typeface="Arial" pitchFamily="34" charset="0"/>
              <a:buChar char="•"/>
            </a:pPr>
            <a:r>
              <a:rPr lang="en-US" dirty="0">
                <a:latin typeface="Arial" panose="020B0604020202020204" pitchFamily="34" charset="0"/>
                <a:cs typeface="Arial" panose="020B0604020202020204" pitchFamily="34" charset="0"/>
              </a:rPr>
              <a:t>High performance  processor Consumes  heavy power . </a:t>
            </a:r>
          </a:p>
          <a:p>
            <a:pPr algn="just">
              <a:buFont typeface="Arial" pitchFamily="34" charset="0"/>
              <a:buChar char="•"/>
            </a:pPr>
            <a:endParaRPr lang="en-US" dirty="0">
              <a:latin typeface="Arial" panose="020B0604020202020204" pitchFamily="34" charset="0"/>
              <a:cs typeface="Arial" panose="020B0604020202020204" pitchFamily="34" charset="0"/>
            </a:endParaRPr>
          </a:p>
          <a:p>
            <a:pPr algn="just">
              <a:buFont typeface="Arial" pitchFamily="34" charset="0"/>
              <a:buChar char="•"/>
            </a:pPr>
            <a:r>
              <a:rPr lang="en-US" dirty="0">
                <a:latin typeface="Arial" panose="020B0604020202020204" pitchFamily="34" charset="0"/>
                <a:cs typeface="Arial" panose="020B0604020202020204" pitchFamily="34" charset="0"/>
              </a:rPr>
              <a:t>Cost associated with  packaging and  cooling  is prohibitive. </a:t>
            </a:r>
          </a:p>
          <a:p>
            <a:pPr algn="just">
              <a:buFont typeface="Arial" pitchFamily="34" charset="0"/>
              <a:buChar char="•"/>
            </a:pPr>
            <a:endParaRPr lang="en-US" dirty="0">
              <a:latin typeface="Arial" panose="020B0604020202020204" pitchFamily="34" charset="0"/>
              <a:cs typeface="Arial" panose="020B0604020202020204" pitchFamily="34" charset="0"/>
            </a:endParaRPr>
          </a:p>
          <a:p>
            <a:pPr algn="just">
              <a:buFont typeface="Arial" pitchFamily="34" charset="0"/>
              <a:buChar char="•"/>
            </a:pPr>
            <a:r>
              <a:rPr lang="en-US" dirty="0">
                <a:latin typeface="Arial" panose="020B0604020202020204" pitchFamily="34" charset="0"/>
                <a:cs typeface="Arial" panose="020B0604020202020204" pitchFamily="34" charset="0"/>
              </a:rPr>
              <a:t>Low power methodology to be  Used to reduce the cost of  Packaging  &amp; cooling.</a:t>
            </a:r>
          </a:p>
          <a:p>
            <a:pPr algn="just">
              <a:buFont typeface="Arial" pitchFamily="34" charset="0"/>
              <a:buChar char="•"/>
            </a:pPr>
            <a:endParaRPr lang="en-US"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AF32451A-3766-4A92-9B93-0954750ECC56}"/>
              </a:ext>
            </a:extLst>
          </p:cNvPr>
          <p:cNvSpPr>
            <a:spLocks noGrp="1"/>
          </p:cNvSpPr>
          <p:nvPr>
            <p:ph type="ftr" sz="quarter" idx="11"/>
          </p:nvPr>
        </p:nvSpPr>
        <p:spPr>
          <a:xfrm>
            <a:off x="1889760" y="6139822"/>
            <a:ext cx="8319451" cy="361111"/>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575897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06C2B-9345-4381-8942-BD29C093DAFC}"/>
              </a:ext>
            </a:extLst>
          </p:cNvPr>
          <p:cNvSpPr>
            <a:spLocks noGrp="1"/>
          </p:cNvSpPr>
          <p:nvPr>
            <p:ph type="title"/>
          </p:nvPr>
        </p:nvSpPr>
        <p:spPr>
          <a:xfrm>
            <a:off x="1899921" y="624110"/>
            <a:ext cx="9604692" cy="1280890"/>
          </a:xfrm>
        </p:spPr>
        <p:txBody>
          <a:bodyPr/>
          <a:lstStyle/>
          <a:p>
            <a:r>
              <a:rPr lang="en-IN" sz="3200" b="1" dirty="0">
                <a:solidFill>
                  <a:prstClr val="black">
                    <a:lumMod val="85000"/>
                    <a:lumOff val="15000"/>
                  </a:prstClr>
                </a:solidFill>
              </a:rPr>
              <a:t>Portable System</a:t>
            </a:r>
            <a:endParaRPr lang="en-IN" dirty="0"/>
          </a:p>
        </p:txBody>
      </p:sp>
      <p:sp>
        <p:nvSpPr>
          <p:cNvPr id="4" name="Footer Placeholder 3">
            <a:extLst>
              <a:ext uri="{FF2B5EF4-FFF2-40B4-BE49-F238E27FC236}">
                <a16:creationId xmlns:a16="http://schemas.microsoft.com/office/drawing/2014/main" id="{073A7E6F-85EC-483B-8DF3-CD92F434CDF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5" name="Content Placeholder 4">
            <a:extLst>
              <a:ext uri="{FF2B5EF4-FFF2-40B4-BE49-F238E27FC236}">
                <a16:creationId xmlns:a16="http://schemas.microsoft.com/office/drawing/2014/main" id="{6864522E-4C01-4E61-A915-9071D29283C8}"/>
              </a:ext>
            </a:extLst>
          </p:cNvPr>
          <p:cNvSpPr>
            <a:spLocks noGrp="1"/>
          </p:cNvSpPr>
          <p:nvPr>
            <p:ph idx="1"/>
          </p:nvPr>
        </p:nvSpPr>
        <p:spPr>
          <a:xfrm>
            <a:off x="1808480" y="1564640"/>
            <a:ext cx="9696132" cy="4346582"/>
          </a:xfrm>
        </p:spPr>
        <p:txBody>
          <a:bodyPr/>
          <a:lstStyle/>
          <a:p>
            <a:pPr lvl="0" algn="just" defTabSz="914400" fontAlgn="base">
              <a:spcBef>
                <a:spcPct val="20000"/>
              </a:spcBef>
              <a:spcAft>
                <a:spcPct val="0"/>
              </a:spcAft>
              <a:buClr>
                <a:srgbClr val="CCCC99"/>
              </a:buClr>
              <a:buSzPct val="70000"/>
              <a:buFont typeface="Wingdings" pitchFamily="2" charset="2"/>
              <a:buChar char="l"/>
            </a:pPr>
            <a:r>
              <a:rPr lang="en-US" sz="2000" kern="0" dirty="0">
                <a:solidFill>
                  <a:srgbClr val="000000"/>
                </a:solidFill>
                <a:latin typeface="Arial"/>
              </a:rPr>
              <a:t>Increasing customer demand for handheld battery operated devices such as cell </a:t>
            </a:r>
            <a:r>
              <a:rPr lang="en-US" sz="2000" kern="0" dirty="0" err="1">
                <a:solidFill>
                  <a:srgbClr val="000000"/>
                </a:solidFill>
                <a:latin typeface="Arial"/>
              </a:rPr>
              <a:t>phone,tablet</a:t>
            </a:r>
            <a:r>
              <a:rPr lang="en-US" sz="2000" kern="0" dirty="0">
                <a:solidFill>
                  <a:srgbClr val="000000"/>
                </a:solidFill>
                <a:latin typeface="Arial"/>
              </a:rPr>
              <a:t> and laptop etc. </a:t>
            </a:r>
          </a:p>
          <a:p>
            <a:pPr lvl="0" algn="just" defTabSz="914400" fontAlgn="base">
              <a:spcBef>
                <a:spcPct val="20000"/>
              </a:spcBef>
              <a:spcAft>
                <a:spcPct val="0"/>
              </a:spcAft>
              <a:buClr>
                <a:srgbClr val="CCCC99"/>
              </a:buClr>
              <a:buSzPct val="70000"/>
              <a:buFont typeface="Wingdings" pitchFamily="2" charset="2"/>
              <a:buChar char="l"/>
            </a:pPr>
            <a:endParaRPr lang="en-US" sz="20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r>
              <a:rPr lang="en-US" sz="2000" kern="0" dirty="0">
                <a:solidFill>
                  <a:srgbClr val="000000"/>
                </a:solidFill>
                <a:latin typeface="Arial"/>
              </a:rPr>
              <a:t>Mobile phone with limitless functionality &amp; limitless power supply is the requirement</a:t>
            </a:r>
          </a:p>
          <a:p>
            <a:pPr lvl="0" algn="just" defTabSz="914400" fontAlgn="base">
              <a:spcBef>
                <a:spcPct val="20000"/>
              </a:spcBef>
              <a:spcAft>
                <a:spcPct val="0"/>
              </a:spcAft>
              <a:buClr>
                <a:srgbClr val="CCCC99"/>
              </a:buClr>
              <a:buSzPct val="70000"/>
              <a:buFont typeface="Wingdings" pitchFamily="2" charset="2"/>
              <a:buChar char="l"/>
            </a:pPr>
            <a:endParaRPr lang="en-US" sz="20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r>
              <a:rPr lang="en-US" sz="2000" kern="0" dirty="0">
                <a:solidFill>
                  <a:srgbClr val="000000"/>
                </a:solidFill>
                <a:latin typeface="Arial"/>
              </a:rPr>
              <a:t>Growth rate of these portable equipment is very high</a:t>
            </a:r>
          </a:p>
          <a:p>
            <a:pPr lvl="0" algn="just" defTabSz="914400" fontAlgn="base">
              <a:spcBef>
                <a:spcPct val="20000"/>
              </a:spcBef>
              <a:spcAft>
                <a:spcPct val="0"/>
              </a:spcAft>
              <a:buClr>
                <a:srgbClr val="CCCC99"/>
              </a:buClr>
              <a:buSzPct val="70000"/>
              <a:buFont typeface="Wingdings" pitchFamily="2" charset="2"/>
              <a:buChar char="l"/>
            </a:pPr>
            <a:endParaRPr lang="en-US" sz="20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r>
              <a:rPr lang="en-US" sz="2000" kern="0" dirty="0">
                <a:solidFill>
                  <a:srgbClr val="000000"/>
                </a:solidFill>
                <a:latin typeface="Arial"/>
              </a:rPr>
              <a:t>All these devices are battery operated , battery life is of primary concern </a:t>
            </a:r>
          </a:p>
          <a:p>
            <a:pPr lvl="0" algn="just" defTabSz="914400" fontAlgn="base">
              <a:spcBef>
                <a:spcPct val="20000"/>
              </a:spcBef>
              <a:spcAft>
                <a:spcPct val="0"/>
              </a:spcAft>
              <a:buClr>
                <a:srgbClr val="CCCC99"/>
              </a:buClr>
              <a:buSzPct val="70000"/>
              <a:buFont typeface="Wingdings" pitchFamily="2" charset="2"/>
              <a:buChar char="l"/>
            </a:pPr>
            <a:endParaRPr lang="en-US" sz="20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r>
              <a:rPr lang="en-US" sz="2000" kern="0" dirty="0">
                <a:solidFill>
                  <a:srgbClr val="000000"/>
                </a:solidFill>
                <a:latin typeface="Arial"/>
              </a:rPr>
              <a:t>Unfortunately, battery technology has not kept up the energy requirement of the portable equipment</a:t>
            </a:r>
          </a:p>
          <a:p>
            <a:endParaRPr lang="en-IN" dirty="0"/>
          </a:p>
        </p:txBody>
      </p:sp>
    </p:spTree>
    <p:extLst>
      <p:ext uri="{BB962C8B-B14F-4D97-AF65-F5344CB8AC3E}">
        <p14:creationId xmlns:p14="http://schemas.microsoft.com/office/powerpoint/2010/main" val="149798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152F7-3A2C-45DC-B511-8A217AD0954F}"/>
              </a:ext>
            </a:extLst>
          </p:cNvPr>
          <p:cNvSpPr>
            <a:spLocks noGrp="1"/>
          </p:cNvSpPr>
          <p:nvPr>
            <p:ph type="title"/>
          </p:nvPr>
        </p:nvSpPr>
        <p:spPr>
          <a:xfrm>
            <a:off x="1910081" y="624110"/>
            <a:ext cx="9594532" cy="1280890"/>
          </a:xfrm>
        </p:spPr>
        <p:txBody>
          <a:bodyPr/>
          <a:lstStyle/>
          <a:p>
            <a:r>
              <a:rPr lang="en-IN" sz="3200" b="1" dirty="0">
                <a:solidFill>
                  <a:prstClr val="black">
                    <a:lumMod val="85000"/>
                    <a:lumOff val="15000"/>
                  </a:prstClr>
                </a:solidFill>
              </a:rPr>
              <a:t>Advantages &amp; Disadvantages</a:t>
            </a:r>
            <a:endParaRPr lang="en-IN" dirty="0"/>
          </a:p>
        </p:txBody>
      </p:sp>
      <p:sp>
        <p:nvSpPr>
          <p:cNvPr id="3" name="Content Placeholder 2">
            <a:extLst>
              <a:ext uri="{FF2B5EF4-FFF2-40B4-BE49-F238E27FC236}">
                <a16:creationId xmlns:a16="http://schemas.microsoft.com/office/drawing/2014/main" id="{1C667624-3326-4FC8-A971-5CEEC87CB6DE}"/>
              </a:ext>
            </a:extLst>
          </p:cNvPr>
          <p:cNvSpPr>
            <a:spLocks noGrp="1"/>
          </p:cNvSpPr>
          <p:nvPr>
            <p:ph idx="1"/>
          </p:nvPr>
        </p:nvSpPr>
        <p:spPr>
          <a:xfrm>
            <a:off x="1127760" y="1351280"/>
            <a:ext cx="10881360" cy="4882610"/>
          </a:xfrm>
        </p:spPr>
        <p:txBody>
          <a:bodyPr>
            <a:normAutofit/>
          </a:bodyPr>
          <a:lstStyle/>
          <a:p>
            <a:pPr lvl="0" algn="just" defTabSz="914400" fontAlgn="base">
              <a:spcBef>
                <a:spcPct val="20000"/>
              </a:spcBef>
              <a:spcAft>
                <a:spcPct val="0"/>
              </a:spcAft>
              <a:buClr>
                <a:srgbClr val="CCCC99"/>
              </a:buClr>
              <a:buSzPct val="70000"/>
              <a:buFont typeface="Wingdings" panose="05000000000000000000" pitchFamily="2" charset="2"/>
              <a:buChar char="Ø"/>
            </a:pPr>
            <a:r>
              <a:rPr lang="en-US" sz="2000" kern="0" dirty="0">
                <a:solidFill>
                  <a:srgbClr val="000000"/>
                </a:solidFill>
                <a:latin typeface="Arial" pitchFamily="34" charset="0"/>
                <a:cs typeface="Arial" pitchFamily="34" charset="0"/>
              </a:rPr>
              <a:t>Commercial success of  these products depends upon on size ,weight , cost ,  computing </a:t>
            </a:r>
          </a:p>
          <a:p>
            <a:pPr lvl="0" algn="just" defTabSz="914400" fontAlgn="base">
              <a:spcBef>
                <a:spcPct val="20000"/>
              </a:spcBef>
              <a:spcAft>
                <a:spcPct val="0"/>
              </a:spcAft>
              <a:buClr>
                <a:srgbClr val="CCCC99"/>
              </a:buClr>
              <a:buSzPct val="70000"/>
              <a:buNone/>
            </a:pPr>
            <a:r>
              <a:rPr lang="en-US" sz="2000" kern="0" dirty="0">
                <a:solidFill>
                  <a:srgbClr val="000000"/>
                </a:solidFill>
                <a:latin typeface="Arial" pitchFamily="34" charset="0"/>
                <a:cs typeface="Arial" pitchFamily="34" charset="0"/>
              </a:rPr>
              <a:t>  power and battery life.</a:t>
            </a:r>
          </a:p>
          <a:p>
            <a:pPr algn="just">
              <a:buFont typeface="Wingdings" panose="05000000000000000000" pitchFamily="2" charset="2"/>
              <a:buChar char="Ø"/>
            </a:pPr>
            <a:r>
              <a:rPr lang="en-US" dirty="0">
                <a:latin typeface="Arial" pitchFamily="34" charset="0"/>
                <a:cs typeface="Arial" pitchFamily="34" charset="0"/>
              </a:rPr>
              <a:t>Low Power  design Methodology  Is very important to make them  Commercially viable.</a:t>
            </a:r>
          </a:p>
          <a:p>
            <a:endParaRPr lang="en-IN" sz="1700" dirty="0"/>
          </a:p>
        </p:txBody>
      </p:sp>
      <p:sp>
        <p:nvSpPr>
          <p:cNvPr id="4" name="Footer Placeholder 3">
            <a:extLst>
              <a:ext uri="{FF2B5EF4-FFF2-40B4-BE49-F238E27FC236}">
                <a16:creationId xmlns:a16="http://schemas.microsoft.com/office/drawing/2014/main" id="{967BD876-A46E-485F-BD21-7071966C4FB9}"/>
              </a:ext>
            </a:extLst>
          </p:cNvPr>
          <p:cNvSpPr>
            <a:spLocks noGrp="1"/>
          </p:cNvSpPr>
          <p:nvPr>
            <p:ph type="ftr" sz="quarter" idx="11"/>
          </p:nvPr>
        </p:nvSpPr>
        <p:spPr>
          <a:xfrm>
            <a:off x="1503680" y="6035040"/>
            <a:ext cx="8705531" cy="465893"/>
          </a:xfrm>
        </p:spPr>
        <p:txBody>
          <a:bodyPr/>
          <a:lstStyle/>
          <a:p>
            <a:pPr lvl="0"/>
            <a:endParaRPr lang="en-IN" sz="1600" dirty="0">
              <a:solidFill>
                <a:srgbClr val="C00000"/>
              </a:solidFill>
              <a:latin typeface="Arial" panose="020B0604020202020204" pitchFamily="34" charset="0"/>
              <a:cs typeface="Arial" panose="020B0604020202020204" pitchFamily="34" charset="0"/>
            </a:endParaRPr>
          </a:p>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a:extLst>
              <a:ext uri="{FF2B5EF4-FFF2-40B4-BE49-F238E27FC236}">
                <a16:creationId xmlns:a16="http://schemas.microsoft.com/office/drawing/2014/main" id="{72B6B350-AD59-4034-8AE3-BAA628BE7052}"/>
              </a:ext>
            </a:extLst>
          </p:cNvPr>
          <p:cNvPicPr>
            <a:picLocks noChangeAspect="1"/>
          </p:cNvPicPr>
          <p:nvPr/>
        </p:nvPicPr>
        <p:blipFill>
          <a:blip r:embed="rId2" cstate="print"/>
          <a:stretch>
            <a:fillRect/>
          </a:stretch>
        </p:blipFill>
        <p:spPr>
          <a:xfrm>
            <a:off x="7112000" y="2735944"/>
            <a:ext cx="4267570" cy="3553092"/>
          </a:xfrm>
          <a:prstGeom prst="rect">
            <a:avLst/>
          </a:prstGeom>
        </p:spPr>
      </p:pic>
    </p:spTree>
    <p:extLst>
      <p:ext uri="{BB962C8B-B14F-4D97-AF65-F5344CB8AC3E}">
        <p14:creationId xmlns:p14="http://schemas.microsoft.com/office/powerpoint/2010/main" val="3505714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98133-BB4E-40DF-BC51-291D32583C8E}"/>
              </a:ext>
            </a:extLst>
          </p:cNvPr>
          <p:cNvSpPr>
            <a:spLocks noGrp="1"/>
          </p:cNvSpPr>
          <p:nvPr>
            <p:ph type="title"/>
          </p:nvPr>
        </p:nvSpPr>
        <p:spPr>
          <a:xfrm>
            <a:off x="1899921" y="624110"/>
            <a:ext cx="9604692" cy="1280890"/>
          </a:xfrm>
        </p:spPr>
        <p:txBody>
          <a:bodyPr>
            <a:normAutofit/>
          </a:bodyPr>
          <a:lstStyle/>
          <a:p>
            <a:r>
              <a:rPr lang="en-US" sz="3200" b="1" dirty="0">
                <a:solidFill>
                  <a:prstClr val="black">
                    <a:lumMod val="85000"/>
                    <a:lumOff val="15000"/>
                  </a:prstClr>
                </a:solidFill>
              </a:rPr>
              <a:t>Increasing Power Density</a:t>
            </a:r>
            <a:endParaRPr lang="en-IN" sz="3200" dirty="0"/>
          </a:p>
        </p:txBody>
      </p:sp>
      <p:sp>
        <p:nvSpPr>
          <p:cNvPr id="3" name="Content Placeholder 2">
            <a:extLst>
              <a:ext uri="{FF2B5EF4-FFF2-40B4-BE49-F238E27FC236}">
                <a16:creationId xmlns:a16="http://schemas.microsoft.com/office/drawing/2014/main" id="{5BABE529-22B2-4335-9687-A0AC23461E2D}"/>
              </a:ext>
            </a:extLst>
          </p:cNvPr>
          <p:cNvSpPr>
            <a:spLocks noGrp="1"/>
          </p:cNvSpPr>
          <p:nvPr>
            <p:ph idx="1"/>
          </p:nvPr>
        </p:nvSpPr>
        <p:spPr>
          <a:xfrm>
            <a:off x="955040" y="1564640"/>
            <a:ext cx="10861040" cy="4571168"/>
          </a:xfrm>
        </p:spPr>
        <p:txBody>
          <a:bodyPr/>
          <a:lstStyle/>
          <a:p>
            <a:endParaRPr lang="en-US" dirty="0">
              <a:latin typeface="Arial" panose="020B0604020202020204" pitchFamily="34" charset="0"/>
              <a:cs typeface="Arial" panose="020B0604020202020204" pitchFamily="34" charset="0"/>
            </a:endParaRPr>
          </a:p>
          <a:p>
            <a:endParaRPr lang="en-US" dirty="0">
              <a:solidFill>
                <a:prstClr val="black">
                  <a:lumMod val="75000"/>
                  <a:lumOff val="25000"/>
                </a:prstClr>
              </a:solidFill>
              <a:latin typeface="Arial" panose="020B0604020202020204" pitchFamily="34" charset="0"/>
              <a:cs typeface="Arial" panose="020B0604020202020204" pitchFamily="34" charset="0"/>
            </a:endParaRPr>
          </a:p>
          <a:p>
            <a:endParaRPr lang="en-US" dirty="0">
              <a:solidFill>
                <a:prstClr val="black">
                  <a:lumMod val="75000"/>
                  <a:lumOff val="25000"/>
                </a:prstClr>
              </a:solidFill>
              <a:latin typeface="Arial" panose="020B0604020202020204" pitchFamily="34" charset="0"/>
              <a:cs typeface="Arial" panose="020B0604020202020204" pitchFamily="34" charset="0"/>
            </a:endParaRPr>
          </a:p>
          <a:p>
            <a:pPr marL="0" indent="0">
              <a:buNone/>
            </a:pPr>
            <a:endParaRPr lang="en-US" baseline="-25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118AE937-5186-47FB-A97C-5DC9FA3C2A08}"/>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grpSp>
        <p:nvGrpSpPr>
          <p:cNvPr id="6" name="Group 4">
            <a:extLst>
              <a:ext uri="{FF2B5EF4-FFF2-40B4-BE49-F238E27FC236}">
                <a16:creationId xmlns:a16="http://schemas.microsoft.com/office/drawing/2014/main" id="{5A1CDE22-D2ED-4986-B4A0-60718080F041}"/>
              </a:ext>
            </a:extLst>
          </p:cNvPr>
          <p:cNvGrpSpPr>
            <a:grpSpLocks/>
          </p:cNvGrpSpPr>
          <p:nvPr/>
        </p:nvGrpSpPr>
        <p:grpSpPr bwMode="auto">
          <a:xfrm>
            <a:off x="3302000" y="1815684"/>
            <a:ext cx="5905817" cy="4069080"/>
            <a:chOff x="723" y="768"/>
            <a:chExt cx="3985" cy="2562"/>
          </a:xfrm>
        </p:grpSpPr>
        <p:sp>
          <p:nvSpPr>
            <p:cNvPr id="8" name="Line 5">
              <a:extLst>
                <a:ext uri="{FF2B5EF4-FFF2-40B4-BE49-F238E27FC236}">
                  <a16:creationId xmlns:a16="http://schemas.microsoft.com/office/drawing/2014/main" id="{166153A7-FE67-431B-9BDA-725EBA0C338B}"/>
                </a:ext>
              </a:extLst>
            </p:cNvPr>
            <p:cNvSpPr>
              <a:spLocks noChangeShapeType="1"/>
            </p:cNvSpPr>
            <p:nvPr/>
          </p:nvSpPr>
          <p:spPr bwMode="auto">
            <a:xfrm flipV="1">
              <a:off x="3754" y="1260"/>
              <a:ext cx="720" cy="912"/>
            </a:xfrm>
            <a:prstGeom prst="line">
              <a:avLst/>
            </a:prstGeom>
            <a:noFill/>
            <a:ln w="28575">
              <a:solidFill>
                <a:srgbClr val="FF9900"/>
              </a:solidFill>
              <a:round/>
              <a:headEnd/>
              <a:tailEnd/>
            </a:ln>
          </p:spPr>
          <p:txBody>
            <a:bodyPr/>
            <a:lstStyle/>
            <a:p>
              <a:endParaRPr lang="en-US"/>
            </a:p>
          </p:txBody>
        </p:sp>
        <p:sp>
          <p:nvSpPr>
            <p:cNvPr id="9" name="Freeform 6">
              <a:extLst>
                <a:ext uri="{FF2B5EF4-FFF2-40B4-BE49-F238E27FC236}">
                  <a16:creationId xmlns:a16="http://schemas.microsoft.com/office/drawing/2014/main" id="{2326F3E4-44FD-420F-A394-9C63F2BD2800}"/>
                </a:ext>
              </a:extLst>
            </p:cNvPr>
            <p:cNvSpPr>
              <a:spLocks/>
            </p:cNvSpPr>
            <p:nvPr/>
          </p:nvSpPr>
          <p:spPr bwMode="auto">
            <a:xfrm>
              <a:off x="3857" y="1886"/>
              <a:ext cx="127" cy="126"/>
            </a:xfrm>
            <a:custGeom>
              <a:avLst/>
              <a:gdLst/>
              <a:ahLst/>
              <a:cxnLst>
                <a:cxn ang="0">
                  <a:pos x="63" y="0"/>
                </a:cxn>
                <a:cxn ang="0">
                  <a:pos x="127" y="63"/>
                </a:cxn>
                <a:cxn ang="0">
                  <a:pos x="63" y="126"/>
                </a:cxn>
                <a:cxn ang="0">
                  <a:pos x="0" y="63"/>
                </a:cxn>
                <a:cxn ang="0">
                  <a:pos x="63" y="0"/>
                </a:cxn>
              </a:cxnLst>
              <a:rect l="0" t="0" r="r" b="b"/>
              <a:pathLst>
                <a:path w="127" h="126">
                  <a:moveTo>
                    <a:pt x="63" y="0"/>
                  </a:moveTo>
                  <a:lnTo>
                    <a:pt x="127" y="63"/>
                  </a:lnTo>
                  <a:lnTo>
                    <a:pt x="63" y="126"/>
                  </a:lnTo>
                  <a:lnTo>
                    <a:pt x="0" y="63"/>
                  </a:lnTo>
                  <a:lnTo>
                    <a:pt x="63" y="0"/>
                  </a:lnTo>
                  <a:close/>
                </a:path>
              </a:pathLst>
            </a:custGeom>
            <a:solidFill>
              <a:srgbClr val="FF3300"/>
            </a:solidFill>
            <a:ln w="14288">
              <a:solidFill>
                <a:srgbClr val="FFFF00"/>
              </a:solidFill>
              <a:prstDash val="solid"/>
              <a:round/>
              <a:headEnd/>
              <a:tailEnd/>
            </a:ln>
          </p:spPr>
          <p:txBody>
            <a:bodyPr/>
            <a:lstStyle/>
            <a:p>
              <a:endParaRPr lang="en-US"/>
            </a:p>
          </p:txBody>
        </p:sp>
        <p:sp>
          <p:nvSpPr>
            <p:cNvPr id="10" name="Freeform 7">
              <a:extLst>
                <a:ext uri="{FF2B5EF4-FFF2-40B4-BE49-F238E27FC236}">
                  <a16:creationId xmlns:a16="http://schemas.microsoft.com/office/drawing/2014/main" id="{2B0F08DC-3E62-4AAD-8668-EF5EAF21AAA3}"/>
                </a:ext>
              </a:extLst>
            </p:cNvPr>
            <p:cNvSpPr>
              <a:spLocks/>
            </p:cNvSpPr>
            <p:nvPr/>
          </p:nvSpPr>
          <p:spPr bwMode="auto">
            <a:xfrm>
              <a:off x="4020" y="1706"/>
              <a:ext cx="126" cy="126"/>
            </a:xfrm>
            <a:custGeom>
              <a:avLst/>
              <a:gdLst/>
              <a:ahLst/>
              <a:cxnLst>
                <a:cxn ang="0">
                  <a:pos x="63" y="0"/>
                </a:cxn>
                <a:cxn ang="0">
                  <a:pos x="126" y="63"/>
                </a:cxn>
                <a:cxn ang="0">
                  <a:pos x="63" y="126"/>
                </a:cxn>
                <a:cxn ang="0">
                  <a:pos x="0" y="63"/>
                </a:cxn>
                <a:cxn ang="0">
                  <a:pos x="63" y="0"/>
                </a:cxn>
              </a:cxnLst>
              <a:rect l="0" t="0" r="r" b="b"/>
              <a:pathLst>
                <a:path w="126" h="126">
                  <a:moveTo>
                    <a:pt x="63" y="0"/>
                  </a:moveTo>
                  <a:lnTo>
                    <a:pt x="126" y="63"/>
                  </a:lnTo>
                  <a:lnTo>
                    <a:pt x="63" y="126"/>
                  </a:lnTo>
                  <a:lnTo>
                    <a:pt x="0" y="63"/>
                  </a:lnTo>
                  <a:lnTo>
                    <a:pt x="63" y="0"/>
                  </a:lnTo>
                  <a:close/>
                </a:path>
              </a:pathLst>
            </a:custGeom>
            <a:solidFill>
              <a:srgbClr val="FF3300"/>
            </a:solidFill>
            <a:ln w="14288">
              <a:solidFill>
                <a:srgbClr val="FFFF00"/>
              </a:solidFill>
              <a:prstDash val="solid"/>
              <a:round/>
              <a:headEnd/>
              <a:tailEnd/>
            </a:ln>
          </p:spPr>
          <p:txBody>
            <a:bodyPr/>
            <a:lstStyle/>
            <a:p>
              <a:endParaRPr lang="en-US"/>
            </a:p>
          </p:txBody>
        </p:sp>
        <p:sp>
          <p:nvSpPr>
            <p:cNvPr id="11" name="Freeform 8">
              <a:extLst>
                <a:ext uri="{FF2B5EF4-FFF2-40B4-BE49-F238E27FC236}">
                  <a16:creationId xmlns:a16="http://schemas.microsoft.com/office/drawing/2014/main" id="{A4EA43DA-5422-4B62-BE16-89C12B90F91A}"/>
                </a:ext>
              </a:extLst>
            </p:cNvPr>
            <p:cNvSpPr>
              <a:spLocks/>
            </p:cNvSpPr>
            <p:nvPr/>
          </p:nvSpPr>
          <p:spPr bwMode="auto">
            <a:xfrm>
              <a:off x="4173" y="1507"/>
              <a:ext cx="126" cy="126"/>
            </a:xfrm>
            <a:custGeom>
              <a:avLst/>
              <a:gdLst/>
              <a:ahLst/>
              <a:cxnLst>
                <a:cxn ang="0">
                  <a:pos x="63" y="0"/>
                </a:cxn>
                <a:cxn ang="0">
                  <a:pos x="126" y="63"/>
                </a:cxn>
                <a:cxn ang="0">
                  <a:pos x="63" y="126"/>
                </a:cxn>
                <a:cxn ang="0">
                  <a:pos x="0" y="63"/>
                </a:cxn>
                <a:cxn ang="0">
                  <a:pos x="63" y="0"/>
                </a:cxn>
              </a:cxnLst>
              <a:rect l="0" t="0" r="r" b="b"/>
              <a:pathLst>
                <a:path w="126" h="126">
                  <a:moveTo>
                    <a:pt x="63" y="0"/>
                  </a:moveTo>
                  <a:lnTo>
                    <a:pt x="126" y="63"/>
                  </a:lnTo>
                  <a:lnTo>
                    <a:pt x="63" y="126"/>
                  </a:lnTo>
                  <a:lnTo>
                    <a:pt x="0" y="63"/>
                  </a:lnTo>
                  <a:lnTo>
                    <a:pt x="63" y="0"/>
                  </a:lnTo>
                  <a:close/>
                </a:path>
              </a:pathLst>
            </a:custGeom>
            <a:solidFill>
              <a:srgbClr val="FF3300"/>
            </a:solidFill>
            <a:ln w="14288">
              <a:solidFill>
                <a:srgbClr val="FFFF00"/>
              </a:solidFill>
              <a:prstDash val="solid"/>
              <a:round/>
              <a:headEnd/>
              <a:tailEnd/>
            </a:ln>
          </p:spPr>
          <p:txBody>
            <a:bodyPr/>
            <a:lstStyle/>
            <a:p>
              <a:endParaRPr lang="en-US"/>
            </a:p>
          </p:txBody>
        </p:sp>
        <p:sp>
          <p:nvSpPr>
            <p:cNvPr id="12" name="Freeform 9">
              <a:extLst>
                <a:ext uri="{FF2B5EF4-FFF2-40B4-BE49-F238E27FC236}">
                  <a16:creationId xmlns:a16="http://schemas.microsoft.com/office/drawing/2014/main" id="{F9902EB4-C957-4C5D-9E4E-A0AAF4B76BB7}"/>
                </a:ext>
              </a:extLst>
            </p:cNvPr>
            <p:cNvSpPr>
              <a:spLocks/>
            </p:cNvSpPr>
            <p:nvPr/>
          </p:nvSpPr>
          <p:spPr bwMode="auto">
            <a:xfrm>
              <a:off x="4335" y="1282"/>
              <a:ext cx="126" cy="126"/>
            </a:xfrm>
            <a:custGeom>
              <a:avLst/>
              <a:gdLst/>
              <a:ahLst/>
              <a:cxnLst>
                <a:cxn ang="0">
                  <a:pos x="63" y="0"/>
                </a:cxn>
                <a:cxn ang="0">
                  <a:pos x="126" y="63"/>
                </a:cxn>
                <a:cxn ang="0">
                  <a:pos x="63" y="126"/>
                </a:cxn>
                <a:cxn ang="0">
                  <a:pos x="0" y="63"/>
                </a:cxn>
                <a:cxn ang="0">
                  <a:pos x="63" y="0"/>
                </a:cxn>
              </a:cxnLst>
              <a:rect l="0" t="0" r="r" b="b"/>
              <a:pathLst>
                <a:path w="126" h="126">
                  <a:moveTo>
                    <a:pt x="63" y="0"/>
                  </a:moveTo>
                  <a:lnTo>
                    <a:pt x="126" y="63"/>
                  </a:lnTo>
                  <a:lnTo>
                    <a:pt x="63" y="126"/>
                  </a:lnTo>
                  <a:lnTo>
                    <a:pt x="0" y="63"/>
                  </a:lnTo>
                  <a:lnTo>
                    <a:pt x="63" y="0"/>
                  </a:lnTo>
                  <a:close/>
                </a:path>
              </a:pathLst>
            </a:custGeom>
            <a:solidFill>
              <a:srgbClr val="FF3300"/>
            </a:solidFill>
            <a:ln w="14288">
              <a:solidFill>
                <a:srgbClr val="FFFF00"/>
              </a:solidFill>
              <a:prstDash val="solid"/>
              <a:round/>
              <a:headEnd/>
              <a:tailEnd/>
            </a:ln>
          </p:spPr>
          <p:txBody>
            <a:bodyPr/>
            <a:lstStyle/>
            <a:p>
              <a:endParaRPr lang="en-US"/>
            </a:p>
          </p:txBody>
        </p:sp>
        <p:sp>
          <p:nvSpPr>
            <p:cNvPr id="13" name="Rectangle 10">
              <a:extLst>
                <a:ext uri="{FF2B5EF4-FFF2-40B4-BE49-F238E27FC236}">
                  <a16:creationId xmlns:a16="http://schemas.microsoft.com/office/drawing/2014/main" id="{B078307D-EFC3-4820-AE59-04EFA283B87F}"/>
                </a:ext>
              </a:extLst>
            </p:cNvPr>
            <p:cNvSpPr>
              <a:spLocks noChangeArrowheads="1"/>
            </p:cNvSpPr>
            <p:nvPr/>
          </p:nvSpPr>
          <p:spPr bwMode="auto">
            <a:xfrm>
              <a:off x="1352" y="849"/>
              <a:ext cx="3208" cy="2010"/>
            </a:xfrm>
            <a:prstGeom prst="rect">
              <a:avLst/>
            </a:prstGeom>
            <a:noFill/>
            <a:ln w="9525">
              <a:noFill/>
              <a:miter lim="800000"/>
              <a:headEnd/>
              <a:tailEnd/>
            </a:ln>
          </p:spPr>
          <p:txBody>
            <a:bodyPr/>
            <a:lstStyle/>
            <a:p>
              <a:endParaRPr lang="en-US"/>
            </a:p>
          </p:txBody>
        </p:sp>
        <p:sp>
          <p:nvSpPr>
            <p:cNvPr id="14" name="Line 11">
              <a:extLst>
                <a:ext uri="{FF2B5EF4-FFF2-40B4-BE49-F238E27FC236}">
                  <a16:creationId xmlns:a16="http://schemas.microsoft.com/office/drawing/2014/main" id="{C6C01993-3571-4A07-9F8F-5DF65D6A7BE6}"/>
                </a:ext>
              </a:extLst>
            </p:cNvPr>
            <p:cNvSpPr>
              <a:spLocks noChangeShapeType="1"/>
            </p:cNvSpPr>
            <p:nvPr/>
          </p:nvSpPr>
          <p:spPr bwMode="auto">
            <a:xfrm>
              <a:off x="1352" y="2354"/>
              <a:ext cx="3208" cy="1"/>
            </a:xfrm>
            <a:prstGeom prst="line">
              <a:avLst/>
            </a:prstGeom>
            <a:noFill/>
            <a:ln w="0">
              <a:solidFill>
                <a:schemeClr val="tx2"/>
              </a:solidFill>
              <a:round/>
              <a:headEnd/>
              <a:tailEnd/>
            </a:ln>
          </p:spPr>
          <p:txBody>
            <a:bodyPr/>
            <a:lstStyle/>
            <a:p>
              <a:endParaRPr lang="en-US"/>
            </a:p>
          </p:txBody>
        </p:sp>
        <p:sp>
          <p:nvSpPr>
            <p:cNvPr id="15" name="Line 12">
              <a:extLst>
                <a:ext uri="{FF2B5EF4-FFF2-40B4-BE49-F238E27FC236}">
                  <a16:creationId xmlns:a16="http://schemas.microsoft.com/office/drawing/2014/main" id="{AB63EBFD-AA2C-4425-983F-B71CF6770D45}"/>
                </a:ext>
              </a:extLst>
            </p:cNvPr>
            <p:cNvSpPr>
              <a:spLocks noChangeShapeType="1"/>
            </p:cNvSpPr>
            <p:nvPr/>
          </p:nvSpPr>
          <p:spPr bwMode="auto">
            <a:xfrm>
              <a:off x="1352" y="1859"/>
              <a:ext cx="3208" cy="1"/>
            </a:xfrm>
            <a:prstGeom prst="line">
              <a:avLst/>
            </a:prstGeom>
            <a:noFill/>
            <a:ln w="0">
              <a:solidFill>
                <a:schemeClr val="tx2"/>
              </a:solidFill>
              <a:round/>
              <a:headEnd/>
              <a:tailEnd/>
            </a:ln>
          </p:spPr>
          <p:txBody>
            <a:bodyPr/>
            <a:lstStyle/>
            <a:p>
              <a:endParaRPr lang="en-US"/>
            </a:p>
          </p:txBody>
        </p:sp>
        <p:sp>
          <p:nvSpPr>
            <p:cNvPr id="16" name="Line 13">
              <a:extLst>
                <a:ext uri="{FF2B5EF4-FFF2-40B4-BE49-F238E27FC236}">
                  <a16:creationId xmlns:a16="http://schemas.microsoft.com/office/drawing/2014/main" id="{4713837F-7543-4E14-9662-E4855BD9EA91}"/>
                </a:ext>
              </a:extLst>
            </p:cNvPr>
            <p:cNvSpPr>
              <a:spLocks noChangeShapeType="1"/>
            </p:cNvSpPr>
            <p:nvPr/>
          </p:nvSpPr>
          <p:spPr bwMode="auto">
            <a:xfrm>
              <a:off x="1344" y="1344"/>
              <a:ext cx="3208" cy="1"/>
            </a:xfrm>
            <a:prstGeom prst="line">
              <a:avLst/>
            </a:prstGeom>
            <a:noFill/>
            <a:ln w="0">
              <a:solidFill>
                <a:schemeClr val="tx2"/>
              </a:solidFill>
              <a:round/>
              <a:headEnd/>
              <a:tailEnd/>
            </a:ln>
          </p:spPr>
          <p:txBody>
            <a:bodyPr/>
            <a:lstStyle/>
            <a:p>
              <a:endParaRPr lang="en-US"/>
            </a:p>
          </p:txBody>
        </p:sp>
        <p:sp>
          <p:nvSpPr>
            <p:cNvPr id="17" name="Line 14">
              <a:extLst>
                <a:ext uri="{FF2B5EF4-FFF2-40B4-BE49-F238E27FC236}">
                  <a16:creationId xmlns:a16="http://schemas.microsoft.com/office/drawing/2014/main" id="{EF9DE739-7DC1-43B0-8B06-ABD4BC0897E5}"/>
                </a:ext>
              </a:extLst>
            </p:cNvPr>
            <p:cNvSpPr>
              <a:spLocks noChangeShapeType="1"/>
            </p:cNvSpPr>
            <p:nvPr/>
          </p:nvSpPr>
          <p:spPr bwMode="auto">
            <a:xfrm>
              <a:off x="1352" y="849"/>
              <a:ext cx="3208" cy="1"/>
            </a:xfrm>
            <a:prstGeom prst="line">
              <a:avLst/>
            </a:prstGeom>
            <a:noFill/>
            <a:ln w="0">
              <a:solidFill>
                <a:srgbClr val="FFFF99"/>
              </a:solidFill>
              <a:round/>
              <a:headEnd/>
              <a:tailEnd/>
            </a:ln>
          </p:spPr>
          <p:txBody>
            <a:bodyPr/>
            <a:lstStyle/>
            <a:p>
              <a:endParaRPr lang="en-US"/>
            </a:p>
          </p:txBody>
        </p:sp>
        <p:sp>
          <p:nvSpPr>
            <p:cNvPr id="18" name="Rectangle 15">
              <a:extLst>
                <a:ext uri="{FF2B5EF4-FFF2-40B4-BE49-F238E27FC236}">
                  <a16:creationId xmlns:a16="http://schemas.microsoft.com/office/drawing/2014/main" id="{BA42068E-5862-4916-89E5-EC989A49FFDB}"/>
                </a:ext>
              </a:extLst>
            </p:cNvPr>
            <p:cNvSpPr>
              <a:spLocks noChangeArrowheads="1"/>
            </p:cNvSpPr>
            <p:nvPr/>
          </p:nvSpPr>
          <p:spPr bwMode="auto">
            <a:xfrm>
              <a:off x="1352" y="849"/>
              <a:ext cx="3208" cy="2010"/>
            </a:xfrm>
            <a:prstGeom prst="rect">
              <a:avLst/>
            </a:prstGeom>
            <a:noFill/>
            <a:ln w="28575">
              <a:solidFill>
                <a:schemeClr val="tx2"/>
              </a:solidFill>
              <a:miter lim="800000"/>
              <a:headEnd/>
              <a:tailEnd/>
            </a:ln>
          </p:spPr>
          <p:txBody>
            <a:bodyPr/>
            <a:lstStyle/>
            <a:p>
              <a:endParaRPr lang="en-US"/>
            </a:p>
          </p:txBody>
        </p:sp>
        <p:sp>
          <p:nvSpPr>
            <p:cNvPr id="19" name="Line 16">
              <a:extLst>
                <a:ext uri="{FF2B5EF4-FFF2-40B4-BE49-F238E27FC236}">
                  <a16:creationId xmlns:a16="http://schemas.microsoft.com/office/drawing/2014/main" id="{10477B9F-84DC-4482-8383-E9938638C1B1}"/>
                </a:ext>
              </a:extLst>
            </p:cNvPr>
            <p:cNvSpPr>
              <a:spLocks noChangeShapeType="1"/>
            </p:cNvSpPr>
            <p:nvPr/>
          </p:nvSpPr>
          <p:spPr bwMode="auto">
            <a:xfrm>
              <a:off x="1352" y="849"/>
              <a:ext cx="1" cy="2010"/>
            </a:xfrm>
            <a:prstGeom prst="line">
              <a:avLst/>
            </a:prstGeom>
            <a:noFill/>
            <a:ln w="28575">
              <a:solidFill>
                <a:schemeClr val="tx2"/>
              </a:solidFill>
              <a:round/>
              <a:headEnd/>
              <a:tailEnd/>
            </a:ln>
          </p:spPr>
          <p:txBody>
            <a:bodyPr/>
            <a:lstStyle/>
            <a:p>
              <a:endParaRPr lang="en-US"/>
            </a:p>
          </p:txBody>
        </p:sp>
        <p:sp>
          <p:nvSpPr>
            <p:cNvPr id="20" name="Line 17">
              <a:extLst>
                <a:ext uri="{FF2B5EF4-FFF2-40B4-BE49-F238E27FC236}">
                  <a16:creationId xmlns:a16="http://schemas.microsoft.com/office/drawing/2014/main" id="{707D0E0C-FBC2-401B-BD89-B0858EF834B4}"/>
                </a:ext>
              </a:extLst>
            </p:cNvPr>
            <p:cNvSpPr>
              <a:spLocks noChangeShapeType="1"/>
            </p:cNvSpPr>
            <p:nvPr/>
          </p:nvSpPr>
          <p:spPr bwMode="auto">
            <a:xfrm>
              <a:off x="1352" y="2859"/>
              <a:ext cx="45" cy="1"/>
            </a:xfrm>
            <a:prstGeom prst="line">
              <a:avLst/>
            </a:prstGeom>
            <a:noFill/>
            <a:ln w="28575">
              <a:solidFill>
                <a:schemeClr val="tx2"/>
              </a:solidFill>
              <a:round/>
              <a:headEnd/>
              <a:tailEnd/>
            </a:ln>
          </p:spPr>
          <p:txBody>
            <a:bodyPr/>
            <a:lstStyle/>
            <a:p>
              <a:endParaRPr lang="en-US"/>
            </a:p>
          </p:txBody>
        </p:sp>
        <p:sp>
          <p:nvSpPr>
            <p:cNvPr id="21" name="Line 18">
              <a:extLst>
                <a:ext uri="{FF2B5EF4-FFF2-40B4-BE49-F238E27FC236}">
                  <a16:creationId xmlns:a16="http://schemas.microsoft.com/office/drawing/2014/main" id="{E210F7E5-686C-404B-9FA1-D4FA4135E7A2}"/>
                </a:ext>
              </a:extLst>
            </p:cNvPr>
            <p:cNvSpPr>
              <a:spLocks noChangeShapeType="1"/>
            </p:cNvSpPr>
            <p:nvPr/>
          </p:nvSpPr>
          <p:spPr bwMode="auto">
            <a:xfrm>
              <a:off x="1352" y="2354"/>
              <a:ext cx="45" cy="1"/>
            </a:xfrm>
            <a:prstGeom prst="line">
              <a:avLst/>
            </a:prstGeom>
            <a:noFill/>
            <a:ln w="28575">
              <a:solidFill>
                <a:schemeClr val="tx2"/>
              </a:solidFill>
              <a:round/>
              <a:headEnd/>
              <a:tailEnd/>
            </a:ln>
          </p:spPr>
          <p:txBody>
            <a:bodyPr/>
            <a:lstStyle/>
            <a:p>
              <a:endParaRPr lang="en-US"/>
            </a:p>
          </p:txBody>
        </p:sp>
        <p:sp>
          <p:nvSpPr>
            <p:cNvPr id="22" name="Line 19">
              <a:extLst>
                <a:ext uri="{FF2B5EF4-FFF2-40B4-BE49-F238E27FC236}">
                  <a16:creationId xmlns:a16="http://schemas.microsoft.com/office/drawing/2014/main" id="{AA494791-DFA4-4B76-B8FE-E60E699C4A8B}"/>
                </a:ext>
              </a:extLst>
            </p:cNvPr>
            <p:cNvSpPr>
              <a:spLocks noChangeShapeType="1"/>
            </p:cNvSpPr>
            <p:nvPr/>
          </p:nvSpPr>
          <p:spPr bwMode="auto">
            <a:xfrm>
              <a:off x="1352" y="1859"/>
              <a:ext cx="45" cy="1"/>
            </a:xfrm>
            <a:prstGeom prst="line">
              <a:avLst/>
            </a:prstGeom>
            <a:noFill/>
            <a:ln w="28575">
              <a:solidFill>
                <a:schemeClr val="tx2"/>
              </a:solidFill>
              <a:round/>
              <a:headEnd/>
              <a:tailEnd/>
            </a:ln>
          </p:spPr>
          <p:txBody>
            <a:bodyPr/>
            <a:lstStyle/>
            <a:p>
              <a:endParaRPr lang="en-US"/>
            </a:p>
          </p:txBody>
        </p:sp>
        <p:sp>
          <p:nvSpPr>
            <p:cNvPr id="23" name="Line 20">
              <a:extLst>
                <a:ext uri="{FF2B5EF4-FFF2-40B4-BE49-F238E27FC236}">
                  <a16:creationId xmlns:a16="http://schemas.microsoft.com/office/drawing/2014/main" id="{A2BAB212-9FD0-4E53-A956-B65FF8B78EF5}"/>
                </a:ext>
              </a:extLst>
            </p:cNvPr>
            <p:cNvSpPr>
              <a:spLocks noChangeShapeType="1"/>
            </p:cNvSpPr>
            <p:nvPr/>
          </p:nvSpPr>
          <p:spPr bwMode="auto">
            <a:xfrm>
              <a:off x="1352" y="1354"/>
              <a:ext cx="45" cy="1"/>
            </a:xfrm>
            <a:prstGeom prst="line">
              <a:avLst/>
            </a:prstGeom>
            <a:noFill/>
            <a:ln w="28575">
              <a:solidFill>
                <a:schemeClr val="tx2"/>
              </a:solidFill>
              <a:round/>
              <a:headEnd/>
              <a:tailEnd/>
            </a:ln>
          </p:spPr>
          <p:txBody>
            <a:bodyPr/>
            <a:lstStyle/>
            <a:p>
              <a:endParaRPr lang="en-US"/>
            </a:p>
          </p:txBody>
        </p:sp>
        <p:sp>
          <p:nvSpPr>
            <p:cNvPr id="24" name="Line 21">
              <a:extLst>
                <a:ext uri="{FF2B5EF4-FFF2-40B4-BE49-F238E27FC236}">
                  <a16:creationId xmlns:a16="http://schemas.microsoft.com/office/drawing/2014/main" id="{58E785FC-5E42-477D-B240-11E781276332}"/>
                </a:ext>
              </a:extLst>
            </p:cNvPr>
            <p:cNvSpPr>
              <a:spLocks noChangeShapeType="1"/>
            </p:cNvSpPr>
            <p:nvPr/>
          </p:nvSpPr>
          <p:spPr bwMode="auto">
            <a:xfrm>
              <a:off x="1352" y="849"/>
              <a:ext cx="45" cy="1"/>
            </a:xfrm>
            <a:prstGeom prst="line">
              <a:avLst/>
            </a:prstGeom>
            <a:noFill/>
            <a:ln w="28575">
              <a:solidFill>
                <a:schemeClr val="tx2"/>
              </a:solidFill>
              <a:round/>
              <a:headEnd/>
              <a:tailEnd/>
            </a:ln>
          </p:spPr>
          <p:txBody>
            <a:bodyPr/>
            <a:lstStyle/>
            <a:p>
              <a:endParaRPr lang="en-US"/>
            </a:p>
          </p:txBody>
        </p:sp>
        <p:sp>
          <p:nvSpPr>
            <p:cNvPr id="25" name="Line 22">
              <a:extLst>
                <a:ext uri="{FF2B5EF4-FFF2-40B4-BE49-F238E27FC236}">
                  <a16:creationId xmlns:a16="http://schemas.microsoft.com/office/drawing/2014/main" id="{31BB753F-8F6A-426F-83A3-B95B6B1318CE}"/>
                </a:ext>
              </a:extLst>
            </p:cNvPr>
            <p:cNvSpPr>
              <a:spLocks noChangeShapeType="1"/>
            </p:cNvSpPr>
            <p:nvPr/>
          </p:nvSpPr>
          <p:spPr bwMode="auto">
            <a:xfrm>
              <a:off x="1352" y="2859"/>
              <a:ext cx="3208" cy="1"/>
            </a:xfrm>
            <a:prstGeom prst="line">
              <a:avLst/>
            </a:prstGeom>
            <a:noFill/>
            <a:ln w="28575">
              <a:solidFill>
                <a:schemeClr val="tx2"/>
              </a:solidFill>
              <a:round/>
              <a:headEnd/>
              <a:tailEnd/>
            </a:ln>
          </p:spPr>
          <p:txBody>
            <a:bodyPr/>
            <a:lstStyle/>
            <a:p>
              <a:endParaRPr lang="en-US"/>
            </a:p>
          </p:txBody>
        </p:sp>
        <p:sp>
          <p:nvSpPr>
            <p:cNvPr id="26" name="Line 23">
              <a:extLst>
                <a:ext uri="{FF2B5EF4-FFF2-40B4-BE49-F238E27FC236}">
                  <a16:creationId xmlns:a16="http://schemas.microsoft.com/office/drawing/2014/main" id="{A6BEDA19-737A-4E45-A03A-4B67EAEBAD9C}"/>
                </a:ext>
              </a:extLst>
            </p:cNvPr>
            <p:cNvSpPr>
              <a:spLocks noChangeShapeType="1"/>
            </p:cNvSpPr>
            <p:nvPr/>
          </p:nvSpPr>
          <p:spPr bwMode="auto">
            <a:xfrm flipV="1">
              <a:off x="1352" y="2823"/>
              <a:ext cx="1" cy="36"/>
            </a:xfrm>
            <a:prstGeom prst="line">
              <a:avLst/>
            </a:prstGeom>
            <a:noFill/>
            <a:ln w="28575">
              <a:solidFill>
                <a:schemeClr val="tx2"/>
              </a:solidFill>
              <a:round/>
              <a:headEnd/>
              <a:tailEnd/>
            </a:ln>
          </p:spPr>
          <p:txBody>
            <a:bodyPr/>
            <a:lstStyle/>
            <a:p>
              <a:endParaRPr lang="en-US"/>
            </a:p>
          </p:txBody>
        </p:sp>
        <p:sp>
          <p:nvSpPr>
            <p:cNvPr id="27" name="Line 24">
              <a:extLst>
                <a:ext uri="{FF2B5EF4-FFF2-40B4-BE49-F238E27FC236}">
                  <a16:creationId xmlns:a16="http://schemas.microsoft.com/office/drawing/2014/main" id="{1A3A6511-422B-44B5-8D9E-1CD401EC99E8}"/>
                </a:ext>
              </a:extLst>
            </p:cNvPr>
            <p:cNvSpPr>
              <a:spLocks noChangeShapeType="1"/>
            </p:cNvSpPr>
            <p:nvPr/>
          </p:nvSpPr>
          <p:spPr bwMode="auto">
            <a:xfrm flipV="1">
              <a:off x="1514" y="2823"/>
              <a:ext cx="1" cy="36"/>
            </a:xfrm>
            <a:prstGeom prst="line">
              <a:avLst/>
            </a:prstGeom>
            <a:noFill/>
            <a:ln w="28575">
              <a:solidFill>
                <a:schemeClr val="tx2"/>
              </a:solidFill>
              <a:round/>
              <a:headEnd/>
              <a:tailEnd/>
            </a:ln>
          </p:spPr>
          <p:txBody>
            <a:bodyPr/>
            <a:lstStyle/>
            <a:p>
              <a:endParaRPr lang="en-US"/>
            </a:p>
          </p:txBody>
        </p:sp>
        <p:sp>
          <p:nvSpPr>
            <p:cNvPr id="28" name="Line 25">
              <a:extLst>
                <a:ext uri="{FF2B5EF4-FFF2-40B4-BE49-F238E27FC236}">
                  <a16:creationId xmlns:a16="http://schemas.microsoft.com/office/drawing/2014/main" id="{0B918B1F-2B65-4BA4-A937-0819D667FE1D}"/>
                </a:ext>
              </a:extLst>
            </p:cNvPr>
            <p:cNvSpPr>
              <a:spLocks noChangeShapeType="1"/>
            </p:cNvSpPr>
            <p:nvPr/>
          </p:nvSpPr>
          <p:spPr bwMode="auto">
            <a:xfrm flipV="1">
              <a:off x="1676" y="2823"/>
              <a:ext cx="1" cy="36"/>
            </a:xfrm>
            <a:prstGeom prst="line">
              <a:avLst/>
            </a:prstGeom>
            <a:noFill/>
            <a:ln w="28575">
              <a:solidFill>
                <a:schemeClr val="tx2"/>
              </a:solidFill>
              <a:round/>
              <a:headEnd/>
              <a:tailEnd/>
            </a:ln>
          </p:spPr>
          <p:txBody>
            <a:bodyPr/>
            <a:lstStyle/>
            <a:p>
              <a:endParaRPr lang="en-US"/>
            </a:p>
          </p:txBody>
        </p:sp>
        <p:sp>
          <p:nvSpPr>
            <p:cNvPr id="29" name="Line 26">
              <a:extLst>
                <a:ext uri="{FF2B5EF4-FFF2-40B4-BE49-F238E27FC236}">
                  <a16:creationId xmlns:a16="http://schemas.microsoft.com/office/drawing/2014/main" id="{188DC315-A560-4B7A-9E87-EA706D8BBEFD}"/>
                </a:ext>
              </a:extLst>
            </p:cNvPr>
            <p:cNvSpPr>
              <a:spLocks noChangeShapeType="1"/>
            </p:cNvSpPr>
            <p:nvPr/>
          </p:nvSpPr>
          <p:spPr bwMode="auto">
            <a:xfrm flipV="1">
              <a:off x="1830" y="2823"/>
              <a:ext cx="1" cy="36"/>
            </a:xfrm>
            <a:prstGeom prst="line">
              <a:avLst/>
            </a:prstGeom>
            <a:noFill/>
            <a:ln w="28575">
              <a:solidFill>
                <a:schemeClr val="tx2"/>
              </a:solidFill>
              <a:round/>
              <a:headEnd/>
              <a:tailEnd/>
            </a:ln>
          </p:spPr>
          <p:txBody>
            <a:bodyPr/>
            <a:lstStyle/>
            <a:p>
              <a:endParaRPr lang="en-US"/>
            </a:p>
          </p:txBody>
        </p:sp>
        <p:sp>
          <p:nvSpPr>
            <p:cNvPr id="30" name="Line 27">
              <a:extLst>
                <a:ext uri="{FF2B5EF4-FFF2-40B4-BE49-F238E27FC236}">
                  <a16:creationId xmlns:a16="http://schemas.microsoft.com/office/drawing/2014/main" id="{61B2BF2B-623C-49C1-92AA-605D40B305C2}"/>
                </a:ext>
              </a:extLst>
            </p:cNvPr>
            <p:cNvSpPr>
              <a:spLocks noChangeShapeType="1"/>
            </p:cNvSpPr>
            <p:nvPr/>
          </p:nvSpPr>
          <p:spPr bwMode="auto">
            <a:xfrm flipV="1">
              <a:off x="1992" y="2823"/>
              <a:ext cx="1" cy="36"/>
            </a:xfrm>
            <a:prstGeom prst="line">
              <a:avLst/>
            </a:prstGeom>
            <a:noFill/>
            <a:ln w="28575">
              <a:solidFill>
                <a:schemeClr val="tx2"/>
              </a:solidFill>
              <a:round/>
              <a:headEnd/>
              <a:tailEnd/>
            </a:ln>
          </p:spPr>
          <p:txBody>
            <a:bodyPr/>
            <a:lstStyle/>
            <a:p>
              <a:endParaRPr lang="en-US"/>
            </a:p>
          </p:txBody>
        </p:sp>
        <p:sp>
          <p:nvSpPr>
            <p:cNvPr id="31" name="Line 28">
              <a:extLst>
                <a:ext uri="{FF2B5EF4-FFF2-40B4-BE49-F238E27FC236}">
                  <a16:creationId xmlns:a16="http://schemas.microsoft.com/office/drawing/2014/main" id="{E4E32B0D-3B65-401B-8476-3F199984AFBA}"/>
                </a:ext>
              </a:extLst>
            </p:cNvPr>
            <p:cNvSpPr>
              <a:spLocks noChangeShapeType="1"/>
            </p:cNvSpPr>
            <p:nvPr/>
          </p:nvSpPr>
          <p:spPr bwMode="auto">
            <a:xfrm flipV="1">
              <a:off x="2154" y="2823"/>
              <a:ext cx="1" cy="36"/>
            </a:xfrm>
            <a:prstGeom prst="line">
              <a:avLst/>
            </a:prstGeom>
            <a:noFill/>
            <a:ln w="28575">
              <a:solidFill>
                <a:schemeClr val="tx2"/>
              </a:solidFill>
              <a:round/>
              <a:headEnd/>
              <a:tailEnd/>
            </a:ln>
          </p:spPr>
          <p:txBody>
            <a:bodyPr/>
            <a:lstStyle/>
            <a:p>
              <a:endParaRPr lang="en-US"/>
            </a:p>
          </p:txBody>
        </p:sp>
        <p:sp>
          <p:nvSpPr>
            <p:cNvPr id="32" name="Line 29">
              <a:extLst>
                <a:ext uri="{FF2B5EF4-FFF2-40B4-BE49-F238E27FC236}">
                  <a16:creationId xmlns:a16="http://schemas.microsoft.com/office/drawing/2014/main" id="{F394DEEA-434D-4723-923B-863B5D0FCB7F}"/>
                </a:ext>
              </a:extLst>
            </p:cNvPr>
            <p:cNvSpPr>
              <a:spLocks noChangeShapeType="1"/>
            </p:cNvSpPr>
            <p:nvPr/>
          </p:nvSpPr>
          <p:spPr bwMode="auto">
            <a:xfrm flipV="1">
              <a:off x="2316" y="2823"/>
              <a:ext cx="1" cy="36"/>
            </a:xfrm>
            <a:prstGeom prst="line">
              <a:avLst/>
            </a:prstGeom>
            <a:noFill/>
            <a:ln w="28575">
              <a:solidFill>
                <a:schemeClr val="tx2"/>
              </a:solidFill>
              <a:round/>
              <a:headEnd/>
              <a:tailEnd/>
            </a:ln>
          </p:spPr>
          <p:txBody>
            <a:bodyPr/>
            <a:lstStyle/>
            <a:p>
              <a:endParaRPr lang="en-US"/>
            </a:p>
          </p:txBody>
        </p:sp>
        <p:sp>
          <p:nvSpPr>
            <p:cNvPr id="33" name="Line 30">
              <a:extLst>
                <a:ext uri="{FF2B5EF4-FFF2-40B4-BE49-F238E27FC236}">
                  <a16:creationId xmlns:a16="http://schemas.microsoft.com/office/drawing/2014/main" id="{1418079A-45D1-457D-9FAA-E7BF79BEEE18}"/>
                </a:ext>
              </a:extLst>
            </p:cNvPr>
            <p:cNvSpPr>
              <a:spLocks noChangeShapeType="1"/>
            </p:cNvSpPr>
            <p:nvPr/>
          </p:nvSpPr>
          <p:spPr bwMode="auto">
            <a:xfrm flipV="1">
              <a:off x="2479" y="2823"/>
              <a:ext cx="1" cy="36"/>
            </a:xfrm>
            <a:prstGeom prst="line">
              <a:avLst/>
            </a:prstGeom>
            <a:noFill/>
            <a:ln w="28575">
              <a:solidFill>
                <a:schemeClr val="tx2"/>
              </a:solidFill>
              <a:round/>
              <a:headEnd/>
              <a:tailEnd/>
            </a:ln>
          </p:spPr>
          <p:txBody>
            <a:bodyPr/>
            <a:lstStyle/>
            <a:p>
              <a:endParaRPr lang="en-US"/>
            </a:p>
          </p:txBody>
        </p:sp>
        <p:sp>
          <p:nvSpPr>
            <p:cNvPr id="34" name="Line 31">
              <a:extLst>
                <a:ext uri="{FF2B5EF4-FFF2-40B4-BE49-F238E27FC236}">
                  <a16:creationId xmlns:a16="http://schemas.microsoft.com/office/drawing/2014/main" id="{40E57043-F6C2-43D3-BE74-D3BE7594A6DA}"/>
                </a:ext>
              </a:extLst>
            </p:cNvPr>
            <p:cNvSpPr>
              <a:spLocks noChangeShapeType="1"/>
            </p:cNvSpPr>
            <p:nvPr/>
          </p:nvSpPr>
          <p:spPr bwMode="auto">
            <a:xfrm flipV="1">
              <a:off x="2632" y="2823"/>
              <a:ext cx="1" cy="36"/>
            </a:xfrm>
            <a:prstGeom prst="line">
              <a:avLst/>
            </a:prstGeom>
            <a:noFill/>
            <a:ln w="28575">
              <a:solidFill>
                <a:schemeClr val="tx2"/>
              </a:solidFill>
              <a:round/>
              <a:headEnd/>
              <a:tailEnd/>
            </a:ln>
          </p:spPr>
          <p:txBody>
            <a:bodyPr/>
            <a:lstStyle/>
            <a:p>
              <a:endParaRPr lang="en-US"/>
            </a:p>
          </p:txBody>
        </p:sp>
        <p:sp>
          <p:nvSpPr>
            <p:cNvPr id="35" name="Line 32">
              <a:extLst>
                <a:ext uri="{FF2B5EF4-FFF2-40B4-BE49-F238E27FC236}">
                  <a16:creationId xmlns:a16="http://schemas.microsoft.com/office/drawing/2014/main" id="{C09C5F79-6598-4499-89E2-6F3E5DD56B5B}"/>
                </a:ext>
              </a:extLst>
            </p:cNvPr>
            <p:cNvSpPr>
              <a:spLocks noChangeShapeType="1"/>
            </p:cNvSpPr>
            <p:nvPr/>
          </p:nvSpPr>
          <p:spPr bwMode="auto">
            <a:xfrm flipV="1">
              <a:off x="2794" y="2823"/>
              <a:ext cx="1" cy="36"/>
            </a:xfrm>
            <a:prstGeom prst="line">
              <a:avLst/>
            </a:prstGeom>
            <a:noFill/>
            <a:ln w="28575">
              <a:solidFill>
                <a:schemeClr val="tx2"/>
              </a:solidFill>
              <a:round/>
              <a:headEnd/>
              <a:tailEnd/>
            </a:ln>
          </p:spPr>
          <p:txBody>
            <a:bodyPr/>
            <a:lstStyle/>
            <a:p>
              <a:endParaRPr lang="en-US"/>
            </a:p>
          </p:txBody>
        </p:sp>
        <p:sp>
          <p:nvSpPr>
            <p:cNvPr id="36" name="Line 33">
              <a:extLst>
                <a:ext uri="{FF2B5EF4-FFF2-40B4-BE49-F238E27FC236}">
                  <a16:creationId xmlns:a16="http://schemas.microsoft.com/office/drawing/2014/main" id="{09AE652E-0D61-4AE2-83BB-C354D688BE53}"/>
                </a:ext>
              </a:extLst>
            </p:cNvPr>
            <p:cNvSpPr>
              <a:spLocks noChangeShapeType="1"/>
            </p:cNvSpPr>
            <p:nvPr/>
          </p:nvSpPr>
          <p:spPr bwMode="auto">
            <a:xfrm flipV="1">
              <a:off x="2956" y="2823"/>
              <a:ext cx="1" cy="36"/>
            </a:xfrm>
            <a:prstGeom prst="line">
              <a:avLst/>
            </a:prstGeom>
            <a:noFill/>
            <a:ln w="28575">
              <a:solidFill>
                <a:schemeClr val="tx2"/>
              </a:solidFill>
              <a:round/>
              <a:headEnd/>
              <a:tailEnd/>
            </a:ln>
          </p:spPr>
          <p:txBody>
            <a:bodyPr/>
            <a:lstStyle/>
            <a:p>
              <a:endParaRPr lang="en-US"/>
            </a:p>
          </p:txBody>
        </p:sp>
        <p:sp>
          <p:nvSpPr>
            <p:cNvPr id="37" name="Line 34">
              <a:extLst>
                <a:ext uri="{FF2B5EF4-FFF2-40B4-BE49-F238E27FC236}">
                  <a16:creationId xmlns:a16="http://schemas.microsoft.com/office/drawing/2014/main" id="{A73340C7-7B66-443E-A889-72D4A6EC310A}"/>
                </a:ext>
              </a:extLst>
            </p:cNvPr>
            <p:cNvSpPr>
              <a:spLocks noChangeShapeType="1"/>
            </p:cNvSpPr>
            <p:nvPr/>
          </p:nvSpPr>
          <p:spPr bwMode="auto">
            <a:xfrm flipV="1">
              <a:off x="3118" y="2823"/>
              <a:ext cx="1" cy="36"/>
            </a:xfrm>
            <a:prstGeom prst="line">
              <a:avLst/>
            </a:prstGeom>
            <a:noFill/>
            <a:ln w="28575">
              <a:solidFill>
                <a:schemeClr val="tx2"/>
              </a:solidFill>
              <a:round/>
              <a:headEnd/>
              <a:tailEnd/>
            </a:ln>
          </p:spPr>
          <p:txBody>
            <a:bodyPr/>
            <a:lstStyle/>
            <a:p>
              <a:endParaRPr lang="en-US"/>
            </a:p>
          </p:txBody>
        </p:sp>
        <p:sp>
          <p:nvSpPr>
            <p:cNvPr id="38" name="Line 35">
              <a:extLst>
                <a:ext uri="{FF2B5EF4-FFF2-40B4-BE49-F238E27FC236}">
                  <a16:creationId xmlns:a16="http://schemas.microsoft.com/office/drawing/2014/main" id="{ED3F2567-A399-4F3E-A8D7-A2B5CFEE2BB4}"/>
                </a:ext>
              </a:extLst>
            </p:cNvPr>
            <p:cNvSpPr>
              <a:spLocks noChangeShapeType="1"/>
            </p:cNvSpPr>
            <p:nvPr/>
          </p:nvSpPr>
          <p:spPr bwMode="auto">
            <a:xfrm flipV="1">
              <a:off x="3281" y="2823"/>
              <a:ext cx="1" cy="36"/>
            </a:xfrm>
            <a:prstGeom prst="line">
              <a:avLst/>
            </a:prstGeom>
            <a:noFill/>
            <a:ln w="28575">
              <a:solidFill>
                <a:schemeClr val="tx2"/>
              </a:solidFill>
              <a:round/>
              <a:headEnd/>
              <a:tailEnd/>
            </a:ln>
          </p:spPr>
          <p:txBody>
            <a:bodyPr/>
            <a:lstStyle/>
            <a:p>
              <a:endParaRPr lang="en-US"/>
            </a:p>
          </p:txBody>
        </p:sp>
        <p:sp>
          <p:nvSpPr>
            <p:cNvPr id="39" name="Line 36">
              <a:extLst>
                <a:ext uri="{FF2B5EF4-FFF2-40B4-BE49-F238E27FC236}">
                  <a16:creationId xmlns:a16="http://schemas.microsoft.com/office/drawing/2014/main" id="{A99AB782-F206-4314-B6FB-817801A3FABC}"/>
                </a:ext>
              </a:extLst>
            </p:cNvPr>
            <p:cNvSpPr>
              <a:spLocks noChangeShapeType="1"/>
            </p:cNvSpPr>
            <p:nvPr/>
          </p:nvSpPr>
          <p:spPr bwMode="auto">
            <a:xfrm flipV="1">
              <a:off x="3434" y="2823"/>
              <a:ext cx="1" cy="36"/>
            </a:xfrm>
            <a:prstGeom prst="line">
              <a:avLst/>
            </a:prstGeom>
            <a:noFill/>
            <a:ln w="28575">
              <a:solidFill>
                <a:schemeClr val="tx2"/>
              </a:solidFill>
              <a:round/>
              <a:headEnd/>
              <a:tailEnd/>
            </a:ln>
          </p:spPr>
          <p:txBody>
            <a:bodyPr/>
            <a:lstStyle/>
            <a:p>
              <a:endParaRPr lang="en-US"/>
            </a:p>
          </p:txBody>
        </p:sp>
        <p:sp>
          <p:nvSpPr>
            <p:cNvPr id="40" name="Line 37">
              <a:extLst>
                <a:ext uri="{FF2B5EF4-FFF2-40B4-BE49-F238E27FC236}">
                  <a16:creationId xmlns:a16="http://schemas.microsoft.com/office/drawing/2014/main" id="{F21D3580-2897-407B-9B3B-54B58B9ECE47}"/>
                </a:ext>
              </a:extLst>
            </p:cNvPr>
            <p:cNvSpPr>
              <a:spLocks noChangeShapeType="1"/>
            </p:cNvSpPr>
            <p:nvPr/>
          </p:nvSpPr>
          <p:spPr bwMode="auto">
            <a:xfrm flipV="1">
              <a:off x="3596" y="2823"/>
              <a:ext cx="1" cy="36"/>
            </a:xfrm>
            <a:prstGeom prst="line">
              <a:avLst/>
            </a:prstGeom>
            <a:noFill/>
            <a:ln w="28575">
              <a:solidFill>
                <a:schemeClr val="tx2"/>
              </a:solidFill>
              <a:round/>
              <a:headEnd/>
              <a:tailEnd/>
            </a:ln>
          </p:spPr>
          <p:txBody>
            <a:bodyPr/>
            <a:lstStyle/>
            <a:p>
              <a:endParaRPr lang="en-US"/>
            </a:p>
          </p:txBody>
        </p:sp>
        <p:sp>
          <p:nvSpPr>
            <p:cNvPr id="41" name="Line 38">
              <a:extLst>
                <a:ext uri="{FF2B5EF4-FFF2-40B4-BE49-F238E27FC236}">
                  <a16:creationId xmlns:a16="http://schemas.microsoft.com/office/drawing/2014/main" id="{741131E3-A34A-4D67-BE65-D9FB83688408}"/>
                </a:ext>
              </a:extLst>
            </p:cNvPr>
            <p:cNvSpPr>
              <a:spLocks noChangeShapeType="1"/>
            </p:cNvSpPr>
            <p:nvPr/>
          </p:nvSpPr>
          <p:spPr bwMode="auto">
            <a:xfrm flipV="1">
              <a:off x="3758" y="2823"/>
              <a:ext cx="1" cy="36"/>
            </a:xfrm>
            <a:prstGeom prst="line">
              <a:avLst/>
            </a:prstGeom>
            <a:noFill/>
            <a:ln w="28575">
              <a:solidFill>
                <a:schemeClr val="tx2"/>
              </a:solidFill>
              <a:round/>
              <a:headEnd/>
              <a:tailEnd/>
            </a:ln>
          </p:spPr>
          <p:txBody>
            <a:bodyPr/>
            <a:lstStyle/>
            <a:p>
              <a:endParaRPr lang="en-US"/>
            </a:p>
          </p:txBody>
        </p:sp>
        <p:sp>
          <p:nvSpPr>
            <p:cNvPr id="42" name="Line 39">
              <a:extLst>
                <a:ext uri="{FF2B5EF4-FFF2-40B4-BE49-F238E27FC236}">
                  <a16:creationId xmlns:a16="http://schemas.microsoft.com/office/drawing/2014/main" id="{36BFA310-9343-4A08-B324-FFC17481D7BB}"/>
                </a:ext>
              </a:extLst>
            </p:cNvPr>
            <p:cNvSpPr>
              <a:spLocks noChangeShapeType="1"/>
            </p:cNvSpPr>
            <p:nvPr/>
          </p:nvSpPr>
          <p:spPr bwMode="auto">
            <a:xfrm flipV="1">
              <a:off x="3920" y="2823"/>
              <a:ext cx="1" cy="36"/>
            </a:xfrm>
            <a:prstGeom prst="line">
              <a:avLst/>
            </a:prstGeom>
            <a:noFill/>
            <a:ln w="28575">
              <a:solidFill>
                <a:schemeClr val="tx2"/>
              </a:solidFill>
              <a:round/>
              <a:headEnd/>
              <a:tailEnd/>
            </a:ln>
          </p:spPr>
          <p:txBody>
            <a:bodyPr/>
            <a:lstStyle/>
            <a:p>
              <a:endParaRPr lang="en-US"/>
            </a:p>
          </p:txBody>
        </p:sp>
        <p:sp>
          <p:nvSpPr>
            <p:cNvPr id="43" name="Line 40">
              <a:extLst>
                <a:ext uri="{FF2B5EF4-FFF2-40B4-BE49-F238E27FC236}">
                  <a16:creationId xmlns:a16="http://schemas.microsoft.com/office/drawing/2014/main" id="{464FA6C4-9CC6-4616-B272-117A9396B041}"/>
                </a:ext>
              </a:extLst>
            </p:cNvPr>
            <p:cNvSpPr>
              <a:spLocks noChangeShapeType="1"/>
            </p:cNvSpPr>
            <p:nvPr/>
          </p:nvSpPr>
          <p:spPr bwMode="auto">
            <a:xfrm flipV="1">
              <a:off x="4083" y="2823"/>
              <a:ext cx="1" cy="36"/>
            </a:xfrm>
            <a:prstGeom prst="line">
              <a:avLst/>
            </a:prstGeom>
            <a:noFill/>
            <a:ln w="28575">
              <a:solidFill>
                <a:schemeClr val="tx2"/>
              </a:solidFill>
              <a:round/>
              <a:headEnd/>
              <a:tailEnd/>
            </a:ln>
          </p:spPr>
          <p:txBody>
            <a:bodyPr/>
            <a:lstStyle/>
            <a:p>
              <a:endParaRPr lang="en-US"/>
            </a:p>
          </p:txBody>
        </p:sp>
        <p:sp>
          <p:nvSpPr>
            <p:cNvPr id="44" name="Line 41">
              <a:extLst>
                <a:ext uri="{FF2B5EF4-FFF2-40B4-BE49-F238E27FC236}">
                  <a16:creationId xmlns:a16="http://schemas.microsoft.com/office/drawing/2014/main" id="{98A4C204-51ED-448E-93E9-A220A03D6FDF}"/>
                </a:ext>
              </a:extLst>
            </p:cNvPr>
            <p:cNvSpPr>
              <a:spLocks noChangeShapeType="1"/>
            </p:cNvSpPr>
            <p:nvPr/>
          </p:nvSpPr>
          <p:spPr bwMode="auto">
            <a:xfrm flipV="1">
              <a:off x="4236" y="2823"/>
              <a:ext cx="1" cy="36"/>
            </a:xfrm>
            <a:prstGeom prst="line">
              <a:avLst/>
            </a:prstGeom>
            <a:noFill/>
            <a:ln w="28575">
              <a:solidFill>
                <a:schemeClr val="tx2"/>
              </a:solidFill>
              <a:round/>
              <a:headEnd/>
              <a:tailEnd/>
            </a:ln>
          </p:spPr>
          <p:txBody>
            <a:bodyPr/>
            <a:lstStyle/>
            <a:p>
              <a:endParaRPr lang="en-US"/>
            </a:p>
          </p:txBody>
        </p:sp>
        <p:sp>
          <p:nvSpPr>
            <p:cNvPr id="45" name="Line 42">
              <a:extLst>
                <a:ext uri="{FF2B5EF4-FFF2-40B4-BE49-F238E27FC236}">
                  <a16:creationId xmlns:a16="http://schemas.microsoft.com/office/drawing/2014/main" id="{546C027C-21D4-4C75-AE75-32389E2D737F}"/>
                </a:ext>
              </a:extLst>
            </p:cNvPr>
            <p:cNvSpPr>
              <a:spLocks noChangeShapeType="1"/>
            </p:cNvSpPr>
            <p:nvPr/>
          </p:nvSpPr>
          <p:spPr bwMode="auto">
            <a:xfrm flipV="1">
              <a:off x="4398" y="2823"/>
              <a:ext cx="1" cy="36"/>
            </a:xfrm>
            <a:prstGeom prst="line">
              <a:avLst/>
            </a:prstGeom>
            <a:noFill/>
            <a:ln w="28575">
              <a:solidFill>
                <a:schemeClr val="tx2"/>
              </a:solidFill>
              <a:round/>
              <a:headEnd/>
              <a:tailEnd/>
            </a:ln>
          </p:spPr>
          <p:txBody>
            <a:bodyPr/>
            <a:lstStyle/>
            <a:p>
              <a:endParaRPr lang="en-US"/>
            </a:p>
          </p:txBody>
        </p:sp>
        <p:sp>
          <p:nvSpPr>
            <p:cNvPr id="46" name="Line 43">
              <a:extLst>
                <a:ext uri="{FF2B5EF4-FFF2-40B4-BE49-F238E27FC236}">
                  <a16:creationId xmlns:a16="http://schemas.microsoft.com/office/drawing/2014/main" id="{CC189B11-73A7-406B-8C49-5CC9E50560EE}"/>
                </a:ext>
              </a:extLst>
            </p:cNvPr>
            <p:cNvSpPr>
              <a:spLocks noChangeShapeType="1"/>
            </p:cNvSpPr>
            <p:nvPr/>
          </p:nvSpPr>
          <p:spPr bwMode="auto">
            <a:xfrm flipV="1">
              <a:off x="4560" y="2823"/>
              <a:ext cx="1" cy="36"/>
            </a:xfrm>
            <a:prstGeom prst="line">
              <a:avLst/>
            </a:prstGeom>
            <a:noFill/>
            <a:ln w="28575">
              <a:solidFill>
                <a:schemeClr val="tx2"/>
              </a:solidFill>
              <a:round/>
              <a:headEnd/>
              <a:tailEnd/>
            </a:ln>
          </p:spPr>
          <p:txBody>
            <a:bodyPr/>
            <a:lstStyle/>
            <a:p>
              <a:endParaRPr lang="en-US"/>
            </a:p>
          </p:txBody>
        </p:sp>
        <p:sp>
          <p:nvSpPr>
            <p:cNvPr id="47" name="Line 44">
              <a:extLst>
                <a:ext uri="{FF2B5EF4-FFF2-40B4-BE49-F238E27FC236}">
                  <a16:creationId xmlns:a16="http://schemas.microsoft.com/office/drawing/2014/main" id="{C7836E1D-3D30-4FF4-BE46-458B4E7AFD2A}"/>
                </a:ext>
              </a:extLst>
            </p:cNvPr>
            <p:cNvSpPr>
              <a:spLocks noChangeShapeType="1"/>
            </p:cNvSpPr>
            <p:nvPr/>
          </p:nvSpPr>
          <p:spPr bwMode="auto">
            <a:xfrm flipV="1">
              <a:off x="1352" y="2814"/>
              <a:ext cx="1" cy="90"/>
            </a:xfrm>
            <a:prstGeom prst="line">
              <a:avLst/>
            </a:prstGeom>
            <a:noFill/>
            <a:ln w="28575">
              <a:solidFill>
                <a:schemeClr val="tx2"/>
              </a:solidFill>
              <a:round/>
              <a:headEnd/>
              <a:tailEnd/>
            </a:ln>
          </p:spPr>
          <p:txBody>
            <a:bodyPr/>
            <a:lstStyle/>
            <a:p>
              <a:endParaRPr lang="en-US"/>
            </a:p>
          </p:txBody>
        </p:sp>
        <p:sp>
          <p:nvSpPr>
            <p:cNvPr id="48" name="Line 45">
              <a:extLst>
                <a:ext uri="{FF2B5EF4-FFF2-40B4-BE49-F238E27FC236}">
                  <a16:creationId xmlns:a16="http://schemas.microsoft.com/office/drawing/2014/main" id="{A379D7F4-F635-41F4-8777-12FD832EE1EF}"/>
                </a:ext>
              </a:extLst>
            </p:cNvPr>
            <p:cNvSpPr>
              <a:spLocks noChangeShapeType="1"/>
            </p:cNvSpPr>
            <p:nvPr/>
          </p:nvSpPr>
          <p:spPr bwMode="auto">
            <a:xfrm flipV="1">
              <a:off x="2154" y="2814"/>
              <a:ext cx="1" cy="90"/>
            </a:xfrm>
            <a:prstGeom prst="line">
              <a:avLst/>
            </a:prstGeom>
            <a:noFill/>
            <a:ln w="28575">
              <a:solidFill>
                <a:schemeClr val="tx2"/>
              </a:solidFill>
              <a:round/>
              <a:headEnd/>
              <a:tailEnd/>
            </a:ln>
          </p:spPr>
          <p:txBody>
            <a:bodyPr/>
            <a:lstStyle/>
            <a:p>
              <a:endParaRPr lang="en-US"/>
            </a:p>
          </p:txBody>
        </p:sp>
        <p:sp>
          <p:nvSpPr>
            <p:cNvPr id="49" name="Line 46">
              <a:extLst>
                <a:ext uri="{FF2B5EF4-FFF2-40B4-BE49-F238E27FC236}">
                  <a16:creationId xmlns:a16="http://schemas.microsoft.com/office/drawing/2014/main" id="{87F3E530-EF5F-4035-A8E1-CBC80CF9C3EE}"/>
                </a:ext>
              </a:extLst>
            </p:cNvPr>
            <p:cNvSpPr>
              <a:spLocks noChangeShapeType="1"/>
            </p:cNvSpPr>
            <p:nvPr/>
          </p:nvSpPr>
          <p:spPr bwMode="auto">
            <a:xfrm flipV="1">
              <a:off x="2956" y="2814"/>
              <a:ext cx="1" cy="90"/>
            </a:xfrm>
            <a:prstGeom prst="line">
              <a:avLst/>
            </a:prstGeom>
            <a:noFill/>
            <a:ln w="28575">
              <a:solidFill>
                <a:schemeClr val="tx2"/>
              </a:solidFill>
              <a:round/>
              <a:headEnd/>
              <a:tailEnd/>
            </a:ln>
          </p:spPr>
          <p:txBody>
            <a:bodyPr/>
            <a:lstStyle/>
            <a:p>
              <a:endParaRPr lang="en-US"/>
            </a:p>
          </p:txBody>
        </p:sp>
        <p:sp>
          <p:nvSpPr>
            <p:cNvPr id="50" name="Line 47">
              <a:extLst>
                <a:ext uri="{FF2B5EF4-FFF2-40B4-BE49-F238E27FC236}">
                  <a16:creationId xmlns:a16="http://schemas.microsoft.com/office/drawing/2014/main" id="{15EC81A4-AE71-4CB0-98F2-C31B208D2C8D}"/>
                </a:ext>
              </a:extLst>
            </p:cNvPr>
            <p:cNvSpPr>
              <a:spLocks noChangeShapeType="1"/>
            </p:cNvSpPr>
            <p:nvPr/>
          </p:nvSpPr>
          <p:spPr bwMode="auto">
            <a:xfrm flipV="1">
              <a:off x="3758" y="2814"/>
              <a:ext cx="1" cy="90"/>
            </a:xfrm>
            <a:prstGeom prst="line">
              <a:avLst/>
            </a:prstGeom>
            <a:noFill/>
            <a:ln w="28575">
              <a:solidFill>
                <a:schemeClr val="tx2"/>
              </a:solidFill>
              <a:round/>
              <a:headEnd/>
              <a:tailEnd/>
            </a:ln>
          </p:spPr>
          <p:txBody>
            <a:bodyPr/>
            <a:lstStyle/>
            <a:p>
              <a:endParaRPr lang="en-US"/>
            </a:p>
          </p:txBody>
        </p:sp>
        <p:sp>
          <p:nvSpPr>
            <p:cNvPr id="51" name="Line 48">
              <a:extLst>
                <a:ext uri="{FF2B5EF4-FFF2-40B4-BE49-F238E27FC236}">
                  <a16:creationId xmlns:a16="http://schemas.microsoft.com/office/drawing/2014/main" id="{6CFA75BC-F485-4582-84A3-48B789AE30E8}"/>
                </a:ext>
              </a:extLst>
            </p:cNvPr>
            <p:cNvSpPr>
              <a:spLocks noChangeShapeType="1"/>
            </p:cNvSpPr>
            <p:nvPr/>
          </p:nvSpPr>
          <p:spPr bwMode="auto">
            <a:xfrm flipV="1">
              <a:off x="4560" y="2814"/>
              <a:ext cx="1" cy="90"/>
            </a:xfrm>
            <a:prstGeom prst="line">
              <a:avLst/>
            </a:prstGeom>
            <a:noFill/>
            <a:ln w="28575">
              <a:solidFill>
                <a:schemeClr val="tx2"/>
              </a:solidFill>
              <a:round/>
              <a:headEnd/>
              <a:tailEnd/>
            </a:ln>
          </p:spPr>
          <p:txBody>
            <a:bodyPr/>
            <a:lstStyle/>
            <a:p>
              <a:endParaRPr lang="en-US"/>
            </a:p>
          </p:txBody>
        </p:sp>
        <p:sp>
          <p:nvSpPr>
            <p:cNvPr id="52" name="Freeform 49">
              <a:extLst>
                <a:ext uri="{FF2B5EF4-FFF2-40B4-BE49-F238E27FC236}">
                  <a16:creationId xmlns:a16="http://schemas.microsoft.com/office/drawing/2014/main" id="{CD0AAF13-9ACD-4C41-8810-EF82F4C5ABFD}"/>
                </a:ext>
              </a:extLst>
            </p:cNvPr>
            <p:cNvSpPr>
              <a:spLocks/>
            </p:cNvSpPr>
            <p:nvPr/>
          </p:nvSpPr>
          <p:spPr bwMode="auto">
            <a:xfrm>
              <a:off x="1406" y="2643"/>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53" name="Freeform 50">
              <a:extLst>
                <a:ext uri="{FF2B5EF4-FFF2-40B4-BE49-F238E27FC236}">
                  <a16:creationId xmlns:a16="http://schemas.microsoft.com/office/drawing/2014/main" id="{CEAD410E-6375-42DD-841D-4C78CDAA057C}"/>
                </a:ext>
              </a:extLst>
            </p:cNvPr>
            <p:cNvSpPr>
              <a:spLocks/>
            </p:cNvSpPr>
            <p:nvPr/>
          </p:nvSpPr>
          <p:spPr bwMode="auto">
            <a:xfrm>
              <a:off x="1487" y="2634"/>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54" name="Freeform 51">
              <a:extLst>
                <a:ext uri="{FF2B5EF4-FFF2-40B4-BE49-F238E27FC236}">
                  <a16:creationId xmlns:a16="http://schemas.microsoft.com/office/drawing/2014/main" id="{4344808F-978C-49F2-940E-C16CCC975005}"/>
                </a:ext>
              </a:extLst>
            </p:cNvPr>
            <p:cNvSpPr>
              <a:spLocks/>
            </p:cNvSpPr>
            <p:nvPr/>
          </p:nvSpPr>
          <p:spPr bwMode="auto">
            <a:xfrm>
              <a:off x="1649" y="2634"/>
              <a:ext cx="91" cy="90"/>
            </a:xfrm>
            <a:custGeom>
              <a:avLst/>
              <a:gdLst/>
              <a:ahLst/>
              <a:cxnLst>
                <a:cxn ang="0">
                  <a:pos x="45" y="0"/>
                </a:cxn>
                <a:cxn ang="0">
                  <a:pos x="91" y="45"/>
                </a:cxn>
                <a:cxn ang="0">
                  <a:pos x="45" y="90"/>
                </a:cxn>
                <a:cxn ang="0">
                  <a:pos x="0" y="45"/>
                </a:cxn>
                <a:cxn ang="0">
                  <a:pos x="45" y="0"/>
                </a:cxn>
              </a:cxnLst>
              <a:rect l="0" t="0" r="r" b="b"/>
              <a:pathLst>
                <a:path w="91" h="90">
                  <a:moveTo>
                    <a:pt x="45" y="0"/>
                  </a:moveTo>
                  <a:lnTo>
                    <a:pt x="91"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55" name="Freeform 52">
              <a:extLst>
                <a:ext uri="{FF2B5EF4-FFF2-40B4-BE49-F238E27FC236}">
                  <a16:creationId xmlns:a16="http://schemas.microsoft.com/office/drawing/2014/main" id="{06EF61E3-D66F-4FAD-90A6-277D5111B63D}"/>
                </a:ext>
              </a:extLst>
            </p:cNvPr>
            <p:cNvSpPr>
              <a:spLocks/>
            </p:cNvSpPr>
            <p:nvPr/>
          </p:nvSpPr>
          <p:spPr bwMode="auto">
            <a:xfrm>
              <a:off x="1803" y="2634"/>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56" name="Freeform 53">
              <a:extLst>
                <a:ext uri="{FF2B5EF4-FFF2-40B4-BE49-F238E27FC236}">
                  <a16:creationId xmlns:a16="http://schemas.microsoft.com/office/drawing/2014/main" id="{2CFC2B6E-8B5C-409A-908D-0C6D217961C6}"/>
                </a:ext>
              </a:extLst>
            </p:cNvPr>
            <p:cNvSpPr>
              <a:spLocks/>
            </p:cNvSpPr>
            <p:nvPr/>
          </p:nvSpPr>
          <p:spPr bwMode="auto">
            <a:xfrm>
              <a:off x="1965" y="2409"/>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57" name="Freeform 54">
              <a:extLst>
                <a:ext uri="{FF2B5EF4-FFF2-40B4-BE49-F238E27FC236}">
                  <a16:creationId xmlns:a16="http://schemas.microsoft.com/office/drawing/2014/main" id="{B0B7AB16-C0AE-4CBD-9CE7-0B8DC2F5DC11}"/>
                </a:ext>
              </a:extLst>
            </p:cNvPr>
            <p:cNvSpPr>
              <a:spLocks/>
            </p:cNvSpPr>
            <p:nvPr/>
          </p:nvSpPr>
          <p:spPr bwMode="auto">
            <a:xfrm>
              <a:off x="2289" y="2499"/>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58" name="Freeform 55">
              <a:extLst>
                <a:ext uri="{FF2B5EF4-FFF2-40B4-BE49-F238E27FC236}">
                  <a16:creationId xmlns:a16="http://schemas.microsoft.com/office/drawing/2014/main" id="{6D3B7820-E9B2-4E5F-8202-9F8422110CE0}"/>
                </a:ext>
              </a:extLst>
            </p:cNvPr>
            <p:cNvSpPr>
              <a:spLocks/>
            </p:cNvSpPr>
            <p:nvPr/>
          </p:nvSpPr>
          <p:spPr bwMode="auto">
            <a:xfrm>
              <a:off x="2533" y="2706"/>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59" name="Freeform 56">
              <a:extLst>
                <a:ext uri="{FF2B5EF4-FFF2-40B4-BE49-F238E27FC236}">
                  <a16:creationId xmlns:a16="http://schemas.microsoft.com/office/drawing/2014/main" id="{5F888CE5-6564-4EED-B7F4-4D24ED1A18B8}"/>
                </a:ext>
              </a:extLst>
            </p:cNvPr>
            <p:cNvSpPr>
              <a:spLocks/>
            </p:cNvSpPr>
            <p:nvPr/>
          </p:nvSpPr>
          <p:spPr bwMode="auto">
            <a:xfrm>
              <a:off x="2848" y="2634"/>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60" name="Freeform 57">
              <a:extLst>
                <a:ext uri="{FF2B5EF4-FFF2-40B4-BE49-F238E27FC236}">
                  <a16:creationId xmlns:a16="http://schemas.microsoft.com/office/drawing/2014/main" id="{AA55F697-E802-47E6-A3D8-4591B393F4FA}"/>
                </a:ext>
              </a:extLst>
            </p:cNvPr>
            <p:cNvSpPr>
              <a:spLocks/>
            </p:cNvSpPr>
            <p:nvPr/>
          </p:nvSpPr>
          <p:spPr bwMode="auto">
            <a:xfrm>
              <a:off x="3091" y="2472"/>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61" name="Freeform 58">
              <a:extLst>
                <a:ext uri="{FF2B5EF4-FFF2-40B4-BE49-F238E27FC236}">
                  <a16:creationId xmlns:a16="http://schemas.microsoft.com/office/drawing/2014/main" id="{CF8F601A-3D18-4167-998A-144A2073F234}"/>
                </a:ext>
              </a:extLst>
            </p:cNvPr>
            <p:cNvSpPr>
              <a:spLocks/>
            </p:cNvSpPr>
            <p:nvPr/>
          </p:nvSpPr>
          <p:spPr bwMode="auto">
            <a:xfrm>
              <a:off x="3335" y="2373"/>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62" name="Freeform 59">
              <a:extLst>
                <a:ext uri="{FF2B5EF4-FFF2-40B4-BE49-F238E27FC236}">
                  <a16:creationId xmlns:a16="http://schemas.microsoft.com/office/drawing/2014/main" id="{C4F01909-B329-4350-92F3-9898E394CF73}"/>
                </a:ext>
              </a:extLst>
            </p:cNvPr>
            <p:cNvSpPr>
              <a:spLocks/>
            </p:cNvSpPr>
            <p:nvPr/>
          </p:nvSpPr>
          <p:spPr bwMode="auto">
            <a:xfrm>
              <a:off x="3731" y="2147"/>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000000"/>
            </a:solidFill>
            <a:ln w="14288">
              <a:solidFill>
                <a:srgbClr val="000000"/>
              </a:solidFill>
              <a:prstDash val="solid"/>
              <a:round/>
              <a:headEnd/>
              <a:tailEnd/>
            </a:ln>
          </p:spPr>
          <p:txBody>
            <a:bodyPr/>
            <a:lstStyle/>
            <a:p>
              <a:endParaRPr lang="en-US"/>
            </a:p>
          </p:txBody>
        </p:sp>
        <p:sp>
          <p:nvSpPr>
            <p:cNvPr id="63" name="Line 60">
              <a:extLst>
                <a:ext uri="{FF2B5EF4-FFF2-40B4-BE49-F238E27FC236}">
                  <a16:creationId xmlns:a16="http://schemas.microsoft.com/office/drawing/2014/main" id="{58699DEA-1F08-4443-A8F3-18D19EABF42A}"/>
                </a:ext>
              </a:extLst>
            </p:cNvPr>
            <p:cNvSpPr>
              <a:spLocks noChangeShapeType="1"/>
            </p:cNvSpPr>
            <p:nvPr/>
          </p:nvSpPr>
          <p:spPr bwMode="auto">
            <a:xfrm flipV="1">
              <a:off x="1433" y="2661"/>
              <a:ext cx="81" cy="9"/>
            </a:xfrm>
            <a:prstGeom prst="line">
              <a:avLst/>
            </a:prstGeom>
            <a:noFill/>
            <a:ln w="28575">
              <a:solidFill>
                <a:srgbClr val="FF9900"/>
              </a:solidFill>
              <a:round/>
              <a:headEnd/>
              <a:tailEnd/>
            </a:ln>
          </p:spPr>
          <p:txBody>
            <a:bodyPr/>
            <a:lstStyle/>
            <a:p>
              <a:endParaRPr lang="en-US"/>
            </a:p>
          </p:txBody>
        </p:sp>
        <p:sp>
          <p:nvSpPr>
            <p:cNvPr id="64" name="Line 61">
              <a:extLst>
                <a:ext uri="{FF2B5EF4-FFF2-40B4-BE49-F238E27FC236}">
                  <a16:creationId xmlns:a16="http://schemas.microsoft.com/office/drawing/2014/main" id="{72FC2890-AB9F-4F88-9139-2D588DB9798B}"/>
                </a:ext>
              </a:extLst>
            </p:cNvPr>
            <p:cNvSpPr>
              <a:spLocks noChangeShapeType="1"/>
            </p:cNvSpPr>
            <p:nvPr/>
          </p:nvSpPr>
          <p:spPr bwMode="auto">
            <a:xfrm>
              <a:off x="1514" y="2661"/>
              <a:ext cx="162" cy="1"/>
            </a:xfrm>
            <a:prstGeom prst="line">
              <a:avLst/>
            </a:prstGeom>
            <a:noFill/>
            <a:ln w="28575">
              <a:solidFill>
                <a:srgbClr val="FF9900"/>
              </a:solidFill>
              <a:round/>
              <a:headEnd/>
              <a:tailEnd/>
            </a:ln>
          </p:spPr>
          <p:txBody>
            <a:bodyPr/>
            <a:lstStyle/>
            <a:p>
              <a:endParaRPr lang="en-US"/>
            </a:p>
          </p:txBody>
        </p:sp>
        <p:sp>
          <p:nvSpPr>
            <p:cNvPr id="65" name="Line 62">
              <a:extLst>
                <a:ext uri="{FF2B5EF4-FFF2-40B4-BE49-F238E27FC236}">
                  <a16:creationId xmlns:a16="http://schemas.microsoft.com/office/drawing/2014/main" id="{3EA3DCCE-4E39-4495-9A3A-2D1B282912D2}"/>
                </a:ext>
              </a:extLst>
            </p:cNvPr>
            <p:cNvSpPr>
              <a:spLocks noChangeShapeType="1"/>
            </p:cNvSpPr>
            <p:nvPr/>
          </p:nvSpPr>
          <p:spPr bwMode="auto">
            <a:xfrm>
              <a:off x="1676" y="2661"/>
              <a:ext cx="154" cy="1"/>
            </a:xfrm>
            <a:prstGeom prst="line">
              <a:avLst/>
            </a:prstGeom>
            <a:noFill/>
            <a:ln w="28575">
              <a:solidFill>
                <a:srgbClr val="FF9900"/>
              </a:solidFill>
              <a:round/>
              <a:headEnd/>
              <a:tailEnd/>
            </a:ln>
          </p:spPr>
          <p:txBody>
            <a:bodyPr/>
            <a:lstStyle/>
            <a:p>
              <a:endParaRPr lang="en-US"/>
            </a:p>
          </p:txBody>
        </p:sp>
        <p:sp>
          <p:nvSpPr>
            <p:cNvPr id="66" name="Line 63">
              <a:extLst>
                <a:ext uri="{FF2B5EF4-FFF2-40B4-BE49-F238E27FC236}">
                  <a16:creationId xmlns:a16="http://schemas.microsoft.com/office/drawing/2014/main" id="{17109DE5-040A-4B27-A991-161CB64A3357}"/>
                </a:ext>
              </a:extLst>
            </p:cNvPr>
            <p:cNvSpPr>
              <a:spLocks noChangeShapeType="1"/>
            </p:cNvSpPr>
            <p:nvPr/>
          </p:nvSpPr>
          <p:spPr bwMode="auto">
            <a:xfrm flipV="1">
              <a:off x="1830" y="2436"/>
              <a:ext cx="162" cy="225"/>
            </a:xfrm>
            <a:prstGeom prst="line">
              <a:avLst/>
            </a:prstGeom>
            <a:noFill/>
            <a:ln w="28575">
              <a:solidFill>
                <a:srgbClr val="FF9900"/>
              </a:solidFill>
              <a:round/>
              <a:headEnd/>
              <a:tailEnd/>
            </a:ln>
          </p:spPr>
          <p:txBody>
            <a:bodyPr/>
            <a:lstStyle/>
            <a:p>
              <a:endParaRPr lang="en-US"/>
            </a:p>
          </p:txBody>
        </p:sp>
        <p:sp>
          <p:nvSpPr>
            <p:cNvPr id="67" name="Line 64">
              <a:extLst>
                <a:ext uri="{FF2B5EF4-FFF2-40B4-BE49-F238E27FC236}">
                  <a16:creationId xmlns:a16="http://schemas.microsoft.com/office/drawing/2014/main" id="{87CE55F3-53C7-4BCA-8899-76BB746F83BC}"/>
                </a:ext>
              </a:extLst>
            </p:cNvPr>
            <p:cNvSpPr>
              <a:spLocks noChangeShapeType="1"/>
            </p:cNvSpPr>
            <p:nvPr/>
          </p:nvSpPr>
          <p:spPr bwMode="auto">
            <a:xfrm>
              <a:off x="1992" y="2436"/>
              <a:ext cx="324" cy="90"/>
            </a:xfrm>
            <a:prstGeom prst="line">
              <a:avLst/>
            </a:prstGeom>
            <a:noFill/>
            <a:ln w="28575">
              <a:solidFill>
                <a:srgbClr val="FF9900"/>
              </a:solidFill>
              <a:round/>
              <a:headEnd/>
              <a:tailEnd/>
            </a:ln>
          </p:spPr>
          <p:txBody>
            <a:bodyPr/>
            <a:lstStyle/>
            <a:p>
              <a:endParaRPr lang="en-US"/>
            </a:p>
          </p:txBody>
        </p:sp>
        <p:sp>
          <p:nvSpPr>
            <p:cNvPr id="68" name="Line 65">
              <a:extLst>
                <a:ext uri="{FF2B5EF4-FFF2-40B4-BE49-F238E27FC236}">
                  <a16:creationId xmlns:a16="http://schemas.microsoft.com/office/drawing/2014/main" id="{0D224F93-30CE-4626-8E81-EBA45AB91FD6}"/>
                </a:ext>
              </a:extLst>
            </p:cNvPr>
            <p:cNvSpPr>
              <a:spLocks noChangeShapeType="1"/>
            </p:cNvSpPr>
            <p:nvPr/>
          </p:nvSpPr>
          <p:spPr bwMode="auto">
            <a:xfrm>
              <a:off x="2316" y="2526"/>
              <a:ext cx="244" cy="207"/>
            </a:xfrm>
            <a:prstGeom prst="line">
              <a:avLst/>
            </a:prstGeom>
            <a:noFill/>
            <a:ln w="28575">
              <a:solidFill>
                <a:srgbClr val="FF9900"/>
              </a:solidFill>
              <a:round/>
              <a:headEnd/>
              <a:tailEnd/>
            </a:ln>
          </p:spPr>
          <p:txBody>
            <a:bodyPr/>
            <a:lstStyle/>
            <a:p>
              <a:endParaRPr lang="en-US"/>
            </a:p>
          </p:txBody>
        </p:sp>
        <p:sp>
          <p:nvSpPr>
            <p:cNvPr id="69" name="Line 66">
              <a:extLst>
                <a:ext uri="{FF2B5EF4-FFF2-40B4-BE49-F238E27FC236}">
                  <a16:creationId xmlns:a16="http://schemas.microsoft.com/office/drawing/2014/main" id="{BF10C55F-8AEB-423E-8C83-65E46E575297}"/>
                </a:ext>
              </a:extLst>
            </p:cNvPr>
            <p:cNvSpPr>
              <a:spLocks noChangeShapeType="1"/>
            </p:cNvSpPr>
            <p:nvPr/>
          </p:nvSpPr>
          <p:spPr bwMode="auto">
            <a:xfrm flipV="1">
              <a:off x="2560" y="2661"/>
              <a:ext cx="315" cy="72"/>
            </a:xfrm>
            <a:prstGeom prst="line">
              <a:avLst/>
            </a:prstGeom>
            <a:noFill/>
            <a:ln w="28575">
              <a:solidFill>
                <a:srgbClr val="FF9900"/>
              </a:solidFill>
              <a:round/>
              <a:headEnd/>
              <a:tailEnd/>
            </a:ln>
          </p:spPr>
          <p:txBody>
            <a:bodyPr/>
            <a:lstStyle/>
            <a:p>
              <a:endParaRPr lang="en-US"/>
            </a:p>
          </p:txBody>
        </p:sp>
        <p:sp>
          <p:nvSpPr>
            <p:cNvPr id="70" name="Line 67">
              <a:extLst>
                <a:ext uri="{FF2B5EF4-FFF2-40B4-BE49-F238E27FC236}">
                  <a16:creationId xmlns:a16="http://schemas.microsoft.com/office/drawing/2014/main" id="{2953DD18-E14C-4FF5-9AAD-C4F16C4B0D43}"/>
                </a:ext>
              </a:extLst>
            </p:cNvPr>
            <p:cNvSpPr>
              <a:spLocks noChangeShapeType="1"/>
            </p:cNvSpPr>
            <p:nvPr/>
          </p:nvSpPr>
          <p:spPr bwMode="auto">
            <a:xfrm flipV="1">
              <a:off x="2875" y="2499"/>
              <a:ext cx="243" cy="162"/>
            </a:xfrm>
            <a:prstGeom prst="line">
              <a:avLst/>
            </a:prstGeom>
            <a:noFill/>
            <a:ln w="28575">
              <a:solidFill>
                <a:srgbClr val="FF9900"/>
              </a:solidFill>
              <a:round/>
              <a:headEnd/>
              <a:tailEnd/>
            </a:ln>
          </p:spPr>
          <p:txBody>
            <a:bodyPr/>
            <a:lstStyle/>
            <a:p>
              <a:endParaRPr lang="en-US"/>
            </a:p>
          </p:txBody>
        </p:sp>
        <p:sp>
          <p:nvSpPr>
            <p:cNvPr id="71" name="Line 68">
              <a:extLst>
                <a:ext uri="{FF2B5EF4-FFF2-40B4-BE49-F238E27FC236}">
                  <a16:creationId xmlns:a16="http://schemas.microsoft.com/office/drawing/2014/main" id="{672077A8-E32C-4B50-A047-B3E7F2FA9992}"/>
                </a:ext>
              </a:extLst>
            </p:cNvPr>
            <p:cNvSpPr>
              <a:spLocks noChangeShapeType="1"/>
            </p:cNvSpPr>
            <p:nvPr/>
          </p:nvSpPr>
          <p:spPr bwMode="auto">
            <a:xfrm flipV="1">
              <a:off x="3118" y="2400"/>
              <a:ext cx="244" cy="99"/>
            </a:xfrm>
            <a:prstGeom prst="line">
              <a:avLst/>
            </a:prstGeom>
            <a:noFill/>
            <a:ln w="28575">
              <a:solidFill>
                <a:srgbClr val="FF9900"/>
              </a:solidFill>
              <a:round/>
              <a:headEnd/>
              <a:tailEnd/>
            </a:ln>
          </p:spPr>
          <p:txBody>
            <a:bodyPr/>
            <a:lstStyle/>
            <a:p>
              <a:endParaRPr lang="en-US"/>
            </a:p>
          </p:txBody>
        </p:sp>
        <p:sp>
          <p:nvSpPr>
            <p:cNvPr id="72" name="Line 69">
              <a:extLst>
                <a:ext uri="{FF2B5EF4-FFF2-40B4-BE49-F238E27FC236}">
                  <a16:creationId xmlns:a16="http://schemas.microsoft.com/office/drawing/2014/main" id="{95E5D167-CE40-46B0-A29D-9AC1ACA1867F}"/>
                </a:ext>
              </a:extLst>
            </p:cNvPr>
            <p:cNvSpPr>
              <a:spLocks noChangeShapeType="1"/>
            </p:cNvSpPr>
            <p:nvPr/>
          </p:nvSpPr>
          <p:spPr bwMode="auto">
            <a:xfrm flipV="1">
              <a:off x="3362" y="2174"/>
              <a:ext cx="396" cy="226"/>
            </a:xfrm>
            <a:prstGeom prst="line">
              <a:avLst/>
            </a:prstGeom>
            <a:noFill/>
            <a:ln w="28575">
              <a:solidFill>
                <a:srgbClr val="FF9900"/>
              </a:solidFill>
              <a:round/>
              <a:headEnd/>
              <a:tailEnd/>
            </a:ln>
          </p:spPr>
          <p:txBody>
            <a:bodyPr/>
            <a:lstStyle/>
            <a:p>
              <a:endParaRPr lang="en-US"/>
            </a:p>
          </p:txBody>
        </p:sp>
        <p:sp>
          <p:nvSpPr>
            <p:cNvPr id="73" name="Freeform 70">
              <a:extLst>
                <a:ext uri="{FF2B5EF4-FFF2-40B4-BE49-F238E27FC236}">
                  <a16:creationId xmlns:a16="http://schemas.microsoft.com/office/drawing/2014/main" id="{53525A2C-8E23-457D-A946-F2E2482B6A41}"/>
                </a:ext>
              </a:extLst>
            </p:cNvPr>
            <p:cNvSpPr>
              <a:spLocks/>
            </p:cNvSpPr>
            <p:nvPr/>
          </p:nvSpPr>
          <p:spPr bwMode="auto">
            <a:xfrm>
              <a:off x="1388" y="2625"/>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74" name="Freeform 71">
              <a:extLst>
                <a:ext uri="{FF2B5EF4-FFF2-40B4-BE49-F238E27FC236}">
                  <a16:creationId xmlns:a16="http://schemas.microsoft.com/office/drawing/2014/main" id="{31B02E66-5C68-468E-83FD-90E123038AC8}"/>
                </a:ext>
              </a:extLst>
            </p:cNvPr>
            <p:cNvSpPr>
              <a:spLocks/>
            </p:cNvSpPr>
            <p:nvPr/>
          </p:nvSpPr>
          <p:spPr bwMode="auto">
            <a:xfrm>
              <a:off x="1469" y="2616"/>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75" name="Freeform 72">
              <a:extLst>
                <a:ext uri="{FF2B5EF4-FFF2-40B4-BE49-F238E27FC236}">
                  <a16:creationId xmlns:a16="http://schemas.microsoft.com/office/drawing/2014/main" id="{E40AAF23-B1CC-4091-9BBC-573B68D363AE}"/>
                </a:ext>
              </a:extLst>
            </p:cNvPr>
            <p:cNvSpPr>
              <a:spLocks/>
            </p:cNvSpPr>
            <p:nvPr/>
          </p:nvSpPr>
          <p:spPr bwMode="auto">
            <a:xfrm>
              <a:off x="1631" y="2616"/>
              <a:ext cx="91" cy="90"/>
            </a:xfrm>
            <a:custGeom>
              <a:avLst/>
              <a:gdLst/>
              <a:ahLst/>
              <a:cxnLst>
                <a:cxn ang="0">
                  <a:pos x="45" y="0"/>
                </a:cxn>
                <a:cxn ang="0">
                  <a:pos x="91" y="45"/>
                </a:cxn>
                <a:cxn ang="0">
                  <a:pos x="45" y="90"/>
                </a:cxn>
                <a:cxn ang="0">
                  <a:pos x="0" y="45"/>
                </a:cxn>
                <a:cxn ang="0">
                  <a:pos x="45" y="0"/>
                </a:cxn>
              </a:cxnLst>
              <a:rect l="0" t="0" r="r" b="b"/>
              <a:pathLst>
                <a:path w="91" h="90">
                  <a:moveTo>
                    <a:pt x="45" y="0"/>
                  </a:moveTo>
                  <a:lnTo>
                    <a:pt x="91" y="45"/>
                  </a:lnTo>
                  <a:lnTo>
                    <a:pt x="45" y="90"/>
                  </a:lnTo>
                  <a:lnTo>
                    <a:pt x="0" y="45"/>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76" name="Freeform 73">
              <a:extLst>
                <a:ext uri="{FF2B5EF4-FFF2-40B4-BE49-F238E27FC236}">
                  <a16:creationId xmlns:a16="http://schemas.microsoft.com/office/drawing/2014/main" id="{24D11271-8F98-4BE8-B40E-52B4A54456E0}"/>
                </a:ext>
              </a:extLst>
            </p:cNvPr>
            <p:cNvSpPr>
              <a:spLocks/>
            </p:cNvSpPr>
            <p:nvPr/>
          </p:nvSpPr>
          <p:spPr bwMode="auto">
            <a:xfrm>
              <a:off x="1785" y="2616"/>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77" name="Freeform 74">
              <a:extLst>
                <a:ext uri="{FF2B5EF4-FFF2-40B4-BE49-F238E27FC236}">
                  <a16:creationId xmlns:a16="http://schemas.microsoft.com/office/drawing/2014/main" id="{B5ADE8AF-C00F-4E40-81C2-6094238852CE}"/>
                </a:ext>
              </a:extLst>
            </p:cNvPr>
            <p:cNvSpPr>
              <a:spLocks/>
            </p:cNvSpPr>
            <p:nvPr/>
          </p:nvSpPr>
          <p:spPr bwMode="auto">
            <a:xfrm>
              <a:off x="1947" y="2391"/>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78" name="Freeform 75">
              <a:extLst>
                <a:ext uri="{FF2B5EF4-FFF2-40B4-BE49-F238E27FC236}">
                  <a16:creationId xmlns:a16="http://schemas.microsoft.com/office/drawing/2014/main" id="{7055BDA1-807B-4B08-B0CC-825A53770EBA}"/>
                </a:ext>
              </a:extLst>
            </p:cNvPr>
            <p:cNvSpPr>
              <a:spLocks/>
            </p:cNvSpPr>
            <p:nvPr/>
          </p:nvSpPr>
          <p:spPr bwMode="auto">
            <a:xfrm>
              <a:off x="2271" y="2481"/>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79" name="Freeform 76">
              <a:extLst>
                <a:ext uri="{FF2B5EF4-FFF2-40B4-BE49-F238E27FC236}">
                  <a16:creationId xmlns:a16="http://schemas.microsoft.com/office/drawing/2014/main" id="{052E4FD8-5590-4EDD-9EC1-224E763BD36A}"/>
                </a:ext>
              </a:extLst>
            </p:cNvPr>
            <p:cNvSpPr>
              <a:spLocks/>
            </p:cNvSpPr>
            <p:nvPr/>
          </p:nvSpPr>
          <p:spPr bwMode="auto">
            <a:xfrm>
              <a:off x="2515" y="2688"/>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80" name="Freeform 77">
              <a:extLst>
                <a:ext uri="{FF2B5EF4-FFF2-40B4-BE49-F238E27FC236}">
                  <a16:creationId xmlns:a16="http://schemas.microsoft.com/office/drawing/2014/main" id="{9F633F53-61E7-45A9-B192-A29A28468908}"/>
                </a:ext>
              </a:extLst>
            </p:cNvPr>
            <p:cNvSpPr>
              <a:spLocks/>
            </p:cNvSpPr>
            <p:nvPr/>
          </p:nvSpPr>
          <p:spPr bwMode="auto">
            <a:xfrm>
              <a:off x="2830" y="2616"/>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81" name="Freeform 78">
              <a:extLst>
                <a:ext uri="{FF2B5EF4-FFF2-40B4-BE49-F238E27FC236}">
                  <a16:creationId xmlns:a16="http://schemas.microsoft.com/office/drawing/2014/main" id="{28B5A05C-7E54-4814-B34A-B407021C8344}"/>
                </a:ext>
              </a:extLst>
            </p:cNvPr>
            <p:cNvSpPr>
              <a:spLocks/>
            </p:cNvSpPr>
            <p:nvPr/>
          </p:nvSpPr>
          <p:spPr bwMode="auto">
            <a:xfrm>
              <a:off x="3073" y="2454"/>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82" name="Freeform 79">
              <a:extLst>
                <a:ext uri="{FF2B5EF4-FFF2-40B4-BE49-F238E27FC236}">
                  <a16:creationId xmlns:a16="http://schemas.microsoft.com/office/drawing/2014/main" id="{ED00278F-D639-43EB-BF13-40E56F37CF57}"/>
                </a:ext>
              </a:extLst>
            </p:cNvPr>
            <p:cNvSpPr>
              <a:spLocks/>
            </p:cNvSpPr>
            <p:nvPr/>
          </p:nvSpPr>
          <p:spPr bwMode="auto">
            <a:xfrm>
              <a:off x="3312" y="2352"/>
              <a:ext cx="90" cy="91"/>
            </a:xfrm>
            <a:custGeom>
              <a:avLst/>
              <a:gdLst/>
              <a:ahLst/>
              <a:cxnLst>
                <a:cxn ang="0">
                  <a:pos x="45" y="0"/>
                </a:cxn>
                <a:cxn ang="0">
                  <a:pos x="90" y="46"/>
                </a:cxn>
                <a:cxn ang="0">
                  <a:pos x="45" y="91"/>
                </a:cxn>
                <a:cxn ang="0">
                  <a:pos x="0" y="46"/>
                </a:cxn>
                <a:cxn ang="0">
                  <a:pos x="45" y="0"/>
                </a:cxn>
              </a:cxnLst>
              <a:rect l="0" t="0" r="r" b="b"/>
              <a:pathLst>
                <a:path w="90" h="91">
                  <a:moveTo>
                    <a:pt x="45" y="0"/>
                  </a:moveTo>
                  <a:lnTo>
                    <a:pt x="90" y="46"/>
                  </a:lnTo>
                  <a:lnTo>
                    <a:pt x="45" y="91"/>
                  </a:lnTo>
                  <a:lnTo>
                    <a:pt x="0" y="46"/>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83" name="Freeform 80">
              <a:extLst>
                <a:ext uri="{FF2B5EF4-FFF2-40B4-BE49-F238E27FC236}">
                  <a16:creationId xmlns:a16="http://schemas.microsoft.com/office/drawing/2014/main" id="{88D5B986-9753-46E2-9D32-74589C46B6A4}"/>
                </a:ext>
              </a:extLst>
            </p:cNvPr>
            <p:cNvSpPr>
              <a:spLocks/>
            </p:cNvSpPr>
            <p:nvPr/>
          </p:nvSpPr>
          <p:spPr bwMode="auto">
            <a:xfrm>
              <a:off x="3713" y="2129"/>
              <a:ext cx="90" cy="90"/>
            </a:xfrm>
            <a:custGeom>
              <a:avLst/>
              <a:gdLst/>
              <a:ahLst/>
              <a:cxnLst>
                <a:cxn ang="0">
                  <a:pos x="45" y="0"/>
                </a:cxn>
                <a:cxn ang="0">
                  <a:pos x="90" y="45"/>
                </a:cxn>
                <a:cxn ang="0">
                  <a:pos x="45" y="90"/>
                </a:cxn>
                <a:cxn ang="0">
                  <a:pos x="0" y="45"/>
                </a:cxn>
                <a:cxn ang="0">
                  <a:pos x="45" y="0"/>
                </a:cxn>
              </a:cxnLst>
              <a:rect l="0" t="0" r="r" b="b"/>
              <a:pathLst>
                <a:path w="90" h="90">
                  <a:moveTo>
                    <a:pt x="45" y="0"/>
                  </a:moveTo>
                  <a:lnTo>
                    <a:pt x="90" y="45"/>
                  </a:lnTo>
                  <a:lnTo>
                    <a:pt x="45" y="90"/>
                  </a:lnTo>
                  <a:lnTo>
                    <a:pt x="0" y="45"/>
                  </a:lnTo>
                  <a:lnTo>
                    <a:pt x="45" y="0"/>
                  </a:lnTo>
                  <a:close/>
                </a:path>
              </a:pathLst>
            </a:custGeom>
            <a:solidFill>
              <a:srgbClr val="FFCC00"/>
            </a:solidFill>
            <a:ln w="14288">
              <a:solidFill>
                <a:srgbClr val="FFCC00"/>
              </a:solidFill>
              <a:prstDash val="solid"/>
              <a:round/>
              <a:headEnd/>
              <a:tailEnd/>
            </a:ln>
          </p:spPr>
          <p:txBody>
            <a:bodyPr/>
            <a:lstStyle/>
            <a:p>
              <a:endParaRPr lang="en-US"/>
            </a:p>
          </p:txBody>
        </p:sp>
        <p:sp>
          <p:nvSpPr>
            <p:cNvPr id="84" name="Rectangle 81">
              <a:extLst>
                <a:ext uri="{FF2B5EF4-FFF2-40B4-BE49-F238E27FC236}">
                  <a16:creationId xmlns:a16="http://schemas.microsoft.com/office/drawing/2014/main" id="{D4F1D549-7998-4484-A45C-511F0551700B}"/>
                </a:ext>
              </a:extLst>
            </p:cNvPr>
            <p:cNvSpPr>
              <a:spLocks noChangeArrowheads="1"/>
            </p:cNvSpPr>
            <p:nvPr/>
          </p:nvSpPr>
          <p:spPr bwMode="auto">
            <a:xfrm>
              <a:off x="1334" y="2300"/>
              <a:ext cx="309" cy="155"/>
            </a:xfrm>
            <a:prstGeom prst="rect">
              <a:avLst/>
            </a:prstGeom>
            <a:noFill/>
            <a:ln w="9525">
              <a:noFill/>
              <a:miter lim="800000"/>
              <a:headEnd/>
              <a:tailEnd/>
            </a:ln>
          </p:spPr>
          <p:txBody>
            <a:bodyPr wrap="none" lIns="0" tIns="0" rIns="0" bIns="0">
              <a:spAutoFit/>
            </a:bodyPr>
            <a:lstStyle/>
            <a:p>
              <a:r>
                <a:rPr lang="en-US" sz="1800" b="1"/>
                <a:t>4004</a:t>
              </a:r>
              <a:endParaRPr lang="en-US" sz="2000"/>
            </a:p>
          </p:txBody>
        </p:sp>
        <p:sp>
          <p:nvSpPr>
            <p:cNvPr id="85" name="Rectangle 82">
              <a:extLst>
                <a:ext uri="{FF2B5EF4-FFF2-40B4-BE49-F238E27FC236}">
                  <a16:creationId xmlns:a16="http://schemas.microsoft.com/office/drawing/2014/main" id="{57A94C23-D3A9-4D5B-B526-016202A03E70}"/>
                </a:ext>
              </a:extLst>
            </p:cNvPr>
            <p:cNvSpPr>
              <a:spLocks noChangeArrowheads="1"/>
            </p:cNvSpPr>
            <p:nvPr/>
          </p:nvSpPr>
          <p:spPr bwMode="auto">
            <a:xfrm>
              <a:off x="1433" y="2463"/>
              <a:ext cx="310" cy="155"/>
            </a:xfrm>
            <a:prstGeom prst="rect">
              <a:avLst/>
            </a:prstGeom>
            <a:noFill/>
            <a:ln w="9525">
              <a:noFill/>
              <a:miter lim="800000"/>
              <a:headEnd/>
              <a:tailEnd/>
            </a:ln>
          </p:spPr>
          <p:txBody>
            <a:bodyPr wrap="none" lIns="0" tIns="0" rIns="0" bIns="0">
              <a:spAutoFit/>
            </a:bodyPr>
            <a:lstStyle/>
            <a:p>
              <a:r>
                <a:rPr lang="en-US" sz="1800" b="1"/>
                <a:t>8008</a:t>
              </a:r>
              <a:endParaRPr lang="en-US" sz="2000"/>
            </a:p>
          </p:txBody>
        </p:sp>
        <p:sp>
          <p:nvSpPr>
            <p:cNvPr id="86" name="Rectangle 83">
              <a:extLst>
                <a:ext uri="{FF2B5EF4-FFF2-40B4-BE49-F238E27FC236}">
                  <a16:creationId xmlns:a16="http://schemas.microsoft.com/office/drawing/2014/main" id="{F9F52396-4D99-4A62-8412-DBBB282D7591}"/>
                </a:ext>
              </a:extLst>
            </p:cNvPr>
            <p:cNvSpPr>
              <a:spLocks noChangeArrowheads="1"/>
            </p:cNvSpPr>
            <p:nvPr/>
          </p:nvSpPr>
          <p:spPr bwMode="auto">
            <a:xfrm>
              <a:off x="1460" y="2652"/>
              <a:ext cx="310" cy="155"/>
            </a:xfrm>
            <a:prstGeom prst="rect">
              <a:avLst/>
            </a:prstGeom>
            <a:noFill/>
            <a:ln w="9525">
              <a:noFill/>
              <a:miter lim="800000"/>
              <a:headEnd/>
              <a:tailEnd/>
            </a:ln>
          </p:spPr>
          <p:txBody>
            <a:bodyPr wrap="none" lIns="0" tIns="0" rIns="0" bIns="0">
              <a:spAutoFit/>
            </a:bodyPr>
            <a:lstStyle/>
            <a:p>
              <a:r>
                <a:rPr lang="en-US" sz="1800" b="1"/>
                <a:t>8080</a:t>
              </a:r>
              <a:endParaRPr lang="en-US" sz="2000"/>
            </a:p>
          </p:txBody>
        </p:sp>
        <p:sp>
          <p:nvSpPr>
            <p:cNvPr id="87" name="Rectangle 84">
              <a:extLst>
                <a:ext uri="{FF2B5EF4-FFF2-40B4-BE49-F238E27FC236}">
                  <a16:creationId xmlns:a16="http://schemas.microsoft.com/office/drawing/2014/main" id="{EB3A5C2C-F9FA-495E-B975-76E6B05B6744}"/>
                </a:ext>
              </a:extLst>
            </p:cNvPr>
            <p:cNvSpPr>
              <a:spLocks noChangeArrowheads="1"/>
            </p:cNvSpPr>
            <p:nvPr/>
          </p:nvSpPr>
          <p:spPr bwMode="auto">
            <a:xfrm>
              <a:off x="1821" y="2481"/>
              <a:ext cx="310" cy="155"/>
            </a:xfrm>
            <a:prstGeom prst="rect">
              <a:avLst/>
            </a:prstGeom>
            <a:noFill/>
            <a:ln w="9525">
              <a:noFill/>
              <a:miter lim="800000"/>
              <a:headEnd/>
              <a:tailEnd/>
            </a:ln>
          </p:spPr>
          <p:txBody>
            <a:bodyPr wrap="none" lIns="0" tIns="0" rIns="0" bIns="0">
              <a:spAutoFit/>
            </a:bodyPr>
            <a:lstStyle/>
            <a:p>
              <a:r>
                <a:rPr lang="en-US" sz="1800" b="1"/>
                <a:t>8085</a:t>
              </a:r>
              <a:endParaRPr lang="en-US" sz="2000"/>
            </a:p>
          </p:txBody>
        </p:sp>
        <p:sp>
          <p:nvSpPr>
            <p:cNvPr id="88" name="Rectangle 85">
              <a:extLst>
                <a:ext uri="{FF2B5EF4-FFF2-40B4-BE49-F238E27FC236}">
                  <a16:creationId xmlns:a16="http://schemas.microsoft.com/office/drawing/2014/main" id="{A8BEDD43-8BA2-4641-8EC5-E2929769F469}"/>
                </a:ext>
              </a:extLst>
            </p:cNvPr>
            <p:cNvSpPr>
              <a:spLocks noChangeArrowheads="1"/>
            </p:cNvSpPr>
            <p:nvPr/>
          </p:nvSpPr>
          <p:spPr bwMode="auto">
            <a:xfrm>
              <a:off x="1893" y="2165"/>
              <a:ext cx="310" cy="155"/>
            </a:xfrm>
            <a:prstGeom prst="rect">
              <a:avLst/>
            </a:prstGeom>
            <a:noFill/>
            <a:ln w="9525">
              <a:noFill/>
              <a:miter lim="800000"/>
              <a:headEnd/>
              <a:tailEnd/>
            </a:ln>
          </p:spPr>
          <p:txBody>
            <a:bodyPr wrap="none" lIns="0" tIns="0" rIns="0" bIns="0">
              <a:spAutoFit/>
            </a:bodyPr>
            <a:lstStyle/>
            <a:p>
              <a:r>
                <a:rPr lang="en-US" sz="1800" b="1"/>
                <a:t>8086</a:t>
              </a:r>
              <a:endParaRPr lang="en-US" sz="2000"/>
            </a:p>
          </p:txBody>
        </p:sp>
        <p:sp>
          <p:nvSpPr>
            <p:cNvPr id="89" name="Rectangle 86">
              <a:extLst>
                <a:ext uri="{FF2B5EF4-FFF2-40B4-BE49-F238E27FC236}">
                  <a16:creationId xmlns:a16="http://schemas.microsoft.com/office/drawing/2014/main" id="{3718909B-A39F-416A-A7D4-86373178A69A}"/>
                </a:ext>
              </a:extLst>
            </p:cNvPr>
            <p:cNvSpPr>
              <a:spLocks noChangeArrowheads="1"/>
            </p:cNvSpPr>
            <p:nvPr/>
          </p:nvSpPr>
          <p:spPr bwMode="auto">
            <a:xfrm>
              <a:off x="2136" y="2580"/>
              <a:ext cx="232" cy="155"/>
            </a:xfrm>
            <a:prstGeom prst="rect">
              <a:avLst/>
            </a:prstGeom>
            <a:noFill/>
            <a:ln w="9525">
              <a:noFill/>
              <a:miter lim="800000"/>
              <a:headEnd/>
              <a:tailEnd/>
            </a:ln>
          </p:spPr>
          <p:txBody>
            <a:bodyPr wrap="none" lIns="0" tIns="0" rIns="0" bIns="0">
              <a:spAutoFit/>
            </a:bodyPr>
            <a:lstStyle/>
            <a:p>
              <a:r>
                <a:rPr lang="en-US" sz="1800" b="1"/>
                <a:t>286</a:t>
              </a:r>
              <a:endParaRPr lang="en-US" sz="2000"/>
            </a:p>
          </p:txBody>
        </p:sp>
        <p:sp>
          <p:nvSpPr>
            <p:cNvPr id="90" name="Rectangle 87">
              <a:extLst>
                <a:ext uri="{FF2B5EF4-FFF2-40B4-BE49-F238E27FC236}">
                  <a16:creationId xmlns:a16="http://schemas.microsoft.com/office/drawing/2014/main" id="{B56A4E8A-D6EF-4E05-9FE3-C878A60C138A}"/>
                </a:ext>
              </a:extLst>
            </p:cNvPr>
            <p:cNvSpPr>
              <a:spLocks noChangeArrowheads="1"/>
            </p:cNvSpPr>
            <p:nvPr/>
          </p:nvSpPr>
          <p:spPr bwMode="auto">
            <a:xfrm>
              <a:off x="2424" y="2499"/>
              <a:ext cx="232" cy="155"/>
            </a:xfrm>
            <a:prstGeom prst="rect">
              <a:avLst/>
            </a:prstGeom>
            <a:noFill/>
            <a:ln w="9525">
              <a:noFill/>
              <a:miter lim="800000"/>
              <a:headEnd/>
              <a:tailEnd/>
            </a:ln>
          </p:spPr>
          <p:txBody>
            <a:bodyPr wrap="none" lIns="0" tIns="0" rIns="0" bIns="0">
              <a:spAutoFit/>
            </a:bodyPr>
            <a:lstStyle/>
            <a:p>
              <a:r>
                <a:rPr lang="en-US" sz="1800" b="1"/>
                <a:t>386</a:t>
              </a:r>
              <a:endParaRPr lang="en-US" sz="2000"/>
            </a:p>
          </p:txBody>
        </p:sp>
        <p:sp>
          <p:nvSpPr>
            <p:cNvPr id="91" name="Rectangle 88">
              <a:extLst>
                <a:ext uri="{FF2B5EF4-FFF2-40B4-BE49-F238E27FC236}">
                  <a16:creationId xmlns:a16="http://schemas.microsoft.com/office/drawing/2014/main" id="{BC61E661-6573-403B-86B3-885F160FA88C}"/>
                </a:ext>
              </a:extLst>
            </p:cNvPr>
            <p:cNvSpPr>
              <a:spLocks noChangeArrowheads="1"/>
            </p:cNvSpPr>
            <p:nvPr/>
          </p:nvSpPr>
          <p:spPr bwMode="auto">
            <a:xfrm>
              <a:off x="2956" y="2607"/>
              <a:ext cx="233" cy="155"/>
            </a:xfrm>
            <a:prstGeom prst="rect">
              <a:avLst/>
            </a:prstGeom>
            <a:noFill/>
            <a:ln w="9525">
              <a:noFill/>
              <a:miter lim="800000"/>
              <a:headEnd/>
              <a:tailEnd/>
            </a:ln>
          </p:spPr>
          <p:txBody>
            <a:bodyPr wrap="none" lIns="0" tIns="0" rIns="0" bIns="0">
              <a:spAutoFit/>
            </a:bodyPr>
            <a:lstStyle/>
            <a:p>
              <a:r>
                <a:rPr lang="en-US" sz="1800" b="1"/>
                <a:t>486</a:t>
              </a:r>
              <a:endParaRPr lang="en-US" sz="2000"/>
            </a:p>
          </p:txBody>
        </p:sp>
        <p:sp>
          <p:nvSpPr>
            <p:cNvPr id="92" name="Rectangle 89">
              <a:extLst>
                <a:ext uri="{FF2B5EF4-FFF2-40B4-BE49-F238E27FC236}">
                  <a16:creationId xmlns:a16="http://schemas.microsoft.com/office/drawing/2014/main" id="{3F969F37-966E-4D6A-BF10-2D628CC436BA}"/>
                </a:ext>
              </a:extLst>
            </p:cNvPr>
            <p:cNvSpPr>
              <a:spLocks noChangeArrowheads="1"/>
            </p:cNvSpPr>
            <p:nvPr/>
          </p:nvSpPr>
          <p:spPr bwMode="auto">
            <a:xfrm>
              <a:off x="3245" y="2463"/>
              <a:ext cx="652" cy="155"/>
            </a:xfrm>
            <a:prstGeom prst="rect">
              <a:avLst/>
            </a:prstGeom>
            <a:noFill/>
            <a:ln w="9525">
              <a:noFill/>
              <a:miter lim="800000"/>
              <a:headEnd/>
              <a:tailEnd/>
            </a:ln>
          </p:spPr>
          <p:txBody>
            <a:bodyPr wrap="none" lIns="0" tIns="0" rIns="0" bIns="0">
              <a:spAutoFit/>
            </a:bodyPr>
            <a:lstStyle/>
            <a:p>
              <a:r>
                <a:rPr lang="en-US" sz="1800" b="1"/>
                <a:t>Pentium</a:t>
              </a:r>
              <a:r>
                <a:rPr lang="en-US" sz="1800" b="1">
                  <a:cs typeface="Arial" charset="0"/>
                </a:rPr>
                <a:t>®</a:t>
              </a:r>
              <a:endParaRPr lang="en-US" sz="2000"/>
            </a:p>
          </p:txBody>
        </p:sp>
        <p:sp>
          <p:nvSpPr>
            <p:cNvPr id="93" name="Rectangle 90">
              <a:extLst>
                <a:ext uri="{FF2B5EF4-FFF2-40B4-BE49-F238E27FC236}">
                  <a16:creationId xmlns:a16="http://schemas.microsoft.com/office/drawing/2014/main" id="{78E0C154-80EF-46E5-949C-238BD345C1BD}"/>
                </a:ext>
              </a:extLst>
            </p:cNvPr>
            <p:cNvSpPr>
              <a:spLocks noChangeArrowheads="1"/>
            </p:cNvSpPr>
            <p:nvPr/>
          </p:nvSpPr>
          <p:spPr bwMode="auto">
            <a:xfrm>
              <a:off x="3461" y="2318"/>
              <a:ext cx="170" cy="155"/>
            </a:xfrm>
            <a:prstGeom prst="rect">
              <a:avLst/>
            </a:prstGeom>
            <a:noFill/>
            <a:ln w="9525">
              <a:noFill/>
              <a:miter lim="800000"/>
              <a:headEnd/>
              <a:tailEnd/>
            </a:ln>
          </p:spPr>
          <p:txBody>
            <a:bodyPr wrap="none" lIns="0" tIns="0" rIns="0" bIns="0">
              <a:spAutoFit/>
            </a:bodyPr>
            <a:lstStyle/>
            <a:p>
              <a:r>
                <a:rPr lang="en-US" sz="1800" b="1"/>
                <a:t>P6</a:t>
              </a:r>
              <a:endParaRPr lang="en-US" sz="2000"/>
            </a:p>
          </p:txBody>
        </p:sp>
        <p:sp>
          <p:nvSpPr>
            <p:cNvPr id="94" name="Rectangle 91">
              <a:extLst>
                <a:ext uri="{FF2B5EF4-FFF2-40B4-BE49-F238E27FC236}">
                  <a16:creationId xmlns:a16="http://schemas.microsoft.com/office/drawing/2014/main" id="{AFAAC6DC-3C57-44C7-96A4-FADC3881C91B}"/>
                </a:ext>
              </a:extLst>
            </p:cNvPr>
            <p:cNvSpPr>
              <a:spLocks noChangeArrowheads="1"/>
            </p:cNvSpPr>
            <p:nvPr/>
          </p:nvSpPr>
          <p:spPr bwMode="auto">
            <a:xfrm>
              <a:off x="1154" y="2778"/>
              <a:ext cx="77" cy="155"/>
            </a:xfrm>
            <a:prstGeom prst="rect">
              <a:avLst/>
            </a:prstGeom>
            <a:noFill/>
            <a:ln w="9525">
              <a:noFill/>
              <a:miter lim="800000"/>
              <a:headEnd/>
              <a:tailEnd/>
            </a:ln>
          </p:spPr>
          <p:txBody>
            <a:bodyPr wrap="none" lIns="0" tIns="0" rIns="0" bIns="0">
              <a:spAutoFit/>
            </a:bodyPr>
            <a:lstStyle/>
            <a:p>
              <a:r>
                <a:rPr lang="en-US" sz="1800" b="1"/>
                <a:t>1</a:t>
              </a:r>
              <a:endParaRPr lang="en-US" sz="2000"/>
            </a:p>
          </p:txBody>
        </p:sp>
        <p:sp>
          <p:nvSpPr>
            <p:cNvPr id="95" name="Rectangle 92">
              <a:extLst>
                <a:ext uri="{FF2B5EF4-FFF2-40B4-BE49-F238E27FC236}">
                  <a16:creationId xmlns:a16="http://schemas.microsoft.com/office/drawing/2014/main" id="{99B3EEE3-7632-4B0D-9A52-1ECF02B2601A}"/>
                </a:ext>
              </a:extLst>
            </p:cNvPr>
            <p:cNvSpPr>
              <a:spLocks noChangeArrowheads="1"/>
            </p:cNvSpPr>
            <p:nvPr/>
          </p:nvSpPr>
          <p:spPr bwMode="auto">
            <a:xfrm>
              <a:off x="1073" y="2273"/>
              <a:ext cx="155" cy="155"/>
            </a:xfrm>
            <a:prstGeom prst="rect">
              <a:avLst/>
            </a:prstGeom>
            <a:noFill/>
            <a:ln w="9525">
              <a:noFill/>
              <a:miter lim="800000"/>
              <a:headEnd/>
              <a:tailEnd/>
            </a:ln>
          </p:spPr>
          <p:txBody>
            <a:bodyPr wrap="none" lIns="0" tIns="0" rIns="0" bIns="0">
              <a:spAutoFit/>
            </a:bodyPr>
            <a:lstStyle/>
            <a:p>
              <a:r>
                <a:rPr lang="en-US" sz="1800" b="1"/>
                <a:t>10</a:t>
              </a:r>
              <a:endParaRPr lang="en-US" sz="2000"/>
            </a:p>
          </p:txBody>
        </p:sp>
        <p:sp>
          <p:nvSpPr>
            <p:cNvPr id="96" name="Rectangle 93">
              <a:extLst>
                <a:ext uri="{FF2B5EF4-FFF2-40B4-BE49-F238E27FC236}">
                  <a16:creationId xmlns:a16="http://schemas.microsoft.com/office/drawing/2014/main" id="{EEE076BF-E0F2-4414-A06E-A16F736F9E89}"/>
                </a:ext>
              </a:extLst>
            </p:cNvPr>
            <p:cNvSpPr>
              <a:spLocks noChangeArrowheads="1"/>
            </p:cNvSpPr>
            <p:nvPr/>
          </p:nvSpPr>
          <p:spPr bwMode="auto">
            <a:xfrm>
              <a:off x="992" y="1778"/>
              <a:ext cx="232" cy="155"/>
            </a:xfrm>
            <a:prstGeom prst="rect">
              <a:avLst/>
            </a:prstGeom>
            <a:noFill/>
            <a:ln w="9525">
              <a:noFill/>
              <a:miter lim="800000"/>
              <a:headEnd/>
              <a:tailEnd/>
            </a:ln>
          </p:spPr>
          <p:txBody>
            <a:bodyPr wrap="none" lIns="0" tIns="0" rIns="0" bIns="0">
              <a:spAutoFit/>
            </a:bodyPr>
            <a:lstStyle/>
            <a:p>
              <a:r>
                <a:rPr lang="en-US" sz="1800" b="1"/>
                <a:t>100</a:t>
              </a:r>
              <a:endParaRPr lang="en-US" sz="2000"/>
            </a:p>
          </p:txBody>
        </p:sp>
        <p:sp>
          <p:nvSpPr>
            <p:cNvPr id="97" name="Rectangle 94">
              <a:extLst>
                <a:ext uri="{FF2B5EF4-FFF2-40B4-BE49-F238E27FC236}">
                  <a16:creationId xmlns:a16="http://schemas.microsoft.com/office/drawing/2014/main" id="{85E3AFCF-498F-4294-8198-97726AB6C776}"/>
                </a:ext>
              </a:extLst>
            </p:cNvPr>
            <p:cNvSpPr>
              <a:spLocks noChangeArrowheads="1"/>
            </p:cNvSpPr>
            <p:nvPr/>
          </p:nvSpPr>
          <p:spPr bwMode="auto">
            <a:xfrm>
              <a:off x="910" y="1273"/>
              <a:ext cx="309" cy="155"/>
            </a:xfrm>
            <a:prstGeom prst="rect">
              <a:avLst/>
            </a:prstGeom>
            <a:noFill/>
            <a:ln w="9525">
              <a:noFill/>
              <a:miter lim="800000"/>
              <a:headEnd/>
              <a:tailEnd/>
            </a:ln>
          </p:spPr>
          <p:txBody>
            <a:bodyPr wrap="none" lIns="0" tIns="0" rIns="0" bIns="0">
              <a:spAutoFit/>
            </a:bodyPr>
            <a:lstStyle/>
            <a:p>
              <a:r>
                <a:rPr lang="en-US" sz="1800" b="1"/>
                <a:t>1000</a:t>
              </a:r>
              <a:endParaRPr lang="en-US" sz="2000"/>
            </a:p>
          </p:txBody>
        </p:sp>
        <p:sp>
          <p:nvSpPr>
            <p:cNvPr id="98" name="Rectangle 95">
              <a:extLst>
                <a:ext uri="{FF2B5EF4-FFF2-40B4-BE49-F238E27FC236}">
                  <a16:creationId xmlns:a16="http://schemas.microsoft.com/office/drawing/2014/main" id="{DC9EA131-E53E-42B6-B3AD-B53B2DF5898A}"/>
                </a:ext>
              </a:extLst>
            </p:cNvPr>
            <p:cNvSpPr>
              <a:spLocks noChangeArrowheads="1"/>
            </p:cNvSpPr>
            <p:nvPr/>
          </p:nvSpPr>
          <p:spPr bwMode="auto">
            <a:xfrm>
              <a:off x="829" y="768"/>
              <a:ext cx="388" cy="155"/>
            </a:xfrm>
            <a:prstGeom prst="rect">
              <a:avLst/>
            </a:prstGeom>
            <a:noFill/>
            <a:ln w="9525">
              <a:noFill/>
              <a:miter lim="800000"/>
              <a:headEnd/>
              <a:tailEnd/>
            </a:ln>
          </p:spPr>
          <p:txBody>
            <a:bodyPr wrap="none" lIns="0" tIns="0" rIns="0" bIns="0">
              <a:spAutoFit/>
            </a:bodyPr>
            <a:lstStyle/>
            <a:p>
              <a:r>
                <a:rPr lang="en-US" sz="1800" b="1"/>
                <a:t>10000</a:t>
              </a:r>
              <a:endParaRPr lang="en-US" sz="2000"/>
            </a:p>
          </p:txBody>
        </p:sp>
        <p:sp>
          <p:nvSpPr>
            <p:cNvPr id="99" name="Rectangle 96">
              <a:extLst>
                <a:ext uri="{FF2B5EF4-FFF2-40B4-BE49-F238E27FC236}">
                  <a16:creationId xmlns:a16="http://schemas.microsoft.com/office/drawing/2014/main" id="{31E9BE38-DE2D-4B76-9C2F-8313E71A4F0B}"/>
                </a:ext>
              </a:extLst>
            </p:cNvPr>
            <p:cNvSpPr>
              <a:spLocks noChangeArrowheads="1"/>
            </p:cNvSpPr>
            <p:nvPr/>
          </p:nvSpPr>
          <p:spPr bwMode="auto">
            <a:xfrm>
              <a:off x="1190" y="2994"/>
              <a:ext cx="310" cy="155"/>
            </a:xfrm>
            <a:prstGeom prst="rect">
              <a:avLst/>
            </a:prstGeom>
            <a:noFill/>
            <a:ln w="9525">
              <a:noFill/>
              <a:miter lim="800000"/>
              <a:headEnd/>
              <a:tailEnd/>
            </a:ln>
          </p:spPr>
          <p:txBody>
            <a:bodyPr wrap="none" lIns="0" tIns="0" rIns="0" bIns="0">
              <a:spAutoFit/>
            </a:bodyPr>
            <a:lstStyle/>
            <a:p>
              <a:r>
                <a:rPr lang="en-US" sz="1800" b="1"/>
                <a:t>1970</a:t>
              </a:r>
              <a:endParaRPr lang="en-US" sz="2000"/>
            </a:p>
          </p:txBody>
        </p:sp>
        <p:sp>
          <p:nvSpPr>
            <p:cNvPr id="100" name="Rectangle 97">
              <a:extLst>
                <a:ext uri="{FF2B5EF4-FFF2-40B4-BE49-F238E27FC236}">
                  <a16:creationId xmlns:a16="http://schemas.microsoft.com/office/drawing/2014/main" id="{9536BB61-23BE-439B-9980-36D2FF44B2B5}"/>
                </a:ext>
              </a:extLst>
            </p:cNvPr>
            <p:cNvSpPr>
              <a:spLocks noChangeArrowheads="1"/>
            </p:cNvSpPr>
            <p:nvPr/>
          </p:nvSpPr>
          <p:spPr bwMode="auto">
            <a:xfrm>
              <a:off x="1992" y="2994"/>
              <a:ext cx="309" cy="155"/>
            </a:xfrm>
            <a:prstGeom prst="rect">
              <a:avLst/>
            </a:prstGeom>
            <a:noFill/>
            <a:ln w="9525">
              <a:noFill/>
              <a:miter lim="800000"/>
              <a:headEnd/>
              <a:tailEnd/>
            </a:ln>
          </p:spPr>
          <p:txBody>
            <a:bodyPr wrap="none" lIns="0" tIns="0" rIns="0" bIns="0">
              <a:spAutoFit/>
            </a:bodyPr>
            <a:lstStyle/>
            <a:p>
              <a:r>
                <a:rPr lang="en-US" sz="1800" b="1"/>
                <a:t>1980</a:t>
              </a:r>
              <a:endParaRPr lang="en-US" sz="2000"/>
            </a:p>
          </p:txBody>
        </p:sp>
        <p:sp>
          <p:nvSpPr>
            <p:cNvPr id="101" name="Rectangle 98">
              <a:extLst>
                <a:ext uri="{FF2B5EF4-FFF2-40B4-BE49-F238E27FC236}">
                  <a16:creationId xmlns:a16="http://schemas.microsoft.com/office/drawing/2014/main" id="{6E0DAF74-59B8-41AE-8980-78B52B5B2ED1}"/>
                </a:ext>
              </a:extLst>
            </p:cNvPr>
            <p:cNvSpPr>
              <a:spLocks noChangeArrowheads="1"/>
            </p:cNvSpPr>
            <p:nvPr/>
          </p:nvSpPr>
          <p:spPr bwMode="auto">
            <a:xfrm>
              <a:off x="2794" y="2994"/>
              <a:ext cx="310" cy="155"/>
            </a:xfrm>
            <a:prstGeom prst="rect">
              <a:avLst/>
            </a:prstGeom>
            <a:noFill/>
            <a:ln w="9525">
              <a:noFill/>
              <a:miter lim="800000"/>
              <a:headEnd/>
              <a:tailEnd/>
            </a:ln>
          </p:spPr>
          <p:txBody>
            <a:bodyPr wrap="none" lIns="0" tIns="0" rIns="0" bIns="0">
              <a:spAutoFit/>
            </a:bodyPr>
            <a:lstStyle/>
            <a:p>
              <a:r>
                <a:rPr lang="en-US" sz="1800" b="1"/>
                <a:t>1990</a:t>
              </a:r>
              <a:endParaRPr lang="en-US" sz="2000"/>
            </a:p>
          </p:txBody>
        </p:sp>
        <p:sp>
          <p:nvSpPr>
            <p:cNvPr id="102" name="Rectangle 99">
              <a:extLst>
                <a:ext uri="{FF2B5EF4-FFF2-40B4-BE49-F238E27FC236}">
                  <a16:creationId xmlns:a16="http://schemas.microsoft.com/office/drawing/2014/main" id="{EE98D5C4-9B85-49C1-8EA0-0518D29B377B}"/>
                </a:ext>
              </a:extLst>
            </p:cNvPr>
            <p:cNvSpPr>
              <a:spLocks noChangeArrowheads="1"/>
            </p:cNvSpPr>
            <p:nvPr/>
          </p:nvSpPr>
          <p:spPr bwMode="auto">
            <a:xfrm>
              <a:off x="3596" y="2994"/>
              <a:ext cx="310" cy="155"/>
            </a:xfrm>
            <a:prstGeom prst="rect">
              <a:avLst/>
            </a:prstGeom>
            <a:noFill/>
            <a:ln w="9525">
              <a:noFill/>
              <a:miter lim="800000"/>
              <a:headEnd/>
              <a:tailEnd/>
            </a:ln>
          </p:spPr>
          <p:txBody>
            <a:bodyPr wrap="none" lIns="0" tIns="0" rIns="0" bIns="0">
              <a:spAutoFit/>
            </a:bodyPr>
            <a:lstStyle/>
            <a:p>
              <a:r>
                <a:rPr lang="en-US" sz="1800" b="1"/>
                <a:t>2000</a:t>
              </a:r>
              <a:endParaRPr lang="en-US" sz="2000"/>
            </a:p>
          </p:txBody>
        </p:sp>
        <p:sp>
          <p:nvSpPr>
            <p:cNvPr id="103" name="Rectangle 100">
              <a:extLst>
                <a:ext uri="{FF2B5EF4-FFF2-40B4-BE49-F238E27FC236}">
                  <a16:creationId xmlns:a16="http://schemas.microsoft.com/office/drawing/2014/main" id="{7A33FAEE-FA9E-4DE7-9F18-07B0CDB76930}"/>
                </a:ext>
              </a:extLst>
            </p:cNvPr>
            <p:cNvSpPr>
              <a:spLocks noChangeArrowheads="1"/>
            </p:cNvSpPr>
            <p:nvPr/>
          </p:nvSpPr>
          <p:spPr bwMode="auto">
            <a:xfrm>
              <a:off x="4398" y="2994"/>
              <a:ext cx="310" cy="155"/>
            </a:xfrm>
            <a:prstGeom prst="rect">
              <a:avLst/>
            </a:prstGeom>
            <a:noFill/>
            <a:ln w="9525">
              <a:noFill/>
              <a:miter lim="800000"/>
              <a:headEnd/>
              <a:tailEnd/>
            </a:ln>
          </p:spPr>
          <p:txBody>
            <a:bodyPr wrap="none" lIns="0" tIns="0" rIns="0" bIns="0">
              <a:spAutoFit/>
            </a:bodyPr>
            <a:lstStyle/>
            <a:p>
              <a:r>
                <a:rPr lang="en-US" sz="1800" b="1"/>
                <a:t>2010</a:t>
              </a:r>
              <a:endParaRPr lang="en-US" sz="2000"/>
            </a:p>
          </p:txBody>
        </p:sp>
        <p:sp>
          <p:nvSpPr>
            <p:cNvPr id="104" name="Rectangle 101">
              <a:extLst>
                <a:ext uri="{FF2B5EF4-FFF2-40B4-BE49-F238E27FC236}">
                  <a16:creationId xmlns:a16="http://schemas.microsoft.com/office/drawing/2014/main" id="{A01CB710-46AB-42A7-BEEF-F180BE3700D1}"/>
                </a:ext>
              </a:extLst>
            </p:cNvPr>
            <p:cNvSpPr>
              <a:spLocks noChangeArrowheads="1"/>
            </p:cNvSpPr>
            <p:nvPr/>
          </p:nvSpPr>
          <p:spPr bwMode="auto">
            <a:xfrm>
              <a:off x="2803" y="3175"/>
              <a:ext cx="302" cy="155"/>
            </a:xfrm>
            <a:prstGeom prst="rect">
              <a:avLst/>
            </a:prstGeom>
            <a:noFill/>
            <a:ln w="9525">
              <a:noFill/>
              <a:miter lim="800000"/>
              <a:headEnd/>
              <a:tailEnd/>
            </a:ln>
          </p:spPr>
          <p:txBody>
            <a:bodyPr wrap="none" lIns="0" tIns="0" rIns="0" bIns="0">
              <a:spAutoFit/>
            </a:bodyPr>
            <a:lstStyle/>
            <a:p>
              <a:r>
                <a:rPr lang="en-US" sz="1800" b="1"/>
                <a:t>Year</a:t>
              </a:r>
              <a:endParaRPr lang="en-US" sz="2000"/>
            </a:p>
          </p:txBody>
        </p:sp>
        <p:sp>
          <p:nvSpPr>
            <p:cNvPr id="105" name="Rectangle 102">
              <a:extLst>
                <a:ext uri="{FF2B5EF4-FFF2-40B4-BE49-F238E27FC236}">
                  <a16:creationId xmlns:a16="http://schemas.microsoft.com/office/drawing/2014/main" id="{4D84AC81-5F0A-4723-A509-B07052FDD329}"/>
                </a:ext>
              </a:extLst>
            </p:cNvPr>
            <p:cNvSpPr>
              <a:spLocks noChangeArrowheads="1"/>
            </p:cNvSpPr>
            <p:nvPr/>
          </p:nvSpPr>
          <p:spPr bwMode="auto">
            <a:xfrm rot="16200000">
              <a:off x="94" y="1826"/>
              <a:ext cx="1426" cy="167"/>
            </a:xfrm>
            <a:prstGeom prst="rect">
              <a:avLst/>
            </a:prstGeom>
            <a:noFill/>
            <a:ln w="9525">
              <a:noFill/>
              <a:miter lim="800000"/>
              <a:headEnd/>
              <a:tailEnd/>
            </a:ln>
          </p:spPr>
          <p:txBody>
            <a:bodyPr wrap="none" lIns="0" tIns="0" rIns="0" bIns="0">
              <a:spAutoFit/>
            </a:bodyPr>
            <a:lstStyle/>
            <a:p>
              <a:r>
                <a:rPr lang="en-US" sz="1800" b="1"/>
                <a:t>Power Density (W/cm2)</a:t>
              </a:r>
              <a:endParaRPr lang="en-US" sz="2000"/>
            </a:p>
          </p:txBody>
        </p:sp>
        <p:sp>
          <p:nvSpPr>
            <p:cNvPr id="106" name="Rectangle 103">
              <a:extLst>
                <a:ext uri="{FF2B5EF4-FFF2-40B4-BE49-F238E27FC236}">
                  <a16:creationId xmlns:a16="http://schemas.microsoft.com/office/drawing/2014/main" id="{8D6691ED-332C-4214-850A-683FAAC91D81}"/>
                </a:ext>
              </a:extLst>
            </p:cNvPr>
            <p:cNvSpPr>
              <a:spLocks noChangeArrowheads="1"/>
            </p:cNvSpPr>
            <p:nvPr/>
          </p:nvSpPr>
          <p:spPr bwMode="auto">
            <a:xfrm>
              <a:off x="2352" y="2237"/>
              <a:ext cx="838" cy="262"/>
            </a:xfrm>
            <a:prstGeom prst="rect">
              <a:avLst/>
            </a:prstGeom>
            <a:noFill/>
            <a:ln w="9525">
              <a:noFill/>
              <a:miter lim="800000"/>
              <a:headEnd/>
              <a:tailEnd/>
            </a:ln>
          </p:spPr>
          <p:txBody>
            <a:bodyPr/>
            <a:lstStyle/>
            <a:p>
              <a:endParaRPr lang="en-US"/>
            </a:p>
          </p:txBody>
        </p:sp>
      </p:grpSp>
      <p:sp>
        <p:nvSpPr>
          <p:cNvPr id="107" name="Rectangle 132">
            <a:extLst>
              <a:ext uri="{FF2B5EF4-FFF2-40B4-BE49-F238E27FC236}">
                <a16:creationId xmlns:a16="http://schemas.microsoft.com/office/drawing/2014/main" id="{DCA60E5A-FDBC-4695-91A5-4AEE982592A4}"/>
              </a:ext>
            </a:extLst>
          </p:cNvPr>
          <p:cNvSpPr>
            <a:spLocks noChangeArrowheads="1"/>
          </p:cNvSpPr>
          <p:nvPr/>
        </p:nvSpPr>
        <p:spPr bwMode="auto">
          <a:xfrm>
            <a:off x="800086" y="1366676"/>
            <a:ext cx="1652697" cy="646973"/>
          </a:xfrm>
          <a:prstGeom prst="rect">
            <a:avLst/>
          </a:prstGeom>
          <a:noFill/>
          <a:ln w="9525">
            <a:noFill/>
            <a:miter lim="800000"/>
            <a:headEnd/>
            <a:tailEnd/>
          </a:ln>
          <a:effectLst/>
        </p:spPr>
        <p:txBody>
          <a:bodyPr wrap="none" lIns="92075" tIns="46038" rIns="92075" bIns="46038">
            <a:spAutoFit/>
          </a:bodyPr>
          <a:lstStyle/>
          <a:p>
            <a:pPr eaLnBrk="0" fontAlgn="base" hangingPunct="0">
              <a:spcBef>
                <a:spcPct val="0"/>
              </a:spcBef>
              <a:spcAft>
                <a:spcPct val="0"/>
              </a:spcAft>
            </a:pPr>
            <a:r>
              <a:rPr lang="en-US" sz="2000" dirty="0">
                <a:solidFill>
                  <a:srgbClr val="C00000"/>
                </a:solidFill>
                <a:latin typeface="Arial" charset="0"/>
              </a:rPr>
              <a:t> </a:t>
            </a:r>
          </a:p>
          <a:p>
            <a:pPr eaLnBrk="0" fontAlgn="base" hangingPunct="0">
              <a:spcBef>
                <a:spcPct val="0"/>
              </a:spcBef>
              <a:spcAft>
                <a:spcPct val="0"/>
              </a:spcAft>
            </a:pPr>
            <a:r>
              <a:rPr lang="en-US" sz="1600" b="1" dirty="0">
                <a:solidFill>
                  <a:srgbClr val="000000"/>
                </a:solidFill>
                <a:latin typeface="Arial" charset="0"/>
              </a:rPr>
              <a:t>Source: Intel</a:t>
            </a:r>
            <a:r>
              <a:rPr lang="en-US" sz="1600" b="1" dirty="0">
                <a:solidFill>
                  <a:srgbClr val="000000"/>
                </a:solidFill>
                <a:latin typeface="Arial" charset="0"/>
                <a:sym typeface="Symbol" pitchFamily="18" charset="2"/>
              </a:rPr>
              <a:t></a:t>
            </a:r>
          </a:p>
        </p:txBody>
      </p:sp>
      <p:pic>
        <p:nvPicPr>
          <p:cNvPr id="5" name="Picture 4">
            <a:extLst>
              <a:ext uri="{FF2B5EF4-FFF2-40B4-BE49-F238E27FC236}">
                <a16:creationId xmlns:a16="http://schemas.microsoft.com/office/drawing/2014/main" id="{6CA39357-9295-4290-A39C-EC2A6FEDD30E}"/>
              </a:ext>
            </a:extLst>
          </p:cNvPr>
          <p:cNvPicPr>
            <a:picLocks noChangeAspect="1"/>
          </p:cNvPicPr>
          <p:nvPr/>
        </p:nvPicPr>
        <p:blipFill>
          <a:blip r:embed="rId2" cstate="print"/>
          <a:stretch>
            <a:fillRect/>
          </a:stretch>
        </p:blipFill>
        <p:spPr>
          <a:xfrm>
            <a:off x="6247478" y="2789007"/>
            <a:ext cx="1743607" cy="914479"/>
          </a:xfrm>
          <a:prstGeom prst="rect">
            <a:avLst/>
          </a:prstGeom>
        </p:spPr>
      </p:pic>
      <p:pic>
        <p:nvPicPr>
          <p:cNvPr id="108" name="Picture 107">
            <a:extLst>
              <a:ext uri="{FF2B5EF4-FFF2-40B4-BE49-F238E27FC236}">
                <a16:creationId xmlns:a16="http://schemas.microsoft.com/office/drawing/2014/main" id="{F9932941-FBF2-479D-9DE3-A408BFC6BAA6}"/>
              </a:ext>
            </a:extLst>
          </p:cNvPr>
          <p:cNvPicPr>
            <a:picLocks noChangeAspect="1"/>
          </p:cNvPicPr>
          <p:nvPr/>
        </p:nvPicPr>
        <p:blipFill>
          <a:blip r:embed="rId3" cstate="print"/>
          <a:stretch>
            <a:fillRect/>
          </a:stretch>
        </p:blipFill>
        <p:spPr>
          <a:xfrm>
            <a:off x="5659433" y="3762217"/>
            <a:ext cx="1743607" cy="573074"/>
          </a:xfrm>
          <a:prstGeom prst="rect">
            <a:avLst/>
          </a:prstGeom>
        </p:spPr>
      </p:pic>
      <p:grpSp>
        <p:nvGrpSpPr>
          <p:cNvPr id="110" name="Group 118">
            <a:extLst>
              <a:ext uri="{FF2B5EF4-FFF2-40B4-BE49-F238E27FC236}">
                <a16:creationId xmlns:a16="http://schemas.microsoft.com/office/drawing/2014/main" id="{041270C4-C849-4D21-82A8-D589DF1D1FAA}"/>
              </a:ext>
            </a:extLst>
          </p:cNvPr>
          <p:cNvGrpSpPr>
            <a:grpSpLocks/>
          </p:cNvGrpSpPr>
          <p:nvPr/>
        </p:nvGrpSpPr>
        <p:grpSpPr bwMode="auto">
          <a:xfrm>
            <a:off x="7078861" y="2116263"/>
            <a:ext cx="1531937" cy="715963"/>
            <a:chOff x="2388" y="1122"/>
            <a:chExt cx="965" cy="451"/>
          </a:xfrm>
        </p:grpSpPr>
        <p:grpSp>
          <p:nvGrpSpPr>
            <p:cNvPr id="111" name="Group 119">
              <a:extLst>
                <a:ext uri="{FF2B5EF4-FFF2-40B4-BE49-F238E27FC236}">
                  <a16:creationId xmlns:a16="http://schemas.microsoft.com/office/drawing/2014/main" id="{B6B7D12E-FC8F-4508-B873-52BA1CE529E9}"/>
                </a:ext>
              </a:extLst>
            </p:cNvPr>
            <p:cNvGrpSpPr>
              <a:grpSpLocks/>
            </p:cNvGrpSpPr>
            <p:nvPr/>
          </p:nvGrpSpPr>
          <p:grpSpPr bwMode="auto">
            <a:xfrm>
              <a:off x="2388" y="1122"/>
              <a:ext cx="559" cy="419"/>
              <a:chOff x="2474" y="1302"/>
              <a:chExt cx="559" cy="419"/>
            </a:xfrm>
          </p:grpSpPr>
          <p:sp>
            <p:nvSpPr>
              <p:cNvPr id="115" name="Rectangle 120">
                <a:extLst>
                  <a:ext uri="{FF2B5EF4-FFF2-40B4-BE49-F238E27FC236}">
                    <a16:creationId xmlns:a16="http://schemas.microsoft.com/office/drawing/2014/main" id="{ED71209C-07C0-4C06-BD34-DA97016CCB41}"/>
                  </a:ext>
                </a:extLst>
              </p:cNvPr>
              <p:cNvSpPr>
                <a:spLocks noChangeArrowheads="1"/>
              </p:cNvSpPr>
              <p:nvPr/>
            </p:nvSpPr>
            <p:spPr bwMode="auto">
              <a:xfrm>
                <a:off x="2474" y="1302"/>
                <a:ext cx="559" cy="202"/>
              </a:xfrm>
              <a:prstGeom prst="rect">
                <a:avLst/>
              </a:prstGeom>
              <a:noFill/>
              <a:ln w="9525">
                <a:noFill/>
                <a:miter lim="800000"/>
                <a:headEnd/>
                <a:tailEnd/>
              </a:ln>
            </p:spPr>
            <p:txBody>
              <a:bodyPr wrap="none" lIns="0" tIns="0" rIns="0" bIns="0">
                <a:spAutoFit/>
              </a:bodyPr>
              <a:lstStyle/>
              <a:p>
                <a:pPr fontAlgn="base">
                  <a:spcBef>
                    <a:spcPct val="0"/>
                  </a:spcBef>
                  <a:spcAft>
                    <a:spcPct val="0"/>
                  </a:spcAft>
                </a:pPr>
                <a:r>
                  <a:rPr lang="en-US" sz="2100" b="1" dirty="0">
                    <a:solidFill>
                      <a:srgbClr val="000000"/>
                    </a:solidFill>
                    <a:latin typeface="Arial" charset="0"/>
                  </a:rPr>
                  <a:t>Rocket</a:t>
                </a:r>
                <a:endParaRPr lang="en-US" sz="2000" dirty="0">
                  <a:solidFill>
                    <a:srgbClr val="000000"/>
                  </a:solidFill>
                  <a:latin typeface="Arial" charset="0"/>
                </a:endParaRPr>
              </a:p>
            </p:txBody>
          </p:sp>
          <p:sp>
            <p:nvSpPr>
              <p:cNvPr id="116" name="Rectangle 121">
                <a:extLst>
                  <a:ext uri="{FF2B5EF4-FFF2-40B4-BE49-F238E27FC236}">
                    <a16:creationId xmlns:a16="http://schemas.microsoft.com/office/drawing/2014/main" id="{99673BEC-0735-4CBC-BD30-0931D0C38360}"/>
                  </a:ext>
                </a:extLst>
              </p:cNvPr>
              <p:cNvSpPr>
                <a:spLocks noChangeArrowheads="1"/>
              </p:cNvSpPr>
              <p:nvPr/>
            </p:nvSpPr>
            <p:spPr bwMode="auto">
              <a:xfrm>
                <a:off x="2474" y="1519"/>
                <a:ext cx="532" cy="202"/>
              </a:xfrm>
              <a:prstGeom prst="rect">
                <a:avLst/>
              </a:prstGeom>
              <a:noFill/>
              <a:ln w="9525">
                <a:noFill/>
                <a:miter lim="800000"/>
                <a:headEnd/>
                <a:tailEnd/>
              </a:ln>
            </p:spPr>
            <p:txBody>
              <a:bodyPr wrap="none" lIns="0" tIns="0" rIns="0" bIns="0">
                <a:spAutoFit/>
              </a:bodyPr>
              <a:lstStyle/>
              <a:p>
                <a:pPr fontAlgn="base">
                  <a:spcBef>
                    <a:spcPct val="0"/>
                  </a:spcBef>
                  <a:spcAft>
                    <a:spcPct val="0"/>
                  </a:spcAft>
                </a:pPr>
                <a:r>
                  <a:rPr lang="en-US" sz="2100" b="1">
                    <a:solidFill>
                      <a:srgbClr val="000000"/>
                    </a:solidFill>
                    <a:latin typeface="Arial" charset="0"/>
                  </a:rPr>
                  <a:t>Nozzle</a:t>
                </a:r>
                <a:endParaRPr lang="en-US" sz="2000">
                  <a:solidFill>
                    <a:srgbClr val="000000"/>
                  </a:solidFill>
                  <a:latin typeface="Arial" charset="0"/>
                </a:endParaRPr>
              </a:p>
            </p:txBody>
          </p:sp>
        </p:grpSp>
        <p:grpSp>
          <p:nvGrpSpPr>
            <p:cNvPr id="112" name="Group 122">
              <a:extLst>
                <a:ext uri="{FF2B5EF4-FFF2-40B4-BE49-F238E27FC236}">
                  <a16:creationId xmlns:a16="http://schemas.microsoft.com/office/drawing/2014/main" id="{0E6069F8-9B66-495E-84D1-A8A9A6703E4D}"/>
                </a:ext>
              </a:extLst>
            </p:cNvPr>
            <p:cNvGrpSpPr>
              <a:grpSpLocks/>
            </p:cNvGrpSpPr>
            <p:nvPr/>
          </p:nvGrpSpPr>
          <p:grpSpPr bwMode="auto">
            <a:xfrm>
              <a:off x="3019" y="1438"/>
              <a:ext cx="334" cy="135"/>
              <a:chOff x="3105" y="1618"/>
              <a:chExt cx="334" cy="135"/>
            </a:xfrm>
          </p:grpSpPr>
          <p:sp>
            <p:nvSpPr>
              <p:cNvPr id="113" name="Rectangle 123">
                <a:extLst>
                  <a:ext uri="{FF2B5EF4-FFF2-40B4-BE49-F238E27FC236}">
                    <a16:creationId xmlns:a16="http://schemas.microsoft.com/office/drawing/2014/main" id="{89BB8214-143A-4679-8856-891982E53184}"/>
                  </a:ext>
                </a:extLst>
              </p:cNvPr>
              <p:cNvSpPr>
                <a:spLocks noChangeArrowheads="1"/>
              </p:cNvSpPr>
              <p:nvPr/>
            </p:nvSpPr>
            <p:spPr bwMode="auto">
              <a:xfrm>
                <a:off x="3105" y="1672"/>
                <a:ext cx="226" cy="27"/>
              </a:xfrm>
              <a:prstGeom prst="rect">
                <a:avLst/>
              </a:prstGeom>
              <a:solidFill>
                <a:srgbClr val="FF0000"/>
              </a:solidFill>
              <a:ln w="9525">
                <a:noFill/>
                <a:miter lim="800000"/>
                <a:headEnd/>
                <a:tailEnd/>
              </a:ln>
            </p:spPr>
            <p:txBody>
              <a:bodyPr/>
              <a:lstStyle/>
              <a:p>
                <a:pPr fontAlgn="base">
                  <a:spcBef>
                    <a:spcPct val="0"/>
                  </a:spcBef>
                  <a:spcAft>
                    <a:spcPct val="0"/>
                  </a:spcAft>
                </a:pPr>
                <a:endParaRPr lang="en-US" sz="2100">
                  <a:solidFill>
                    <a:srgbClr val="000000"/>
                  </a:solidFill>
                  <a:latin typeface="Arial" charset="0"/>
                </a:endParaRPr>
              </a:p>
            </p:txBody>
          </p:sp>
          <p:sp>
            <p:nvSpPr>
              <p:cNvPr id="114" name="Freeform 124">
                <a:extLst>
                  <a:ext uri="{FF2B5EF4-FFF2-40B4-BE49-F238E27FC236}">
                    <a16:creationId xmlns:a16="http://schemas.microsoft.com/office/drawing/2014/main" id="{DE19A5C1-D155-44CF-98F4-749B5D4B65AD}"/>
                  </a:ext>
                </a:extLst>
              </p:cNvPr>
              <p:cNvSpPr>
                <a:spLocks/>
              </p:cNvSpPr>
              <p:nvPr/>
            </p:nvSpPr>
            <p:spPr bwMode="auto">
              <a:xfrm>
                <a:off x="3313" y="1618"/>
                <a:ext cx="126" cy="135"/>
              </a:xfrm>
              <a:custGeom>
                <a:avLst/>
                <a:gdLst/>
                <a:ahLst/>
                <a:cxnLst>
                  <a:cxn ang="0">
                    <a:pos x="0" y="135"/>
                  </a:cxn>
                  <a:cxn ang="0">
                    <a:pos x="126" y="63"/>
                  </a:cxn>
                  <a:cxn ang="0">
                    <a:pos x="0" y="0"/>
                  </a:cxn>
                  <a:cxn ang="0">
                    <a:pos x="0" y="135"/>
                  </a:cxn>
                </a:cxnLst>
                <a:rect l="0" t="0" r="r" b="b"/>
                <a:pathLst>
                  <a:path w="126" h="135">
                    <a:moveTo>
                      <a:pt x="0" y="135"/>
                    </a:moveTo>
                    <a:lnTo>
                      <a:pt x="126" y="63"/>
                    </a:lnTo>
                    <a:lnTo>
                      <a:pt x="0" y="0"/>
                    </a:lnTo>
                    <a:lnTo>
                      <a:pt x="0" y="135"/>
                    </a:lnTo>
                    <a:close/>
                  </a:path>
                </a:pathLst>
              </a:custGeom>
              <a:solidFill>
                <a:srgbClr val="FF0000"/>
              </a:solidFill>
              <a:ln w="9525">
                <a:noFill/>
                <a:round/>
                <a:headEnd/>
                <a:tailEnd/>
              </a:ln>
            </p:spPr>
            <p:txBody>
              <a:bodyPr/>
              <a:lstStyle/>
              <a:p>
                <a:pPr fontAlgn="base">
                  <a:spcBef>
                    <a:spcPct val="0"/>
                  </a:spcBef>
                  <a:spcAft>
                    <a:spcPct val="0"/>
                  </a:spcAft>
                </a:pPr>
                <a:endParaRPr lang="en-US" sz="2100">
                  <a:solidFill>
                    <a:srgbClr val="000000"/>
                  </a:solidFill>
                  <a:latin typeface="Arial" charset="0"/>
                </a:endParaRPr>
              </a:p>
            </p:txBody>
          </p:sp>
        </p:grpSp>
      </p:grpSp>
    </p:spTree>
    <p:extLst>
      <p:ext uri="{BB962C8B-B14F-4D97-AF65-F5344CB8AC3E}">
        <p14:creationId xmlns:p14="http://schemas.microsoft.com/office/powerpoint/2010/main" val="916627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767B7-7B52-42AC-88A4-28A2F41E2909}"/>
              </a:ext>
            </a:extLst>
          </p:cNvPr>
          <p:cNvSpPr>
            <a:spLocks noGrp="1"/>
          </p:cNvSpPr>
          <p:nvPr>
            <p:ph type="title"/>
          </p:nvPr>
        </p:nvSpPr>
        <p:spPr>
          <a:xfrm>
            <a:off x="1473201" y="624110"/>
            <a:ext cx="10031412" cy="828770"/>
          </a:xfrm>
        </p:spPr>
        <p:txBody>
          <a:bodyPr>
            <a:normAutofit/>
          </a:bodyPr>
          <a:lstStyle/>
          <a:p>
            <a:r>
              <a:rPr lang="en-US" sz="3200" dirty="0">
                <a:latin typeface="Arial" panose="020B0604020202020204" pitchFamily="34" charset="0"/>
                <a:cs typeface="Arial" panose="020B0604020202020204" pitchFamily="34" charset="0"/>
              </a:rPr>
              <a:t> Environment</a:t>
            </a:r>
            <a:endParaRPr lang="en-IN" sz="32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02B24C1-F44A-4127-BF4C-8A5BB5FF22F1}"/>
              </a:ext>
            </a:extLst>
          </p:cNvPr>
          <p:cNvSpPr>
            <a:spLocks noGrp="1"/>
          </p:cNvSpPr>
          <p:nvPr>
            <p:ph idx="1"/>
          </p:nvPr>
        </p:nvSpPr>
        <p:spPr>
          <a:xfrm>
            <a:off x="1473200" y="1320800"/>
            <a:ext cx="10031412" cy="4819022"/>
          </a:xfrm>
        </p:spPr>
        <p:txBody>
          <a:bodyPr/>
          <a:lstStyle/>
          <a:p>
            <a:pPr algn="just"/>
            <a:r>
              <a:rPr lang="en-US" dirty="0">
                <a:latin typeface="Arial" panose="020B0604020202020204" pitchFamily="34" charset="0"/>
                <a:cs typeface="Arial" panose="020B0604020202020204" pitchFamily="34" charset="0"/>
              </a:rPr>
              <a:t>According to an estimate of the U.S environmental protection agency (EPA) , 80% of power consumption by office equipment  are due to computing equipment and a large part from unused equipment </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Power is dissipated mostly in the form of heat .The cooling techniques , such as AC transfers the heat to the environment</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To reduce adverse effect on environment  efforts such  as EPA’s energy star program leading to power management standard for desktops and laptops has emerged    </a:t>
            </a:r>
          </a:p>
        </p:txBody>
      </p:sp>
      <p:sp>
        <p:nvSpPr>
          <p:cNvPr id="4" name="Footer Placeholder 3">
            <a:extLst>
              <a:ext uri="{FF2B5EF4-FFF2-40B4-BE49-F238E27FC236}">
                <a16:creationId xmlns:a16="http://schemas.microsoft.com/office/drawing/2014/main" id="{0BDF5F66-0BA3-4425-9D11-CA2402116196}"/>
              </a:ext>
            </a:extLst>
          </p:cNvPr>
          <p:cNvSpPr>
            <a:spLocks noGrp="1"/>
          </p:cNvSpPr>
          <p:nvPr>
            <p:ph type="ftr" sz="quarter" idx="11"/>
          </p:nvPr>
        </p:nvSpPr>
        <p:spPr>
          <a:xfrm>
            <a:off x="1544320" y="6139822"/>
            <a:ext cx="8664891" cy="361111"/>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152764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450CC-39A2-4FA7-A62D-A4863B9AF3DB}"/>
              </a:ext>
            </a:extLst>
          </p:cNvPr>
          <p:cNvSpPr>
            <a:spLocks noGrp="1"/>
          </p:cNvSpPr>
          <p:nvPr>
            <p:ph type="title"/>
          </p:nvPr>
        </p:nvSpPr>
        <p:spPr>
          <a:xfrm>
            <a:off x="1686561" y="624110"/>
            <a:ext cx="9818052" cy="940530"/>
          </a:xfrm>
        </p:spPr>
        <p:txBody>
          <a:bodyPr/>
          <a:lstStyle/>
          <a:p>
            <a:r>
              <a:rPr lang="en-US" sz="3200" dirty="0">
                <a:solidFill>
                  <a:prstClr val="black">
                    <a:lumMod val="85000"/>
                    <a:lumOff val="15000"/>
                  </a:prstClr>
                </a:solidFill>
                <a:latin typeface="Arial" panose="020B0604020202020204" pitchFamily="34" charset="0"/>
                <a:cs typeface="Arial" panose="020B0604020202020204" pitchFamily="34" charset="0"/>
              </a:rPr>
              <a:t>CMOS Technology of Choice</a:t>
            </a:r>
            <a:endParaRPr lang="en-IN" dirty="0"/>
          </a:p>
        </p:txBody>
      </p:sp>
      <p:sp>
        <p:nvSpPr>
          <p:cNvPr id="3" name="Content Placeholder 2">
            <a:extLst>
              <a:ext uri="{FF2B5EF4-FFF2-40B4-BE49-F238E27FC236}">
                <a16:creationId xmlns:a16="http://schemas.microsoft.com/office/drawing/2014/main" id="{16040A21-9C6B-4D41-81DB-64FEEDFA8834}"/>
              </a:ext>
            </a:extLst>
          </p:cNvPr>
          <p:cNvSpPr>
            <a:spLocks noGrp="1"/>
          </p:cNvSpPr>
          <p:nvPr>
            <p:ph idx="1"/>
          </p:nvPr>
        </p:nvSpPr>
        <p:spPr>
          <a:xfrm>
            <a:off x="1137920" y="1564640"/>
            <a:ext cx="10576560" cy="4460240"/>
          </a:xfrm>
        </p:spPr>
        <p:txBody>
          <a:bodyPr>
            <a:normAutofit/>
          </a:bodyPr>
          <a:lstStyle/>
          <a:p>
            <a:r>
              <a:rPr lang="en-US" sz="2200" b="1" u="sng" dirty="0">
                <a:solidFill>
                  <a:prstClr val="black">
                    <a:lumMod val="75000"/>
                    <a:lumOff val="25000"/>
                  </a:prstClr>
                </a:solidFill>
                <a:latin typeface="Arial" panose="020B0604020202020204" pitchFamily="34" charset="0"/>
                <a:cs typeface="Arial" panose="020B0604020202020204" pitchFamily="34" charset="0"/>
              </a:rPr>
              <a:t>Advantages </a:t>
            </a:r>
          </a:p>
          <a:p>
            <a:pPr marL="0" indent="0">
              <a:buNone/>
            </a:pPr>
            <a:endParaRPr lang="en-US" b="1" u="sng" dirty="0">
              <a:solidFill>
                <a:prstClr val="black">
                  <a:lumMod val="75000"/>
                  <a:lumOff val="25000"/>
                </a:prstClr>
              </a:solidFill>
              <a:latin typeface="Arial" panose="020B0604020202020204" pitchFamily="34" charset="0"/>
              <a:cs typeface="Arial" panose="020B0604020202020204" pitchFamily="34" charset="0"/>
            </a:endParaRPr>
          </a:p>
          <a:p>
            <a:r>
              <a:rPr lang="en-US" sz="2800" baseline="30000" dirty="0">
                <a:latin typeface="Arial" panose="020B0604020202020204" pitchFamily="34" charset="0"/>
                <a:cs typeface="Arial" panose="020B0604020202020204" pitchFamily="34" charset="0"/>
              </a:rPr>
              <a:t>Ease of Fabrication</a:t>
            </a:r>
          </a:p>
          <a:p>
            <a:r>
              <a:rPr lang="en-US" sz="2800" baseline="30000" dirty="0">
                <a:latin typeface="Arial" panose="020B0604020202020204" pitchFamily="34" charset="0"/>
                <a:cs typeface="Arial" panose="020B0604020202020204" pitchFamily="34" charset="0"/>
              </a:rPr>
              <a:t>Good noise Margin</a:t>
            </a:r>
          </a:p>
          <a:p>
            <a:r>
              <a:rPr lang="en-US" sz="2800" baseline="30000" dirty="0">
                <a:latin typeface="Arial" panose="020B0604020202020204" pitchFamily="34" charset="0"/>
                <a:cs typeface="Arial" panose="020B0604020202020204" pitchFamily="34" charset="0"/>
              </a:rPr>
              <a:t>Robust</a:t>
            </a:r>
          </a:p>
          <a:p>
            <a:r>
              <a:rPr lang="en-US" sz="2800" baseline="30000" dirty="0">
                <a:latin typeface="Arial" panose="020B0604020202020204" pitchFamily="34" charset="0"/>
                <a:cs typeface="Arial" panose="020B0604020202020204" pitchFamily="34" charset="0"/>
              </a:rPr>
              <a:t>Lower Switching Activity</a:t>
            </a:r>
          </a:p>
          <a:p>
            <a:r>
              <a:rPr lang="en-US" sz="2800" baseline="30000" dirty="0">
                <a:latin typeface="Arial" panose="020B0604020202020204" pitchFamily="34" charset="0"/>
                <a:cs typeface="Arial" panose="020B0604020202020204" pitchFamily="34" charset="0"/>
              </a:rPr>
              <a:t>Good input and output decoupling</a:t>
            </a:r>
          </a:p>
          <a:p>
            <a:r>
              <a:rPr lang="en-US" sz="2800" baseline="30000" dirty="0">
                <a:latin typeface="Arial" panose="020B0604020202020204" pitchFamily="34" charset="0"/>
                <a:cs typeface="Arial" panose="020B0604020202020204" pitchFamily="34" charset="0"/>
              </a:rPr>
              <a:t>No charge Sharing problem</a:t>
            </a:r>
          </a:p>
          <a:p>
            <a:r>
              <a:rPr lang="en-US" sz="2800" baseline="30000" dirty="0">
                <a:latin typeface="Arial" panose="020B0604020202020204" pitchFamily="34" charset="0"/>
                <a:cs typeface="Arial" panose="020B0604020202020204" pitchFamily="34" charset="0"/>
              </a:rPr>
              <a:t>Availability of matured logic and synthesis tool.</a:t>
            </a:r>
            <a:r>
              <a:rPr lang="en-US" sz="2800" dirty="0">
                <a:latin typeface="Arial" panose="020B0604020202020204" pitchFamily="34" charset="0"/>
                <a:cs typeface="Arial" panose="020B0604020202020204" pitchFamily="34" charset="0"/>
              </a:rPr>
              <a:t> </a:t>
            </a:r>
            <a:endParaRPr lang="en-IN" sz="2800" baseline="30000" dirty="0">
              <a:latin typeface="Arial" panose="020B0604020202020204" pitchFamily="34" charset="0"/>
              <a:cs typeface="Arial" panose="020B0604020202020204" pitchFamily="34" charset="0"/>
            </a:endParaRPr>
          </a:p>
          <a:p>
            <a:pPr marL="0" indent="0">
              <a:buNone/>
            </a:pPr>
            <a:endParaRPr lang="en-IN" baseline="-250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B06DD7E6-4B55-4E02-B517-68D12727604D}"/>
              </a:ext>
            </a:extLst>
          </p:cNvPr>
          <p:cNvSpPr>
            <a:spLocks noGrp="1"/>
          </p:cNvSpPr>
          <p:nvPr>
            <p:ph type="ftr" sz="quarter" idx="11"/>
          </p:nvPr>
        </p:nvSpPr>
        <p:spPr>
          <a:xfrm>
            <a:off x="1686560" y="6139822"/>
            <a:ext cx="8522651" cy="361111"/>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p:cNvPicPr>
            <a:picLocks noChangeAspect="1"/>
          </p:cNvPicPr>
          <p:nvPr/>
        </p:nvPicPr>
        <p:blipFill>
          <a:blip r:embed="rId2" cstate="print"/>
          <a:stretch>
            <a:fillRect/>
          </a:stretch>
        </p:blipFill>
        <p:spPr>
          <a:xfrm>
            <a:off x="7639665" y="2045110"/>
            <a:ext cx="3470787" cy="3475211"/>
          </a:xfrm>
          <a:prstGeom prst="rect">
            <a:avLst/>
          </a:prstGeom>
        </p:spPr>
      </p:pic>
    </p:spTree>
    <p:extLst>
      <p:ext uri="{BB962C8B-B14F-4D97-AF65-F5344CB8AC3E}">
        <p14:creationId xmlns:p14="http://schemas.microsoft.com/office/powerpoint/2010/main" val="1935528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A5747-7028-492C-BE1E-A20B6CD25AE6}"/>
              </a:ext>
            </a:extLst>
          </p:cNvPr>
          <p:cNvSpPr>
            <a:spLocks noGrp="1"/>
          </p:cNvSpPr>
          <p:nvPr>
            <p:ph type="title"/>
          </p:nvPr>
        </p:nvSpPr>
        <p:spPr>
          <a:xfrm>
            <a:off x="1899921" y="624110"/>
            <a:ext cx="9604692" cy="807384"/>
          </a:xfrm>
        </p:spPr>
        <p:txBody>
          <a:bodyPr/>
          <a:lstStyle/>
          <a:p>
            <a:r>
              <a:rPr lang="en-US" sz="3200" b="1" dirty="0">
                <a:solidFill>
                  <a:prstClr val="black">
                    <a:lumMod val="85000"/>
                    <a:lumOff val="15000"/>
                  </a:prstClr>
                </a:solidFill>
              </a:rPr>
              <a:t>Continue….</a:t>
            </a:r>
            <a:endParaRPr lang="en-IN" dirty="0"/>
          </a:p>
        </p:txBody>
      </p:sp>
      <p:sp>
        <p:nvSpPr>
          <p:cNvPr id="3" name="Content Placeholder 2">
            <a:extLst>
              <a:ext uri="{FF2B5EF4-FFF2-40B4-BE49-F238E27FC236}">
                <a16:creationId xmlns:a16="http://schemas.microsoft.com/office/drawing/2014/main" id="{661ED1FC-6114-465D-BE55-37E3BFF1E8FE}"/>
              </a:ext>
            </a:extLst>
          </p:cNvPr>
          <p:cNvSpPr>
            <a:spLocks noGrp="1"/>
          </p:cNvSpPr>
          <p:nvPr>
            <p:ph idx="1"/>
          </p:nvPr>
        </p:nvSpPr>
        <p:spPr>
          <a:xfrm>
            <a:off x="687387" y="1431494"/>
            <a:ext cx="10701972" cy="4479728"/>
          </a:xfrm>
        </p:spPr>
        <p:txBody>
          <a:bodyPr/>
          <a:lstStyle/>
          <a:p>
            <a:pPr lvl="0" defTabSz="914400" fontAlgn="base">
              <a:spcBef>
                <a:spcPct val="20000"/>
              </a:spcBef>
              <a:spcAft>
                <a:spcPct val="0"/>
              </a:spcAft>
              <a:buClr>
                <a:srgbClr val="CCCC99"/>
              </a:buClr>
              <a:buSzPct val="70000"/>
              <a:buFont typeface="Courier New" pitchFamily="49" charset="0"/>
              <a:buChar char="o"/>
            </a:pPr>
            <a:r>
              <a:rPr lang="en-US" sz="2200" u="sng" kern="0" dirty="0">
                <a:solidFill>
                  <a:schemeClr val="tx1"/>
                </a:solidFill>
                <a:latin typeface="Arial"/>
              </a:rPr>
              <a:t>Disadvantage</a:t>
            </a:r>
            <a:r>
              <a:rPr lang="en-US" sz="2600" kern="0" dirty="0">
                <a:solidFill>
                  <a:schemeClr val="tx1"/>
                </a:solidFill>
                <a:latin typeface="Arial"/>
              </a:rPr>
              <a:t> </a:t>
            </a:r>
          </a:p>
          <a:p>
            <a:pPr lvl="0" defTabSz="914400" fontAlgn="base">
              <a:spcBef>
                <a:spcPct val="20000"/>
              </a:spcBef>
              <a:spcAft>
                <a:spcPct val="0"/>
              </a:spcAft>
              <a:buClr>
                <a:srgbClr val="CCCC99"/>
              </a:buClr>
              <a:buSzPct val="70000"/>
              <a:buFont typeface="Courier New" pitchFamily="49" charset="0"/>
              <a:buChar char="o"/>
            </a:pPr>
            <a:endParaRPr lang="en-US" sz="2600" kern="0" dirty="0">
              <a:solidFill>
                <a:schemeClr val="tx1"/>
              </a:solidFill>
              <a:latin typeface="Arial"/>
            </a:endParaRPr>
          </a:p>
          <a:p>
            <a:pPr lvl="0" defTabSz="914400" fontAlgn="base">
              <a:spcBef>
                <a:spcPct val="20000"/>
              </a:spcBef>
              <a:spcAft>
                <a:spcPct val="0"/>
              </a:spcAft>
              <a:buClr>
                <a:srgbClr val="CCCC99"/>
              </a:buClr>
              <a:buSzPct val="70000"/>
              <a:buFont typeface="Wingdings" pitchFamily="2" charset="2"/>
              <a:buChar char="Ø"/>
            </a:pPr>
            <a:r>
              <a:rPr lang="en-US" kern="0" dirty="0">
                <a:solidFill>
                  <a:srgbClr val="000000"/>
                </a:solidFill>
                <a:latin typeface="Arial"/>
              </a:rPr>
              <a:t>Larger number of transistor (larger chip area &amp; delay)</a:t>
            </a:r>
          </a:p>
          <a:p>
            <a:pPr lvl="0" defTabSz="914400" fontAlgn="base">
              <a:spcBef>
                <a:spcPct val="20000"/>
              </a:spcBef>
              <a:spcAft>
                <a:spcPct val="0"/>
              </a:spcAft>
              <a:buClr>
                <a:srgbClr val="CCCC99"/>
              </a:buClr>
              <a:buSzPct val="70000"/>
              <a:buFont typeface="Wingdings" pitchFamily="2" charset="2"/>
              <a:buChar char="Ø"/>
            </a:pPr>
            <a:r>
              <a:rPr lang="en-US" kern="0" dirty="0">
                <a:solidFill>
                  <a:srgbClr val="000000"/>
                </a:solidFill>
                <a:latin typeface="Arial"/>
              </a:rPr>
              <a:t>Weak Output driving capability</a:t>
            </a:r>
          </a:p>
          <a:p>
            <a:pPr lvl="0" defTabSz="914400" fontAlgn="base">
              <a:spcBef>
                <a:spcPct val="20000"/>
              </a:spcBef>
              <a:spcAft>
                <a:spcPct val="0"/>
              </a:spcAft>
              <a:buClr>
                <a:srgbClr val="CCCC99"/>
              </a:buClr>
              <a:buSzPct val="70000"/>
              <a:buFont typeface="Wingdings" pitchFamily="2" charset="2"/>
              <a:buChar char="Ø"/>
            </a:pPr>
            <a:r>
              <a:rPr lang="en-US" kern="0" dirty="0">
                <a:solidFill>
                  <a:srgbClr val="000000"/>
                </a:solidFill>
                <a:latin typeface="Arial"/>
              </a:rPr>
              <a:t>Larger number of standard cell required substantial engineering effort</a:t>
            </a:r>
          </a:p>
          <a:p>
            <a:pPr lvl="0" defTabSz="914400" fontAlgn="base">
              <a:spcBef>
                <a:spcPct val="20000"/>
              </a:spcBef>
              <a:spcAft>
                <a:spcPct val="0"/>
              </a:spcAft>
              <a:buClr>
                <a:srgbClr val="CCCC99"/>
              </a:buClr>
              <a:buSzPct val="70000"/>
              <a:buNone/>
            </a:pPr>
            <a:r>
              <a:rPr lang="en-US" kern="0" dirty="0">
                <a:solidFill>
                  <a:srgbClr val="000000"/>
                </a:solidFill>
                <a:latin typeface="Arial"/>
              </a:rPr>
              <a:t>     for technology mapping</a:t>
            </a:r>
          </a:p>
          <a:p>
            <a:pPr lvl="0" defTabSz="914400" fontAlgn="base">
              <a:spcBef>
                <a:spcPct val="20000"/>
              </a:spcBef>
              <a:spcAft>
                <a:spcPct val="0"/>
              </a:spcAft>
              <a:buClr>
                <a:srgbClr val="CCCC99"/>
              </a:buClr>
              <a:buSzPct val="70000"/>
              <a:buFont typeface="Wingdings" pitchFamily="2" charset="2"/>
              <a:buChar char="Ø"/>
            </a:pPr>
            <a:r>
              <a:rPr lang="en-US" kern="0" dirty="0">
                <a:solidFill>
                  <a:srgbClr val="000000"/>
                </a:solidFill>
                <a:latin typeface="Arial"/>
              </a:rPr>
              <a:t>Glitching power dissipation</a:t>
            </a:r>
          </a:p>
          <a:p>
            <a:pPr lvl="0" defTabSz="914400" fontAlgn="base">
              <a:spcBef>
                <a:spcPct val="20000"/>
              </a:spcBef>
              <a:spcAft>
                <a:spcPct val="0"/>
              </a:spcAft>
              <a:buClr>
                <a:srgbClr val="CCCC99"/>
              </a:buClr>
              <a:buSzPct val="70000"/>
              <a:buFont typeface="Wingdings" pitchFamily="2" charset="2"/>
              <a:buChar char="Ø"/>
            </a:pPr>
            <a:r>
              <a:rPr lang="en-US" kern="0" dirty="0">
                <a:solidFill>
                  <a:srgbClr val="000000"/>
                </a:solidFill>
                <a:latin typeface="Arial"/>
              </a:rPr>
              <a:t>Short circuit power dissipation</a:t>
            </a:r>
          </a:p>
        </p:txBody>
      </p:sp>
      <p:sp>
        <p:nvSpPr>
          <p:cNvPr id="4" name="Footer Placeholder 3">
            <a:extLst>
              <a:ext uri="{FF2B5EF4-FFF2-40B4-BE49-F238E27FC236}">
                <a16:creationId xmlns:a16="http://schemas.microsoft.com/office/drawing/2014/main" id="{9B6AA1C3-53B6-476E-BF37-13EA133946BF}"/>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345875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6DFCE-0AC9-4064-8980-0F8579036F54}"/>
              </a:ext>
            </a:extLst>
          </p:cNvPr>
          <p:cNvSpPr>
            <a:spLocks noGrp="1"/>
          </p:cNvSpPr>
          <p:nvPr>
            <p:ph type="title"/>
          </p:nvPr>
        </p:nvSpPr>
        <p:spPr>
          <a:xfrm>
            <a:off x="1778001" y="624110"/>
            <a:ext cx="9726612" cy="1280890"/>
          </a:xfrm>
        </p:spPr>
        <p:txBody>
          <a:bodyPr>
            <a:normAutofit/>
          </a:bodyPr>
          <a:lstStyle/>
          <a:p>
            <a:r>
              <a:rPr lang="en-US" sz="3200" dirty="0">
                <a:solidFill>
                  <a:prstClr val="black">
                    <a:lumMod val="85000"/>
                    <a:lumOff val="15000"/>
                  </a:prstClr>
                </a:solidFill>
                <a:latin typeface="Arial" panose="020B0604020202020204" pitchFamily="34" charset="0"/>
                <a:cs typeface="Arial" panose="020B0604020202020204" pitchFamily="34" charset="0"/>
              </a:rPr>
              <a:t>Sources of Power Dissipation</a:t>
            </a:r>
            <a:endParaRPr lang="en-IN" sz="3200" dirty="0"/>
          </a:p>
        </p:txBody>
      </p:sp>
      <p:sp>
        <p:nvSpPr>
          <p:cNvPr id="3" name="Content Placeholder 2">
            <a:extLst>
              <a:ext uri="{FF2B5EF4-FFF2-40B4-BE49-F238E27FC236}">
                <a16:creationId xmlns:a16="http://schemas.microsoft.com/office/drawing/2014/main" id="{52BD3E89-96BE-4B31-BDC6-16A25C748DFB}"/>
              </a:ext>
            </a:extLst>
          </p:cNvPr>
          <p:cNvSpPr>
            <a:spLocks noGrp="1"/>
          </p:cNvSpPr>
          <p:nvPr>
            <p:ph idx="1"/>
          </p:nvPr>
        </p:nvSpPr>
        <p:spPr>
          <a:xfrm>
            <a:off x="1209040" y="1442720"/>
            <a:ext cx="10295572" cy="4693088"/>
          </a:xfrm>
        </p:spPr>
        <p:txBody>
          <a:bodyPr/>
          <a:lstStyle/>
          <a:p>
            <a:r>
              <a:rPr lang="en-US" sz="2000" b="1" u="sng" dirty="0">
                <a:latin typeface="Arial" panose="020B0604020202020204" pitchFamily="34" charset="0"/>
                <a:cs typeface="Arial" panose="020B0604020202020204" pitchFamily="34" charset="0"/>
              </a:rPr>
              <a:t>Dynamic Power (Active Mode)</a:t>
            </a:r>
          </a:p>
          <a:p>
            <a:r>
              <a:rPr lang="en-US" dirty="0">
                <a:latin typeface="Arial" panose="020B0604020202020204" pitchFamily="34" charset="0"/>
                <a:cs typeface="Arial" panose="020B0604020202020204" pitchFamily="34" charset="0"/>
              </a:rPr>
              <a:t>Switching power </a:t>
            </a:r>
          </a:p>
          <a:p>
            <a:r>
              <a:rPr lang="en-US" dirty="0">
                <a:latin typeface="Arial" panose="020B0604020202020204" pitchFamily="34" charset="0"/>
                <a:cs typeface="Arial" panose="020B0604020202020204" pitchFamily="34" charset="0"/>
              </a:rPr>
              <a:t>Glitching power</a:t>
            </a:r>
          </a:p>
          <a:p>
            <a:r>
              <a:rPr lang="en-US" dirty="0">
                <a:latin typeface="Arial" panose="020B0604020202020204" pitchFamily="34" charset="0"/>
                <a:cs typeface="Arial" panose="020B0604020202020204" pitchFamily="34" charset="0"/>
              </a:rPr>
              <a:t>Short circuit power</a:t>
            </a:r>
          </a:p>
          <a:p>
            <a:endParaRPr lang="en-US" dirty="0">
              <a:latin typeface="Arial" panose="020B0604020202020204" pitchFamily="34" charset="0"/>
              <a:cs typeface="Arial" panose="020B0604020202020204" pitchFamily="34" charset="0"/>
            </a:endParaRPr>
          </a:p>
          <a:p>
            <a:r>
              <a:rPr lang="en-US" sz="2000" b="1" u="sng" dirty="0">
                <a:latin typeface="Arial" panose="020B0604020202020204" pitchFamily="34" charset="0"/>
                <a:cs typeface="Arial" panose="020B0604020202020204" pitchFamily="34" charset="0"/>
              </a:rPr>
              <a:t>Static Power (Stand by Mode)</a:t>
            </a:r>
          </a:p>
          <a:p>
            <a:r>
              <a:rPr lang="en-US" dirty="0">
                <a:latin typeface="Arial" panose="020B0604020202020204" pitchFamily="34" charset="0"/>
                <a:cs typeface="Arial" panose="020B0604020202020204" pitchFamily="34" charset="0"/>
              </a:rPr>
              <a:t>Diode leakage current </a:t>
            </a:r>
          </a:p>
          <a:p>
            <a:r>
              <a:rPr lang="en-US" dirty="0">
                <a:latin typeface="Arial" panose="020B0604020202020204" pitchFamily="34" charset="0"/>
                <a:cs typeface="Arial" panose="020B0604020202020204" pitchFamily="34" charset="0"/>
              </a:rPr>
              <a:t>Sub-threshold leakage current</a:t>
            </a:r>
          </a:p>
          <a:p>
            <a:r>
              <a:rPr lang="en-US" dirty="0">
                <a:latin typeface="Arial" panose="020B0604020202020204" pitchFamily="34" charset="0"/>
                <a:cs typeface="Arial" panose="020B0604020202020204" pitchFamily="34" charset="0"/>
              </a:rPr>
              <a:t>Gate leakage current </a:t>
            </a:r>
            <a:endParaRPr lang="en-IN" dirty="0">
              <a:latin typeface="Arial" panose="020B0604020202020204" pitchFamily="34" charset="0"/>
              <a:cs typeface="Arial" panose="020B0604020202020204" pitchFamily="34" charset="0"/>
            </a:endParaRPr>
          </a:p>
          <a:p>
            <a:pPr marL="0" indent="0">
              <a:buNone/>
            </a:pPr>
            <a:endParaRPr lang="en-IN" sz="2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07DBAC4-0734-4B1A-839D-7201A2A37266}"/>
              </a:ext>
            </a:extLst>
          </p:cNvPr>
          <p:cNvSpPr>
            <a:spLocks noGrp="1"/>
          </p:cNvSpPr>
          <p:nvPr>
            <p:ph type="ftr" sz="quarter" idx="11"/>
          </p:nvPr>
        </p:nvSpPr>
        <p:spPr>
          <a:xfrm>
            <a:off x="1778002" y="6135808"/>
            <a:ext cx="8431210" cy="365125"/>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061325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F093-BCF7-49AA-9841-D13767B46F3F}"/>
              </a:ext>
            </a:extLst>
          </p:cNvPr>
          <p:cNvSpPr>
            <a:spLocks noGrp="1"/>
          </p:cNvSpPr>
          <p:nvPr>
            <p:ph type="title"/>
          </p:nvPr>
        </p:nvSpPr>
        <p:spPr>
          <a:xfrm>
            <a:off x="1808481" y="624110"/>
            <a:ext cx="9696132" cy="1280890"/>
          </a:xfrm>
        </p:spPr>
        <p:txBody>
          <a:bodyPr>
            <a:normAutofit/>
          </a:bodyPr>
          <a:lstStyle/>
          <a:p>
            <a:r>
              <a:rPr lang="en-US" sz="3200" dirty="0">
                <a:solidFill>
                  <a:prstClr val="black">
                    <a:lumMod val="85000"/>
                    <a:lumOff val="15000"/>
                  </a:prstClr>
                </a:solidFill>
                <a:latin typeface="Arial" panose="020B0604020202020204" pitchFamily="34" charset="0"/>
                <a:cs typeface="Arial" panose="020B0604020202020204" pitchFamily="34" charset="0"/>
              </a:rPr>
              <a:t>Power Dissipation CMOS Equation</a:t>
            </a:r>
            <a:endParaRPr lang="en-IN" sz="3200" dirty="0"/>
          </a:p>
        </p:txBody>
      </p:sp>
      <p:sp>
        <p:nvSpPr>
          <p:cNvPr id="3" name="Content Placeholder 2">
            <a:extLst>
              <a:ext uri="{FF2B5EF4-FFF2-40B4-BE49-F238E27FC236}">
                <a16:creationId xmlns:a16="http://schemas.microsoft.com/office/drawing/2014/main" id="{D15C8032-F500-4C42-AA05-0B6F083BC384}"/>
              </a:ext>
            </a:extLst>
          </p:cNvPr>
          <p:cNvSpPr>
            <a:spLocks noGrp="1"/>
          </p:cNvSpPr>
          <p:nvPr>
            <p:ph idx="1"/>
          </p:nvPr>
        </p:nvSpPr>
        <p:spPr>
          <a:xfrm>
            <a:off x="1347019" y="1905000"/>
            <a:ext cx="10157593" cy="4230808"/>
          </a:xfrm>
        </p:spPr>
        <p:txBody>
          <a:bodyPr/>
          <a:lstStyle/>
          <a:p>
            <a:pPr marL="0" indent="0" algn="just">
              <a:buNone/>
            </a:pPr>
            <a:r>
              <a:rPr lang="en-US" sz="2800" kern="0" dirty="0">
                <a:solidFill>
                  <a:srgbClr val="000000"/>
                </a:solidFill>
                <a:latin typeface="Arial"/>
              </a:rPr>
              <a:t>     </a:t>
            </a:r>
            <a:r>
              <a:rPr lang="en-US" sz="3200" kern="0" dirty="0">
                <a:solidFill>
                  <a:srgbClr val="000000"/>
                </a:solidFill>
                <a:latin typeface="Arial"/>
              </a:rPr>
              <a:t>P = </a:t>
            </a:r>
            <a:r>
              <a:rPr lang="el-GR" sz="3200" kern="0" dirty="0">
                <a:solidFill>
                  <a:srgbClr val="000000"/>
                </a:solidFill>
                <a:latin typeface="Arial"/>
                <a:cs typeface="Arial" charset="0"/>
              </a:rPr>
              <a:t>α</a:t>
            </a:r>
            <a:r>
              <a:rPr lang="de-DE" sz="3200" kern="0" dirty="0">
                <a:solidFill>
                  <a:srgbClr val="000000"/>
                </a:solidFill>
                <a:latin typeface="Arial"/>
                <a:cs typeface="Arial" charset="0"/>
              </a:rPr>
              <a:t> f </a:t>
            </a:r>
            <a:r>
              <a:rPr lang="en-US" sz="3200" kern="0" dirty="0">
                <a:solidFill>
                  <a:srgbClr val="000000"/>
                </a:solidFill>
                <a:latin typeface="Arial"/>
              </a:rPr>
              <a:t>C</a:t>
            </a:r>
            <a:r>
              <a:rPr lang="en-US" sz="3200" kern="0" baseline="-25000" dirty="0">
                <a:solidFill>
                  <a:srgbClr val="000000"/>
                </a:solidFill>
                <a:latin typeface="Arial"/>
              </a:rPr>
              <a:t>L</a:t>
            </a:r>
            <a:r>
              <a:rPr lang="en-US" sz="3200" kern="0" dirty="0">
                <a:solidFill>
                  <a:srgbClr val="000000"/>
                </a:solidFill>
                <a:latin typeface="Arial"/>
              </a:rPr>
              <a:t> V</a:t>
            </a:r>
            <a:r>
              <a:rPr lang="en-US" sz="3200" kern="0" baseline="-25000" dirty="0">
                <a:solidFill>
                  <a:srgbClr val="000000"/>
                </a:solidFill>
                <a:latin typeface="Arial"/>
              </a:rPr>
              <a:t>DD</a:t>
            </a:r>
            <a:r>
              <a:rPr lang="en-US" sz="3200" kern="0" baseline="30000" dirty="0">
                <a:solidFill>
                  <a:srgbClr val="000000"/>
                </a:solidFill>
                <a:latin typeface="Arial"/>
              </a:rPr>
              <a:t>2</a:t>
            </a:r>
            <a:r>
              <a:rPr lang="en-US" sz="3200" kern="0" dirty="0">
                <a:solidFill>
                  <a:srgbClr val="000000"/>
                </a:solidFill>
                <a:latin typeface="Arial"/>
              </a:rPr>
              <a:t> + V</a:t>
            </a:r>
            <a:r>
              <a:rPr lang="en-US" sz="3200" kern="0" baseline="-25000" dirty="0">
                <a:solidFill>
                  <a:srgbClr val="000000"/>
                </a:solidFill>
                <a:latin typeface="Arial"/>
              </a:rPr>
              <a:t>DD</a:t>
            </a:r>
            <a:r>
              <a:rPr lang="en-US" sz="3200" kern="0" dirty="0">
                <a:solidFill>
                  <a:srgbClr val="000000"/>
                </a:solidFill>
                <a:latin typeface="Arial"/>
              </a:rPr>
              <a:t> </a:t>
            </a:r>
            <a:r>
              <a:rPr lang="en-US" sz="3200" kern="0" dirty="0" err="1">
                <a:solidFill>
                  <a:srgbClr val="000000"/>
                </a:solidFill>
                <a:latin typeface="Arial"/>
              </a:rPr>
              <a:t>I</a:t>
            </a:r>
            <a:r>
              <a:rPr lang="en-US" sz="3200" kern="0" baseline="-25000" dirty="0" err="1">
                <a:solidFill>
                  <a:srgbClr val="000000"/>
                </a:solidFill>
                <a:latin typeface="Arial"/>
              </a:rPr>
              <a:t>peak</a:t>
            </a:r>
            <a:r>
              <a:rPr lang="en-US" sz="3200" kern="0" dirty="0">
                <a:solidFill>
                  <a:srgbClr val="000000"/>
                </a:solidFill>
                <a:latin typeface="Arial"/>
              </a:rPr>
              <a:t> (P</a:t>
            </a:r>
            <a:r>
              <a:rPr lang="en-US" sz="3200" kern="0" baseline="-25000" dirty="0">
                <a:solidFill>
                  <a:srgbClr val="000000"/>
                </a:solidFill>
                <a:latin typeface="Arial"/>
              </a:rPr>
              <a:t>0</a:t>
            </a:r>
            <a:r>
              <a:rPr lang="en-US" sz="3200" kern="0" baseline="-25000" dirty="0">
                <a:solidFill>
                  <a:srgbClr val="000000"/>
                </a:solidFill>
                <a:latin typeface="Arial"/>
                <a:sym typeface="Symbol" pitchFamily="18" charset="2"/>
              </a:rPr>
              <a:t>1</a:t>
            </a:r>
            <a:r>
              <a:rPr lang="en-US" sz="3200" kern="0" dirty="0">
                <a:solidFill>
                  <a:srgbClr val="000000"/>
                </a:solidFill>
                <a:latin typeface="Arial"/>
                <a:sym typeface="Symbol" pitchFamily="18" charset="2"/>
              </a:rPr>
              <a:t> </a:t>
            </a:r>
            <a:r>
              <a:rPr lang="en-US" sz="3200" kern="0" dirty="0">
                <a:solidFill>
                  <a:srgbClr val="000000"/>
                </a:solidFill>
                <a:latin typeface="Arial"/>
              </a:rPr>
              <a:t> + P</a:t>
            </a:r>
            <a:r>
              <a:rPr lang="en-US" sz="3200" kern="0" baseline="-25000" dirty="0">
                <a:solidFill>
                  <a:srgbClr val="000000"/>
                </a:solidFill>
                <a:latin typeface="Arial"/>
              </a:rPr>
              <a:t>1</a:t>
            </a:r>
            <a:r>
              <a:rPr lang="en-US" sz="3200" kern="0" baseline="-25000" dirty="0">
                <a:solidFill>
                  <a:srgbClr val="000000"/>
                </a:solidFill>
                <a:latin typeface="Arial"/>
                <a:sym typeface="Symbol" pitchFamily="18" charset="2"/>
              </a:rPr>
              <a:t>0</a:t>
            </a:r>
            <a:r>
              <a:rPr lang="en-US" sz="3200" kern="0" baseline="-25000" dirty="0">
                <a:solidFill>
                  <a:srgbClr val="000000"/>
                </a:solidFill>
                <a:latin typeface="Arial"/>
              </a:rPr>
              <a:t> </a:t>
            </a:r>
            <a:r>
              <a:rPr lang="en-US" sz="3200" kern="0" dirty="0">
                <a:solidFill>
                  <a:srgbClr val="000000"/>
                </a:solidFill>
                <a:latin typeface="Arial"/>
              </a:rPr>
              <a:t>)</a:t>
            </a:r>
            <a:r>
              <a:rPr lang="en-US" sz="3200" kern="0" baseline="-25000" dirty="0">
                <a:solidFill>
                  <a:srgbClr val="000000"/>
                </a:solidFill>
                <a:latin typeface="Arial"/>
                <a:sym typeface="Symbol" pitchFamily="18" charset="2"/>
              </a:rPr>
              <a:t>  </a:t>
            </a:r>
            <a:r>
              <a:rPr lang="en-US" sz="3200" kern="0" dirty="0">
                <a:solidFill>
                  <a:srgbClr val="000000"/>
                </a:solidFill>
                <a:latin typeface="Arial"/>
              </a:rPr>
              <a:t>+  V</a:t>
            </a:r>
            <a:r>
              <a:rPr lang="en-US" sz="3200" kern="0" baseline="-25000" dirty="0">
                <a:solidFill>
                  <a:srgbClr val="000000"/>
                </a:solidFill>
                <a:latin typeface="Arial"/>
              </a:rPr>
              <a:t>DD</a:t>
            </a:r>
            <a:r>
              <a:rPr lang="en-US" sz="3200" kern="0" dirty="0">
                <a:solidFill>
                  <a:srgbClr val="000000"/>
                </a:solidFill>
                <a:latin typeface="Arial"/>
              </a:rPr>
              <a:t> </a:t>
            </a:r>
            <a:r>
              <a:rPr lang="en-US" sz="3200" kern="0" dirty="0" err="1">
                <a:solidFill>
                  <a:srgbClr val="000000"/>
                </a:solidFill>
                <a:latin typeface="Arial"/>
              </a:rPr>
              <a:t>I</a:t>
            </a:r>
            <a:r>
              <a:rPr lang="en-US" sz="3200" kern="0" baseline="-25000" dirty="0" err="1">
                <a:solidFill>
                  <a:srgbClr val="000000"/>
                </a:solidFill>
                <a:latin typeface="Arial"/>
              </a:rPr>
              <a:t>leak</a:t>
            </a:r>
            <a:r>
              <a:rPr lang="en-US" sz="3200" kern="0" baseline="-25000" dirty="0">
                <a:solidFill>
                  <a:srgbClr val="000000"/>
                </a:solidFill>
                <a:latin typeface="Arial"/>
              </a:rPr>
              <a:t> </a:t>
            </a:r>
          </a:p>
          <a:p>
            <a:pPr algn="just"/>
            <a:endParaRPr lang="en-US" sz="2800" kern="0" baseline="-25000" dirty="0">
              <a:solidFill>
                <a:srgbClr val="000000"/>
              </a:solidFill>
              <a:latin typeface="Arial"/>
              <a:cs typeface="Arial" panose="020B0604020202020204" pitchFamily="34" charset="0"/>
            </a:endParaRPr>
          </a:p>
        </p:txBody>
      </p:sp>
      <p:sp>
        <p:nvSpPr>
          <p:cNvPr id="4" name="Footer Placeholder 3">
            <a:extLst>
              <a:ext uri="{FF2B5EF4-FFF2-40B4-BE49-F238E27FC236}">
                <a16:creationId xmlns:a16="http://schemas.microsoft.com/office/drawing/2014/main" id="{65FBE609-BA95-4682-9C22-942BA9467F6D}"/>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6" name="Rectangle 4"/>
          <p:cNvSpPr>
            <a:spLocks noChangeArrowheads="1"/>
          </p:cNvSpPr>
          <p:nvPr/>
        </p:nvSpPr>
        <p:spPr bwMode="auto">
          <a:xfrm>
            <a:off x="2469762" y="2684206"/>
            <a:ext cx="2201863" cy="2308324"/>
          </a:xfrm>
          <a:prstGeom prst="rect">
            <a:avLst/>
          </a:prstGeom>
          <a:noFill/>
          <a:ln w="12700">
            <a:noFill/>
            <a:miter lim="800000"/>
            <a:headEnd/>
            <a:tailEnd/>
          </a:ln>
          <a:effectLst/>
        </p:spPr>
        <p:txBody>
          <a:bodyPr wrap="square">
            <a:spAutoFit/>
          </a:bodyPr>
          <a:lstStyle/>
          <a:p>
            <a:pPr algn="ctr" eaLnBrk="0" hangingPunct="0"/>
            <a:r>
              <a:rPr lang="en-US" sz="2400" dirty="0"/>
              <a:t>Dynamic power</a:t>
            </a:r>
          </a:p>
          <a:p>
            <a:pPr algn="ctr" eaLnBrk="0" hangingPunct="0"/>
            <a:r>
              <a:rPr lang="en-US" sz="2400" dirty="0"/>
              <a:t>(</a:t>
            </a:r>
            <a:r>
              <a:rPr lang="en-US" sz="2400" dirty="0">
                <a:cs typeface="Arial" charset="0"/>
              </a:rPr>
              <a:t>≈ </a:t>
            </a:r>
            <a:r>
              <a:rPr lang="en-US" sz="2400" dirty="0">
                <a:solidFill>
                  <a:schemeClr val="hlink"/>
                </a:solidFill>
                <a:cs typeface="Arial" charset="0"/>
              </a:rPr>
              <a:t>3</a:t>
            </a:r>
            <a:r>
              <a:rPr lang="en-US" sz="2400" dirty="0">
                <a:solidFill>
                  <a:schemeClr val="hlink"/>
                </a:solidFill>
              </a:rPr>
              <a:t>0 - 50%</a:t>
            </a:r>
            <a:r>
              <a:rPr lang="en-US" sz="2400" dirty="0"/>
              <a:t> today and decreasing relatively)</a:t>
            </a:r>
            <a:endParaRPr lang="en-US" sz="2400" dirty="0">
              <a:latin typeface="Times New Roman" pitchFamily="18" charset="0"/>
            </a:endParaRPr>
          </a:p>
        </p:txBody>
      </p:sp>
      <p:sp>
        <p:nvSpPr>
          <p:cNvPr id="7" name="Rectangle 5"/>
          <p:cNvSpPr>
            <a:spLocks noChangeArrowheads="1"/>
          </p:cNvSpPr>
          <p:nvPr/>
        </p:nvSpPr>
        <p:spPr bwMode="auto">
          <a:xfrm>
            <a:off x="5433192" y="2684206"/>
            <a:ext cx="2895600" cy="1569660"/>
          </a:xfrm>
          <a:prstGeom prst="rect">
            <a:avLst/>
          </a:prstGeom>
          <a:noFill/>
          <a:ln w="12700">
            <a:noFill/>
            <a:miter lim="800000"/>
            <a:headEnd/>
            <a:tailEnd/>
          </a:ln>
          <a:effectLst/>
        </p:spPr>
        <p:txBody>
          <a:bodyPr wrap="square">
            <a:spAutoFit/>
          </a:bodyPr>
          <a:lstStyle/>
          <a:p>
            <a:pPr algn="ctr" eaLnBrk="0" hangingPunct="0"/>
            <a:r>
              <a:rPr lang="en-US" sz="2400" dirty="0"/>
              <a:t>Short-circuit power</a:t>
            </a:r>
          </a:p>
          <a:p>
            <a:pPr algn="ctr" eaLnBrk="0" hangingPunct="0"/>
            <a:r>
              <a:rPr lang="en-US" sz="2400" dirty="0"/>
              <a:t>(≈</a:t>
            </a:r>
            <a:r>
              <a:rPr lang="en-US" dirty="0"/>
              <a:t> </a:t>
            </a:r>
            <a:r>
              <a:rPr lang="en-US" sz="2400" dirty="0">
                <a:solidFill>
                  <a:schemeClr val="hlink"/>
                </a:solidFill>
              </a:rPr>
              <a:t>10 %</a:t>
            </a:r>
            <a:r>
              <a:rPr lang="en-US" sz="2400" dirty="0"/>
              <a:t> today and decreasing absolutely)</a:t>
            </a:r>
          </a:p>
        </p:txBody>
      </p:sp>
      <p:sp>
        <p:nvSpPr>
          <p:cNvPr id="8" name="Rectangle 6"/>
          <p:cNvSpPr>
            <a:spLocks noChangeArrowheads="1"/>
          </p:cNvSpPr>
          <p:nvPr/>
        </p:nvSpPr>
        <p:spPr bwMode="auto">
          <a:xfrm>
            <a:off x="9527458" y="2836607"/>
            <a:ext cx="2256940" cy="1938992"/>
          </a:xfrm>
          <a:prstGeom prst="rect">
            <a:avLst/>
          </a:prstGeom>
          <a:noFill/>
          <a:ln w="12700">
            <a:noFill/>
            <a:miter lim="800000"/>
            <a:headEnd/>
            <a:tailEnd/>
          </a:ln>
          <a:effectLst/>
        </p:spPr>
        <p:txBody>
          <a:bodyPr wrap="square">
            <a:spAutoFit/>
          </a:bodyPr>
          <a:lstStyle/>
          <a:p>
            <a:pPr algn="ctr" eaLnBrk="0" hangingPunct="0"/>
            <a:r>
              <a:rPr lang="en-US" sz="2400" dirty="0"/>
              <a:t>Leakage(Static) power</a:t>
            </a:r>
          </a:p>
          <a:p>
            <a:pPr algn="ctr" eaLnBrk="0" hangingPunct="0"/>
            <a:r>
              <a:rPr lang="en-US" sz="2400" dirty="0"/>
              <a:t>(≈</a:t>
            </a:r>
            <a:r>
              <a:rPr lang="en-US" dirty="0"/>
              <a:t> </a:t>
            </a:r>
            <a:r>
              <a:rPr lang="en-US" sz="2400" dirty="0">
                <a:solidFill>
                  <a:schemeClr val="hlink"/>
                </a:solidFill>
              </a:rPr>
              <a:t>20 – 70 %</a:t>
            </a:r>
            <a:r>
              <a:rPr lang="en-US" sz="2400" dirty="0"/>
              <a:t> today and increasing)</a:t>
            </a:r>
          </a:p>
        </p:txBody>
      </p:sp>
    </p:spTree>
    <p:extLst>
      <p:ext uri="{BB962C8B-B14F-4D97-AF65-F5344CB8AC3E}">
        <p14:creationId xmlns:p14="http://schemas.microsoft.com/office/powerpoint/2010/main" val="2168746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0046E-1987-4E22-9C56-F909A59AC3A2}"/>
              </a:ext>
            </a:extLst>
          </p:cNvPr>
          <p:cNvSpPr>
            <a:spLocks noGrp="1"/>
          </p:cNvSpPr>
          <p:nvPr>
            <p:ph type="title"/>
          </p:nvPr>
        </p:nvSpPr>
        <p:spPr>
          <a:xfrm>
            <a:off x="1869441" y="624110"/>
            <a:ext cx="9635172" cy="1280890"/>
          </a:xfrm>
        </p:spPr>
        <p:txBody>
          <a:bodyPr>
            <a:normAutofit/>
          </a:bodyPr>
          <a:lstStyle/>
          <a:p>
            <a:r>
              <a:rPr lang="en-IN" sz="3200" dirty="0">
                <a:latin typeface="Arial" panose="020B0604020202020204" pitchFamily="34" charset="0"/>
                <a:cs typeface="Arial" panose="020B0604020202020204" pitchFamily="34" charset="0"/>
              </a:rPr>
              <a:t>Definitions and Basics</a:t>
            </a:r>
          </a:p>
        </p:txBody>
      </p:sp>
      <p:sp>
        <p:nvSpPr>
          <p:cNvPr id="3" name="Content Placeholder 2">
            <a:extLst>
              <a:ext uri="{FF2B5EF4-FFF2-40B4-BE49-F238E27FC236}">
                <a16:creationId xmlns:a16="http://schemas.microsoft.com/office/drawing/2014/main" id="{67921C54-C5D1-406A-99E2-B8D455D0BB2C}"/>
              </a:ext>
            </a:extLst>
          </p:cNvPr>
          <p:cNvSpPr>
            <a:spLocks noGrp="1"/>
          </p:cNvSpPr>
          <p:nvPr>
            <p:ph idx="1"/>
          </p:nvPr>
        </p:nvSpPr>
        <p:spPr>
          <a:xfrm>
            <a:off x="1483360" y="1341120"/>
            <a:ext cx="10021252" cy="4981022"/>
          </a:xfrm>
        </p:spPr>
        <p:txBody>
          <a:bodyPr>
            <a:normAutofit lnSpcReduction="10000"/>
          </a:bodyPr>
          <a:lstStyle/>
          <a:p>
            <a:r>
              <a:rPr lang="en-US" dirty="0">
                <a:latin typeface="Arial" panose="020B0604020202020204" pitchFamily="34" charset="0"/>
                <a:cs typeface="Arial" panose="020B0604020202020204" pitchFamily="34" charset="0"/>
              </a:rPr>
              <a:t>The </a:t>
            </a:r>
            <a:r>
              <a:rPr lang="en-US" i="1" dirty="0">
                <a:latin typeface="Arial" panose="020B0604020202020204" pitchFamily="34" charset="0"/>
                <a:cs typeface="Arial" panose="020B0604020202020204" pitchFamily="34" charset="0"/>
              </a:rPr>
              <a:t>instantaneous power P </a:t>
            </a:r>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t</a:t>
            </a:r>
            <a:r>
              <a:rPr lang="en-US" dirty="0">
                <a:latin typeface="Arial" panose="020B0604020202020204" pitchFamily="34" charset="0"/>
                <a:cs typeface="Arial" panose="020B0604020202020204" pitchFamily="34" charset="0"/>
              </a:rPr>
              <a:t>) consumed or supplied by a circuit element is the product of the current through the element and the voltage across the element.</a:t>
            </a:r>
          </a:p>
          <a:p>
            <a:pPr marL="0" indent="0">
              <a:buNone/>
            </a:pPr>
            <a:r>
              <a:rPr lang="en-IN" i="1" dirty="0">
                <a:latin typeface="ACaslon-Italic"/>
              </a:rPr>
              <a:t>                                                                                                </a:t>
            </a:r>
            <a:r>
              <a:rPr lang="en-IN" dirty="0">
                <a:latin typeface="ACaslon-Italic"/>
              </a:rPr>
              <a:t>………..(1) </a:t>
            </a:r>
          </a:p>
          <a:p>
            <a:endParaRPr lang="en-US" sz="1600" i="1" dirty="0">
              <a:latin typeface="ACaslon-Italic"/>
              <a:cs typeface="Arial" panose="020B0604020202020204" pitchFamily="34" charset="0"/>
            </a:endParaRPr>
          </a:p>
          <a:p>
            <a:r>
              <a:rPr lang="en-US" dirty="0">
                <a:latin typeface="Arial" panose="020B0604020202020204" pitchFamily="34" charset="0"/>
                <a:cs typeface="Arial" panose="020B0604020202020204" pitchFamily="34" charset="0"/>
              </a:rPr>
              <a:t>The </a:t>
            </a:r>
            <a:r>
              <a:rPr lang="en-US" i="1" dirty="0">
                <a:latin typeface="Arial" panose="020B0604020202020204" pitchFamily="34" charset="0"/>
                <a:cs typeface="Arial" panose="020B0604020202020204" pitchFamily="34" charset="0"/>
              </a:rPr>
              <a:t>energy </a:t>
            </a:r>
            <a:r>
              <a:rPr lang="en-US" dirty="0">
                <a:latin typeface="Arial" panose="020B0604020202020204" pitchFamily="34" charset="0"/>
                <a:cs typeface="Arial" panose="020B0604020202020204" pitchFamily="34" charset="0"/>
              </a:rPr>
              <a:t>consumed or supplied over some time interval </a:t>
            </a:r>
            <a:r>
              <a:rPr lang="en-US" i="1" dirty="0">
                <a:latin typeface="Arial" panose="020B0604020202020204" pitchFamily="34" charset="0"/>
                <a:cs typeface="Arial" panose="020B0604020202020204" pitchFamily="34" charset="0"/>
              </a:rPr>
              <a:t>T </a:t>
            </a:r>
            <a:r>
              <a:rPr lang="en-US" dirty="0">
                <a:latin typeface="Arial" panose="020B0604020202020204" pitchFamily="34" charset="0"/>
                <a:cs typeface="Arial" panose="020B0604020202020204" pitchFamily="34" charset="0"/>
              </a:rPr>
              <a:t>is the integral of the instantaneous </a:t>
            </a:r>
            <a:r>
              <a:rPr lang="en-IN" dirty="0">
                <a:latin typeface="Arial" panose="020B0604020202020204" pitchFamily="34" charset="0"/>
                <a:cs typeface="Arial" panose="020B0604020202020204" pitchFamily="34" charset="0"/>
              </a:rPr>
              <a:t>power</a:t>
            </a: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 ……(2) </a:t>
            </a:r>
          </a:p>
          <a:p>
            <a:pPr marL="0" indent="0">
              <a:buNone/>
            </a:pPr>
            <a:endParaRPr lang="en-US" dirty="0"/>
          </a:p>
          <a:p>
            <a:pPr marL="0" indent="0">
              <a:buNone/>
            </a:pPr>
            <a:r>
              <a:rPr lang="en-US" dirty="0">
                <a:latin typeface="Arial" panose="020B0604020202020204" pitchFamily="34" charset="0"/>
                <a:cs typeface="Arial" panose="020B0604020202020204" pitchFamily="34" charset="0"/>
              </a:rPr>
              <a:t>     The </a:t>
            </a:r>
            <a:r>
              <a:rPr lang="en-US" i="1" dirty="0">
                <a:latin typeface="Arial" panose="020B0604020202020204" pitchFamily="34" charset="0"/>
                <a:cs typeface="Arial" panose="020B0604020202020204" pitchFamily="34" charset="0"/>
              </a:rPr>
              <a:t>average power </a:t>
            </a:r>
            <a:r>
              <a:rPr lang="en-US" dirty="0">
                <a:latin typeface="Arial" panose="020B0604020202020204" pitchFamily="34" charset="0"/>
                <a:cs typeface="Arial" panose="020B0604020202020204" pitchFamily="34" charset="0"/>
              </a:rPr>
              <a:t>over this interval is</a:t>
            </a:r>
            <a:endParaRPr lang="en-IN" dirty="0">
              <a:latin typeface="Arial" panose="020B0604020202020204" pitchFamily="34" charset="0"/>
              <a:cs typeface="Arial" panose="020B0604020202020204" pitchFamily="34" charset="0"/>
            </a:endParaRPr>
          </a:p>
          <a:p>
            <a:pPr marL="0" indent="0">
              <a:buNone/>
            </a:pPr>
            <a:endParaRPr lang="en-US" sz="1600" i="1"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 ……(3) </a:t>
            </a:r>
          </a:p>
          <a:p>
            <a:pPr marL="0" indent="0">
              <a:buNone/>
            </a:pPr>
            <a:endParaRPr lang="en-US" dirty="0"/>
          </a:p>
          <a:p>
            <a:r>
              <a:rPr lang="en-US" sz="1700" dirty="0">
                <a:latin typeface="Arial" panose="020B0604020202020204" pitchFamily="34" charset="0"/>
                <a:cs typeface="Arial" panose="020B0604020202020204" pitchFamily="34" charset="0"/>
              </a:rPr>
              <a:t>Power is expressed in units of Watts (W). Energy in circuits is usually expressed in</a:t>
            </a:r>
          </a:p>
          <a:p>
            <a:pPr marL="0" indent="0">
              <a:buNone/>
            </a:pPr>
            <a:r>
              <a:rPr lang="en-IN" sz="1700" dirty="0">
                <a:latin typeface="Arial" panose="020B0604020202020204" pitchFamily="34" charset="0"/>
                <a:cs typeface="Arial" panose="020B0604020202020204" pitchFamily="34" charset="0"/>
              </a:rPr>
              <a:t>      Joules ( J)</a:t>
            </a:r>
            <a:endParaRPr lang="en-US" sz="1700" dirty="0">
              <a:latin typeface="Arial" panose="020B0604020202020204" pitchFamily="34" charset="0"/>
              <a:cs typeface="Arial" panose="020B0604020202020204" pitchFamily="34" charset="0"/>
            </a:endParaRPr>
          </a:p>
          <a:p>
            <a:pPr marL="0" indent="0">
              <a:buNone/>
            </a:pPr>
            <a:endParaRPr lang="en-US" i="1" dirty="0">
              <a:latin typeface="ACaslon-Italic"/>
              <a:cs typeface="Arial" panose="020B0604020202020204" pitchFamily="34" charset="0"/>
            </a:endParaRPr>
          </a:p>
        </p:txBody>
      </p:sp>
      <p:sp>
        <p:nvSpPr>
          <p:cNvPr id="4" name="Footer Placeholder 3">
            <a:extLst>
              <a:ext uri="{FF2B5EF4-FFF2-40B4-BE49-F238E27FC236}">
                <a16:creationId xmlns:a16="http://schemas.microsoft.com/office/drawing/2014/main" id="{B7646F98-D2CA-4A1E-A6EE-945AC2AECC26}"/>
              </a:ext>
            </a:extLst>
          </p:cNvPr>
          <p:cNvSpPr>
            <a:spLocks noGrp="1"/>
          </p:cNvSpPr>
          <p:nvPr>
            <p:ph type="ftr" sz="quarter" idx="11"/>
          </p:nvPr>
        </p:nvSpPr>
        <p:spPr>
          <a:xfrm>
            <a:off x="2618707" y="6300973"/>
            <a:ext cx="7619999" cy="365125"/>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a:p>
            <a:pPr lvl="0"/>
            <a:endParaRPr lang="en-IN" dirty="0">
              <a:solidFill>
                <a:srgbClr val="C00000"/>
              </a:solidFill>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cstate="print"/>
          <a:stretch>
            <a:fillRect/>
          </a:stretch>
        </p:blipFill>
        <p:spPr>
          <a:xfrm>
            <a:off x="4765900" y="2979763"/>
            <a:ext cx="1662806" cy="1107800"/>
          </a:xfrm>
          <a:prstGeom prst="rect">
            <a:avLst/>
          </a:prstGeom>
        </p:spPr>
      </p:pic>
      <p:pic>
        <p:nvPicPr>
          <p:cNvPr id="7" name="Picture 6"/>
          <p:cNvPicPr>
            <a:picLocks noChangeAspect="1"/>
          </p:cNvPicPr>
          <p:nvPr/>
        </p:nvPicPr>
        <p:blipFill>
          <a:blip r:embed="rId3" cstate="print"/>
          <a:stretch>
            <a:fillRect/>
          </a:stretch>
        </p:blipFill>
        <p:spPr>
          <a:xfrm>
            <a:off x="4366132" y="2071010"/>
            <a:ext cx="2062575" cy="551000"/>
          </a:xfrm>
          <a:prstGeom prst="rect">
            <a:avLst/>
          </a:prstGeom>
        </p:spPr>
      </p:pic>
      <p:pic>
        <p:nvPicPr>
          <p:cNvPr id="8" name="Picture 7"/>
          <p:cNvPicPr>
            <a:picLocks noChangeAspect="1"/>
          </p:cNvPicPr>
          <p:nvPr/>
        </p:nvPicPr>
        <p:blipFill>
          <a:blip r:embed="rId4" cstate="print"/>
          <a:stretch>
            <a:fillRect/>
          </a:stretch>
        </p:blipFill>
        <p:spPr>
          <a:xfrm>
            <a:off x="4938542" y="4446068"/>
            <a:ext cx="2699888" cy="997600"/>
          </a:xfrm>
          <a:prstGeom prst="rect">
            <a:avLst/>
          </a:prstGeom>
        </p:spPr>
      </p:pic>
    </p:spTree>
    <p:extLst>
      <p:ext uri="{BB962C8B-B14F-4D97-AF65-F5344CB8AC3E}">
        <p14:creationId xmlns:p14="http://schemas.microsoft.com/office/powerpoint/2010/main" val="1764150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3718-22D4-45D1-AE58-1E8C46F755D1}"/>
              </a:ext>
            </a:extLst>
          </p:cNvPr>
          <p:cNvSpPr>
            <a:spLocks noGrp="1"/>
          </p:cNvSpPr>
          <p:nvPr>
            <p:ph type="title"/>
          </p:nvPr>
        </p:nvSpPr>
        <p:spPr>
          <a:xfrm>
            <a:off x="1564641" y="624110"/>
            <a:ext cx="9939972" cy="1280890"/>
          </a:xfrm>
        </p:spPr>
        <p:txBody>
          <a:bodyPr>
            <a:normAutofit/>
          </a:bodyPr>
          <a:lstStyle/>
          <a:p>
            <a:r>
              <a:rPr lang="en-US" sz="3200" dirty="0">
                <a:solidFill>
                  <a:prstClr val="black">
                    <a:lumMod val="85000"/>
                    <a:lumOff val="15000"/>
                  </a:prstClr>
                </a:solidFill>
                <a:latin typeface="Arial" panose="020B0604020202020204" pitchFamily="34" charset="0"/>
                <a:cs typeface="Arial" panose="020B0604020202020204" pitchFamily="34" charset="0"/>
              </a:rPr>
              <a:t>Examples</a:t>
            </a:r>
            <a:endParaRPr lang="en-IN" sz="3200" dirty="0"/>
          </a:p>
        </p:txBody>
      </p:sp>
      <p:sp>
        <p:nvSpPr>
          <p:cNvPr id="3" name="Content Placeholder 2">
            <a:extLst>
              <a:ext uri="{FF2B5EF4-FFF2-40B4-BE49-F238E27FC236}">
                <a16:creationId xmlns:a16="http://schemas.microsoft.com/office/drawing/2014/main" id="{6BD0F0FB-1D65-44D8-823B-150B5A3A8DDB}"/>
              </a:ext>
            </a:extLst>
          </p:cNvPr>
          <p:cNvSpPr>
            <a:spLocks noGrp="1"/>
          </p:cNvSpPr>
          <p:nvPr>
            <p:ph idx="1"/>
          </p:nvPr>
        </p:nvSpPr>
        <p:spPr>
          <a:xfrm>
            <a:off x="1259840" y="1700980"/>
            <a:ext cx="10244772" cy="4434827"/>
          </a:xfrm>
        </p:spPr>
        <p:txBody>
          <a:bodyPr>
            <a:normAutofit/>
          </a:bodyPr>
          <a:lstStyle/>
          <a:p>
            <a:r>
              <a:rPr lang="en-US" dirty="0">
                <a:latin typeface="Arial" panose="020B0604020202020204" pitchFamily="34" charset="0"/>
                <a:cs typeface="Arial" panose="020B0604020202020204" pitchFamily="34" charset="0"/>
              </a:rPr>
              <a:t>The voltage and current are related by Ohm’s Law, V = IR, so the instantaneous power dissipated in the resistor is </a:t>
            </a:r>
          </a:p>
          <a:p>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………..(4) </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This power is converted from electricity to heat</a:t>
            </a:r>
          </a:p>
          <a:p>
            <a:pPr marL="0" indent="0">
              <a:buNone/>
            </a:pPr>
            <a:r>
              <a:rPr lang="en-US" dirty="0">
                <a:latin typeface="Arial" panose="020B0604020202020204" pitchFamily="34" charset="0"/>
                <a:cs typeface="Arial" panose="020B0604020202020204" pitchFamily="34" charset="0"/>
              </a:rPr>
              <a:t>       If voltage source </a:t>
            </a:r>
            <a:r>
              <a:rPr lang="en-US" i="1" dirty="0">
                <a:latin typeface="Arial" panose="020B0604020202020204" pitchFamily="34" charset="0"/>
                <a:cs typeface="Arial" panose="020B0604020202020204" pitchFamily="34" charset="0"/>
              </a:rPr>
              <a:t>V</a:t>
            </a:r>
            <a:r>
              <a:rPr lang="en-US" i="1" baseline="-25000" dirty="0">
                <a:latin typeface="Arial" panose="020B0604020202020204" pitchFamily="34" charset="0"/>
                <a:cs typeface="Arial" panose="020B0604020202020204" pitchFamily="34" charset="0"/>
              </a:rPr>
              <a:t>DD</a:t>
            </a:r>
            <a:r>
              <a:rPr lang="en-US" dirty="0">
                <a:latin typeface="Arial" panose="020B0604020202020204" pitchFamily="34" charset="0"/>
                <a:cs typeface="Arial" panose="020B0604020202020204" pitchFamily="34" charset="0"/>
              </a:rPr>
              <a:t>. It supplies power proportional to its current </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……….(5)</a:t>
            </a:r>
          </a:p>
        </p:txBody>
      </p:sp>
      <p:sp>
        <p:nvSpPr>
          <p:cNvPr id="4" name="Footer Placeholder 3">
            <a:extLst>
              <a:ext uri="{FF2B5EF4-FFF2-40B4-BE49-F238E27FC236}">
                <a16:creationId xmlns:a16="http://schemas.microsoft.com/office/drawing/2014/main" id="{D7AB5497-4FD7-4E09-8760-7E7A18D43C7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6" name="Picture 5"/>
          <p:cNvPicPr>
            <a:picLocks noChangeAspect="1"/>
          </p:cNvPicPr>
          <p:nvPr/>
        </p:nvPicPr>
        <p:blipFill>
          <a:blip r:embed="rId2" cstate="print"/>
          <a:stretch>
            <a:fillRect/>
          </a:stretch>
        </p:blipFill>
        <p:spPr>
          <a:xfrm>
            <a:off x="4075692" y="2536723"/>
            <a:ext cx="2541418" cy="825909"/>
          </a:xfrm>
          <a:prstGeom prst="rect">
            <a:avLst/>
          </a:prstGeom>
        </p:spPr>
      </p:pic>
      <p:pic>
        <p:nvPicPr>
          <p:cNvPr id="7" name="Picture 6"/>
          <p:cNvPicPr>
            <a:picLocks noChangeAspect="1"/>
          </p:cNvPicPr>
          <p:nvPr/>
        </p:nvPicPr>
        <p:blipFill>
          <a:blip r:embed="rId3" cstate="print"/>
          <a:stretch>
            <a:fillRect/>
          </a:stretch>
        </p:blipFill>
        <p:spPr>
          <a:xfrm>
            <a:off x="1909415" y="2536723"/>
            <a:ext cx="918169" cy="959711"/>
          </a:xfrm>
          <a:prstGeom prst="rect">
            <a:avLst/>
          </a:prstGeom>
        </p:spPr>
      </p:pic>
      <p:pic>
        <p:nvPicPr>
          <p:cNvPr id="8" name="Picture 7"/>
          <p:cNvPicPr>
            <a:picLocks noChangeAspect="1"/>
          </p:cNvPicPr>
          <p:nvPr/>
        </p:nvPicPr>
        <p:blipFill>
          <a:blip r:embed="rId4" cstate="print"/>
          <a:stretch>
            <a:fillRect/>
          </a:stretch>
        </p:blipFill>
        <p:spPr>
          <a:xfrm>
            <a:off x="1800711" y="4596530"/>
            <a:ext cx="1135575" cy="875800"/>
          </a:xfrm>
          <a:prstGeom prst="rect">
            <a:avLst/>
          </a:prstGeom>
        </p:spPr>
      </p:pic>
      <p:pic>
        <p:nvPicPr>
          <p:cNvPr id="9" name="Picture 8"/>
          <p:cNvPicPr>
            <a:picLocks noChangeAspect="1"/>
          </p:cNvPicPr>
          <p:nvPr/>
        </p:nvPicPr>
        <p:blipFill>
          <a:blip r:embed="rId5" cstate="print"/>
          <a:stretch>
            <a:fillRect/>
          </a:stretch>
        </p:blipFill>
        <p:spPr>
          <a:xfrm>
            <a:off x="4539813" y="4641840"/>
            <a:ext cx="2186172" cy="529927"/>
          </a:xfrm>
          <a:prstGeom prst="rect">
            <a:avLst/>
          </a:prstGeom>
        </p:spPr>
      </p:pic>
    </p:spTree>
    <p:extLst>
      <p:ext uri="{BB962C8B-B14F-4D97-AF65-F5344CB8AC3E}">
        <p14:creationId xmlns:p14="http://schemas.microsoft.com/office/powerpoint/2010/main" val="1667902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4965-450C-423E-8A81-6DA3109B6C3A}"/>
              </a:ext>
            </a:extLst>
          </p:cNvPr>
          <p:cNvSpPr>
            <a:spLocks noGrp="1"/>
          </p:cNvSpPr>
          <p:nvPr>
            <p:ph type="title"/>
          </p:nvPr>
        </p:nvSpPr>
        <p:spPr>
          <a:xfrm>
            <a:off x="1711085" y="610695"/>
            <a:ext cx="9787572" cy="1280890"/>
          </a:xfrm>
        </p:spPr>
        <p:txBody>
          <a:bodyPr>
            <a:normAutofit/>
          </a:bodyPr>
          <a:lstStyle/>
          <a:p>
            <a:r>
              <a:rPr lang="en-US" sz="3200" dirty="0">
                <a:solidFill>
                  <a:prstClr val="black">
                    <a:lumMod val="85000"/>
                    <a:lumOff val="15000"/>
                  </a:prstClr>
                </a:solidFill>
                <a:latin typeface="Arial" panose="020B0604020202020204" pitchFamily="34" charset="0"/>
                <a:cs typeface="Arial" panose="020B0604020202020204" pitchFamily="34" charset="0"/>
              </a:rPr>
              <a:t>Continue…..</a:t>
            </a:r>
            <a:endParaRPr lang="en-IN" sz="3200" dirty="0"/>
          </a:p>
        </p:txBody>
      </p:sp>
      <p:sp>
        <p:nvSpPr>
          <p:cNvPr id="3" name="Content Placeholder 2">
            <a:extLst>
              <a:ext uri="{FF2B5EF4-FFF2-40B4-BE49-F238E27FC236}">
                <a16:creationId xmlns:a16="http://schemas.microsoft.com/office/drawing/2014/main" id="{3E80E5B1-2E0E-41B5-AFBE-D05BD86A7842}"/>
              </a:ext>
            </a:extLst>
          </p:cNvPr>
          <p:cNvSpPr>
            <a:spLocks noGrp="1"/>
          </p:cNvSpPr>
          <p:nvPr>
            <p:ph idx="1"/>
          </p:nvPr>
        </p:nvSpPr>
        <p:spPr>
          <a:xfrm>
            <a:off x="1353024" y="1533832"/>
            <a:ext cx="10503695" cy="4601976"/>
          </a:xfrm>
        </p:spPr>
        <p:txBody>
          <a:bodyPr>
            <a:normAutofit/>
          </a:bodyPr>
          <a:lstStyle/>
          <a:p>
            <a:r>
              <a:rPr lang="en-US" dirty="0">
                <a:solidFill>
                  <a:srgbClr val="231F20"/>
                </a:solidFill>
                <a:latin typeface="ACaslon-Regular"/>
              </a:rPr>
              <a:t>When the capacitor is charged from 0 to </a:t>
            </a:r>
            <a:r>
              <a:rPr lang="en-US" sz="2400" i="1" dirty="0">
                <a:solidFill>
                  <a:srgbClr val="231F20"/>
                </a:solidFill>
                <a:latin typeface="ACaslon-Italic"/>
              </a:rPr>
              <a:t>V</a:t>
            </a:r>
            <a:r>
              <a:rPr lang="en-US" sz="1100" i="1" dirty="0">
                <a:solidFill>
                  <a:srgbClr val="231F20"/>
                </a:solidFill>
                <a:latin typeface="ACaslon-Italic"/>
              </a:rPr>
              <a:t>C</a:t>
            </a:r>
            <a:r>
              <a:rPr lang="en-US" dirty="0">
                <a:solidFill>
                  <a:srgbClr val="231F20"/>
                </a:solidFill>
                <a:latin typeface="ACaslon-Regular"/>
              </a:rPr>
              <a:t>, it stores </a:t>
            </a:r>
            <a:r>
              <a:rPr lang="en-IN" dirty="0">
                <a:solidFill>
                  <a:srgbClr val="231F20"/>
                </a:solidFill>
                <a:latin typeface="ACaslon-Regular"/>
              </a:rPr>
              <a:t>energy </a:t>
            </a:r>
            <a:r>
              <a:rPr lang="en-IN" sz="2400" i="1" dirty="0">
                <a:solidFill>
                  <a:srgbClr val="231F20"/>
                </a:solidFill>
                <a:latin typeface="ACaslon-Italic"/>
              </a:rPr>
              <a:t>E</a:t>
            </a:r>
            <a:r>
              <a:rPr lang="en-IN" sz="1200" i="1" dirty="0">
                <a:solidFill>
                  <a:srgbClr val="231F20"/>
                </a:solidFill>
                <a:latin typeface="ACaslon-Italic"/>
              </a:rPr>
              <a:t>C</a:t>
            </a:r>
            <a:r>
              <a:rPr lang="en-US" dirty="0">
                <a:latin typeface="Arial" panose="020B0604020202020204" pitchFamily="34" charset="0"/>
                <a:cs typeface="Arial" panose="020B0604020202020204" pitchFamily="34" charset="0"/>
              </a:rPr>
              <a:t>.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……(6)</a:t>
            </a:r>
          </a:p>
          <a:p>
            <a:endParaRPr lang="en-US" dirty="0">
              <a:latin typeface="Arial" panose="020B0604020202020204" pitchFamily="34" charset="0"/>
              <a:cs typeface="Arial" panose="020B0604020202020204" pitchFamily="34" charset="0"/>
            </a:endParaRPr>
          </a:p>
          <a:p>
            <a:endParaRPr lang="en-US" dirty="0"/>
          </a:p>
          <a:p>
            <a:pPr marL="0" indent="0">
              <a:buNone/>
            </a:pPr>
            <a:r>
              <a:rPr lang="en-US" dirty="0"/>
              <a:t>   </a:t>
            </a:r>
            <a:r>
              <a:rPr lang="en-US" dirty="0">
                <a:latin typeface="Arial" panose="020B0604020202020204" pitchFamily="34" charset="0"/>
                <a:cs typeface="Arial" panose="020B0604020202020204" pitchFamily="34" charset="0"/>
              </a:rPr>
              <a:t>The capacitor releases this energy when it discharges back to 0</a:t>
            </a:r>
          </a:p>
          <a:p>
            <a:pPr marL="0" indent="0">
              <a:buNone/>
            </a:pPr>
            <a:r>
              <a:rPr lang="en-US" dirty="0">
                <a:latin typeface="Arial" panose="020B0604020202020204" pitchFamily="34" charset="0"/>
                <a:cs typeface="Arial" panose="020B0604020202020204" pitchFamily="34" charset="0"/>
              </a:rPr>
              <a:t> </a:t>
            </a:r>
          </a:p>
          <a:p>
            <a:pPr algn="just">
              <a:buFont typeface="Wingdings" panose="05000000000000000000" pitchFamily="2" charset="2"/>
              <a:buChar char="Ø"/>
            </a:pP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14531068-CCC3-4940-800C-C4CDCEA6B02D}"/>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6" name="Picture 5"/>
          <p:cNvPicPr>
            <a:picLocks noChangeAspect="1"/>
          </p:cNvPicPr>
          <p:nvPr/>
        </p:nvPicPr>
        <p:blipFill>
          <a:blip r:embed="rId2" cstate="print"/>
          <a:stretch>
            <a:fillRect/>
          </a:stretch>
        </p:blipFill>
        <p:spPr>
          <a:xfrm>
            <a:off x="1353023" y="2282680"/>
            <a:ext cx="1928257" cy="922636"/>
          </a:xfrm>
          <a:prstGeom prst="rect">
            <a:avLst/>
          </a:prstGeom>
        </p:spPr>
      </p:pic>
      <p:pic>
        <p:nvPicPr>
          <p:cNvPr id="7" name="Picture 6"/>
          <p:cNvPicPr>
            <a:picLocks noChangeAspect="1"/>
          </p:cNvPicPr>
          <p:nvPr/>
        </p:nvPicPr>
        <p:blipFill>
          <a:blip r:embed="rId3" cstate="print"/>
          <a:stretch>
            <a:fillRect/>
          </a:stretch>
        </p:blipFill>
        <p:spPr>
          <a:xfrm>
            <a:off x="3932903" y="2266009"/>
            <a:ext cx="6381953" cy="939307"/>
          </a:xfrm>
          <a:prstGeom prst="rect">
            <a:avLst/>
          </a:prstGeom>
        </p:spPr>
      </p:pic>
    </p:spTree>
    <p:extLst>
      <p:ext uri="{BB962C8B-B14F-4D97-AF65-F5344CB8AC3E}">
        <p14:creationId xmlns:p14="http://schemas.microsoft.com/office/powerpoint/2010/main" val="1779839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D7CD-0227-4BAE-821E-DF02435B614D}"/>
              </a:ext>
            </a:extLst>
          </p:cNvPr>
          <p:cNvSpPr>
            <a:spLocks noGrp="1"/>
          </p:cNvSpPr>
          <p:nvPr>
            <p:ph type="title"/>
          </p:nvPr>
        </p:nvSpPr>
        <p:spPr>
          <a:xfrm>
            <a:off x="1950721" y="624110"/>
            <a:ext cx="955389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Dynamic Power Dissipation </a:t>
            </a:r>
            <a:endParaRPr lang="en-IN" dirty="0"/>
          </a:p>
        </p:txBody>
      </p:sp>
      <p:sp>
        <p:nvSpPr>
          <p:cNvPr id="3" name="Content Placeholder 2">
            <a:extLst>
              <a:ext uri="{FF2B5EF4-FFF2-40B4-BE49-F238E27FC236}">
                <a16:creationId xmlns:a16="http://schemas.microsoft.com/office/drawing/2014/main" id="{E1271893-3C53-4B7B-8FE2-C3A06C004BC4}"/>
              </a:ext>
            </a:extLst>
          </p:cNvPr>
          <p:cNvSpPr>
            <a:spLocks noGrp="1"/>
          </p:cNvSpPr>
          <p:nvPr>
            <p:ph idx="1"/>
          </p:nvPr>
        </p:nvSpPr>
        <p:spPr>
          <a:xfrm>
            <a:off x="1288026" y="1595120"/>
            <a:ext cx="10216586" cy="4805680"/>
          </a:xfrm>
        </p:spPr>
        <p:txBody>
          <a:bodyPr>
            <a:normAutofit lnSpcReduction="10000"/>
          </a:bodyPr>
          <a:lstStyle/>
          <a:p>
            <a:r>
              <a:rPr lang="en-US" dirty="0">
                <a:solidFill>
                  <a:srgbClr val="231F20"/>
                </a:solidFill>
                <a:latin typeface="ACaslon-Regular"/>
              </a:rPr>
              <a:t>Figure A shows a CMOS inverter driving a load capacitance. </a:t>
            </a:r>
            <a:r>
              <a:rPr lang="en-IN" dirty="0">
                <a:solidFill>
                  <a:srgbClr val="231F20"/>
                </a:solidFill>
                <a:latin typeface="ACaslon-Regular"/>
              </a:rPr>
              <a:t>When the input </a:t>
            </a:r>
            <a:r>
              <a:rPr lang="en-US" dirty="0">
                <a:solidFill>
                  <a:srgbClr val="231F20"/>
                </a:solidFill>
                <a:latin typeface="ACaslon-Regular"/>
              </a:rPr>
              <a:t>switches from 1 to 0, the </a:t>
            </a:r>
            <a:r>
              <a:rPr lang="en-US" dirty="0" err="1">
                <a:solidFill>
                  <a:srgbClr val="231F20"/>
                </a:solidFill>
                <a:latin typeface="ACaslon-Regular"/>
              </a:rPr>
              <a:t>pMOS</a:t>
            </a:r>
            <a:r>
              <a:rPr lang="en-US" dirty="0">
                <a:solidFill>
                  <a:srgbClr val="231F20"/>
                </a:solidFill>
                <a:latin typeface="ACaslon-Regular"/>
              </a:rPr>
              <a:t> transistor turns ON and charges the load to </a:t>
            </a:r>
            <a:r>
              <a:rPr lang="en-IN" sz="2400" i="1" dirty="0">
                <a:solidFill>
                  <a:srgbClr val="231F20"/>
                </a:solidFill>
                <a:latin typeface="ACaslon-Italic"/>
              </a:rPr>
              <a:t>V</a:t>
            </a:r>
            <a:r>
              <a:rPr lang="en-IN" sz="1200" i="1" dirty="0">
                <a:solidFill>
                  <a:srgbClr val="231F20"/>
                </a:solidFill>
                <a:latin typeface="ACaslon-Italic"/>
              </a:rPr>
              <a:t>DD</a:t>
            </a:r>
            <a:r>
              <a:rPr lang="en-IN" i="1" dirty="0">
                <a:solidFill>
                  <a:srgbClr val="231F20"/>
                </a:solidFill>
                <a:latin typeface="ACaslon-Italic"/>
              </a:rPr>
              <a:t>. </a:t>
            </a:r>
            <a:r>
              <a:rPr lang="en-US" dirty="0">
                <a:latin typeface="Arial" panose="020B0604020202020204" pitchFamily="34" charset="0"/>
                <a:cs typeface="Arial" panose="020B0604020202020204" pitchFamily="34" charset="0"/>
              </a:rPr>
              <a:t>According to EQ (6), the energy stored in the capacitor is  </a:t>
            </a:r>
          </a:p>
          <a:p>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……………(7)</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The energy delivered from the power supply is </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                                                                                                          …..(8) </a:t>
            </a:r>
          </a:p>
          <a:p>
            <a:pPr marL="0" indent="0">
              <a:buNone/>
            </a:pPr>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Observe that only half of the energy from the power supply is stored in the capacitor. </a:t>
            </a:r>
            <a:r>
              <a:rPr lang="en-IN" dirty="0">
                <a:latin typeface="Arial" panose="020B0604020202020204" pitchFamily="34" charset="0"/>
                <a:cs typeface="Arial" panose="020B0604020202020204" pitchFamily="34" charset="0"/>
              </a:rPr>
              <a:t>The</a:t>
            </a:r>
            <a:r>
              <a:rPr lang="en-US" dirty="0">
                <a:latin typeface="Arial" panose="020B0604020202020204" pitchFamily="34" charset="0"/>
                <a:cs typeface="Arial" panose="020B0604020202020204" pitchFamily="34" charset="0"/>
              </a:rPr>
              <a:t> other half is dissipated (converted to heat) in the </a:t>
            </a:r>
            <a:r>
              <a:rPr lang="en-US" dirty="0" err="1">
                <a:latin typeface="Arial" panose="020B0604020202020204" pitchFamily="34" charset="0"/>
                <a:cs typeface="Arial" panose="020B0604020202020204" pitchFamily="34" charset="0"/>
              </a:rPr>
              <a:t>pMOS</a:t>
            </a:r>
            <a:r>
              <a:rPr lang="en-US" dirty="0">
                <a:latin typeface="Arial" panose="020B0604020202020204" pitchFamily="34" charset="0"/>
                <a:cs typeface="Arial" panose="020B0604020202020204" pitchFamily="34" charset="0"/>
              </a:rPr>
              <a:t> transistor. </a:t>
            </a:r>
            <a:r>
              <a:rPr lang="en-IN" dirty="0">
                <a:latin typeface="Arial" panose="020B0604020202020204" pitchFamily="34" charset="0"/>
                <a:cs typeface="Arial" panose="020B0604020202020204" pitchFamily="34" charset="0"/>
              </a:rPr>
              <a:t>The power dissipated </a:t>
            </a:r>
            <a:r>
              <a:rPr lang="en-US" dirty="0">
                <a:latin typeface="Arial" panose="020B0604020202020204" pitchFamily="34" charset="0"/>
                <a:cs typeface="Arial" panose="020B0604020202020204" pitchFamily="34" charset="0"/>
              </a:rPr>
              <a:t>depends only on the load capacitance, not on the size of the transistor or the speed at </a:t>
            </a:r>
            <a:r>
              <a:rPr lang="en-IN" dirty="0">
                <a:latin typeface="Arial" panose="020B0604020202020204" pitchFamily="34" charset="0"/>
                <a:cs typeface="Arial" panose="020B0604020202020204" pitchFamily="34" charset="0"/>
              </a:rPr>
              <a:t>which the gate switches</a:t>
            </a: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endParaRPr lang="en-US" dirty="0">
              <a:solidFill>
                <a:prstClr val="black">
                  <a:lumMod val="75000"/>
                  <a:lumOff val="25000"/>
                </a:prstClr>
              </a:solidFill>
              <a:latin typeface="Arial" panose="020B0604020202020204" pitchFamily="34" charset="0"/>
              <a:cs typeface="Arial" panose="020B0604020202020204" pitchFamily="34" charset="0"/>
            </a:endParaRPr>
          </a:p>
          <a:p>
            <a:endParaRPr lang="en-US" dirty="0">
              <a:solidFill>
                <a:prstClr val="black">
                  <a:lumMod val="75000"/>
                  <a:lumOff val="25000"/>
                </a:prstClr>
              </a:solidFill>
              <a:latin typeface="Arial" panose="020B0604020202020204" pitchFamily="34" charset="0"/>
              <a:cs typeface="Arial" panose="020B0604020202020204" pitchFamily="34" charset="0"/>
            </a:endParaRPr>
          </a:p>
          <a:p>
            <a:pPr marL="0" lvl="0" indent="0" algn="just">
              <a:buClr>
                <a:srgbClr val="E78712"/>
              </a:buClr>
              <a:buNone/>
            </a:pPr>
            <a:endParaRPr lang="en-US" dirty="0">
              <a:solidFill>
                <a:prstClr val="black">
                  <a:lumMod val="75000"/>
                  <a:lumOff val="25000"/>
                </a:prstClr>
              </a:solidFill>
              <a:latin typeface="Arial" panose="020B0604020202020204" pitchFamily="34" charset="0"/>
              <a:cs typeface="Arial" panose="020B0604020202020204" pitchFamily="34" charset="0"/>
            </a:endParaRPr>
          </a:p>
          <a:p>
            <a:pPr marL="0" lvl="0" indent="0" algn="just">
              <a:buClr>
                <a:srgbClr val="E78712"/>
              </a:buClr>
              <a:buNone/>
            </a:pPr>
            <a:endParaRPr lang="en-US" dirty="0">
              <a:solidFill>
                <a:prstClr val="black">
                  <a:lumMod val="75000"/>
                  <a:lumOff val="25000"/>
                </a:prstClr>
              </a:solidFill>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7669B439-6C14-4FA5-A2D0-E4DE77EC9F36}"/>
              </a:ext>
            </a:extLst>
          </p:cNvPr>
          <p:cNvSpPr>
            <a:spLocks noGrp="1"/>
          </p:cNvSpPr>
          <p:nvPr>
            <p:ph type="ftr" sz="quarter" idx="11"/>
          </p:nvPr>
        </p:nvSpPr>
        <p:spPr>
          <a:xfrm>
            <a:off x="2586319" y="6448729"/>
            <a:ext cx="7619999" cy="365125"/>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a:p>
            <a:pPr lvl="0"/>
            <a:endParaRPr lang="en-IN" dirty="0"/>
          </a:p>
        </p:txBody>
      </p:sp>
      <p:pic>
        <p:nvPicPr>
          <p:cNvPr id="5" name="Picture 4"/>
          <p:cNvPicPr>
            <a:picLocks noChangeAspect="1"/>
          </p:cNvPicPr>
          <p:nvPr/>
        </p:nvPicPr>
        <p:blipFill>
          <a:blip r:embed="rId2" cstate="print"/>
          <a:stretch>
            <a:fillRect/>
          </a:stretch>
        </p:blipFill>
        <p:spPr>
          <a:xfrm>
            <a:off x="1950721" y="2980324"/>
            <a:ext cx="1933575" cy="676275"/>
          </a:xfrm>
          <a:prstGeom prst="rect">
            <a:avLst/>
          </a:prstGeom>
        </p:spPr>
      </p:pic>
      <p:pic>
        <p:nvPicPr>
          <p:cNvPr id="6" name="Picture 5"/>
          <p:cNvPicPr>
            <a:picLocks noChangeAspect="1"/>
          </p:cNvPicPr>
          <p:nvPr/>
        </p:nvPicPr>
        <p:blipFill>
          <a:blip r:embed="rId3" cstate="print"/>
          <a:stretch>
            <a:fillRect/>
          </a:stretch>
        </p:blipFill>
        <p:spPr>
          <a:xfrm>
            <a:off x="8596278" y="2424085"/>
            <a:ext cx="2931326" cy="2028371"/>
          </a:xfrm>
          <a:prstGeom prst="rect">
            <a:avLst/>
          </a:prstGeom>
        </p:spPr>
      </p:pic>
      <p:pic>
        <p:nvPicPr>
          <p:cNvPr id="7" name="Picture 6"/>
          <p:cNvPicPr>
            <a:picLocks noChangeAspect="1"/>
          </p:cNvPicPr>
          <p:nvPr/>
        </p:nvPicPr>
        <p:blipFill>
          <a:blip r:embed="rId4" cstate="print"/>
          <a:stretch>
            <a:fillRect/>
          </a:stretch>
        </p:blipFill>
        <p:spPr>
          <a:xfrm>
            <a:off x="1645922" y="4313273"/>
            <a:ext cx="5787266" cy="837299"/>
          </a:xfrm>
          <a:prstGeom prst="rect">
            <a:avLst/>
          </a:prstGeom>
        </p:spPr>
      </p:pic>
    </p:spTree>
    <p:extLst>
      <p:ext uri="{BB962C8B-B14F-4D97-AF65-F5344CB8AC3E}">
        <p14:creationId xmlns:p14="http://schemas.microsoft.com/office/powerpoint/2010/main" val="1275929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40D4-8BD5-455A-90C1-ECD86FC3977C}"/>
              </a:ext>
            </a:extLst>
          </p:cNvPr>
          <p:cNvSpPr>
            <a:spLocks noGrp="1"/>
          </p:cNvSpPr>
          <p:nvPr>
            <p:ph type="title"/>
          </p:nvPr>
        </p:nvSpPr>
        <p:spPr>
          <a:xfrm>
            <a:off x="1778001" y="624110"/>
            <a:ext cx="972661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Continue…..</a:t>
            </a:r>
            <a:endParaRPr lang="en-IN" dirty="0"/>
          </a:p>
        </p:txBody>
      </p:sp>
      <p:sp>
        <p:nvSpPr>
          <p:cNvPr id="3" name="Content Placeholder 2">
            <a:extLst>
              <a:ext uri="{FF2B5EF4-FFF2-40B4-BE49-F238E27FC236}">
                <a16:creationId xmlns:a16="http://schemas.microsoft.com/office/drawing/2014/main" id="{6020BF4A-7D4E-447A-BBDE-BEC4F1A7F467}"/>
              </a:ext>
            </a:extLst>
          </p:cNvPr>
          <p:cNvSpPr>
            <a:spLocks noGrp="1"/>
          </p:cNvSpPr>
          <p:nvPr>
            <p:ph idx="1"/>
          </p:nvPr>
        </p:nvSpPr>
        <p:spPr>
          <a:xfrm>
            <a:off x="1068512" y="1534160"/>
            <a:ext cx="10615488" cy="4377062"/>
          </a:xfrm>
        </p:spPr>
        <p:txBody>
          <a:bodyPr>
            <a:normAutofit/>
          </a:bodyPr>
          <a:lstStyle/>
          <a:p>
            <a:pPr algn="just">
              <a:spcBef>
                <a:spcPts val="0"/>
              </a:spcBef>
            </a:pPr>
            <a:r>
              <a:rPr lang="en-US" dirty="0">
                <a:latin typeface="Arial" panose="020B0604020202020204" pitchFamily="34" charset="0"/>
                <a:cs typeface="Arial" panose="020B0604020202020204" pitchFamily="34" charset="0"/>
              </a:rPr>
              <a:t>Suppose that the gate switches at some average frequency</a:t>
            </a:r>
            <a:r>
              <a:rPr lang="en-US" b="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f</a:t>
            </a:r>
            <a:r>
              <a:rPr lang="en-US" b="1" dirty="0" err="1">
                <a:latin typeface="Arial" panose="020B0604020202020204" pitchFamily="34" charset="0"/>
                <a:cs typeface="Arial" panose="020B0604020202020204" pitchFamily="34" charset="0"/>
              </a:rPr>
              <a:t>sw</a:t>
            </a:r>
            <a:r>
              <a:rPr lang="en-US" b="1" dirty="0">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Over some interval </a:t>
            </a:r>
            <a:r>
              <a:rPr lang="en-IN" b="1" i="1" dirty="0">
                <a:latin typeface="Arial" panose="020B0604020202020204" pitchFamily="34" charset="0"/>
                <a:cs typeface="Arial" panose="020B0604020202020204" pitchFamily="34" charset="0"/>
              </a:rPr>
              <a:t>T</a:t>
            </a:r>
            <a:r>
              <a:rPr lang="en-IN" dirty="0">
                <a:latin typeface="Arial" panose="020B0604020202020204" pitchFamily="34" charset="0"/>
                <a:cs typeface="Arial" panose="020B0604020202020204" pitchFamily="34" charset="0"/>
              </a:rPr>
              <a:t>,</a:t>
            </a:r>
          </a:p>
          <a:p>
            <a:pPr marL="0" indent="0" algn="just">
              <a:spcBef>
                <a:spcPts val="0"/>
              </a:spcBef>
              <a:buNone/>
            </a:pPr>
            <a:r>
              <a:rPr lang="en-US" dirty="0">
                <a:latin typeface="Arial" panose="020B0604020202020204" pitchFamily="34" charset="0"/>
                <a:cs typeface="Arial" panose="020B0604020202020204" pitchFamily="34" charset="0"/>
              </a:rPr>
              <a:t>      the load will be charged and discharged </a:t>
            </a:r>
            <a:r>
              <a:rPr lang="en-US" b="1" i="1" dirty="0" err="1">
                <a:latin typeface="Arial" panose="020B0604020202020204" pitchFamily="34" charset="0"/>
                <a:cs typeface="Arial" panose="020B0604020202020204" pitchFamily="34" charset="0"/>
              </a:rPr>
              <a:t>Tf</a:t>
            </a:r>
            <a:r>
              <a:rPr lang="en-US" b="1" dirty="0" err="1">
                <a:latin typeface="Arial" panose="020B0604020202020204" pitchFamily="34" charset="0"/>
                <a:cs typeface="Arial" panose="020B0604020202020204" pitchFamily="34" charset="0"/>
              </a:rPr>
              <a:t>sw</a:t>
            </a:r>
            <a:r>
              <a:rPr lang="en-US" dirty="0">
                <a:latin typeface="Arial" panose="020B0604020202020204" pitchFamily="34" charset="0"/>
                <a:cs typeface="Arial" panose="020B0604020202020204" pitchFamily="34" charset="0"/>
              </a:rPr>
              <a:t> times. Then, according to EQ (3), the</a:t>
            </a:r>
          </a:p>
          <a:p>
            <a:pPr marL="0" indent="0" algn="just">
              <a:spcBef>
                <a:spcPts val="0"/>
              </a:spcBef>
              <a:buNone/>
            </a:pPr>
            <a:r>
              <a:rPr lang="en-IN" dirty="0">
                <a:latin typeface="Arial" panose="020B0604020202020204" pitchFamily="34" charset="0"/>
                <a:cs typeface="Arial" panose="020B0604020202020204" pitchFamily="34" charset="0"/>
              </a:rPr>
              <a:t>     average power dissipation is</a:t>
            </a:r>
          </a:p>
          <a:p>
            <a:pPr marL="0" indent="0" algn="just">
              <a:buNone/>
            </a:pPr>
            <a:endParaRPr lang="en-IN" dirty="0">
              <a:latin typeface="Arial" panose="020B0604020202020204" pitchFamily="34" charset="0"/>
              <a:cs typeface="Arial" panose="020B0604020202020204" pitchFamily="34" charset="0"/>
            </a:endParaRPr>
          </a:p>
          <a:p>
            <a:pPr marL="0" indent="0" algn="just">
              <a:buNone/>
            </a:pPr>
            <a:r>
              <a:rPr lang="en-IN" dirty="0">
                <a:latin typeface="Arial" panose="020B0604020202020204" pitchFamily="34" charset="0"/>
                <a:cs typeface="Arial" panose="020B0604020202020204" pitchFamily="34" charset="0"/>
              </a:rPr>
              <a:t>                                                                                                                …………..(9) </a:t>
            </a:r>
          </a:p>
          <a:p>
            <a:pPr marL="0" indent="0" algn="just">
              <a:buNone/>
            </a:pPr>
            <a:endParaRPr lang="en-IN" dirty="0">
              <a:latin typeface="Arial" panose="020B0604020202020204" pitchFamily="34" charset="0"/>
              <a:cs typeface="Arial" panose="020B0604020202020204" pitchFamily="34" charset="0"/>
            </a:endParaRPr>
          </a:p>
          <a:p>
            <a:pPr algn="just"/>
            <a:r>
              <a:rPr lang="en-US" sz="1700" dirty="0">
                <a:latin typeface="Arial" panose="020B0604020202020204" pitchFamily="34" charset="0"/>
                <a:cs typeface="Arial" panose="020B0604020202020204" pitchFamily="34" charset="0"/>
              </a:rPr>
              <a:t>This is called the </a:t>
            </a:r>
            <a:r>
              <a:rPr lang="en-US" sz="1700" i="1" dirty="0">
                <a:latin typeface="Arial" panose="020B0604020202020204" pitchFamily="34" charset="0"/>
                <a:cs typeface="Arial" panose="020B0604020202020204" pitchFamily="34" charset="0"/>
              </a:rPr>
              <a:t>dynamic power </a:t>
            </a:r>
            <a:r>
              <a:rPr lang="en-US" sz="1700" dirty="0">
                <a:latin typeface="Arial" panose="020B0604020202020204" pitchFamily="34" charset="0"/>
                <a:cs typeface="Arial" panose="020B0604020202020204" pitchFamily="34" charset="0"/>
              </a:rPr>
              <a:t>because it arises from the switching of the load. Because most gates do not switch every clock cycle, it is often more convenient to express switching frequency </a:t>
            </a:r>
            <a:r>
              <a:rPr lang="en-US" sz="1700" b="1" i="1" dirty="0" err="1">
                <a:latin typeface="Arial" panose="020B0604020202020204" pitchFamily="34" charset="0"/>
                <a:cs typeface="Arial" panose="020B0604020202020204" pitchFamily="34" charset="0"/>
              </a:rPr>
              <a:t>f</a:t>
            </a:r>
            <a:r>
              <a:rPr lang="en-US" sz="1700" b="1" dirty="0" err="1">
                <a:latin typeface="Arial" panose="020B0604020202020204" pitchFamily="34" charset="0"/>
                <a:cs typeface="Arial" panose="020B0604020202020204" pitchFamily="34" charset="0"/>
              </a:rPr>
              <a:t>sw</a:t>
            </a:r>
            <a:r>
              <a:rPr lang="en-US" sz="1700" dirty="0">
                <a:latin typeface="Arial" panose="020B0604020202020204" pitchFamily="34" charset="0"/>
                <a:cs typeface="Arial" panose="020B0604020202020204" pitchFamily="34" charset="0"/>
              </a:rPr>
              <a:t> as an </a:t>
            </a:r>
            <a:r>
              <a:rPr lang="en-US" sz="1700" i="1" dirty="0">
                <a:latin typeface="Arial" panose="020B0604020202020204" pitchFamily="34" charset="0"/>
                <a:cs typeface="Arial" panose="020B0604020202020204" pitchFamily="34" charset="0"/>
              </a:rPr>
              <a:t>activity factor </a:t>
            </a:r>
            <a:r>
              <a:rPr lang="el-GR" sz="1700" b="1" i="1" dirty="0">
                <a:latin typeface="Arial" panose="020B0604020202020204" pitchFamily="34" charset="0"/>
                <a:cs typeface="Arial" panose="020B0604020202020204" pitchFamily="34" charset="0"/>
              </a:rPr>
              <a:t>α</a:t>
            </a:r>
            <a:r>
              <a:rPr lang="en-US" sz="1700" dirty="0">
                <a:latin typeface="Arial" panose="020B0604020202020204" pitchFamily="34" charset="0"/>
                <a:cs typeface="Arial" panose="020B0604020202020204" pitchFamily="34" charset="0"/>
              </a:rPr>
              <a:t> times the clock frequency</a:t>
            </a:r>
            <a:r>
              <a:rPr lang="en-US" sz="1700" b="1" dirty="0">
                <a:latin typeface="Arial" panose="020B0604020202020204" pitchFamily="34" charset="0"/>
                <a:cs typeface="Arial" panose="020B0604020202020204" pitchFamily="34" charset="0"/>
              </a:rPr>
              <a:t> </a:t>
            </a:r>
            <a:r>
              <a:rPr lang="en-US" sz="1700" b="1" i="1" dirty="0">
                <a:latin typeface="Arial" panose="020B0604020202020204" pitchFamily="34" charset="0"/>
                <a:cs typeface="Arial" panose="020B0604020202020204" pitchFamily="34" charset="0"/>
              </a:rPr>
              <a:t>f</a:t>
            </a:r>
            <a:r>
              <a:rPr lang="en-US" sz="1700" dirty="0">
                <a:latin typeface="Arial" panose="020B0604020202020204" pitchFamily="34" charset="0"/>
                <a:cs typeface="Arial" panose="020B0604020202020204" pitchFamily="34" charset="0"/>
              </a:rPr>
              <a:t>. Now, the dynamic power dissipation may be rewritten as </a:t>
            </a:r>
          </a:p>
          <a:p>
            <a:pPr marL="0" indent="0" algn="just">
              <a:buNone/>
            </a:pPr>
            <a:r>
              <a:rPr lang="en-US" sz="1700" dirty="0">
                <a:latin typeface="Arial" panose="020B0604020202020204" pitchFamily="34" charset="0"/>
                <a:cs typeface="Arial" panose="020B0604020202020204" pitchFamily="34" charset="0"/>
              </a:rPr>
              <a:t>                                                                                                                        …………(10)</a:t>
            </a:r>
          </a:p>
          <a:p>
            <a:pPr marL="0" indent="0" algn="just">
              <a:buNone/>
            </a:pPr>
            <a:endParaRPr lang="en-US" sz="1700"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activity factor is the probability that the circuit node transitions from 0 to 1.</a:t>
            </a:r>
            <a:endParaRPr lang="en-US" sz="1700" dirty="0">
              <a:latin typeface="Arial" panose="020B0604020202020204" pitchFamily="34" charset="0"/>
              <a:cs typeface="Arial" panose="020B0604020202020204" pitchFamily="34" charset="0"/>
            </a:endParaRPr>
          </a:p>
          <a:p>
            <a:pPr algn="just"/>
            <a:endParaRPr lang="en-US" sz="1700" dirty="0">
              <a:latin typeface="Arial" panose="020B0604020202020204" pitchFamily="34" charset="0"/>
              <a:cs typeface="Arial" panose="020B0604020202020204" pitchFamily="34" charset="0"/>
            </a:endParaRPr>
          </a:p>
          <a:p>
            <a:pPr algn="just"/>
            <a:endParaRPr lang="en-US" sz="1700"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DBF51891-CDC8-4C7B-AD29-76548605FCDC}"/>
              </a:ext>
            </a:extLst>
          </p:cNvPr>
          <p:cNvSpPr>
            <a:spLocks noGrp="1"/>
          </p:cNvSpPr>
          <p:nvPr>
            <p:ph type="ftr" sz="quarter" idx="11"/>
          </p:nvPr>
        </p:nvSpPr>
        <p:spPr/>
        <p:txBody>
          <a:bodyPr/>
          <a:lstStyle/>
          <a:p>
            <a:endParaRPr lang="en-IN" dirty="0"/>
          </a:p>
        </p:txBody>
      </p:sp>
      <p:sp>
        <p:nvSpPr>
          <p:cNvPr id="5" name="Footer Placeholder 3">
            <a:extLst>
              <a:ext uri="{FF2B5EF4-FFF2-40B4-BE49-F238E27FC236}">
                <a16:creationId xmlns:a16="http://schemas.microsoft.com/office/drawing/2014/main" id="{EF051A2B-3556-4CE7-9251-8AC17B36A602}"/>
              </a:ext>
            </a:extLst>
          </p:cNvPr>
          <p:cNvSpPr txBox="1">
            <a:spLocks/>
          </p:cNvSpPr>
          <p:nvPr/>
        </p:nvSpPr>
        <p:spPr>
          <a:xfrm>
            <a:off x="2296160" y="6135808"/>
            <a:ext cx="8065451" cy="517525"/>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600" dirty="0">
                <a:solidFill>
                  <a:srgbClr val="C00000"/>
                </a:solidFill>
                <a:latin typeface="Arial" panose="020B0604020202020204" pitchFamily="34" charset="0"/>
                <a:cs typeface="Arial" panose="020B0604020202020204" pitchFamily="34" charset="0"/>
              </a:rPr>
              <a:t>Rohit Lorenzo, VIT-AP</a:t>
            </a:r>
          </a:p>
          <a:p>
            <a:endParaRPr lang="en-IN" dirty="0"/>
          </a:p>
        </p:txBody>
      </p:sp>
      <p:pic>
        <p:nvPicPr>
          <p:cNvPr id="7" name="Picture 6"/>
          <p:cNvPicPr>
            <a:picLocks noChangeAspect="1"/>
          </p:cNvPicPr>
          <p:nvPr/>
        </p:nvPicPr>
        <p:blipFill>
          <a:blip r:embed="rId2" cstate="print"/>
          <a:stretch>
            <a:fillRect/>
          </a:stretch>
        </p:blipFill>
        <p:spPr>
          <a:xfrm>
            <a:off x="3709835" y="2715705"/>
            <a:ext cx="4146140" cy="794937"/>
          </a:xfrm>
          <a:prstGeom prst="rect">
            <a:avLst/>
          </a:prstGeom>
        </p:spPr>
      </p:pic>
      <p:pic>
        <p:nvPicPr>
          <p:cNvPr id="8" name="Picture 7"/>
          <p:cNvPicPr>
            <a:picLocks noChangeAspect="1"/>
          </p:cNvPicPr>
          <p:nvPr/>
        </p:nvPicPr>
        <p:blipFill>
          <a:blip r:embed="rId3" cstate="print"/>
          <a:stretch>
            <a:fillRect/>
          </a:stretch>
        </p:blipFill>
        <p:spPr>
          <a:xfrm>
            <a:off x="4664485" y="4632741"/>
            <a:ext cx="2463902" cy="506760"/>
          </a:xfrm>
          <a:prstGeom prst="rect">
            <a:avLst/>
          </a:prstGeom>
        </p:spPr>
      </p:pic>
    </p:spTree>
    <p:extLst>
      <p:ext uri="{BB962C8B-B14F-4D97-AF65-F5344CB8AC3E}">
        <p14:creationId xmlns:p14="http://schemas.microsoft.com/office/powerpoint/2010/main" val="2783265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85A01-8F20-4F61-97A3-EED6D8836D3A}"/>
              </a:ext>
            </a:extLst>
          </p:cNvPr>
          <p:cNvSpPr>
            <a:spLocks noGrp="1"/>
          </p:cNvSpPr>
          <p:nvPr>
            <p:ph type="title"/>
          </p:nvPr>
        </p:nvSpPr>
        <p:spPr>
          <a:xfrm>
            <a:off x="1645921" y="624110"/>
            <a:ext cx="985869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Short Circuit Power Dissipation</a:t>
            </a:r>
            <a:endParaRPr lang="en-IN" dirty="0"/>
          </a:p>
        </p:txBody>
      </p:sp>
      <p:sp>
        <p:nvSpPr>
          <p:cNvPr id="4" name="Footer Placeholder 3">
            <a:extLst>
              <a:ext uri="{FF2B5EF4-FFF2-40B4-BE49-F238E27FC236}">
                <a16:creationId xmlns:a16="http://schemas.microsoft.com/office/drawing/2014/main" id="{2AEEF53B-31EB-4BE7-B4E5-C0A4DF0396E2}"/>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3" name="Content Placeholder 2"/>
          <p:cNvSpPr>
            <a:spLocks noGrp="1"/>
          </p:cNvSpPr>
          <p:nvPr>
            <p:ph idx="1"/>
          </p:nvPr>
        </p:nvSpPr>
        <p:spPr>
          <a:xfrm>
            <a:off x="1425677" y="1356851"/>
            <a:ext cx="10078935" cy="4485545"/>
          </a:xfrm>
        </p:spPr>
        <p:txBody>
          <a:bodyPr/>
          <a:lstStyle/>
          <a:p>
            <a:pPr algn="just"/>
            <a:r>
              <a:rPr lang="en-US" dirty="0">
                <a:latin typeface="Arial" panose="020B0604020202020204" pitchFamily="34" charset="0"/>
                <a:cs typeface="Arial" panose="020B0604020202020204" pitchFamily="34" charset="0"/>
              </a:rPr>
              <a:t>Short-circuit power dissipation occurs as both pull-up and pulldown networks are partially ON while the input switches. It increases as the input edge rates become slower because both networks are ON for more time. </a:t>
            </a:r>
          </a:p>
          <a:p>
            <a:r>
              <a:rPr lang="en-IN" dirty="0">
                <a:latin typeface="Arial" panose="020B0604020202020204" pitchFamily="34" charset="0"/>
                <a:cs typeface="Arial" panose="020B0604020202020204" pitchFamily="34" charset="0"/>
              </a:rPr>
              <a:t>However,</a:t>
            </a:r>
            <a:r>
              <a:rPr lang="en-US" dirty="0">
                <a:latin typeface="Arial" panose="020B0604020202020204" pitchFamily="34" charset="0"/>
                <a:cs typeface="Arial" panose="020B0604020202020204" pitchFamily="34" charset="0"/>
              </a:rPr>
              <a:t>it decreases as load capacitance increases because with large loads the output only switches a small amount during the input transition.</a:t>
            </a:r>
            <a:endParaRPr lang="en-IN"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cstate="print"/>
          <a:stretch>
            <a:fillRect/>
          </a:stretch>
        </p:blipFill>
        <p:spPr>
          <a:xfrm>
            <a:off x="6056671" y="3198307"/>
            <a:ext cx="5664251" cy="3051237"/>
          </a:xfrm>
          <a:prstGeom prst="rect">
            <a:avLst/>
          </a:prstGeom>
        </p:spPr>
      </p:pic>
      <p:pic>
        <p:nvPicPr>
          <p:cNvPr id="6" name="Picture 5"/>
          <p:cNvPicPr>
            <a:picLocks noChangeAspect="1"/>
          </p:cNvPicPr>
          <p:nvPr/>
        </p:nvPicPr>
        <p:blipFill>
          <a:blip r:embed="rId3" cstate="print"/>
          <a:stretch>
            <a:fillRect/>
          </a:stretch>
        </p:blipFill>
        <p:spPr>
          <a:xfrm>
            <a:off x="1425676" y="3129847"/>
            <a:ext cx="4330771" cy="2720889"/>
          </a:xfrm>
          <a:prstGeom prst="rect">
            <a:avLst/>
          </a:prstGeom>
        </p:spPr>
      </p:pic>
    </p:spTree>
    <p:extLst>
      <p:ext uri="{BB962C8B-B14F-4D97-AF65-F5344CB8AC3E}">
        <p14:creationId xmlns:p14="http://schemas.microsoft.com/office/powerpoint/2010/main" val="776522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85A01-8F20-4F61-97A3-EED6D8836D3A}"/>
              </a:ext>
            </a:extLst>
          </p:cNvPr>
          <p:cNvSpPr>
            <a:spLocks noGrp="1"/>
          </p:cNvSpPr>
          <p:nvPr>
            <p:ph type="title"/>
          </p:nvPr>
        </p:nvSpPr>
        <p:spPr>
          <a:xfrm>
            <a:off x="1645921" y="624110"/>
            <a:ext cx="985869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Continue…..</a:t>
            </a:r>
            <a:endParaRPr lang="en-IN" dirty="0"/>
          </a:p>
        </p:txBody>
      </p:sp>
      <p:sp>
        <p:nvSpPr>
          <p:cNvPr id="4" name="Footer Placeholder 3">
            <a:extLst>
              <a:ext uri="{FF2B5EF4-FFF2-40B4-BE49-F238E27FC236}">
                <a16:creationId xmlns:a16="http://schemas.microsoft.com/office/drawing/2014/main" id="{2AEEF53B-31EB-4BE7-B4E5-C0A4DF0396E2}"/>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3" name="Content Placeholder 2"/>
          <p:cNvSpPr>
            <a:spLocks noGrp="1"/>
          </p:cNvSpPr>
          <p:nvPr>
            <p:ph idx="1"/>
          </p:nvPr>
        </p:nvSpPr>
        <p:spPr>
          <a:xfrm>
            <a:off x="729575" y="1356851"/>
            <a:ext cx="10775038" cy="4722936"/>
          </a:xfrm>
        </p:spPr>
        <p:txBody>
          <a:bodyPr/>
          <a:lstStyle/>
          <a:p>
            <a:pPr algn="just"/>
            <a:r>
              <a:rPr lang="en-US" dirty="0">
                <a:latin typeface="Arial" pitchFamily="34" charset="0"/>
                <a:cs typeface="Arial" pitchFamily="34" charset="0"/>
              </a:rPr>
              <a:t>Under the (reasonable) assumption that the resulting current spikes can be approximated as triangles and that the inverter is symmetrical in its rising and falling responses, we can compute the energy consumed per switching period.</a:t>
            </a:r>
          </a:p>
          <a:p>
            <a:pPr algn="just"/>
            <a:r>
              <a:rPr lang="en-IN" dirty="0">
                <a:latin typeface="Arial" pitchFamily="34" charset="0"/>
                <a:cs typeface="Arial" pitchFamily="34" charset="0"/>
              </a:rPr>
              <a:t>                                                                                                                                …..(11)</a:t>
            </a:r>
          </a:p>
          <a:p>
            <a:pPr algn="just"/>
            <a:endParaRPr lang="en-IN" dirty="0">
              <a:latin typeface="Arial" pitchFamily="34" charset="0"/>
              <a:cs typeface="Arial" pitchFamily="34" charset="0"/>
            </a:endParaRPr>
          </a:p>
          <a:p>
            <a:pPr algn="just"/>
            <a:r>
              <a:rPr lang="en-US" dirty="0">
                <a:latin typeface="Arial" pitchFamily="34" charset="0"/>
                <a:cs typeface="Arial" pitchFamily="34" charset="0"/>
              </a:rPr>
              <a:t>as well as the average power consumption</a:t>
            </a:r>
          </a:p>
          <a:p>
            <a:pPr algn="just"/>
            <a:r>
              <a:rPr lang="en-IN">
                <a:latin typeface="Arial" pitchFamily="34" charset="0"/>
                <a:cs typeface="Arial" pitchFamily="34" charset="0"/>
              </a:rPr>
              <a:t>                                                                                                                    ……..(12)</a:t>
            </a:r>
            <a:endParaRPr lang="en-US" dirty="0">
              <a:latin typeface="Arial" pitchFamily="34" charset="0"/>
              <a:cs typeface="Arial" pitchFamily="34" charset="0"/>
            </a:endParaRPr>
          </a:p>
        </p:txBody>
      </p:sp>
      <p:pic>
        <p:nvPicPr>
          <p:cNvPr id="58370" name="Picture 2"/>
          <p:cNvPicPr>
            <a:picLocks noChangeAspect="1" noChangeArrowheads="1"/>
          </p:cNvPicPr>
          <p:nvPr/>
        </p:nvPicPr>
        <p:blipFill>
          <a:blip r:embed="rId2" cstate="print"/>
          <a:srcRect/>
          <a:stretch>
            <a:fillRect/>
          </a:stretch>
        </p:blipFill>
        <p:spPr bwMode="auto">
          <a:xfrm>
            <a:off x="2638730" y="2371829"/>
            <a:ext cx="5756241" cy="667758"/>
          </a:xfrm>
          <a:prstGeom prst="rect">
            <a:avLst/>
          </a:prstGeom>
          <a:noFill/>
          <a:ln w="9525">
            <a:noFill/>
            <a:miter lim="800000"/>
            <a:headEnd/>
            <a:tailEnd/>
          </a:ln>
        </p:spPr>
      </p:pic>
      <p:pic>
        <p:nvPicPr>
          <p:cNvPr id="58371" name="Picture 3"/>
          <p:cNvPicPr>
            <a:picLocks noChangeAspect="1" noChangeArrowheads="1"/>
          </p:cNvPicPr>
          <p:nvPr/>
        </p:nvPicPr>
        <p:blipFill>
          <a:blip r:embed="rId3" cstate="print"/>
          <a:srcRect/>
          <a:stretch>
            <a:fillRect/>
          </a:stretch>
        </p:blipFill>
        <p:spPr bwMode="auto">
          <a:xfrm>
            <a:off x="3530635" y="3487872"/>
            <a:ext cx="3823476" cy="441491"/>
          </a:xfrm>
          <a:prstGeom prst="rect">
            <a:avLst/>
          </a:prstGeom>
          <a:noFill/>
          <a:ln w="9525">
            <a:noFill/>
            <a:miter lim="800000"/>
            <a:headEnd/>
            <a:tailEnd/>
          </a:ln>
        </p:spPr>
      </p:pic>
    </p:spTree>
    <p:extLst>
      <p:ext uri="{BB962C8B-B14F-4D97-AF65-F5344CB8AC3E}">
        <p14:creationId xmlns:p14="http://schemas.microsoft.com/office/powerpoint/2010/main" val="776522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85A01-8F20-4F61-97A3-EED6D8836D3A}"/>
              </a:ext>
            </a:extLst>
          </p:cNvPr>
          <p:cNvSpPr>
            <a:spLocks noGrp="1"/>
          </p:cNvSpPr>
          <p:nvPr>
            <p:ph type="title"/>
          </p:nvPr>
        </p:nvSpPr>
        <p:spPr>
          <a:xfrm>
            <a:off x="1645921" y="624110"/>
            <a:ext cx="985869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Problem 1</a:t>
            </a:r>
            <a:endParaRPr lang="en-IN" dirty="0"/>
          </a:p>
        </p:txBody>
      </p:sp>
      <p:sp>
        <p:nvSpPr>
          <p:cNvPr id="4" name="Footer Placeholder 3">
            <a:extLst>
              <a:ext uri="{FF2B5EF4-FFF2-40B4-BE49-F238E27FC236}">
                <a16:creationId xmlns:a16="http://schemas.microsoft.com/office/drawing/2014/main" id="{2AEEF53B-31EB-4BE7-B4E5-C0A4DF0396E2}"/>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3" name="Content Placeholder 2"/>
          <p:cNvSpPr>
            <a:spLocks noGrp="1"/>
          </p:cNvSpPr>
          <p:nvPr>
            <p:ph idx="1"/>
          </p:nvPr>
        </p:nvSpPr>
        <p:spPr>
          <a:xfrm>
            <a:off x="729575" y="1356851"/>
            <a:ext cx="10775038" cy="4722936"/>
          </a:xfrm>
        </p:spPr>
        <p:txBody>
          <a:bodyPr/>
          <a:lstStyle/>
          <a:p>
            <a:pPr algn="just"/>
            <a:r>
              <a:rPr lang="en-IN" dirty="0">
                <a:latin typeface="Arial" pitchFamily="34" charset="0"/>
                <a:cs typeface="Arial" pitchFamily="34" charset="0"/>
              </a:rPr>
              <a:t>Calculate the amount of energy and power needed to charge and discharge the capacitance. The value of load capacitance is equal to 6 </a:t>
            </a:r>
            <a:r>
              <a:rPr lang="en-IN" dirty="0" err="1">
                <a:latin typeface="Arial" pitchFamily="34" charset="0"/>
                <a:cs typeface="Arial" pitchFamily="34" charset="0"/>
              </a:rPr>
              <a:t>fF</a:t>
            </a:r>
            <a:r>
              <a:rPr lang="en-IN" dirty="0">
                <a:latin typeface="Arial" pitchFamily="34" charset="0"/>
                <a:cs typeface="Arial" pitchFamily="34" charset="0"/>
              </a:rPr>
              <a:t> for a supply </a:t>
            </a:r>
            <a:r>
              <a:rPr lang="en-IN" dirty="0" err="1">
                <a:latin typeface="Arial" pitchFamily="34" charset="0"/>
                <a:cs typeface="Arial" pitchFamily="34" charset="0"/>
              </a:rPr>
              <a:t>volatge</a:t>
            </a:r>
            <a:r>
              <a:rPr lang="en-IN" dirty="0">
                <a:latin typeface="Arial" pitchFamily="34" charset="0"/>
                <a:cs typeface="Arial" pitchFamily="34" charset="0"/>
              </a:rPr>
              <a:t> of 2.5 V.  Consider time </a:t>
            </a:r>
            <a:r>
              <a:rPr lang="en-IN" dirty="0" err="1">
                <a:latin typeface="Arial" pitchFamily="34" charset="0"/>
                <a:cs typeface="Arial" pitchFamily="34" charset="0"/>
              </a:rPr>
              <a:t>t</a:t>
            </a:r>
            <a:r>
              <a:rPr lang="en-IN" baseline="-25000" dirty="0" err="1">
                <a:latin typeface="Arial" pitchFamily="34" charset="0"/>
                <a:cs typeface="Arial" pitchFamily="34" charset="0"/>
              </a:rPr>
              <a:t>P</a:t>
            </a:r>
            <a:r>
              <a:rPr lang="en-IN" dirty="0">
                <a:latin typeface="Arial" pitchFamily="34" charset="0"/>
                <a:cs typeface="Arial" pitchFamily="34" charset="0"/>
              </a:rPr>
              <a:t> = 32.5 ps.</a:t>
            </a:r>
          </a:p>
          <a:p>
            <a:pPr algn="just"/>
            <a:endParaRPr lang="en-IN" b="1" u="sng" dirty="0">
              <a:latin typeface="Arial" pitchFamily="34" charset="0"/>
              <a:cs typeface="Arial" pitchFamily="34" charset="0"/>
            </a:endParaRPr>
          </a:p>
          <a:p>
            <a:pPr algn="just"/>
            <a:r>
              <a:rPr lang="en-IN" b="1" u="sng" dirty="0">
                <a:latin typeface="Arial" pitchFamily="34" charset="0"/>
                <a:cs typeface="Arial" pitchFamily="34" charset="0"/>
              </a:rPr>
              <a:t>Solution </a:t>
            </a:r>
            <a:endParaRPr lang="en-US" b="1" u="sng" dirty="0">
              <a:latin typeface="Arial" pitchFamily="34" charset="0"/>
              <a:cs typeface="Arial" pitchFamily="34" charset="0"/>
            </a:endParaRPr>
          </a:p>
          <a:p>
            <a:pPr algn="just"/>
            <a:endParaRPr lang="en-IN" dirty="0">
              <a:latin typeface="Arial" pitchFamily="34" charset="0"/>
              <a:cs typeface="Arial" pitchFamily="34" charset="0"/>
            </a:endParaRPr>
          </a:p>
        </p:txBody>
      </p:sp>
      <p:sp>
        <p:nvSpPr>
          <p:cNvPr id="59394" name="Rectangle 2"/>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939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103123" y="2879386"/>
            <a:ext cx="3386090" cy="428017"/>
          </a:xfrm>
          <a:prstGeom prst="rect">
            <a:avLst/>
          </a:prstGeom>
          <a:noFill/>
        </p:spPr>
      </p:pic>
      <p:sp>
        <p:nvSpPr>
          <p:cNvPr id="59395" name="Rectangle 3"/>
          <p:cNvSpPr>
            <a:spLocks noChangeArrowheads="1"/>
          </p:cNvSpPr>
          <p:nvPr/>
        </p:nvSpPr>
        <p:spPr bwMode="auto">
          <a:xfrm>
            <a:off x="0" y="74295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59397" name="Rectangle 5"/>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9396"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112851" y="3667326"/>
            <a:ext cx="2948152" cy="340469"/>
          </a:xfrm>
          <a:prstGeom prst="rect">
            <a:avLst/>
          </a:prstGeom>
          <a:noFill/>
        </p:spPr>
      </p:pic>
      <p:sp>
        <p:nvSpPr>
          <p:cNvPr id="59398" name="Rectangle 6"/>
          <p:cNvSpPr>
            <a:spLocks noChangeArrowheads="1"/>
          </p:cNvSpPr>
          <p:nvPr/>
        </p:nvSpPr>
        <p:spPr bwMode="auto">
          <a:xfrm>
            <a:off x="0" y="73660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77652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9393"/>
                                        </p:tgtEl>
                                        <p:attrNameLst>
                                          <p:attrName>style.visibility</p:attrName>
                                        </p:attrNameLst>
                                      </p:cBhvr>
                                      <p:to>
                                        <p:strVal val="visible"/>
                                      </p:to>
                                    </p:set>
                                    <p:animEffect transition="in" filter="fade">
                                      <p:cBhvr>
                                        <p:cTn id="7" dur="1000"/>
                                        <p:tgtEl>
                                          <p:spTgt spid="59393"/>
                                        </p:tgtEl>
                                      </p:cBhvr>
                                    </p:animEffect>
                                    <p:anim calcmode="lin" valueType="num">
                                      <p:cBhvr>
                                        <p:cTn id="8" dur="1000" fill="hold"/>
                                        <p:tgtEl>
                                          <p:spTgt spid="59393"/>
                                        </p:tgtEl>
                                        <p:attrNameLst>
                                          <p:attrName>ppt_x</p:attrName>
                                        </p:attrNameLst>
                                      </p:cBhvr>
                                      <p:tavLst>
                                        <p:tav tm="0">
                                          <p:val>
                                            <p:strVal val="#ppt_x"/>
                                          </p:val>
                                        </p:tav>
                                        <p:tav tm="100000">
                                          <p:val>
                                            <p:strVal val="#ppt_x"/>
                                          </p:val>
                                        </p:tav>
                                      </p:tavLst>
                                    </p:anim>
                                    <p:anim calcmode="lin" valueType="num">
                                      <p:cBhvr>
                                        <p:cTn id="9" dur="1000" fill="hold"/>
                                        <p:tgtEl>
                                          <p:spTgt spid="5939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9396"/>
                                        </p:tgtEl>
                                        <p:attrNameLst>
                                          <p:attrName>style.visibility</p:attrName>
                                        </p:attrNameLst>
                                      </p:cBhvr>
                                      <p:to>
                                        <p:strVal val="visible"/>
                                      </p:to>
                                    </p:set>
                                    <p:animEffect transition="in" filter="fade">
                                      <p:cBhvr>
                                        <p:cTn id="12" dur="1000"/>
                                        <p:tgtEl>
                                          <p:spTgt spid="59396"/>
                                        </p:tgtEl>
                                      </p:cBhvr>
                                    </p:animEffect>
                                    <p:anim calcmode="lin" valueType="num">
                                      <p:cBhvr>
                                        <p:cTn id="13" dur="1000" fill="hold"/>
                                        <p:tgtEl>
                                          <p:spTgt spid="59396"/>
                                        </p:tgtEl>
                                        <p:attrNameLst>
                                          <p:attrName>ppt_x</p:attrName>
                                        </p:attrNameLst>
                                      </p:cBhvr>
                                      <p:tavLst>
                                        <p:tav tm="0">
                                          <p:val>
                                            <p:strVal val="#ppt_x"/>
                                          </p:val>
                                        </p:tav>
                                        <p:tav tm="100000">
                                          <p:val>
                                            <p:strVal val="#ppt_x"/>
                                          </p:val>
                                        </p:tav>
                                      </p:tavLst>
                                    </p:anim>
                                    <p:anim calcmode="lin" valueType="num">
                                      <p:cBhvr>
                                        <p:cTn id="14" dur="1000" fill="hold"/>
                                        <p:tgtEl>
                                          <p:spTgt spid="593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53F54-00A9-40A1-B078-B58867969EAA}"/>
              </a:ext>
            </a:extLst>
          </p:cNvPr>
          <p:cNvSpPr>
            <a:spLocks noGrp="1"/>
          </p:cNvSpPr>
          <p:nvPr>
            <p:ph type="title"/>
          </p:nvPr>
        </p:nvSpPr>
        <p:spPr>
          <a:xfrm>
            <a:off x="1779639" y="624110"/>
            <a:ext cx="9724974" cy="1280890"/>
          </a:xfrm>
        </p:spPr>
        <p:txBody>
          <a:bodyPr/>
          <a:lstStyle/>
          <a:p>
            <a:r>
              <a:rPr lang="en-US" dirty="0"/>
              <a:t>Problem2</a:t>
            </a:r>
            <a:endParaRPr lang="en-IN" dirty="0"/>
          </a:p>
        </p:txBody>
      </p:sp>
      <p:sp>
        <p:nvSpPr>
          <p:cNvPr id="3" name="Content Placeholder 2">
            <a:extLst>
              <a:ext uri="{FF2B5EF4-FFF2-40B4-BE49-F238E27FC236}">
                <a16:creationId xmlns:a16="http://schemas.microsoft.com/office/drawing/2014/main" id="{1CB92C6E-6195-4541-8521-7A5B9A2621C0}"/>
              </a:ext>
            </a:extLst>
          </p:cNvPr>
          <p:cNvSpPr>
            <a:spLocks noGrp="1"/>
          </p:cNvSpPr>
          <p:nvPr>
            <p:ph idx="1"/>
          </p:nvPr>
        </p:nvSpPr>
        <p:spPr>
          <a:xfrm>
            <a:off x="1219200" y="1268361"/>
            <a:ext cx="10285412" cy="4642861"/>
          </a:xfrm>
        </p:spPr>
        <p:txBody>
          <a:bodyPr/>
          <a:lstStyle/>
          <a:p>
            <a:pPr algn="just"/>
            <a:r>
              <a:rPr lang="en-US" dirty="0">
                <a:solidFill>
                  <a:srgbClr val="000000"/>
                </a:solidFill>
                <a:latin typeface="Arial" panose="020B0604020202020204" pitchFamily="34" charset="0"/>
                <a:cs typeface="Arial" panose="020B0604020202020204" pitchFamily="34" charset="0"/>
              </a:rPr>
              <a:t>A digital system-on-chip in a 1V 65 nm process (with 50 nm drawn channel lengths and </a:t>
            </a:r>
            <a:r>
              <a:rPr lang="el-GR" dirty="0">
                <a:solidFill>
                  <a:srgbClr val="000000"/>
                </a:solidFill>
                <a:latin typeface="Arial" panose="020B0604020202020204" pitchFamily="34" charset="0"/>
                <a:cs typeface="Arial" panose="020B0604020202020204" pitchFamily="34" charset="0"/>
              </a:rPr>
              <a:t>λ</a:t>
            </a:r>
            <a:r>
              <a:rPr lang="en-US" dirty="0">
                <a:solidFill>
                  <a:srgbClr val="000000"/>
                </a:solidFill>
                <a:latin typeface="Arial" panose="020B0604020202020204" pitchFamily="34" charset="0"/>
                <a:cs typeface="Arial" panose="020B0604020202020204" pitchFamily="34" charset="0"/>
              </a:rPr>
              <a:t> = 25 nm) has 1 billion transistors, of which 50 million are in logic gates and the remainder in memory arrays. The average logic transistor width is 12</a:t>
            </a:r>
            <a:r>
              <a:rPr lang="el-GR" dirty="0">
                <a:solidFill>
                  <a:srgbClr val="000000"/>
                </a:solidFill>
                <a:latin typeface="Arial" panose="020B0604020202020204" pitchFamily="34" charset="0"/>
                <a:cs typeface="Arial" panose="020B0604020202020204" pitchFamily="34" charset="0"/>
              </a:rPr>
              <a:t>λ</a:t>
            </a:r>
            <a:r>
              <a:rPr lang="en-US" dirty="0">
                <a:solidFill>
                  <a:srgbClr val="000000"/>
                </a:solidFill>
                <a:latin typeface="Arial" panose="020B0604020202020204" pitchFamily="34" charset="0"/>
                <a:cs typeface="Arial" panose="020B0604020202020204" pitchFamily="34" charset="0"/>
              </a:rPr>
              <a:t>  and the average memory transistor width is 4 </a:t>
            </a:r>
            <a:r>
              <a:rPr lang="el-GR" dirty="0">
                <a:solidFill>
                  <a:srgbClr val="000000"/>
                </a:solidFill>
                <a:latin typeface="Arial" panose="020B0604020202020204" pitchFamily="34" charset="0"/>
                <a:cs typeface="Arial" panose="020B0604020202020204" pitchFamily="34" charset="0"/>
              </a:rPr>
              <a:t>λ</a:t>
            </a:r>
            <a:r>
              <a:rPr lang="en-US" dirty="0">
                <a:solidFill>
                  <a:srgbClr val="000000"/>
                </a:solidFill>
                <a:latin typeface="Arial" panose="020B0604020202020204" pitchFamily="34" charset="0"/>
                <a:cs typeface="Arial" panose="020B0604020202020204" pitchFamily="34" charset="0"/>
              </a:rPr>
              <a:t> . The memory arrays are divided into banks and only the </a:t>
            </a:r>
            <a:r>
              <a:rPr lang="en-US" dirty="0">
                <a:latin typeface="Arial" panose="020B0604020202020204" pitchFamily="34" charset="0"/>
                <a:cs typeface="Arial" panose="020B0604020202020204" pitchFamily="34" charset="0"/>
              </a:rPr>
              <a:t>necessary bank is activated so the memory activity factor is 0.02. The static CMOS logic gates have an average activity factor of 0.1. Assume each transistor contributes 1fF/</a:t>
            </a:r>
            <a:r>
              <a:rPr lang="el-GR" dirty="0">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m of gate capacitance and 0.8 </a:t>
            </a:r>
            <a:r>
              <a:rPr lang="en-US" dirty="0" err="1">
                <a:latin typeface="Arial" panose="020B0604020202020204" pitchFamily="34" charset="0"/>
                <a:cs typeface="Arial" panose="020B0604020202020204" pitchFamily="34" charset="0"/>
              </a:rPr>
              <a:t>fF</a:t>
            </a:r>
            <a:r>
              <a:rPr lang="en-US" dirty="0">
                <a:latin typeface="Arial" panose="020B0604020202020204" pitchFamily="34" charset="0"/>
                <a:cs typeface="Arial" panose="020B0604020202020204" pitchFamily="34" charset="0"/>
              </a:rPr>
              <a:t>/</a:t>
            </a:r>
            <a:r>
              <a:rPr lang="el-GR" dirty="0">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m of diffusion capacitance. Neglect wire capacitance for now (though it could account for a large fraction of total power). Estimate the switching power when operating at 1 GHz. </a:t>
            </a:r>
          </a:p>
          <a:p>
            <a:pPr algn="just"/>
            <a:r>
              <a:rPr lang="en-US" b="1" u="sng" dirty="0">
                <a:latin typeface="Arial" panose="020B0604020202020204" pitchFamily="34" charset="0"/>
                <a:cs typeface="Arial" panose="020B0604020202020204" pitchFamily="34" charset="0"/>
              </a:rPr>
              <a:t>Solution</a:t>
            </a:r>
          </a:p>
          <a:p>
            <a:pPr algn="just"/>
            <a:r>
              <a:rPr lang="en-US" dirty="0">
                <a:latin typeface="Arial" panose="020B0604020202020204" pitchFamily="34" charset="0"/>
                <a:cs typeface="Arial" panose="020B0604020202020204" pitchFamily="34" charset="0"/>
              </a:rPr>
              <a:t>There are (50 ×10</a:t>
            </a:r>
            <a:r>
              <a:rPr lang="en-US" baseline="30000" dirty="0">
                <a:latin typeface="Arial" panose="020B0604020202020204" pitchFamily="34" charset="0"/>
                <a:cs typeface="Arial" panose="020B0604020202020204" pitchFamily="34" charset="0"/>
              </a:rPr>
              <a:t>6</a:t>
            </a:r>
            <a:r>
              <a:rPr lang="en-US" dirty="0">
                <a:latin typeface="Arial" panose="020B0604020202020204" pitchFamily="34" charset="0"/>
                <a:cs typeface="Arial" panose="020B0604020202020204" pitchFamily="34" charset="0"/>
              </a:rPr>
              <a:t> logic transistors)(12</a:t>
            </a:r>
            <a:r>
              <a:rPr lang="el-GR" dirty="0">
                <a:solidFill>
                  <a:srgbClr val="000000"/>
                </a:solidFill>
                <a:latin typeface="Arial" panose="020B0604020202020204" pitchFamily="34" charset="0"/>
                <a:cs typeface="Arial" panose="020B0604020202020204" pitchFamily="34" charset="0"/>
              </a:rPr>
              <a:t>λ</a:t>
            </a:r>
            <a:r>
              <a:rPr lang="en-US" dirty="0">
                <a:solidFill>
                  <a:srgbClr val="00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)(0.025</a:t>
            </a:r>
            <a:r>
              <a:rPr lang="en-US" dirty="0">
                <a:solidFill>
                  <a:srgbClr val="000000"/>
                </a:solidFill>
                <a:latin typeface="Arial" panose="020B0604020202020204" pitchFamily="34" charset="0"/>
                <a:cs typeface="Arial" panose="020B0604020202020204" pitchFamily="34" charset="0"/>
              </a:rPr>
              <a:t> </a:t>
            </a:r>
            <a:r>
              <a:rPr lang="el-GR" dirty="0">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m/</a:t>
            </a:r>
            <a:r>
              <a:rPr lang="el-GR" dirty="0">
                <a:solidFill>
                  <a:srgbClr val="000000"/>
                </a:solidFill>
                <a:latin typeface="Arial" panose="020B0604020202020204" pitchFamily="34" charset="0"/>
                <a:cs typeface="Arial" panose="020B0604020202020204" pitchFamily="34" charset="0"/>
              </a:rPr>
              <a:t>λ</a:t>
            </a:r>
            <a:r>
              <a:rPr lang="en-US" dirty="0">
                <a:solidFill>
                  <a:srgbClr val="00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)((1 + 0.8) </a:t>
            </a:r>
            <a:r>
              <a:rPr lang="en-US" dirty="0" err="1">
                <a:latin typeface="Arial" panose="020B0604020202020204" pitchFamily="34" charset="0"/>
                <a:cs typeface="Arial" panose="020B0604020202020204" pitchFamily="34" charset="0"/>
              </a:rPr>
              <a:t>fF</a:t>
            </a:r>
            <a:r>
              <a:rPr lang="en-US" dirty="0">
                <a:latin typeface="Arial" panose="020B0604020202020204" pitchFamily="34" charset="0"/>
                <a:cs typeface="Arial" panose="020B0604020202020204" pitchFamily="34" charset="0"/>
              </a:rPr>
              <a:t>/</a:t>
            </a:r>
            <a:r>
              <a:rPr lang="el-GR" dirty="0">
                <a:latin typeface="Arial" panose="020B0604020202020204" pitchFamily="34" charset="0"/>
                <a:cs typeface="Arial" panose="020B0604020202020204" pitchFamily="34" charset="0"/>
              </a:rPr>
              <a:t> μ</a:t>
            </a:r>
            <a:r>
              <a:rPr lang="en-US" dirty="0">
                <a:latin typeface="Arial" panose="020B0604020202020204" pitchFamily="34" charset="0"/>
                <a:cs typeface="Arial" panose="020B0604020202020204" pitchFamily="34" charset="0"/>
              </a:rPr>
              <a:t>m) =27 </a:t>
            </a:r>
            <a:r>
              <a:rPr lang="en-US" dirty="0" err="1">
                <a:latin typeface="Arial" panose="020B0604020202020204" pitchFamily="34" charset="0"/>
                <a:cs typeface="Arial" panose="020B0604020202020204" pitchFamily="34" charset="0"/>
              </a:rPr>
              <a:t>nF</a:t>
            </a:r>
            <a:r>
              <a:rPr lang="en-US" dirty="0">
                <a:latin typeface="Arial" panose="020B0604020202020204" pitchFamily="34" charset="0"/>
                <a:cs typeface="Arial" panose="020B0604020202020204" pitchFamily="34" charset="0"/>
              </a:rPr>
              <a:t> of logic transistors and (950 × 10</a:t>
            </a:r>
            <a:r>
              <a:rPr lang="en-US" baseline="30000" dirty="0">
                <a:latin typeface="Arial" panose="020B0604020202020204" pitchFamily="34" charset="0"/>
                <a:cs typeface="Arial" panose="020B0604020202020204" pitchFamily="34" charset="0"/>
              </a:rPr>
              <a:t>6</a:t>
            </a:r>
            <a:r>
              <a:rPr lang="en-US" dirty="0">
                <a:latin typeface="Arial" panose="020B0604020202020204" pitchFamily="34" charset="0"/>
                <a:cs typeface="Arial" panose="020B0604020202020204" pitchFamily="34" charset="0"/>
              </a:rPr>
              <a:t> memory transistors)(4</a:t>
            </a:r>
            <a:r>
              <a:rPr lang="el-GR" dirty="0">
                <a:solidFill>
                  <a:srgbClr val="000000"/>
                </a:solidFill>
                <a:latin typeface="Arial" panose="020B0604020202020204" pitchFamily="34" charset="0"/>
                <a:cs typeface="Arial" panose="020B0604020202020204" pitchFamily="34" charset="0"/>
              </a:rPr>
              <a:t>λ</a:t>
            </a:r>
            <a:r>
              <a:rPr lang="en-US" dirty="0">
                <a:latin typeface="Arial" panose="020B0604020202020204" pitchFamily="34" charset="0"/>
                <a:cs typeface="Arial" panose="020B0604020202020204" pitchFamily="34" charset="0"/>
              </a:rPr>
              <a:t>)(0.025 </a:t>
            </a:r>
            <a:r>
              <a:rPr lang="el-GR" dirty="0">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m/</a:t>
            </a:r>
            <a:r>
              <a:rPr lang="el-GR" dirty="0">
                <a:solidFill>
                  <a:srgbClr val="000000"/>
                </a:solidFill>
                <a:latin typeface="Arial" panose="020B0604020202020204" pitchFamily="34" charset="0"/>
                <a:cs typeface="Arial" panose="020B0604020202020204" pitchFamily="34" charset="0"/>
              </a:rPr>
              <a:t>λ</a:t>
            </a:r>
            <a:r>
              <a:rPr lang="en-US" dirty="0">
                <a:latin typeface="Arial" panose="020B0604020202020204" pitchFamily="34" charset="0"/>
                <a:cs typeface="Arial" panose="020B0604020202020204" pitchFamily="34" charset="0"/>
              </a:rPr>
              <a:t>)((1 +0.8) </a:t>
            </a:r>
            <a:r>
              <a:rPr lang="en-US" dirty="0" err="1">
                <a:latin typeface="Arial" panose="020B0604020202020204" pitchFamily="34" charset="0"/>
                <a:cs typeface="Arial" panose="020B0604020202020204" pitchFamily="34" charset="0"/>
              </a:rPr>
              <a:t>fF</a:t>
            </a:r>
            <a:r>
              <a:rPr lang="en-US" dirty="0">
                <a:latin typeface="Arial" panose="020B0604020202020204" pitchFamily="34" charset="0"/>
                <a:cs typeface="Arial" panose="020B0604020202020204" pitchFamily="34" charset="0"/>
              </a:rPr>
              <a:t>/</a:t>
            </a:r>
            <a:r>
              <a:rPr lang="el-GR" dirty="0">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m) = 171 </a:t>
            </a:r>
            <a:r>
              <a:rPr lang="en-US" dirty="0" err="1">
                <a:latin typeface="Arial" panose="020B0604020202020204" pitchFamily="34" charset="0"/>
                <a:cs typeface="Arial" panose="020B0604020202020204" pitchFamily="34" charset="0"/>
              </a:rPr>
              <a:t>nF</a:t>
            </a:r>
            <a:r>
              <a:rPr lang="en-US" dirty="0">
                <a:latin typeface="Arial" panose="020B0604020202020204" pitchFamily="34" charset="0"/>
                <a:cs typeface="Arial" panose="020B0604020202020204" pitchFamily="34" charset="0"/>
              </a:rPr>
              <a:t> of memory transistors. The switching power consumption is  [(0.1)(27 × 10</a:t>
            </a:r>
            <a:r>
              <a:rPr lang="en-US" baseline="30000" dirty="0">
                <a:latin typeface="Arial" panose="020B0604020202020204" pitchFamily="34" charset="0"/>
                <a:cs typeface="Arial" panose="020B0604020202020204" pitchFamily="34" charset="0"/>
              </a:rPr>
              <a:t>–9</a:t>
            </a:r>
            <a:r>
              <a:rPr lang="en-US" dirty="0">
                <a:latin typeface="Arial" panose="020B0604020202020204" pitchFamily="34" charset="0"/>
                <a:cs typeface="Arial" panose="020B0604020202020204" pitchFamily="34" charset="0"/>
              </a:rPr>
              <a:t>) + (0.02)(171 × 10</a:t>
            </a:r>
            <a:r>
              <a:rPr lang="en-US" baseline="30000" dirty="0">
                <a:latin typeface="Arial" panose="020B0604020202020204" pitchFamily="34" charset="0"/>
                <a:cs typeface="Arial" panose="020B0604020202020204" pitchFamily="34" charset="0"/>
              </a:rPr>
              <a:t>-9</a:t>
            </a:r>
            <a:r>
              <a:rPr lang="en-US" dirty="0">
                <a:latin typeface="Arial" panose="020B0604020202020204" pitchFamily="34" charset="0"/>
                <a:cs typeface="Arial" panose="020B0604020202020204" pitchFamily="34" charset="0"/>
              </a:rPr>
              <a:t> ](1.0 V)</a:t>
            </a:r>
            <a:r>
              <a:rPr lang="en-US" baseline="30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(10</a:t>
            </a:r>
            <a:r>
              <a:rPr lang="en-US" baseline="30000" dirty="0">
                <a:latin typeface="Arial" panose="020B0604020202020204" pitchFamily="34" charset="0"/>
                <a:cs typeface="Arial" panose="020B0604020202020204" pitchFamily="34" charset="0"/>
              </a:rPr>
              <a:t>9</a:t>
            </a:r>
            <a:r>
              <a:rPr lang="en-US" dirty="0">
                <a:latin typeface="Arial" panose="020B0604020202020204" pitchFamily="34" charset="0"/>
                <a:cs typeface="Arial" panose="020B0604020202020204" pitchFamily="34" charset="0"/>
              </a:rPr>
              <a:t> Hz) = 6.1 W.</a:t>
            </a:r>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83E110ED-FF2E-4501-B024-B273BA064BF7}"/>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751770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circle(in)">
                                      <p:cBhvr>
                                        <p:cTn id="10"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4BE95-9646-479D-9B5F-D5D557F497D9}"/>
              </a:ext>
            </a:extLst>
          </p:cNvPr>
          <p:cNvSpPr>
            <a:spLocks noGrp="1"/>
          </p:cNvSpPr>
          <p:nvPr>
            <p:ph type="title"/>
          </p:nvPr>
        </p:nvSpPr>
        <p:spPr>
          <a:xfrm>
            <a:off x="1788161" y="624110"/>
            <a:ext cx="9716452" cy="1280890"/>
          </a:xfrm>
        </p:spPr>
        <p:txBody>
          <a:bodyPr/>
          <a:lstStyle/>
          <a:p>
            <a:r>
              <a:rPr lang="en-IN" dirty="0">
                <a:latin typeface="Arial" panose="020B0604020202020204" pitchFamily="34" charset="0"/>
                <a:cs typeface="Arial" panose="020B0604020202020204" pitchFamily="34" charset="0"/>
              </a:rPr>
              <a:t>Switching Activity (</a:t>
            </a:r>
            <a:r>
              <a:rPr lang="el-GR" dirty="0">
                <a:latin typeface="Arial" panose="020B0604020202020204" pitchFamily="34" charset="0"/>
                <a:cs typeface="Arial" panose="020B0604020202020204" pitchFamily="34" charset="0"/>
              </a:rPr>
              <a:t>α</a:t>
            </a:r>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77282A-0D21-4D6B-92E4-A0CD58ED91F6}"/>
                  </a:ext>
                </a:extLst>
              </p:cNvPr>
              <p:cNvSpPr>
                <a:spLocks noGrp="1"/>
              </p:cNvSpPr>
              <p:nvPr>
                <p:ph idx="1"/>
              </p:nvPr>
            </p:nvSpPr>
            <p:spPr>
              <a:xfrm>
                <a:off x="1717041" y="1482703"/>
                <a:ext cx="9787572" cy="4560475"/>
              </a:xfrm>
            </p:spPr>
            <p:txBody>
              <a:bodyPr>
                <a:normAutofit/>
              </a:bodyPr>
              <a:lstStyle/>
              <a:p>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P</a:t>
                </a:r>
                <a:r>
                  <a:rPr lang="en-US" b="1" baseline="-25000" dirty="0">
                    <a:latin typeface="Arial" panose="020B0604020202020204" pitchFamily="34" charset="0"/>
                    <a:cs typeface="Arial" panose="020B0604020202020204" pitchFamily="34" charset="0"/>
                  </a:rPr>
                  <a:t>0</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baseline="-25000" dirty="0">
                    <a:latin typeface="Arial" panose="020B0604020202020204" pitchFamily="34" charset="0"/>
                    <a:cs typeface="Arial" panose="020B0604020202020204" pitchFamily="34" charset="0"/>
                  </a:rPr>
                  <a:t>   </a:t>
                </a:r>
                <a:r>
                  <a:rPr lang="en-US" b="1" baseline="-25000" dirty="0">
                    <a:latin typeface="Arial" panose="020B0604020202020204" pitchFamily="34" charset="0"/>
                    <a:cs typeface="Arial" panose="020B0604020202020204" pitchFamily="34" charset="0"/>
                  </a:rPr>
                  <a:t>1 </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a:t>
                </a:r>
                <a:r>
                  <a:rPr lang="en-US" b="1" baseline="-25000" dirty="0">
                    <a:latin typeface="Arial" panose="020B0604020202020204" pitchFamily="34" charset="0"/>
                    <a:cs typeface="Arial" panose="020B0604020202020204" pitchFamily="34" charset="0"/>
                  </a:rPr>
                  <a:t>0</a:t>
                </a:r>
                <a:r>
                  <a:rPr lang="en-US" b="1" dirty="0">
                    <a:latin typeface="Arial" panose="020B0604020202020204" pitchFamily="34" charset="0"/>
                    <a:cs typeface="Arial" panose="020B0604020202020204" pitchFamily="34" charset="0"/>
                  </a:rPr>
                  <a:t>.P</a:t>
                </a:r>
                <a:r>
                  <a:rPr lang="en-US" b="1" baseline="-25000" dirty="0">
                    <a:latin typeface="Arial" panose="020B0604020202020204" pitchFamily="34" charset="0"/>
                    <a:cs typeface="Arial" panose="020B0604020202020204" pitchFamily="34" charset="0"/>
                  </a:rPr>
                  <a:t>1  </a:t>
                </a:r>
              </a:p>
              <a:p>
                <a:endParaRPr lang="en-US" b="1" baseline="-25000"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P</a:t>
                </a:r>
                <a:r>
                  <a:rPr lang="en-US" sz="2400" b="1" baseline="-25000" dirty="0">
                    <a:latin typeface="Arial" panose="020B0604020202020204" pitchFamily="34" charset="0"/>
                    <a:cs typeface="Arial" panose="020B0604020202020204" pitchFamily="34" charset="0"/>
                  </a:rPr>
                  <a:t>0</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 </a:t>
                </a:r>
                <a14:m>
                  <m:oMath xmlns:m="http://schemas.openxmlformats.org/officeDocument/2006/math">
                    <m:f>
                      <m:fPr>
                        <m:ctrlPr>
                          <a:rPr lang="en-US" sz="2400" b="1" i="1" smtClean="0">
                            <a:latin typeface="Cambria Math" panose="02040503050406030204" pitchFamily="18" charset="0"/>
                            <a:cs typeface="Arial" panose="020B0604020202020204" pitchFamily="34" charset="0"/>
                          </a:rPr>
                        </m:ctrlPr>
                      </m:fPr>
                      <m:num>
                        <m:r>
                          <a:rPr lang="en-US" sz="2400" b="1" i="1" smtClean="0">
                            <a:latin typeface="Cambria Math" panose="02040503050406030204" pitchFamily="18" charset="0"/>
                            <a:cs typeface="Arial" panose="020B0604020202020204" pitchFamily="34" charset="0"/>
                          </a:rPr>
                          <m:t>𝟏</m:t>
                        </m:r>
                      </m:num>
                      <m:den>
                        <m:r>
                          <a:rPr lang="en-US" sz="2400" b="1" i="1" smtClean="0">
                            <a:latin typeface="Cambria Math" panose="02040503050406030204" pitchFamily="18" charset="0"/>
                            <a:cs typeface="Arial" panose="020B0604020202020204" pitchFamily="34" charset="0"/>
                          </a:rPr>
                          <m:t>𝟒</m:t>
                        </m:r>
                      </m:den>
                    </m:f>
                  </m:oMath>
                </a14:m>
                <a:r>
                  <a:rPr lang="en-US" sz="2400" b="1" baseline="-25000" dirty="0">
                    <a:latin typeface="Arial" panose="020B0604020202020204" pitchFamily="34" charset="0"/>
                    <a:cs typeface="Arial" panose="020B0604020202020204" pitchFamily="34" charset="0"/>
                  </a:rPr>
                  <a:t>    ,  </a:t>
                </a:r>
                <a:r>
                  <a:rPr lang="en-US" sz="2400" b="1" dirty="0">
                    <a:latin typeface="Arial" panose="020B0604020202020204" pitchFamily="34" charset="0"/>
                    <a:cs typeface="Arial" panose="020B0604020202020204" pitchFamily="34" charset="0"/>
                  </a:rPr>
                  <a:t>P</a:t>
                </a:r>
                <a:r>
                  <a:rPr lang="en-US" sz="2400" b="1" baseline="-25000" dirty="0">
                    <a:latin typeface="Arial" panose="020B0604020202020204" pitchFamily="34" charset="0"/>
                    <a:cs typeface="Arial" panose="020B0604020202020204" pitchFamily="34" charset="0"/>
                  </a:rPr>
                  <a:t>1</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 </a:t>
                </a:r>
                <a14:m>
                  <m:oMath xmlns:m="http://schemas.openxmlformats.org/officeDocument/2006/math">
                    <m:f>
                      <m:fPr>
                        <m:ctrlPr>
                          <a:rPr lang="en-US" sz="2400" b="1" i="1">
                            <a:latin typeface="Cambria Math" panose="02040503050406030204" pitchFamily="18" charset="0"/>
                            <a:cs typeface="Arial" panose="020B0604020202020204" pitchFamily="34" charset="0"/>
                          </a:rPr>
                        </m:ctrlPr>
                      </m:fPr>
                      <m:num>
                        <m:r>
                          <a:rPr lang="en-US" sz="2400" b="1" i="1" smtClean="0">
                            <a:latin typeface="Cambria Math" panose="02040503050406030204" pitchFamily="18" charset="0"/>
                            <a:cs typeface="Arial" panose="020B0604020202020204" pitchFamily="34" charset="0"/>
                          </a:rPr>
                          <m:t>𝟑</m:t>
                        </m:r>
                      </m:num>
                      <m:den>
                        <m:r>
                          <a:rPr lang="en-US" sz="2400" b="1" i="1">
                            <a:latin typeface="Cambria Math" panose="02040503050406030204" pitchFamily="18" charset="0"/>
                            <a:cs typeface="Arial" panose="020B0604020202020204" pitchFamily="34" charset="0"/>
                          </a:rPr>
                          <m:t>𝟒</m:t>
                        </m:r>
                      </m:den>
                    </m:f>
                  </m:oMath>
                </a14:m>
                <a:r>
                  <a:rPr lang="en-US" sz="2400" b="1" baseline="-25000" dirty="0">
                    <a:latin typeface="Arial" panose="020B0604020202020204" pitchFamily="34" charset="0"/>
                    <a:cs typeface="Arial" panose="020B0604020202020204" pitchFamily="34" charset="0"/>
                  </a:rPr>
                  <a:t>  </a:t>
                </a:r>
              </a:p>
              <a:p>
                <a:r>
                  <a:rPr lang="en-US" sz="2400" b="1" dirty="0">
                    <a:latin typeface="Arial" panose="020B0604020202020204" pitchFamily="34" charset="0"/>
                    <a:cs typeface="Arial" panose="020B0604020202020204" pitchFamily="34" charset="0"/>
                  </a:rPr>
                  <a:t>P</a:t>
                </a:r>
                <a:r>
                  <a:rPr lang="en-US" sz="2400" b="1" baseline="-25000" dirty="0">
                    <a:latin typeface="Arial" panose="020B0604020202020204" pitchFamily="34" charset="0"/>
                    <a:cs typeface="Arial" panose="020B0604020202020204" pitchFamily="34" charset="0"/>
                  </a:rPr>
                  <a:t>0</a:t>
                </a:r>
                <a:r>
                  <a:rPr lang="en-US" sz="2400" baseline="-25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a:t>
                </a:r>
                <a:r>
                  <a:rPr lang="en-US" sz="2400" baseline="-25000" dirty="0">
                    <a:latin typeface="Arial" panose="020B0604020202020204" pitchFamily="34" charset="0"/>
                    <a:cs typeface="Arial" panose="020B0604020202020204" pitchFamily="34" charset="0"/>
                  </a:rPr>
                  <a:t>   </a:t>
                </a:r>
                <a:r>
                  <a:rPr lang="en-US" sz="2400" b="1" baseline="-25000" dirty="0">
                    <a:latin typeface="Arial" panose="020B0604020202020204" pitchFamily="34" charset="0"/>
                    <a:cs typeface="Arial" panose="020B0604020202020204" pitchFamily="34" charset="0"/>
                  </a:rPr>
                  <a:t>1 </a:t>
                </a:r>
                <a:r>
                  <a:rPr lang="en-US" sz="2400" baseline="-25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a:t>
                </a:r>
                <a14:m>
                  <m:oMath xmlns:m="http://schemas.openxmlformats.org/officeDocument/2006/math">
                    <m:f>
                      <m:fPr>
                        <m:ctrlPr>
                          <a:rPr lang="en-US" sz="2400" b="1" i="1">
                            <a:latin typeface="Cambria Math" panose="02040503050406030204" pitchFamily="18" charset="0"/>
                            <a:cs typeface="Arial" panose="020B0604020202020204" pitchFamily="34" charset="0"/>
                          </a:rPr>
                        </m:ctrlPr>
                      </m:fPr>
                      <m:num>
                        <m:r>
                          <a:rPr lang="en-US" sz="2400" b="1" i="1">
                            <a:latin typeface="Cambria Math" panose="02040503050406030204" pitchFamily="18" charset="0"/>
                            <a:cs typeface="Arial" panose="020B0604020202020204" pitchFamily="34" charset="0"/>
                          </a:rPr>
                          <m:t>𝟏</m:t>
                        </m:r>
                      </m:num>
                      <m:den>
                        <m:r>
                          <a:rPr lang="en-US" sz="2400" b="1" i="1">
                            <a:latin typeface="Cambria Math" panose="02040503050406030204" pitchFamily="18" charset="0"/>
                            <a:cs typeface="Arial" panose="020B0604020202020204" pitchFamily="34" charset="0"/>
                          </a:rPr>
                          <m:t>𝟒</m:t>
                        </m:r>
                      </m:den>
                    </m:f>
                  </m:oMath>
                </a14:m>
                <a:r>
                  <a:rPr lang="en-US" sz="2400" dirty="0">
                    <a:latin typeface="Arial" panose="020B0604020202020204" pitchFamily="34" charset="0"/>
                    <a:cs typeface="Arial" panose="020B0604020202020204" pitchFamily="34" charset="0"/>
                  </a:rPr>
                  <a:t> ×</a:t>
                </a:r>
                <a14:m>
                  <m:oMath xmlns:m="http://schemas.openxmlformats.org/officeDocument/2006/math">
                    <m:f>
                      <m:fPr>
                        <m:ctrlPr>
                          <a:rPr lang="en-US" sz="2400" b="1" i="1">
                            <a:latin typeface="Cambria Math" panose="02040503050406030204" pitchFamily="18" charset="0"/>
                            <a:cs typeface="Arial" panose="020B0604020202020204" pitchFamily="34" charset="0"/>
                          </a:rPr>
                        </m:ctrlPr>
                      </m:fPr>
                      <m:num>
                        <m:r>
                          <a:rPr lang="en-US" sz="2400" b="1" i="1">
                            <a:latin typeface="Cambria Math" panose="02040503050406030204" pitchFamily="18" charset="0"/>
                            <a:cs typeface="Arial" panose="020B0604020202020204" pitchFamily="34" charset="0"/>
                          </a:rPr>
                          <m:t>𝟑</m:t>
                        </m:r>
                      </m:num>
                      <m:den>
                        <m:r>
                          <a:rPr lang="en-US" sz="2400" b="1" i="1">
                            <a:latin typeface="Cambria Math" panose="02040503050406030204" pitchFamily="18" charset="0"/>
                            <a:cs typeface="Arial" panose="020B0604020202020204" pitchFamily="34" charset="0"/>
                          </a:rPr>
                          <m:t>𝟒</m:t>
                        </m:r>
                      </m:den>
                    </m:f>
                  </m:oMath>
                </a14:m>
                <a:r>
                  <a:rPr lang="en-US" sz="2400" b="1" baseline="-25000" dirty="0">
                    <a:latin typeface="Arial" panose="020B0604020202020204" pitchFamily="34" charset="0"/>
                    <a:cs typeface="Arial" panose="020B0604020202020204" pitchFamily="34" charset="0"/>
                  </a:rPr>
                  <a:t> </a:t>
                </a:r>
                <a:r>
                  <a:rPr lang="en-US" sz="2400" baseline="-250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a:t>
                </a:r>
                <a:r>
                  <a:rPr lang="en-US" sz="2400" baseline="-25000" dirty="0">
                    <a:latin typeface="Arial" panose="020B0604020202020204" pitchFamily="34" charset="0"/>
                    <a:cs typeface="Arial" panose="020B0604020202020204" pitchFamily="34" charset="0"/>
                  </a:rPr>
                  <a:t> </a:t>
                </a:r>
                <a14:m>
                  <m:oMath xmlns:m="http://schemas.openxmlformats.org/officeDocument/2006/math">
                    <m:f>
                      <m:fPr>
                        <m:ctrlPr>
                          <a:rPr lang="en-US" sz="2400" b="1" i="1">
                            <a:latin typeface="Cambria Math" panose="02040503050406030204" pitchFamily="18" charset="0"/>
                            <a:cs typeface="Arial" panose="020B0604020202020204" pitchFamily="34" charset="0"/>
                          </a:rPr>
                        </m:ctrlPr>
                      </m:fPr>
                      <m:num>
                        <m:r>
                          <a:rPr lang="en-US" sz="2400" b="1" i="1">
                            <a:latin typeface="Cambria Math" panose="02040503050406030204" pitchFamily="18" charset="0"/>
                            <a:cs typeface="Arial" panose="020B0604020202020204" pitchFamily="34" charset="0"/>
                          </a:rPr>
                          <m:t>𝟑</m:t>
                        </m:r>
                      </m:num>
                      <m:den>
                        <m:r>
                          <a:rPr lang="en-US" sz="2400" b="1" i="1" smtClean="0">
                            <a:latin typeface="Cambria Math" panose="02040503050406030204" pitchFamily="18" charset="0"/>
                            <a:cs typeface="Arial" panose="020B0604020202020204" pitchFamily="34" charset="0"/>
                          </a:rPr>
                          <m:t>𝟏𝟔</m:t>
                        </m:r>
                      </m:den>
                    </m:f>
                  </m:oMath>
                </a14:m>
                <a:r>
                  <a:rPr lang="en-US" sz="2400" b="1" baseline="-25000" dirty="0">
                    <a:latin typeface="Arial" panose="020B0604020202020204" pitchFamily="34" charset="0"/>
                    <a:cs typeface="Arial" panose="020B0604020202020204" pitchFamily="34" charset="0"/>
                  </a:rPr>
                  <a:t>   </a:t>
                </a:r>
              </a:p>
              <a:p>
                <a:r>
                  <a:rPr lang="en-US" sz="2400" b="1" dirty="0">
                    <a:latin typeface="Arial" panose="020B0604020202020204" pitchFamily="34" charset="0"/>
                    <a:cs typeface="Arial" panose="020B0604020202020204" pitchFamily="34" charset="0"/>
                  </a:rPr>
                  <a:t>P</a:t>
                </a:r>
                <a:r>
                  <a:rPr lang="en-US" sz="2400" b="1" baseline="-25000" dirty="0">
                    <a:latin typeface="Arial" panose="020B0604020202020204" pitchFamily="34" charset="0"/>
                    <a:cs typeface="Arial" panose="020B0604020202020204" pitchFamily="34" charset="0"/>
                  </a:rPr>
                  <a:t>0</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 </a:t>
                </a:r>
                <a14:m>
                  <m:oMath xmlns:m="http://schemas.openxmlformats.org/officeDocument/2006/math">
                    <m:f>
                      <m:fPr>
                        <m:ctrlPr>
                          <a:rPr lang="en-US" sz="2400" b="1" i="1">
                            <a:latin typeface="Cambria Math" panose="02040503050406030204" pitchFamily="18" charset="0"/>
                            <a:cs typeface="Arial" panose="020B0604020202020204" pitchFamily="34" charset="0"/>
                          </a:rPr>
                        </m:ctrlPr>
                      </m:fPr>
                      <m:num>
                        <m:r>
                          <a:rPr lang="en-US" sz="2400" b="1" i="1" smtClean="0">
                            <a:latin typeface="Cambria Math" panose="02040503050406030204" pitchFamily="18" charset="0"/>
                            <a:cs typeface="Arial" panose="020B0604020202020204" pitchFamily="34" charset="0"/>
                          </a:rPr>
                          <m:t>𝒏</m:t>
                        </m:r>
                        <m:r>
                          <a:rPr lang="en-US" sz="2400" b="1" i="1" baseline="-25000" smtClean="0">
                            <a:latin typeface="Cambria Math" panose="02040503050406030204" pitchFamily="18" charset="0"/>
                            <a:cs typeface="Arial" panose="020B0604020202020204" pitchFamily="34" charset="0"/>
                          </a:rPr>
                          <m:t>𝟎</m:t>
                        </m:r>
                      </m:num>
                      <m:den>
                        <m:r>
                          <a:rPr lang="en-US" sz="2400" b="1" i="1" smtClean="0">
                            <a:latin typeface="Cambria Math" panose="02040503050406030204" pitchFamily="18" charset="0"/>
                            <a:cs typeface="Arial" panose="020B0604020202020204" pitchFamily="34" charset="0"/>
                          </a:rPr>
                          <m:t>𝟐</m:t>
                        </m:r>
                        <m:r>
                          <a:rPr lang="en-US" sz="2400" b="1" i="1" baseline="30000" smtClean="0">
                            <a:latin typeface="Cambria Math" panose="02040503050406030204" pitchFamily="18" charset="0"/>
                            <a:cs typeface="Arial" panose="020B0604020202020204" pitchFamily="34" charset="0"/>
                          </a:rPr>
                          <m:t>𝒏</m:t>
                        </m:r>
                      </m:den>
                    </m:f>
                  </m:oMath>
                </a14:m>
                <a:r>
                  <a:rPr lang="en-US" sz="3600" b="1" baseline="-25000" dirty="0">
                    <a:latin typeface="Arial" panose="020B0604020202020204" pitchFamily="34" charset="0"/>
                    <a:cs typeface="Arial" panose="020B0604020202020204" pitchFamily="34" charset="0"/>
                  </a:rPr>
                  <a:t>  , </a:t>
                </a:r>
                <a14:m>
                  <m:oMath xmlns:m="http://schemas.openxmlformats.org/officeDocument/2006/math">
                    <m:r>
                      <a:rPr lang="en-US" sz="2000" b="1" i="1">
                        <a:latin typeface="Cambria Math" panose="02040503050406030204" pitchFamily="18" charset="0"/>
                        <a:cs typeface="Arial" panose="020B0604020202020204" pitchFamily="34" charset="0"/>
                      </a:rPr>
                      <m:t>𝒏</m:t>
                    </m:r>
                    <m:r>
                      <a:rPr lang="en-US" sz="2000" b="1" i="1" baseline="-25000">
                        <a:latin typeface="Cambria Math" panose="02040503050406030204" pitchFamily="18" charset="0"/>
                        <a:cs typeface="Arial" panose="020B0604020202020204" pitchFamily="34" charset="0"/>
                      </a:rPr>
                      <m:t>𝟎</m:t>
                    </m:r>
                  </m:oMath>
                </a14:m>
                <a:r>
                  <a:rPr lang="en-US" sz="2000" b="1" baseline="30000" dirty="0">
                    <a:latin typeface="Arial" panose="020B0604020202020204" pitchFamily="34" charset="0"/>
                    <a:cs typeface="Arial" panose="020B0604020202020204" pitchFamily="34" charset="0"/>
                  </a:rPr>
                  <a:t>= No. of zeros </a:t>
                </a:r>
              </a:p>
              <a:p>
                <a:r>
                  <a:rPr lang="en-US" sz="2400" b="1" dirty="0">
                    <a:latin typeface="Arial" panose="020B0604020202020204" pitchFamily="34" charset="0"/>
                    <a:cs typeface="Arial" panose="020B0604020202020204" pitchFamily="34" charset="0"/>
                  </a:rPr>
                  <a:t>P</a:t>
                </a:r>
                <a:r>
                  <a:rPr lang="en-US" sz="2400" b="1" baseline="-25000" dirty="0">
                    <a:latin typeface="Arial" panose="020B0604020202020204" pitchFamily="34" charset="0"/>
                    <a:cs typeface="Arial" panose="020B0604020202020204" pitchFamily="34" charset="0"/>
                  </a:rPr>
                  <a:t>1</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 </a:t>
                </a:r>
                <a14:m>
                  <m:oMath xmlns:m="http://schemas.openxmlformats.org/officeDocument/2006/math">
                    <m:f>
                      <m:fPr>
                        <m:ctrlPr>
                          <a:rPr lang="en-US" sz="2400" b="1" i="1">
                            <a:latin typeface="Cambria Math" panose="02040503050406030204" pitchFamily="18" charset="0"/>
                            <a:cs typeface="Arial" panose="020B0604020202020204" pitchFamily="34" charset="0"/>
                          </a:rPr>
                        </m:ctrlPr>
                      </m:fPr>
                      <m:num>
                        <m:r>
                          <a:rPr lang="en-US" sz="2400" b="1" i="1">
                            <a:latin typeface="Cambria Math" panose="02040503050406030204" pitchFamily="18" charset="0"/>
                            <a:cs typeface="Arial" panose="020B0604020202020204" pitchFamily="34" charset="0"/>
                          </a:rPr>
                          <m:t>𝒏</m:t>
                        </m:r>
                        <m:r>
                          <a:rPr lang="en-US" sz="2400" b="1" i="1" baseline="-25000" smtClean="0">
                            <a:latin typeface="Cambria Math" panose="02040503050406030204" pitchFamily="18" charset="0"/>
                            <a:cs typeface="Arial" panose="020B0604020202020204" pitchFamily="34" charset="0"/>
                          </a:rPr>
                          <m:t>𝟏</m:t>
                        </m:r>
                      </m:num>
                      <m:den>
                        <m:r>
                          <a:rPr lang="en-US" sz="2400" b="1" i="1">
                            <a:latin typeface="Cambria Math" panose="02040503050406030204" pitchFamily="18" charset="0"/>
                            <a:cs typeface="Arial" panose="020B0604020202020204" pitchFamily="34" charset="0"/>
                          </a:rPr>
                          <m:t>𝟐</m:t>
                        </m:r>
                        <m:r>
                          <a:rPr lang="en-US" sz="2400" b="1" i="1" baseline="30000">
                            <a:latin typeface="Cambria Math" panose="02040503050406030204" pitchFamily="18" charset="0"/>
                            <a:cs typeface="Arial" panose="020B0604020202020204" pitchFamily="34" charset="0"/>
                          </a:rPr>
                          <m:t>𝒏</m:t>
                        </m:r>
                      </m:den>
                    </m:f>
                  </m:oMath>
                </a14:m>
                <a:r>
                  <a:rPr lang="en-US" sz="2400" b="1" baseline="30000" dirty="0">
                    <a:latin typeface="Arial" panose="020B0604020202020204" pitchFamily="34" charset="0"/>
                    <a:cs typeface="Arial" panose="020B0604020202020204" pitchFamily="34" charset="0"/>
                  </a:rPr>
                  <a:t>   ,</a:t>
                </a:r>
                <a:r>
                  <a:rPr lang="en-US" sz="2400" b="1" dirty="0">
                    <a:latin typeface="Arial" panose="020B0604020202020204" pitchFamily="34" charset="0"/>
                    <a:cs typeface="Arial" panose="020B0604020202020204" pitchFamily="34" charset="0"/>
                  </a:rPr>
                  <a:t>  n</a:t>
                </a:r>
                <a:r>
                  <a:rPr lang="en-US" sz="2400" b="1" baseline="-25000" dirty="0">
                    <a:latin typeface="Arial" panose="020B0604020202020204" pitchFamily="34" charset="0"/>
                    <a:cs typeface="Arial" panose="020B0604020202020204" pitchFamily="34" charset="0"/>
                  </a:rPr>
                  <a:t>1</a:t>
                </a:r>
                <a:r>
                  <a:rPr lang="en-US" sz="2400" b="1" dirty="0">
                    <a:latin typeface="Arial" panose="020B0604020202020204" pitchFamily="34" charset="0"/>
                    <a:cs typeface="Arial" panose="020B0604020202020204" pitchFamily="34" charset="0"/>
                  </a:rPr>
                  <a:t>=(2</a:t>
                </a:r>
                <a:r>
                  <a:rPr lang="en-US" sz="2400" b="1" baseline="30000" dirty="0">
                    <a:latin typeface="Arial" panose="020B0604020202020204" pitchFamily="34" charset="0"/>
                    <a:cs typeface="Arial" panose="020B0604020202020204" pitchFamily="34" charset="0"/>
                  </a:rPr>
                  <a:t>n</a:t>
                </a:r>
                <a:r>
                  <a:rPr lang="en-US" sz="2400" b="1" dirty="0">
                    <a:latin typeface="Arial" panose="020B0604020202020204" pitchFamily="34" charset="0"/>
                    <a:cs typeface="Arial" panose="020B0604020202020204" pitchFamily="34" charset="0"/>
                  </a:rPr>
                  <a:t>-n</a:t>
                </a:r>
                <a:r>
                  <a:rPr lang="en-US" sz="2400" b="1" baseline="-25000" dirty="0">
                    <a:latin typeface="Arial" panose="020B0604020202020204" pitchFamily="34" charset="0"/>
                    <a:cs typeface="Arial" panose="020B0604020202020204" pitchFamily="34" charset="0"/>
                  </a:rPr>
                  <a:t>0</a:t>
                </a:r>
                <a:r>
                  <a:rPr lang="en-US" sz="2400" b="1" dirty="0">
                    <a:latin typeface="Arial" panose="020B0604020202020204" pitchFamily="34" charset="0"/>
                    <a:cs typeface="Arial" panose="020B0604020202020204" pitchFamily="34" charset="0"/>
                  </a:rPr>
                  <a:t>) </a:t>
                </a:r>
              </a:p>
              <a:p>
                <a:r>
                  <a:rPr lang="en-US" sz="2800" b="1" dirty="0">
                    <a:latin typeface="Arial" panose="020B0604020202020204" pitchFamily="34" charset="0"/>
                    <a:cs typeface="Arial" panose="020B0604020202020204" pitchFamily="34" charset="0"/>
                  </a:rPr>
                  <a:t>P</a:t>
                </a:r>
                <a:r>
                  <a:rPr lang="en-US" sz="2800" b="1" baseline="-25000" dirty="0">
                    <a:latin typeface="Arial" panose="020B0604020202020204" pitchFamily="34" charset="0"/>
                    <a:cs typeface="Arial" panose="020B0604020202020204" pitchFamily="34" charset="0"/>
                  </a:rPr>
                  <a:t>0</a:t>
                </a:r>
                <a:r>
                  <a:rPr lang="en-US" sz="2800" baseline="-25000"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  </a:t>
                </a:r>
                <a:r>
                  <a:rPr lang="en-US" sz="2800" baseline="-25000" dirty="0">
                    <a:latin typeface="Arial" panose="020B0604020202020204" pitchFamily="34" charset="0"/>
                    <a:cs typeface="Arial" panose="020B0604020202020204" pitchFamily="34" charset="0"/>
                  </a:rPr>
                  <a:t> </a:t>
                </a:r>
                <a:r>
                  <a:rPr lang="en-US" sz="2800" b="1" baseline="-25000" dirty="0">
                    <a:latin typeface="Arial" panose="020B0604020202020204" pitchFamily="34" charset="0"/>
                    <a:cs typeface="Arial" panose="020B0604020202020204" pitchFamily="34" charset="0"/>
                  </a:rPr>
                  <a:t>1</a:t>
                </a:r>
                <a:r>
                  <a:rPr lang="en-US" sz="2800"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P</a:t>
                </a:r>
                <a:r>
                  <a:rPr lang="en-US" sz="2800" b="1" baseline="-25000" dirty="0">
                    <a:latin typeface="Arial" panose="020B0604020202020204" pitchFamily="34" charset="0"/>
                    <a:cs typeface="Arial" panose="020B0604020202020204" pitchFamily="34" charset="0"/>
                  </a:rPr>
                  <a:t>0</a:t>
                </a:r>
                <a:r>
                  <a:rPr lang="en-US" sz="2800" b="1" dirty="0">
                    <a:latin typeface="Arial" panose="020B0604020202020204" pitchFamily="34" charset="0"/>
                    <a:cs typeface="Arial" panose="020B0604020202020204" pitchFamily="34" charset="0"/>
                  </a:rPr>
                  <a:t>.P</a:t>
                </a:r>
                <a:r>
                  <a:rPr lang="en-US" sz="2800" b="1" baseline="-25000" dirty="0">
                    <a:latin typeface="Arial" panose="020B0604020202020204" pitchFamily="34" charset="0"/>
                    <a:cs typeface="Arial" panose="020B0604020202020204" pitchFamily="34" charset="0"/>
                  </a:rPr>
                  <a:t>1 </a:t>
                </a:r>
                <a:r>
                  <a:rPr lang="en-US" sz="2800" dirty="0">
                    <a:latin typeface="Arial" panose="020B0604020202020204" pitchFamily="34" charset="0"/>
                    <a:cs typeface="Arial" panose="020B0604020202020204" pitchFamily="34" charset="0"/>
                  </a:rPr>
                  <a:t>=</a:t>
                </a:r>
                <a14:m>
                  <m:oMath xmlns:m="http://schemas.openxmlformats.org/officeDocument/2006/math">
                    <m:f>
                      <m:fPr>
                        <m:ctrlPr>
                          <a:rPr lang="en-US" sz="2800" i="1">
                            <a:latin typeface="Cambria Math" panose="02040503050406030204" pitchFamily="18" charset="0"/>
                            <a:cs typeface="Arial" panose="020B0604020202020204" pitchFamily="34" charset="0"/>
                          </a:rPr>
                        </m:ctrlPr>
                      </m:fPr>
                      <m:num>
                        <m:sSub>
                          <m:sSubPr>
                            <m:ctrlPr>
                              <a:rPr lang="en-US" sz="2800" i="1">
                                <a:latin typeface="Cambria Math" panose="02040503050406030204" pitchFamily="18" charset="0"/>
                                <a:cs typeface="Arial" panose="020B0604020202020204" pitchFamily="34" charset="0"/>
                              </a:rPr>
                            </m:ctrlPr>
                          </m:sSubPr>
                          <m:e>
                            <m:r>
                              <a:rPr lang="en-US" sz="2800" i="1">
                                <a:latin typeface="Cambria Math" panose="02040503050406030204" pitchFamily="18" charset="0"/>
                                <a:cs typeface="Arial" panose="020B0604020202020204" pitchFamily="34" charset="0"/>
                              </a:rPr>
                              <m:t>𝑛</m:t>
                            </m:r>
                          </m:e>
                          <m:sub>
                            <m:r>
                              <a:rPr lang="en-US" sz="2800" i="1">
                                <a:latin typeface="Cambria Math" panose="02040503050406030204" pitchFamily="18" charset="0"/>
                                <a:cs typeface="Arial" panose="020B0604020202020204" pitchFamily="34" charset="0"/>
                              </a:rPr>
                              <m:t>0</m:t>
                            </m:r>
                          </m:sub>
                        </m:sSub>
                      </m:num>
                      <m:den>
                        <m:sSup>
                          <m:sSupPr>
                            <m:ctrlPr>
                              <a:rPr lang="en-US" sz="2800" i="1">
                                <a:latin typeface="Cambria Math" panose="02040503050406030204" pitchFamily="18" charset="0"/>
                                <a:cs typeface="Arial" panose="020B0604020202020204" pitchFamily="34" charset="0"/>
                              </a:rPr>
                            </m:ctrlPr>
                          </m:sSupPr>
                          <m:e>
                            <m:r>
                              <a:rPr lang="en-US" sz="2800" i="1">
                                <a:latin typeface="Cambria Math" panose="02040503050406030204" pitchFamily="18" charset="0"/>
                                <a:cs typeface="Arial" panose="020B0604020202020204" pitchFamily="34" charset="0"/>
                              </a:rPr>
                              <m:t>2</m:t>
                            </m:r>
                          </m:e>
                          <m:sup>
                            <m:r>
                              <a:rPr lang="en-US" sz="2800" i="1">
                                <a:latin typeface="Cambria Math" panose="02040503050406030204" pitchFamily="18" charset="0"/>
                                <a:cs typeface="Arial" panose="020B0604020202020204" pitchFamily="34" charset="0"/>
                              </a:rPr>
                              <m:t>𝑛</m:t>
                            </m:r>
                          </m:sup>
                        </m:sSup>
                      </m:den>
                    </m:f>
                  </m:oMath>
                </a14:m>
                <a:r>
                  <a:rPr lang="en-US" sz="2800" dirty="0">
                    <a:latin typeface="Arial" panose="020B0604020202020204" pitchFamily="34" charset="0"/>
                    <a:cs typeface="Arial" panose="020B0604020202020204" pitchFamily="34" charset="0"/>
                  </a:rPr>
                  <a:t>×</a:t>
                </a:r>
                <a14:m>
                  <m:oMath xmlns:m="http://schemas.openxmlformats.org/officeDocument/2006/math">
                    <m:f>
                      <m:fPr>
                        <m:ctrlPr>
                          <a:rPr lang="en-US" sz="2800" i="1" smtClean="0">
                            <a:latin typeface="Cambria Math" panose="02040503050406030204" pitchFamily="18" charset="0"/>
                            <a:cs typeface="Arial" panose="020B0604020202020204" pitchFamily="34" charset="0"/>
                          </a:rPr>
                        </m:ctrlPr>
                      </m:fPr>
                      <m:num>
                        <m:sSup>
                          <m:sSupPr>
                            <m:ctrlPr>
                              <a:rPr lang="en-US" sz="2800" i="1" smtClean="0">
                                <a:latin typeface="Cambria Math" panose="02040503050406030204" pitchFamily="18" charset="0"/>
                                <a:cs typeface="Arial" panose="020B0604020202020204" pitchFamily="34" charset="0"/>
                              </a:rPr>
                            </m:ctrlPr>
                          </m:sSupPr>
                          <m:e>
                            <m:r>
                              <a:rPr lang="en-US" sz="2800" b="0" i="1" smtClean="0">
                                <a:latin typeface="Cambria Math" panose="02040503050406030204" pitchFamily="18" charset="0"/>
                                <a:cs typeface="Arial" panose="020B0604020202020204" pitchFamily="34" charset="0"/>
                              </a:rPr>
                              <m:t>(2</m:t>
                            </m:r>
                          </m:e>
                          <m:sup>
                            <m:r>
                              <a:rPr lang="en-US" sz="2800" b="0" i="1" smtClean="0">
                                <a:latin typeface="Cambria Math" panose="02040503050406030204" pitchFamily="18" charset="0"/>
                                <a:cs typeface="Arial" panose="020B0604020202020204" pitchFamily="34" charset="0"/>
                              </a:rPr>
                              <m:t>𝑛</m:t>
                            </m:r>
                          </m:sup>
                        </m:sSup>
                        <m:r>
                          <a:rPr lang="en-US" sz="2800" b="0" i="1" smtClean="0">
                            <a:latin typeface="Cambria Math" panose="02040503050406030204" pitchFamily="18" charset="0"/>
                            <a:cs typeface="Arial" panose="020B0604020202020204" pitchFamily="34" charset="0"/>
                          </a:rPr>
                          <m:t>−</m:t>
                        </m:r>
                        <m:sSub>
                          <m:sSubPr>
                            <m:ctrlPr>
                              <a:rPr lang="en-US" sz="2800" b="0" i="1" smtClean="0">
                                <a:latin typeface="Cambria Math" panose="02040503050406030204" pitchFamily="18" charset="0"/>
                                <a:cs typeface="Arial" panose="020B0604020202020204" pitchFamily="34" charset="0"/>
                              </a:rPr>
                            </m:ctrlPr>
                          </m:sSubPr>
                          <m:e>
                            <m:r>
                              <a:rPr lang="en-US" sz="2800" b="0" i="1" smtClean="0">
                                <a:latin typeface="Cambria Math" panose="02040503050406030204" pitchFamily="18" charset="0"/>
                                <a:cs typeface="Arial" panose="020B0604020202020204" pitchFamily="34" charset="0"/>
                              </a:rPr>
                              <m:t>𝑛</m:t>
                            </m:r>
                          </m:e>
                          <m:sub>
                            <m:r>
                              <a:rPr lang="en-US" sz="2800" b="0" i="1" smtClean="0">
                                <a:latin typeface="Cambria Math" panose="02040503050406030204" pitchFamily="18" charset="0"/>
                                <a:cs typeface="Arial" panose="020B0604020202020204" pitchFamily="34" charset="0"/>
                              </a:rPr>
                              <m:t>0</m:t>
                            </m:r>
                          </m:sub>
                        </m:sSub>
                        <m:r>
                          <a:rPr lang="en-US" sz="2800" b="0" i="1" smtClean="0">
                            <a:latin typeface="Cambria Math" panose="02040503050406030204" pitchFamily="18" charset="0"/>
                            <a:cs typeface="Arial" panose="020B0604020202020204" pitchFamily="34" charset="0"/>
                          </a:rPr>
                          <m:t>)</m:t>
                        </m:r>
                      </m:num>
                      <m:den>
                        <m:sSup>
                          <m:sSupPr>
                            <m:ctrlPr>
                              <a:rPr lang="en-US" sz="2800" i="1" smtClean="0">
                                <a:latin typeface="Cambria Math" panose="02040503050406030204" pitchFamily="18" charset="0"/>
                                <a:cs typeface="Arial" panose="020B0604020202020204" pitchFamily="34" charset="0"/>
                              </a:rPr>
                            </m:ctrlPr>
                          </m:sSupPr>
                          <m:e>
                            <m:r>
                              <a:rPr lang="en-US" sz="2800" b="0" i="1" smtClean="0">
                                <a:latin typeface="Cambria Math" panose="02040503050406030204" pitchFamily="18" charset="0"/>
                                <a:cs typeface="Arial" panose="020B0604020202020204" pitchFamily="34" charset="0"/>
                              </a:rPr>
                              <m:t>2</m:t>
                            </m:r>
                          </m:e>
                          <m:sup>
                            <m:r>
                              <a:rPr lang="en-US" sz="2800" b="0" i="1" smtClean="0">
                                <a:latin typeface="Cambria Math" panose="02040503050406030204" pitchFamily="18" charset="0"/>
                                <a:cs typeface="Arial" panose="020B0604020202020204" pitchFamily="34" charset="0"/>
                              </a:rPr>
                              <m:t>𝑛</m:t>
                            </m:r>
                          </m:sup>
                        </m:sSup>
                      </m:den>
                    </m:f>
                  </m:oMath>
                </a14:m>
                <a:r>
                  <a:rPr lang="en-US" sz="2800" b="1" baseline="-25000"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a:t>
                </a:r>
                <a14:m>
                  <m:oMath xmlns:m="http://schemas.openxmlformats.org/officeDocument/2006/math">
                    <m:f>
                      <m:fPr>
                        <m:ctrlPr>
                          <a:rPr lang="en-US" sz="2800" i="1">
                            <a:latin typeface="Cambria Math" panose="02040503050406030204" pitchFamily="18" charset="0"/>
                            <a:cs typeface="Arial" panose="020B0604020202020204" pitchFamily="34" charset="0"/>
                          </a:rPr>
                        </m:ctrlPr>
                      </m:fPr>
                      <m:num>
                        <m:sSub>
                          <m:sSubPr>
                            <m:ctrlPr>
                              <a:rPr lang="en-US" sz="2800" i="1">
                                <a:latin typeface="Cambria Math" panose="02040503050406030204" pitchFamily="18" charset="0"/>
                                <a:cs typeface="Arial" panose="020B0604020202020204" pitchFamily="34" charset="0"/>
                              </a:rPr>
                            </m:ctrlPr>
                          </m:sSubPr>
                          <m:e>
                            <m:r>
                              <a:rPr lang="en-US" sz="2800" i="1">
                                <a:latin typeface="Cambria Math" panose="02040503050406030204" pitchFamily="18" charset="0"/>
                                <a:cs typeface="Arial" panose="020B0604020202020204" pitchFamily="34" charset="0"/>
                              </a:rPr>
                              <m:t>𝑛</m:t>
                            </m:r>
                          </m:e>
                          <m:sub>
                            <m:r>
                              <a:rPr lang="en-US" sz="2800" i="1">
                                <a:latin typeface="Cambria Math" panose="02040503050406030204" pitchFamily="18" charset="0"/>
                                <a:cs typeface="Arial" panose="020B0604020202020204" pitchFamily="34" charset="0"/>
                              </a:rPr>
                              <m:t>0</m:t>
                            </m:r>
                          </m:sub>
                        </m:sSub>
                        <m:sSup>
                          <m:sSupPr>
                            <m:ctrlPr>
                              <a:rPr lang="en-US" sz="2800" i="1">
                                <a:latin typeface="Cambria Math" panose="02040503050406030204" pitchFamily="18" charset="0"/>
                                <a:cs typeface="Arial" panose="020B0604020202020204" pitchFamily="34" charset="0"/>
                              </a:rPr>
                            </m:ctrlPr>
                          </m:sSupPr>
                          <m:e>
                            <m:r>
                              <a:rPr lang="en-US" sz="2800" i="1">
                                <a:latin typeface="Cambria Math" panose="02040503050406030204" pitchFamily="18" charset="0"/>
                                <a:cs typeface="Arial" panose="020B0604020202020204" pitchFamily="34" charset="0"/>
                              </a:rPr>
                              <m:t>(2</m:t>
                            </m:r>
                          </m:e>
                          <m:sup>
                            <m:r>
                              <a:rPr lang="en-US" sz="2800" i="1">
                                <a:latin typeface="Cambria Math" panose="02040503050406030204" pitchFamily="18" charset="0"/>
                                <a:cs typeface="Arial" panose="020B0604020202020204" pitchFamily="34" charset="0"/>
                              </a:rPr>
                              <m:t>𝑛</m:t>
                            </m:r>
                          </m:sup>
                        </m:sSup>
                        <m:r>
                          <a:rPr lang="en-US" sz="2800" i="1">
                            <a:latin typeface="Cambria Math" panose="02040503050406030204" pitchFamily="18" charset="0"/>
                            <a:cs typeface="Arial" panose="020B0604020202020204" pitchFamily="34" charset="0"/>
                          </a:rPr>
                          <m:t>−</m:t>
                        </m:r>
                        <m:sSub>
                          <m:sSubPr>
                            <m:ctrlPr>
                              <a:rPr lang="en-US" sz="2800" i="1">
                                <a:latin typeface="Cambria Math" panose="02040503050406030204" pitchFamily="18" charset="0"/>
                                <a:cs typeface="Arial" panose="020B0604020202020204" pitchFamily="34" charset="0"/>
                              </a:rPr>
                            </m:ctrlPr>
                          </m:sSubPr>
                          <m:e>
                            <m:r>
                              <a:rPr lang="en-US" sz="2800" i="1">
                                <a:latin typeface="Cambria Math" panose="02040503050406030204" pitchFamily="18" charset="0"/>
                                <a:cs typeface="Arial" panose="020B0604020202020204" pitchFamily="34" charset="0"/>
                              </a:rPr>
                              <m:t>𝑛</m:t>
                            </m:r>
                          </m:e>
                          <m:sub>
                            <m:r>
                              <a:rPr lang="en-US" sz="2800" i="1">
                                <a:latin typeface="Cambria Math" panose="02040503050406030204" pitchFamily="18" charset="0"/>
                                <a:cs typeface="Arial" panose="020B0604020202020204" pitchFamily="34" charset="0"/>
                              </a:rPr>
                              <m:t>0</m:t>
                            </m:r>
                          </m:sub>
                        </m:sSub>
                        <m:r>
                          <a:rPr lang="en-US" sz="2800" i="1">
                            <a:latin typeface="Cambria Math" panose="02040503050406030204" pitchFamily="18" charset="0"/>
                            <a:cs typeface="Arial" panose="020B0604020202020204" pitchFamily="34" charset="0"/>
                          </a:rPr>
                          <m:t>)</m:t>
                        </m:r>
                      </m:num>
                      <m:den>
                        <m:sSup>
                          <m:sSupPr>
                            <m:ctrlPr>
                              <a:rPr lang="en-US" sz="2800" i="1">
                                <a:latin typeface="Cambria Math" panose="02040503050406030204" pitchFamily="18" charset="0"/>
                                <a:cs typeface="Arial" panose="020B0604020202020204" pitchFamily="34" charset="0"/>
                              </a:rPr>
                            </m:ctrlPr>
                          </m:sSupPr>
                          <m:e>
                            <m:r>
                              <a:rPr lang="en-US" sz="2800" i="1">
                                <a:latin typeface="Cambria Math" panose="02040503050406030204" pitchFamily="18" charset="0"/>
                                <a:cs typeface="Arial" panose="020B0604020202020204" pitchFamily="34" charset="0"/>
                              </a:rPr>
                              <m:t>2</m:t>
                            </m:r>
                          </m:e>
                          <m:sup>
                            <m:r>
                              <a:rPr lang="en-US" sz="2800" i="1">
                                <a:latin typeface="Cambria Math" panose="02040503050406030204" pitchFamily="18" charset="0"/>
                                <a:cs typeface="Arial" panose="020B0604020202020204" pitchFamily="34" charset="0"/>
                              </a:rPr>
                              <m:t>2</m:t>
                            </m:r>
                            <m:r>
                              <a:rPr lang="en-US" sz="2800" i="1">
                                <a:latin typeface="Cambria Math" panose="02040503050406030204" pitchFamily="18" charset="0"/>
                                <a:cs typeface="Arial" panose="020B0604020202020204" pitchFamily="34" charset="0"/>
                              </a:rPr>
                              <m:t>𝑛</m:t>
                            </m:r>
                          </m:sup>
                        </m:sSup>
                      </m:den>
                    </m:f>
                  </m:oMath>
                </a14:m>
                <a:endParaRPr lang="en-US" sz="2800" b="1" baseline="-25000" dirty="0">
                  <a:latin typeface="Arial" panose="020B0604020202020204" pitchFamily="34" charset="0"/>
                  <a:cs typeface="Arial" panose="020B0604020202020204" pitchFamily="34" charset="0"/>
                </a:endParaRPr>
              </a:p>
              <a:p>
                <a:endParaRPr lang="en-US" sz="2500" b="1" baseline="30000" dirty="0">
                  <a:latin typeface="Arial" panose="020B0604020202020204" pitchFamily="34" charset="0"/>
                  <a:cs typeface="Arial" panose="020B0604020202020204" pitchFamily="34" charset="0"/>
                </a:endParaRPr>
              </a:p>
            </p:txBody>
          </p:sp>
        </mc:Choice>
        <mc:Fallback xmlns="">
          <p:sp>
            <p:nvSpPr>
              <p:cNvPr id="3" name="Content Placeholder 2">
                <a:extLst>
                  <a:ext uri="{FF2B5EF4-FFF2-40B4-BE49-F238E27FC236}">
                    <a16:creationId xmlns:a14="http://schemas.microsoft.com/office/drawing/2010/main" xmlns="" xmlns:a16="http://schemas.microsoft.com/office/drawing/2014/main" id="{D077282A-0D21-4D6B-92E4-A0CD58ED91F6}"/>
                  </a:ext>
                </a:extLst>
              </p:cNvPr>
              <p:cNvSpPr>
                <a:spLocks noGrp="1" noRot="1" noChangeAspect="1" noMove="1" noResize="1" noEditPoints="1" noAdjustHandles="1" noChangeArrowheads="1" noChangeShapeType="1" noTextEdit="1"/>
              </p:cNvSpPr>
              <p:nvPr>
                <p:ph idx="1"/>
              </p:nvPr>
            </p:nvSpPr>
            <p:spPr>
              <a:xfrm>
                <a:off x="1717041" y="1482703"/>
                <a:ext cx="9787572" cy="4560475"/>
              </a:xfrm>
              <a:blipFill>
                <a:blip r:embed="rId2" cstate="print"/>
                <a:stretch>
                  <a:fillRect l="-1184"/>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AD36AFAF-091F-4A90-B47E-B9067F813237}"/>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p:cNvPicPr>
            <a:picLocks noChangeAspect="1"/>
          </p:cNvPicPr>
          <p:nvPr/>
        </p:nvPicPr>
        <p:blipFill>
          <a:blip r:embed="rId3" cstate="print"/>
          <a:stretch>
            <a:fillRect/>
          </a:stretch>
        </p:blipFill>
        <p:spPr>
          <a:xfrm>
            <a:off x="8175983" y="1820004"/>
            <a:ext cx="2466975" cy="1847850"/>
          </a:xfrm>
          <a:prstGeom prst="rect">
            <a:avLst/>
          </a:prstGeom>
        </p:spPr>
      </p:pic>
      <p:cxnSp>
        <p:nvCxnSpPr>
          <p:cNvPr id="8" name="Straight Arrow Connector 7"/>
          <p:cNvCxnSpPr/>
          <p:nvPr/>
        </p:nvCxnSpPr>
        <p:spPr>
          <a:xfrm>
            <a:off x="2471225" y="2143436"/>
            <a:ext cx="23597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 name="Straight Arrow Connector 6"/>
          <p:cNvCxnSpPr/>
          <p:nvPr/>
        </p:nvCxnSpPr>
        <p:spPr>
          <a:xfrm>
            <a:off x="2623625" y="3652694"/>
            <a:ext cx="23597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p:cNvCxnSpPr/>
          <p:nvPr/>
        </p:nvCxnSpPr>
        <p:spPr>
          <a:xfrm>
            <a:off x="2623625" y="5501156"/>
            <a:ext cx="23597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370349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A5F21-01F0-42A0-BD91-CD59D189105C}"/>
              </a:ext>
            </a:extLst>
          </p:cNvPr>
          <p:cNvSpPr>
            <a:spLocks noGrp="1"/>
          </p:cNvSpPr>
          <p:nvPr>
            <p:ph type="title"/>
          </p:nvPr>
        </p:nvSpPr>
        <p:spPr>
          <a:xfrm>
            <a:off x="1778001" y="624110"/>
            <a:ext cx="9726612" cy="1280890"/>
          </a:xfrm>
        </p:spPr>
        <p:txBody>
          <a:bodyPr>
            <a:normAutofit/>
          </a:bodyPr>
          <a:lstStyle/>
          <a:p>
            <a:r>
              <a:rPr lang="en-US" sz="3200" dirty="0">
                <a:latin typeface="Arial" panose="020B0604020202020204" pitchFamily="34" charset="0"/>
                <a:cs typeface="Arial" panose="020B0604020202020204" pitchFamily="34" charset="0"/>
              </a:rPr>
              <a:t>Continue….</a:t>
            </a:r>
            <a:endParaRPr lang="en-IN" sz="3200" dirty="0">
              <a:latin typeface="Arial" panose="020B0604020202020204" pitchFamily="34" charset="0"/>
              <a:cs typeface="Arial" panose="020B0604020202020204" pitchFamily="34"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65537317"/>
              </p:ext>
            </p:extLst>
          </p:nvPr>
        </p:nvGraphicFramePr>
        <p:xfrm>
          <a:off x="1778000" y="2133600"/>
          <a:ext cx="9726612" cy="741680"/>
        </p:xfrm>
        <a:graphic>
          <a:graphicData uri="http://schemas.openxmlformats.org/drawingml/2006/table">
            <a:tbl>
              <a:tblPr firstRow="1" bandRow="1">
                <a:tableStyleId>{5C22544A-7EE6-4342-B048-85BDC9FD1C3A}</a:tableStyleId>
              </a:tblPr>
              <a:tblGrid>
                <a:gridCol w="2431653">
                  <a:extLst>
                    <a:ext uri="{9D8B030D-6E8A-4147-A177-3AD203B41FA5}">
                      <a16:colId xmlns:a16="http://schemas.microsoft.com/office/drawing/2014/main" val="2693018628"/>
                    </a:ext>
                  </a:extLst>
                </a:gridCol>
                <a:gridCol w="2431653">
                  <a:extLst>
                    <a:ext uri="{9D8B030D-6E8A-4147-A177-3AD203B41FA5}">
                      <a16:colId xmlns:a16="http://schemas.microsoft.com/office/drawing/2014/main" val="712204346"/>
                    </a:ext>
                  </a:extLst>
                </a:gridCol>
                <a:gridCol w="2431653">
                  <a:extLst>
                    <a:ext uri="{9D8B030D-6E8A-4147-A177-3AD203B41FA5}">
                      <a16:colId xmlns:a16="http://schemas.microsoft.com/office/drawing/2014/main" val="889909127"/>
                    </a:ext>
                  </a:extLst>
                </a:gridCol>
                <a:gridCol w="2431653">
                  <a:extLst>
                    <a:ext uri="{9D8B030D-6E8A-4147-A177-3AD203B41FA5}">
                      <a16:colId xmlns:a16="http://schemas.microsoft.com/office/drawing/2014/main" val="2123259075"/>
                    </a:ext>
                  </a:extLst>
                </a:gridCol>
              </a:tblGrid>
              <a:tr h="370840">
                <a:tc>
                  <a:txBody>
                    <a:bodyPr/>
                    <a:lstStyle/>
                    <a:p>
                      <a:r>
                        <a:rPr lang="en-US" dirty="0"/>
                        <a:t>2</a:t>
                      </a:r>
                      <a:r>
                        <a:rPr lang="en-US" baseline="0" dirty="0"/>
                        <a:t> input Gates </a:t>
                      </a:r>
                      <a:endParaRPr lang="en-IN" dirty="0"/>
                    </a:p>
                  </a:txBody>
                  <a:tcPr/>
                </a:tc>
                <a:tc>
                  <a:txBody>
                    <a:bodyPr/>
                    <a:lstStyle/>
                    <a:p>
                      <a:r>
                        <a:rPr lang="en-US" dirty="0" err="1"/>
                        <a:t>inv</a:t>
                      </a:r>
                      <a:endParaRPr lang="en-IN" dirty="0"/>
                    </a:p>
                  </a:txBody>
                  <a:tcPr/>
                </a:tc>
                <a:tc>
                  <a:txBody>
                    <a:bodyPr/>
                    <a:lstStyle/>
                    <a:p>
                      <a:r>
                        <a:rPr lang="en-US" dirty="0"/>
                        <a:t>NAND/AND</a:t>
                      </a:r>
                      <a:endParaRPr lang="en-IN" dirty="0"/>
                    </a:p>
                  </a:txBody>
                  <a:tcPr/>
                </a:tc>
                <a:tc>
                  <a:txBody>
                    <a:bodyPr/>
                    <a:lstStyle/>
                    <a:p>
                      <a:r>
                        <a:rPr lang="en-US" dirty="0"/>
                        <a:t>NOR/OR</a:t>
                      </a:r>
                      <a:endParaRPr lang="en-IN" dirty="0"/>
                    </a:p>
                  </a:txBody>
                  <a:tcPr/>
                </a:tc>
                <a:extLst>
                  <a:ext uri="{0D108BD9-81ED-4DB2-BD59-A6C34878D82A}">
                    <a16:rowId xmlns:a16="http://schemas.microsoft.com/office/drawing/2014/main" val="2403463907"/>
                  </a:ext>
                </a:extLst>
              </a:tr>
              <a:tr h="370840">
                <a:tc>
                  <a:txBody>
                    <a:bodyPr/>
                    <a:lstStyle/>
                    <a:p>
                      <a:r>
                        <a:rPr lang="en-US" dirty="0"/>
                        <a:t>Activity</a:t>
                      </a:r>
                      <a:endParaRPr lang="en-IN" dirty="0"/>
                    </a:p>
                  </a:txBody>
                  <a:tcPr/>
                </a:tc>
                <a:tc>
                  <a:txBody>
                    <a:bodyPr/>
                    <a:lstStyle/>
                    <a:p>
                      <a:r>
                        <a:rPr lang="en-US" dirty="0"/>
                        <a:t>1/4</a:t>
                      </a:r>
                      <a:endParaRPr lang="en-IN" dirty="0"/>
                    </a:p>
                  </a:txBody>
                  <a:tcPr/>
                </a:tc>
                <a:tc>
                  <a:txBody>
                    <a:bodyPr/>
                    <a:lstStyle/>
                    <a:p>
                      <a:r>
                        <a:rPr lang="en-US" dirty="0"/>
                        <a:t>3/16</a:t>
                      </a:r>
                      <a:endParaRPr lang="en-IN" dirty="0"/>
                    </a:p>
                  </a:txBody>
                  <a:tcPr/>
                </a:tc>
                <a:tc>
                  <a:txBody>
                    <a:bodyPr/>
                    <a:lstStyle/>
                    <a:p>
                      <a:r>
                        <a:rPr lang="en-US" dirty="0"/>
                        <a:t>3/16</a:t>
                      </a:r>
                      <a:endParaRPr lang="en-IN" dirty="0"/>
                    </a:p>
                  </a:txBody>
                  <a:tcPr/>
                </a:tc>
                <a:extLst>
                  <a:ext uri="{0D108BD9-81ED-4DB2-BD59-A6C34878D82A}">
                    <a16:rowId xmlns:a16="http://schemas.microsoft.com/office/drawing/2014/main" val="3639120509"/>
                  </a:ext>
                </a:extLst>
              </a:tr>
            </a:tbl>
          </a:graphicData>
        </a:graphic>
      </p:graphicFrame>
      <p:sp>
        <p:nvSpPr>
          <p:cNvPr id="4" name="Footer Placeholder 3">
            <a:extLst>
              <a:ext uri="{FF2B5EF4-FFF2-40B4-BE49-F238E27FC236}">
                <a16:creationId xmlns:a16="http://schemas.microsoft.com/office/drawing/2014/main" id="{8B260D7A-9365-4F6F-B4ED-1909E68B6383}"/>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1417617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226A-F17F-4084-863E-ABDCF55C9FF1}"/>
              </a:ext>
            </a:extLst>
          </p:cNvPr>
          <p:cNvSpPr>
            <a:spLocks noGrp="1"/>
          </p:cNvSpPr>
          <p:nvPr>
            <p:ph type="title"/>
          </p:nvPr>
        </p:nvSpPr>
        <p:spPr>
          <a:xfrm>
            <a:off x="1838961" y="624110"/>
            <a:ext cx="9665652" cy="1280890"/>
          </a:xfrm>
        </p:spPr>
        <p:txBody>
          <a:bodyPr/>
          <a:lstStyle/>
          <a:p>
            <a:r>
              <a:rPr lang="en-US" sz="3200" dirty="0">
                <a:solidFill>
                  <a:prstClr val="black">
                    <a:lumMod val="85000"/>
                    <a:lumOff val="15000"/>
                  </a:prstClr>
                </a:solidFill>
                <a:latin typeface="Arial" panose="020B0604020202020204" pitchFamily="34" charset="0"/>
                <a:cs typeface="Arial" panose="020B0604020202020204" pitchFamily="34" charset="0"/>
              </a:rPr>
              <a:t>Continue….</a:t>
            </a:r>
            <a:endParaRPr lang="en-IN" dirty="0"/>
          </a:p>
        </p:txBody>
      </p:sp>
      <p:sp>
        <p:nvSpPr>
          <p:cNvPr id="4" name="Footer Placeholder 3">
            <a:extLst>
              <a:ext uri="{FF2B5EF4-FFF2-40B4-BE49-F238E27FC236}">
                <a16:creationId xmlns:a16="http://schemas.microsoft.com/office/drawing/2014/main" id="{C6EC3B68-26E1-4CAA-B72B-9B99F58C5673}"/>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3" name="Content Placeholder 2"/>
          <p:cNvSpPr>
            <a:spLocks noGrp="1"/>
          </p:cNvSpPr>
          <p:nvPr>
            <p:ph idx="1"/>
          </p:nvPr>
        </p:nvSpPr>
        <p:spPr>
          <a:xfrm>
            <a:off x="1573161" y="1278194"/>
            <a:ext cx="10048568" cy="4633028"/>
          </a:xfrm>
        </p:spPr>
        <p:txBody>
          <a:bodyPr/>
          <a:lstStyle/>
          <a:p>
            <a:pPr algn="just"/>
            <a:r>
              <a:rPr lang="en-US" dirty="0">
                <a:solidFill>
                  <a:srgbClr val="231F20"/>
                </a:solidFill>
                <a:latin typeface="ACaslon-Regular"/>
              </a:rPr>
              <a:t>The activity factor of a node is the probability that it switches from 0 to 1. This probability depends on the logic function. By analyzing the probability that each node is 1, we can estimate the activity factors. </a:t>
            </a:r>
          </a:p>
          <a:p>
            <a:r>
              <a:rPr lang="en-US" dirty="0">
                <a:latin typeface="Arial" panose="020B0604020202020204" pitchFamily="34" charset="0"/>
                <a:cs typeface="Arial" panose="020B0604020202020204" pitchFamily="34" charset="0"/>
              </a:rPr>
              <a:t>Define</a:t>
            </a:r>
            <a:r>
              <a:rPr lang="en-US" b="1"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 </a:t>
            </a:r>
            <a:r>
              <a:rPr lang="en-US" dirty="0">
                <a:latin typeface="Arial" panose="020B0604020202020204" pitchFamily="34" charset="0"/>
                <a:cs typeface="Arial" panose="020B0604020202020204" pitchFamily="34" charset="0"/>
              </a:rPr>
              <a:t>to be the probability that node</a:t>
            </a:r>
            <a:r>
              <a:rPr lang="en-US" b="1" dirty="0">
                <a:latin typeface="Arial" panose="020B0604020202020204" pitchFamily="34" charset="0"/>
                <a:cs typeface="Arial" panose="020B0604020202020204" pitchFamily="34" charset="0"/>
              </a:rPr>
              <a:t> </a:t>
            </a:r>
            <a:r>
              <a:rPr lang="en-US" b="1" i="1" dirty="0" err="1">
                <a:latin typeface="Arial" panose="020B0604020202020204" pitchFamily="34" charset="0"/>
                <a:cs typeface="Arial" panose="020B0604020202020204" pitchFamily="34" charset="0"/>
              </a:rPr>
              <a:t>i</a:t>
            </a:r>
            <a:r>
              <a:rPr lang="en-US" b="1"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a:t>
            </a:r>
            <a:r>
              <a:rPr lang="en-US" b="1"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 </a:t>
            </a:r>
            <a:r>
              <a:rPr lang="en-US" b="1" dirty="0">
                <a:latin typeface="Arial" panose="020B0604020202020204" pitchFamily="34" charset="0"/>
                <a:cs typeface="Arial" panose="020B0604020202020204" pitchFamily="34" charset="0"/>
              </a:rPr>
              <a:t>= 1 – </a:t>
            </a:r>
            <a:r>
              <a:rPr lang="en-US" b="1" i="1" dirty="0">
                <a:latin typeface="Arial" panose="020B0604020202020204" pitchFamily="34" charset="0"/>
                <a:cs typeface="Arial" panose="020B0604020202020204" pitchFamily="34" charset="0"/>
              </a:rPr>
              <a:t>P</a:t>
            </a:r>
            <a:r>
              <a:rPr lang="en-US" b="1" i="1" baseline="-25000" dirty="0">
                <a:latin typeface="Arial" panose="020B0604020202020204" pitchFamily="34" charset="0"/>
                <a:cs typeface="Arial" panose="020B0604020202020204" pitchFamily="34" charset="0"/>
              </a:rPr>
              <a:t>i</a:t>
            </a:r>
            <a:r>
              <a:rPr lang="en-US" b="1"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the probability that node </a:t>
            </a:r>
            <a:r>
              <a:rPr lang="en-US" i="1" dirty="0" err="1">
                <a:latin typeface="Arial" panose="020B0604020202020204" pitchFamily="34" charset="0"/>
                <a:cs typeface="Arial" panose="020B0604020202020204" pitchFamily="34" charset="0"/>
              </a:rPr>
              <a:t>i</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0. </a:t>
            </a:r>
            <a:r>
              <a:rPr lang="el-GR" b="1" dirty="0">
                <a:latin typeface="Arial" panose="020B0604020202020204" pitchFamily="34" charset="0"/>
                <a:cs typeface="Arial" panose="020B0604020202020204" pitchFamily="34" charset="0"/>
              </a:rPr>
              <a:t>α</a:t>
            </a:r>
            <a:r>
              <a:rPr lang="en-US" b="1" i="1" baseline="-25000" dirty="0" err="1">
                <a:latin typeface="Arial" panose="020B0604020202020204" pitchFamily="34" charset="0"/>
                <a:cs typeface="Arial" panose="020B0604020202020204" pitchFamily="34" charset="0"/>
              </a:rPr>
              <a:t>i</a:t>
            </a:r>
            <a:r>
              <a:rPr lang="en-US" i="1"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the activity factor of node </a:t>
            </a:r>
            <a:r>
              <a:rPr lang="en-US" b="1" i="1" dirty="0" err="1">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cstate="print"/>
          <a:stretch>
            <a:fillRect/>
          </a:stretch>
        </p:blipFill>
        <p:spPr>
          <a:xfrm>
            <a:off x="4779092" y="2902205"/>
            <a:ext cx="1257300" cy="561975"/>
          </a:xfrm>
          <a:prstGeom prst="rect">
            <a:avLst/>
          </a:prstGeom>
        </p:spPr>
      </p:pic>
      <p:pic>
        <p:nvPicPr>
          <p:cNvPr id="7" name="Picture 6"/>
          <p:cNvPicPr>
            <a:picLocks noChangeAspect="1"/>
          </p:cNvPicPr>
          <p:nvPr/>
        </p:nvPicPr>
        <p:blipFill>
          <a:blip r:embed="rId3" cstate="print"/>
          <a:stretch>
            <a:fillRect/>
          </a:stretch>
        </p:blipFill>
        <p:spPr>
          <a:xfrm>
            <a:off x="6351331" y="2815821"/>
            <a:ext cx="4955458" cy="2899332"/>
          </a:xfrm>
          <a:prstGeom prst="rect">
            <a:avLst/>
          </a:prstGeom>
        </p:spPr>
      </p:pic>
      <p:cxnSp>
        <p:nvCxnSpPr>
          <p:cNvPr id="11" name="Straight Connector 10"/>
          <p:cNvCxnSpPr/>
          <p:nvPr/>
        </p:nvCxnSpPr>
        <p:spPr>
          <a:xfrm flipV="1">
            <a:off x="6597445" y="2276837"/>
            <a:ext cx="294968" cy="9832"/>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985188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C6AC6-DB0B-47AC-80E5-3D7E433762FD}"/>
              </a:ext>
            </a:extLst>
          </p:cNvPr>
          <p:cNvSpPr>
            <a:spLocks noGrp="1"/>
          </p:cNvSpPr>
          <p:nvPr>
            <p:ph type="title"/>
          </p:nvPr>
        </p:nvSpPr>
        <p:spPr>
          <a:xfrm>
            <a:off x="2103121" y="624110"/>
            <a:ext cx="9401492" cy="1280890"/>
          </a:xfrm>
        </p:spPr>
        <p:txBody>
          <a:bodyPr/>
          <a:lstStyle/>
          <a:p>
            <a:r>
              <a:rPr lang="en-US" sz="3200" dirty="0">
                <a:solidFill>
                  <a:prstClr val="black">
                    <a:lumMod val="85000"/>
                    <a:lumOff val="15000"/>
                  </a:prstClr>
                </a:solidFill>
                <a:latin typeface="Arial" panose="020B0604020202020204" pitchFamily="34" charset="0"/>
                <a:cs typeface="Arial" panose="020B0604020202020204" pitchFamily="34" charset="0"/>
              </a:rPr>
              <a:t>Problem3</a:t>
            </a:r>
            <a:endParaRPr lang="en-IN" dirty="0"/>
          </a:p>
        </p:txBody>
      </p:sp>
      <p:sp>
        <p:nvSpPr>
          <p:cNvPr id="4" name="Footer Placeholder 3">
            <a:extLst>
              <a:ext uri="{FF2B5EF4-FFF2-40B4-BE49-F238E27FC236}">
                <a16:creationId xmlns:a16="http://schemas.microsoft.com/office/drawing/2014/main" id="{8634DF2F-1D16-4581-925A-15677D8A3B37}"/>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
        <p:nvSpPr>
          <p:cNvPr id="3" name="Content Placeholder 2"/>
          <p:cNvSpPr>
            <a:spLocks noGrp="1"/>
          </p:cNvSpPr>
          <p:nvPr>
            <p:ph idx="1"/>
          </p:nvPr>
        </p:nvSpPr>
        <p:spPr>
          <a:xfrm>
            <a:off x="1425677" y="1415845"/>
            <a:ext cx="10078935" cy="4495377"/>
          </a:xfrm>
        </p:spPr>
        <p:txBody>
          <a:bodyPr/>
          <a:lstStyle/>
          <a:p>
            <a:r>
              <a:rPr lang="en-US" dirty="0">
                <a:latin typeface="Arial" panose="020B0604020202020204" pitchFamily="34" charset="0"/>
                <a:cs typeface="Arial" panose="020B0604020202020204" pitchFamily="34" charset="0"/>
              </a:rPr>
              <a:t>Figure  shows a 4-input AND gate built using a tree (a) and a chain (b) of gates. Determine the activity factors at each node in the circuit assuming the input probabilities PA = PB = PC = PD = 0.5.</a:t>
            </a:r>
            <a:endParaRPr lang="en-IN" dirty="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cstate="print"/>
          <a:stretch>
            <a:fillRect/>
          </a:stretch>
        </p:blipFill>
        <p:spPr>
          <a:xfrm>
            <a:off x="1759360" y="2833687"/>
            <a:ext cx="3619500" cy="2409825"/>
          </a:xfrm>
          <a:prstGeom prst="rect">
            <a:avLst/>
          </a:prstGeom>
        </p:spPr>
      </p:pic>
      <p:pic>
        <p:nvPicPr>
          <p:cNvPr id="7" name="Picture 6"/>
          <p:cNvPicPr>
            <a:picLocks noChangeAspect="1"/>
          </p:cNvPicPr>
          <p:nvPr/>
        </p:nvPicPr>
        <p:blipFill>
          <a:blip r:embed="rId3" cstate="print"/>
          <a:stretch>
            <a:fillRect/>
          </a:stretch>
        </p:blipFill>
        <p:spPr>
          <a:xfrm>
            <a:off x="6649217" y="2903127"/>
            <a:ext cx="4124325" cy="2447925"/>
          </a:xfrm>
          <a:prstGeom prst="rect">
            <a:avLst/>
          </a:prstGeom>
        </p:spPr>
      </p:pic>
    </p:spTree>
    <p:extLst>
      <p:ext uri="{BB962C8B-B14F-4D97-AF65-F5344CB8AC3E}">
        <p14:creationId xmlns:p14="http://schemas.microsoft.com/office/powerpoint/2010/main" val="348475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Problem4 </a:t>
            </a:r>
            <a:endParaRPr lang="en-IN" dirty="0"/>
          </a:p>
        </p:txBody>
      </p:sp>
      <p:sp>
        <p:nvSpPr>
          <p:cNvPr id="3" name="Content Placeholder 2"/>
          <p:cNvSpPr>
            <a:spLocks noGrp="1"/>
          </p:cNvSpPr>
          <p:nvPr>
            <p:ph idx="1"/>
          </p:nvPr>
        </p:nvSpPr>
        <p:spPr>
          <a:xfrm>
            <a:off x="1435510" y="1533832"/>
            <a:ext cx="10069102" cy="4377390"/>
          </a:xfrm>
        </p:spPr>
        <p:txBody>
          <a:bodyPr/>
          <a:lstStyle/>
          <a:p>
            <a:r>
              <a:rPr lang="en-US" dirty="0">
                <a:latin typeface="Arial" panose="020B0604020202020204" pitchFamily="34" charset="0"/>
                <a:cs typeface="Arial" panose="020B0604020202020204" pitchFamily="34" charset="0"/>
              </a:rPr>
              <a:t>Calculate probability and switching activity factor</a:t>
            </a:r>
            <a:endParaRPr lang="en-IN"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p:cNvPicPr>
            <a:picLocks noChangeAspect="1"/>
          </p:cNvPicPr>
          <p:nvPr/>
        </p:nvPicPr>
        <p:blipFill>
          <a:blip r:embed="rId2" cstate="print"/>
          <a:stretch>
            <a:fillRect/>
          </a:stretch>
        </p:blipFill>
        <p:spPr>
          <a:xfrm>
            <a:off x="288668" y="2345897"/>
            <a:ext cx="4992939" cy="2334258"/>
          </a:xfrm>
          <a:prstGeom prst="rect">
            <a:avLst/>
          </a:prstGeom>
        </p:spPr>
      </p:pic>
      <p:pic>
        <p:nvPicPr>
          <p:cNvPr id="8" name="Picture 7"/>
          <p:cNvPicPr>
            <a:picLocks noChangeAspect="1"/>
          </p:cNvPicPr>
          <p:nvPr/>
        </p:nvPicPr>
        <p:blipFill>
          <a:blip r:embed="rId3" cstate="print"/>
          <a:stretch>
            <a:fillRect/>
          </a:stretch>
        </p:blipFill>
        <p:spPr>
          <a:xfrm>
            <a:off x="6754762" y="2345897"/>
            <a:ext cx="4987566" cy="2615177"/>
          </a:xfrm>
          <a:prstGeom prst="rect">
            <a:avLst/>
          </a:prstGeom>
        </p:spPr>
      </p:pic>
    </p:spTree>
    <p:extLst>
      <p:ext uri="{BB962C8B-B14F-4D97-AF65-F5344CB8AC3E}">
        <p14:creationId xmlns:p14="http://schemas.microsoft.com/office/powerpoint/2010/main" val="4078484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1149" y="624110"/>
            <a:ext cx="9813464" cy="1280890"/>
          </a:xfrm>
        </p:spPr>
        <p:txBody>
          <a:bodyPr/>
          <a:lstStyle/>
          <a:p>
            <a:r>
              <a:rPr lang="en-US" dirty="0" err="1">
                <a:latin typeface="Arial" panose="020B0604020202020204" pitchFamily="34" charset="0"/>
                <a:cs typeface="Arial" panose="020B0604020202020204" pitchFamily="34" charset="0"/>
              </a:rPr>
              <a:t>Glitching</a:t>
            </a:r>
            <a:r>
              <a:rPr lang="en-US" dirty="0">
                <a:latin typeface="Arial" panose="020B0604020202020204" pitchFamily="34" charset="0"/>
                <a:cs typeface="Arial" panose="020B0604020202020204" pitchFamily="34" charset="0"/>
              </a:rPr>
              <a:t> power Dissipation</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238865" y="1425677"/>
            <a:ext cx="10265747" cy="4670323"/>
          </a:xfrm>
        </p:spPr>
        <p:txBody>
          <a:bodyPr/>
          <a:lstStyle/>
          <a:p>
            <a:pPr algn="just"/>
            <a:r>
              <a:rPr lang="en-US" dirty="0">
                <a:solidFill>
                  <a:srgbClr val="000000"/>
                </a:solidFill>
                <a:latin typeface="Arial" panose="020B0604020202020204" pitchFamily="34" charset="0"/>
                <a:cs typeface="Arial" panose="020B0604020202020204" pitchFamily="34" charset="0"/>
              </a:rPr>
              <a:t>The third source of dynamic power or dissipation is </a:t>
            </a:r>
            <a:r>
              <a:rPr lang="en-US" dirty="0" err="1">
                <a:solidFill>
                  <a:srgbClr val="000000"/>
                </a:solidFill>
                <a:latin typeface="Arial" panose="020B0604020202020204" pitchFamily="34" charset="0"/>
                <a:cs typeface="Arial" panose="020B0604020202020204" pitchFamily="34" charset="0"/>
              </a:rPr>
              <a:t>glitching</a:t>
            </a:r>
            <a:r>
              <a:rPr lang="en-US" dirty="0">
                <a:solidFill>
                  <a:srgbClr val="000000"/>
                </a:solidFill>
                <a:latin typeface="Arial" panose="020B0604020202020204" pitchFamily="34" charset="0"/>
                <a:cs typeface="Arial" panose="020B0604020202020204" pitchFamily="34" charset="0"/>
              </a:rPr>
              <a:t> power this </a:t>
            </a:r>
            <a:r>
              <a:rPr lang="en-US" dirty="0" err="1">
                <a:solidFill>
                  <a:srgbClr val="000000"/>
                </a:solidFill>
                <a:latin typeface="Arial" panose="020B0604020202020204" pitchFamily="34" charset="0"/>
                <a:cs typeface="Arial" panose="020B0604020202020204" pitchFamily="34" charset="0"/>
              </a:rPr>
              <a:t>glitching</a:t>
            </a:r>
            <a:r>
              <a:rPr lang="en-US" dirty="0">
                <a:solidFill>
                  <a:srgbClr val="000000"/>
                </a:solidFill>
                <a:latin typeface="Arial" panose="020B0604020202020204" pitchFamily="34" charset="0"/>
                <a:cs typeface="Arial" panose="020B0604020202020204" pitchFamily="34" charset="0"/>
              </a:rPr>
              <a:t> power dissipation occurs due to due to delay finite delay of the gate. </a:t>
            </a:r>
            <a:r>
              <a:rPr lang="en-US" dirty="0">
                <a:latin typeface="Arial" panose="020B0604020202020204" pitchFamily="34" charset="0"/>
                <a:cs typeface="Arial" panose="020B0604020202020204" pitchFamily="34" charset="0"/>
              </a:rPr>
              <a:t>because, of the finite delay of these gates there is a one the output is becoming high for a very small duration and this is known as glitch. So, there will be </a:t>
            </a:r>
            <a:r>
              <a:rPr lang="en-US" dirty="0" err="1">
                <a:latin typeface="Arial" panose="020B0604020202020204" pitchFamily="34" charset="0"/>
                <a:cs typeface="Arial" panose="020B0604020202020204" pitchFamily="34" charset="0"/>
              </a:rPr>
              <a:t>glitching</a:t>
            </a:r>
            <a:r>
              <a:rPr lang="en-US" dirty="0">
                <a:latin typeface="Arial" panose="020B0604020202020204" pitchFamily="34" charset="0"/>
                <a:cs typeface="Arial" panose="020B0604020202020204" pitchFamily="34" charset="0"/>
              </a:rPr>
              <a:t> power dissipation on this output capacitance</a:t>
            </a:r>
            <a:r>
              <a:rPr lang="en-US" dirty="0"/>
              <a:t>. </a:t>
            </a:r>
            <a:r>
              <a:rPr lang="en-US" dirty="0">
                <a:latin typeface="Arial" panose="020B0604020202020204" pitchFamily="34" charset="0"/>
                <a:cs typeface="Arial" panose="020B0604020202020204" pitchFamily="34" charset="0"/>
              </a:rPr>
              <a:t> </a:t>
            </a:r>
            <a:r>
              <a:rPr lang="en-US" dirty="0">
                <a:solidFill>
                  <a:srgbClr val="000000"/>
                </a:solidFill>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a:xfrm>
            <a:off x="1809136" y="6096000"/>
            <a:ext cx="8400076" cy="404933"/>
          </a:xfrm>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2"/>
          <p:cNvPicPr>
            <a:picLocks noChangeAspect="1" noChangeArrowheads="1"/>
          </p:cNvPicPr>
          <p:nvPr/>
        </p:nvPicPr>
        <p:blipFill>
          <a:blip r:embed="rId2" cstate="print"/>
          <a:srcRect/>
          <a:stretch>
            <a:fillRect/>
          </a:stretch>
        </p:blipFill>
        <p:spPr bwMode="auto">
          <a:xfrm>
            <a:off x="6283248" y="2706567"/>
            <a:ext cx="5105400" cy="3886200"/>
          </a:xfrm>
          <a:prstGeom prst="rect">
            <a:avLst/>
          </a:prstGeom>
          <a:noFill/>
          <a:ln w="9525">
            <a:noFill/>
            <a:miter lim="800000"/>
            <a:headEnd/>
            <a:tailEnd/>
          </a:ln>
          <a:effectLst/>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92581" y="3062287"/>
            <a:ext cx="2028825" cy="1876425"/>
          </a:xfrm>
          <a:prstGeom prst="rect">
            <a:avLst/>
          </a:prstGeom>
        </p:spPr>
      </p:pic>
    </p:spTree>
    <p:extLst>
      <p:ext uri="{BB962C8B-B14F-4D97-AF65-F5344CB8AC3E}">
        <p14:creationId xmlns:p14="http://schemas.microsoft.com/office/powerpoint/2010/main" val="2633963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8465" y="624110"/>
            <a:ext cx="9656147" cy="1280890"/>
          </a:xfrm>
        </p:spPr>
        <p:txBody>
          <a:bodyPr/>
          <a:lstStyle/>
          <a:p>
            <a:r>
              <a:rPr lang="en-US" dirty="0">
                <a:latin typeface="Arial" panose="020B0604020202020204" pitchFamily="34" charset="0"/>
                <a:cs typeface="Arial" panose="020B0604020202020204" pitchFamily="34" charset="0"/>
              </a:rPr>
              <a:t>Static Power (Leakage Power)</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848465" y="1720645"/>
            <a:ext cx="9656147" cy="4190577"/>
          </a:xfrm>
        </p:spPr>
        <p:txBody>
          <a:bodyPr/>
          <a:lstStyle/>
          <a:p>
            <a:r>
              <a:rPr lang="en-US" dirty="0">
                <a:solidFill>
                  <a:srgbClr val="231F20"/>
                </a:solidFill>
                <a:latin typeface="ACaslon-Regular"/>
              </a:rPr>
              <a:t>Static power is consumed even when a chip is not switching. </a:t>
            </a:r>
          </a:p>
          <a:p>
            <a:r>
              <a:rPr lang="en-US" dirty="0">
                <a:latin typeface="Arial" panose="020B0604020202020204" pitchFamily="34" charset="0"/>
                <a:cs typeface="Arial" panose="020B0604020202020204" pitchFamily="34" charset="0"/>
              </a:rPr>
              <a:t>Prior to the 90 nm node, leakage power was of concern primarily during sleep mode because it was negligible compared to dynamic power. </a:t>
            </a:r>
          </a:p>
          <a:p>
            <a:r>
              <a:rPr lang="en-US" dirty="0">
                <a:latin typeface="Arial" panose="020B0604020202020204" pitchFamily="34" charset="0"/>
                <a:cs typeface="Arial" panose="020B0604020202020204" pitchFamily="34" charset="0"/>
              </a:rPr>
              <a:t>In nanometer processes with low threshold voltages and thin gate oxides, leakage can account for as much as a third of total </a:t>
            </a:r>
            <a:r>
              <a:rPr lang="en-IN" dirty="0">
                <a:latin typeface="Arial" panose="020B0604020202020204" pitchFamily="34" charset="0"/>
                <a:cs typeface="Arial" panose="020B0604020202020204" pitchFamily="34" charset="0"/>
              </a:rPr>
              <a:t>active power.</a:t>
            </a:r>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537326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8A12-2BB4-427E-8302-66CF4DE936C1}"/>
              </a:ext>
            </a:extLst>
          </p:cNvPr>
          <p:cNvSpPr>
            <a:spLocks noGrp="1"/>
          </p:cNvSpPr>
          <p:nvPr>
            <p:ph type="title"/>
          </p:nvPr>
        </p:nvSpPr>
        <p:spPr>
          <a:xfrm>
            <a:off x="1917291" y="624110"/>
            <a:ext cx="958732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Why Leakage Power is Important</a:t>
            </a:r>
            <a:endParaRPr lang="en-IN" dirty="0"/>
          </a:p>
        </p:txBody>
      </p:sp>
      <p:sp>
        <p:nvSpPr>
          <p:cNvPr id="3" name="Content Placeholder 2">
            <a:extLst>
              <a:ext uri="{FF2B5EF4-FFF2-40B4-BE49-F238E27FC236}">
                <a16:creationId xmlns:a16="http://schemas.microsoft.com/office/drawing/2014/main" id="{8ABAE980-4D0B-4E29-A6A3-67755F87CCB3}"/>
              </a:ext>
            </a:extLst>
          </p:cNvPr>
          <p:cNvSpPr>
            <a:spLocks noGrp="1"/>
          </p:cNvSpPr>
          <p:nvPr>
            <p:ph idx="1"/>
          </p:nvPr>
        </p:nvSpPr>
        <p:spPr>
          <a:xfrm>
            <a:off x="1779639" y="1681316"/>
            <a:ext cx="9724973" cy="4454492"/>
          </a:xfrm>
        </p:spPr>
        <p:txBody>
          <a:bodyPr/>
          <a:lstStyle/>
          <a:p>
            <a:pPr lvl="0" defTabSz="914400" fontAlgn="base">
              <a:spcBef>
                <a:spcPct val="20000"/>
              </a:spcBef>
              <a:spcAft>
                <a:spcPct val="0"/>
              </a:spcAft>
              <a:buClr>
                <a:srgbClr val="CCCC99"/>
              </a:buClr>
              <a:buSzPct val="70000"/>
              <a:buFont typeface="Wingdings" pitchFamily="2" charset="2"/>
              <a:buChar char="l"/>
            </a:pPr>
            <a:r>
              <a:rPr lang="en-US" sz="2000" kern="0" dirty="0">
                <a:solidFill>
                  <a:srgbClr val="000000"/>
                </a:solidFill>
                <a:latin typeface="Arial"/>
              </a:rPr>
              <a:t>Leakage power increases at a faster rate than dynamic power in technology generation .</a:t>
            </a:r>
          </a:p>
          <a:p>
            <a:pPr lvl="0" defTabSz="914400" fontAlgn="base">
              <a:spcBef>
                <a:spcPct val="20000"/>
              </a:spcBef>
              <a:spcAft>
                <a:spcPct val="0"/>
              </a:spcAft>
              <a:buClr>
                <a:srgbClr val="CCCC99"/>
              </a:buClr>
              <a:buSzPct val="70000"/>
              <a:buFont typeface="Wingdings" pitchFamily="2" charset="2"/>
              <a:buChar char="l"/>
            </a:pPr>
            <a:r>
              <a:rPr lang="en-US" sz="2000" kern="0" dirty="0">
                <a:solidFill>
                  <a:srgbClr val="000000"/>
                </a:solidFill>
                <a:latin typeface="Arial"/>
              </a:rPr>
              <a:t>Leakage power is become a major component  of total power dissipation </a:t>
            </a:r>
          </a:p>
          <a:p>
            <a:pPr lvl="0" defTabSz="914400" fontAlgn="base">
              <a:spcBef>
                <a:spcPct val="20000"/>
              </a:spcBef>
              <a:spcAft>
                <a:spcPct val="0"/>
              </a:spcAft>
              <a:buClr>
                <a:srgbClr val="CCCC99"/>
              </a:buClr>
              <a:buSzPct val="70000"/>
              <a:buFont typeface="Wingdings" pitchFamily="2" charset="2"/>
              <a:buChar char="l"/>
            </a:pPr>
            <a:r>
              <a:rPr lang="en-US" sz="2000" kern="0" dirty="0">
                <a:solidFill>
                  <a:srgbClr val="000000"/>
                </a:solidFill>
                <a:latin typeface="Arial"/>
              </a:rPr>
              <a:t>So there is need a methodology to reduce leakage power </a:t>
            </a:r>
          </a:p>
          <a:p>
            <a:endParaRPr lang="en-IN" dirty="0"/>
          </a:p>
        </p:txBody>
      </p:sp>
      <p:sp>
        <p:nvSpPr>
          <p:cNvPr id="4" name="Footer Placeholder 3">
            <a:extLst>
              <a:ext uri="{FF2B5EF4-FFF2-40B4-BE49-F238E27FC236}">
                <a16:creationId xmlns:a16="http://schemas.microsoft.com/office/drawing/2014/main" id="{777897EE-A503-4E6A-BC42-01437F1EC97D}"/>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1" descr="C:\Users\Rohit\Desktop\power\ibm_fig2.gif"/>
          <p:cNvPicPr>
            <a:picLocks noChangeAspect="1" noChangeArrowheads="1"/>
          </p:cNvPicPr>
          <p:nvPr/>
        </p:nvPicPr>
        <p:blipFill>
          <a:blip r:embed="rId2" cstate="print"/>
          <a:srcRect/>
          <a:stretch>
            <a:fillRect/>
          </a:stretch>
        </p:blipFill>
        <p:spPr bwMode="auto">
          <a:xfrm>
            <a:off x="4896464" y="3394775"/>
            <a:ext cx="6312309" cy="2923596"/>
          </a:xfrm>
          <a:prstGeom prst="rect">
            <a:avLst/>
          </a:prstGeom>
          <a:noFill/>
        </p:spPr>
      </p:pic>
    </p:spTree>
    <p:extLst>
      <p:ext uri="{BB962C8B-B14F-4D97-AF65-F5344CB8AC3E}">
        <p14:creationId xmlns:p14="http://schemas.microsoft.com/office/powerpoint/2010/main" val="30506622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8A12-2BB4-427E-8302-66CF4DE936C1}"/>
              </a:ext>
            </a:extLst>
          </p:cNvPr>
          <p:cNvSpPr>
            <a:spLocks noGrp="1"/>
          </p:cNvSpPr>
          <p:nvPr>
            <p:ph type="title"/>
          </p:nvPr>
        </p:nvSpPr>
        <p:spPr>
          <a:xfrm>
            <a:off x="1917291" y="624110"/>
            <a:ext cx="958732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Continue…..</a:t>
            </a:r>
            <a:endParaRPr lang="en-IN" dirty="0"/>
          </a:p>
        </p:txBody>
      </p:sp>
      <p:sp>
        <p:nvSpPr>
          <p:cNvPr id="3" name="Content Placeholder 2">
            <a:extLst>
              <a:ext uri="{FF2B5EF4-FFF2-40B4-BE49-F238E27FC236}">
                <a16:creationId xmlns:a16="http://schemas.microsoft.com/office/drawing/2014/main" id="{8ABAE980-4D0B-4E29-A6A3-67755F87CCB3}"/>
              </a:ext>
            </a:extLst>
          </p:cNvPr>
          <p:cNvSpPr>
            <a:spLocks noGrp="1"/>
          </p:cNvSpPr>
          <p:nvPr>
            <p:ph idx="1"/>
          </p:nvPr>
        </p:nvSpPr>
        <p:spPr>
          <a:xfrm>
            <a:off x="1779639" y="1681316"/>
            <a:ext cx="9724973" cy="4454492"/>
          </a:xfrm>
        </p:spPr>
        <p:txBody>
          <a:bodyPr/>
          <a:lstStyle/>
          <a:p>
            <a:pPr lvl="0" defTabSz="914400" fontAlgn="base">
              <a:spcBef>
                <a:spcPct val="20000"/>
              </a:spcBef>
              <a:spcAft>
                <a:spcPct val="0"/>
              </a:spcAft>
              <a:buClr>
                <a:srgbClr val="CCCC99"/>
              </a:buClr>
              <a:buSzPct val="70000"/>
              <a:buFont typeface="Wingdings" pitchFamily="2" charset="2"/>
              <a:buChar char="l"/>
            </a:pPr>
            <a:r>
              <a:rPr lang="en-US" sz="2000" kern="0" dirty="0">
                <a:solidFill>
                  <a:srgbClr val="FF0000"/>
                </a:solidFill>
                <a:latin typeface="Arial"/>
              </a:rPr>
              <a:t>Power Density </a:t>
            </a:r>
          </a:p>
          <a:p>
            <a:endParaRPr lang="en-IN" dirty="0"/>
          </a:p>
        </p:txBody>
      </p:sp>
      <p:sp>
        <p:nvSpPr>
          <p:cNvPr id="4" name="Footer Placeholder 3">
            <a:extLst>
              <a:ext uri="{FF2B5EF4-FFF2-40B4-BE49-F238E27FC236}">
                <a16:creationId xmlns:a16="http://schemas.microsoft.com/office/drawing/2014/main" id="{777897EE-A503-4E6A-BC42-01437F1EC97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6" name="Picture 2"/>
          <p:cNvPicPr>
            <a:picLocks noChangeAspect="1" noChangeArrowheads="1"/>
          </p:cNvPicPr>
          <p:nvPr/>
        </p:nvPicPr>
        <p:blipFill>
          <a:blip r:embed="rId2" cstate="print"/>
          <a:srcRect/>
          <a:stretch>
            <a:fillRect/>
          </a:stretch>
        </p:blipFill>
        <p:spPr bwMode="auto">
          <a:xfrm>
            <a:off x="4655574" y="1927362"/>
            <a:ext cx="5638800" cy="3962400"/>
          </a:xfrm>
          <a:prstGeom prst="rect">
            <a:avLst/>
          </a:prstGeom>
          <a:noFill/>
          <a:ln w="9525">
            <a:noFill/>
            <a:miter lim="800000"/>
            <a:headEnd/>
            <a:tailEnd/>
          </a:ln>
          <a:effectLst/>
        </p:spPr>
      </p:pic>
    </p:spTree>
    <p:extLst>
      <p:ext uri="{BB962C8B-B14F-4D97-AF65-F5344CB8AC3E}">
        <p14:creationId xmlns:p14="http://schemas.microsoft.com/office/powerpoint/2010/main" val="2795721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8A12-2BB4-427E-8302-66CF4DE936C1}"/>
              </a:ext>
            </a:extLst>
          </p:cNvPr>
          <p:cNvSpPr>
            <a:spLocks noGrp="1"/>
          </p:cNvSpPr>
          <p:nvPr>
            <p:ph type="title"/>
          </p:nvPr>
        </p:nvSpPr>
        <p:spPr>
          <a:xfrm>
            <a:off x="1917291" y="624110"/>
            <a:ext cx="9587322" cy="1280890"/>
          </a:xfrm>
        </p:spPr>
        <p:txBody>
          <a:bodyPr>
            <a:normAutofit/>
          </a:bodyPr>
          <a:lstStyle/>
          <a:p>
            <a:r>
              <a:rPr lang="en-US" sz="3400" dirty="0">
                <a:solidFill>
                  <a:prstClr val="black">
                    <a:lumMod val="85000"/>
                    <a:lumOff val="15000"/>
                  </a:prstClr>
                </a:solidFill>
                <a:latin typeface="Arial" panose="020B0604020202020204" pitchFamily="34" charset="0"/>
                <a:cs typeface="Arial" panose="020B0604020202020204" pitchFamily="34" charset="0"/>
              </a:rPr>
              <a:t>Impact of Process Variation on Leakage and Performance </a:t>
            </a:r>
            <a:endParaRPr lang="en-IN" sz="3400" dirty="0"/>
          </a:p>
        </p:txBody>
      </p:sp>
      <p:sp>
        <p:nvSpPr>
          <p:cNvPr id="3" name="Content Placeholder 2">
            <a:extLst>
              <a:ext uri="{FF2B5EF4-FFF2-40B4-BE49-F238E27FC236}">
                <a16:creationId xmlns:a16="http://schemas.microsoft.com/office/drawing/2014/main" id="{8ABAE980-4D0B-4E29-A6A3-67755F87CCB3}"/>
              </a:ext>
            </a:extLst>
          </p:cNvPr>
          <p:cNvSpPr>
            <a:spLocks noGrp="1"/>
          </p:cNvSpPr>
          <p:nvPr>
            <p:ph idx="1"/>
          </p:nvPr>
        </p:nvSpPr>
        <p:spPr>
          <a:xfrm>
            <a:off x="1779639" y="1769806"/>
            <a:ext cx="9724973" cy="4366002"/>
          </a:xfrm>
        </p:spPr>
        <p:txBody>
          <a:bodyPr>
            <a:normAutofit lnSpcReduction="10000"/>
          </a:bodyPr>
          <a:lstStyle/>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30% delay variation and 20X leakage variation between fast and slow dies reported for 0.18</a:t>
            </a:r>
            <a:r>
              <a:rPr lang="el-GR" dirty="0">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m CMOS process.</a:t>
            </a:r>
          </a:p>
          <a:p>
            <a:r>
              <a:rPr lang="en-US" dirty="0">
                <a:latin typeface="Arial" panose="020B0604020202020204" pitchFamily="34" charset="0"/>
                <a:cs typeface="Arial" panose="020B0604020202020204" pitchFamily="34" charset="0"/>
              </a:rPr>
              <a:t>Low leakage chips with too low frequency must be discarded</a:t>
            </a:r>
          </a:p>
          <a:p>
            <a:r>
              <a:rPr lang="en-US" dirty="0">
                <a:latin typeface="Arial" panose="020B0604020202020204" pitchFamily="34" charset="0"/>
                <a:cs typeface="Arial" panose="020B0604020202020204" pitchFamily="34" charset="0"/>
              </a:rPr>
              <a:t>High frequency chips with too high leakage must be discarded</a:t>
            </a:r>
          </a:p>
          <a:p>
            <a:endParaRPr lang="en-IN" dirty="0">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777897EE-A503-4E6A-BC42-01437F1EC97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7" name="Picture 2"/>
          <p:cNvPicPr>
            <a:picLocks noChangeAspect="1" noChangeArrowheads="1"/>
          </p:cNvPicPr>
          <p:nvPr/>
        </p:nvPicPr>
        <p:blipFill>
          <a:blip r:embed="rId2" cstate="print"/>
          <a:srcRect/>
          <a:stretch>
            <a:fillRect/>
          </a:stretch>
        </p:blipFill>
        <p:spPr bwMode="auto">
          <a:xfrm>
            <a:off x="2367116" y="1905000"/>
            <a:ext cx="7086600" cy="2819400"/>
          </a:xfrm>
          <a:prstGeom prst="rect">
            <a:avLst/>
          </a:prstGeom>
          <a:noFill/>
          <a:ln w="9525">
            <a:noFill/>
            <a:miter lim="800000"/>
            <a:headEnd/>
            <a:tailEnd/>
          </a:ln>
          <a:effectLst/>
        </p:spPr>
      </p:pic>
    </p:spTree>
    <p:extLst>
      <p:ext uri="{BB962C8B-B14F-4D97-AF65-F5344CB8AC3E}">
        <p14:creationId xmlns:p14="http://schemas.microsoft.com/office/powerpoint/2010/main" val="4157255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8A12-2BB4-427E-8302-66CF4DE936C1}"/>
              </a:ext>
            </a:extLst>
          </p:cNvPr>
          <p:cNvSpPr>
            <a:spLocks noGrp="1"/>
          </p:cNvSpPr>
          <p:nvPr>
            <p:ph type="title"/>
          </p:nvPr>
        </p:nvSpPr>
        <p:spPr>
          <a:xfrm>
            <a:off x="1917291" y="624110"/>
            <a:ext cx="958732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Power Dissipation at different levels</a:t>
            </a:r>
            <a:endParaRPr lang="en-IN" dirty="0"/>
          </a:p>
        </p:txBody>
      </p:sp>
      <p:sp>
        <p:nvSpPr>
          <p:cNvPr id="3" name="Content Placeholder 2">
            <a:extLst>
              <a:ext uri="{FF2B5EF4-FFF2-40B4-BE49-F238E27FC236}">
                <a16:creationId xmlns:a16="http://schemas.microsoft.com/office/drawing/2014/main" id="{8ABAE980-4D0B-4E29-A6A3-67755F87CCB3}"/>
              </a:ext>
            </a:extLst>
          </p:cNvPr>
          <p:cNvSpPr>
            <a:spLocks noGrp="1"/>
          </p:cNvSpPr>
          <p:nvPr>
            <p:ph idx="1"/>
          </p:nvPr>
        </p:nvSpPr>
        <p:spPr>
          <a:xfrm>
            <a:off x="1779639" y="1681316"/>
            <a:ext cx="9724973" cy="4454492"/>
          </a:xfrm>
        </p:spPr>
        <p:txBody>
          <a:bodyPr/>
          <a:lstStyle/>
          <a:p>
            <a:pPr lvl="0" algn="just" defTabSz="914400" fontAlgn="base">
              <a:spcBef>
                <a:spcPct val="20000"/>
              </a:spcBef>
              <a:spcAft>
                <a:spcPct val="0"/>
              </a:spcAft>
              <a:buClr>
                <a:srgbClr val="CCCC99"/>
              </a:buClr>
              <a:buSzPct val="70000"/>
              <a:buFont typeface="Wingdings" pitchFamily="2" charset="2"/>
              <a:buChar char="l"/>
            </a:pPr>
            <a:r>
              <a:rPr lang="en-US" sz="2000" kern="0" dirty="0">
                <a:solidFill>
                  <a:srgbClr val="000000"/>
                </a:solidFill>
                <a:latin typeface="Arial"/>
              </a:rPr>
              <a:t>Power optimization approaches at the high level are significant since research results indicate that higher level of abstraction have greater potential  for power reduction</a:t>
            </a:r>
          </a:p>
          <a:p>
            <a:endParaRPr lang="en-IN" dirty="0"/>
          </a:p>
        </p:txBody>
      </p:sp>
      <p:sp>
        <p:nvSpPr>
          <p:cNvPr id="4" name="Footer Placeholder 3">
            <a:extLst>
              <a:ext uri="{FF2B5EF4-FFF2-40B4-BE49-F238E27FC236}">
                <a16:creationId xmlns:a16="http://schemas.microsoft.com/office/drawing/2014/main" id="{777897EE-A503-4E6A-BC42-01437F1EC97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7" name="Picture 2"/>
          <p:cNvPicPr>
            <a:picLocks noChangeAspect="1" noChangeArrowheads="1"/>
          </p:cNvPicPr>
          <p:nvPr/>
        </p:nvPicPr>
        <p:blipFill>
          <a:blip r:embed="rId2" cstate="print"/>
          <a:srcRect/>
          <a:stretch>
            <a:fillRect/>
          </a:stretch>
        </p:blipFill>
        <p:spPr bwMode="auto">
          <a:xfrm>
            <a:off x="3406878" y="2686665"/>
            <a:ext cx="6172200" cy="2971800"/>
          </a:xfrm>
          <a:prstGeom prst="rect">
            <a:avLst/>
          </a:prstGeom>
          <a:noFill/>
          <a:ln w="9525">
            <a:noFill/>
            <a:miter lim="800000"/>
            <a:headEnd/>
            <a:tailEnd/>
          </a:ln>
          <a:effectLst/>
        </p:spPr>
      </p:pic>
    </p:spTree>
    <p:extLst>
      <p:ext uri="{BB962C8B-B14F-4D97-AF65-F5344CB8AC3E}">
        <p14:creationId xmlns:p14="http://schemas.microsoft.com/office/powerpoint/2010/main" val="12582776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8A12-2BB4-427E-8302-66CF4DE936C1}"/>
              </a:ext>
            </a:extLst>
          </p:cNvPr>
          <p:cNvSpPr>
            <a:spLocks noGrp="1"/>
          </p:cNvSpPr>
          <p:nvPr>
            <p:ph type="title"/>
          </p:nvPr>
        </p:nvSpPr>
        <p:spPr>
          <a:xfrm>
            <a:off x="1917291" y="624110"/>
            <a:ext cx="958732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Components of Leakage Power</a:t>
            </a:r>
            <a:endParaRPr lang="en-IN" dirty="0"/>
          </a:p>
        </p:txBody>
      </p:sp>
      <p:sp>
        <p:nvSpPr>
          <p:cNvPr id="3" name="Content Placeholder 2">
            <a:extLst>
              <a:ext uri="{FF2B5EF4-FFF2-40B4-BE49-F238E27FC236}">
                <a16:creationId xmlns:a16="http://schemas.microsoft.com/office/drawing/2014/main" id="{8ABAE980-4D0B-4E29-A6A3-67755F87CCB3}"/>
              </a:ext>
            </a:extLst>
          </p:cNvPr>
          <p:cNvSpPr>
            <a:spLocks noGrp="1"/>
          </p:cNvSpPr>
          <p:nvPr>
            <p:ph idx="1"/>
          </p:nvPr>
        </p:nvSpPr>
        <p:spPr>
          <a:xfrm>
            <a:off x="1396181" y="1651819"/>
            <a:ext cx="10108431" cy="4483989"/>
          </a:xfrm>
        </p:spPr>
        <p:txBody>
          <a:bodyPr>
            <a:normAutofit lnSpcReduction="10000"/>
          </a:bodyPr>
          <a:lstStyle/>
          <a:p>
            <a:pPr lvl="0"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I</a:t>
            </a:r>
            <a:r>
              <a:rPr lang="en-US" kern="0" baseline="-25000" dirty="0">
                <a:solidFill>
                  <a:srgbClr val="000000"/>
                </a:solidFill>
                <a:latin typeface="Arial"/>
              </a:rPr>
              <a:t>1</a:t>
            </a:r>
            <a:r>
              <a:rPr lang="en-US" kern="0" dirty="0">
                <a:solidFill>
                  <a:srgbClr val="000000"/>
                </a:solidFill>
                <a:latin typeface="Arial"/>
              </a:rPr>
              <a:t>= Reverse diode leakage </a:t>
            </a:r>
          </a:p>
          <a:p>
            <a:pPr lvl="0"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I</a:t>
            </a:r>
            <a:r>
              <a:rPr lang="en-US" kern="0" baseline="-25000" dirty="0">
                <a:solidFill>
                  <a:srgbClr val="000000"/>
                </a:solidFill>
                <a:latin typeface="Arial"/>
              </a:rPr>
              <a:t>2</a:t>
            </a:r>
            <a:r>
              <a:rPr lang="en-US" kern="0" dirty="0">
                <a:solidFill>
                  <a:srgbClr val="000000"/>
                </a:solidFill>
                <a:latin typeface="Arial"/>
              </a:rPr>
              <a:t>= Sub threshold leakage </a:t>
            </a:r>
          </a:p>
          <a:p>
            <a:pPr lvl="0"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I</a:t>
            </a:r>
            <a:r>
              <a:rPr lang="en-US" kern="0" baseline="-25000" dirty="0">
                <a:solidFill>
                  <a:srgbClr val="000000"/>
                </a:solidFill>
                <a:latin typeface="Arial"/>
              </a:rPr>
              <a:t>3</a:t>
            </a:r>
            <a:r>
              <a:rPr lang="en-US" kern="0" dirty="0">
                <a:solidFill>
                  <a:srgbClr val="000000"/>
                </a:solidFill>
                <a:latin typeface="Arial"/>
              </a:rPr>
              <a:t>= Drain Induced barrier lowering</a:t>
            </a:r>
          </a:p>
          <a:p>
            <a:pPr lvl="0"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I</a:t>
            </a:r>
            <a:r>
              <a:rPr lang="en-US" kern="0" baseline="-25000" dirty="0">
                <a:solidFill>
                  <a:srgbClr val="000000"/>
                </a:solidFill>
                <a:latin typeface="Arial"/>
              </a:rPr>
              <a:t>4</a:t>
            </a:r>
            <a:r>
              <a:rPr lang="en-US" kern="0" dirty="0">
                <a:solidFill>
                  <a:srgbClr val="000000"/>
                </a:solidFill>
                <a:latin typeface="Arial"/>
              </a:rPr>
              <a:t>= Gate Induced drain leakage</a:t>
            </a:r>
          </a:p>
          <a:p>
            <a:pPr lvl="0"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I</a:t>
            </a:r>
            <a:r>
              <a:rPr lang="en-US" kern="0" baseline="-25000" dirty="0">
                <a:solidFill>
                  <a:srgbClr val="000000"/>
                </a:solidFill>
                <a:latin typeface="Arial"/>
              </a:rPr>
              <a:t>5</a:t>
            </a:r>
            <a:r>
              <a:rPr lang="en-US" kern="0" dirty="0">
                <a:solidFill>
                  <a:srgbClr val="000000"/>
                </a:solidFill>
                <a:latin typeface="Arial"/>
              </a:rPr>
              <a:t>= Channel punch through</a:t>
            </a:r>
          </a:p>
          <a:p>
            <a:pPr lvl="0"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I</a:t>
            </a:r>
            <a:r>
              <a:rPr lang="en-US" kern="0" baseline="-25000" dirty="0">
                <a:solidFill>
                  <a:srgbClr val="000000"/>
                </a:solidFill>
                <a:latin typeface="Arial"/>
              </a:rPr>
              <a:t>6</a:t>
            </a:r>
            <a:r>
              <a:rPr lang="en-US" kern="0" dirty="0">
                <a:solidFill>
                  <a:srgbClr val="000000"/>
                </a:solidFill>
                <a:latin typeface="Arial"/>
              </a:rPr>
              <a:t>= Narrow Channel effect</a:t>
            </a:r>
          </a:p>
          <a:p>
            <a:pPr lvl="0"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I</a:t>
            </a:r>
            <a:r>
              <a:rPr lang="en-US" kern="0" baseline="-25000" dirty="0">
                <a:solidFill>
                  <a:srgbClr val="000000"/>
                </a:solidFill>
                <a:latin typeface="Arial"/>
              </a:rPr>
              <a:t>7</a:t>
            </a:r>
            <a:r>
              <a:rPr lang="en-US" kern="0" dirty="0">
                <a:solidFill>
                  <a:srgbClr val="000000"/>
                </a:solidFill>
                <a:latin typeface="Arial"/>
              </a:rPr>
              <a:t>= Gate oxide tunneling</a:t>
            </a:r>
          </a:p>
          <a:p>
            <a:pPr lvl="0"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I</a:t>
            </a:r>
            <a:r>
              <a:rPr lang="en-US" kern="0" baseline="-25000" dirty="0">
                <a:solidFill>
                  <a:srgbClr val="000000"/>
                </a:solidFill>
                <a:latin typeface="Arial"/>
              </a:rPr>
              <a:t>8</a:t>
            </a:r>
            <a:r>
              <a:rPr lang="en-US" kern="0" dirty="0">
                <a:solidFill>
                  <a:srgbClr val="000000"/>
                </a:solidFill>
                <a:latin typeface="Arial"/>
              </a:rPr>
              <a:t>= Hot Carrier Injection</a:t>
            </a:r>
          </a:p>
          <a:p>
            <a:pPr lvl="0" defTabSz="914400" fontAlgn="base">
              <a:spcBef>
                <a:spcPct val="20000"/>
              </a:spcBef>
              <a:spcAft>
                <a:spcPct val="0"/>
              </a:spcAft>
              <a:buClr>
                <a:srgbClr val="CCCC99"/>
              </a:buClr>
              <a:buSzPct val="70000"/>
              <a:buFont typeface="Wingdings" pitchFamily="2" charset="2"/>
              <a:buChar char="l"/>
            </a:pPr>
            <a:endParaRPr lang="en-US" kern="0" dirty="0">
              <a:solidFill>
                <a:srgbClr val="000000"/>
              </a:solidFill>
              <a:latin typeface="Arial"/>
            </a:endParaRPr>
          </a:p>
          <a:p>
            <a:pPr lvl="0" algn="just" defTabSz="914400" fontAlgn="base">
              <a:spcBef>
                <a:spcPct val="20000"/>
              </a:spcBef>
              <a:spcAft>
                <a:spcPct val="0"/>
              </a:spcAft>
              <a:buClr>
                <a:srgbClr val="CCCC99"/>
              </a:buClr>
              <a:buSzPct val="70000"/>
              <a:buNone/>
            </a:pPr>
            <a:endParaRPr lang="en-US" kern="0" dirty="0">
              <a:solidFill>
                <a:srgbClr val="000000"/>
              </a:solidFill>
              <a:latin typeface="Arial"/>
            </a:endParaRPr>
          </a:p>
          <a:p>
            <a:pPr lvl="0" algn="just" defTabSz="914400" fontAlgn="base">
              <a:spcBef>
                <a:spcPct val="20000"/>
              </a:spcBef>
              <a:spcAft>
                <a:spcPct val="0"/>
              </a:spcAft>
              <a:buClr>
                <a:srgbClr val="CCCC99"/>
              </a:buClr>
              <a:buSzPct val="70000"/>
              <a:buNone/>
            </a:pPr>
            <a:r>
              <a:rPr lang="en-US" kern="0" dirty="0">
                <a:solidFill>
                  <a:srgbClr val="000000"/>
                </a:solidFill>
                <a:latin typeface="Arial"/>
              </a:rPr>
              <a:t>Among all sub threshold leakage current is the dominant  leakage current component</a:t>
            </a:r>
          </a:p>
          <a:p>
            <a:pPr lvl="0" defTabSz="914400" fontAlgn="base">
              <a:spcBef>
                <a:spcPct val="20000"/>
              </a:spcBef>
              <a:spcAft>
                <a:spcPct val="0"/>
              </a:spcAft>
              <a:buClr>
                <a:srgbClr val="CCCC99"/>
              </a:buClr>
              <a:buSzPct val="70000"/>
              <a:buNone/>
            </a:pPr>
            <a:endParaRPr lang="en-US" sz="1600" kern="0" dirty="0">
              <a:solidFill>
                <a:srgbClr val="FF0000"/>
              </a:solidFill>
              <a:latin typeface="Arial"/>
            </a:endParaRPr>
          </a:p>
          <a:p>
            <a:pPr marL="0" lvl="0" indent="0" defTabSz="914400" fontAlgn="base">
              <a:spcBef>
                <a:spcPts val="0"/>
              </a:spcBef>
              <a:spcAft>
                <a:spcPct val="0"/>
              </a:spcAft>
              <a:buClr>
                <a:srgbClr val="CCCC99"/>
              </a:buClr>
              <a:buSzPct val="70000"/>
              <a:buNone/>
            </a:pPr>
            <a:r>
              <a:rPr lang="en-US" sz="1600" kern="0" dirty="0">
                <a:solidFill>
                  <a:srgbClr val="FF0000"/>
                </a:solidFill>
                <a:latin typeface="Arial"/>
              </a:rPr>
              <a:t>“</a:t>
            </a:r>
            <a:r>
              <a:rPr lang="en-US" sz="1600" kern="0" dirty="0" err="1">
                <a:solidFill>
                  <a:srgbClr val="FF0000"/>
                </a:solidFill>
                <a:latin typeface="Arial"/>
              </a:rPr>
              <a:t>K.Roy</a:t>
            </a:r>
            <a:r>
              <a:rPr lang="en-US" sz="1600" kern="0" dirty="0">
                <a:solidFill>
                  <a:srgbClr val="FF0000"/>
                </a:solidFill>
                <a:latin typeface="Arial"/>
              </a:rPr>
              <a:t> , </a:t>
            </a:r>
            <a:r>
              <a:rPr lang="en-US" sz="1600" kern="0" dirty="0" err="1">
                <a:solidFill>
                  <a:srgbClr val="FF0000"/>
                </a:solidFill>
                <a:latin typeface="Arial"/>
              </a:rPr>
              <a:t>S.mukhopadhyay</a:t>
            </a:r>
            <a:r>
              <a:rPr lang="en-US" sz="1600" kern="0" dirty="0">
                <a:solidFill>
                  <a:srgbClr val="FF0000"/>
                </a:solidFill>
                <a:latin typeface="Arial"/>
              </a:rPr>
              <a:t> and </a:t>
            </a:r>
            <a:r>
              <a:rPr lang="en-US" sz="1600" kern="0" dirty="0" err="1">
                <a:solidFill>
                  <a:srgbClr val="FF0000"/>
                </a:solidFill>
                <a:latin typeface="Arial"/>
              </a:rPr>
              <a:t>H.heimand</a:t>
            </a:r>
            <a:r>
              <a:rPr lang="en-US" sz="1600" kern="0" dirty="0">
                <a:solidFill>
                  <a:srgbClr val="FF0000"/>
                </a:solidFill>
                <a:latin typeface="Arial"/>
              </a:rPr>
              <a:t> ‘leakage current mechanism of deep-submicron CMOS circuits ,</a:t>
            </a:r>
            <a:r>
              <a:rPr lang="en-US" sz="1600" i="1" kern="0" dirty="0" err="1">
                <a:solidFill>
                  <a:srgbClr val="FF0000"/>
                </a:solidFill>
                <a:latin typeface="Arial"/>
              </a:rPr>
              <a:t>proc</a:t>
            </a:r>
            <a:r>
              <a:rPr lang="en-US" sz="1600" i="1" kern="0" dirty="0">
                <a:solidFill>
                  <a:srgbClr val="FF0000"/>
                </a:solidFill>
                <a:latin typeface="Arial"/>
              </a:rPr>
              <a:t> </a:t>
            </a:r>
            <a:r>
              <a:rPr lang="en-US" sz="1600" kern="0" dirty="0">
                <a:solidFill>
                  <a:srgbClr val="FF0000"/>
                </a:solidFill>
                <a:latin typeface="Arial"/>
              </a:rPr>
              <a:t>IEEE , </a:t>
            </a:r>
            <a:r>
              <a:rPr lang="en-US" sz="1600" kern="0" dirty="0" err="1">
                <a:solidFill>
                  <a:srgbClr val="FF0000"/>
                </a:solidFill>
                <a:latin typeface="Arial"/>
              </a:rPr>
              <a:t>vol</a:t>
            </a:r>
            <a:r>
              <a:rPr lang="en-US" sz="1600" kern="0" dirty="0">
                <a:solidFill>
                  <a:srgbClr val="FF0000"/>
                </a:solidFill>
                <a:latin typeface="Arial"/>
              </a:rPr>
              <a:t> 91 ,No.2 ,pp-305-327 , </a:t>
            </a:r>
            <a:r>
              <a:rPr lang="en-US" sz="1600" kern="0" dirty="0" err="1">
                <a:solidFill>
                  <a:srgbClr val="FF0000"/>
                </a:solidFill>
                <a:latin typeface="Arial"/>
              </a:rPr>
              <a:t>feb</a:t>
            </a:r>
            <a:r>
              <a:rPr lang="en-US" sz="1600" kern="0" dirty="0">
                <a:solidFill>
                  <a:srgbClr val="FF0000"/>
                </a:solidFill>
                <a:latin typeface="Arial"/>
              </a:rPr>
              <a:t> 01 , 2003</a:t>
            </a:r>
            <a:r>
              <a:rPr lang="en-US" sz="3100" kern="0" dirty="0">
                <a:solidFill>
                  <a:srgbClr val="FF0000"/>
                </a:solidFill>
                <a:latin typeface="Arial"/>
              </a:rPr>
              <a:t>”</a:t>
            </a:r>
          </a:p>
          <a:p>
            <a:endParaRPr lang="en-IN" dirty="0"/>
          </a:p>
        </p:txBody>
      </p:sp>
      <p:sp>
        <p:nvSpPr>
          <p:cNvPr id="4" name="Footer Placeholder 3">
            <a:extLst>
              <a:ext uri="{FF2B5EF4-FFF2-40B4-BE49-F238E27FC236}">
                <a16:creationId xmlns:a16="http://schemas.microsoft.com/office/drawing/2014/main" id="{777897EE-A503-4E6A-BC42-01437F1EC97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graphicFrame>
        <p:nvGraphicFramePr>
          <p:cNvPr id="7" name="Object 2"/>
          <p:cNvGraphicFramePr>
            <a:graphicFrameLocks noChangeAspect="1"/>
          </p:cNvGraphicFramePr>
          <p:nvPr>
            <p:extLst>
              <p:ext uri="{D42A27DB-BD31-4B8C-83A1-F6EECF244321}">
                <p14:modId xmlns:p14="http://schemas.microsoft.com/office/powerpoint/2010/main" val="2905606009"/>
              </p:ext>
            </p:extLst>
          </p:nvPr>
        </p:nvGraphicFramePr>
        <p:xfrm>
          <a:off x="6710952" y="1651819"/>
          <a:ext cx="4572000" cy="2895600"/>
        </p:xfrm>
        <a:graphic>
          <a:graphicData uri="http://schemas.openxmlformats.org/presentationml/2006/ole">
            <mc:AlternateContent xmlns:mc="http://schemas.openxmlformats.org/markup-compatibility/2006">
              <mc:Choice xmlns:v="urn:schemas-microsoft-com:vml" Requires="v">
                <p:oleObj spid="_x0000_s1036" name="Visio" r:id="rId3" imgW="7346811" imgH="5340096" progId="Visio.Drawing.11">
                  <p:embed/>
                </p:oleObj>
              </mc:Choice>
              <mc:Fallback>
                <p:oleObj name="Visio" r:id="rId3" imgW="7346811" imgH="5340096" progId="Visio.Drawing.11">
                  <p:embed/>
                  <p:pic>
                    <p:nvPicPr>
                      <p:cNvPr id="0"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0952" y="1651819"/>
                        <a:ext cx="4572000" cy="289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728106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8A12-2BB4-427E-8302-66CF4DE936C1}"/>
              </a:ext>
            </a:extLst>
          </p:cNvPr>
          <p:cNvSpPr>
            <a:spLocks noGrp="1"/>
          </p:cNvSpPr>
          <p:nvPr>
            <p:ph type="title"/>
          </p:nvPr>
        </p:nvSpPr>
        <p:spPr>
          <a:xfrm>
            <a:off x="1917291" y="624110"/>
            <a:ext cx="958732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Reversed Biased Leakage </a:t>
            </a:r>
            <a:endParaRPr lang="en-IN" dirty="0"/>
          </a:p>
        </p:txBody>
      </p:sp>
      <p:sp>
        <p:nvSpPr>
          <p:cNvPr id="3" name="Content Placeholder 2">
            <a:extLst>
              <a:ext uri="{FF2B5EF4-FFF2-40B4-BE49-F238E27FC236}">
                <a16:creationId xmlns:a16="http://schemas.microsoft.com/office/drawing/2014/main" id="{8ABAE980-4D0B-4E29-A6A3-67755F87CCB3}"/>
              </a:ext>
            </a:extLst>
          </p:cNvPr>
          <p:cNvSpPr>
            <a:spLocks noGrp="1"/>
          </p:cNvSpPr>
          <p:nvPr>
            <p:ph idx="1"/>
          </p:nvPr>
        </p:nvSpPr>
        <p:spPr>
          <a:xfrm>
            <a:off x="1779639" y="1681316"/>
            <a:ext cx="9724973" cy="4454492"/>
          </a:xfrm>
        </p:spPr>
        <p:txBody>
          <a:bodyPr/>
          <a:lstStyle/>
          <a:p>
            <a:endParaRPr lang="en-IN" dirty="0"/>
          </a:p>
        </p:txBody>
      </p:sp>
      <p:sp>
        <p:nvSpPr>
          <p:cNvPr id="4" name="Footer Placeholder 3">
            <a:extLst>
              <a:ext uri="{FF2B5EF4-FFF2-40B4-BE49-F238E27FC236}">
                <a16:creationId xmlns:a16="http://schemas.microsoft.com/office/drawing/2014/main" id="{777897EE-A503-4E6A-BC42-01437F1EC97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6" name="Picture 2"/>
          <p:cNvPicPr>
            <a:picLocks noChangeAspect="1" noChangeArrowheads="1"/>
          </p:cNvPicPr>
          <p:nvPr/>
        </p:nvPicPr>
        <p:blipFill>
          <a:blip r:embed="rId2" cstate="print"/>
          <a:srcRect/>
          <a:stretch>
            <a:fillRect/>
          </a:stretch>
        </p:blipFill>
        <p:spPr bwMode="auto">
          <a:xfrm>
            <a:off x="2284411" y="1681316"/>
            <a:ext cx="7924800" cy="4343400"/>
          </a:xfrm>
          <a:prstGeom prst="rect">
            <a:avLst/>
          </a:prstGeom>
          <a:noFill/>
          <a:ln w="9525">
            <a:noFill/>
            <a:miter lim="800000"/>
            <a:headEnd/>
            <a:tailEnd/>
          </a:ln>
          <a:effectLst/>
        </p:spPr>
      </p:pic>
    </p:spTree>
    <p:extLst>
      <p:ext uri="{BB962C8B-B14F-4D97-AF65-F5344CB8AC3E}">
        <p14:creationId xmlns:p14="http://schemas.microsoft.com/office/powerpoint/2010/main" val="3640090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8A12-2BB4-427E-8302-66CF4DE936C1}"/>
              </a:ext>
            </a:extLst>
          </p:cNvPr>
          <p:cNvSpPr>
            <a:spLocks noGrp="1"/>
          </p:cNvSpPr>
          <p:nvPr>
            <p:ph type="title"/>
          </p:nvPr>
        </p:nvSpPr>
        <p:spPr>
          <a:xfrm>
            <a:off x="1917291" y="624110"/>
            <a:ext cx="958732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P-n Junction reverse biased Current</a:t>
            </a:r>
            <a:endParaRPr lang="en-IN" dirty="0"/>
          </a:p>
        </p:txBody>
      </p:sp>
      <p:sp>
        <p:nvSpPr>
          <p:cNvPr id="3" name="Content Placeholder 2">
            <a:extLst>
              <a:ext uri="{FF2B5EF4-FFF2-40B4-BE49-F238E27FC236}">
                <a16:creationId xmlns:a16="http://schemas.microsoft.com/office/drawing/2014/main" id="{8ABAE980-4D0B-4E29-A6A3-67755F87CCB3}"/>
              </a:ext>
            </a:extLst>
          </p:cNvPr>
          <p:cNvSpPr>
            <a:spLocks noGrp="1"/>
          </p:cNvSpPr>
          <p:nvPr>
            <p:ph idx="1"/>
          </p:nvPr>
        </p:nvSpPr>
        <p:spPr>
          <a:xfrm>
            <a:off x="1779639" y="1681316"/>
            <a:ext cx="9724973" cy="4454492"/>
          </a:xfrm>
        </p:spPr>
        <p:txBody>
          <a:bodyPr/>
          <a:lstStyle/>
          <a:p>
            <a:endParaRPr lang="en-IN" dirty="0"/>
          </a:p>
        </p:txBody>
      </p:sp>
      <p:sp>
        <p:nvSpPr>
          <p:cNvPr id="4" name="Footer Placeholder 3">
            <a:extLst>
              <a:ext uri="{FF2B5EF4-FFF2-40B4-BE49-F238E27FC236}">
                <a16:creationId xmlns:a16="http://schemas.microsoft.com/office/drawing/2014/main" id="{777897EE-A503-4E6A-BC42-01437F1EC97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7" name="Picture 2"/>
          <p:cNvPicPr>
            <a:picLocks noChangeAspect="1" noChangeArrowheads="1"/>
          </p:cNvPicPr>
          <p:nvPr/>
        </p:nvPicPr>
        <p:blipFill>
          <a:blip r:embed="rId2" cstate="print"/>
          <a:srcRect/>
          <a:stretch>
            <a:fillRect/>
          </a:stretch>
        </p:blipFill>
        <p:spPr bwMode="auto">
          <a:xfrm>
            <a:off x="2589212" y="1750142"/>
            <a:ext cx="7543800" cy="4096604"/>
          </a:xfrm>
          <a:prstGeom prst="rect">
            <a:avLst/>
          </a:prstGeom>
          <a:noFill/>
          <a:ln w="9525">
            <a:noFill/>
            <a:miter lim="800000"/>
            <a:headEnd/>
            <a:tailEnd/>
          </a:ln>
          <a:effectLst/>
        </p:spPr>
      </p:pic>
    </p:spTree>
    <p:extLst>
      <p:ext uri="{BB962C8B-B14F-4D97-AF65-F5344CB8AC3E}">
        <p14:creationId xmlns:p14="http://schemas.microsoft.com/office/powerpoint/2010/main" val="19168075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38A12-2BB4-427E-8302-66CF4DE936C1}"/>
              </a:ext>
            </a:extLst>
          </p:cNvPr>
          <p:cNvSpPr>
            <a:spLocks noGrp="1"/>
          </p:cNvSpPr>
          <p:nvPr>
            <p:ph type="title"/>
          </p:nvPr>
        </p:nvSpPr>
        <p:spPr>
          <a:xfrm>
            <a:off x="1917291" y="624110"/>
            <a:ext cx="9587322" cy="1280890"/>
          </a:xfrm>
        </p:spPr>
        <p:txBody>
          <a:bodyPr/>
          <a:lstStyle/>
          <a:p>
            <a:r>
              <a:rPr lang="en-US" dirty="0">
                <a:solidFill>
                  <a:prstClr val="black">
                    <a:lumMod val="85000"/>
                    <a:lumOff val="15000"/>
                  </a:prstClr>
                </a:solidFill>
                <a:latin typeface="Arial" panose="020B0604020202020204" pitchFamily="34" charset="0"/>
                <a:cs typeface="Arial" panose="020B0604020202020204" pitchFamily="34" charset="0"/>
              </a:rPr>
              <a:t>P-n Junction reverse biased Current</a:t>
            </a:r>
            <a:endParaRPr lang="en-IN" dirty="0"/>
          </a:p>
        </p:txBody>
      </p:sp>
      <p:sp>
        <p:nvSpPr>
          <p:cNvPr id="3" name="Content Placeholder 2">
            <a:extLst>
              <a:ext uri="{FF2B5EF4-FFF2-40B4-BE49-F238E27FC236}">
                <a16:creationId xmlns:a16="http://schemas.microsoft.com/office/drawing/2014/main" id="{8ABAE980-4D0B-4E29-A6A3-67755F87CCB3}"/>
              </a:ext>
            </a:extLst>
          </p:cNvPr>
          <p:cNvSpPr>
            <a:spLocks noGrp="1"/>
          </p:cNvSpPr>
          <p:nvPr>
            <p:ph idx="1"/>
          </p:nvPr>
        </p:nvSpPr>
        <p:spPr>
          <a:xfrm>
            <a:off x="1779639" y="1681316"/>
            <a:ext cx="9724973" cy="4454492"/>
          </a:xfrm>
        </p:spPr>
        <p:txBody>
          <a:bodyPr/>
          <a:lstStyle/>
          <a:p>
            <a:pPr lvl="0" algn="ctr" defTabSz="914400" fontAlgn="base">
              <a:spcBef>
                <a:spcPct val="20000"/>
              </a:spcBef>
              <a:spcAft>
                <a:spcPct val="0"/>
              </a:spcAft>
              <a:buClr>
                <a:srgbClr val="CCCC99"/>
              </a:buClr>
              <a:buSzPct val="70000"/>
              <a:buNone/>
            </a:pPr>
            <a:r>
              <a:rPr lang="en-US" sz="2400" kern="0" dirty="0">
                <a:solidFill>
                  <a:srgbClr val="000000"/>
                </a:solidFill>
                <a:latin typeface="Arial"/>
              </a:rPr>
              <a:t>I</a:t>
            </a:r>
            <a:r>
              <a:rPr lang="en-US" sz="2400" kern="0" baseline="-25000" dirty="0">
                <a:solidFill>
                  <a:srgbClr val="000000"/>
                </a:solidFill>
                <a:latin typeface="Arial"/>
              </a:rPr>
              <a:t>D</a:t>
            </a:r>
            <a:r>
              <a:rPr lang="en-US" sz="2400" kern="0" dirty="0">
                <a:solidFill>
                  <a:srgbClr val="000000"/>
                </a:solidFill>
                <a:latin typeface="Arial"/>
              </a:rPr>
              <a:t>=I</a:t>
            </a:r>
            <a:r>
              <a:rPr lang="en-US" sz="2400" kern="0" baseline="-25000" dirty="0">
                <a:solidFill>
                  <a:srgbClr val="000000"/>
                </a:solidFill>
                <a:latin typeface="Arial"/>
              </a:rPr>
              <a:t>s</a:t>
            </a:r>
            <a:r>
              <a:rPr lang="en-US" sz="2400" kern="0" dirty="0">
                <a:solidFill>
                  <a:srgbClr val="000000"/>
                </a:solidFill>
                <a:latin typeface="Arial"/>
              </a:rPr>
              <a:t>(e</a:t>
            </a:r>
            <a:r>
              <a:rPr lang="en-US" sz="2400" kern="0" baseline="30000" dirty="0">
                <a:solidFill>
                  <a:srgbClr val="000000"/>
                </a:solidFill>
                <a:latin typeface="Arial"/>
              </a:rPr>
              <a:t>-qv/KT </a:t>
            </a:r>
            <a:r>
              <a:rPr lang="en-US" sz="2400" kern="0" dirty="0">
                <a:solidFill>
                  <a:srgbClr val="000000"/>
                </a:solidFill>
                <a:latin typeface="Arial"/>
              </a:rPr>
              <a:t>–1)</a:t>
            </a:r>
          </a:p>
          <a:p>
            <a:pPr lvl="0" defTabSz="914400" fontAlgn="base">
              <a:spcBef>
                <a:spcPct val="20000"/>
              </a:spcBef>
              <a:spcAft>
                <a:spcPct val="0"/>
              </a:spcAft>
              <a:buClr>
                <a:srgbClr val="CCCC99"/>
              </a:buClr>
              <a:buSzPct val="70000"/>
              <a:buNone/>
            </a:pPr>
            <a:endParaRPr lang="en-US" kern="0" dirty="0">
              <a:solidFill>
                <a:srgbClr val="000000"/>
              </a:solidFill>
              <a:latin typeface="Arial"/>
            </a:endParaRPr>
          </a:p>
          <a:p>
            <a:pPr lvl="0" defTabSz="914400" fontAlgn="base">
              <a:spcBef>
                <a:spcPct val="20000"/>
              </a:spcBef>
              <a:spcAft>
                <a:spcPct val="0"/>
              </a:spcAft>
              <a:buClr>
                <a:srgbClr val="CCCC99"/>
              </a:buClr>
              <a:buSzPct val="70000"/>
              <a:buNone/>
            </a:pPr>
            <a:r>
              <a:rPr lang="en-US" kern="0" dirty="0">
                <a:solidFill>
                  <a:srgbClr val="000000"/>
                </a:solidFill>
                <a:latin typeface="Arial"/>
              </a:rPr>
              <a:t>Where  I</a:t>
            </a:r>
            <a:r>
              <a:rPr lang="en-US" kern="0" baseline="-25000" dirty="0">
                <a:solidFill>
                  <a:srgbClr val="000000"/>
                </a:solidFill>
                <a:latin typeface="Arial"/>
              </a:rPr>
              <a:t>s </a:t>
            </a:r>
            <a:r>
              <a:rPr lang="en-US" kern="0" dirty="0">
                <a:solidFill>
                  <a:srgbClr val="000000"/>
                </a:solidFill>
                <a:latin typeface="Arial"/>
              </a:rPr>
              <a:t> </a:t>
            </a:r>
            <a:r>
              <a:rPr lang="en-US" kern="0" dirty="0" err="1">
                <a:solidFill>
                  <a:srgbClr val="000000"/>
                </a:solidFill>
                <a:latin typeface="Arial"/>
              </a:rPr>
              <a:t>is</a:t>
            </a:r>
            <a:r>
              <a:rPr lang="en-US" kern="0" dirty="0">
                <a:solidFill>
                  <a:srgbClr val="000000"/>
                </a:solidFill>
                <a:latin typeface="Arial"/>
              </a:rPr>
              <a:t>  the reverse saturation current  density</a:t>
            </a:r>
          </a:p>
          <a:p>
            <a:pPr lvl="0" defTabSz="914400" fontAlgn="base">
              <a:spcBef>
                <a:spcPct val="20000"/>
              </a:spcBef>
              <a:spcAft>
                <a:spcPct val="0"/>
              </a:spcAft>
              <a:buClr>
                <a:srgbClr val="CCCC99"/>
              </a:buClr>
              <a:buSzPct val="70000"/>
              <a:buNone/>
            </a:pPr>
            <a:r>
              <a:rPr lang="en-US" sz="1600" kern="0" dirty="0">
                <a:solidFill>
                  <a:srgbClr val="000000"/>
                </a:solidFill>
                <a:latin typeface="Arial"/>
              </a:rPr>
              <a:t>V = diode voltage</a:t>
            </a:r>
          </a:p>
          <a:p>
            <a:pPr lvl="0" defTabSz="914400" fontAlgn="base">
              <a:spcBef>
                <a:spcPct val="20000"/>
              </a:spcBef>
              <a:spcAft>
                <a:spcPct val="0"/>
              </a:spcAft>
              <a:buClr>
                <a:srgbClr val="CCCC99"/>
              </a:buClr>
              <a:buSzPct val="70000"/>
              <a:buNone/>
            </a:pPr>
            <a:r>
              <a:rPr lang="en-US" sz="1600" kern="0" dirty="0">
                <a:solidFill>
                  <a:srgbClr val="000000"/>
                </a:solidFill>
                <a:latin typeface="Arial"/>
              </a:rPr>
              <a:t>q = Charge of an electron </a:t>
            </a:r>
          </a:p>
          <a:p>
            <a:pPr lvl="0" defTabSz="914400" fontAlgn="base">
              <a:spcBef>
                <a:spcPct val="20000"/>
              </a:spcBef>
              <a:spcAft>
                <a:spcPct val="0"/>
              </a:spcAft>
              <a:buClr>
                <a:srgbClr val="CCCC99"/>
              </a:buClr>
              <a:buSzPct val="70000"/>
              <a:buNone/>
            </a:pPr>
            <a:r>
              <a:rPr lang="en-US" sz="1600" kern="0" dirty="0">
                <a:solidFill>
                  <a:srgbClr val="000000"/>
                </a:solidFill>
                <a:latin typeface="Arial"/>
              </a:rPr>
              <a:t>K = Boltzmann constant </a:t>
            </a:r>
          </a:p>
          <a:p>
            <a:pPr lvl="0" defTabSz="914400" fontAlgn="base">
              <a:spcBef>
                <a:spcPct val="20000"/>
              </a:spcBef>
              <a:spcAft>
                <a:spcPct val="0"/>
              </a:spcAft>
              <a:buClr>
                <a:srgbClr val="CCCC99"/>
              </a:buClr>
              <a:buSzPct val="70000"/>
              <a:buNone/>
            </a:pPr>
            <a:r>
              <a:rPr lang="en-US" sz="1600" kern="0" dirty="0">
                <a:solidFill>
                  <a:srgbClr val="000000"/>
                </a:solidFill>
                <a:latin typeface="Arial"/>
              </a:rPr>
              <a:t>T = Temperature in kelvin</a:t>
            </a:r>
          </a:p>
          <a:p>
            <a:pPr lvl="0" defTabSz="914400" fontAlgn="base">
              <a:spcBef>
                <a:spcPct val="20000"/>
              </a:spcBef>
              <a:spcAft>
                <a:spcPct val="0"/>
              </a:spcAft>
              <a:buClr>
                <a:srgbClr val="CCCC99"/>
              </a:buClr>
              <a:buSzPct val="70000"/>
              <a:buNone/>
            </a:pPr>
            <a:endParaRPr lang="en-US" sz="1600" kern="0" baseline="-25000" dirty="0">
              <a:solidFill>
                <a:srgbClr val="000000"/>
              </a:solidFill>
              <a:latin typeface="Arial"/>
            </a:endParaRPr>
          </a:p>
          <a:p>
            <a:pPr lvl="0" defTabSz="914400" fontAlgn="base">
              <a:spcBef>
                <a:spcPct val="20000"/>
              </a:spcBef>
              <a:spcAft>
                <a:spcPct val="0"/>
              </a:spcAft>
              <a:buClr>
                <a:srgbClr val="CCCC99"/>
              </a:buClr>
              <a:buSzPct val="70000"/>
              <a:buNone/>
            </a:pPr>
            <a:r>
              <a:rPr lang="en-US" sz="1600" kern="0" dirty="0">
                <a:solidFill>
                  <a:srgbClr val="000000"/>
                </a:solidFill>
                <a:latin typeface="Arial"/>
              </a:rPr>
              <a:t>The current is in the range of 0.1nA  to 0.5nA per device at room temperature.</a:t>
            </a:r>
          </a:p>
          <a:p>
            <a:pPr lvl="0" defTabSz="914400" fontAlgn="base">
              <a:spcBef>
                <a:spcPct val="20000"/>
              </a:spcBef>
              <a:spcAft>
                <a:spcPct val="0"/>
              </a:spcAft>
              <a:buClr>
                <a:srgbClr val="CCCC99"/>
              </a:buClr>
              <a:buSzPct val="70000"/>
              <a:buNone/>
            </a:pPr>
            <a:r>
              <a:rPr lang="en-US" sz="1600" kern="0" dirty="0">
                <a:solidFill>
                  <a:srgbClr val="000000"/>
                </a:solidFill>
                <a:latin typeface="Arial"/>
              </a:rPr>
              <a:t> </a:t>
            </a:r>
          </a:p>
          <a:p>
            <a:pPr lvl="0" defTabSz="914400" fontAlgn="base">
              <a:spcBef>
                <a:spcPct val="20000"/>
              </a:spcBef>
              <a:spcAft>
                <a:spcPct val="0"/>
              </a:spcAft>
              <a:buClr>
                <a:srgbClr val="CCCC99"/>
              </a:buClr>
              <a:buSzPct val="70000"/>
              <a:buNone/>
            </a:pPr>
            <a:r>
              <a:rPr lang="en-US" sz="1600" kern="0" dirty="0">
                <a:solidFill>
                  <a:srgbClr val="000000"/>
                </a:solidFill>
                <a:latin typeface="Arial"/>
              </a:rPr>
              <a:t>The current doubles for every 10</a:t>
            </a:r>
            <a:r>
              <a:rPr lang="en-US" sz="1600" kern="0" baseline="30000" dirty="0">
                <a:solidFill>
                  <a:srgbClr val="000000"/>
                </a:solidFill>
                <a:latin typeface="Arial"/>
              </a:rPr>
              <a:t>0</a:t>
            </a:r>
            <a:r>
              <a:rPr lang="en-US" sz="1600" kern="0" dirty="0">
                <a:solidFill>
                  <a:srgbClr val="000000"/>
                </a:solidFill>
                <a:latin typeface="Arial"/>
              </a:rPr>
              <a:t>C  rise in temperature. </a:t>
            </a:r>
          </a:p>
          <a:p>
            <a:pPr lvl="0" defTabSz="914400" fontAlgn="base">
              <a:spcBef>
                <a:spcPct val="20000"/>
              </a:spcBef>
              <a:spcAft>
                <a:spcPct val="0"/>
              </a:spcAft>
              <a:buClr>
                <a:srgbClr val="CCCC99"/>
              </a:buClr>
              <a:buSzPct val="70000"/>
              <a:buNone/>
            </a:pPr>
            <a:endParaRPr lang="en-US" sz="1600" kern="0" dirty="0">
              <a:solidFill>
                <a:srgbClr val="000000"/>
              </a:solidFill>
              <a:latin typeface="Arial"/>
            </a:endParaRPr>
          </a:p>
          <a:p>
            <a:pPr lvl="0" defTabSz="914400" fontAlgn="base">
              <a:spcBef>
                <a:spcPct val="20000"/>
              </a:spcBef>
              <a:spcAft>
                <a:spcPct val="0"/>
              </a:spcAft>
              <a:buClr>
                <a:srgbClr val="CCCC99"/>
              </a:buClr>
              <a:buSzPct val="70000"/>
              <a:buNone/>
            </a:pPr>
            <a:r>
              <a:rPr lang="en-US" sz="1600" kern="0" dirty="0">
                <a:solidFill>
                  <a:srgbClr val="000000"/>
                </a:solidFill>
                <a:latin typeface="Arial"/>
              </a:rPr>
              <a:t>However, this total static power due to diode leakage current for 1 million transistor is substantial.</a:t>
            </a:r>
          </a:p>
          <a:p>
            <a:endParaRPr lang="en-IN" dirty="0"/>
          </a:p>
        </p:txBody>
      </p:sp>
      <p:sp>
        <p:nvSpPr>
          <p:cNvPr id="4" name="Footer Placeholder 3">
            <a:extLst>
              <a:ext uri="{FF2B5EF4-FFF2-40B4-BE49-F238E27FC236}">
                <a16:creationId xmlns:a16="http://schemas.microsoft.com/office/drawing/2014/main" id="{777897EE-A503-4E6A-BC42-01437F1EC97D}"/>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145036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9807" y="624110"/>
            <a:ext cx="9734806" cy="1280890"/>
          </a:xfrm>
        </p:spPr>
        <p:txBody>
          <a:bodyPr/>
          <a:lstStyle/>
          <a:p>
            <a:r>
              <a:rPr lang="en-US" dirty="0">
                <a:latin typeface="Arial" panose="020B0604020202020204" pitchFamily="34" charset="0"/>
                <a:cs typeface="Arial" panose="020B0604020202020204" pitchFamily="34" charset="0"/>
              </a:rPr>
              <a:t>Band to band tunneling current</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769806" y="1828800"/>
            <a:ext cx="9734806" cy="4082422"/>
          </a:xfrm>
        </p:spPr>
        <p:txBody>
          <a:bodyPr>
            <a:normAutofit/>
          </a:bodyPr>
          <a:lstStyle/>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r>
              <a:rPr lang="en-US" sz="1600" kern="0" dirty="0">
                <a:solidFill>
                  <a:srgbClr val="000000"/>
                </a:solidFill>
                <a:latin typeface="Arial"/>
              </a:rPr>
              <a:t>High electric field is across this reverse biased p-n junction diodes causes significant current known as band-to-band tunneling current. </a:t>
            </a:r>
          </a:p>
          <a:p>
            <a:pPr lvl="0" algn="just" defTabSz="914400" fontAlgn="base">
              <a:spcBef>
                <a:spcPct val="20000"/>
              </a:spcBef>
              <a:spcAft>
                <a:spcPct val="0"/>
              </a:spcAft>
              <a:buClr>
                <a:srgbClr val="CCCC99"/>
              </a:buClr>
              <a:buSzPct val="70000"/>
              <a:buFont typeface="Wingdings" pitchFamily="2" charset="2"/>
              <a:buChar char="l"/>
            </a:pPr>
            <a:r>
              <a:rPr lang="en-US" sz="1600" kern="0" dirty="0">
                <a:solidFill>
                  <a:srgbClr val="000000"/>
                </a:solidFill>
                <a:latin typeface="Arial"/>
              </a:rPr>
              <a:t>This current dominates the p-n junction current</a:t>
            </a:r>
          </a:p>
          <a:p>
            <a:pPr lvl="0" defTabSz="914400" fontAlgn="base">
              <a:spcBef>
                <a:spcPct val="20000"/>
              </a:spcBef>
              <a:spcAft>
                <a:spcPct val="0"/>
              </a:spcAft>
              <a:buClr>
                <a:srgbClr val="CCCC99"/>
              </a:buClr>
              <a:buSzPct val="70000"/>
              <a:buFont typeface="Wingdings" pitchFamily="2" charset="2"/>
              <a:buChar char="l"/>
            </a:pPr>
            <a:endParaRPr lang="en-US" sz="3100" kern="0" dirty="0">
              <a:solidFill>
                <a:srgbClr val="000000"/>
              </a:solidFill>
              <a:latin typeface="Arial"/>
            </a:endParaRPr>
          </a:p>
          <a:p>
            <a:endParaRPr lang="en-IN" dirty="0"/>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p:cNvPicPr>
            <a:picLocks noChangeAspect="1" noChangeArrowheads="1"/>
          </p:cNvPicPr>
          <p:nvPr/>
        </p:nvPicPr>
        <p:blipFill>
          <a:blip r:embed="rId2" cstate="print"/>
          <a:srcRect/>
          <a:stretch>
            <a:fillRect/>
          </a:stretch>
        </p:blipFill>
        <p:spPr bwMode="auto">
          <a:xfrm>
            <a:off x="4349185" y="1828800"/>
            <a:ext cx="4263873" cy="2774901"/>
          </a:xfrm>
          <a:prstGeom prst="rect">
            <a:avLst/>
          </a:prstGeom>
          <a:noFill/>
          <a:ln w="9525">
            <a:noFill/>
            <a:miter lim="800000"/>
            <a:headEnd/>
            <a:tailEnd/>
          </a:ln>
          <a:effectLst/>
        </p:spPr>
      </p:pic>
    </p:spTree>
    <p:extLst>
      <p:ext uri="{BB962C8B-B14F-4D97-AF65-F5344CB8AC3E}">
        <p14:creationId xmlns:p14="http://schemas.microsoft.com/office/powerpoint/2010/main" val="32275147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5781" y="673272"/>
            <a:ext cx="9498831" cy="1280890"/>
          </a:xfrm>
        </p:spPr>
        <p:txBody>
          <a:bodyPr/>
          <a:lstStyle/>
          <a:p>
            <a:r>
              <a:rPr lang="en-IN" b="1" dirty="0">
                <a:latin typeface="Arial" panose="020B0604020202020204" pitchFamily="34" charset="0"/>
                <a:cs typeface="Arial" panose="020B0604020202020204" pitchFamily="34" charset="0"/>
              </a:rPr>
              <a:t>Subthreshold Leakage</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2005781" y="1828800"/>
            <a:ext cx="9498831" cy="4082422"/>
          </a:xfrm>
        </p:spPr>
        <p:txBody>
          <a:bodyPr/>
          <a:lstStyle/>
          <a:p>
            <a:r>
              <a:rPr lang="en-US" dirty="0">
                <a:solidFill>
                  <a:srgbClr val="231F20"/>
                </a:solidFill>
                <a:latin typeface="ACaslon-Regular"/>
              </a:rPr>
              <a:t>Subthreshold leakage current flows when a transistor is </a:t>
            </a:r>
            <a:r>
              <a:rPr lang="en-IN" dirty="0">
                <a:solidFill>
                  <a:srgbClr val="231F20"/>
                </a:solidFill>
                <a:latin typeface="ACaslon-Regular"/>
              </a:rPr>
              <a:t>supposed to be OFF.</a:t>
            </a:r>
          </a:p>
          <a:p>
            <a:endParaRPr lang="en-US" dirty="0">
              <a:solidFill>
                <a:srgbClr val="231F20"/>
              </a:solidFill>
              <a:latin typeface="ACaslon-Regular"/>
            </a:endParaRPr>
          </a:p>
          <a:p>
            <a:endParaRPr lang="en-US" dirty="0">
              <a:solidFill>
                <a:srgbClr val="231F20"/>
              </a:solidFill>
              <a:latin typeface="ACaslon-Regular"/>
            </a:endParaRPr>
          </a:p>
          <a:p>
            <a:endParaRPr lang="en-US" dirty="0">
              <a:solidFill>
                <a:srgbClr val="231F20"/>
              </a:solidFill>
              <a:latin typeface="ACaslon-Regular"/>
            </a:endParaRPr>
          </a:p>
          <a:p>
            <a:endParaRPr lang="en-US" dirty="0">
              <a:solidFill>
                <a:srgbClr val="231F20"/>
              </a:solidFill>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wher</a:t>
            </a:r>
            <a:r>
              <a:rPr lang="en-US" b="1" dirty="0">
                <a:latin typeface="Arial" panose="020B0604020202020204" pitchFamily="34" charset="0"/>
                <a:cs typeface="Arial" panose="020B0604020202020204" pitchFamily="34" charset="0"/>
              </a:rPr>
              <a:t>e </a:t>
            </a:r>
            <a:r>
              <a:rPr lang="en-US" b="1" i="1" dirty="0" err="1">
                <a:latin typeface="Arial" panose="020B0604020202020204" pitchFamily="34" charset="0"/>
                <a:cs typeface="Arial" panose="020B0604020202020204" pitchFamily="34" charset="0"/>
              </a:rPr>
              <a:t>I</a:t>
            </a:r>
            <a:r>
              <a:rPr lang="en-US" b="1" baseline="-25000" dirty="0" err="1">
                <a:latin typeface="Arial" panose="020B0604020202020204" pitchFamily="34" charset="0"/>
                <a:cs typeface="Arial" panose="020B0604020202020204" pitchFamily="34" charset="0"/>
              </a:rPr>
              <a:t>off</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the subthreshold current at </a:t>
            </a:r>
            <a:r>
              <a:rPr lang="en-US" b="1" i="1" dirty="0" err="1">
                <a:latin typeface="Arial" panose="020B0604020202020204" pitchFamily="34" charset="0"/>
                <a:cs typeface="Arial" panose="020B0604020202020204" pitchFamily="34" charset="0"/>
              </a:rPr>
              <a:t>V</a:t>
            </a:r>
            <a:r>
              <a:rPr lang="en-US" b="1" i="1" baseline="-25000" dirty="0" err="1">
                <a:latin typeface="Arial" panose="020B0604020202020204" pitchFamily="34" charset="0"/>
                <a:cs typeface="Arial" panose="020B0604020202020204" pitchFamily="34" charset="0"/>
              </a:rPr>
              <a:t>gs</a:t>
            </a:r>
            <a:r>
              <a:rPr lang="en-US" b="1" i="1"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0 </a:t>
            </a:r>
            <a:r>
              <a:rPr lang="en-US" dirty="0">
                <a:latin typeface="Arial" panose="020B0604020202020204" pitchFamily="34" charset="0"/>
                <a:cs typeface="Arial" panose="020B0604020202020204" pitchFamily="34" charset="0"/>
              </a:rPr>
              <a:t>and  </a:t>
            </a:r>
            <a:r>
              <a:rPr lang="en-US" b="1" i="1" dirty="0" err="1">
                <a:latin typeface="Arial" panose="020B0604020202020204" pitchFamily="34" charset="0"/>
                <a:cs typeface="Arial" panose="020B0604020202020204" pitchFamily="34" charset="0"/>
              </a:rPr>
              <a:t>V</a:t>
            </a:r>
            <a:r>
              <a:rPr lang="en-US" b="1" i="1" baseline="-25000" dirty="0" err="1">
                <a:latin typeface="Arial" panose="020B0604020202020204" pitchFamily="34" charset="0"/>
                <a:cs typeface="Arial" panose="020B0604020202020204" pitchFamily="34" charset="0"/>
              </a:rPr>
              <a:t>ds</a:t>
            </a:r>
            <a:r>
              <a:rPr lang="en-US" b="1" i="1"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V</a:t>
            </a:r>
            <a:r>
              <a:rPr lang="en-US" b="1" i="1" baseline="-25000" dirty="0">
                <a:latin typeface="Arial" panose="020B0604020202020204" pitchFamily="34" charset="0"/>
                <a:cs typeface="Arial" panose="020B0604020202020204" pitchFamily="34" charset="0"/>
              </a:rPr>
              <a:t>DD . </a:t>
            </a:r>
            <a:r>
              <a:rPr lang="en-IN" i="1" dirty="0">
                <a:latin typeface="Arial" panose="020B0604020202020204" pitchFamily="34" charset="0"/>
                <a:cs typeface="Arial" panose="020B0604020202020204" pitchFamily="34" charset="0"/>
              </a:rPr>
              <a:t>S </a:t>
            </a:r>
            <a:r>
              <a:rPr lang="en-IN" dirty="0">
                <a:latin typeface="Arial" panose="020B0604020202020204" pitchFamily="34" charset="0"/>
                <a:cs typeface="Arial" panose="020B0604020202020204" pitchFamily="34" charset="0"/>
              </a:rPr>
              <a:t>is the subthreshold</a:t>
            </a:r>
          </a:p>
          <a:p>
            <a:r>
              <a:rPr lang="en-IN" dirty="0">
                <a:latin typeface="Arial" panose="020B0604020202020204" pitchFamily="34" charset="0"/>
                <a:cs typeface="Arial" panose="020B0604020202020204" pitchFamily="34" charset="0"/>
              </a:rPr>
              <a:t>Slope. </a:t>
            </a:r>
            <a:r>
              <a:rPr lang="en-US" b="1" i="1" dirty="0" err="1">
                <a:latin typeface="Arial" panose="020B0604020202020204" pitchFamily="34" charset="0"/>
                <a:cs typeface="Arial" panose="020B0604020202020204" pitchFamily="34" charset="0"/>
              </a:rPr>
              <a:t>I</a:t>
            </a:r>
            <a:r>
              <a:rPr lang="en-US" b="1" baseline="-25000" dirty="0" err="1">
                <a:latin typeface="Arial" panose="020B0604020202020204" pitchFamily="34" charset="0"/>
                <a:cs typeface="Arial" panose="020B0604020202020204" pitchFamily="34" charset="0"/>
              </a:rPr>
              <a:t>off</a:t>
            </a:r>
            <a:r>
              <a:rPr lang="en-US" b="1"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a key process parameter defining the leakage of a single OFF transistor.  It is low for high </a:t>
            </a:r>
            <a:r>
              <a:rPr lang="en-US" dirty="0" err="1">
                <a:latin typeface="Arial" panose="020B0604020202020204" pitchFamily="34" charset="0"/>
                <a:cs typeface="Arial" panose="020B0604020202020204" pitchFamily="34" charset="0"/>
              </a:rPr>
              <a:t>V</a:t>
            </a:r>
            <a:r>
              <a:rPr lang="en-US" baseline="-25000" dirty="0" err="1">
                <a:latin typeface="Arial" panose="020B0604020202020204" pitchFamily="34" charset="0"/>
                <a:cs typeface="Arial" panose="020B0604020202020204" pitchFamily="34" charset="0"/>
              </a:rPr>
              <a:t>t</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Transistor  and high for low  </a:t>
            </a:r>
            <a:r>
              <a:rPr lang="en-US" dirty="0" err="1">
                <a:latin typeface="Arial" panose="020B0604020202020204" pitchFamily="34" charset="0"/>
                <a:cs typeface="Arial" panose="020B0604020202020204" pitchFamily="34" charset="0"/>
              </a:rPr>
              <a:t>V</a:t>
            </a:r>
            <a:r>
              <a:rPr lang="en-US" baseline="-25000" dirty="0" err="1">
                <a:latin typeface="Arial" panose="020B0604020202020204" pitchFamily="34" charset="0"/>
                <a:cs typeface="Arial" panose="020B0604020202020204" pitchFamily="34" charset="0"/>
              </a:rPr>
              <a:t>t</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Transistor. </a:t>
            </a:r>
            <a:r>
              <a:rPr lang="el-GR" dirty="0">
                <a:latin typeface="Arial" panose="020B0604020202020204" pitchFamily="34" charset="0"/>
                <a:cs typeface="Arial" panose="020B0604020202020204" pitchFamily="34" charset="0"/>
              </a:rPr>
              <a:t>η</a:t>
            </a:r>
            <a:r>
              <a:rPr lang="en-US" dirty="0"/>
              <a:t> </a:t>
            </a:r>
            <a:r>
              <a:rPr lang="en-US" dirty="0">
                <a:latin typeface="Arial" panose="020B0604020202020204" pitchFamily="34" charset="0"/>
                <a:cs typeface="Arial" panose="020B0604020202020204" pitchFamily="34" charset="0"/>
              </a:rPr>
              <a:t>is the DIBL coefficient.</a:t>
            </a:r>
          </a:p>
          <a:p>
            <a:r>
              <a:rPr lang="en-US" b="1" i="1" dirty="0">
                <a:latin typeface="Arial" panose="020B0604020202020204" pitchFamily="34" charset="0"/>
                <a:cs typeface="Arial" panose="020B0604020202020204" pitchFamily="34" charset="0"/>
              </a:rPr>
              <a:t>K</a:t>
            </a:r>
            <a:r>
              <a:rPr lang="el-GR" b="1" i="1" dirty="0">
                <a:latin typeface="Arial" panose="020B0604020202020204" pitchFamily="34" charset="0"/>
                <a:cs typeface="Arial" panose="020B0604020202020204" pitchFamily="34" charset="0"/>
              </a:rPr>
              <a:t>γ</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the body effect coefficient</a:t>
            </a:r>
            <a:endParaRPr lang="en-IN" b="1" baseline="-25000"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p:cNvPicPr>
            <a:picLocks noChangeAspect="1"/>
          </p:cNvPicPr>
          <p:nvPr/>
        </p:nvPicPr>
        <p:blipFill>
          <a:blip r:embed="rId2" cstate="print"/>
          <a:stretch>
            <a:fillRect/>
          </a:stretch>
        </p:blipFill>
        <p:spPr>
          <a:xfrm>
            <a:off x="3917386" y="2657253"/>
            <a:ext cx="4056575" cy="869920"/>
          </a:xfrm>
          <a:prstGeom prst="rect">
            <a:avLst/>
          </a:prstGeom>
        </p:spPr>
      </p:pic>
    </p:spTree>
    <p:extLst>
      <p:ext uri="{BB962C8B-B14F-4D97-AF65-F5344CB8AC3E}">
        <p14:creationId xmlns:p14="http://schemas.microsoft.com/office/powerpoint/2010/main" val="3553207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Continue…. </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976283" y="1553497"/>
            <a:ext cx="9635613" cy="4357725"/>
          </a:xfrm>
        </p:spPr>
        <p:txBody>
          <a:bodyPr/>
          <a:lstStyle/>
          <a:p>
            <a:pPr lvl="0"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Various mechanism which effects the sub-threshold leakage current  are-</a:t>
            </a:r>
          </a:p>
          <a:p>
            <a:pPr lvl="0" defTabSz="914400" fontAlgn="base">
              <a:spcBef>
                <a:spcPct val="20000"/>
              </a:spcBef>
              <a:spcAft>
                <a:spcPct val="0"/>
              </a:spcAft>
              <a:buClr>
                <a:srgbClr val="CCCC99"/>
              </a:buClr>
              <a:buSzPct val="70000"/>
              <a:buFont typeface="Wingdings" pitchFamily="2" charset="2"/>
              <a:buChar char="l"/>
            </a:pPr>
            <a:endParaRPr lang="en-US" kern="0" dirty="0">
              <a:solidFill>
                <a:srgbClr val="000000"/>
              </a:solidFill>
              <a:latin typeface="Arial"/>
            </a:endParaRPr>
          </a:p>
          <a:p>
            <a:pPr lvl="0" defTabSz="914400" fontAlgn="base">
              <a:spcBef>
                <a:spcPct val="20000"/>
              </a:spcBef>
              <a:spcAft>
                <a:spcPct val="0"/>
              </a:spcAft>
              <a:buClr>
                <a:srgbClr val="CCCC99"/>
              </a:buClr>
              <a:buSzPct val="70000"/>
              <a:buFont typeface="Arial" pitchFamily="34" charset="0"/>
              <a:buChar char="•"/>
            </a:pPr>
            <a:r>
              <a:rPr lang="en-US" kern="0" dirty="0">
                <a:solidFill>
                  <a:srgbClr val="000000"/>
                </a:solidFill>
                <a:latin typeface="Arial"/>
              </a:rPr>
              <a:t>Drain  induced  barrier  lowering effect.</a:t>
            </a:r>
          </a:p>
          <a:p>
            <a:pPr lvl="0" defTabSz="914400" fontAlgn="base">
              <a:spcBef>
                <a:spcPct val="20000"/>
              </a:spcBef>
              <a:spcAft>
                <a:spcPct val="0"/>
              </a:spcAft>
              <a:buClr>
                <a:srgbClr val="CCCC99"/>
              </a:buClr>
              <a:buSzPct val="70000"/>
              <a:buFont typeface="Arial" pitchFamily="34" charset="0"/>
              <a:buChar char="•"/>
            </a:pPr>
            <a:r>
              <a:rPr lang="en-US" kern="0" dirty="0">
                <a:solidFill>
                  <a:srgbClr val="000000"/>
                </a:solidFill>
                <a:latin typeface="Arial"/>
              </a:rPr>
              <a:t>Body effect</a:t>
            </a:r>
          </a:p>
          <a:p>
            <a:pPr lvl="0" defTabSz="914400" fontAlgn="base">
              <a:spcBef>
                <a:spcPct val="20000"/>
              </a:spcBef>
              <a:spcAft>
                <a:spcPct val="0"/>
              </a:spcAft>
              <a:buClr>
                <a:srgbClr val="CCCC99"/>
              </a:buClr>
              <a:buSzPct val="70000"/>
              <a:buFont typeface="Arial" pitchFamily="34" charset="0"/>
              <a:buChar char="•"/>
            </a:pPr>
            <a:r>
              <a:rPr lang="en-US" kern="0" dirty="0">
                <a:solidFill>
                  <a:srgbClr val="000000"/>
                </a:solidFill>
                <a:latin typeface="Arial"/>
              </a:rPr>
              <a:t>Narrow width effect</a:t>
            </a:r>
          </a:p>
          <a:p>
            <a:pPr lvl="0" defTabSz="914400" fontAlgn="base">
              <a:spcBef>
                <a:spcPct val="20000"/>
              </a:spcBef>
              <a:spcAft>
                <a:spcPct val="0"/>
              </a:spcAft>
              <a:buClr>
                <a:srgbClr val="CCCC99"/>
              </a:buClr>
              <a:buSzPct val="70000"/>
              <a:buFont typeface="Arial" pitchFamily="34" charset="0"/>
              <a:buChar char="•"/>
            </a:pPr>
            <a:r>
              <a:rPr lang="en-US" kern="0" dirty="0">
                <a:solidFill>
                  <a:srgbClr val="000000"/>
                </a:solidFill>
                <a:latin typeface="Arial"/>
              </a:rPr>
              <a:t>Effect of channel length  with Vth  Roll off </a:t>
            </a:r>
          </a:p>
          <a:p>
            <a:pPr lvl="0" defTabSz="914400" fontAlgn="base">
              <a:spcBef>
                <a:spcPct val="20000"/>
              </a:spcBef>
              <a:spcAft>
                <a:spcPct val="0"/>
              </a:spcAft>
              <a:buClr>
                <a:srgbClr val="CCCC99"/>
              </a:buClr>
              <a:buSzPct val="70000"/>
              <a:buFont typeface="Arial" pitchFamily="34" charset="0"/>
              <a:buChar char="•"/>
            </a:pPr>
            <a:r>
              <a:rPr lang="en-US" kern="0" dirty="0">
                <a:solidFill>
                  <a:srgbClr val="000000"/>
                </a:solidFill>
                <a:latin typeface="Arial"/>
              </a:rPr>
              <a:t>Effect  of  temperature</a:t>
            </a:r>
          </a:p>
          <a:p>
            <a:endParaRPr lang="en-IN" dirty="0"/>
          </a:p>
        </p:txBody>
      </p:sp>
      <p:sp>
        <p:nvSpPr>
          <p:cNvPr id="4" name="Footer Placeholder 3"/>
          <p:cNvSpPr>
            <a:spLocks noGrp="1"/>
          </p:cNvSpPr>
          <p:nvPr>
            <p:ph type="ftr" sz="quarter" idx="11"/>
          </p:nvPr>
        </p:nvSpPr>
        <p:spPr>
          <a:xfrm>
            <a:off x="2589212" y="6139822"/>
            <a:ext cx="7619999" cy="365125"/>
          </a:xfrm>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487142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7961" y="624110"/>
            <a:ext cx="9626651" cy="1280890"/>
          </a:xfrm>
        </p:spPr>
        <p:txBody>
          <a:bodyPr/>
          <a:lstStyle/>
          <a:p>
            <a:r>
              <a:rPr lang="en-US" dirty="0">
                <a:latin typeface="Arial" panose="020B0604020202020204" pitchFamily="34" charset="0"/>
                <a:cs typeface="Arial" panose="020B0604020202020204" pitchFamily="34" charset="0"/>
              </a:rPr>
              <a:t>Drain Induced Barrier Lowering (DIBL)</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877961" y="1612490"/>
            <a:ext cx="9626651" cy="4298732"/>
          </a:xfrm>
        </p:spPr>
        <p:txBody>
          <a:bodyPr/>
          <a:lstStyle/>
          <a:p>
            <a:pPr lvl="0" algn="just"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In long-channel devices, the source and drain are separated enough so that their depletion regions have no effect on the electrostatic potential developed across the channel. </a:t>
            </a:r>
          </a:p>
          <a:p>
            <a:pPr lvl="0" algn="just" defTabSz="914400" fontAlgn="base">
              <a:spcBef>
                <a:spcPct val="20000"/>
              </a:spcBef>
              <a:spcAft>
                <a:spcPct val="0"/>
              </a:spcAft>
              <a:buClr>
                <a:srgbClr val="CCCC99"/>
              </a:buClr>
              <a:buSzPct val="70000"/>
              <a:buFont typeface="Wingdings" pitchFamily="2" charset="2"/>
              <a:buChar char="l"/>
            </a:pPr>
            <a:endParaRPr lang="en-US" sz="1600"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Hence, for such devices, the </a:t>
            </a:r>
            <a:r>
              <a:rPr lang="en-US" kern="0" dirty="0" err="1">
                <a:solidFill>
                  <a:srgbClr val="000000"/>
                </a:solidFill>
                <a:latin typeface="Arial"/>
              </a:rPr>
              <a:t>V</a:t>
            </a:r>
            <a:r>
              <a:rPr lang="en-US" kern="0" baseline="-25000" dirty="0" err="1">
                <a:solidFill>
                  <a:srgbClr val="000000"/>
                </a:solidFill>
                <a:latin typeface="Arial"/>
              </a:rPr>
              <a:t>t</a:t>
            </a:r>
            <a:r>
              <a:rPr lang="en-US" kern="0" dirty="0">
                <a:solidFill>
                  <a:srgbClr val="000000"/>
                </a:solidFill>
                <a:latin typeface="Arial"/>
              </a:rPr>
              <a:t> is virtually independent of the channel length and drain bias. </a:t>
            </a:r>
          </a:p>
          <a:p>
            <a:pPr lvl="0" algn="just" defTabSz="914400" fontAlgn="base">
              <a:spcBef>
                <a:spcPct val="20000"/>
              </a:spcBef>
              <a:spcAft>
                <a:spcPct val="0"/>
              </a:spcAft>
              <a:buClr>
                <a:srgbClr val="CCCC99"/>
              </a:buClr>
              <a:buSzPct val="70000"/>
              <a:buFont typeface="Wingdings" pitchFamily="2" charset="2"/>
              <a:buChar char="l"/>
            </a:pPr>
            <a:endParaRPr lang="en-US"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In a short-channel device, however, the source and drain depletion width in the vertical direction and the source drain potential have a strong effect on the band bending over a significant portion of the device. </a:t>
            </a:r>
          </a:p>
          <a:p>
            <a:pPr lvl="0" algn="just" defTabSz="914400" fontAlgn="base">
              <a:spcBef>
                <a:spcPct val="20000"/>
              </a:spcBef>
              <a:spcAft>
                <a:spcPct val="0"/>
              </a:spcAft>
              <a:buClr>
                <a:srgbClr val="CCCC99"/>
              </a:buClr>
              <a:buSzPct val="70000"/>
              <a:buFont typeface="Wingdings" pitchFamily="2" charset="2"/>
              <a:buChar char="l"/>
            </a:pPr>
            <a:endParaRPr lang="en-US"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r>
              <a:rPr lang="en-US" kern="0" dirty="0">
                <a:solidFill>
                  <a:srgbClr val="000000"/>
                </a:solidFill>
                <a:latin typeface="Arial"/>
              </a:rPr>
              <a:t>Therefore, the </a:t>
            </a:r>
            <a:r>
              <a:rPr lang="en-US" kern="0" dirty="0" err="1">
                <a:solidFill>
                  <a:srgbClr val="000000"/>
                </a:solidFill>
                <a:latin typeface="Arial"/>
              </a:rPr>
              <a:t>V</a:t>
            </a:r>
            <a:r>
              <a:rPr lang="en-US" kern="0" baseline="-25000" dirty="0" err="1">
                <a:solidFill>
                  <a:srgbClr val="000000"/>
                </a:solidFill>
                <a:latin typeface="Arial"/>
              </a:rPr>
              <a:t>t</a:t>
            </a:r>
            <a:r>
              <a:rPr lang="en-US" kern="0" dirty="0">
                <a:solidFill>
                  <a:srgbClr val="000000"/>
                </a:solidFill>
                <a:latin typeface="Arial"/>
              </a:rPr>
              <a:t> and consequently the sub-threshold current of short-channel devices, varies with the drain bias. This effect is referred to as drain induced barrier lowering (DIBL).</a:t>
            </a:r>
          </a:p>
          <a:p>
            <a:endParaRPr lang="en-IN" dirty="0"/>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2905281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1" y="624110"/>
            <a:ext cx="9675812" cy="1280890"/>
          </a:xfrm>
        </p:spPr>
        <p:txBody>
          <a:bodyPr/>
          <a:lstStyle/>
          <a:p>
            <a:r>
              <a:rPr lang="en-US" dirty="0"/>
              <a:t>DIBL</a:t>
            </a:r>
            <a:endParaRPr lang="en-IN" dirty="0"/>
          </a:p>
        </p:txBody>
      </p:sp>
      <p:sp>
        <p:nvSpPr>
          <p:cNvPr id="3" name="Content Placeholder 2"/>
          <p:cNvSpPr>
            <a:spLocks noGrp="1"/>
          </p:cNvSpPr>
          <p:nvPr>
            <p:ph idx="1"/>
          </p:nvPr>
        </p:nvSpPr>
        <p:spPr>
          <a:xfrm>
            <a:off x="1828800" y="2133600"/>
            <a:ext cx="9675812" cy="3777622"/>
          </a:xfrm>
        </p:spPr>
        <p:txBody>
          <a:bodyPr/>
          <a:lstStyle/>
          <a:p>
            <a:endParaRPr lang="en-IN" dirty="0"/>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2"/>
          <p:cNvPicPr>
            <a:picLocks noChangeAspect="1" noChangeArrowheads="1"/>
          </p:cNvPicPr>
          <p:nvPr/>
        </p:nvPicPr>
        <p:blipFill>
          <a:blip r:embed="rId2" cstate="print"/>
          <a:srcRect/>
          <a:stretch>
            <a:fillRect/>
          </a:stretch>
        </p:blipFill>
        <p:spPr bwMode="auto">
          <a:xfrm>
            <a:off x="1828800" y="2162493"/>
            <a:ext cx="9153832" cy="3859607"/>
          </a:xfrm>
          <a:prstGeom prst="rect">
            <a:avLst/>
          </a:prstGeom>
          <a:noFill/>
          <a:ln w="9525">
            <a:noFill/>
            <a:miter lim="800000"/>
            <a:headEnd/>
            <a:tailEnd/>
          </a:ln>
          <a:effectLst/>
        </p:spPr>
      </p:pic>
    </p:spTree>
    <p:extLst>
      <p:ext uri="{BB962C8B-B14F-4D97-AF65-F5344CB8AC3E}">
        <p14:creationId xmlns:p14="http://schemas.microsoft.com/office/powerpoint/2010/main" val="1562776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2659" y="624110"/>
            <a:ext cx="9901954" cy="1280890"/>
          </a:xfrm>
        </p:spPr>
        <p:txBody>
          <a:bodyPr/>
          <a:lstStyle/>
          <a:p>
            <a:r>
              <a:rPr lang="en-US" dirty="0">
                <a:latin typeface="Arial" panose="020B0604020202020204" pitchFamily="34" charset="0"/>
                <a:cs typeface="Arial" panose="020B0604020202020204" pitchFamily="34" charset="0"/>
              </a:rPr>
              <a:t>Body Effect</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602659" y="1524000"/>
            <a:ext cx="9901954" cy="4385215"/>
          </a:xfrm>
        </p:spPr>
        <p:txBody>
          <a:bodyPr/>
          <a:lstStyle/>
          <a:p>
            <a:pPr algn="just"/>
            <a:r>
              <a:rPr lang="en-US" dirty="0">
                <a:latin typeface="Arial" panose="020B0604020202020204" pitchFamily="34" charset="0"/>
                <a:cs typeface="Arial" panose="020B0604020202020204" pitchFamily="34" charset="0"/>
              </a:rPr>
              <a:t>As a negative voltage is applied to the substrate with respect to the source, the well to source junction  the device  is reverse biased  and bulk depletion region is widened . This lead to increase in threshold voltage. This effect is known as Body effect. </a:t>
            </a: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r>
              <a:rPr lang="el-GR" sz="2000" b="1" dirty="0">
                <a:latin typeface="Arial" panose="020B0604020202020204" pitchFamily="34" charset="0"/>
                <a:cs typeface="Arial" panose="020B0604020202020204" pitchFamily="34" charset="0"/>
              </a:rPr>
              <a:t>Φ</a:t>
            </a:r>
            <a:r>
              <a:rPr lang="en-US" sz="2000" b="1" baseline="-25000" dirty="0">
                <a:latin typeface="Arial" panose="020B0604020202020204" pitchFamily="34" charset="0"/>
                <a:cs typeface="Arial" panose="020B0604020202020204" pitchFamily="34" charset="0"/>
              </a:rPr>
              <a:t>F</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is the fermi potential.</a:t>
            </a:r>
          </a:p>
          <a:p>
            <a:pPr algn="just"/>
            <a:r>
              <a:rPr lang="el-GR" sz="2000" dirty="0">
                <a:latin typeface="Arial" panose="020B0604020202020204" pitchFamily="34" charset="0"/>
                <a:cs typeface="Arial" panose="020B0604020202020204" pitchFamily="34" charset="0"/>
              </a:rPr>
              <a:t>γ</a:t>
            </a:r>
            <a:r>
              <a:rPr lang="en-US" sz="2000" dirty="0">
                <a:latin typeface="Arial" panose="020B0604020202020204" pitchFamily="34" charset="0"/>
                <a:cs typeface="Arial" panose="020B0604020202020204" pitchFamily="34" charset="0"/>
              </a:rPr>
              <a:t> is the body effect coefficient </a:t>
            </a:r>
          </a:p>
          <a:p>
            <a:pPr algn="just"/>
            <a:r>
              <a:rPr lang="en-US" sz="2000" dirty="0">
                <a:latin typeface="Arial" panose="020B0604020202020204" pitchFamily="34" charset="0"/>
                <a:cs typeface="Arial" panose="020B0604020202020204" pitchFamily="34" charset="0"/>
              </a:rPr>
              <a:t>V</a:t>
            </a:r>
            <a:r>
              <a:rPr lang="en-US" sz="2000" baseline="-25000" dirty="0">
                <a:latin typeface="Arial" panose="020B0604020202020204" pitchFamily="34" charset="0"/>
                <a:cs typeface="Arial" panose="020B0604020202020204" pitchFamily="34" charset="0"/>
              </a:rPr>
              <a:t>T0 </a:t>
            </a:r>
            <a:r>
              <a:rPr lang="en-US" sz="2000" dirty="0">
                <a:latin typeface="Arial" panose="020B0604020202020204" pitchFamily="34" charset="0"/>
                <a:cs typeface="Arial" panose="020B0604020202020204" pitchFamily="34" charset="0"/>
              </a:rPr>
              <a:t>is the threshold voltage at zero bias </a:t>
            </a:r>
            <a:endParaRPr lang="en-US" sz="2000" b="1" dirty="0">
              <a:latin typeface="Arial" panose="020B0604020202020204" pitchFamily="34" charset="0"/>
              <a:cs typeface="Arial" panose="020B0604020202020204" pitchFamily="34" charset="0"/>
            </a:endParaRPr>
          </a:p>
          <a:p>
            <a:endParaRPr lang="en-US" dirty="0"/>
          </a:p>
          <a:p>
            <a:endParaRPr lang="en-IN" dirty="0"/>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4"/>
          <p:cNvPicPr>
            <a:picLocks noChangeAspect="1"/>
          </p:cNvPicPr>
          <p:nvPr/>
        </p:nvPicPr>
        <p:blipFill>
          <a:blip r:embed="rId2" cstate="print"/>
          <a:stretch>
            <a:fillRect/>
          </a:stretch>
        </p:blipFill>
        <p:spPr>
          <a:xfrm>
            <a:off x="3930193" y="2951007"/>
            <a:ext cx="4449600" cy="765600"/>
          </a:xfrm>
          <a:prstGeom prst="rect">
            <a:avLst/>
          </a:prstGeom>
        </p:spPr>
      </p:pic>
    </p:spTree>
    <p:extLst>
      <p:ext uri="{BB962C8B-B14F-4D97-AF65-F5344CB8AC3E}">
        <p14:creationId xmlns:p14="http://schemas.microsoft.com/office/powerpoint/2010/main" val="32003507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5949" y="624110"/>
            <a:ext cx="9508664" cy="1280890"/>
          </a:xfrm>
        </p:spPr>
        <p:txBody>
          <a:bodyPr/>
          <a:lstStyle/>
          <a:p>
            <a:r>
              <a:rPr lang="en-US" dirty="0">
                <a:latin typeface="Arial" panose="020B0604020202020204" pitchFamily="34" charset="0"/>
                <a:cs typeface="Arial" panose="020B0604020202020204" pitchFamily="34" charset="0"/>
              </a:rPr>
              <a:t>Gate oxide tunneling</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858297" y="1592826"/>
            <a:ext cx="9646315" cy="4542982"/>
          </a:xfrm>
        </p:spPr>
        <p:txBody>
          <a:bodyPr>
            <a:normAutofit lnSpcReduction="10000"/>
          </a:bodyPr>
          <a:lstStyle/>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endParaRPr lang="en-US" sz="1200" b="1" kern="0" dirty="0">
              <a:solidFill>
                <a:srgbClr val="000000"/>
              </a:solidFill>
              <a:latin typeface="Arial"/>
            </a:endParaRPr>
          </a:p>
          <a:p>
            <a:pPr lvl="0" algn="just" defTabSz="914400" fontAlgn="base">
              <a:spcBef>
                <a:spcPct val="20000"/>
              </a:spcBef>
              <a:spcAft>
                <a:spcPct val="0"/>
              </a:spcAft>
              <a:buClr>
                <a:srgbClr val="CCCC99"/>
              </a:buClr>
              <a:buSzPct val="70000"/>
              <a:buFont typeface="Wingdings" pitchFamily="2" charset="2"/>
              <a:buChar char="l"/>
            </a:pPr>
            <a:r>
              <a:rPr lang="en-US" sz="1200" b="1" kern="0" dirty="0">
                <a:solidFill>
                  <a:srgbClr val="000000"/>
                </a:solidFill>
                <a:latin typeface="Arial"/>
              </a:rPr>
              <a:t>Figure : </a:t>
            </a:r>
            <a:r>
              <a:rPr lang="en-US" sz="1200" kern="0" dirty="0">
                <a:solidFill>
                  <a:srgbClr val="000000"/>
                </a:solidFill>
                <a:latin typeface="Arial"/>
              </a:rPr>
              <a:t>Tunneling of electron through an MOS capacitor (a) Energy band diagram at flat-band condition. (b) Energy band diagram with positive gate bias showing tunneling of electron from substrate to gate. (c) Energy-band diagram at negative gate bias showing tunneling of electron from gate to substrate</a:t>
            </a:r>
          </a:p>
          <a:p>
            <a:endParaRPr lang="en-IN" dirty="0"/>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5" name="Picture 3"/>
          <p:cNvPicPr>
            <a:picLocks noChangeAspect="1" noChangeArrowheads="1"/>
          </p:cNvPicPr>
          <p:nvPr/>
        </p:nvPicPr>
        <p:blipFill>
          <a:blip r:embed="rId2" cstate="print"/>
          <a:srcRect/>
          <a:stretch>
            <a:fillRect/>
          </a:stretch>
        </p:blipFill>
        <p:spPr bwMode="auto">
          <a:xfrm>
            <a:off x="2266336" y="1592826"/>
            <a:ext cx="8610600" cy="3405188"/>
          </a:xfrm>
          <a:prstGeom prst="rect">
            <a:avLst/>
          </a:prstGeom>
          <a:noFill/>
          <a:ln w="9525">
            <a:noFill/>
            <a:miter lim="800000"/>
            <a:headEnd/>
            <a:tailEnd/>
          </a:ln>
          <a:effectLst/>
        </p:spPr>
      </p:pic>
    </p:spTree>
    <p:extLst>
      <p:ext uri="{BB962C8B-B14F-4D97-AF65-F5344CB8AC3E}">
        <p14:creationId xmlns:p14="http://schemas.microsoft.com/office/powerpoint/2010/main" val="3163862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BFE3618-8387-4153-870E-99EA1B978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2" name="Title 1">
            <a:extLst>
              <a:ext uri="{FF2B5EF4-FFF2-40B4-BE49-F238E27FC236}">
                <a16:creationId xmlns:a16="http://schemas.microsoft.com/office/drawing/2014/main" id="{54D618D5-AC42-4E3B-8656-E530AC99F034}"/>
              </a:ext>
            </a:extLst>
          </p:cNvPr>
          <p:cNvSpPr>
            <a:spLocks noGrp="1"/>
          </p:cNvSpPr>
          <p:nvPr>
            <p:ph type="title"/>
          </p:nvPr>
        </p:nvSpPr>
        <p:spPr>
          <a:xfrm>
            <a:off x="649225" y="138829"/>
            <a:ext cx="7405714" cy="826318"/>
          </a:xfrm>
        </p:spPr>
        <p:txBody>
          <a:bodyPr>
            <a:normAutofit/>
          </a:bodyPr>
          <a:lstStyle/>
          <a:p>
            <a:r>
              <a:rPr lang="en-IN" dirty="0"/>
              <a:t>Gate-Induced Drain Leakage</a:t>
            </a:r>
          </a:p>
        </p:txBody>
      </p:sp>
      <p:sp>
        <p:nvSpPr>
          <p:cNvPr id="13" name="Rectangle 12">
            <a:extLst>
              <a:ext uri="{FF2B5EF4-FFF2-40B4-BE49-F238E27FC236}">
                <a16:creationId xmlns:a16="http://schemas.microsoft.com/office/drawing/2014/main" id="{BB99A42A-5548-4BB8-9115-A05821C360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B1E70576-A2C2-4BC6-840E-3BA0B8C712C8}"/>
              </a:ext>
            </a:extLst>
          </p:cNvPr>
          <p:cNvSpPr>
            <a:spLocks noGrp="1"/>
          </p:cNvSpPr>
          <p:nvPr>
            <p:ph idx="1"/>
          </p:nvPr>
        </p:nvSpPr>
        <p:spPr>
          <a:xfrm>
            <a:off x="372952" y="965148"/>
            <a:ext cx="7892497" cy="4927706"/>
          </a:xfrm>
        </p:spPr>
        <p:txBody>
          <a:bodyPr>
            <a:normAutofit/>
          </a:bodyPr>
          <a:lstStyle/>
          <a:p>
            <a:pPr algn="just">
              <a:lnSpc>
                <a:spcPct val="90000"/>
              </a:lnSpc>
            </a:pPr>
            <a:r>
              <a:rPr lang="en-US" dirty="0">
                <a:latin typeface="Arial" panose="020B0604020202020204" pitchFamily="34" charset="0"/>
                <a:cs typeface="Arial" panose="020B0604020202020204" pitchFamily="34" charset="0"/>
              </a:rPr>
              <a:t>Due to a high electric field (</a:t>
            </a:r>
            <a:r>
              <a:rPr lang="en-US" dirty="0" err="1">
                <a:latin typeface="Arial" panose="020B0604020202020204" pitchFamily="34" charset="0"/>
                <a:cs typeface="Arial" panose="020B0604020202020204" pitchFamily="34" charset="0"/>
              </a:rPr>
              <a:t>Vdg</a:t>
            </a:r>
            <a:r>
              <a:rPr lang="en-US" dirty="0">
                <a:latin typeface="Arial" panose="020B0604020202020204" pitchFamily="34" charset="0"/>
                <a:cs typeface="Arial" panose="020B0604020202020204" pitchFamily="34" charset="0"/>
              </a:rPr>
              <a:t>) across the oxide, a deep depletion region under the drain overlap region is created, which generates electrons and holes by band-to-band tunneling. </a:t>
            </a:r>
          </a:p>
          <a:p>
            <a:pPr algn="just">
              <a:lnSpc>
                <a:spcPct val="90000"/>
              </a:lnSpc>
            </a:pPr>
            <a:r>
              <a:rPr lang="en-US" dirty="0">
                <a:latin typeface="Arial" panose="020B0604020202020204" pitchFamily="34" charset="0"/>
                <a:cs typeface="Arial" panose="020B0604020202020204" pitchFamily="34" charset="0"/>
              </a:rPr>
              <a:t>The resulting drain to body current is called GIDL current. When the negative gate bias is large ( v, gate at zero or negative voltages with respect to drain at </a:t>
            </a:r>
            <a:r>
              <a:rPr lang="en-US" dirty="0" err="1">
                <a:latin typeface="Arial" panose="020B0604020202020204" pitchFamily="34" charset="0"/>
                <a:cs typeface="Arial" panose="020B0604020202020204" pitchFamily="34" charset="0"/>
              </a:rPr>
              <a:t>Vdd</a:t>
            </a:r>
            <a:r>
              <a:rPr lang="en-US" dirty="0">
                <a:latin typeface="Arial" panose="020B0604020202020204" pitchFamily="34" charset="0"/>
                <a:cs typeface="Arial" panose="020B0604020202020204" pitchFamily="34" charset="0"/>
              </a:rPr>
              <a:t>), the n+ region under the gate can be depleted and even inverted as shown in Fig. </a:t>
            </a:r>
          </a:p>
          <a:p>
            <a:pPr algn="just">
              <a:lnSpc>
                <a:spcPct val="90000"/>
              </a:lnSpc>
            </a:pPr>
            <a:r>
              <a:rPr lang="en-US" b="0" i="0" u="none" strike="noStrike" baseline="0" dirty="0">
                <a:latin typeface="Arial" panose="020B0604020202020204" pitchFamily="34" charset="0"/>
                <a:cs typeface="Arial" panose="020B0604020202020204" pitchFamily="34" charset="0"/>
              </a:rPr>
              <a:t>As a consequence, minority carriers are emitted in the drain region underneath the gate. </a:t>
            </a:r>
          </a:p>
          <a:p>
            <a:pPr algn="just">
              <a:lnSpc>
                <a:spcPct val="90000"/>
              </a:lnSpc>
            </a:pPr>
            <a:r>
              <a:rPr lang="en-US" b="0" i="0" u="none" strike="noStrike" baseline="0" dirty="0">
                <a:latin typeface="Arial" panose="020B0604020202020204" pitchFamily="34" charset="0"/>
                <a:cs typeface="Arial" panose="020B0604020202020204" pitchFamily="34" charset="0"/>
              </a:rPr>
              <a:t>As the substrate is at a lower potential, the minority carriers at the drain depletion region are swept away laterally to the substrate, creating </a:t>
            </a:r>
            <a:r>
              <a:rPr lang="en-IN" b="0" i="0" u="none" strike="noStrike" baseline="0" dirty="0">
                <a:latin typeface="Arial" panose="020B0604020202020204" pitchFamily="34" charset="0"/>
                <a:cs typeface="Arial" panose="020B0604020202020204" pitchFamily="34" charset="0"/>
              </a:rPr>
              <a:t>a GIDL current. </a:t>
            </a:r>
          </a:p>
          <a:p>
            <a:pPr algn="just">
              <a:lnSpc>
                <a:spcPct val="90000"/>
              </a:lnSpc>
            </a:pPr>
            <a:r>
              <a:rPr lang="en-US" b="0" i="0" u="none" strike="noStrike" baseline="0" dirty="0">
                <a:latin typeface="Arial" panose="020B0604020202020204" pitchFamily="34" charset="0"/>
                <a:cs typeface="Arial" panose="020B0604020202020204" pitchFamily="34" charset="0"/>
              </a:rPr>
              <a:t>Thinner oxide thickness and higher </a:t>
            </a:r>
            <a:r>
              <a:rPr lang="en-US" b="0" i="1" u="none" strike="noStrike" baseline="0" dirty="0" err="1">
                <a:latin typeface="Arial" panose="020B0604020202020204" pitchFamily="34" charset="0"/>
                <a:cs typeface="Arial" panose="020B0604020202020204" pitchFamily="34" charset="0"/>
              </a:rPr>
              <a:t>V</a:t>
            </a:r>
            <a:r>
              <a:rPr lang="en-US" b="0" i="0" u="none" strike="noStrike" baseline="0" dirty="0" err="1">
                <a:latin typeface="Arial" panose="020B0604020202020204" pitchFamily="34" charset="0"/>
                <a:cs typeface="Arial" panose="020B0604020202020204" pitchFamily="34" charset="0"/>
              </a:rPr>
              <a:t>dd</a:t>
            </a:r>
            <a:r>
              <a:rPr lang="en-US" b="0" i="0" u="none" strike="noStrike" baseline="0" dirty="0">
                <a:latin typeface="Arial" panose="020B0604020202020204" pitchFamily="34" charset="0"/>
                <a:cs typeface="Arial" panose="020B0604020202020204" pitchFamily="34" charset="0"/>
              </a:rPr>
              <a:t> enhance the electric field and therefore enhance GIDL current.</a:t>
            </a:r>
            <a:endParaRPr lang="en-IN" dirty="0">
              <a:latin typeface="Arial" panose="020B0604020202020204" pitchFamily="34" charset="0"/>
              <a:cs typeface="Arial" panose="020B0604020202020204" pitchFamily="34" charset="0"/>
            </a:endParaRPr>
          </a:p>
        </p:txBody>
      </p:sp>
      <p:pic>
        <p:nvPicPr>
          <p:cNvPr id="6" name="Picture 5" descr="Diagram&#10;&#10;Description automatically generated">
            <a:extLst>
              <a:ext uri="{FF2B5EF4-FFF2-40B4-BE49-F238E27FC236}">
                <a16:creationId xmlns:a16="http://schemas.microsoft.com/office/drawing/2014/main" id="{89EB00C6-4B56-4092-989C-16C748D9496C}"/>
              </a:ext>
            </a:extLst>
          </p:cNvPr>
          <p:cNvPicPr>
            <a:picLocks noChangeAspect="1"/>
          </p:cNvPicPr>
          <p:nvPr/>
        </p:nvPicPr>
        <p:blipFill>
          <a:blip r:embed="rId2"/>
          <a:stretch>
            <a:fillRect/>
          </a:stretch>
        </p:blipFill>
        <p:spPr>
          <a:xfrm>
            <a:off x="8265449" y="4749"/>
            <a:ext cx="3926551" cy="6740860"/>
          </a:xfrm>
          <a:prstGeom prst="rect">
            <a:avLst/>
          </a:prstGeom>
        </p:spPr>
      </p:pic>
      <p:sp>
        <p:nvSpPr>
          <p:cNvPr id="15" name="Freeform 11">
            <a:extLst>
              <a:ext uri="{FF2B5EF4-FFF2-40B4-BE49-F238E27FC236}">
                <a16:creationId xmlns:a16="http://schemas.microsoft.com/office/drawing/2014/main" id="{D49441E5-946F-46B3-BDD2-BAD088532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4" name="Footer Placeholder 3">
            <a:extLst>
              <a:ext uri="{FF2B5EF4-FFF2-40B4-BE49-F238E27FC236}">
                <a16:creationId xmlns:a16="http://schemas.microsoft.com/office/drawing/2014/main" id="{8D81074C-1AF5-4DF7-B7DB-1EE385F22315}"/>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6040376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9BD230D-0708-4782-93C2-6421485EDE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2" name="Title 1">
            <a:extLst>
              <a:ext uri="{FF2B5EF4-FFF2-40B4-BE49-F238E27FC236}">
                <a16:creationId xmlns:a16="http://schemas.microsoft.com/office/drawing/2014/main" id="{DF07453C-8140-42E4-860F-BE2E703D382A}"/>
              </a:ext>
            </a:extLst>
          </p:cNvPr>
          <p:cNvSpPr>
            <a:spLocks noGrp="1"/>
          </p:cNvSpPr>
          <p:nvPr>
            <p:ph type="title"/>
          </p:nvPr>
        </p:nvSpPr>
        <p:spPr>
          <a:xfrm>
            <a:off x="649224" y="645106"/>
            <a:ext cx="6574536" cy="1259894"/>
          </a:xfrm>
        </p:spPr>
        <p:txBody>
          <a:bodyPr>
            <a:normAutofit/>
          </a:bodyPr>
          <a:lstStyle/>
          <a:p>
            <a:r>
              <a:rPr lang="en-IN" dirty="0"/>
              <a:t>Vth Roll-Off</a:t>
            </a:r>
          </a:p>
        </p:txBody>
      </p:sp>
      <p:sp>
        <p:nvSpPr>
          <p:cNvPr id="13" name="Rectangle 12">
            <a:extLst>
              <a:ext uri="{FF2B5EF4-FFF2-40B4-BE49-F238E27FC236}">
                <a16:creationId xmlns:a16="http://schemas.microsoft.com/office/drawing/2014/main" id="{D630D25A-547E-4D17-B65E-FA2B888931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82358129-C2FF-402B-9282-831B18A34D8A}"/>
              </a:ext>
            </a:extLst>
          </p:cNvPr>
          <p:cNvSpPr>
            <a:spLocks noGrp="1"/>
          </p:cNvSpPr>
          <p:nvPr>
            <p:ph idx="1"/>
          </p:nvPr>
        </p:nvSpPr>
        <p:spPr>
          <a:xfrm>
            <a:off x="300932" y="1366464"/>
            <a:ext cx="6922828" cy="4526390"/>
          </a:xfrm>
        </p:spPr>
        <p:txBody>
          <a:bodyPr>
            <a:normAutofit/>
          </a:bodyPr>
          <a:lstStyle/>
          <a:p>
            <a:pPr algn="just"/>
            <a:r>
              <a:rPr lang="en-US" dirty="0">
                <a:latin typeface="Arial" panose="020B0604020202020204" pitchFamily="34" charset="0"/>
                <a:cs typeface="Arial" panose="020B0604020202020204" pitchFamily="34" charset="0"/>
              </a:rPr>
              <a:t>As the channel length is reduced, the threshold voltage of metal–oxide–semiconductor field-effect transistor (MOSFET) decreases.</a:t>
            </a:r>
          </a:p>
          <a:p>
            <a:pPr algn="just"/>
            <a:r>
              <a:rPr lang="en-US" b="0" i="0" u="none" strike="noStrike" baseline="0" dirty="0">
                <a:latin typeface="Arial" panose="020B0604020202020204" pitchFamily="34" charset="0"/>
                <a:cs typeface="Arial" panose="020B0604020202020204" pitchFamily="34" charset="0"/>
              </a:rPr>
              <a:t>This reduction of channel length is known as </a:t>
            </a:r>
            <a:r>
              <a:rPr lang="en-US" b="0" i="1" u="none" strike="noStrike" baseline="0" dirty="0">
                <a:latin typeface="Arial" panose="020B0604020202020204" pitchFamily="34" charset="0"/>
                <a:cs typeface="Arial" panose="020B0604020202020204" pitchFamily="34" charset="0"/>
              </a:rPr>
              <a:t>V</a:t>
            </a:r>
            <a:r>
              <a:rPr lang="en-US" b="0" i="0" u="none" strike="noStrike" baseline="0" dirty="0">
                <a:latin typeface="Arial" panose="020B0604020202020204" pitchFamily="34" charset="0"/>
                <a:cs typeface="Arial" panose="020B0604020202020204" pitchFamily="34" charset="0"/>
              </a:rPr>
              <a:t>th roll-off. Figure  shows the reduction of threshold voltage with a reduction in channel length.</a:t>
            </a:r>
          </a:p>
          <a:p>
            <a:r>
              <a:rPr lang="en-US" dirty="0">
                <a:latin typeface="Arial" panose="020B0604020202020204" pitchFamily="34" charset="0"/>
                <a:cs typeface="Arial" panose="020B0604020202020204" pitchFamily="34" charset="0"/>
              </a:rPr>
              <a:t>The bulk change that needs to be inverted by the application of gate voltage is proportional to the area under the trapezoidal region </a:t>
            </a:r>
          </a:p>
          <a:p>
            <a:pPr algn="l"/>
            <a:endParaRPr lang="en-US" sz="1800" b="0" i="0" u="none" strike="noStrike" baseline="0" dirty="0">
              <a:latin typeface="TimesNewRomanPSMT"/>
            </a:endParaRPr>
          </a:p>
          <a:p>
            <a:pPr algn="just"/>
            <a:r>
              <a:rPr lang="en-US" dirty="0">
                <a:latin typeface="Arial" panose="020B0604020202020204" pitchFamily="34" charset="0"/>
                <a:cs typeface="Arial" panose="020B0604020202020204" pitchFamily="34" charset="0"/>
              </a:rPr>
              <a:t>T</a:t>
            </a:r>
            <a:r>
              <a:rPr lang="en-US" sz="1800" b="0" i="0" u="none" strike="noStrike" baseline="0" dirty="0">
                <a:latin typeface="Arial" panose="020B0604020202020204" pitchFamily="34" charset="0"/>
                <a:cs typeface="Arial" panose="020B0604020202020204" pitchFamily="34" charset="0"/>
              </a:rPr>
              <a:t>he gate voltage has to invert less bulk charge to turn the transistor on leading to more band bending in the Si–SiO2 interface in the short-channel device compared to long-channel devices.</a:t>
            </a:r>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6FC27C7-3033-40D9-90B4-8AF0ADD08FD6}"/>
              </a:ext>
            </a:extLst>
          </p:cNvPr>
          <p:cNvPicPr>
            <a:picLocks noChangeAspect="1"/>
          </p:cNvPicPr>
          <p:nvPr/>
        </p:nvPicPr>
        <p:blipFill>
          <a:blip r:embed="rId2"/>
          <a:stretch>
            <a:fillRect/>
          </a:stretch>
        </p:blipFill>
        <p:spPr>
          <a:xfrm>
            <a:off x="7572053" y="4747"/>
            <a:ext cx="4541177" cy="6910915"/>
          </a:xfrm>
          <a:prstGeom prst="rect">
            <a:avLst/>
          </a:prstGeom>
        </p:spPr>
      </p:pic>
      <p:sp>
        <p:nvSpPr>
          <p:cNvPr id="15" name="Freeform 11">
            <a:extLst>
              <a:ext uri="{FF2B5EF4-FFF2-40B4-BE49-F238E27FC236}">
                <a16:creationId xmlns:a16="http://schemas.microsoft.com/office/drawing/2014/main" id="{F39C56FC-EE04-4CE0-8DE2-736A201E9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4" name="Footer Placeholder 3">
            <a:extLst>
              <a:ext uri="{FF2B5EF4-FFF2-40B4-BE49-F238E27FC236}">
                <a16:creationId xmlns:a16="http://schemas.microsoft.com/office/drawing/2014/main" id="{518F7685-6ACA-4497-A98E-B0CED42E2594}"/>
              </a:ext>
            </a:extLst>
          </p:cNvPr>
          <p:cNvSpPr>
            <a:spLocks noGrp="1"/>
          </p:cNvSpPr>
          <p:nvPr>
            <p:ph type="ftr" sz="quarter" idx="11"/>
          </p:nvPr>
        </p:nvSpPr>
        <p:spPr>
          <a:xfrm>
            <a:off x="1220916" y="6135808"/>
            <a:ext cx="7619999" cy="36512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pic>
        <p:nvPicPr>
          <p:cNvPr id="8" name="Picture 7">
            <a:extLst>
              <a:ext uri="{FF2B5EF4-FFF2-40B4-BE49-F238E27FC236}">
                <a16:creationId xmlns:a16="http://schemas.microsoft.com/office/drawing/2014/main" id="{028AA25A-C7CA-4B98-9CE0-EC40405ED04B}"/>
              </a:ext>
            </a:extLst>
          </p:cNvPr>
          <p:cNvPicPr>
            <a:picLocks noChangeAspect="1"/>
          </p:cNvPicPr>
          <p:nvPr/>
        </p:nvPicPr>
        <p:blipFill>
          <a:blip r:embed="rId3"/>
          <a:stretch>
            <a:fillRect/>
          </a:stretch>
        </p:blipFill>
        <p:spPr>
          <a:xfrm>
            <a:off x="1467439" y="3880155"/>
            <a:ext cx="1881937" cy="326050"/>
          </a:xfrm>
          <a:prstGeom prst="rect">
            <a:avLst/>
          </a:prstGeom>
        </p:spPr>
      </p:pic>
    </p:spTree>
    <p:extLst>
      <p:ext uri="{BB962C8B-B14F-4D97-AF65-F5344CB8AC3E}">
        <p14:creationId xmlns:p14="http://schemas.microsoft.com/office/powerpoint/2010/main" val="29026064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5B05-BA08-4E39-80C8-DCABFBE5BE4B}"/>
              </a:ext>
            </a:extLst>
          </p:cNvPr>
          <p:cNvSpPr>
            <a:spLocks noGrp="1"/>
          </p:cNvSpPr>
          <p:nvPr>
            <p:ph type="title"/>
          </p:nvPr>
        </p:nvSpPr>
        <p:spPr>
          <a:xfrm>
            <a:off x="1627632" y="624109"/>
            <a:ext cx="1382696" cy="5614951"/>
          </a:xfrm>
        </p:spPr>
        <p:txBody>
          <a:bodyPr>
            <a:normAutofit/>
          </a:bodyPr>
          <a:lstStyle/>
          <a:p>
            <a:r>
              <a:rPr lang="en-IN" sz="2700" dirty="0"/>
              <a:t>Temperature Effect</a:t>
            </a:r>
          </a:p>
        </p:txBody>
      </p:sp>
      <p:sp>
        <p:nvSpPr>
          <p:cNvPr id="17" name="Content Placeholder 2">
            <a:extLst>
              <a:ext uri="{FF2B5EF4-FFF2-40B4-BE49-F238E27FC236}">
                <a16:creationId xmlns:a16="http://schemas.microsoft.com/office/drawing/2014/main" id="{1E36C080-9C71-4D56-B08B-503413751400}"/>
              </a:ext>
            </a:extLst>
          </p:cNvPr>
          <p:cNvSpPr>
            <a:spLocks noGrp="1"/>
          </p:cNvSpPr>
          <p:nvPr>
            <p:ph idx="1"/>
          </p:nvPr>
        </p:nvSpPr>
        <p:spPr>
          <a:xfrm>
            <a:off x="3113070" y="192706"/>
            <a:ext cx="8887146" cy="3777622"/>
          </a:xfrm>
        </p:spPr>
        <p:txBody>
          <a:bodyPr>
            <a:noAutofit/>
          </a:bodyPr>
          <a:lstStyle/>
          <a:p>
            <a:pPr>
              <a:lnSpc>
                <a:spcPct val="90000"/>
              </a:lnSpc>
            </a:pPr>
            <a:r>
              <a:rPr lang="en-US" dirty="0">
                <a:latin typeface="Arial" panose="020B0604020202020204" pitchFamily="34" charset="0"/>
                <a:cs typeface="Arial" panose="020B0604020202020204" pitchFamily="34" charset="0"/>
              </a:rPr>
              <a:t>There is a strong dependence of threshold voltage on temperature. </a:t>
            </a:r>
          </a:p>
          <a:p>
            <a:pPr>
              <a:lnSpc>
                <a:spcPct val="90000"/>
              </a:lnSpc>
            </a:pPr>
            <a:r>
              <a:rPr lang="en-IN" b="0" i="0" u="none" strike="noStrike" baseline="0" dirty="0">
                <a:latin typeface="Arial" panose="020B0604020202020204" pitchFamily="34" charset="0"/>
                <a:cs typeface="Arial" panose="020B0604020202020204" pitchFamily="34" charset="0"/>
              </a:rPr>
              <a:t>The equation                                  </a:t>
            </a:r>
            <a:r>
              <a:rPr lang="en-US" b="0" i="0" u="none" strike="noStrike" baseline="0" dirty="0">
                <a:latin typeface="Arial" panose="020B0604020202020204" pitchFamily="34" charset="0"/>
                <a:cs typeface="Arial" panose="020B0604020202020204" pitchFamily="34" charset="0"/>
              </a:rPr>
              <a:t>indicates that the subthreshold slope changes </a:t>
            </a:r>
          </a:p>
          <a:p>
            <a:pPr>
              <a:lnSpc>
                <a:spcPct val="90000"/>
              </a:lnSpc>
            </a:pPr>
            <a:r>
              <a:rPr lang="en-US" b="0" i="0" u="none" strike="noStrike" baseline="0" dirty="0">
                <a:latin typeface="Arial" panose="020B0604020202020204" pitchFamily="34" charset="0"/>
                <a:cs typeface="Arial" panose="020B0604020202020204" pitchFamily="34" charset="0"/>
              </a:rPr>
              <a:t>linearly with </a:t>
            </a:r>
            <a:r>
              <a:rPr lang="en-IN" b="0" i="0" u="none" strike="noStrike" baseline="0" dirty="0">
                <a:latin typeface="Arial" panose="020B0604020202020204" pitchFamily="34" charset="0"/>
                <a:cs typeface="Arial" panose="020B0604020202020204" pitchFamily="34" charset="0"/>
              </a:rPr>
              <a:t>temperature.</a:t>
            </a:r>
          </a:p>
          <a:p>
            <a:pPr>
              <a:lnSpc>
                <a:spcPct val="90000"/>
              </a:lnSpc>
            </a:pPr>
            <a:r>
              <a:rPr lang="en-US" b="0" i="0" u="none" strike="noStrike" baseline="0" dirty="0">
                <a:latin typeface="Arial" panose="020B0604020202020204" pitchFamily="34" charset="0"/>
                <a:cs typeface="Arial" panose="020B0604020202020204" pitchFamily="34" charset="0"/>
              </a:rPr>
              <a:t>For a 0.3-μm technology, </a:t>
            </a:r>
            <a:r>
              <a:rPr lang="en-US" b="0" i="1" u="none" strike="noStrike" baseline="0" dirty="0">
                <a:latin typeface="Arial" panose="020B0604020202020204" pitchFamily="34" charset="0"/>
                <a:cs typeface="Arial" panose="020B0604020202020204" pitchFamily="34" charset="0"/>
              </a:rPr>
              <a:t>S</a:t>
            </a:r>
            <a:r>
              <a:rPr lang="en-US" b="0" i="0" u="none" strike="noStrike" baseline="0" dirty="0">
                <a:latin typeface="Arial" panose="020B0604020202020204" pitchFamily="34" charset="0"/>
                <a:cs typeface="Arial" panose="020B0604020202020204" pitchFamily="34" charset="0"/>
              </a:rPr>
              <a:t>t varies from 58.2 to 81.9 mV/decade. As the temperature varies from − 50 to + 25 °C in the 0.3-μm technology as shown in Figure </a:t>
            </a:r>
          </a:p>
          <a:p>
            <a:pPr>
              <a:lnSpc>
                <a:spcPct val="90000"/>
              </a:lnSpc>
            </a:pPr>
            <a:r>
              <a:rPr lang="en-US" dirty="0">
                <a:latin typeface="Arial" panose="020B0604020202020204" pitchFamily="34" charset="0"/>
                <a:cs typeface="Arial" panose="020B0604020202020204" pitchFamily="34" charset="0"/>
              </a:rPr>
              <a:t>T</a:t>
            </a:r>
            <a:r>
              <a:rPr lang="en-US" b="0" i="0" u="none" strike="noStrike" baseline="0" dirty="0">
                <a:latin typeface="Arial" panose="020B0604020202020204" pitchFamily="34" charset="0"/>
                <a:cs typeface="Arial" panose="020B0604020202020204" pitchFamily="34" charset="0"/>
              </a:rPr>
              <a:t>he </a:t>
            </a:r>
            <a:r>
              <a:rPr lang="en-US" b="0" i="1" u="none" strike="noStrike" baseline="0" dirty="0">
                <a:latin typeface="Arial" panose="020B0604020202020204" pitchFamily="34" charset="0"/>
                <a:cs typeface="Arial" panose="020B0604020202020204" pitchFamily="34" charset="0"/>
              </a:rPr>
              <a:t>I</a:t>
            </a:r>
            <a:r>
              <a:rPr lang="en-US" b="0" i="0" u="none" strike="noStrike" baseline="-25000" dirty="0">
                <a:latin typeface="Arial" panose="020B0604020202020204" pitchFamily="34" charset="0"/>
                <a:cs typeface="Arial" panose="020B0604020202020204" pitchFamily="34" charset="0"/>
              </a:rPr>
              <a:t>OFF</a:t>
            </a:r>
            <a:r>
              <a:rPr lang="en-US" b="0" i="0" u="none" strike="noStrike" baseline="0" dirty="0">
                <a:latin typeface="Arial" panose="020B0604020202020204" pitchFamily="34" charset="0"/>
                <a:cs typeface="Arial" panose="020B0604020202020204" pitchFamily="34" charset="0"/>
              </a:rPr>
              <a:t> increases from 0.45 to 100 </a:t>
            </a:r>
            <a:r>
              <a:rPr lang="en-US" b="0" i="0" u="none" strike="noStrike" baseline="0" dirty="0" err="1">
                <a:latin typeface="Arial" panose="020B0604020202020204" pitchFamily="34" charset="0"/>
                <a:cs typeface="Arial" panose="020B0604020202020204" pitchFamily="34" charset="0"/>
              </a:rPr>
              <a:t>pA</a:t>
            </a:r>
            <a:r>
              <a:rPr lang="en-US" b="0" i="0" u="none" strike="noStrike" baseline="0" dirty="0">
                <a:latin typeface="Arial" panose="020B0604020202020204" pitchFamily="34" charset="0"/>
                <a:cs typeface="Arial" panose="020B0604020202020204" pitchFamily="34" charset="0"/>
              </a:rPr>
              <a:t>, an increase by a factor of 356, for </a:t>
            </a:r>
            <a:r>
              <a:rPr lang="en-IN" b="0" i="0" u="none" strike="noStrike" baseline="0" dirty="0">
                <a:latin typeface="Arial" panose="020B0604020202020204" pitchFamily="34" charset="0"/>
                <a:cs typeface="Arial" panose="020B0604020202020204" pitchFamily="34" charset="0"/>
              </a:rPr>
              <a:t>a 20-</a:t>
            </a:r>
            <a:r>
              <a:rPr lang="el-GR" b="0" i="0" u="none" strike="noStrike" baseline="0" dirty="0">
                <a:latin typeface="Arial" panose="020B0604020202020204" pitchFamily="34" charset="0"/>
                <a:cs typeface="Arial" panose="020B0604020202020204" pitchFamily="34" charset="0"/>
              </a:rPr>
              <a:t>μ</a:t>
            </a:r>
            <a:r>
              <a:rPr lang="en-IN" b="0" i="0" u="none" strike="noStrike" baseline="0" dirty="0">
                <a:latin typeface="Arial" panose="020B0604020202020204" pitchFamily="34" charset="0"/>
                <a:cs typeface="Arial" panose="020B0604020202020204" pitchFamily="34" charset="0"/>
              </a:rPr>
              <a:t>m-wide device.</a:t>
            </a:r>
            <a:r>
              <a:rPr lang="en-US" b="0" i="0" u="none" strike="noStrike" baseline="0" dirty="0">
                <a:latin typeface="Arial" panose="020B0604020202020204" pitchFamily="34" charset="0"/>
                <a:cs typeface="Arial" panose="020B0604020202020204" pitchFamily="34" charset="0"/>
              </a:rPr>
              <a:t>The following two parameters are responsible for increases in subthreshold leakage current:</a:t>
            </a:r>
          </a:p>
          <a:p>
            <a:pPr>
              <a:lnSpc>
                <a:spcPct val="90000"/>
              </a:lnSpc>
            </a:pPr>
            <a:r>
              <a:rPr lang="en-US" b="0" i="0" u="none" strike="noStrike" baseline="0" dirty="0">
                <a:latin typeface="Arial" panose="020B0604020202020204" pitchFamily="34" charset="0"/>
                <a:cs typeface="Arial" panose="020B0604020202020204" pitchFamily="34" charset="0"/>
              </a:rPr>
              <a:t>(</a:t>
            </a:r>
            <a:r>
              <a:rPr lang="en-US" b="0" i="0" u="none" strike="noStrike" baseline="0" dirty="0" err="1">
                <a:latin typeface="Arial" panose="020B0604020202020204" pitchFamily="34" charset="0"/>
                <a:cs typeface="Arial" panose="020B0604020202020204" pitchFamily="34" charset="0"/>
              </a:rPr>
              <a:t>i</a:t>
            </a:r>
            <a:r>
              <a:rPr lang="en-US" b="0" i="0" u="none" strike="noStrike" baseline="0" dirty="0">
                <a:latin typeface="Arial" panose="020B0604020202020204" pitchFamily="34" charset="0"/>
                <a:cs typeface="Arial" panose="020B0604020202020204" pitchFamily="34" charset="0"/>
              </a:rPr>
              <a:t>) </a:t>
            </a:r>
            <a:r>
              <a:rPr lang="en-US" b="0" i="1" u="none" strike="noStrike" baseline="0" dirty="0">
                <a:latin typeface="Arial" panose="020B0604020202020204" pitchFamily="34" charset="0"/>
                <a:cs typeface="Arial" panose="020B0604020202020204" pitchFamily="34" charset="0"/>
              </a:rPr>
              <a:t>S</a:t>
            </a:r>
            <a:r>
              <a:rPr lang="en-US" b="0" i="0" u="none" strike="noStrike" baseline="0" dirty="0">
                <a:latin typeface="Arial" panose="020B0604020202020204" pitchFamily="34" charset="0"/>
                <a:cs typeface="Arial" panose="020B0604020202020204" pitchFamily="34" charset="0"/>
              </a:rPr>
              <a:t>t increases linearly with temperature.</a:t>
            </a:r>
          </a:p>
          <a:p>
            <a:pPr>
              <a:lnSpc>
                <a:spcPct val="90000"/>
              </a:lnSpc>
            </a:pPr>
            <a:r>
              <a:rPr lang="en-US" b="0" i="0" u="none" strike="noStrike" baseline="0" dirty="0">
                <a:latin typeface="Arial" panose="020B0604020202020204" pitchFamily="34" charset="0"/>
                <a:cs typeface="Arial" panose="020B0604020202020204" pitchFamily="34" charset="0"/>
              </a:rPr>
              <a:t>(ii) The threshold voltage decreases with temperature at the rate of 0.8 mV/°C.</a:t>
            </a:r>
            <a:endParaRPr lang="en-IN" dirty="0">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68054619-AC65-4B1D-BA88-F4CD9F77F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07826" y="4553082"/>
            <a:ext cx="6804597" cy="1685977"/>
          </a:xfrm>
          <a:prstGeom prst="rect">
            <a:avLst/>
          </a:prstGeom>
          <a:solidFill>
            <a:srgbClr val="FFFFFE"/>
          </a:solidFill>
          <a:ln w="1270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pic>
        <p:nvPicPr>
          <p:cNvPr id="8" name="Picture 7" descr="Diagram&#10;&#10;Description automatically generated">
            <a:extLst>
              <a:ext uri="{FF2B5EF4-FFF2-40B4-BE49-F238E27FC236}">
                <a16:creationId xmlns:a16="http://schemas.microsoft.com/office/drawing/2014/main" id="{BD4FE5A8-06CA-44AC-B72F-C8BA6CE6CE8E}"/>
              </a:ext>
            </a:extLst>
          </p:cNvPr>
          <p:cNvPicPr>
            <a:picLocks noChangeAspect="1"/>
          </p:cNvPicPr>
          <p:nvPr/>
        </p:nvPicPr>
        <p:blipFill>
          <a:blip r:embed="rId2"/>
          <a:stretch>
            <a:fillRect/>
          </a:stretch>
        </p:blipFill>
        <p:spPr>
          <a:xfrm>
            <a:off x="3323920" y="3791164"/>
            <a:ext cx="8779038" cy="3118313"/>
          </a:xfrm>
          <a:prstGeom prst="rect">
            <a:avLst/>
          </a:prstGeom>
        </p:spPr>
      </p:pic>
      <p:pic>
        <p:nvPicPr>
          <p:cNvPr id="6" name="Picture 5">
            <a:extLst>
              <a:ext uri="{FF2B5EF4-FFF2-40B4-BE49-F238E27FC236}">
                <a16:creationId xmlns:a16="http://schemas.microsoft.com/office/drawing/2014/main" id="{D3D58BBA-5840-4CF1-9030-5ECD8BA577C8}"/>
              </a:ext>
            </a:extLst>
          </p:cNvPr>
          <p:cNvPicPr>
            <a:picLocks noChangeAspect="1"/>
          </p:cNvPicPr>
          <p:nvPr/>
        </p:nvPicPr>
        <p:blipFill>
          <a:blip r:embed="rId3"/>
          <a:stretch>
            <a:fillRect/>
          </a:stretch>
        </p:blipFill>
        <p:spPr>
          <a:xfrm>
            <a:off x="5292147" y="464828"/>
            <a:ext cx="1607705" cy="572860"/>
          </a:xfrm>
          <a:prstGeom prst="rect">
            <a:avLst/>
          </a:prstGeom>
        </p:spPr>
      </p:pic>
      <p:sp>
        <p:nvSpPr>
          <p:cNvPr id="4" name="Footer Placeholder 3">
            <a:extLst>
              <a:ext uri="{FF2B5EF4-FFF2-40B4-BE49-F238E27FC236}">
                <a16:creationId xmlns:a16="http://schemas.microsoft.com/office/drawing/2014/main" id="{3AE39E47-9946-49F8-B5A7-9C78FE1319AD}"/>
              </a:ext>
            </a:extLst>
          </p:cNvPr>
          <p:cNvSpPr>
            <a:spLocks noGrp="1"/>
          </p:cNvSpPr>
          <p:nvPr>
            <p:ph type="ftr" sz="quarter" idx="11"/>
          </p:nvPr>
        </p:nvSpPr>
        <p:spPr>
          <a:xfrm>
            <a:off x="490125" y="6335593"/>
            <a:ext cx="7619999" cy="36512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0594930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85785C52-8305-4C72-B1AA-4A7402DC26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2" name="Title 1">
            <a:extLst>
              <a:ext uri="{FF2B5EF4-FFF2-40B4-BE49-F238E27FC236}">
                <a16:creationId xmlns:a16="http://schemas.microsoft.com/office/drawing/2014/main" id="{4500065F-76CC-42EA-88EA-9A4ABFFB967F}"/>
              </a:ext>
            </a:extLst>
          </p:cNvPr>
          <p:cNvSpPr>
            <a:spLocks noGrp="1"/>
          </p:cNvSpPr>
          <p:nvPr>
            <p:ph type="title"/>
          </p:nvPr>
        </p:nvSpPr>
        <p:spPr>
          <a:xfrm>
            <a:off x="649224" y="645106"/>
            <a:ext cx="6574536" cy="1259894"/>
          </a:xfrm>
        </p:spPr>
        <p:txBody>
          <a:bodyPr>
            <a:normAutofit/>
          </a:bodyPr>
          <a:lstStyle/>
          <a:p>
            <a:r>
              <a:rPr lang="en-IN" dirty="0"/>
              <a:t>Hot-Carrier Injection</a:t>
            </a:r>
          </a:p>
        </p:txBody>
      </p:sp>
      <p:sp>
        <p:nvSpPr>
          <p:cNvPr id="137" name="Rectangle 136">
            <a:extLst>
              <a:ext uri="{FF2B5EF4-FFF2-40B4-BE49-F238E27FC236}">
                <a16:creationId xmlns:a16="http://schemas.microsoft.com/office/drawing/2014/main" id="{3EBD26A6-67D8-449D-88A7-556B706A5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54D983EF-5488-4C55-B884-665AB0B46898}"/>
              </a:ext>
            </a:extLst>
          </p:cNvPr>
          <p:cNvSpPr>
            <a:spLocks noGrp="1"/>
          </p:cNvSpPr>
          <p:nvPr>
            <p:ph idx="1"/>
          </p:nvPr>
        </p:nvSpPr>
        <p:spPr>
          <a:xfrm>
            <a:off x="649224" y="2133600"/>
            <a:ext cx="4560729" cy="3759253"/>
          </a:xfrm>
        </p:spPr>
        <p:txBody>
          <a:bodyPr>
            <a:normAutofit lnSpcReduction="10000"/>
          </a:bodyPr>
          <a:lstStyle/>
          <a:p>
            <a:r>
              <a:rPr lang="en-US" dirty="0">
                <a:latin typeface="Arial" panose="020B0604020202020204" pitchFamily="34" charset="0"/>
                <a:cs typeface="Arial" panose="020B0604020202020204" pitchFamily="34" charset="0"/>
              </a:rPr>
              <a:t>Electrons and holes near the Si–SiO</a:t>
            </a:r>
            <a:r>
              <a:rPr lang="en-US" baseline="-25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interface can gain sufficient energy due to the high electric field in short-channel MOSFETs and cross the interface potential barrier and enter into the oxide layer as shown in Fig. </a:t>
            </a:r>
          </a:p>
          <a:p>
            <a:r>
              <a:rPr lang="en-IN" b="0" i="0" u="none" strike="noStrike" baseline="0" dirty="0">
                <a:latin typeface="Arial" panose="020B0604020202020204" pitchFamily="34" charset="0"/>
                <a:cs typeface="Arial" panose="020B0604020202020204" pitchFamily="34" charset="0"/>
              </a:rPr>
              <a:t>This phenomenon is known</a:t>
            </a:r>
            <a:r>
              <a:rPr lang="en-US" b="0" i="0" u="none" strike="noStrike" baseline="0" dirty="0">
                <a:latin typeface="Arial" panose="020B0604020202020204" pitchFamily="34" charset="0"/>
                <a:cs typeface="Arial" panose="020B0604020202020204" pitchFamily="34" charset="0"/>
              </a:rPr>
              <a:t> as the hot-carrier injection. Because of the lower effective mass and smaller barrier height (3.1 eV) for electrons compared to holes (4.5 eV), the possibility of an injection due to electrons is more than the holes.</a:t>
            </a:r>
          </a:p>
          <a:p>
            <a:endParaRPr lang="en-IN" dirty="0">
              <a:latin typeface="Arial" panose="020B0604020202020204" pitchFamily="34" charset="0"/>
              <a:cs typeface="Arial" panose="020B0604020202020204" pitchFamily="34" charset="0"/>
            </a:endParaRPr>
          </a:p>
        </p:txBody>
      </p:sp>
      <p:pic>
        <p:nvPicPr>
          <p:cNvPr id="6" name="Picture 5" descr="Diagram&#10;&#10;Description automatically generated">
            <a:extLst>
              <a:ext uri="{FF2B5EF4-FFF2-40B4-BE49-F238E27FC236}">
                <a16:creationId xmlns:a16="http://schemas.microsoft.com/office/drawing/2014/main" id="{4C22EB97-000C-4398-919F-4A7F391AFFDC}"/>
              </a:ext>
            </a:extLst>
          </p:cNvPr>
          <p:cNvPicPr>
            <a:picLocks noChangeAspect="1"/>
          </p:cNvPicPr>
          <p:nvPr/>
        </p:nvPicPr>
        <p:blipFill>
          <a:blip r:embed="rId2"/>
          <a:stretch>
            <a:fillRect/>
          </a:stretch>
        </p:blipFill>
        <p:spPr>
          <a:xfrm>
            <a:off x="7841846" y="25374"/>
            <a:ext cx="4350154" cy="3759252"/>
          </a:xfrm>
          <a:prstGeom prst="rect">
            <a:avLst/>
          </a:prstGeom>
        </p:spPr>
      </p:pic>
      <p:pic>
        <p:nvPicPr>
          <p:cNvPr id="2050" name="Picture 2" descr="PDF] Using Hot Carrier Injection for Embedded Non-volatile Memory |  Semantic Scholar">
            <a:extLst>
              <a:ext uri="{FF2B5EF4-FFF2-40B4-BE49-F238E27FC236}">
                <a16:creationId xmlns:a16="http://schemas.microsoft.com/office/drawing/2014/main" id="{9BC15FE4-F986-49A8-A920-913C5FD9EF4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41846" y="3965944"/>
            <a:ext cx="4350154" cy="2887308"/>
          </a:xfrm>
          <a:prstGeom prst="rect">
            <a:avLst/>
          </a:prstGeom>
          <a:noFill/>
          <a:extLst>
            <a:ext uri="{909E8E84-426E-40DD-AFC4-6F175D3DCCD1}">
              <a14:hiddenFill xmlns:a14="http://schemas.microsoft.com/office/drawing/2010/main">
                <a:solidFill>
                  <a:srgbClr val="FFFFFF"/>
                </a:solidFill>
              </a14:hiddenFill>
            </a:ext>
          </a:extLst>
        </p:spPr>
      </p:pic>
      <p:sp>
        <p:nvSpPr>
          <p:cNvPr id="139" name="Freeform 11">
            <a:extLst>
              <a:ext uri="{FF2B5EF4-FFF2-40B4-BE49-F238E27FC236}">
                <a16:creationId xmlns:a16="http://schemas.microsoft.com/office/drawing/2014/main" id="{7B8C83C0-3F91-4191-A19A-4165F49AD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4" name="Footer Placeholder 3">
            <a:extLst>
              <a:ext uri="{FF2B5EF4-FFF2-40B4-BE49-F238E27FC236}">
                <a16:creationId xmlns:a16="http://schemas.microsoft.com/office/drawing/2014/main" id="{D3825516-BFFF-489D-B21D-B46FF0E812FA}"/>
              </a:ext>
            </a:extLst>
          </p:cNvPr>
          <p:cNvSpPr>
            <a:spLocks noGrp="1"/>
          </p:cNvSpPr>
          <p:nvPr>
            <p:ph type="ftr" sz="quarter" idx="11"/>
          </p:nvPr>
        </p:nvSpPr>
        <p:spPr>
          <a:xfrm>
            <a:off x="1476097" y="6121453"/>
            <a:ext cx="7619999" cy="36512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35029224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27632" y="624109"/>
            <a:ext cx="2487168" cy="5614951"/>
          </a:xfrm>
        </p:spPr>
        <p:txBody>
          <a:bodyPr>
            <a:normAutofit/>
          </a:bodyPr>
          <a:lstStyle/>
          <a:p>
            <a:r>
              <a:rPr lang="en-US" sz="3200" dirty="0">
                <a:latin typeface="Arial" panose="020B0604020202020204" pitchFamily="34" charset="0"/>
                <a:cs typeface="Arial" panose="020B0604020202020204" pitchFamily="34" charset="0"/>
              </a:rPr>
              <a:t>Punch Through</a:t>
            </a:r>
            <a:endParaRPr lang="en-IN" sz="32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4674904" y="196744"/>
            <a:ext cx="6804596" cy="3777622"/>
          </a:xfrm>
        </p:spPr>
        <p:txBody>
          <a:bodyPr>
            <a:normAutofit/>
          </a:bodyPr>
          <a:lstStyle/>
          <a:p>
            <a:pPr lvl="0" algn="just" defTabSz="914400" fontAlgn="base">
              <a:spcBef>
                <a:spcPct val="20000"/>
              </a:spcBef>
              <a:spcAft>
                <a:spcPct val="0"/>
              </a:spcAft>
              <a:buClr>
                <a:srgbClr val="CCCC99"/>
              </a:buClr>
              <a:buSzPct val="70000"/>
              <a:buFont typeface="Wingdings" pitchFamily="2" charset="2"/>
              <a:buChar char="l"/>
            </a:pPr>
            <a:r>
              <a:rPr lang="en-US" kern="0" dirty="0">
                <a:latin typeface="Arial"/>
              </a:rPr>
              <a:t>The drain and source regions are very much close to each other in short channel devices. The depletion region across the drain-substrate and source-substrate junction extends into the channel region. </a:t>
            </a:r>
          </a:p>
          <a:p>
            <a:pPr lvl="0" algn="just" defTabSz="914400" fontAlgn="base">
              <a:spcBef>
                <a:spcPct val="20000"/>
              </a:spcBef>
              <a:spcAft>
                <a:spcPct val="0"/>
              </a:spcAft>
              <a:buClr>
                <a:srgbClr val="CCCC99"/>
              </a:buClr>
              <a:buSzPct val="70000"/>
              <a:buFont typeface="Wingdings" pitchFamily="2" charset="2"/>
              <a:buChar char="l"/>
            </a:pPr>
            <a:endParaRPr lang="en-US" kern="0" dirty="0">
              <a:latin typeface="Arial"/>
            </a:endParaRPr>
          </a:p>
          <a:p>
            <a:pPr lvl="0" algn="just" defTabSz="914400" fontAlgn="base">
              <a:spcBef>
                <a:spcPct val="20000"/>
              </a:spcBef>
              <a:spcAft>
                <a:spcPct val="0"/>
              </a:spcAft>
              <a:buClr>
                <a:srgbClr val="CCCC99"/>
              </a:buClr>
              <a:buSzPct val="70000"/>
              <a:buFont typeface="Wingdings" pitchFamily="2" charset="2"/>
              <a:buChar char="l"/>
            </a:pPr>
            <a:r>
              <a:rPr lang="en-US" kern="0" dirty="0">
                <a:latin typeface="Arial"/>
              </a:rPr>
              <a:t>The increase in </a:t>
            </a:r>
            <a:r>
              <a:rPr lang="en-US" kern="0" dirty="0" err="1">
                <a:latin typeface="Arial"/>
              </a:rPr>
              <a:t>V</a:t>
            </a:r>
            <a:r>
              <a:rPr lang="en-US" kern="0" baseline="-25000" dirty="0" err="1">
                <a:latin typeface="Arial"/>
              </a:rPr>
              <a:t>ds</a:t>
            </a:r>
            <a:r>
              <a:rPr lang="en-US" kern="0" baseline="-25000" dirty="0">
                <a:latin typeface="Arial"/>
              </a:rPr>
              <a:t> </a:t>
            </a:r>
            <a:r>
              <a:rPr lang="en-US" kern="0" dirty="0">
                <a:latin typeface="Arial"/>
              </a:rPr>
              <a:t>further pushes the junction near to each other. Thus, the overall effect of short channel length and reverse biased substrate-drain junction leads to the merging of the two depletion regions, which cause punch through condition.</a:t>
            </a:r>
          </a:p>
          <a:p>
            <a:pPr lvl="0" defTabSz="914400" fontAlgn="base">
              <a:spcBef>
                <a:spcPct val="20000"/>
              </a:spcBef>
              <a:spcAft>
                <a:spcPct val="0"/>
              </a:spcAft>
              <a:buClr>
                <a:srgbClr val="CCCC99"/>
              </a:buClr>
              <a:buSzPct val="70000"/>
              <a:buFont typeface="Wingdings" pitchFamily="2" charset="2"/>
              <a:buChar char="l"/>
            </a:pPr>
            <a:endParaRPr lang="en-US" kern="0" dirty="0">
              <a:latin typeface="Arial"/>
            </a:endParaRPr>
          </a:p>
          <a:p>
            <a:pPr lvl="0" defTabSz="914400" fontAlgn="base">
              <a:spcBef>
                <a:spcPct val="20000"/>
              </a:spcBef>
              <a:spcAft>
                <a:spcPct val="0"/>
              </a:spcAft>
              <a:buClr>
                <a:srgbClr val="CCCC99"/>
              </a:buClr>
              <a:buSzPct val="70000"/>
              <a:buFont typeface="Wingdings" pitchFamily="2" charset="2"/>
              <a:buChar char="l"/>
            </a:pPr>
            <a:endParaRPr lang="en-US" kern="0" dirty="0">
              <a:latin typeface="Arial"/>
            </a:endParaRPr>
          </a:p>
          <a:p>
            <a:pPr lvl="0" defTabSz="914400" fontAlgn="base">
              <a:spcBef>
                <a:spcPct val="20000"/>
              </a:spcBef>
              <a:spcAft>
                <a:spcPct val="0"/>
              </a:spcAft>
              <a:buClr>
                <a:srgbClr val="CCCC99"/>
              </a:buClr>
              <a:buSzPct val="70000"/>
              <a:buFont typeface="Wingdings" pitchFamily="2" charset="2"/>
              <a:buChar char="l"/>
            </a:pPr>
            <a:endParaRPr lang="en-US" kern="0" dirty="0">
              <a:latin typeface="Arial"/>
            </a:endParaRPr>
          </a:p>
          <a:p>
            <a:pPr lvl="0" defTabSz="914400" fontAlgn="base">
              <a:spcBef>
                <a:spcPct val="20000"/>
              </a:spcBef>
              <a:spcAft>
                <a:spcPct val="0"/>
              </a:spcAft>
              <a:buClr>
                <a:srgbClr val="CCCC99"/>
              </a:buClr>
              <a:buSzPct val="70000"/>
              <a:buFont typeface="Wingdings" pitchFamily="2" charset="2"/>
              <a:buChar char="l"/>
            </a:pPr>
            <a:endParaRPr lang="en-US" kern="0" dirty="0">
              <a:latin typeface="Arial"/>
            </a:endParaRPr>
          </a:p>
          <a:p>
            <a:pPr lvl="0" defTabSz="914400" fontAlgn="base">
              <a:spcBef>
                <a:spcPct val="20000"/>
              </a:spcBef>
              <a:spcAft>
                <a:spcPct val="0"/>
              </a:spcAft>
              <a:buClr>
                <a:srgbClr val="CCCC99"/>
              </a:buClr>
              <a:buSzPct val="70000"/>
              <a:buFont typeface="Wingdings" pitchFamily="2" charset="2"/>
              <a:buChar char="l"/>
            </a:pPr>
            <a:endParaRPr lang="en-US" kern="0" dirty="0">
              <a:latin typeface="Arial"/>
            </a:endParaRPr>
          </a:p>
          <a:p>
            <a:endParaRPr lang="en-IN" dirty="0"/>
          </a:p>
        </p:txBody>
      </p:sp>
      <p:pic>
        <p:nvPicPr>
          <p:cNvPr id="6" name="Content Placeholder 5" descr="Diagram&#10;&#10;Description automatically generated">
            <a:extLst>
              <a:ext uri="{FF2B5EF4-FFF2-40B4-BE49-F238E27FC236}">
                <a16:creationId xmlns:a16="http://schemas.microsoft.com/office/drawing/2014/main" id="{42C4A065-C4F6-4983-9615-5F8193736FD2}"/>
              </a:ext>
            </a:extLst>
          </p:cNvPr>
          <p:cNvPicPr>
            <a:picLocks noChangeAspect="1"/>
          </p:cNvPicPr>
          <p:nvPr/>
        </p:nvPicPr>
        <p:blipFill>
          <a:blip r:embed="rId2"/>
          <a:stretch>
            <a:fillRect/>
          </a:stretch>
        </p:blipFill>
        <p:spPr>
          <a:xfrm>
            <a:off x="4515770" y="3770616"/>
            <a:ext cx="7543792" cy="3087384"/>
          </a:xfrm>
          <a:prstGeom prst="rect">
            <a:avLst/>
          </a:prstGeom>
        </p:spPr>
      </p:pic>
      <p:sp>
        <p:nvSpPr>
          <p:cNvPr id="4" name="Footer Placeholder 3"/>
          <p:cNvSpPr>
            <a:spLocks noGrp="1"/>
          </p:cNvSpPr>
          <p:nvPr>
            <p:ph type="ftr" sz="quarter" idx="11"/>
          </p:nvPr>
        </p:nvSpPr>
        <p:spPr>
          <a:xfrm>
            <a:off x="1397410" y="6296131"/>
            <a:ext cx="7619999" cy="365125"/>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Rohit Lorenzo, VIT-AP</a:t>
            </a:r>
          </a:p>
        </p:txBody>
      </p:sp>
    </p:spTree>
    <p:extLst>
      <p:ext uri="{BB962C8B-B14F-4D97-AF65-F5344CB8AC3E}">
        <p14:creationId xmlns:p14="http://schemas.microsoft.com/office/powerpoint/2010/main" val="1848862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Problem</a:t>
            </a:r>
            <a:endParaRPr lang="en-IN"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612490" y="1297858"/>
            <a:ext cx="9892122" cy="4837949"/>
          </a:xfrm>
        </p:spPr>
        <p:txBody>
          <a:bodyPr>
            <a:normAutofit/>
          </a:bodyPr>
          <a:lstStyle/>
          <a:p>
            <a:pPr lvl="0" algn="just">
              <a:buClr>
                <a:srgbClr val="E78712"/>
              </a:buClr>
            </a:pPr>
            <a:r>
              <a:rPr lang="en-US" dirty="0">
                <a:solidFill>
                  <a:srgbClr val="000000"/>
                </a:solidFill>
                <a:latin typeface="Arial" panose="020B0604020202020204" pitchFamily="34" charset="0"/>
                <a:cs typeface="Arial" panose="020B0604020202020204" pitchFamily="34" charset="0"/>
              </a:rPr>
              <a:t>A digital system-on-chip in a 1V 65 nm process (with 50 nm drawn channel lengths and </a:t>
            </a:r>
            <a:r>
              <a:rPr lang="el-GR" dirty="0">
                <a:solidFill>
                  <a:srgbClr val="000000"/>
                </a:solidFill>
                <a:latin typeface="Arial" panose="020B0604020202020204" pitchFamily="34" charset="0"/>
                <a:cs typeface="Arial" panose="020B0604020202020204" pitchFamily="34" charset="0"/>
              </a:rPr>
              <a:t>λ</a:t>
            </a:r>
            <a:r>
              <a:rPr lang="en-US" dirty="0">
                <a:solidFill>
                  <a:srgbClr val="000000"/>
                </a:solidFill>
                <a:latin typeface="Arial" panose="020B0604020202020204" pitchFamily="34" charset="0"/>
                <a:cs typeface="Arial" panose="020B0604020202020204" pitchFamily="34" charset="0"/>
              </a:rPr>
              <a:t> = 25 nm) has 1 billion transistors, of which 50 million are in logic gates and the remainder in memory arrays. The average logic transistor width is 12</a:t>
            </a:r>
            <a:r>
              <a:rPr lang="el-GR" dirty="0">
                <a:solidFill>
                  <a:srgbClr val="000000"/>
                </a:solidFill>
                <a:latin typeface="Arial" panose="020B0604020202020204" pitchFamily="34" charset="0"/>
                <a:cs typeface="Arial" panose="020B0604020202020204" pitchFamily="34" charset="0"/>
              </a:rPr>
              <a:t>λ</a:t>
            </a:r>
            <a:r>
              <a:rPr lang="en-US" dirty="0">
                <a:solidFill>
                  <a:srgbClr val="000000"/>
                </a:solidFill>
                <a:latin typeface="Arial" panose="020B0604020202020204" pitchFamily="34" charset="0"/>
                <a:cs typeface="Arial" panose="020B0604020202020204" pitchFamily="34" charset="0"/>
              </a:rPr>
              <a:t>  and the average memory transistor width is 4 </a:t>
            </a:r>
            <a:r>
              <a:rPr lang="el-GR" dirty="0">
                <a:solidFill>
                  <a:srgbClr val="000000"/>
                </a:solidFill>
                <a:latin typeface="Arial" panose="020B0604020202020204" pitchFamily="34" charset="0"/>
                <a:cs typeface="Arial" panose="020B0604020202020204" pitchFamily="34" charset="0"/>
              </a:rPr>
              <a:t>λ</a:t>
            </a:r>
            <a:r>
              <a:rPr lang="en-US" dirty="0">
                <a:solidFill>
                  <a:srgbClr val="000000"/>
                </a:solidFill>
                <a:latin typeface="Arial" panose="020B0604020202020204" pitchFamily="34" charset="0"/>
                <a:cs typeface="Arial" panose="020B0604020202020204" pitchFamily="34" charset="0"/>
              </a:rPr>
              <a:t> .</a:t>
            </a:r>
            <a:r>
              <a:rPr lang="en-IN" dirty="0">
                <a:latin typeface="Arial" panose="020B0604020202020204" pitchFamily="34" charset="0"/>
                <a:cs typeface="Arial" panose="020B0604020202020204" pitchFamily="34" charset="0"/>
              </a:rPr>
              <a:t>Subthreshold leakage for OFF </a:t>
            </a:r>
            <a:r>
              <a:rPr lang="en-US" dirty="0">
                <a:latin typeface="Arial" panose="020B0604020202020204" pitchFamily="34" charset="0"/>
                <a:cs typeface="Arial" panose="020B0604020202020204" pitchFamily="34" charset="0"/>
              </a:rPr>
              <a:t>devices is 100 </a:t>
            </a:r>
            <a:r>
              <a:rPr lang="en-US" dirty="0" err="1">
                <a:latin typeface="Arial" panose="020B0604020202020204" pitchFamily="34" charset="0"/>
                <a:cs typeface="Arial" panose="020B0604020202020204" pitchFamily="34" charset="0"/>
              </a:rPr>
              <a:t>nA</a:t>
            </a:r>
            <a:r>
              <a:rPr lang="en-US" dirty="0">
                <a:latin typeface="Arial" panose="020B0604020202020204" pitchFamily="34" charset="0"/>
                <a:cs typeface="Arial" panose="020B0604020202020204" pitchFamily="34" charset="0"/>
              </a:rPr>
              <a:t>/</a:t>
            </a:r>
            <a:r>
              <a:rPr lang="el-GR" dirty="0">
                <a:solidFill>
                  <a:prstClr val="black">
                    <a:lumMod val="75000"/>
                    <a:lumOff val="25000"/>
                  </a:prstClr>
                </a:solidFill>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m for low-threshold devices and 10nA/</a:t>
            </a:r>
            <a:r>
              <a:rPr lang="el-GR" dirty="0">
                <a:solidFill>
                  <a:prstClr val="black">
                    <a:lumMod val="75000"/>
                    <a:lumOff val="25000"/>
                  </a:prstClr>
                </a:solidFill>
                <a:latin typeface="Arial" panose="020B0604020202020204" pitchFamily="34" charset="0"/>
                <a:cs typeface="Arial" panose="020B0604020202020204" pitchFamily="34" charset="0"/>
              </a:rPr>
              <a:t> μ</a:t>
            </a:r>
            <a:r>
              <a:rPr lang="en-US" dirty="0">
                <a:latin typeface="Arial" panose="020B0604020202020204" pitchFamily="34" charset="0"/>
                <a:cs typeface="Arial" panose="020B0604020202020204" pitchFamily="34" charset="0"/>
              </a:rPr>
              <a:t>m for high-threshold devices. Gate leakage </a:t>
            </a:r>
            <a:r>
              <a:rPr lang="en-US">
                <a:latin typeface="Arial" panose="020B0604020202020204" pitchFamily="34" charset="0"/>
                <a:cs typeface="Arial" panose="020B0604020202020204" pitchFamily="34" charset="0"/>
              </a:rPr>
              <a:t>is 5nA</a:t>
            </a:r>
            <a:r>
              <a:rPr lang="en-US" dirty="0">
                <a:latin typeface="Arial" panose="020B0604020202020204" pitchFamily="34" charset="0"/>
                <a:cs typeface="Arial" panose="020B0604020202020204" pitchFamily="34" charset="0"/>
              </a:rPr>
              <a:t>/</a:t>
            </a:r>
            <a:r>
              <a:rPr lang="el-GR" dirty="0">
                <a:solidFill>
                  <a:prstClr val="black">
                    <a:lumMod val="75000"/>
                    <a:lumOff val="25000"/>
                  </a:prstClr>
                </a:solidFill>
                <a:latin typeface="Arial" panose="020B0604020202020204" pitchFamily="34" charset="0"/>
                <a:cs typeface="Arial" panose="020B0604020202020204" pitchFamily="34" charset="0"/>
              </a:rPr>
              <a:t> μ</a:t>
            </a:r>
            <a:r>
              <a:rPr lang="en-US" dirty="0">
                <a:latin typeface="Arial" panose="020B0604020202020204" pitchFamily="34" charset="0"/>
                <a:cs typeface="Arial" panose="020B0604020202020204" pitchFamily="34" charset="0"/>
              </a:rPr>
              <a:t>m. Junction leakage is negligible. Memories use low leakage devices everywhere. Logic uses low-leakage devices in all but 5% of the paths that are most critical for performance. Estimate the static power consumption</a:t>
            </a:r>
            <a:endParaRPr lang="en-US" dirty="0">
              <a:solidFill>
                <a:prstClr val="black">
                  <a:lumMod val="75000"/>
                  <a:lumOff val="25000"/>
                </a:prstClr>
              </a:solidFill>
              <a:latin typeface="Arial" panose="020B0604020202020204" pitchFamily="34" charset="0"/>
              <a:cs typeface="Arial" panose="020B0604020202020204" pitchFamily="34" charset="0"/>
            </a:endParaRPr>
          </a:p>
          <a:p>
            <a:r>
              <a:rPr lang="en-US" u="sng" dirty="0">
                <a:latin typeface="Arial" panose="020B0604020202020204" pitchFamily="34" charset="0"/>
                <a:cs typeface="Arial" panose="020B0604020202020204" pitchFamily="34" charset="0"/>
              </a:rPr>
              <a:t>Solution</a:t>
            </a:r>
          </a:p>
          <a:p>
            <a:pPr algn="just"/>
            <a:r>
              <a:rPr lang="en-US" dirty="0">
                <a:latin typeface="Arial" panose="020B0604020202020204" pitchFamily="34" charset="0"/>
                <a:cs typeface="Arial" panose="020B0604020202020204" pitchFamily="34" charset="0"/>
              </a:rPr>
              <a:t>There are (50×10</a:t>
            </a:r>
            <a:r>
              <a:rPr lang="en-US" baseline="30000" dirty="0">
                <a:latin typeface="Arial" panose="020B0604020202020204" pitchFamily="34" charset="0"/>
                <a:cs typeface="Arial" panose="020B0604020202020204" pitchFamily="34" charset="0"/>
              </a:rPr>
              <a:t>6</a:t>
            </a:r>
            <a:r>
              <a:rPr lang="en-US" dirty="0">
                <a:latin typeface="Arial" panose="020B0604020202020204" pitchFamily="34" charset="0"/>
                <a:cs typeface="Arial" panose="020B0604020202020204" pitchFamily="34" charset="0"/>
              </a:rPr>
              <a:t> logic transistors)(0.05)(12</a:t>
            </a:r>
            <a:r>
              <a:rPr lang="el-GR" dirty="0">
                <a:latin typeface="Arial" panose="020B0604020202020204" pitchFamily="34" charset="0"/>
                <a:cs typeface="Arial" panose="020B0604020202020204" pitchFamily="34" charset="0"/>
              </a:rPr>
              <a:t>λ</a:t>
            </a:r>
            <a:r>
              <a:rPr lang="en-US" dirty="0">
                <a:latin typeface="Arial" panose="020B0604020202020204" pitchFamily="34" charset="0"/>
                <a:cs typeface="Arial" panose="020B0604020202020204" pitchFamily="34" charset="0"/>
              </a:rPr>
              <a:t>)(0.025</a:t>
            </a:r>
            <a:r>
              <a:rPr lang="el-GR" dirty="0">
                <a:solidFill>
                  <a:prstClr val="black">
                    <a:lumMod val="75000"/>
                    <a:lumOff val="25000"/>
                  </a:prstClr>
                </a:solidFill>
                <a:latin typeface="Arial" panose="020B0604020202020204" pitchFamily="34" charset="0"/>
                <a:cs typeface="Arial" panose="020B0604020202020204" pitchFamily="34" charset="0"/>
              </a:rPr>
              <a:t> μ</a:t>
            </a:r>
            <a:r>
              <a:rPr lang="en-US" dirty="0">
                <a:latin typeface="Arial" panose="020B0604020202020204" pitchFamily="34" charset="0"/>
                <a:cs typeface="Arial" panose="020B0604020202020204" pitchFamily="34" charset="0"/>
              </a:rPr>
              <a:t>m/</a:t>
            </a:r>
            <a:r>
              <a:rPr lang="el-GR" dirty="0">
                <a:solidFill>
                  <a:srgbClr val="000000"/>
                </a:solidFill>
                <a:latin typeface="Arial" panose="020B0604020202020204" pitchFamily="34" charset="0"/>
                <a:cs typeface="Arial" panose="020B0604020202020204" pitchFamily="34" charset="0"/>
              </a:rPr>
              <a:t> λ</a:t>
            </a:r>
            <a:r>
              <a:rPr lang="en-US" dirty="0">
                <a:latin typeface="Arial" panose="020B0604020202020204" pitchFamily="34" charset="0"/>
                <a:cs typeface="Arial" panose="020B0604020202020204" pitchFamily="34" charset="0"/>
              </a:rPr>
              <a:t>) = 0.75 ×10</a:t>
            </a:r>
            <a:r>
              <a:rPr lang="en-US" baseline="30000" dirty="0">
                <a:latin typeface="Arial" panose="020B0604020202020204" pitchFamily="34" charset="0"/>
                <a:cs typeface="Arial" panose="020B0604020202020204" pitchFamily="34" charset="0"/>
              </a:rPr>
              <a:t>6 </a:t>
            </a:r>
            <a:r>
              <a:rPr lang="el-GR" dirty="0">
                <a:solidFill>
                  <a:prstClr val="black">
                    <a:lumMod val="75000"/>
                    <a:lumOff val="25000"/>
                  </a:prstClr>
                </a:solidFill>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m of low-threshold devices and [(50×10</a:t>
            </a:r>
            <a:r>
              <a:rPr lang="en-US" baseline="30000" dirty="0">
                <a:latin typeface="Arial" panose="020B0604020202020204" pitchFamily="34" charset="0"/>
                <a:cs typeface="Arial" panose="020B0604020202020204" pitchFamily="34" charset="0"/>
              </a:rPr>
              <a:t>6 </a:t>
            </a:r>
            <a:r>
              <a:rPr lang="en-US" dirty="0">
                <a:latin typeface="Arial" panose="020B0604020202020204" pitchFamily="34" charset="0"/>
                <a:cs typeface="Arial" panose="020B0604020202020204" pitchFamily="34" charset="0"/>
              </a:rPr>
              <a:t>logic transistors)(0.95)(12</a:t>
            </a:r>
            <a:r>
              <a:rPr lang="el-GR" dirty="0">
                <a:solidFill>
                  <a:srgbClr val="000000"/>
                </a:solidFill>
                <a:latin typeface="Arial" panose="020B0604020202020204" pitchFamily="34" charset="0"/>
                <a:cs typeface="Arial" panose="020B0604020202020204" pitchFamily="34" charset="0"/>
              </a:rPr>
              <a:t>λ</a:t>
            </a:r>
            <a:r>
              <a:rPr lang="en-US" dirty="0">
                <a:latin typeface="Arial" panose="020B0604020202020204" pitchFamily="34" charset="0"/>
                <a:cs typeface="Arial" panose="020B0604020202020204" pitchFamily="34" charset="0"/>
              </a:rPr>
              <a:t>)+(950×10</a:t>
            </a:r>
            <a:r>
              <a:rPr lang="en-US" baseline="30000" dirty="0">
                <a:latin typeface="Arial" panose="020B0604020202020204" pitchFamily="34" charset="0"/>
                <a:cs typeface="Arial" panose="020B0604020202020204" pitchFamily="34" charset="0"/>
              </a:rPr>
              <a:t>6</a:t>
            </a:r>
            <a:r>
              <a:rPr lang="en-US" dirty="0">
                <a:latin typeface="Arial" panose="020B0604020202020204" pitchFamily="34" charset="0"/>
                <a:cs typeface="Arial" panose="020B0604020202020204" pitchFamily="34" charset="0"/>
              </a:rPr>
              <a:t>memory transistors)(4</a:t>
            </a:r>
            <a:r>
              <a:rPr lang="el-GR" dirty="0">
                <a:latin typeface="Arial" panose="020B0604020202020204" pitchFamily="34" charset="0"/>
                <a:cs typeface="Arial" panose="020B0604020202020204" pitchFamily="34" charset="0"/>
              </a:rPr>
              <a:t>λ</a:t>
            </a:r>
            <a:r>
              <a:rPr lang="en-US" dirty="0">
                <a:latin typeface="Arial" panose="020B0604020202020204" pitchFamily="34" charset="0"/>
                <a:cs typeface="Arial" panose="020B0604020202020204" pitchFamily="34" charset="0"/>
              </a:rPr>
              <a:t>)](0.025 </a:t>
            </a:r>
            <a:r>
              <a:rPr lang="el-GR" dirty="0">
                <a:solidFill>
                  <a:prstClr val="black">
                    <a:lumMod val="75000"/>
                    <a:lumOff val="25000"/>
                  </a:prstClr>
                </a:solidFill>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m/</a:t>
            </a:r>
            <a:r>
              <a:rPr lang="el-GR" dirty="0">
                <a:latin typeface="Arial" panose="020B0604020202020204" pitchFamily="34" charset="0"/>
                <a:cs typeface="Arial" panose="020B0604020202020204" pitchFamily="34" charset="0"/>
              </a:rPr>
              <a:t>λ</a:t>
            </a:r>
            <a:r>
              <a:rPr lang="en-US" dirty="0">
                <a:latin typeface="Arial" panose="020B0604020202020204" pitchFamily="34" charset="0"/>
                <a:cs typeface="Arial" panose="020B0604020202020204" pitchFamily="34" charset="0"/>
              </a:rPr>
              <a:t>) = 109.25×10</a:t>
            </a:r>
            <a:r>
              <a:rPr lang="en-US" baseline="30000" dirty="0">
                <a:latin typeface="Arial" panose="020B0604020202020204" pitchFamily="34" charset="0"/>
                <a:cs typeface="Arial" panose="020B0604020202020204" pitchFamily="34" charset="0"/>
              </a:rPr>
              <a:t>6</a:t>
            </a:r>
            <a:r>
              <a:rPr lang="en-US" dirty="0">
                <a:latin typeface="Arial" panose="020B0604020202020204" pitchFamily="34" charset="0"/>
                <a:cs typeface="Arial" panose="020B0604020202020204" pitchFamily="34" charset="0"/>
              </a:rPr>
              <a:t> </a:t>
            </a:r>
            <a:r>
              <a:rPr lang="el-GR" dirty="0">
                <a:solidFill>
                  <a:prstClr val="black">
                    <a:lumMod val="75000"/>
                    <a:lumOff val="25000"/>
                  </a:prstClr>
                </a:solidFill>
                <a:latin typeface="Arial" panose="020B0604020202020204" pitchFamily="34" charset="0"/>
                <a:cs typeface="Arial" panose="020B0604020202020204" pitchFamily="34" charset="0"/>
              </a:rPr>
              <a:t>μ</a:t>
            </a:r>
            <a:r>
              <a:rPr lang="en-US" dirty="0">
                <a:latin typeface="Arial" panose="020B0604020202020204" pitchFamily="34" charset="0"/>
                <a:cs typeface="Arial" panose="020B0604020202020204" pitchFamily="34" charset="0"/>
              </a:rPr>
              <a:t>m of high-threshold devices. </a:t>
            </a:r>
          </a:p>
          <a:p>
            <a:r>
              <a:rPr lang="en-IN" i="1" dirty="0" err="1">
                <a:latin typeface="Arial" panose="020B0604020202020204" pitchFamily="34" charset="0"/>
                <a:cs typeface="Arial" panose="020B0604020202020204" pitchFamily="34" charset="0"/>
              </a:rPr>
              <a:t>I</a:t>
            </a:r>
            <a:r>
              <a:rPr lang="en-IN" baseline="-25000" dirty="0" err="1">
                <a:latin typeface="Arial" panose="020B0604020202020204" pitchFamily="34" charset="0"/>
                <a:cs typeface="Arial" panose="020B0604020202020204" pitchFamily="34" charset="0"/>
              </a:rPr>
              <a:t>sub</a:t>
            </a:r>
            <a:r>
              <a:rPr lang="en-IN" dirty="0">
                <a:latin typeface="Arial" panose="020B0604020202020204" pitchFamily="34" charset="0"/>
                <a:cs typeface="Arial" panose="020B0604020202020204" pitchFamily="34" charset="0"/>
              </a:rPr>
              <a:t> =</a:t>
            </a:r>
            <a:r>
              <a:rPr lang="pl-PL" dirty="0">
                <a:latin typeface="Arial" panose="020B0604020202020204" pitchFamily="34" charset="0"/>
                <a:cs typeface="Arial" panose="020B0604020202020204" pitchFamily="34" charset="0"/>
              </a:rPr>
              <a:t>[(0.75</a:t>
            </a:r>
            <a:r>
              <a:rPr lang="en-US" dirty="0">
                <a:latin typeface="Arial" panose="020B0604020202020204" pitchFamily="34" charset="0"/>
                <a:cs typeface="Arial" panose="020B0604020202020204" pitchFamily="34" charset="0"/>
              </a:rPr>
              <a:t>×</a:t>
            </a:r>
            <a:r>
              <a:rPr lang="pl-PL" dirty="0">
                <a:latin typeface="Arial" panose="020B0604020202020204" pitchFamily="34" charset="0"/>
                <a:cs typeface="Arial" panose="020B0604020202020204" pitchFamily="34" charset="0"/>
              </a:rPr>
              <a:t> 10</a:t>
            </a:r>
            <a:r>
              <a:rPr lang="pl-PL" baseline="30000" dirty="0">
                <a:latin typeface="Arial" panose="020B0604020202020204" pitchFamily="34" charset="0"/>
                <a:cs typeface="Arial" panose="020B0604020202020204" pitchFamily="34" charset="0"/>
              </a:rPr>
              <a:t>6</a:t>
            </a:r>
            <a:r>
              <a:rPr lang="pl-PL" dirty="0">
                <a:latin typeface="Arial" panose="020B0604020202020204" pitchFamily="34" charset="0"/>
                <a:cs typeface="Arial" panose="020B0604020202020204" pitchFamily="34" charset="0"/>
              </a:rPr>
              <a:t> </a:t>
            </a:r>
            <a:r>
              <a:rPr lang="el-GR" dirty="0">
                <a:solidFill>
                  <a:prstClr val="black">
                    <a:lumMod val="75000"/>
                    <a:lumOff val="25000"/>
                  </a:prstClr>
                </a:solidFill>
                <a:latin typeface="Arial" panose="020B0604020202020204" pitchFamily="34" charset="0"/>
                <a:cs typeface="Arial" panose="020B0604020202020204" pitchFamily="34" charset="0"/>
              </a:rPr>
              <a:t>μ</a:t>
            </a:r>
            <a:r>
              <a:rPr lang="pl-PL" dirty="0">
                <a:latin typeface="Arial" panose="020B0604020202020204" pitchFamily="34" charset="0"/>
                <a:cs typeface="Arial" panose="020B0604020202020204" pitchFamily="34" charset="0"/>
              </a:rPr>
              <a:t>m)(100 nA/</a:t>
            </a:r>
            <a:r>
              <a:rPr lang="el-GR" dirty="0">
                <a:solidFill>
                  <a:prstClr val="black">
                    <a:lumMod val="75000"/>
                    <a:lumOff val="25000"/>
                  </a:prstClr>
                </a:solidFill>
                <a:latin typeface="Arial" panose="020B0604020202020204" pitchFamily="34" charset="0"/>
                <a:cs typeface="Arial" panose="020B0604020202020204" pitchFamily="34" charset="0"/>
              </a:rPr>
              <a:t> μ</a:t>
            </a:r>
            <a:r>
              <a:rPr lang="pl-PL" dirty="0">
                <a:latin typeface="Arial" panose="020B0604020202020204" pitchFamily="34" charset="0"/>
                <a:cs typeface="Arial" panose="020B0604020202020204" pitchFamily="34" charset="0"/>
              </a:rPr>
              <a:t>m) + (109.25× 10</a:t>
            </a:r>
            <a:r>
              <a:rPr lang="pl-PL" baseline="30000" dirty="0">
                <a:latin typeface="Arial" panose="020B0604020202020204" pitchFamily="34" charset="0"/>
                <a:cs typeface="Arial" panose="020B0604020202020204" pitchFamily="34" charset="0"/>
              </a:rPr>
              <a:t>6</a:t>
            </a:r>
            <a:r>
              <a:rPr lang="en-US" dirty="0">
                <a:latin typeface="Arial" panose="020B0604020202020204" pitchFamily="34" charset="0"/>
                <a:cs typeface="Arial" panose="020B0604020202020204" pitchFamily="34" charset="0"/>
              </a:rPr>
              <a:t> </a:t>
            </a:r>
            <a:r>
              <a:rPr lang="el-GR" dirty="0">
                <a:solidFill>
                  <a:prstClr val="black">
                    <a:lumMod val="75000"/>
                    <a:lumOff val="25000"/>
                  </a:prstClr>
                </a:solidFill>
                <a:latin typeface="Arial" panose="020B0604020202020204" pitchFamily="34" charset="0"/>
                <a:cs typeface="Arial" panose="020B0604020202020204" pitchFamily="34" charset="0"/>
              </a:rPr>
              <a:t>μ</a:t>
            </a:r>
            <a:r>
              <a:rPr lang="pl-PL" dirty="0">
                <a:latin typeface="Arial" panose="020B0604020202020204" pitchFamily="34" charset="0"/>
                <a:cs typeface="Arial" panose="020B0604020202020204" pitchFamily="34" charset="0"/>
              </a:rPr>
              <a:t>m)(10 nA</a:t>
            </a:r>
            <a:r>
              <a:rPr lang="en-US" dirty="0">
                <a:latin typeface="Arial" panose="020B0604020202020204" pitchFamily="34" charset="0"/>
                <a:cs typeface="Arial" panose="020B0604020202020204" pitchFamily="34" charset="0"/>
              </a:rPr>
              <a:t>/</a:t>
            </a:r>
            <a:r>
              <a:rPr lang="el-GR" dirty="0">
                <a:solidFill>
                  <a:prstClr val="black">
                    <a:lumMod val="75000"/>
                    <a:lumOff val="25000"/>
                  </a:prstClr>
                </a:solidFill>
                <a:latin typeface="Arial" panose="020B0604020202020204" pitchFamily="34" charset="0"/>
                <a:cs typeface="Arial" panose="020B0604020202020204" pitchFamily="34" charset="0"/>
              </a:rPr>
              <a:t>μ</a:t>
            </a:r>
            <a:r>
              <a:rPr lang="pl-PL" dirty="0">
                <a:latin typeface="Arial" panose="020B0604020202020204" pitchFamily="34" charset="0"/>
                <a:cs typeface="Arial" panose="020B0604020202020204" pitchFamily="34" charset="0"/>
              </a:rPr>
              <a:t>m)]/2 = 584 mA. </a:t>
            </a:r>
            <a:r>
              <a:rPr lang="pl-PL" i="1" dirty="0">
                <a:latin typeface="Arial" panose="020B0604020202020204" pitchFamily="34" charset="0"/>
                <a:cs typeface="Arial" panose="020B0604020202020204" pitchFamily="34" charset="0"/>
              </a:rPr>
              <a:t>I</a:t>
            </a:r>
            <a:r>
              <a:rPr lang="pl-PL" dirty="0">
                <a:latin typeface="Arial" panose="020B0604020202020204" pitchFamily="34" charset="0"/>
                <a:cs typeface="Arial" panose="020B0604020202020204" pitchFamily="34" charset="0"/>
              </a:rPr>
              <a:t>gate =</a:t>
            </a:r>
            <a:r>
              <a:rPr lang="en-IN" dirty="0">
                <a:latin typeface="Arial" panose="020B0604020202020204" pitchFamily="34" charset="0"/>
                <a:cs typeface="Arial" panose="020B0604020202020204" pitchFamily="34" charset="0"/>
              </a:rPr>
              <a:t>((0.75 + 109.25) </a:t>
            </a:r>
            <a:r>
              <a:rPr lang="en-US" dirty="0">
                <a:latin typeface="Arial" panose="020B0604020202020204" pitchFamily="34" charset="0"/>
                <a:cs typeface="Arial" panose="020B0604020202020204" pitchFamily="34" charset="0"/>
              </a:rPr>
              <a:t>×</a:t>
            </a:r>
            <a:r>
              <a:rPr lang="en-IN" dirty="0">
                <a:latin typeface="Arial" panose="020B0604020202020204" pitchFamily="34" charset="0"/>
                <a:cs typeface="Arial" panose="020B0604020202020204" pitchFamily="34" charset="0"/>
              </a:rPr>
              <a:t>10</a:t>
            </a:r>
            <a:r>
              <a:rPr lang="en-IN" baseline="30000" dirty="0">
                <a:latin typeface="Arial" panose="020B0604020202020204" pitchFamily="34" charset="0"/>
                <a:cs typeface="Arial" panose="020B0604020202020204" pitchFamily="34" charset="0"/>
              </a:rPr>
              <a:t>6</a:t>
            </a:r>
            <a:r>
              <a:rPr lang="en-IN" dirty="0">
                <a:latin typeface="Arial" panose="020B0604020202020204" pitchFamily="34" charset="0"/>
                <a:cs typeface="Arial" panose="020B0604020202020204" pitchFamily="34" charset="0"/>
              </a:rPr>
              <a:t> </a:t>
            </a:r>
            <a:r>
              <a:rPr lang="el-GR" dirty="0">
                <a:solidFill>
                  <a:prstClr val="black">
                    <a:lumMod val="75000"/>
                    <a:lumOff val="25000"/>
                  </a:prstClr>
                </a:solidFill>
                <a:latin typeface="Arial" panose="020B0604020202020204" pitchFamily="34" charset="0"/>
                <a:cs typeface="Arial" panose="020B0604020202020204" pitchFamily="34" charset="0"/>
              </a:rPr>
              <a:t>μ</a:t>
            </a:r>
            <a:r>
              <a:rPr lang="en-IN" dirty="0">
                <a:latin typeface="Arial" panose="020B0604020202020204" pitchFamily="34" charset="0"/>
                <a:cs typeface="Arial" panose="020B0604020202020204" pitchFamily="34" charset="0"/>
              </a:rPr>
              <a:t>m)(5 </a:t>
            </a:r>
            <a:r>
              <a:rPr lang="en-IN" dirty="0" err="1">
                <a:latin typeface="Arial" panose="020B0604020202020204" pitchFamily="34" charset="0"/>
                <a:cs typeface="Arial" panose="020B0604020202020204" pitchFamily="34" charset="0"/>
              </a:rPr>
              <a:t>nA</a:t>
            </a:r>
            <a:r>
              <a:rPr lang="en-IN" dirty="0">
                <a:latin typeface="Arial" panose="020B0604020202020204" pitchFamily="34" charset="0"/>
                <a:cs typeface="Arial" panose="020B0604020202020204" pitchFamily="34" charset="0"/>
              </a:rPr>
              <a:t>/</a:t>
            </a:r>
            <a:r>
              <a:rPr lang="el-GR" dirty="0">
                <a:solidFill>
                  <a:prstClr val="black">
                    <a:lumMod val="75000"/>
                    <a:lumOff val="25000"/>
                  </a:prstClr>
                </a:solidFill>
                <a:latin typeface="Arial" panose="020B0604020202020204" pitchFamily="34" charset="0"/>
                <a:cs typeface="Arial" panose="020B0604020202020204" pitchFamily="34" charset="0"/>
              </a:rPr>
              <a:t> μ</a:t>
            </a:r>
            <a:r>
              <a:rPr lang="en-IN" dirty="0">
                <a:latin typeface="Arial" panose="020B0604020202020204" pitchFamily="34" charset="0"/>
                <a:cs typeface="Arial" panose="020B0604020202020204" pitchFamily="34" charset="0"/>
              </a:rPr>
              <a:t>m)/2 = 275 mA. </a:t>
            </a:r>
            <a:r>
              <a:rPr lang="en-IN" i="1" dirty="0" err="1">
                <a:latin typeface="Arial" panose="020B0604020202020204" pitchFamily="34" charset="0"/>
                <a:cs typeface="Arial" panose="020B0604020202020204" pitchFamily="34" charset="0"/>
              </a:rPr>
              <a:t>P</a:t>
            </a:r>
            <a:r>
              <a:rPr lang="en-IN" baseline="-25000" dirty="0" err="1">
                <a:latin typeface="Arial" panose="020B0604020202020204" pitchFamily="34" charset="0"/>
                <a:cs typeface="Arial" panose="020B0604020202020204" pitchFamily="34" charset="0"/>
              </a:rPr>
              <a:t>static</a:t>
            </a:r>
            <a:r>
              <a:rPr lang="en-IN" dirty="0">
                <a:latin typeface="Arial" panose="020B0604020202020204" pitchFamily="34" charset="0"/>
                <a:cs typeface="Arial" panose="020B0604020202020204" pitchFamily="34" charset="0"/>
              </a:rPr>
              <a:t> = (584 mA + 275 mA)(1 V)= 859 </a:t>
            </a:r>
            <a:r>
              <a:rPr lang="en-IN" dirty="0" err="1">
                <a:latin typeface="Arial" panose="020B0604020202020204" pitchFamily="34" charset="0"/>
                <a:cs typeface="Arial" panose="020B0604020202020204" pitchFamily="34" charset="0"/>
              </a:rPr>
              <a:t>mW</a:t>
            </a:r>
            <a:r>
              <a:rPr lang="en-IN" dirty="0">
                <a:latin typeface="Arial" panose="020B0604020202020204" pitchFamily="34" charset="0"/>
                <a:cs typeface="Arial" panose="020B0604020202020204" pitchFamily="34" charset="0"/>
              </a:rPr>
              <a:t>.</a:t>
            </a:r>
            <a:endParaRPr lang="en-IN" u="sng" dirty="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4029015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1797" y="624110"/>
            <a:ext cx="9782816" cy="1280890"/>
          </a:xfrm>
        </p:spPr>
        <p:txBody>
          <a:bodyPr>
            <a:normAutofit/>
          </a:bodyPr>
          <a:lstStyle/>
          <a:p>
            <a:r>
              <a:rPr lang="en-US" sz="2800" b="1" dirty="0"/>
              <a:t>The Power-Delay Product, or Energy per Operation</a:t>
            </a:r>
            <a:endParaRPr lang="en-IN"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78213" y="1297858"/>
            <a:ext cx="10726399" cy="4837949"/>
          </a:xfrm>
        </p:spPr>
        <p:txBody>
          <a:bodyPr>
            <a:normAutofit/>
          </a:bodyPr>
          <a:lstStyle/>
          <a:p>
            <a:r>
              <a:rPr lang="en-US" dirty="0">
                <a:latin typeface="Arial" pitchFamily="34" charset="0"/>
                <a:cs typeface="Arial" pitchFamily="34" charset="0"/>
              </a:rPr>
              <a:t>The power-delay product (PDP) as a quality measure for a  logic gate</a:t>
            </a:r>
          </a:p>
          <a:p>
            <a:endParaRPr lang="en-IN" dirty="0">
              <a:solidFill>
                <a:prstClr val="black">
                  <a:lumMod val="75000"/>
                  <a:lumOff val="25000"/>
                </a:prstClr>
              </a:solidFill>
              <a:latin typeface="Arial" pitchFamily="34" charset="0"/>
              <a:cs typeface="Arial" pitchFamily="34" charset="0"/>
            </a:endParaRPr>
          </a:p>
          <a:p>
            <a:r>
              <a:rPr lang="en-US" dirty="0">
                <a:latin typeface="Arial" pitchFamily="34" charset="0"/>
                <a:cs typeface="Arial" pitchFamily="34" charset="0"/>
              </a:rPr>
              <a:t>The PDP presents a measure of energy, as is apparent from the units (</a:t>
            </a:r>
            <a:r>
              <a:rPr lang="en-US" dirty="0" err="1">
                <a:latin typeface="Arial" pitchFamily="34" charset="0"/>
                <a:cs typeface="Arial" pitchFamily="34" charset="0"/>
              </a:rPr>
              <a:t>Wsec</a:t>
            </a:r>
            <a:r>
              <a:rPr lang="en-US" dirty="0">
                <a:latin typeface="Arial" pitchFamily="34" charset="0"/>
                <a:cs typeface="Arial" pitchFamily="34" charset="0"/>
              </a:rPr>
              <a:t> = Joule). Assuming that the gate is switched at its maximum possible rate of </a:t>
            </a:r>
            <a:r>
              <a:rPr lang="en-US" dirty="0" err="1">
                <a:latin typeface="Arial" pitchFamily="34" charset="0"/>
                <a:cs typeface="Arial" pitchFamily="34" charset="0"/>
              </a:rPr>
              <a:t>f</a:t>
            </a:r>
            <a:r>
              <a:rPr lang="en-US" baseline="-25000" dirty="0" err="1">
                <a:latin typeface="Arial" pitchFamily="34" charset="0"/>
                <a:cs typeface="Arial" pitchFamily="34" charset="0"/>
              </a:rPr>
              <a:t>max</a:t>
            </a:r>
            <a:r>
              <a:rPr lang="en-US" dirty="0">
                <a:latin typeface="Arial" pitchFamily="34" charset="0"/>
                <a:cs typeface="Arial" pitchFamily="34" charset="0"/>
              </a:rPr>
              <a:t> = 1/(2t</a:t>
            </a:r>
            <a:r>
              <a:rPr lang="en-US" baseline="-25000" dirty="0">
                <a:latin typeface="Arial" pitchFamily="34" charset="0"/>
                <a:cs typeface="Arial" pitchFamily="34" charset="0"/>
              </a:rPr>
              <a:t>p</a:t>
            </a:r>
            <a:r>
              <a:rPr lang="en-US" dirty="0">
                <a:latin typeface="Arial" pitchFamily="34" charset="0"/>
                <a:cs typeface="Arial" pitchFamily="34" charset="0"/>
              </a:rPr>
              <a:t>). The power delay product can be written as – </a:t>
            </a:r>
          </a:p>
          <a:p>
            <a:endParaRPr lang="en-IN" dirty="0">
              <a:solidFill>
                <a:prstClr val="black">
                  <a:lumMod val="75000"/>
                  <a:lumOff val="25000"/>
                </a:prstClr>
              </a:solidFill>
              <a:latin typeface="Arial" pitchFamily="34" charset="0"/>
              <a:cs typeface="Arial" pitchFamily="34" charset="0"/>
            </a:endParaRPr>
          </a:p>
          <a:p>
            <a:endParaRPr lang="en-IN" dirty="0">
              <a:solidFill>
                <a:prstClr val="black">
                  <a:lumMod val="75000"/>
                  <a:lumOff val="25000"/>
                </a:prstClr>
              </a:solidFill>
              <a:latin typeface="Arial" pitchFamily="34" charset="0"/>
              <a:cs typeface="Arial" pitchFamily="34" charset="0"/>
            </a:endParaRPr>
          </a:p>
          <a:p>
            <a:r>
              <a:rPr lang="en-US" dirty="0"/>
              <a:t>The PDP stands for the </a:t>
            </a:r>
            <a:r>
              <a:rPr lang="en-US" b="1" dirty="0"/>
              <a:t>average energy consumed per switching event</a:t>
            </a:r>
            <a:endParaRPr lang="en-US" dirty="0">
              <a:solidFill>
                <a:prstClr val="black">
                  <a:lumMod val="75000"/>
                  <a:lumOff val="25000"/>
                </a:prstClr>
              </a:solidFill>
              <a:latin typeface="Arial" pitchFamily="34" charset="0"/>
              <a:cs typeface="Arial" pitchFamily="34" charset="0"/>
            </a:endParaRPr>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75778" name="Picture 2"/>
          <p:cNvPicPr>
            <a:picLocks noChangeAspect="1" noChangeArrowheads="1"/>
          </p:cNvPicPr>
          <p:nvPr/>
        </p:nvPicPr>
        <p:blipFill>
          <a:blip r:embed="rId2" cstate="print"/>
          <a:srcRect/>
          <a:stretch>
            <a:fillRect/>
          </a:stretch>
        </p:blipFill>
        <p:spPr bwMode="auto">
          <a:xfrm>
            <a:off x="4828467" y="1664646"/>
            <a:ext cx="1679338" cy="477537"/>
          </a:xfrm>
          <a:prstGeom prst="rect">
            <a:avLst/>
          </a:prstGeom>
          <a:noFill/>
          <a:ln w="9525">
            <a:noFill/>
            <a:miter lim="800000"/>
            <a:headEnd/>
            <a:tailEnd/>
          </a:ln>
        </p:spPr>
      </p:pic>
      <p:pic>
        <p:nvPicPr>
          <p:cNvPr id="75779" name="Picture 3"/>
          <p:cNvPicPr>
            <a:picLocks noChangeAspect="1" noChangeArrowheads="1"/>
          </p:cNvPicPr>
          <p:nvPr/>
        </p:nvPicPr>
        <p:blipFill>
          <a:blip r:embed="rId3" cstate="print"/>
          <a:srcRect/>
          <a:stretch>
            <a:fillRect/>
          </a:stretch>
        </p:blipFill>
        <p:spPr bwMode="auto">
          <a:xfrm>
            <a:off x="3779602" y="3020438"/>
            <a:ext cx="3117309" cy="639448"/>
          </a:xfrm>
          <a:prstGeom prst="rect">
            <a:avLst/>
          </a:prstGeom>
          <a:noFill/>
          <a:ln w="9525">
            <a:noFill/>
            <a:miter lim="800000"/>
            <a:headEnd/>
            <a:tailEnd/>
          </a:ln>
        </p:spPr>
      </p:pic>
    </p:spTree>
    <p:extLst>
      <p:ext uri="{BB962C8B-B14F-4D97-AF65-F5344CB8AC3E}">
        <p14:creationId xmlns:p14="http://schemas.microsoft.com/office/powerpoint/2010/main" val="40290152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1797" y="624110"/>
            <a:ext cx="9782816" cy="1280890"/>
          </a:xfrm>
        </p:spPr>
        <p:txBody>
          <a:bodyPr>
            <a:normAutofit/>
          </a:bodyPr>
          <a:lstStyle/>
          <a:p>
            <a:r>
              <a:rPr lang="en-US" sz="2800" b="1" dirty="0"/>
              <a:t> Energy Delay Product</a:t>
            </a:r>
            <a:endParaRPr lang="en-IN" sz="28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78213" y="1297858"/>
            <a:ext cx="11128442" cy="4837949"/>
          </a:xfrm>
        </p:spPr>
        <p:txBody>
          <a:bodyPr>
            <a:normAutofit/>
          </a:bodyPr>
          <a:lstStyle/>
          <a:p>
            <a:r>
              <a:rPr lang="en-US" dirty="0">
                <a:latin typeface="Arial" pitchFamily="34" charset="0"/>
                <a:cs typeface="Arial" pitchFamily="34" charset="0"/>
              </a:rPr>
              <a:t>The validity of the PDP as a quality metric for a process technology or gate topology is questionable. It measures the energy needed to switch the gate, which is an important property for sure.</a:t>
            </a:r>
          </a:p>
          <a:p>
            <a:r>
              <a:rPr lang="en-US" dirty="0">
                <a:latin typeface="Arial" pitchFamily="34" charset="0"/>
                <a:cs typeface="Arial" pitchFamily="34" charset="0"/>
              </a:rPr>
              <a:t>A more relevant metric should combine a measure of performance and energy. The energy-delay product (EDP) does exactly that.</a:t>
            </a:r>
          </a:p>
          <a:p>
            <a:endParaRPr lang="en-IN" dirty="0">
              <a:solidFill>
                <a:prstClr val="black">
                  <a:lumMod val="75000"/>
                  <a:lumOff val="25000"/>
                </a:prstClr>
              </a:solidFill>
              <a:latin typeface="Arial" pitchFamily="34" charset="0"/>
              <a:cs typeface="Arial" pitchFamily="34" charset="0"/>
            </a:endParaRPr>
          </a:p>
          <a:p>
            <a:endParaRPr lang="en-IN" dirty="0">
              <a:solidFill>
                <a:prstClr val="black">
                  <a:lumMod val="75000"/>
                  <a:lumOff val="25000"/>
                </a:prstClr>
              </a:solidFill>
              <a:latin typeface="Arial" pitchFamily="34" charset="0"/>
              <a:cs typeface="Arial" pitchFamily="34" charset="0"/>
            </a:endParaRPr>
          </a:p>
          <a:p>
            <a:endParaRPr lang="en-IN" dirty="0">
              <a:solidFill>
                <a:prstClr val="black">
                  <a:lumMod val="75000"/>
                  <a:lumOff val="25000"/>
                </a:prstClr>
              </a:solidFill>
              <a:latin typeface="Arial" pitchFamily="34" charset="0"/>
              <a:cs typeface="Arial" pitchFamily="34" charset="0"/>
            </a:endParaRPr>
          </a:p>
          <a:p>
            <a:pPr>
              <a:spcBef>
                <a:spcPts val="0"/>
              </a:spcBef>
            </a:pPr>
            <a:r>
              <a:rPr lang="en-US" dirty="0">
                <a:latin typeface="Arial" pitchFamily="34" charset="0"/>
                <a:cs typeface="Arial" pitchFamily="34" charset="0"/>
              </a:rPr>
              <a:t>It is worth analyzing the voltage dependence of the EDP. </a:t>
            </a:r>
          </a:p>
          <a:p>
            <a:pPr>
              <a:spcBef>
                <a:spcPts val="0"/>
              </a:spcBef>
            </a:pPr>
            <a:r>
              <a:rPr lang="en-US" dirty="0">
                <a:latin typeface="Arial" pitchFamily="34" charset="0"/>
                <a:cs typeface="Arial" pitchFamily="34" charset="0"/>
              </a:rPr>
              <a:t>Higher supply voltages reduce delay, but harm the energy, </a:t>
            </a:r>
          </a:p>
          <a:p>
            <a:pPr>
              <a:spcBef>
                <a:spcPts val="0"/>
              </a:spcBef>
            </a:pPr>
            <a:r>
              <a:rPr lang="en-US" dirty="0">
                <a:latin typeface="Arial" pitchFamily="34" charset="0"/>
                <a:cs typeface="Arial" pitchFamily="34" charset="0"/>
              </a:rPr>
              <a:t>and the opposite is true for low voltages.</a:t>
            </a:r>
            <a:endParaRPr lang="en-IN" dirty="0">
              <a:solidFill>
                <a:prstClr val="black">
                  <a:lumMod val="75000"/>
                  <a:lumOff val="25000"/>
                </a:prstClr>
              </a:solidFill>
              <a:latin typeface="Arial" pitchFamily="34" charset="0"/>
              <a:cs typeface="Arial" pitchFamily="34" charset="0"/>
            </a:endParaRPr>
          </a:p>
          <a:p>
            <a:endParaRPr lang="en-IN" dirty="0">
              <a:solidFill>
                <a:prstClr val="black">
                  <a:lumMod val="75000"/>
                  <a:lumOff val="25000"/>
                </a:prstClr>
              </a:solidFill>
              <a:latin typeface="Arial" pitchFamily="34" charset="0"/>
              <a:cs typeface="Arial" pitchFamily="34" charset="0"/>
            </a:endParaRPr>
          </a:p>
          <a:p>
            <a:endParaRPr lang="en-IN" dirty="0">
              <a:solidFill>
                <a:prstClr val="black">
                  <a:lumMod val="75000"/>
                  <a:lumOff val="25000"/>
                </a:prstClr>
              </a:solidFill>
              <a:latin typeface="Arial" pitchFamily="34" charset="0"/>
              <a:cs typeface="Arial" pitchFamily="34" charset="0"/>
            </a:endParaRPr>
          </a:p>
        </p:txBody>
      </p:sp>
      <p:sp>
        <p:nvSpPr>
          <p:cNvPr id="4" name="Footer Placeholder 3"/>
          <p:cNvSpPr>
            <a:spLocks noGrp="1"/>
          </p:cNvSpPr>
          <p:nvPr>
            <p:ph type="ftr" sz="quarter" idx="11"/>
          </p:nvPr>
        </p:nvSpPr>
        <p:spPr/>
        <p:txBody>
          <a:bodyPr/>
          <a:lstStyle/>
          <a:p>
            <a:pPr lvl="0">
              <a:defRPr/>
            </a:pPr>
            <a:r>
              <a:rPr lang="en-IN" sz="1600" dirty="0">
                <a:solidFill>
                  <a:srgbClr val="C00000"/>
                </a:solidFill>
                <a:latin typeface="Arial" panose="020B0604020202020204" pitchFamily="34" charset="0"/>
                <a:cs typeface="Arial" panose="020B0604020202020204" pitchFamily="34" charset="0"/>
              </a:rPr>
              <a:t>Rohit Lorenzo, VIT-AP</a:t>
            </a:r>
          </a:p>
        </p:txBody>
      </p:sp>
      <p:pic>
        <p:nvPicPr>
          <p:cNvPr id="76802" name="Picture 2"/>
          <p:cNvPicPr>
            <a:picLocks noChangeAspect="1" noChangeArrowheads="1"/>
          </p:cNvPicPr>
          <p:nvPr/>
        </p:nvPicPr>
        <p:blipFill>
          <a:blip r:embed="rId2" cstate="print"/>
          <a:srcRect/>
          <a:stretch>
            <a:fillRect/>
          </a:stretch>
        </p:blipFill>
        <p:spPr bwMode="auto">
          <a:xfrm>
            <a:off x="3423427" y="2742897"/>
            <a:ext cx="3761595" cy="632601"/>
          </a:xfrm>
          <a:prstGeom prst="rect">
            <a:avLst/>
          </a:prstGeom>
          <a:noFill/>
          <a:ln w="9525">
            <a:noFill/>
            <a:miter lim="800000"/>
            <a:headEnd/>
            <a:tailEnd/>
          </a:ln>
        </p:spPr>
      </p:pic>
      <p:pic>
        <p:nvPicPr>
          <p:cNvPr id="76803" name="Picture 3"/>
          <p:cNvPicPr>
            <a:picLocks noChangeAspect="1" noChangeArrowheads="1"/>
          </p:cNvPicPr>
          <p:nvPr/>
        </p:nvPicPr>
        <p:blipFill>
          <a:blip r:embed="rId3" cstate="print"/>
          <a:srcRect/>
          <a:stretch>
            <a:fillRect/>
          </a:stretch>
        </p:blipFill>
        <p:spPr bwMode="auto">
          <a:xfrm>
            <a:off x="7470843" y="2224470"/>
            <a:ext cx="4721157" cy="4633530"/>
          </a:xfrm>
          <a:prstGeom prst="rect">
            <a:avLst/>
          </a:prstGeom>
          <a:noFill/>
          <a:ln w="9525">
            <a:noFill/>
            <a:miter lim="800000"/>
            <a:headEnd/>
            <a:tailEnd/>
          </a:ln>
        </p:spPr>
      </p:pic>
    </p:spTree>
    <p:extLst>
      <p:ext uri="{BB962C8B-B14F-4D97-AF65-F5344CB8AC3E}">
        <p14:creationId xmlns:p14="http://schemas.microsoft.com/office/powerpoint/2010/main" val="40290152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4641" y="624110"/>
            <a:ext cx="9939972" cy="1280890"/>
          </a:xfrm>
        </p:spPr>
        <p:txBody>
          <a:bodyPr/>
          <a:lstStyle/>
          <a:p>
            <a:endParaRPr lang="en-IN" dirty="0"/>
          </a:p>
        </p:txBody>
      </p:sp>
      <p:sp>
        <p:nvSpPr>
          <p:cNvPr id="3" name="Content Placeholder 2"/>
          <p:cNvSpPr>
            <a:spLocks noGrp="1"/>
          </p:cNvSpPr>
          <p:nvPr>
            <p:ph idx="1"/>
          </p:nvPr>
        </p:nvSpPr>
        <p:spPr>
          <a:xfrm>
            <a:off x="1564640" y="2133600"/>
            <a:ext cx="9939972" cy="3777622"/>
          </a:xfrm>
        </p:spPr>
        <p:txBody>
          <a:bodyPr/>
          <a:lstStyle/>
          <a:p>
            <a:endParaRPr lang="en-IN" dirty="0">
              <a:solidFill>
                <a:srgbClr val="FF0000"/>
              </a:solidFill>
            </a:endParaRPr>
          </a:p>
        </p:txBody>
      </p:sp>
      <p:sp>
        <p:nvSpPr>
          <p:cNvPr id="4" name="Rectangle 3"/>
          <p:cNvSpPr/>
          <p:nvPr/>
        </p:nvSpPr>
        <p:spPr>
          <a:xfrm>
            <a:off x="4285251" y="2967335"/>
            <a:ext cx="4999426" cy="1200329"/>
          </a:xfrm>
          <a:prstGeom prst="rect">
            <a:avLst/>
          </a:prstGeom>
          <a:noFill/>
          <a:scene3d>
            <a:camera prst="obliqueBottomLeft"/>
            <a:lightRig rig="threePt" dir="t"/>
          </a:scene3d>
        </p:spPr>
        <p:txBody>
          <a:bodyPr wrap="square" lIns="91440" tIns="45720" rIns="91440" bIns="45720">
            <a:spAutoFit/>
          </a:bodyPr>
          <a:lstStyle/>
          <a:p>
            <a:pPr algn="ctr"/>
            <a:r>
              <a:rPr lang="en-US" sz="72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p>
        </p:txBody>
      </p:sp>
      <p:sp>
        <p:nvSpPr>
          <p:cNvPr id="5" name="Footer Placeholder 4">
            <a:extLst>
              <a:ext uri="{FF2B5EF4-FFF2-40B4-BE49-F238E27FC236}">
                <a16:creationId xmlns:a16="http://schemas.microsoft.com/office/drawing/2014/main" id="{5CB9775A-DA40-435C-881E-2A72176C3810}"/>
              </a:ext>
            </a:extLst>
          </p:cNvPr>
          <p:cNvSpPr>
            <a:spLocks noGrp="1"/>
          </p:cNvSpPr>
          <p:nvPr>
            <p:ph type="ftr" sz="quarter" idx="11"/>
          </p:nvPr>
        </p:nvSpPr>
        <p:spPr/>
        <p:txBody>
          <a:bodyPr/>
          <a:lstStyle/>
          <a:p>
            <a:pPr lvl="0"/>
            <a:r>
              <a:rPr lang="en-IN" sz="1600" dirty="0">
                <a:solidFill>
                  <a:srgbClr val="C00000"/>
                </a:solidFill>
                <a:latin typeface="Arial" panose="020B0604020202020204" pitchFamily="34" charset="0"/>
                <a:cs typeface="Arial" panose="020B0604020202020204" pitchFamily="34" charset="0"/>
              </a:rPr>
              <a:t>Rohit Lorenzo, VIT-AP</a:t>
            </a:r>
          </a:p>
        </p:txBody>
      </p:sp>
    </p:spTree>
    <p:extLst>
      <p:ext uri="{BB962C8B-B14F-4D97-AF65-F5344CB8AC3E}">
        <p14:creationId xmlns:p14="http://schemas.microsoft.com/office/powerpoint/2010/main" val="36605803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4262</TotalTime>
  <Words>3715</Words>
  <Application>Microsoft Office PowerPoint</Application>
  <PresentationFormat>Widescreen</PresentationFormat>
  <Paragraphs>465</Paragraphs>
  <Slides>57</Slides>
  <Notes>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70" baseType="lpstr">
      <vt:lpstr>ACaslon-Italic</vt:lpstr>
      <vt:lpstr>ACaslon-Regular</vt:lpstr>
      <vt:lpstr>Arial</vt:lpstr>
      <vt:lpstr>Calibri</vt:lpstr>
      <vt:lpstr>Cambria Math</vt:lpstr>
      <vt:lpstr>Century Gothic</vt:lpstr>
      <vt:lpstr>Courier New</vt:lpstr>
      <vt:lpstr>Times New Roman</vt:lpstr>
      <vt:lpstr>TimesNewRomanPSMT</vt:lpstr>
      <vt:lpstr>Wingdings</vt:lpstr>
      <vt:lpstr>Wingdings 3</vt:lpstr>
      <vt:lpstr>Wisp</vt:lpstr>
      <vt:lpstr>Visio</vt:lpstr>
      <vt:lpstr>Power</vt:lpstr>
      <vt:lpstr>Talk Outline</vt:lpstr>
      <vt:lpstr>Power Dissipation</vt:lpstr>
      <vt:lpstr>Motivation - Why Low Power</vt:lpstr>
      <vt:lpstr>Why Low Power</vt:lpstr>
      <vt:lpstr> Why Low Power</vt:lpstr>
      <vt:lpstr>Latest Processor </vt:lpstr>
      <vt:lpstr>Increased Power Dissipation in DSM</vt:lpstr>
      <vt:lpstr>Packaging  and Cooling Cost</vt:lpstr>
      <vt:lpstr>Portable System</vt:lpstr>
      <vt:lpstr>Advantages &amp; Disadvantages</vt:lpstr>
      <vt:lpstr>Increasing Power Density</vt:lpstr>
      <vt:lpstr> Environment</vt:lpstr>
      <vt:lpstr>CMOS Technology of Choice</vt:lpstr>
      <vt:lpstr>Continue….</vt:lpstr>
      <vt:lpstr>Sources of Power Dissipation</vt:lpstr>
      <vt:lpstr>Power Dissipation CMOS Equation</vt:lpstr>
      <vt:lpstr>Definitions and Basics</vt:lpstr>
      <vt:lpstr>Examples</vt:lpstr>
      <vt:lpstr>Continue…..</vt:lpstr>
      <vt:lpstr>Dynamic Power Dissipation </vt:lpstr>
      <vt:lpstr>Continue…..</vt:lpstr>
      <vt:lpstr>Short Circuit Power Dissipation</vt:lpstr>
      <vt:lpstr>Continue…..</vt:lpstr>
      <vt:lpstr>Problem 1</vt:lpstr>
      <vt:lpstr>Problem2</vt:lpstr>
      <vt:lpstr>Switching Activity (α)</vt:lpstr>
      <vt:lpstr>Continue….</vt:lpstr>
      <vt:lpstr>Continue….</vt:lpstr>
      <vt:lpstr>Problem3</vt:lpstr>
      <vt:lpstr>Problem4 </vt:lpstr>
      <vt:lpstr>Glitching power Dissipation</vt:lpstr>
      <vt:lpstr>Static Power (Leakage Power)</vt:lpstr>
      <vt:lpstr>Why Leakage Power is Important</vt:lpstr>
      <vt:lpstr>Continue…..</vt:lpstr>
      <vt:lpstr>Impact of Process Variation on Leakage and Performance </vt:lpstr>
      <vt:lpstr>Power Dissipation at different levels</vt:lpstr>
      <vt:lpstr>Components of Leakage Power</vt:lpstr>
      <vt:lpstr>Reversed Biased Leakage </vt:lpstr>
      <vt:lpstr>P-n Junction reverse biased Current</vt:lpstr>
      <vt:lpstr>P-n Junction reverse biased Current</vt:lpstr>
      <vt:lpstr>Band to band tunneling current</vt:lpstr>
      <vt:lpstr>Subthreshold Leakage</vt:lpstr>
      <vt:lpstr>Continue…. </vt:lpstr>
      <vt:lpstr>Drain Induced Barrier Lowering (DIBL)</vt:lpstr>
      <vt:lpstr>DIBL</vt:lpstr>
      <vt:lpstr>Body Effect</vt:lpstr>
      <vt:lpstr>Gate oxide tunneling</vt:lpstr>
      <vt:lpstr>Gate-Induced Drain Leakage</vt:lpstr>
      <vt:lpstr>Vth Roll-Off</vt:lpstr>
      <vt:lpstr>Temperature Effect</vt:lpstr>
      <vt:lpstr>Hot-Carrier Injection</vt:lpstr>
      <vt:lpstr>Punch Through</vt:lpstr>
      <vt:lpstr>Problem</vt:lpstr>
      <vt:lpstr>The Power-Delay Product, or Energy per Operation</vt:lpstr>
      <vt:lpstr> Energy Delay Product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Low Power 10T SRAM Cell with Improved Stability Solving Soft Error Issue</dc:title>
  <dc:creator>eee</dc:creator>
  <cp:lastModifiedBy>Dr. Rohit Lorenzo</cp:lastModifiedBy>
  <cp:revision>273</cp:revision>
  <cp:lastPrinted>2021-11-12T04:28:18Z</cp:lastPrinted>
  <dcterms:created xsi:type="dcterms:W3CDTF">2019-09-25T11:46:40Z</dcterms:created>
  <dcterms:modified xsi:type="dcterms:W3CDTF">2021-11-19T08:17:29Z</dcterms:modified>
</cp:coreProperties>
</file>