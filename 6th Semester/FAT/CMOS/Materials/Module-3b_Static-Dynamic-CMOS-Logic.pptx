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notesMasterIdLst>
    <p:notesMasterId r:id="rId35"/>
  </p:notesMasterIdLst>
  <p:sldIdLst>
    <p:sldId id="256" r:id="rId2"/>
    <p:sldId id="295" r:id="rId3"/>
    <p:sldId id="296" r:id="rId4"/>
    <p:sldId id="297" r:id="rId5"/>
    <p:sldId id="298" r:id="rId6"/>
    <p:sldId id="301" r:id="rId7"/>
    <p:sldId id="329" r:id="rId8"/>
    <p:sldId id="333" r:id="rId9"/>
    <p:sldId id="304" r:id="rId10"/>
    <p:sldId id="325" r:id="rId11"/>
    <p:sldId id="305" r:id="rId12"/>
    <p:sldId id="331" r:id="rId13"/>
    <p:sldId id="307" r:id="rId14"/>
    <p:sldId id="308" r:id="rId15"/>
    <p:sldId id="309" r:id="rId16"/>
    <p:sldId id="310" r:id="rId17"/>
    <p:sldId id="311" r:id="rId18"/>
    <p:sldId id="312" r:id="rId19"/>
    <p:sldId id="335" r:id="rId20"/>
    <p:sldId id="337" r:id="rId21"/>
    <p:sldId id="339" r:id="rId22"/>
    <p:sldId id="341" r:id="rId23"/>
    <p:sldId id="313" r:id="rId24"/>
    <p:sldId id="314" r:id="rId25"/>
    <p:sldId id="315" r:id="rId26"/>
    <p:sldId id="316" r:id="rId27"/>
    <p:sldId id="317" r:id="rId28"/>
    <p:sldId id="320" r:id="rId29"/>
    <p:sldId id="319" r:id="rId30"/>
    <p:sldId id="321" r:id="rId31"/>
    <p:sldId id="322" r:id="rId32"/>
    <p:sldId id="323" r:id="rId33"/>
    <p:sldId id="27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C73D7-7640-40F9-8434-A0F03C5760E6}" type="datetimeFigureOut">
              <a:rPr lang="en-IN" smtClean="0"/>
              <a:pPr/>
              <a:t>18-08-2021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2B883-0CBF-46F6-B001-F5F9F89E9899}" type="slidenum">
              <a:rPr lang="en-IN" smtClean="0"/>
              <a:pPr/>
              <a:t>‹#›</a:t>
            </a:fld>
            <a:endParaRPr lang="en-IN"/>
          </a:p>
        </p:txBody>
      </p:sp>
    </p:spTree>
    <p:extLst>
      <p:ext uri="{BB962C8B-B14F-4D97-AF65-F5344CB8AC3E}">
        <p14:creationId xmlns:p14="http://schemas.microsoft.com/office/powerpoint/2010/main" val="3170261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793FC6-7D19-42F4-A915-A22E318BB010}" type="datetime1">
              <a:rPr lang="en-IN" smtClean="0"/>
              <a:pPr/>
              <a:t>18-08-2021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65337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B98C-9C5A-4162-993F-316E4E6C62BB}" type="datetime1">
              <a:rPr lang="en-IN" smtClean="0"/>
              <a:pPr/>
              <a:t>18-08-2021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58345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9ED1CE-D0E4-49F6-AA4E-0C3DE4D5CA9F}" type="datetime1">
              <a:rPr lang="en-IN" smtClean="0"/>
              <a:pPr/>
              <a:t>18-08-2021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13757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6DC15E-93BC-4995-B67D-673FA7BA3E92}" type="datetime1">
              <a:rPr lang="en-IN" smtClean="0"/>
              <a:pPr/>
              <a:t>18-08-2021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48977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90AC8C-1DD9-4769-A93E-CB9191A82FBE}" type="datetime1">
              <a:rPr lang="en-IN" smtClean="0"/>
              <a:pPr/>
              <a:t>18-08-2021</a:t>
            </a:fld>
            <a:endParaRPr lang="en-IN"/>
          </a:p>
        </p:txBody>
      </p:sp>
      <p:sp>
        <p:nvSpPr>
          <p:cNvPr id="8" name="Footer Placeholder 7"/>
          <p:cNvSpPr>
            <a:spLocks noGrp="1"/>
          </p:cNvSpPr>
          <p:nvPr>
            <p:ph type="ftr" sz="quarter" idx="11"/>
          </p:nvPr>
        </p:nvSpPr>
        <p:spPr/>
        <p:txBody>
          <a:bodyPr/>
          <a:lstStyle/>
          <a:p>
            <a:r>
              <a:rPr lang="en-IN"/>
              <a:t>Rohit Lorenzo , VIT-AP</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94879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49D4AB-23A7-43B1-AC37-7A69E1B162CB}" type="datetime1">
              <a:rPr lang="en-IN" smtClean="0"/>
              <a:pPr/>
              <a:t>18-08-2021</a:t>
            </a:fld>
            <a:endParaRPr lang="en-IN"/>
          </a:p>
        </p:txBody>
      </p:sp>
      <p:sp>
        <p:nvSpPr>
          <p:cNvPr id="4" name="Footer Placeholder 3"/>
          <p:cNvSpPr>
            <a:spLocks noGrp="1"/>
          </p:cNvSpPr>
          <p:nvPr>
            <p:ph type="ftr" sz="quarter" idx="11"/>
          </p:nvPr>
        </p:nvSpPr>
        <p:spPr/>
        <p:txBody>
          <a:bodyPr/>
          <a:lstStyle/>
          <a:p>
            <a:r>
              <a:rPr lang="en-IN"/>
              <a:t>Rohit Lorenzo , VIT-AP</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88461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FFC48-1A3A-47F9-AB3E-F0A947B0BE83}" type="datetime1">
              <a:rPr lang="en-IN" smtClean="0"/>
              <a:pPr/>
              <a:t>18-08-2021</a:t>
            </a:fld>
            <a:endParaRPr lang="en-IN"/>
          </a:p>
        </p:txBody>
      </p:sp>
      <p:sp>
        <p:nvSpPr>
          <p:cNvPr id="3" name="Footer Placeholder 2"/>
          <p:cNvSpPr>
            <a:spLocks noGrp="1"/>
          </p:cNvSpPr>
          <p:nvPr>
            <p:ph type="ftr" sz="quarter" idx="11"/>
          </p:nvPr>
        </p:nvSpPr>
        <p:spPr/>
        <p:txBody>
          <a:bodyPr/>
          <a:lstStyle/>
          <a:p>
            <a:r>
              <a:rPr lang="en-IN"/>
              <a:t>Rohit Lorenzo , VIT-AP</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1223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0B7AB3-5AA6-4B2A-A848-6B9056B8F888}" type="datetime1">
              <a:rPr lang="en-IN" smtClean="0"/>
              <a:pPr/>
              <a:t>18-08-2021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87837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62A0A8-2993-4F46-873E-B317420EEF1D}" type="datetime1">
              <a:rPr lang="en-IN" smtClean="0"/>
              <a:pPr/>
              <a:t>18-08-2021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005223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4AF5B2-9161-484D-941E-09E7D7D8822D}" type="datetime1">
              <a:rPr lang="en-IN" smtClean="0"/>
              <a:pPr/>
              <a:t>18-08-2021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27654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02EE73-49A5-4032-8312-39A4654D8975}" type="datetime1">
              <a:rPr lang="en-IN" smtClean="0"/>
              <a:pPr/>
              <a:t>18-08-2021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7853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13B1249-61C8-4A7F-8E7B-53A384F44D16}" type="datetime1">
              <a:rPr lang="en-IN" smtClean="0"/>
              <a:pPr/>
              <a:t>18-08-2021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8125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33059DD-5442-4AC6-B4D8-568940477A5F}" type="datetime1">
              <a:rPr lang="en-IN" smtClean="0"/>
              <a:pPr/>
              <a:t>18-08-2021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93744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A093278-5D43-45AE-BD96-13E9B97C202A}" type="datetime1">
              <a:rPr lang="en-IN" smtClean="0"/>
              <a:pPr/>
              <a:t>18-08-2021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7826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0D21C-79F6-4EA2-9761-2BBE3077020C}" type="datetime1">
              <a:rPr lang="en-IN" smtClean="0"/>
              <a:pPr/>
              <a:t>18-08-2021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784775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744E18-DFA2-43E5-8F6D-0DBE05038609}" type="datetime1">
              <a:rPr lang="en-IN" smtClean="0"/>
              <a:pPr/>
              <a:t>18-08-2021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86937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31D4EE5-909F-48DF-A25F-F957D1B95CC9}" type="datetime1">
              <a:rPr lang="en-IN" smtClean="0"/>
              <a:pPr/>
              <a:t>18-08-2021</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Rohit Lorenzo , VIT-AP</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3660945311"/>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000" b="1" dirty="0"/>
              <a:t>C</a:t>
            </a:r>
            <a:r>
              <a:rPr lang="en-IN" sz="3000" b="1" dirty="0"/>
              <a:t>MOS VLSI Design</a:t>
            </a:r>
          </a:p>
        </p:txBody>
      </p:sp>
      <p:sp>
        <p:nvSpPr>
          <p:cNvPr id="3" name="Content Placeholder 2"/>
          <p:cNvSpPr>
            <a:spLocks noGrp="1"/>
          </p:cNvSpPr>
          <p:nvPr>
            <p:ph idx="1"/>
          </p:nvPr>
        </p:nvSpPr>
        <p:spPr>
          <a:xfrm>
            <a:off x="1450731" y="2133599"/>
            <a:ext cx="10278207" cy="4399085"/>
          </a:xfrm>
        </p:spPr>
        <p:txBody>
          <a:bodyPr/>
          <a:lstStyle/>
          <a:p>
            <a:pPr marL="0" indent="0" algn="ctr">
              <a:buNone/>
            </a:pPr>
            <a:r>
              <a:rPr lang="en-IN" b="1" dirty="0"/>
              <a:t>By</a:t>
            </a:r>
          </a:p>
          <a:p>
            <a:pPr marL="0" indent="0" algn="ctr">
              <a:buNone/>
            </a:pPr>
            <a:endParaRPr lang="en-IN" dirty="0"/>
          </a:p>
          <a:p>
            <a:pPr marL="0" indent="0" algn="ctr">
              <a:buNone/>
            </a:pPr>
            <a:r>
              <a:rPr lang="en-IN" sz="2000" b="1" dirty="0" err="1"/>
              <a:t>Dr.Rohit</a:t>
            </a:r>
            <a:r>
              <a:rPr lang="en-IN" sz="2000" b="1" dirty="0"/>
              <a:t> Lorenzo</a:t>
            </a:r>
          </a:p>
          <a:p>
            <a:pPr marL="0" indent="0" algn="ctr">
              <a:buNone/>
            </a:pPr>
            <a:r>
              <a:rPr lang="en-IN" sz="2000" b="1" dirty="0"/>
              <a:t>Assistant Professor Sr. Grade -1</a:t>
            </a:r>
          </a:p>
          <a:p>
            <a:pPr marL="0" indent="0" algn="ctr">
              <a:buNone/>
            </a:pPr>
            <a:r>
              <a:rPr lang="en-IN" sz="2000" b="1" dirty="0"/>
              <a:t>School of Electronics Engineering (SENSE)</a:t>
            </a:r>
          </a:p>
          <a:p>
            <a:pPr marL="0" indent="0" algn="ctr">
              <a:buNone/>
            </a:pPr>
            <a:endParaRPr lang="en-IN" b="1" dirty="0"/>
          </a:p>
          <a:p>
            <a:pPr marL="0" indent="0" algn="ctr">
              <a:buNone/>
            </a:pPr>
            <a:r>
              <a:rPr lang="en-IN" dirty="0"/>
              <a:t> </a:t>
            </a:r>
          </a:p>
        </p:txBody>
      </p:sp>
      <p:pic>
        <p:nvPicPr>
          <p:cNvPr id="4" name="Picture 3">
            <a:extLst>
              <a:ext uri="{FF2B5EF4-FFF2-40B4-BE49-F238E27FC236}">
                <a16:creationId xmlns:a16="http://schemas.microsoft.com/office/drawing/2014/main" id="{E7D8A5F9-ED45-42EF-B008-2ACDB3324E29}"/>
              </a:ext>
            </a:extLst>
          </p:cNvPr>
          <p:cNvPicPr>
            <a:picLocks noChangeAspect="1"/>
          </p:cNvPicPr>
          <p:nvPr/>
        </p:nvPicPr>
        <p:blipFill>
          <a:blip r:embed="rId2" cstate="print"/>
          <a:stretch>
            <a:fillRect/>
          </a:stretch>
        </p:blipFill>
        <p:spPr>
          <a:xfrm>
            <a:off x="5518271" y="4206557"/>
            <a:ext cx="2143125" cy="2143125"/>
          </a:xfrm>
          <a:prstGeom prst="rect">
            <a:avLst/>
          </a:prstGeom>
        </p:spPr>
      </p:pic>
      <p:sp>
        <p:nvSpPr>
          <p:cNvPr id="6" name="Footer Placeholder 5">
            <a:extLst>
              <a:ext uri="{FF2B5EF4-FFF2-40B4-BE49-F238E27FC236}">
                <a16:creationId xmlns:a16="http://schemas.microsoft.com/office/drawing/2014/main" id="{5E9579B1-487B-4D07-8C3A-2D1E584D45E5}"/>
              </a:ext>
            </a:extLst>
          </p:cNvPr>
          <p:cNvSpPr>
            <a:spLocks noGrp="1"/>
          </p:cNvSpPr>
          <p:nvPr>
            <p:ph type="ftr" sz="quarter" idx="11"/>
          </p:nvPr>
        </p:nvSpPr>
        <p:spPr/>
        <p:txBody>
          <a:bodyPr/>
          <a:lstStyle/>
          <a:p>
            <a:r>
              <a:rPr lang="en-IN"/>
              <a:t>Rohit Lorenzo , VIT-AP</a:t>
            </a:r>
          </a:p>
        </p:txBody>
      </p:sp>
    </p:spTree>
    <p:extLst>
      <p:ext uri="{BB962C8B-B14F-4D97-AF65-F5344CB8AC3E}">
        <p14:creationId xmlns:p14="http://schemas.microsoft.com/office/powerpoint/2010/main" val="1808153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0AD63-250F-4106-8276-29E747C57D11}"/>
              </a:ext>
            </a:extLst>
          </p:cNvPr>
          <p:cNvSpPr>
            <a:spLocks noGrp="1"/>
          </p:cNvSpPr>
          <p:nvPr>
            <p:ph type="title"/>
          </p:nvPr>
        </p:nvSpPr>
        <p:spPr/>
        <p:txBody>
          <a:bodyPr/>
          <a:lstStyle/>
          <a:p>
            <a:r>
              <a:rPr lang="en-IN" sz="3200" b="1" dirty="0"/>
              <a:t>Static CMOS Complementary Logic</a:t>
            </a:r>
            <a:br>
              <a:rPr lang="en-IN" b="1" dirty="0"/>
            </a:br>
            <a:endParaRPr lang="en-IN" dirty="0"/>
          </a:p>
        </p:txBody>
      </p:sp>
      <p:sp>
        <p:nvSpPr>
          <p:cNvPr id="3" name="Content Placeholder 2">
            <a:extLst>
              <a:ext uri="{FF2B5EF4-FFF2-40B4-BE49-F238E27FC236}">
                <a16:creationId xmlns:a16="http://schemas.microsoft.com/office/drawing/2014/main" id="{174D21A1-6D28-40B9-8BF9-8E90C7235AFC}"/>
              </a:ext>
            </a:extLst>
          </p:cNvPr>
          <p:cNvSpPr>
            <a:spLocks noGrp="1"/>
          </p:cNvSpPr>
          <p:nvPr>
            <p:ph idx="1"/>
          </p:nvPr>
        </p:nvSpPr>
        <p:spPr>
          <a:xfrm>
            <a:off x="1422400" y="1676400"/>
            <a:ext cx="10444480" cy="4557490"/>
          </a:xfrm>
        </p:spPr>
        <p:txBody>
          <a:bodyPr>
            <a:normAutofit lnSpcReduction="10000"/>
          </a:bodyPr>
          <a:lstStyle/>
          <a:p>
            <a:r>
              <a:rPr lang="en-US" dirty="0">
                <a:solidFill>
                  <a:srgbClr val="000000"/>
                </a:solidFill>
                <a:latin typeface="Arial" panose="020B0604020202020204" pitchFamily="34" charset="0"/>
                <a:cs typeface="Arial" panose="020B0604020202020204" pitchFamily="34" charset="0"/>
              </a:rPr>
              <a:t>Static CMOS gates are implemented by using combination of two networks, the pull-up network (PUN) and Pull-down Network (PDN).</a:t>
            </a:r>
          </a:p>
          <a:p>
            <a:endParaRPr lang="en-US" dirty="0">
              <a:solidFill>
                <a:srgbClr val="000000"/>
              </a:solidFill>
              <a:latin typeface="Arial" panose="020B0604020202020204" pitchFamily="34" charset="0"/>
              <a:cs typeface="Arial" panose="020B0604020202020204" pitchFamily="34" charset="0"/>
            </a:endParaRPr>
          </a:p>
          <a:p>
            <a:r>
              <a:rPr lang="en-US" sz="2000" u="sng" dirty="0">
                <a:solidFill>
                  <a:srgbClr val="FF0000"/>
                </a:solidFill>
                <a:latin typeface="Arial" panose="020B0604020202020204" pitchFamily="34" charset="0"/>
                <a:cs typeface="Arial" panose="020B0604020202020204" pitchFamily="34" charset="0"/>
              </a:rPr>
              <a:t>Advantage</a:t>
            </a:r>
            <a:r>
              <a:rPr lang="en-US" sz="2000" dirty="0">
                <a:solidFill>
                  <a:srgbClr val="000000"/>
                </a:solidFill>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 </a:t>
            </a:r>
          </a:p>
          <a:p>
            <a:r>
              <a:rPr lang="en-US" dirty="0">
                <a:solidFill>
                  <a:schemeClr val="tx1"/>
                </a:solidFill>
                <a:latin typeface="Arial" panose="020B0604020202020204" pitchFamily="34" charset="0"/>
                <a:cs typeface="Arial" panose="020B0604020202020204" pitchFamily="34" charset="0"/>
              </a:rPr>
              <a:t>Very good current driving capability.</a:t>
            </a:r>
          </a:p>
          <a:p>
            <a:r>
              <a:rPr lang="en-US" dirty="0">
                <a:solidFill>
                  <a:schemeClr val="tx1"/>
                </a:solidFill>
                <a:latin typeface="Arial" panose="020B0604020202020204" pitchFamily="34" charset="0"/>
                <a:cs typeface="Arial" panose="020B0604020202020204" pitchFamily="34" charset="0"/>
              </a:rPr>
              <a:t>High  Noise Margin.</a:t>
            </a:r>
          </a:p>
          <a:p>
            <a:r>
              <a:rPr lang="en-US" dirty="0">
                <a:solidFill>
                  <a:schemeClr val="tx1"/>
                </a:solidFill>
                <a:latin typeface="Arial" panose="020B0604020202020204" pitchFamily="34" charset="0"/>
                <a:cs typeface="Arial" panose="020B0604020202020204" pitchFamily="34" charset="0"/>
              </a:rPr>
              <a:t>Lower static power dissipation</a:t>
            </a:r>
          </a:p>
          <a:p>
            <a:endParaRPr lang="en-US" dirty="0">
              <a:solidFill>
                <a:schemeClr val="tx1"/>
              </a:solidFill>
              <a:latin typeface="Arial" panose="020B0604020202020204" pitchFamily="34" charset="0"/>
              <a:cs typeface="Arial" panose="020B0604020202020204" pitchFamily="34" charset="0"/>
            </a:endParaRPr>
          </a:p>
          <a:p>
            <a:r>
              <a:rPr lang="en-US" sz="2000" u="sng" dirty="0">
                <a:solidFill>
                  <a:srgbClr val="FF0000"/>
                </a:solidFill>
                <a:latin typeface="Arial" panose="020B0604020202020204" pitchFamily="34" charset="0"/>
                <a:cs typeface="Arial" panose="020B0604020202020204" pitchFamily="34" charset="0"/>
              </a:rPr>
              <a:t>Dis-advantage</a:t>
            </a:r>
            <a:r>
              <a:rPr lang="en-US" sz="2000" dirty="0">
                <a:solidFill>
                  <a:srgbClr val="000000"/>
                </a:solidFill>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 </a:t>
            </a:r>
          </a:p>
          <a:p>
            <a:r>
              <a:rPr lang="en-US" dirty="0">
                <a:solidFill>
                  <a:schemeClr val="tx1"/>
                </a:solidFill>
                <a:latin typeface="Arial" panose="020B0604020202020204" pitchFamily="34" charset="0"/>
                <a:cs typeface="Arial" panose="020B0604020202020204" pitchFamily="34" charset="0"/>
              </a:rPr>
              <a:t>Larger number of transistors required </a:t>
            </a:r>
          </a:p>
          <a:p>
            <a:pPr marL="0" indent="0">
              <a:buNone/>
            </a:pPr>
            <a:r>
              <a:rPr lang="en-US" dirty="0">
                <a:solidFill>
                  <a:schemeClr val="tx1"/>
                </a:solidFill>
                <a:latin typeface="Arial" panose="020B0604020202020204" pitchFamily="34" charset="0"/>
                <a:cs typeface="Arial" panose="020B0604020202020204" pitchFamily="34" charset="0"/>
              </a:rPr>
              <a:t>     (larger chip area &amp; delay).</a:t>
            </a:r>
          </a:p>
          <a:p>
            <a:r>
              <a:rPr lang="en-US" dirty="0">
                <a:solidFill>
                  <a:schemeClr val="tx1"/>
                </a:solidFill>
                <a:latin typeface="Arial" panose="020B0604020202020204" pitchFamily="34" charset="0"/>
                <a:cs typeface="Arial" panose="020B0604020202020204" pitchFamily="34" charset="0"/>
              </a:rPr>
              <a:t>Short circuit power dissipation.</a:t>
            </a:r>
            <a:endParaRPr lang="en-IN" dirty="0">
              <a:solidFill>
                <a:schemeClr val="tx1"/>
              </a:solidFill>
              <a:latin typeface="Arial" panose="020B0604020202020204" pitchFamily="34" charset="0"/>
              <a:cs typeface="Arial" panose="020B0604020202020204" pitchFamily="34" charset="0"/>
            </a:endParaRPr>
          </a:p>
          <a:p>
            <a:endParaRPr lang="en-IN" dirty="0">
              <a:solidFill>
                <a:schemeClr val="tx1"/>
              </a:solidFill>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5A073A6F-A66A-46CE-86B4-9A31ED569E3B}"/>
              </a:ext>
            </a:extLst>
          </p:cNvPr>
          <p:cNvSpPr>
            <a:spLocks noGrp="1"/>
          </p:cNvSpPr>
          <p:nvPr>
            <p:ph type="ftr" sz="quarter" idx="11"/>
          </p:nvPr>
        </p:nvSpPr>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a:extLst>
              <a:ext uri="{FF2B5EF4-FFF2-40B4-BE49-F238E27FC236}">
                <a16:creationId xmlns:a16="http://schemas.microsoft.com/office/drawing/2014/main" id="{6E5EAAAF-9F0B-47EE-A9D9-35A0DC8746B3}"/>
              </a:ext>
            </a:extLst>
          </p:cNvPr>
          <p:cNvPicPr>
            <a:picLocks noChangeAspect="1"/>
          </p:cNvPicPr>
          <p:nvPr/>
        </p:nvPicPr>
        <p:blipFill>
          <a:blip r:embed="rId2" cstate="print"/>
          <a:stretch>
            <a:fillRect/>
          </a:stretch>
        </p:blipFill>
        <p:spPr>
          <a:xfrm>
            <a:off x="6482080" y="2336800"/>
            <a:ext cx="5384800" cy="3799008"/>
          </a:xfrm>
          <a:prstGeom prst="rect">
            <a:avLst/>
          </a:prstGeom>
        </p:spPr>
      </p:pic>
    </p:spTree>
    <p:extLst>
      <p:ext uri="{BB962C8B-B14F-4D97-AF65-F5344CB8AC3E}">
        <p14:creationId xmlns:p14="http://schemas.microsoft.com/office/powerpoint/2010/main" val="200886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1000"/>
                                        <p:tgtEl>
                                          <p:spTgt spid="3">
                                            <p:txEl>
                                              <p:pRg st="7" end="7"/>
                                            </p:txEl>
                                          </p:spTgt>
                                        </p:tgtEl>
                                      </p:cBhvr>
                                    </p:animEffect>
                                    <p:anim calcmode="lin" valueType="num">
                                      <p:cBhvr>
                                        <p:cTn id="3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1000"/>
                                        <p:tgtEl>
                                          <p:spTgt spid="3">
                                            <p:txEl>
                                              <p:pRg st="8" end="8"/>
                                            </p:txEl>
                                          </p:spTgt>
                                        </p:tgtEl>
                                      </p:cBhvr>
                                    </p:animEffect>
                                    <p:anim calcmode="lin" valueType="num">
                                      <p:cBhvr>
                                        <p:cTn id="3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1000"/>
                                        <p:tgtEl>
                                          <p:spTgt spid="3">
                                            <p:txEl>
                                              <p:pRg st="9" end="9"/>
                                            </p:txEl>
                                          </p:spTgt>
                                        </p:tgtEl>
                                      </p:cBhvr>
                                    </p:animEffect>
                                    <p:anim calcmode="lin" valueType="num">
                                      <p:cBhvr>
                                        <p:cTn id="4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1000"/>
                                        <p:tgtEl>
                                          <p:spTgt spid="3">
                                            <p:txEl>
                                              <p:pRg st="10" end="10"/>
                                            </p:txEl>
                                          </p:spTgt>
                                        </p:tgtEl>
                                      </p:cBhvr>
                                    </p:animEffect>
                                    <p:anim calcmode="lin" valueType="num">
                                      <p:cBhvr>
                                        <p:cTn id="4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F71A4-B2AF-434D-AAB4-3FE5FFC26118}"/>
              </a:ext>
            </a:extLst>
          </p:cNvPr>
          <p:cNvSpPr>
            <a:spLocks noGrp="1"/>
          </p:cNvSpPr>
          <p:nvPr>
            <p:ph type="title"/>
          </p:nvPr>
        </p:nvSpPr>
        <p:spPr>
          <a:xfrm>
            <a:off x="2592925" y="613950"/>
            <a:ext cx="8911687" cy="1280890"/>
          </a:xfrm>
        </p:spPr>
        <p:txBody>
          <a:bodyPr>
            <a:normAutofit/>
          </a:bodyPr>
          <a:lstStyle/>
          <a:p>
            <a:r>
              <a:rPr lang="en-US" sz="3200" b="1" dirty="0"/>
              <a:t>Pseudo-</a:t>
            </a:r>
            <a:r>
              <a:rPr lang="en-US" sz="3200" b="1" dirty="0" err="1"/>
              <a:t>nMOS</a:t>
            </a:r>
            <a:r>
              <a:rPr lang="en-US" sz="3200" b="1" dirty="0"/>
              <a:t> Logic</a:t>
            </a:r>
            <a:endParaRPr lang="en-IN" sz="3200" b="1" dirty="0"/>
          </a:p>
        </p:txBody>
      </p:sp>
      <p:sp>
        <p:nvSpPr>
          <p:cNvPr id="3" name="Content Placeholder 2">
            <a:extLst>
              <a:ext uri="{FF2B5EF4-FFF2-40B4-BE49-F238E27FC236}">
                <a16:creationId xmlns:a16="http://schemas.microsoft.com/office/drawing/2014/main" id="{6D5AAD76-C957-42F4-8C63-C5632026DD6C}"/>
              </a:ext>
            </a:extLst>
          </p:cNvPr>
          <p:cNvSpPr>
            <a:spLocks noGrp="1"/>
          </p:cNvSpPr>
          <p:nvPr>
            <p:ph idx="1"/>
          </p:nvPr>
        </p:nvSpPr>
        <p:spPr>
          <a:xfrm>
            <a:off x="687388" y="1330960"/>
            <a:ext cx="11199812" cy="4804848"/>
          </a:xfrm>
        </p:spPr>
        <p:txBody>
          <a:bodyPr/>
          <a:lstStyle/>
          <a:p>
            <a:r>
              <a:rPr lang="en-US" dirty="0">
                <a:solidFill>
                  <a:srgbClr val="000000"/>
                </a:solidFill>
                <a:latin typeface="Arial" panose="020B0604020202020204" pitchFamily="34" charset="0"/>
                <a:cs typeface="Arial" panose="020B0604020202020204" pitchFamily="34" charset="0"/>
              </a:rPr>
              <a:t>An n-input pseudo nMOS requires n+1 transistors compared to 2n transistors of the corresponding static CMOS gates. </a:t>
            </a:r>
          </a:p>
          <a:p>
            <a:r>
              <a:rPr lang="en-US" dirty="0">
                <a:solidFill>
                  <a:srgbClr val="000000"/>
                </a:solidFill>
                <a:latin typeface="Arial" panose="020B0604020202020204" pitchFamily="34" charset="0"/>
                <a:cs typeface="Arial" panose="020B0604020202020204" pitchFamily="34" charset="0"/>
              </a:rPr>
              <a:t>There is substantial reduction in area and delay. </a:t>
            </a:r>
          </a:p>
          <a:p>
            <a:r>
              <a:rPr lang="en-US" dirty="0">
                <a:solidFill>
                  <a:srgbClr val="000000"/>
                </a:solidFill>
                <a:latin typeface="Arial" panose="020B0604020202020204" pitchFamily="34" charset="0"/>
                <a:cs typeface="Arial" panose="020B0604020202020204" pitchFamily="34" charset="0"/>
              </a:rPr>
              <a:t>But, the static power dissipation is much higher.</a:t>
            </a:r>
            <a:endParaRPr lang="en-IN" dirty="0"/>
          </a:p>
        </p:txBody>
      </p:sp>
      <p:sp>
        <p:nvSpPr>
          <p:cNvPr id="4" name="Footer Placeholder 3">
            <a:extLst>
              <a:ext uri="{FF2B5EF4-FFF2-40B4-BE49-F238E27FC236}">
                <a16:creationId xmlns:a16="http://schemas.microsoft.com/office/drawing/2014/main" id="{218624A5-32E4-4ABB-B95B-4506A5BA04DD}"/>
              </a:ext>
            </a:extLst>
          </p:cNvPr>
          <p:cNvSpPr>
            <a:spLocks noGrp="1"/>
          </p:cNvSpPr>
          <p:nvPr>
            <p:ph type="ftr" sz="quarter" idx="11"/>
          </p:nvPr>
        </p:nvSpPr>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a:extLst>
              <a:ext uri="{FF2B5EF4-FFF2-40B4-BE49-F238E27FC236}">
                <a16:creationId xmlns:a16="http://schemas.microsoft.com/office/drawing/2014/main" id="{7AA0BD2A-8FAD-49C5-8320-B27A70083F88}"/>
              </a:ext>
            </a:extLst>
          </p:cNvPr>
          <p:cNvPicPr>
            <a:picLocks noChangeAspect="1"/>
          </p:cNvPicPr>
          <p:nvPr/>
        </p:nvPicPr>
        <p:blipFill>
          <a:blip r:embed="rId2" cstate="print"/>
          <a:stretch>
            <a:fillRect/>
          </a:stretch>
        </p:blipFill>
        <p:spPr>
          <a:xfrm>
            <a:off x="2589212" y="2835370"/>
            <a:ext cx="7448868" cy="3189509"/>
          </a:xfrm>
          <a:prstGeom prst="rect">
            <a:avLst/>
          </a:prstGeom>
        </p:spPr>
      </p:pic>
    </p:spTree>
    <p:extLst>
      <p:ext uri="{BB962C8B-B14F-4D97-AF65-F5344CB8AC3E}">
        <p14:creationId xmlns:p14="http://schemas.microsoft.com/office/powerpoint/2010/main" val="3221277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C775-5C5E-44C6-AF37-8862644FEE86}"/>
              </a:ext>
            </a:extLst>
          </p:cNvPr>
          <p:cNvSpPr>
            <a:spLocks noGrp="1"/>
          </p:cNvSpPr>
          <p:nvPr>
            <p:ph type="title"/>
          </p:nvPr>
        </p:nvSpPr>
        <p:spPr>
          <a:xfrm>
            <a:off x="1788161" y="624110"/>
            <a:ext cx="9716452" cy="1280890"/>
          </a:xfrm>
        </p:spPr>
        <p:txBody>
          <a:bodyPr>
            <a:normAutofit/>
          </a:bodyPr>
          <a:lstStyle/>
          <a:p>
            <a:r>
              <a:rPr lang="en-IN" sz="3200" b="1" dirty="0"/>
              <a:t>comparison of Static CMOS and Pseudo </a:t>
            </a:r>
            <a:r>
              <a:rPr lang="en-IN" sz="3200" b="1" dirty="0" err="1"/>
              <a:t>nMOS</a:t>
            </a:r>
            <a:endParaRPr lang="en-IN" sz="3200" dirty="0"/>
          </a:p>
        </p:txBody>
      </p:sp>
      <p:graphicFrame>
        <p:nvGraphicFramePr>
          <p:cNvPr id="5" name="Table 5">
            <a:extLst>
              <a:ext uri="{FF2B5EF4-FFF2-40B4-BE49-F238E27FC236}">
                <a16:creationId xmlns:a16="http://schemas.microsoft.com/office/drawing/2014/main" id="{099EA027-95D8-44A1-9D08-235320307812}"/>
              </a:ext>
            </a:extLst>
          </p:cNvPr>
          <p:cNvGraphicFramePr>
            <a:graphicFrameLocks noGrp="1"/>
          </p:cNvGraphicFramePr>
          <p:nvPr>
            <p:ph idx="1"/>
            <p:extLst>
              <p:ext uri="{D42A27DB-BD31-4B8C-83A1-F6EECF244321}">
                <p14:modId xmlns:p14="http://schemas.microsoft.com/office/powerpoint/2010/main" val="3619207014"/>
              </p:ext>
            </p:extLst>
          </p:nvPr>
        </p:nvGraphicFramePr>
        <p:xfrm>
          <a:off x="2589213" y="2133600"/>
          <a:ext cx="8915400" cy="1539240"/>
        </p:xfrm>
        <a:graphic>
          <a:graphicData uri="http://schemas.openxmlformats.org/drawingml/2006/table">
            <a:tbl>
              <a:tblPr firstRow="1" bandRow="1">
                <a:tableStyleId>{5C22544A-7EE6-4342-B048-85BDC9FD1C3A}</a:tableStyleId>
              </a:tblPr>
              <a:tblGrid>
                <a:gridCol w="804227">
                  <a:extLst>
                    <a:ext uri="{9D8B030D-6E8A-4147-A177-3AD203B41FA5}">
                      <a16:colId xmlns:a16="http://schemas.microsoft.com/office/drawing/2014/main" val="1732907002"/>
                    </a:ext>
                  </a:extLst>
                </a:gridCol>
                <a:gridCol w="3627120">
                  <a:extLst>
                    <a:ext uri="{9D8B030D-6E8A-4147-A177-3AD203B41FA5}">
                      <a16:colId xmlns:a16="http://schemas.microsoft.com/office/drawing/2014/main" val="4250516939"/>
                    </a:ext>
                  </a:extLst>
                </a:gridCol>
                <a:gridCol w="4484053">
                  <a:extLst>
                    <a:ext uri="{9D8B030D-6E8A-4147-A177-3AD203B41FA5}">
                      <a16:colId xmlns:a16="http://schemas.microsoft.com/office/drawing/2014/main" val="404711166"/>
                    </a:ext>
                  </a:extLst>
                </a:gridCol>
              </a:tblGrid>
              <a:tr h="370840">
                <a:tc>
                  <a:txBody>
                    <a:bodyPr/>
                    <a:lstStyle/>
                    <a:p>
                      <a:endParaRPr lang="en-IN"/>
                    </a:p>
                  </a:txBody>
                  <a:tcPr/>
                </a:tc>
                <a:tc>
                  <a:txBody>
                    <a:bodyPr/>
                    <a:lstStyle/>
                    <a:p>
                      <a:r>
                        <a:rPr lang="en-US" sz="2200" dirty="0"/>
                        <a:t>Static CMOS</a:t>
                      </a:r>
                      <a:endParaRPr lang="en-IN" sz="2200" dirty="0"/>
                    </a:p>
                  </a:txBody>
                  <a:tcPr/>
                </a:tc>
                <a:tc>
                  <a:txBody>
                    <a:bodyPr/>
                    <a:lstStyle/>
                    <a:p>
                      <a:r>
                        <a:rPr lang="en-US" sz="2200" dirty="0"/>
                        <a:t>Pseudo </a:t>
                      </a:r>
                      <a:r>
                        <a:rPr lang="en-US" sz="2200" dirty="0" err="1"/>
                        <a:t>nMOS</a:t>
                      </a:r>
                      <a:endParaRPr lang="en-IN" sz="2200" dirty="0"/>
                    </a:p>
                  </a:txBody>
                  <a:tcPr/>
                </a:tc>
                <a:extLst>
                  <a:ext uri="{0D108BD9-81ED-4DB2-BD59-A6C34878D82A}">
                    <a16:rowId xmlns:a16="http://schemas.microsoft.com/office/drawing/2014/main" val="3766581808"/>
                  </a:ext>
                </a:extLst>
              </a:tr>
              <a:tr h="370840">
                <a:tc>
                  <a:txBody>
                    <a:bodyPr/>
                    <a:lstStyle/>
                    <a:p>
                      <a:r>
                        <a:rPr lang="en-US" dirty="0"/>
                        <a:t>1</a:t>
                      </a:r>
                      <a:endParaRPr lang="en-IN" dirty="0"/>
                    </a:p>
                  </a:txBody>
                  <a:tcPr/>
                </a:tc>
                <a:tc>
                  <a:txBody>
                    <a:bodyPr/>
                    <a:lstStyle/>
                    <a:p>
                      <a:r>
                        <a:rPr lang="en-US" dirty="0"/>
                        <a:t>Large area</a:t>
                      </a:r>
                      <a:endParaRPr lang="en-IN" dirty="0"/>
                    </a:p>
                  </a:txBody>
                  <a:tcPr/>
                </a:tc>
                <a:tc>
                  <a:txBody>
                    <a:bodyPr/>
                    <a:lstStyle/>
                    <a:p>
                      <a:r>
                        <a:rPr lang="en-US" dirty="0"/>
                        <a:t>Smaller area</a:t>
                      </a:r>
                      <a:endParaRPr lang="en-IN" dirty="0"/>
                    </a:p>
                  </a:txBody>
                  <a:tcPr/>
                </a:tc>
                <a:extLst>
                  <a:ext uri="{0D108BD9-81ED-4DB2-BD59-A6C34878D82A}">
                    <a16:rowId xmlns:a16="http://schemas.microsoft.com/office/drawing/2014/main" val="3350916620"/>
                  </a:ext>
                </a:extLst>
              </a:tr>
              <a:tr h="370840">
                <a:tc>
                  <a:txBody>
                    <a:bodyPr/>
                    <a:lstStyle/>
                    <a:p>
                      <a:r>
                        <a:rPr lang="en-US" dirty="0"/>
                        <a:t>2</a:t>
                      </a:r>
                      <a:endParaRPr lang="en-IN" dirty="0"/>
                    </a:p>
                  </a:txBody>
                  <a:tcPr/>
                </a:tc>
                <a:tc>
                  <a:txBody>
                    <a:bodyPr/>
                    <a:lstStyle/>
                    <a:p>
                      <a:r>
                        <a:rPr lang="en-US" dirty="0"/>
                        <a:t>Longer delay</a:t>
                      </a:r>
                      <a:endParaRPr lang="en-IN" dirty="0"/>
                    </a:p>
                  </a:txBody>
                  <a:tcPr/>
                </a:tc>
                <a:tc>
                  <a:txBody>
                    <a:bodyPr/>
                    <a:lstStyle/>
                    <a:p>
                      <a:r>
                        <a:rPr lang="en-US" dirty="0"/>
                        <a:t>Smaller delay</a:t>
                      </a:r>
                      <a:endParaRPr lang="en-IN" dirty="0"/>
                    </a:p>
                  </a:txBody>
                  <a:tcPr/>
                </a:tc>
                <a:extLst>
                  <a:ext uri="{0D108BD9-81ED-4DB2-BD59-A6C34878D82A}">
                    <a16:rowId xmlns:a16="http://schemas.microsoft.com/office/drawing/2014/main" val="202303996"/>
                  </a:ext>
                </a:extLst>
              </a:tr>
              <a:tr h="370840">
                <a:tc>
                  <a:txBody>
                    <a:bodyPr/>
                    <a:lstStyle/>
                    <a:p>
                      <a:r>
                        <a:rPr lang="en-US" dirty="0"/>
                        <a:t>3</a:t>
                      </a:r>
                      <a:endParaRPr lang="en-IN" dirty="0"/>
                    </a:p>
                  </a:txBody>
                  <a:tcPr/>
                </a:tc>
                <a:tc>
                  <a:txBody>
                    <a:bodyPr/>
                    <a:lstStyle/>
                    <a:p>
                      <a:r>
                        <a:rPr lang="en-US" dirty="0"/>
                        <a:t>No Static power dissipation</a:t>
                      </a:r>
                      <a:endParaRPr lang="en-IN" dirty="0"/>
                    </a:p>
                  </a:txBody>
                  <a:tcPr/>
                </a:tc>
                <a:tc>
                  <a:txBody>
                    <a:bodyPr/>
                    <a:lstStyle/>
                    <a:p>
                      <a:r>
                        <a:rPr lang="en-US" dirty="0"/>
                        <a:t> Static power dissipation</a:t>
                      </a:r>
                      <a:endParaRPr lang="en-IN" dirty="0"/>
                    </a:p>
                  </a:txBody>
                  <a:tcPr/>
                </a:tc>
                <a:extLst>
                  <a:ext uri="{0D108BD9-81ED-4DB2-BD59-A6C34878D82A}">
                    <a16:rowId xmlns:a16="http://schemas.microsoft.com/office/drawing/2014/main" val="3987169764"/>
                  </a:ext>
                </a:extLst>
              </a:tr>
            </a:tbl>
          </a:graphicData>
        </a:graphic>
      </p:graphicFrame>
      <p:sp>
        <p:nvSpPr>
          <p:cNvPr id="4" name="Footer Placeholder 3">
            <a:extLst>
              <a:ext uri="{FF2B5EF4-FFF2-40B4-BE49-F238E27FC236}">
                <a16:creationId xmlns:a16="http://schemas.microsoft.com/office/drawing/2014/main" id="{8A54FE58-DD1F-4476-A9A2-0D08E6F93900}"/>
              </a:ext>
            </a:extLst>
          </p:cNvPr>
          <p:cNvSpPr>
            <a:spLocks noGrp="1"/>
          </p:cNvSpPr>
          <p:nvPr>
            <p:ph type="ftr" sz="quarter" idx="11"/>
          </p:nvPr>
        </p:nvSpPr>
        <p:spPr>
          <a:xfrm>
            <a:off x="1879600" y="6139822"/>
            <a:ext cx="8329611" cy="361111"/>
          </a:xfrm>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2490775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CFB2A-0814-40DA-956A-43B537D77CBF}"/>
              </a:ext>
            </a:extLst>
          </p:cNvPr>
          <p:cNvSpPr>
            <a:spLocks noGrp="1"/>
          </p:cNvSpPr>
          <p:nvPr>
            <p:ph type="title"/>
          </p:nvPr>
        </p:nvSpPr>
        <p:spPr>
          <a:xfrm>
            <a:off x="1889761" y="624110"/>
            <a:ext cx="9614852" cy="1280890"/>
          </a:xfrm>
        </p:spPr>
        <p:txBody>
          <a:bodyPr>
            <a:normAutofit/>
          </a:bodyPr>
          <a:lstStyle/>
          <a:p>
            <a:r>
              <a:rPr lang="en-IN" sz="3200" b="1" dirty="0"/>
              <a:t>Dynamic CMOS Design</a:t>
            </a:r>
            <a:endParaRPr lang="en-IN" sz="3200" dirty="0"/>
          </a:p>
        </p:txBody>
      </p:sp>
      <p:sp>
        <p:nvSpPr>
          <p:cNvPr id="3" name="Content Placeholder 2">
            <a:extLst>
              <a:ext uri="{FF2B5EF4-FFF2-40B4-BE49-F238E27FC236}">
                <a16:creationId xmlns:a16="http://schemas.microsoft.com/office/drawing/2014/main" id="{20CCCE38-9501-41BD-A653-793344110BEB}"/>
              </a:ext>
            </a:extLst>
          </p:cNvPr>
          <p:cNvSpPr>
            <a:spLocks noGrp="1"/>
          </p:cNvSpPr>
          <p:nvPr>
            <p:ph idx="1"/>
          </p:nvPr>
        </p:nvSpPr>
        <p:spPr>
          <a:xfrm>
            <a:off x="457199" y="1410511"/>
            <a:ext cx="11459183" cy="4649821"/>
          </a:xfrm>
        </p:spPr>
        <p:txBody>
          <a:bodyPr/>
          <a:lstStyle/>
          <a:p>
            <a:r>
              <a:rPr lang="en-US" dirty="0">
                <a:latin typeface="Arial" pitchFamily="34" charset="0"/>
                <a:cs typeface="Arial" pitchFamily="34" charset="0"/>
              </a:rPr>
              <a:t>The basic construction of an (n-type) dynamic logic gate is shown in Figure. The PDN is constructed exactly as in complementary CMOS. </a:t>
            </a:r>
          </a:p>
          <a:p>
            <a:r>
              <a:rPr lang="en-US" dirty="0">
                <a:latin typeface="Arial" pitchFamily="34" charset="0"/>
                <a:cs typeface="Arial" pitchFamily="34" charset="0"/>
              </a:rPr>
              <a:t>The operation of this circuit is divided into two major phases: precharge and evaluation, with the mode of operation determined by the clock signal CLK.</a:t>
            </a:r>
            <a:endParaRPr lang="en-US" dirty="0">
              <a:solidFill>
                <a:srgbClr val="000000"/>
              </a:solidFill>
              <a:latin typeface="Arial" pitchFamily="34" charset="0"/>
              <a:cs typeface="Arial" pitchFamily="34" charset="0"/>
            </a:endParaRPr>
          </a:p>
        </p:txBody>
      </p:sp>
      <p:sp>
        <p:nvSpPr>
          <p:cNvPr id="4" name="Footer Placeholder 3">
            <a:extLst>
              <a:ext uri="{FF2B5EF4-FFF2-40B4-BE49-F238E27FC236}">
                <a16:creationId xmlns:a16="http://schemas.microsoft.com/office/drawing/2014/main" id="{A239F841-0985-43E5-840F-30D2F9F41ABB}"/>
              </a:ext>
            </a:extLst>
          </p:cNvPr>
          <p:cNvSpPr>
            <a:spLocks noGrp="1"/>
          </p:cNvSpPr>
          <p:nvPr>
            <p:ph type="ftr" sz="quarter" idx="11"/>
          </p:nvPr>
        </p:nvSpPr>
        <p:spPr>
          <a:xfrm>
            <a:off x="1889760" y="6116320"/>
            <a:ext cx="8319451" cy="384613"/>
          </a:xfrm>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1027" name="Picture 3"/>
          <p:cNvPicPr>
            <a:picLocks noChangeAspect="1" noChangeArrowheads="1"/>
          </p:cNvPicPr>
          <p:nvPr/>
        </p:nvPicPr>
        <p:blipFill>
          <a:blip r:embed="rId2" cstate="print"/>
          <a:srcRect/>
          <a:stretch>
            <a:fillRect/>
          </a:stretch>
        </p:blipFill>
        <p:spPr bwMode="auto">
          <a:xfrm>
            <a:off x="2300289" y="2772383"/>
            <a:ext cx="5870946" cy="4085617"/>
          </a:xfrm>
          <a:prstGeom prst="rect">
            <a:avLst/>
          </a:prstGeom>
          <a:noFill/>
          <a:ln w="9525">
            <a:noFill/>
            <a:miter lim="800000"/>
            <a:headEnd/>
            <a:tailEnd/>
          </a:ln>
        </p:spPr>
      </p:pic>
    </p:spTree>
    <p:extLst>
      <p:ext uri="{BB962C8B-B14F-4D97-AF65-F5344CB8AC3E}">
        <p14:creationId xmlns:p14="http://schemas.microsoft.com/office/powerpoint/2010/main" val="2527312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1A257-E411-4578-8219-677B66F26090}"/>
              </a:ext>
            </a:extLst>
          </p:cNvPr>
          <p:cNvSpPr>
            <a:spLocks noGrp="1"/>
          </p:cNvSpPr>
          <p:nvPr>
            <p:ph type="title"/>
          </p:nvPr>
        </p:nvSpPr>
        <p:spPr>
          <a:xfrm>
            <a:off x="1859281" y="624110"/>
            <a:ext cx="9645332" cy="1280890"/>
          </a:xfrm>
        </p:spPr>
        <p:txBody>
          <a:bodyPr/>
          <a:lstStyle/>
          <a:p>
            <a:r>
              <a:rPr lang="en-IN" sz="3200" b="1" dirty="0">
                <a:solidFill>
                  <a:prstClr val="black">
                    <a:lumMod val="85000"/>
                    <a:lumOff val="15000"/>
                  </a:prstClr>
                </a:solidFill>
              </a:rPr>
              <a:t>Continue….. </a:t>
            </a:r>
            <a:endParaRPr lang="en-IN" dirty="0"/>
          </a:p>
        </p:txBody>
      </p:sp>
      <p:sp>
        <p:nvSpPr>
          <p:cNvPr id="3" name="Content Placeholder 2">
            <a:extLst>
              <a:ext uri="{FF2B5EF4-FFF2-40B4-BE49-F238E27FC236}">
                <a16:creationId xmlns:a16="http://schemas.microsoft.com/office/drawing/2014/main" id="{CEAA8F7F-478F-4809-82BB-0F3C6DB6F61C}"/>
              </a:ext>
            </a:extLst>
          </p:cNvPr>
          <p:cNvSpPr>
            <a:spLocks noGrp="1"/>
          </p:cNvSpPr>
          <p:nvPr>
            <p:ph idx="1"/>
          </p:nvPr>
        </p:nvSpPr>
        <p:spPr>
          <a:xfrm>
            <a:off x="690664" y="1239520"/>
            <a:ext cx="11313268" cy="5287740"/>
          </a:xfrm>
        </p:spPr>
        <p:txBody>
          <a:bodyPr>
            <a:normAutofit/>
          </a:bodyPr>
          <a:lstStyle/>
          <a:p>
            <a:r>
              <a:rPr lang="en-US" b="1" u="sng" dirty="0">
                <a:solidFill>
                  <a:schemeClr val="tx1"/>
                </a:solidFill>
                <a:latin typeface="Arial" pitchFamily="34" charset="0"/>
                <a:cs typeface="Arial" pitchFamily="34" charset="0"/>
              </a:rPr>
              <a:t>Pre-charge  Phase</a:t>
            </a:r>
          </a:p>
          <a:p>
            <a:r>
              <a:rPr lang="en-US" dirty="0">
                <a:latin typeface="Arial" pitchFamily="34" charset="0"/>
                <a:cs typeface="Arial" pitchFamily="34" charset="0"/>
              </a:rPr>
              <a:t>When </a:t>
            </a:r>
            <a:r>
              <a:rPr lang="en-US" b="1" dirty="0">
                <a:latin typeface="Arial" pitchFamily="34" charset="0"/>
                <a:cs typeface="Arial" pitchFamily="34" charset="0"/>
              </a:rPr>
              <a:t>CLK = 0</a:t>
            </a:r>
            <a:r>
              <a:rPr lang="en-US" dirty="0">
                <a:latin typeface="Arial" pitchFamily="34" charset="0"/>
                <a:cs typeface="Arial" pitchFamily="34" charset="0"/>
              </a:rPr>
              <a:t>, the output node Out is </a:t>
            </a:r>
            <a:r>
              <a:rPr lang="en-US" dirty="0" err="1">
                <a:latin typeface="Arial" pitchFamily="34" charset="0"/>
                <a:cs typeface="Arial" pitchFamily="34" charset="0"/>
              </a:rPr>
              <a:t>precharged</a:t>
            </a:r>
            <a:r>
              <a:rPr lang="en-US" dirty="0">
                <a:latin typeface="Arial" pitchFamily="34" charset="0"/>
                <a:cs typeface="Arial" pitchFamily="34" charset="0"/>
              </a:rPr>
              <a:t> to </a:t>
            </a:r>
            <a:r>
              <a:rPr lang="en-US" b="1" dirty="0">
                <a:latin typeface="Arial" pitchFamily="34" charset="0"/>
                <a:cs typeface="Arial" pitchFamily="34" charset="0"/>
              </a:rPr>
              <a:t>V</a:t>
            </a:r>
            <a:r>
              <a:rPr lang="en-US" b="1" baseline="-25000" dirty="0">
                <a:latin typeface="Arial" pitchFamily="34" charset="0"/>
                <a:cs typeface="Arial" pitchFamily="34" charset="0"/>
              </a:rPr>
              <a:t>DD</a:t>
            </a:r>
            <a:r>
              <a:rPr lang="en-US" dirty="0">
                <a:latin typeface="Arial" pitchFamily="34" charset="0"/>
                <a:cs typeface="Arial" pitchFamily="34" charset="0"/>
              </a:rPr>
              <a:t> by the PMOS transistor </a:t>
            </a:r>
            <a:r>
              <a:rPr lang="en-US" b="1" dirty="0">
                <a:latin typeface="Arial" pitchFamily="34" charset="0"/>
                <a:cs typeface="Arial" pitchFamily="34" charset="0"/>
              </a:rPr>
              <a:t>M</a:t>
            </a:r>
            <a:r>
              <a:rPr lang="en-US" b="1" baseline="-25000" dirty="0">
                <a:latin typeface="Arial" pitchFamily="34" charset="0"/>
                <a:cs typeface="Arial" pitchFamily="34" charset="0"/>
              </a:rPr>
              <a:t>p</a:t>
            </a:r>
            <a:r>
              <a:rPr lang="en-US" dirty="0">
                <a:latin typeface="Arial" pitchFamily="34" charset="0"/>
                <a:cs typeface="Arial" pitchFamily="34" charset="0"/>
              </a:rPr>
              <a:t>. During that time, the evaluate NMOS transistor </a:t>
            </a:r>
            <a:r>
              <a:rPr lang="en-US" b="1" dirty="0">
                <a:latin typeface="Arial" pitchFamily="34" charset="0"/>
                <a:cs typeface="Arial" pitchFamily="34" charset="0"/>
              </a:rPr>
              <a:t>Me</a:t>
            </a:r>
            <a:r>
              <a:rPr lang="en-US" dirty="0">
                <a:latin typeface="Arial" pitchFamily="34" charset="0"/>
                <a:cs typeface="Arial" pitchFamily="34" charset="0"/>
              </a:rPr>
              <a:t> is off, so that the pull-down path is disabled.</a:t>
            </a:r>
          </a:p>
          <a:p>
            <a:r>
              <a:rPr lang="en-US" b="1" u="sng" dirty="0">
                <a:solidFill>
                  <a:schemeClr val="tx1"/>
                </a:solidFill>
                <a:latin typeface="Arial" pitchFamily="34" charset="0"/>
                <a:cs typeface="Arial" pitchFamily="34" charset="0"/>
              </a:rPr>
              <a:t>Evaluation  Phase</a:t>
            </a:r>
          </a:p>
          <a:p>
            <a:r>
              <a:rPr lang="en-US" dirty="0">
                <a:latin typeface="Arial" pitchFamily="34" charset="0"/>
                <a:cs typeface="Arial" pitchFamily="34" charset="0"/>
              </a:rPr>
              <a:t>For </a:t>
            </a:r>
            <a:r>
              <a:rPr lang="en-US" b="1" dirty="0">
                <a:latin typeface="Arial" pitchFamily="34" charset="0"/>
                <a:cs typeface="Arial" pitchFamily="34" charset="0"/>
              </a:rPr>
              <a:t>CLK = 1</a:t>
            </a:r>
            <a:r>
              <a:rPr lang="en-US" dirty="0">
                <a:latin typeface="Arial" pitchFamily="34" charset="0"/>
                <a:cs typeface="Arial" pitchFamily="34" charset="0"/>
              </a:rPr>
              <a:t>, the precharge transistor </a:t>
            </a:r>
            <a:r>
              <a:rPr lang="en-US" b="1" dirty="0">
                <a:latin typeface="Arial" pitchFamily="34" charset="0"/>
                <a:cs typeface="Arial" pitchFamily="34" charset="0"/>
              </a:rPr>
              <a:t>Mp</a:t>
            </a:r>
            <a:r>
              <a:rPr lang="en-US" dirty="0">
                <a:latin typeface="Arial" pitchFamily="34" charset="0"/>
                <a:cs typeface="Arial" pitchFamily="34" charset="0"/>
              </a:rPr>
              <a:t> is off, and the evaluation transistor </a:t>
            </a:r>
            <a:r>
              <a:rPr lang="en-US" b="1" dirty="0">
                <a:latin typeface="Arial" pitchFamily="34" charset="0"/>
                <a:cs typeface="Arial" pitchFamily="34" charset="0"/>
              </a:rPr>
              <a:t>Me</a:t>
            </a:r>
            <a:r>
              <a:rPr lang="en-US" dirty="0">
                <a:latin typeface="Arial" pitchFamily="34" charset="0"/>
                <a:cs typeface="Arial" pitchFamily="34" charset="0"/>
              </a:rPr>
              <a:t> is turned on. The output is conditionally discharged based on the input values and the pull-down topology. </a:t>
            </a:r>
          </a:p>
          <a:p>
            <a:r>
              <a:rPr lang="en-US" dirty="0">
                <a:latin typeface="Arial" pitchFamily="34" charset="0"/>
                <a:cs typeface="Arial" pitchFamily="34" charset="0"/>
              </a:rPr>
              <a:t>If the </a:t>
            </a:r>
            <a:r>
              <a:rPr lang="en-US" b="1" dirty="0">
                <a:latin typeface="Arial" pitchFamily="34" charset="0"/>
                <a:cs typeface="Arial" pitchFamily="34" charset="0"/>
              </a:rPr>
              <a:t>PDN</a:t>
            </a:r>
            <a:r>
              <a:rPr lang="en-US" dirty="0">
                <a:latin typeface="Arial" pitchFamily="34" charset="0"/>
                <a:cs typeface="Arial" pitchFamily="34" charset="0"/>
              </a:rPr>
              <a:t> is turned off, the </a:t>
            </a:r>
            <a:r>
              <a:rPr lang="en-US" dirty="0" err="1">
                <a:latin typeface="Arial" pitchFamily="34" charset="0"/>
                <a:cs typeface="Arial" pitchFamily="34" charset="0"/>
              </a:rPr>
              <a:t>precharged</a:t>
            </a:r>
            <a:r>
              <a:rPr lang="en-US" dirty="0">
                <a:latin typeface="Arial" pitchFamily="34" charset="0"/>
                <a:cs typeface="Arial" pitchFamily="34" charset="0"/>
              </a:rPr>
              <a:t> value remains stored on the output capacitance </a:t>
            </a:r>
            <a:r>
              <a:rPr lang="en-US" b="1" dirty="0">
                <a:latin typeface="Arial" pitchFamily="34" charset="0"/>
                <a:cs typeface="Arial" pitchFamily="34" charset="0"/>
              </a:rPr>
              <a:t>C</a:t>
            </a:r>
            <a:r>
              <a:rPr lang="en-US" b="1" baseline="-25000" dirty="0">
                <a:latin typeface="Arial" pitchFamily="34" charset="0"/>
                <a:cs typeface="Arial" pitchFamily="34" charset="0"/>
              </a:rPr>
              <a:t>L</a:t>
            </a:r>
            <a:r>
              <a:rPr lang="en-US" dirty="0">
                <a:latin typeface="Arial" pitchFamily="34" charset="0"/>
                <a:cs typeface="Arial" pitchFamily="34" charset="0"/>
              </a:rPr>
              <a:t>. once Out is discharged, it cannot be charged again till then next precharge operation. Notice that the output can be in the high-impedance state during the evaluation period if the pull-down network is turned off.  </a:t>
            </a:r>
          </a:p>
          <a:p>
            <a:r>
              <a:rPr lang="en-US" dirty="0">
                <a:latin typeface="Arial" pitchFamily="34" charset="0"/>
                <a:cs typeface="Arial" pitchFamily="34" charset="0"/>
              </a:rPr>
              <a:t>During the precharge phase (</a:t>
            </a:r>
            <a:r>
              <a:rPr lang="en-US" b="1" dirty="0">
                <a:latin typeface="Arial" pitchFamily="34" charset="0"/>
                <a:cs typeface="Arial" pitchFamily="34" charset="0"/>
              </a:rPr>
              <a:t>CLK=0</a:t>
            </a:r>
            <a:r>
              <a:rPr lang="en-US" dirty="0">
                <a:latin typeface="Arial" pitchFamily="34" charset="0"/>
                <a:cs typeface="Arial" pitchFamily="34" charset="0"/>
              </a:rPr>
              <a:t>), the output is </a:t>
            </a:r>
            <a:r>
              <a:rPr lang="en-US" dirty="0" err="1">
                <a:latin typeface="Arial" pitchFamily="34" charset="0"/>
                <a:cs typeface="Arial" pitchFamily="34" charset="0"/>
              </a:rPr>
              <a:t>precharged</a:t>
            </a:r>
            <a:r>
              <a:rPr lang="en-US" dirty="0">
                <a:latin typeface="Arial" pitchFamily="34" charset="0"/>
                <a:cs typeface="Arial" pitchFamily="34" charset="0"/>
              </a:rPr>
              <a:t> to V</a:t>
            </a:r>
            <a:r>
              <a:rPr lang="en-US" baseline="-25000" dirty="0">
                <a:latin typeface="Arial" pitchFamily="34" charset="0"/>
                <a:cs typeface="Arial" pitchFamily="34" charset="0"/>
              </a:rPr>
              <a:t>DD</a:t>
            </a:r>
            <a:r>
              <a:rPr lang="en-US" dirty="0">
                <a:latin typeface="Arial" pitchFamily="34" charset="0"/>
                <a:cs typeface="Arial" pitchFamily="34" charset="0"/>
              </a:rPr>
              <a:t> regardless of the input values since the evaluation device is turned </a:t>
            </a:r>
            <a:r>
              <a:rPr lang="en-US" dirty="0" err="1">
                <a:latin typeface="Arial" pitchFamily="34" charset="0"/>
                <a:cs typeface="Arial" pitchFamily="34" charset="0"/>
              </a:rPr>
              <a:t>off.During</a:t>
            </a:r>
            <a:r>
              <a:rPr lang="en-US" dirty="0">
                <a:latin typeface="Arial" pitchFamily="34" charset="0"/>
                <a:cs typeface="Arial" pitchFamily="34" charset="0"/>
              </a:rPr>
              <a:t> evaluation (CLK=1), a conducting path is created  between Out and GND if (and only if) A·B+C is TRUE. Otherwise, the output remains at the </a:t>
            </a:r>
            <a:r>
              <a:rPr lang="en-US" dirty="0" err="1">
                <a:latin typeface="Arial" pitchFamily="34" charset="0"/>
                <a:cs typeface="Arial" pitchFamily="34" charset="0"/>
              </a:rPr>
              <a:t>precharged</a:t>
            </a:r>
            <a:r>
              <a:rPr lang="en-US" dirty="0">
                <a:latin typeface="Arial" pitchFamily="34" charset="0"/>
                <a:cs typeface="Arial" pitchFamily="34" charset="0"/>
              </a:rPr>
              <a:t> state of V</a:t>
            </a:r>
            <a:r>
              <a:rPr lang="en-US" baseline="-25000" dirty="0">
                <a:latin typeface="Arial" pitchFamily="34" charset="0"/>
                <a:cs typeface="Arial" pitchFamily="34" charset="0"/>
              </a:rPr>
              <a:t>DD</a:t>
            </a:r>
            <a:r>
              <a:rPr lang="en-US" i="1" dirty="0">
                <a:latin typeface="Arial" pitchFamily="34" charset="0"/>
                <a:cs typeface="Arial" pitchFamily="34" charset="0"/>
              </a:rPr>
              <a:t>.</a:t>
            </a:r>
          </a:p>
          <a:p>
            <a:r>
              <a:rPr lang="en-US" dirty="0">
                <a:latin typeface="Arial" pitchFamily="34" charset="0"/>
                <a:cs typeface="Arial" pitchFamily="34" charset="0"/>
              </a:rPr>
              <a:t>The following function is thus realized:</a:t>
            </a:r>
            <a:endParaRPr lang="en-US" b="1" dirty="0">
              <a:latin typeface="Arial" pitchFamily="34" charset="0"/>
              <a:cs typeface="Arial" pitchFamily="34" charset="0"/>
            </a:endParaRPr>
          </a:p>
          <a:p>
            <a:endParaRPr lang="en-IN" sz="2000" b="1" baseline="-25000" dirty="0"/>
          </a:p>
        </p:txBody>
      </p:sp>
      <p:sp>
        <p:nvSpPr>
          <p:cNvPr id="4" name="Footer Placeholder 3">
            <a:extLst>
              <a:ext uri="{FF2B5EF4-FFF2-40B4-BE49-F238E27FC236}">
                <a16:creationId xmlns:a16="http://schemas.microsoft.com/office/drawing/2014/main" id="{8D3BC85B-A428-4DC3-A854-61858082CDE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2050" name="Picture 2"/>
          <p:cNvPicPr>
            <a:picLocks noChangeAspect="1" noChangeArrowheads="1"/>
          </p:cNvPicPr>
          <p:nvPr/>
        </p:nvPicPr>
        <p:blipFill>
          <a:blip r:embed="rId2" cstate="print"/>
          <a:srcRect/>
          <a:stretch>
            <a:fillRect/>
          </a:stretch>
        </p:blipFill>
        <p:spPr bwMode="auto">
          <a:xfrm>
            <a:off x="4807188" y="5695445"/>
            <a:ext cx="4132532" cy="413526"/>
          </a:xfrm>
          <a:prstGeom prst="rect">
            <a:avLst/>
          </a:prstGeom>
          <a:noFill/>
          <a:ln w="9525">
            <a:noFill/>
            <a:miter lim="800000"/>
            <a:headEnd/>
            <a:tailEnd/>
          </a:ln>
        </p:spPr>
      </p:pic>
    </p:spTree>
    <p:extLst>
      <p:ext uri="{BB962C8B-B14F-4D97-AF65-F5344CB8AC3E}">
        <p14:creationId xmlns:p14="http://schemas.microsoft.com/office/powerpoint/2010/main" val="830705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152F7-3A2C-45DC-B511-8A217AD0954F}"/>
              </a:ext>
            </a:extLst>
          </p:cNvPr>
          <p:cNvSpPr>
            <a:spLocks noGrp="1"/>
          </p:cNvSpPr>
          <p:nvPr>
            <p:ph type="title"/>
          </p:nvPr>
        </p:nvSpPr>
        <p:spPr>
          <a:xfrm>
            <a:off x="1624519" y="624110"/>
            <a:ext cx="9880094" cy="1280890"/>
          </a:xfrm>
        </p:spPr>
        <p:txBody>
          <a:bodyPr>
            <a:normAutofit/>
          </a:bodyPr>
          <a:lstStyle/>
          <a:p>
            <a:r>
              <a:rPr lang="en-US" sz="2800" b="1" dirty="0">
                <a:latin typeface="Arial" pitchFamily="34" charset="0"/>
                <a:cs typeface="Arial" pitchFamily="34" charset="0"/>
              </a:rPr>
              <a:t>Speed and Power Dissipation of Dynamic Logic</a:t>
            </a:r>
            <a:endParaRPr lang="en-IN" sz="2800" dirty="0">
              <a:latin typeface="Arial" pitchFamily="34" charset="0"/>
              <a:cs typeface="Arial" pitchFamily="34" charset="0"/>
            </a:endParaRPr>
          </a:p>
        </p:txBody>
      </p:sp>
      <p:sp>
        <p:nvSpPr>
          <p:cNvPr id="3" name="Content Placeholder 2">
            <a:extLst>
              <a:ext uri="{FF2B5EF4-FFF2-40B4-BE49-F238E27FC236}">
                <a16:creationId xmlns:a16="http://schemas.microsoft.com/office/drawing/2014/main" id="{1C667624-3326-4FC8-A971-5CEEC87CB6DE}"/>
              </a:ext>
            </a:extLst>
          </p:cNvPr>
          <p:cNvSpPr>
            <a:spLocks noGrp="1"/>
          </p:cNvSpPr>
          <p:nvPr>
            <p:ph idx="1"/>
          </p:nvPr>
        </p:nvSpPr>
        <p:spPr>
          <a:xfrm>
            <a:off x="1127760" y="1351280"/>
            <a:ext cx="10881360" cy="4882610"/>
          </a:xfrm>
        </p:spPr>
        <p:txBody>
          <a:bodyPr>
            <a:normAutofit/>
          </a:bodyPr>
          <a:lstStyle/>
          <a:p>
            <a:r>
              <a:rPr lang="en-US" dirty="0">
                <a:latin typeface="Arial" pitchFamily="34" charset="0"/>
                <a:cs typeface="Arial" pitchFamily="34" charset="0"/>
              </a:rPr>
              <a:t>The main advantages of dynamic logic are increased speed and reduced implementation area. Fewer devices to implement a given logic function implies that the overall load capacitance is much smaller.</a:t>
            </a:r>
            <a:endParaRPr lang="en-US" dirty="0">
              <a:solidFill>
                <a:prstClr val="black">
                  <a:lumMod val="75000"/>
                  <a:lumOff val="25000"/>
                </a:prstClr>
              </a:solidFill>
              <a:latin typeface="Arial" pitchFamily="34" charset="0"/>
              <a:cs typeface="Arial" pitchFamily="34" charset="0"/>
            </a:endParaRPr>
          </a:p>
          <a:p>
            <a:pPr>
              <a:buNone/>
            </a:pPr>
            <a:endParaRPr lang="en-IN" sz="1700" dirty="0"/>
          </a:p>
        </p:txBody>
      </p:sp>
      <p:sp>
        <p:nvSpPr>
          <p:cNvPr id="4" name="Footer Placeholder 3">
            <a:extLst>
              <a:ext uri="{FF2B5EF4-FFF2-40B4-BE49-F238E27FC236}">
                <a16:creationId xmlns:a16="http://schemas.microsoft.com/office/drawing/2014/main" id="{967BD876-A46E-485F-BD21-7071966C4FB9}"/>
              </a:ext>
            </a:extLst>
          </p:cNvPr>
          <p:cNvSpPr>
            <a:spLocks noGrp="1"/>
          </p:cNvSpPr>
          <p:nvPr>
            <p:ph type="ftr" sz="quarter" idx="11"/>
          </p:nvPr>
        </p:nvSpPr>
        <p:spPr>
          <a:xfrm>
            <a:off x="1503680" y="6035040"/>
            <a:ext cx="8705531" cy="465893"/>
          </a:xfrm>
        </p:spPr>
        <p:txBody>
          <a:bodyPr/>
          <a:lstStyle/>
          <a:p>
            <a:pPr lvl="0"/>
            <a:endParaRPr lang="en-IN" sz="1600" dirty="0">
              <a:solidFill>
                <a:srgbClr val="C00000"/>
              </a:solidFill>
              <a:latin typeface="Arial" panose="020B0604020202020204" pitchFamily="34" charset="0"/>
              <a:cs typeface="Arial" panose="020B0604020202020204" pitchFamily="34" charset="0"/>
            </a:endParaRPr>
          </a:p>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1027" name="Picture 3"/>
          <p:cNvPicPr>
            <a:picLocks noChangeAspect="1" noChangeArrowheads="1"/>
          </p:cNvPicPr>
          <p:nvPr/>
        </p:nvPicPr>
        <p:blipFill>
          <a:blip r:embed="rId2" cstate="print"/>
          <a:srcRect/>
          <a:stretch>
            <a:fillRect/>
          </a:stretch>
        </p:blipFill>
        <p:spPr bwMode="auto">
          <a:xfrm>
            <a:off x="1799617" y="2052536"/>
            <a:ext cx="9202366" cy="4805464"/>
          </a:xfrm>
          <a:prstGeom prst="rect">
            <a:avLst/>
          </a:prstGeom>
          <a:noFill/>
          <a:ln w="9525">
            <a:noFill/>
            <a:miter lim="800000"/>
            <a:headEnd/>
            <a:tailEnd/>
          </a:ln>
        </p:spPr>
      </p:pic>
    </p:spTree>
    <p:extLst>
      <p:ext uri="{BB962C8B-B14F-4D97-AF65-F5344CB8AC3E}">
        <p14:creationId xmlns:p14="http://schemas.microsoft.com/office/powerpoint/2010/main" val="3505714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06C2B-9345-4381-8942-BD29C093DAFC}"/>
              </a:ext>
            </a:extLst>
          </p:cNvPr>
          <p:cNvSpPr>
            <a:spLocks noGrp="1"/>
          </p:cNvSpPr>
          <p:nvPr>
            <p:ph type="title"/>
          </p:nvPr>
        </p:nvSpPr>
        <p:spPr>
          <a:xfrm>
            <a:off x="1899921" y="624110"/>
            <a:ext cx="9604692" cy="1280890"/>
          </a:xfrm>
        </p:spPr>
        <p:txBody>
          <a:bodyPr/>
          <a:lstStyle/>
          <a:p>
            <a:r>
              <a:rPr lang="en-US" sz="3200" b="1" dirty="0">
                <a:solidFill>
                  <a:prstClr val="black">
                    <a:lumMod val="85000"/>
                    <a:lumOff val="15000"/>
                  </a:prstClr>
                </a:solidFill>
              </a:rPr>
              <a:t>D</a:t>
            </a:r>
            <a:r>
              <a:rPr lang="en-IN" sz="3200" b="1" dirty="0" err="1">
                <a:solidFill>
                  <a:prstClr val="black">
                    <a:lumMod val="85000"/>
                    <a:lumOff val="15000"/>
                  </a:prstClr>
                </a:solidFill>
              </a:rPr>
              <a:t>ynamic</a:t>
            </a:r>
            <a:r>
              <a:rPr lang="en-IN" sz="3200" b="1" dirty="0">
                <a:solidFill>
                  <a:prstClr val="black">
                    <a:lumMod val="85000"/>
                    <a:lumOff val="15000"/>
                  </a:prstClr>
                </a:solidFill>
              </a:rPr>
              <a:t> CMOS with Pull-up network(PUN) and Pull-down Network (PDN)</a:t>
            </a:r>
            <a:endParaRPr lang="en-IN" dirty="0"/>
          </a:p>
        </p:txBody>
      </p:sp>
      <p:sp>
        <p:nvSpPr>
          <p:cNvPr id="4" name="Footer Placeholder 3">
            <a:extLst>
              <a:ext uri="{FF2B5EF4-FFF2-40B4-BE49-F238E27FC236}">
                <a16:creationId xmlns:a16="http://schemas.microsoft.com/office/drawing/2014/main" id="{073A7E6F-85EC-483B-8DF3-CD92F434CDF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9" name="Content Placeholder 8">
            <a:extLst>
              <a:ext uri="{FF2B5EF4-FFF2-40B4-BE49-F238E27FC236}">
                <a16:creationId xmlns:a16="http://schemas.microsoft.com/office/drawing/2014/main" id="{93E7E86A-B4EC-4490-BDC1-331F604D96E4}"/>
              </a:ext>
            </a:extLst>
          </p:cNvPr>
          <p:cNvPicPr>
            <a:picLocks noGrp="1" noChangeAspect="1"/>
          </p:cNvPicPr>
          <p:nvPr>
            <p:ph idx="1"/>
          </p:nvPr>
        </p:nvPicPr>
        <p:blipFill>
          <a:blip r:embed="rId2" cstate="print"/>
          <a:stretch>
            <a:fillRect/>
          </a:stretch>
        </p:blipFill>
        <p:spPr>
          <a:xfrm>
            <a:off x="2946400" y="2123440"/>
            <a:ext cx="6827520" cy="3708400"/>
          </a:xfrm>
          <a:prstGeom prst="rect">
            <a:avLst/>
          </a:prstGeom>
        </p:spPr>
      </p:pic>
    </p:spTree>
    <p:extLst>
      <p:ext uri="{BB962C8B-B14F-4D97-AF65-F5344CB8AC3E}">
        <p14:creationId xmlns:p14="http://schemas.microsoft.com/office/powerpoint/2010/main" val="149798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152F7-3A2C-45DC-B511-8A217AD0954F}"/>
              </a:ext>
            </a:extLst>
          </p:cNvPr>
          <p:cNvSpPr>
            <a:spLocks noGrp="1"/>
          </p:cNvSpPr>
          <p:nvPr>
            <p:ph type="title"/>
          </p:nvPr>
        </p:nvSpPr>
        <p:spPr>
          <a:xfrm>
            <a:off x="1910081" y="624110"/>
            <a:ext cx="9594532" cy="1280890"/>
          </a:xfrm>
        </p:spPr>
        <p:txBody>
          <a:bodyPr/>
          <a:lstStyle/>
          <a:p>
            <a:r>
              <a:rPr lang="en-IN" sz="3200" b="1" dirty="0">
                <a:solidFill>
                  <a:prstClr val="black">
                    <a:lumMod val="85000"/>
                    <a:lumOff val="15000"/>
                  </a:prstClr>
                </a:solidFill>
              </a:rPr>
              <a:t>Advantages</a:t>
            </a:r>
            <a:endParaRPr lang="en-IN" dirty="0"/>
          </a:p>
        </p:txBody>
      </p:sp>
      <p:sp>
        <p:nvSpPr>
          <p:cNvPr id="3" name="Content Placeholder 2">
            <a:extLst>
              <a:ext uri="{FF2B5EF4-FFF2-40B4-BE49-F238E27FC236}">
                <a16:creationId xmlns:a16="http://schemas.microsoft.com/office/drawing/2014/main" id="{1C667624-3326-4FC8-A971-5CEEC87CB6DE}"/>
              </a:ext>
            </a:extLst>
          </p:cNvPr>
          <p:cNvSpPr>
            <a:spLocks noGrp="1"/>
          </p:cNvSpPr>
          <p:nvPr>
            <p:ph idx="1"/>
          </p:nvPr>
        </p:nvSpPr>
        <p:spPr>
          <a:xfrm>
            <a:off x="1127760" y="1351280"/>
            <a:ext cx="10881360" cy="4882610"/>
          </a:xfrm>
        </p:spPr>
        <p:txBody>
          <a:bodyPr>
            <a:normAutofit/>
          </a:bodyPr>
          <a:lstStyle/>
          <a:p>
            <a:r>
              <a:rPr lang="en-US" dirty="0">
                <a:solidFill>
                  <a:prstClr val="black">
                    <a:lumMod val="75000"/>
                    <a:lumOff val="25000"/>
                  </a:prstClr>
                </a:solidFill>
                <a:latin typeface="Arial" panose="020B0604020202020204" pitchFamily="34" charset="0"/>
                <a:cs typeface="Arial" panose="020B0604020202020204" pitchFamily="34" charset="0"/>
              </a:rPr>
              <a:t>The number of transistor required for a circuit with fan-in N is (N+2), in contract to 2N in case of state CMOS circuits. </a:t>
            </a:r>
          </a:p>
          <a:p>
            <a:r>
              <a:rPr lang="en-US" dirty="0">
                <a:solidFill>
                  <a:prstClr val="black">
                    <a:lumMod val="75000"/>
                    <a:lumOff val="25000"/>
                  </a:prstClr>
                </a:solidFill>
                <a:latin typeface="Arial" panose="020B0604020202020204" pitchFamily="34" charset="0"/>
                <a:cs typeface="Arial" panose="020B0604020202020204" pitchFamily="34" charset="0"/>
              </a:rPr>
              <a:t>The load capacitance is more than 50% less than static CMOS and is closer to that of </a:t>
            </a:r>
            <a:r>
              <a:rPr lang="en-US" dirty="0" err="1">
                <a:solidFill>
                  <a:prstClr val="black">
                    <a:lumMod val="75000"/>
                    <a:lumOff val="25000"/>
                  </a:prstClr>
                </a:solidFill>
                <a:latin typeface="Arial" panose="020B0604020202020204" pitchFamily="34" charset="0"/>
                <a:cs typeface="Arial" panose="020B0604020202020204" pitchFamily="34" charset="0"/>
              </a:rPr>
              <a:t>nMOS</a:t>
            </a:r>
            <a:r>
              <a:rPr lang="en-US" dirty="0">
                <a:solidFill>
                  <a:prstClr val="black">
                    <a:lumMod val="75000"/>
                    <a:lumOff val="25000"/>
                  </a:prstClr>
                </a:solidFill>
                <a:latin typeface="Arial" panose="020B0604020202020204" pitchFamily="34" charset="0"/>
                <a:cs typeface="Arial" panose="020B0604020202020204" pitchFamily="34" charset="0"/>
              </a:rPr>
              <a:t> circuits.  </a:t>
            </a:r>
          </a:p>
          <a:p>
            <a:r>
              <a:rPr lang="en-US" dirty="0">
                <a:solidFill>
                  <a:prstClr val="black">
                    <a:lumMod val="75000"/>
                    <a:lumOff val="25000"/>
                  </a:prstClr>
                </a:solidFill>
                <a:latin typeface="Arial" panose="020B0604020202020204" pitchFamily="34" charset="0"/>
                <a:cs typeface="Arial" panose="020B0604020202020204" pitchFamily="34" charset="0"/>
              </a:rPr>
              <a:t>The speed of operation is faster than that of static CMOS circuits.</a:t>
            </a:r>
          </a:p>
          <a:p>
            <a:r>
              <a:rPr lang="en-US" dirty="0">
                <a:solidFill>
                  <a:prstClr val="black">
                    <a:lumMod val="75000"/>
                    <a:lumOff val="25000"/>
                  </a:prstClr>
                </a:solidFill>
                <a:latin typeface="Arial" panose="020B0604020202020204" pitchFamily="34" charset="0"/>
                <a:cs typeface="Arial" panose="020B0604020202020204" pitchFamily="34" charset="0"/>
              </a:rPr>
              <a:t>Lower static power dissipation. (Its only consumes dynamic power)</a:t>
            </a:r>
          </a:p>
          <a:p>
            <a:r>
              <a:rPr lang="en-US" dirty="0">
                <a:solidFill>
                  <a:prstClr val="black">
                    <a:lumMod val="75000"/>
                    <a:lumOff val="25000"/>
                  </a:prstClr>
                </a:solidFill>
                <a:latin typeface="Arial" panose="020B0604020202020204" pitchFamily="34" charset="0"/>
                <a:cs typeface="Arial" panose="020B0604020202020204" pitchFamily="34" charset="0"/>
              </a:rPr>
              <a:t>No short circuit power dissipation.</a:t>
            </a:r>
          </a:p>
          <a:p>
            <a:r>
              <a:rPr lang="en-US" dirty="0">
                <a:solidFill>
                  <a:prstClr val="black">
                    <a:lumMod val="75000"/>
                    <a:lumOff val="25000"/>
                  </a:prstClr>
                </a:solidFill>
                <a:latin typeface="Arial" panose="020B0604020202020204" pitchFamily="34" charset="0"/>
                <a:cs typeface="Arial" panose="020B0604020202020204" pitchFamily="34" charset="0"/>
              </a:rPr>
              <a:t>No glitching power dissipation. </a:t>
            </a:r>
          </a:p>
          <a:p>
            <a:pPr algn="just"/>
            <a:r>
              <a:rPr lang="en-US" dirty="0">
                <a:latin typeface="Arial" pitchFamily="34" charset="0"/>
                <a:cs typeface="Arial" pitchFamily="34" charset="0"/>
              </a:rPr>
              <a:t>It is non-</a:t>
            </a:r>
            <a:r>
              <a:rPr lang="en-US" dirty="0" err="1">
                <a:latin typeface="Arial" pitchFamily="34" charset="0"/>
                <a:cs typeface="Arial" pitchFamily="34" charset="0"/>
              </a:rPr>
              <a:t>ratioed</a:t>
            </a:r>
            <a:r>
              <a:rPr lang="en-US" dirty="0">
                <a:latin typeface="Arial" pitchFamily="34" charset="0"/>
                <a:cs typeface="Arial" pitchFamily="34" charset="0"/>
              </a:rPr>
              <a:t>. The sizing of the PMOS precharge device is not important for realizing proper functionality of the gate. The size of the precharge device can be made large to improve the low-to-high transition time. There is however, a trade-off with power dissipation since a larger precharge device directly increases clock-power dissipation.</a:t>
            </a:r>
            <a:endParaRPr lang="en-US" dirty="0">
              <a:solidFill>
                <a:prstClr val="black">
                  <a:lumMod val="75000"/>
                  <a:lumOff val="25000"/>
                </a:prstClr>
              </a:solidFill>
              <a:latin typeface="Arial" pitchFamily="34" charset="0"/>
              <a:cs typeface="Arial" pitchFamily="34" charset="0"/>
            </a:endParaRPr>
          </a:p>
          <a:p>
            <a:pPr marL="0" indent="0">
              <a:buNone/>
            </a:pPr>
            <a:endParaRPr lang="en-US" dirty="0">
              <a:solidFill>
                <a:prstClr val="black">
                  <a:lumMod val="75000"/>
                  <a:lumOff val="25000"/>
                </a:prstClr>
              </a:solidFill>
              <a:latin typeface="Arial" pitchFamily="34" charset="0"/>
              <a:cs typeface="Arial" pitchFamily="34" charset="0"/>
            </a:endParaRPr>
          </a:p>
          <a:p>
            <a:endParaRPr lang="en-IN" sz="1700" dirty="0"/>
          </a:p>
        </p:txBody>
      </p:sp>
      <p:sp>
        <p:nvSpPr>
          <p:cNvPr id="4" name="Footer Placeholder 3">
            <a:extLst>
              <a:ext uri="{FF2B5EF4-FFF2-40B4-BE49-F238E27FC236}">
                <a16:creationId xmlns:a16="http://schemas.microsoft.com/office/drawing/2014/main" id="{967BD876-A46E-485F-BD21-7071966C4FB9}"/>
              </a:ext>
            </a:extLst>
          </p:cNvPr>
          <p:cNvSpPr>
            <a:spLocks noGrp="1"/>
          </p:cNvSpPr>
          <p:nvPr>
            <p:ph type="ftr" sz="quarter" idx="11"/>
          </p:nvPr>
        </p:nvSpPr>
        <p:spPr>
          <a:xfrm>
            <a:off x="1503680" y="6035040"/>
            <a:ext cx="8705531" cy="465893"/>
          </a:xfrm>
        </p:spPr>
        <p:txBody>
          <a:bodyPr/>
          <a:lstStyle/>
          <a:p>
            <a:pPr lvl="0"/>
            <a:endParaRPr lang="en-IN" sz="1600" dirty="0">
              <a:solidFill>
                <a:srgbClr val="C00000"/>
              </a:solidFill>
              <a:latin typeface="Arial" panose="020B0604020202020204" pitchFamily="34" charset="0"/>
              <a:cs typeface="Arial" panose="020B0604020202020204" pitchFamily="34" charset="0"/>
            </a:endParaRPr>
          </a:p>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505714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152F7-3A2C-45DC-B511-8A217AD0954F}"/>
              </a:ext>
            </a:extLst>
          </p:cNvPr>
          <p:cNvSpPr>
            <a:spLocks noGrp="1"/>
          </p:cNvSpPr>
          <p:nvPr>
            <p:ph type="title"/>
          </p:nvPr>
        </p:nvSpPr>
        <p:spPr>
          <a:xfrm>
            <a:off x="1910081" y="624110"/>
            <a:ext cx="9594532" cy="1280890"/>
          </a:xfrm>
        </p:spPr>
        <p:txBody>
          <a:bodyPr/>
          <a:lstStyle/>
          <a:p>
            <a:r>
              <a:rPr lang="en-IN" sz="3200" b="1" dirty="0">
                <a:solidFill>
                  <a:prstClr val="black">
                    <a:lumMod val="85000"/>
                    <a:lumOff val="15000"/>
                  </a:prstClr>
                </a:solidFill>
              </a:rPr>
              <a:t>Disadvantages</a:t>
            </a:r>
            <a:endParaRPr lang="en-IN" dirty="0"/>
          </a:p>
        </p:txBody>
      </p:sp>
      <p:sp>
        <p:nvSpPr>
          <p:cNvPr id="3" name="Content Placeholder 2">
            <a:extLst>
              <a:ext uri="{FF2B5EF4-FFF2-40B4-BE49-F238E27FC236}">
                <a16:creationId xmlns:a16="http://schemas.microsoft.com/office/drawing/2014/main" id="{1C667624-3326-4FC8-A971-5CEEC87CB6DE}"/>
              </a:ext>
            </a:extLst>
          </p:cNvPr>
          <p:cNvSpPr>
            <a:spLocks noGrp="1"/>
          </p:cNvSpPr>
          <p:nvPr>
            <p:ph idx="1"/>
          </p:nvPr>
        </p:nvSpPr>
        <p:spPr>
          <a:xfrm>
            <a:off x="1127760" y="1351280"/>
            <a:ext cx="10881360" cy="4882610"/>
          </a:xfrm>
        </p:spPr>
        <p:txBody>
          <a:bodyPr>
            <a:normAutofit/>
          </a:bodyPr>
          <a:lstStyle/>
          <a:p>
            <a:pPr marL="0" indent="0">
              <a:buNone/>
            </a:pPr>
            <a:endParaRPr lang="en-US" dirty="0">
              <a:solidFill>
                <a:prstClr val="black">
                  <a:lumMod val="75000"/>
                  <a:lumOff val="25000"/>
                </a:prstClr>
              </a:solidFill>
              <a:latin typeface="Arial" panose="020B0604020202020204" pitchFamily="34" charset="0"/>
              <a:cs typeface="Arial" panose="020B0604020202020204" pitchFamily="34" charset="0"/>
            </a:endParaRPr>
          </a:p>
          <a:p>
            <a:r>
              <a:rPr lang="en-US" sz="1700" dirty="0">
                <a:solidFill>
                  <a:prstClr val="black">
                    <a:lumMod val="75000"/>
                    <a:lumOff val="25000"/>
                  </a:prstClr>
                </a:solidFill>
                <a:latin typeface="Arial" panose="020B0604020202020204" pitchFamily="34" charset="0"/>
                <a:cs typeface="Arial" panose="020B0604020202020204" pitchFamily="34" charset="0"/>
              </a:rPr>
              <a:t>Charge leakage problem</a:t>
            </a:r>
          </a:p>
          <a:p>
            <a:r>
              <a:rPr lang="en-US" sz="1700" dirty="0">
                <a:solidFill>
                  <a:prstClr val="black">
                    <a:lumMod val="75000"/>
                    <a:lumOff val="25000"/>
                  </a:prstClr>
                </a:solidFill>
                <a:latin typeface="Arial" panose="020B0604020202020204" pitchFamily="34" charset="0"/>
                <a:cs typeface="Arial" panose="020B0604020202020204" pitchFamily="34" charset="0"/>
              </a:rPr>
              <a:t>Charge sharing problem</a:t>
            </a:r>
          </a:p>
          <a:p>
            <a:r>
              <a:rPr lang="en-US" sz="1700" dirty="0">
                <a:solidFill>
                  <a:prstClr val="black">
                    <a:lumMod val="75000"/>
                    <a:lumOff val="25000"/>
                  </a:prstClr>
                </a:solidFill>
                <a:latin typeface="Arial" panose="020B0604020202020204" pitchFamily="34" charset="0"/>
                <a:cs typeface="Arial" panose="020B0604020202020204" pitchFamily="34" charset="0"/>
              </a:rPr>
              <a:t>Clock Skew Problem</a:t>
            </a:r>
          </a:p>
          <a:p>
            <a:endParaRPr lang="en-IN" sz="1700" dirty="0"/>
          </a:p>
        </p:txBody>
      </p:sp>
      <p:sp>
        <p:nvSpPr>
          <p:cNvPr id="4" name="Footer Placeholder 3">
            <a:extLst>
              <a:ext uri="{FF2B5EF4-FFF2-40B4-BE49-F238E27FC236}">
                <a16:creationId xmlns:a16="http://schemas.microsoft.com/office/drawing/2014/main" id="{967BD876-A46E-485F-BD21-7071966C4FB9}"/>
              </a:ext>
            </a:extLst>
          </p:cNvPr>
          <p:cNvSpPr>
            <a:spLocks noGrp="1"/>
          </p:cNvSpPr>
          <p:nvPr>
            <p:ph type="ftr" sz="quarter" idx="11"/>
          </p:nvPr>
        </p:nvSpPr>
        <p:spPr>
          <a:xfrm>
            <a:off x="1503680" y="6035040"/>
            <a:ext cx="8705531" cy="465893"/>
          </a:xfrm>
        </p:spPr>
        <p:txBody>
          <a:bodyPr/>
          <a:lstStyle/>
          <a:p>
            <a:pPr lvl="0"/>
            <a:endParaRPr lang="en-IN" sz="1600" dirty="0">
              <a:solidFill>
                <a:srgbClr val="C00000"/>
              </a:solidFill>
              <a:latin typeface="Arial" panose="020B0604020202020204" pitchFamily="34" charset="0"/>
              <a:cs typeface="Arial" panose="020B0604020202020204" pitchFamily="34" charset="0"/>
            </a:endParaRPr>
          </a:p>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505714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98133-BB4E-40DF-BC51-291D32583C8E}"/>
              </a:ext>
            </a:extLst>
          </p:cNvPr>
          <p:cNvSpPr>
            <a:spLocks noGrp="1"/>
          </p:cNvSpPr>
          <p:nvPr>
            <p:ph type="title"/>
          </p:nvPr>
        </p:nvSpPr>
        <p:spPr>
          <a:xfrm>
            <a:off x="1899921" y="624110"/>
            <a:ext cx="9604692" cy="1280890"/>
          </a:xfrm>
        </p:spPr>
        <p:txBody>
          <a:bodyPr>
            <a:normAutofit/>
          </a:bodyPr>
          <a:lstStyle/>
          <a:p>
            <a:r>
              <a:rPr lang="en-US" sz="3200" b="1" dirty="0">
                <a:solidFill>
                  <a:prstClr val="black">
                    <a:lumMod val="85000"/>
                    <a:lumOff val="15000"/>
                  </a:prstClr>
                </a:solidFill>
              </a:rPr>
              <a:t>C</a:t>
            </a:r>
            <a:r>
              <a:rPr lang="en-IN" sz="3200" b="1" dirty="0">
                <a:solidFill>
                  <a:prstClr val="black">
                    <a:lumMod val="85000"/>
                    <a:lumOff val="15000"/>
                  </a:prstClr>
                </a:solidFill>
              </a:rPr>
              <a:t>harge Leakage Problem</a:t>
            </a:r>
            <a:endParaRPr lang="en-IN" sz="3200" dirty="0"/>
          </a:p>
        </p:txBody>
      </p:sp>
      <p:sp>
        <p:nvSpPr>
          <p:cNvPr id="3" name="Content Placeholder 2">
            <a:extLst>
              <a:ext uri="{FF2B5EF4-FFF2-40B4-BE49-F238E27FC236}">
                <a16:creationId xmlns:a16="http://schemas.microsoft.com/office/drawing/2014/main" id="{5BABE529-22B2-4335-9687-A0AC23461E2D}"/>
              </a:ext>
            </a:extLst>
          </p:cNvPr>
          <p:cNvSpPr>
            <a:spLocks noGrp="1"/>
          </p:cNvSpPr>
          <p:nvPr>
            <p:ph idx="1"/>
          </p:nvPr>
        </p:nvSpPr>
        <p:spPr>
          <a:xfrm>
            <a:off x="955040" y="1564640"/>
            <a:ext cx="10861040" cy="4571168"/>
          </a:xfrm>
        </p:spPr>
        <p:txBody>
          <a:bodyPr/>
          <a:lstStyle/>
          <a:p>
            <a:r>
              <a:rPr lang="en-US" dirty="0">
                <a:latin typeface="Arial" panose="020B0604020202020204" pitchFamily="34" charset="0"/>
                <a:cs typeface="Arial" panose="020B0604020202020204" pitchFamily="34" charset="0"/>
              </a:rPr>
              <a:t>The operation of the dynamic gate depends on the storage of information in the form of charge on the capacitor.  </a:t>
            </a:r>
          </a:p>
          <a:p>
            <a:r>
              <a:rPr lang="en-US" dirty="0">
                <a:latin typeface="Arial" panose="020B0604020202020204" pitchFamily="34" charset="0"/>
                <a:cs typeface="Arial" panose="020B0604020202020204" pitchFamily="34" charset="0"/>
              </a:rPr>
              <a:t>During pre-charge phase C</a:t>
            </a:r>
            <a:r>
              <a:rPr lang="en-US" baseline="-25000" dirty="0">
                <a:latin typeface="Arial" panose="020B0604020202020204" pitchFamily="34" charset="0"/>
                <a:cs typeface="Arial" panose="020B0604020202020204" pitchFamily="34" charset="0"/>
              </a:rPr>
              <a:t>L  </a:t>
            </a:r>
            <a:r>
              <a:rPr lang="en-US" dirty="0">
                <a:latin typeface="Arial" panose="020B0604020202020204" pitchFamily="34" charset="0"/>
                <a:cs typeface="Arial" panose="020B0604020202020204" pitchFamily="34" charset="0"/>
              </a:rPr>
              <a:t>is  charge but how long the voltage on  </a:t>
            </a:r>
          </a:p>
          <a:p>
            <a:pPr marL="0" indent="0">
              <a:buNone/>
            </a:pPr>
            <a:r>
              <a:rPr lang="en-US" dirty="0">
                <a:latin typeface="Arial" panose="020B0604020202020204" pitchFamily="34" charset="0"/>
                <a:cs typeface="Arial" panose="020B0604020202020204" pitchFamily="34" charset="0"/>
              </a:rPr>
              <a:t>      C</a:t>
            </a:r>
            <a:r>
              <a:rPr lang="en-US" baseline="-25000" dirty="0">
                <a:latin typeface="Arial" panose="020B0604020202020204" pitchFamily="34" charset="0"/>
                <a:cs typeface="Arial" panose="020B0604020202020204" pitchFamily="34" charset="0"/>
              </a:rPr>
              <a:t>L   </a:t>
            </a:r>
            <a:r>
              <a:rPr lang="en-US" dirty="0">
                <a:latin typeface="Arial" panose="020B0604020202020204" pitchFamily="34" charset="0"/>
                <a:cs typeface="Arial" panose="020B0604020202020204" pitchFamily="34" charset="0"/>
              </a:rPr>
              <a:t>is retain. </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 Suppose clock period is too long, in that case capacitor is discharge </a:t>
            </a:r>
          </a:p>
          <a:p>
            <a:pPr marL="0" lvl="0" indent="0">
              <a:buClr>
                <a:srgbClr val="E78712"/>
              </a:buClr>
              <a:buNone/>
            </a:pPr>
            <a:r>
              <a:rPr lang="en-US" baseline="-25000" dirty="0">
                <a:latin typeface="Arial" panose="020B0604020202020204" pitchFamily="34" charset="0"/>
                <a:cs typeface="Arial" panose="020B0604020202020204" pitchFamily="34" charset="0"/>
              </a:rPr>
              <a:t>          </a:t>
            </a:r>
            <a:r>
              <a:rPr lang="en-US" dirty="0">
                <a:solidFill>
                  <a:prstClr val="black">
                    <a:lumMod val="75000"/>
                    <a:lumOff val="25000"/>
                  </a:prstClr>
                </a:solidFill>
                <a:latin typeface="Arial" panose="020B0604020202020204" pitchFamily="34" charset="0"/>
                <a:cs typeface="Arial" panose="020B0604020202020204" pitchFamily="34" charset="0"/>
              </a:rPr>
              <a:t>through   NMOS network. </a:t>
            </a:r>
          </a:p>
          <a:p>
            <a:pPr marL="0" lvl="0" indent="0">
              <a:buClr>
                <a:srgbClr val="E78712"/>
              </a:buClr>
              <a:buNone/>
            </a:pPr>
            <a:endParaRPr lang="en-US" dirty="0">
              <a:solidFill>
                <a:prstClr val="black">
                  <a:lumMod val="75000"/>
                  <a:lumOff val="25000"/>
                </a:prstClr>
              </a:solidFill>
              <a:latin typeface="Arial" panose="020B0604020202020204" pitchFamily="34" charset="0"/>
              <a:cs typeface="Arial" panose="020B0604020202020204" pitchFamily="34" charset="0"/>
            </a:endParaRPr>
          </a:p>
          <a:p>
            <a:pPr marL="0" indent="0">
              <a:buNone/>
            </a:pPr>
            <a:endParaRPr lang="en-US" baseline="-250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118AE937-5186-47FB-A97C-5DC9FA3C2A08}"/>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7" name="Picture 6">
            <a:extLst>
              <a:ext uri="{FF2B5EF4-FFF2-40B4-BE49-F238E27FC236}">
                <a16:creationId xmlns:a16="http://schemas.microsoft.com/office/drawing/2014/main" id="{D134EAF4-F9E0-46C8-89D0-8116DF5AE645}"/>
              </a:ext>
            </a:extLst>
          </p:cNvPr>
          <p:cNvPicPr>
            <a:picLocks noChangeAspect="1"/>
          </p:cNvPicPr>
          <p:nvPr/>
        </p:nvPicPr>
        <p:blipFill>
          <a:blip r:embed="rId2" cstate="print"/>
          <a:stretch>
            <a:fillRect/>
          </a:stretch>
        </p:blipFill>
        <p:spPr>
          <a:xfrm>
            <a:off x="8564880" y="2169890"/>
            <a:ext cx="3488370" cy="4064000"/>
          </a:xfrm>
          <a:prstGeom prst="rect">
            <a:avLst/>
          </a:prstGeom>
        </p:spPr>
      </p:pic>
    </p:spTree>
    <p:extLst>
      <p:ext uri="{BB962C8B-B14F-4D97-AF65-F5344CB8AC3E}">
        <p14:creationId xmlns:p14="http://schemas.microsoft.com/office/powerpoint/2010/main" val="916627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98133-BB4E-40DF-BC51-291D32583C8E}"/>
              </a:ext>
            </a:extLst>
          </p:cNvPr>
          <p:cNvSpPr>
            <a:spLocks noGrp="1"/>
          </p:cNvSpPr>
          <p:nvPr>
            <p:ph type="title"/>
          </p:nvPr>
        </p:nvSpPr>
        <p:spPr>
          <a:xfrm>
            <a:off x="1899921" y="624110"/>
            <a:ext cx="9604692" cy="1280890"/>
          </a:xfrm>
        </p:spPr>
        <p:txBody>
          <a:bodyPr>
            <a:normAutofit/>
          </a:bodyPr>
          <a:lstStyle/>
          <a:p>
            <a:r>
              <a:rPr lang="en-IN" sz="3200" b="1" dirty="0">
                <a:solidFill>
                  <a:prstClr val="black">
                    <a:lumMod val="85000"/>
                    <a:lumOff val="15000"/>
                  </a:prstClr>
                </a:solidFill>
              </a:rPr>
              <a:t>Continue….</a:t>
            </a:r>
            <a:endParaRPr lang="en-IN" sz="3200" dirty="0"/>
          </a:p>
        </p:txBody>
      </p:sp>
      <p:sp>
        <p:nvSpPr>
          <p:cNvPr id="3" name="Content Placeholder 2">
            <a:extLst>
              <a:ext uri="{FF2B5EF4-FFF2-40B4-BE49-F238E27FC236}">
                <a16:creationId xmlns:a16="http://schemas.microsoft.com/office/drawing/2014/main" id="{5BABE529-22B2-4335-9687-A0AC23461E2D}"/>
              </a:ext>
            </a:extLst>
          </p:cNvPr>
          <p:cNvSpPr>
            <a:spLocks noGrp="1"/>
          </p:cNvSpPr>
          <p:nvPr>
            <p:ph idx="1"/>
          </p:nvPr>
        </p:nvSpPr>
        <p:spPr>
          <a:xfrm>
            <a:off x="955040" y="1332689"/>
            <a:ext cx="10861040" cy="4803119"/>
          </a:xfrm>
        </p:spPr>
        <p:txBody>
          <a:bodyPr/>
          <a:lstStyle/>
          <a:p>
            <a:pPr algn="just"/>
            <a:r>
              <a:rPr lang="en-US" dirty="0">
                <a:latin typeface="Arial" pitchFamily="34" charset="0"/>
                <a:cs typeface="Arial" pitchFamily="34" charset="0"/>
              </a:rPr>
              <a:t>The output should ideally remain at the </a:t>
            </a:r>
            <a:r>
              <a:rPr lang="en-US" dirty="0" err="1">
                <a:latin typeface="Arial" pitchFamily="34" charset="0"/>
                <a:cs typeface="Arial" pitchFamily="34" charset="0"/>
              </a:rPr>
              <a:t>precharged</a:t>
            </a:r>
            <a:r>
              <a:rPr lang="en-US" dirty="0">
                <a:latin typeface="Arial" pitchFamily="34" charset="0"/>
                <a:cs typeface="Arial" pitchFamily="34" charset="0"/>
              </a:rPr>
              <a:t> state of V</a:t>
            </a:r>
            <a:r>
              <a:rPr lang="en-US" baseline="-25000" dirty="0">
                <a:latin typeface="Arial" pitchFamily="34" charset="0"/>
                <a:cs typeface="Arial" pitchFamily="34" charset="0"/>
              </a:rPr>
              <a:t>DD</a:t>
            </a:r>
            <a:r>
              <a:rPr lang="en-US" dirty="0">
                <a:latin typeface="Arial" pitchFamily="34" charset="0"/>
                <a:cs typeface="Arial" pitchFamily="34" charset="0"/>
              </a:rPr>
              <a:t> during the evaluation phase</a:t>
            </a:r>
            <a:r>
              <a:rPr lang="en-US" i="1" dirty="0">
                <a:latin typeface="Arial" pitchFamily="34" charset="0"/>
                <a:cs typeface="Arial" pitchFamily="34" charset="0"/>
              </a:rPr>
              <a:t>. </a:t>
            </a:r>
            <a:r>
              <a:rPr lang="en-US" dirty="0">
                <a:latin typeface="Arial" pitchFamily="34" charset="0"/>
                <a:cs typeface="Arial" pitchFamily="34" charset="0"/>
              </a:rPr>
              <a:t>However, this charge gradually leaks away due to leakage currents, eventually resulting in a malfunctioning of the gate</a:t>
            </a:r>
            <a:endParaRPr lang="en-US" baseline="-25000" dirty="0">
              <a:latin typeface="Arial" pitchFamily="34" charset="0"/>
              <a:cs typeface="Arial" pitchFamily="34" charset="0"/>
            </a:endParaRPr>
          </a:p>
        </p:txBody>
      </p:sp>
      <p:sp>
        <p:nvSpPr>
          <p:cNvPr id="4" name="Footer Placeholder 3">
            <a:extLst>
              <a:ext uri="{FF2B5EF4-FFF2-40B4-BE49-F238E27FC236}">
                <a16:creationId xmlns:a16="http://schemas.microsoft.com/office/drawing/2014/main" id="{118AE937-5186-47FB-A97C-5DC9FA3C2A08}"/>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2051" name="Picture 3"/>
          <p:cNvPicPr>
            <a:picLocks noChangeAspect="1" noChangeArrowheads="1"/>
          </p:cNvPicPr>
          <p:nvPr/>
        </p:nvPicPr>
        <p:blipFill>
          <a:blip r:embed="rId2" cstate="print"/>
          <a:srcRect/>
          <a:stretch>
            <a:fillRect/>
          </a:stretch>
        </p:blipFill>
        <p:spPr bwMode="auto">
          <a:xfrm>
            <a:off x="1955260" y="2577830"/>
            <a:ext cx="8365788" cy="4280170"/>
          </a:xfrm>
          <a:prstGeom prst="rect">
            <a:avLst/>
          </a:prstGeom>
          <a:noFill/>
          <a:ln w="9525">
            <a:noFill/>
            <a:miter lim="800000"/>
            <a:headEnd/>
            <a:tailEnd/>
          </a:ln>
        </p:spPr>
      </p:pic>
    </p:spTree>
    <p:extLst>
      <p:ext uri="{BB962C8B-B14F-4D97-AF65-F5344CB8AC3E}">
        <p14:creationId xmlns:p14="http://schemas.microsoft.com/office/powerpoint/2010/main" val="916627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767B7-7B52-42AC-88A4-28A2F41E2909}"/>
              </a:ext>
            </a:extLst>
          </p:cNvPr>
          <p:cNvSpPr>
            <a:spLocks noGrp="1"/>
          </p:cNvSpPr>
          <p:nvPr>
            <p:ph type="title"/>
          </p:nvPr>
        </p:nvSpPr>
        <p:spPr>
          <a:xfrm>
            <a:off x="1473201" y="624110"/>
            <a:ext cx="10031412" cy="828770"/>
          </a:xfrm>
        </p:spPr>
        <p:txBody>
          <a:bodyPr>
            <a:normAutofit/>
          </a:bodyPr>
          <a:lstStyle/>
          <a:p>
            <a:r>
              <a:rPr lang="en-US" sz="3200" dirty="0">
                <a:latin typeface="Arial" panose="020B0604020202020204" pitchFamily="34" charset="0"/>
                <a:cs typeface="Arial" panose="020B0604020202020204" pitchFamily="34" charset="0"/>
              </a:rPr>
              <a:t>Continue…..</a:t>
            </a:r>
            <a:endParaRPr lang="en-IN"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02B24C1-F44A-4127-BF4C-8A5BB5FF22F1}"/>
              </a:ext>
            </a:extLst>
          </p:cNvPr>
          <p:cNvSpPr>
            <a:spLocks noGrp="1"/>
          </p:cNvSpPr>
          <p:nvPr>
            <p:ph idx="1"/>
          </p:nvPr>
        </p:nvSpPr>
        <p:spPr>
          <a:xfrm>
            <a:off x="428017" y="1320800"/>
            <a:ext cx="11076595" cy="4819022"/>
          </a:xfrm>
        </p:spPr>
        <p:txBody>
          <a:bodyPr/>
          <a:lstStyle/>
          <a:p>
            <a:pPr algn="just"/>
            <a:r>
              <a:rPr lang="en-US" dirty="0">
                <a:latin typeface="Arial" pitchFamily="34" charset="0"/>
                <a:cs typeface="Arial" pitchFamily="34" charset="0"/>
              </a:rPr>
              <a:t>Source 1 and 2 are the reverse-biased diode and sub-threshold leakage of the  NMOS pull-down device M1, respectively. The charge stored on C</a:t>
            </a:r>
            <a:r>
              <a:rPr lang="en-US" baseline="-25000" dirty="0">
                <a:latin typeface="Arial" pitchFamily="34" charset="0"/>
                <a:cs typeface="Arial" pitchFamily="34" charset="0"/>
              </a:rPr>
              <a:t>L </a:t>
            </a:r>
            <a:r>
              <a:rPr lang="en-US" dirty="0">
                <a:latin typeface="Arial" pitchFamily="34" charset="0"/>
                <a:cs typeface="Arial" pitchFamily="34" charset="0"/>
              </a:rPr>
              <a:t>will slowly leak away due these leakage sources.</a:t>
            </a:r>
            <a:endParaRPr lang="en-US" dirty="0">
              <a:solidFill>
                <a:prstClr val="black">
                  <a:lumMod val="75000"/>
                  <a:lumOff val="25000"/>
                </a:prstClr>
              </a:solidFill>
              <a:latin typeface="Arial" pitchFamily="34" charset="0"/>
              <a:cs typeface="Arial" pitchFamily="34" charset="0"/>
            </a:endParaRPr>
          </a:p>
          <a:p>
            <a:pPr lvl="0" algn="just">
              <a:buClr>
                <a:srgbClr val="E78712"/>
              </a:buClr>
            </a:pPr>
            <a:r>
              <a:rPr lang="en-US" dirty="0">
                <a:latin typeface="Arial" pitchFamily="34" charset="0"/>
                <a:cs typeface="Arial" pitchFamily="34" charset="0"/>
              </a:rPr>
              <a:t>Note that the PMOS precharge device also contributes some leakage current due to the reverse bias diode (source 3) and the </a:t>
            </a:r>
            <a:r>
              <a:rPr lang="en-US" dirty="0" err="1">
                <a:latin typeface="Arial" pitchFamily="34" charset="0"/>
                <a:cs typeface="Arial" pitchFamily="34" charset="0"/>
              </a:rPr>
              <a:t>subthreshold</a:t>
            </a:r>
            <a:r>
              <a:rPr lang="en-US" dirty="0">
                <a:latin typeface="Arial" pitchFamily="34" charset="0"/>
                <a:cs typeface="Arial" pitchFamily="34" charset="0"/>
              </a:rPr>
              <a:t> conduction (source 4).</a:t>
            </a:r>
            <a:endParaRPr lang="en-US" dirty="0">
              <a:solidFill>
                <a:prstClr val="black">
                  <a:lumMod val="75000"/>
                  <a:lumOff val="25000"/>
                </a:prstClr>
              </a:solidFill>
              <a:latin typeface="Arial" pitchFamily="34" charset="0"/>
              <a:cs typeface="Arial" pitchFamily="34" charset="0"/>
            </a:endParaRPr>
          </a:p>
          <a:p>
            <a:pPr lvl="0" algn="just">
              <a:buClr>
                <a:srgbClr val="E78712"/>
              </a:buClr>
            </a:pPr>
            <a:r>
              <a:rPr lang="en-US" dirty="0">
                <a:solidFill>
                  <a:prstClr val="black">
                    <a:lumMod val="75000"/>
                    <a:lumOff val="25000"/>
                  </a:prstClr>
                </a:solidFill>
                <a:latin typeface="Arial" pitchFamily="34" charset="0"/>
                <a:cs typeface="Arial" pitchFamily="34" charset="0"/>
              </a:rPr>
              <a:t>If this reverse current for long duration the capacitor will discharge leading to degradation in output level. </a:t>
            </a:r>
            <a:endParaRPr lang="en-IN" dirty="0">
              <a:solidFill>
                <a:prstClr val="black">
                  <a:lumMod val="75000"/>
                  <a:lumOff val="25000"/>
                </a:prstClr>
              </a:solidFill>
              <a:latin typeface="Arial" panose="020B0604020202020204" pitchFamily="34" charset="0"/>
              <a:cs typeface="Arial" panose="020B0604020202020204" pitchFamily="34" charset="0"/>
            </a:endParaRPr>
          </a:p>
          <a:p>
            <a:pPr algn="just"/>
            <a:r>
              <a:rPr lang="en-US" dirty="0">
                <a:solidFill>
                  <a:prstClr val="black">
                    <a:lumMod val="75000"/>
                    <a:lumOff val="25000"/>
                  </a:prstClr>
                </a:solidFill>
                <a:latin typeface="Arial" panose="020B0604020202020204" pitchFamily="34" charset="0"/>
                <a:cs typeface="Arial" panose="020B0604020202020204" pitchFamily="34" charset="0"/>
              </a:rPr>
              <a:t>The output may degrade to such a level, which will be treated as low level. So we need to prevent this.</a:t>
            </a:r>
            <a:endParaRPr lang="en-IN" dirty="0"/>
          </a:p>
        </p:txBody>
      </p:sp>
      <p:sp>
        <p:nvSpPr>
          <p:cNvPr id="4" name="Footer Placeholder 3">
            <a:extLst>
              <a:ext uri="{FF2B5EF4-FFF2-40B4-BE49-F238E27FC236}">
                <a16:creationId xmlns:a16="http://schemas.microsoft.com/office/drawing/2014/main" id="{0BDF5F66-0BA3-4425-9D11-CA2402116196}"/>
              </a:ext>
            </a:extLst>
          </p:cNvPr>
          <p:cNvSpPr>
            <a:spLocks noGrp="1"/>
          </p:cNvSpPr>
          <p:nvPr>
            <p:ph type="ftr" sz="quarter" idx="11"/>
          </p:nvPr>
        </p:nvSpPr>
        <p:spPr>
          <a:xfrm>
            <a:off x="1544320" y="6139822"/>
            <a:ext cx="8664891" cy="361111"/>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6" name="Picture 5">
            <a:extLst>
              <a:ext uri="{FF2B5EF4-FFF2-40B4-BE49-F238E27FC236}">
                <a16:creationId xmlns:a16="http://schemas.microsoft.com/office/drawing/2014/main" id="{F216798D-6EAC-4A4A-981E-621BA9F7DA7E}"/>
              </a:ext>
            </a:extLst>
          </p:cNvPr>
          <p:cNvPicPr>
            <a:picLocks noChangeAspect="1"/>
          </p:cNvPicPr>
          <p:nvPr/>
        </p:nvPicPr>
        <p:blipFill>
          <a:blip r:embed="rId2" cstate="print"/>
          <a:stretch>
            <a:fillRect/>
          </a:stretch>
        </p:blipFill>
        <p:spPr>
          <a:xfrm>
            <a:off x="6809362" y="3432698"/>
            <a:ext cx="4905983" cy="3308570"/>
          </a:xfrm>
          <a:prstGeom prst="rect">
            <a:avLst/>
          </a:prstGeom>
        </p:spPr>
      </p:pic>
    </p:spTree>
    <p:extLst>
      <p:ext uri="{BB962C8B-B14F-4D97-AF65-F5344CB8AC3E}">
        <p14:creationId xmlns:p14="http://schemas.microsoft.com/office/powerpoint/2010/main" val="1152764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450CC-39A2-4FA7-A62D-A4863B9AF3DB}"/>
              </a:ext>
            </a:extLst>
          </p:cNvPr>
          <p:cNvSpPr>
            <a:spLocks noGrp="1"/>
          </p:cNvSpPr>
          <p:nvPr>
            <p:ph type="title"/>
          </p:nvPr>
        </p:nvSpPr>
        <p:spPr>
          <a:xfrm>
            <a:off x="1686561" y="624110"/>
            <a:ext cx="9818052" cy="940530"/>
          </a:xfrm>
        </p:spPr>
        <p:txBody>
          <a:bodyPr/>
          <a:lstStyle/>
          <a:p>
            <a:r>
              <a:rPr lang="en-US" sz="3200" dirty="0">
                <a:solidFill>
                  <a:prstClr val="black">
                    <a:lumMod val="85000"/>
                    <a:lumOff val="15000"/>
                  </a:prstClr>
                </a:solidFill>
                <a:latin typeface="Arial" panose="020B0604020202020204" pitchFamily="34" charset="0"/>
                <a:cs typeface="Arial" panose="020B0604020202020204" pitchFamily="34" charset="0"/>
              </a:rPr>
              <a:t>Continue…..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040A21-9C6B-4D41-81DB-64FEEDFA8834}"/>
                  </a:ext>
                </a:extLst>
              </p:cNvPr>
              <p:cNvSpPr>
                <a:spLocks noGrp="1"/>
              </p:cNvSpPr>
              <p:nvPr>
                <p:ph idx="1"/>
              </p:nvPr>
            </p:nvSpPr>
            <p:spPr>
              <a:xfrm>
                <a:off x="1137920" y="1564640"/>
                <a:ext cx="10576560" cy="4460240"/>
              </a:xfrm>
            </p:spPr>
            <p:txBody>
              <a:bodyPr>
                <a:normAutofit lnSpcReduction="10000"/>
              </a:bodyPr>
              <a:lstStyle/>
              <a:p>
                <a:r>
                  <a:rPr lang="en-US" dirty="0">
                    <a:solidFill>
                      <a:prstClr val="black">
                        <a:lumMod val="75000"/>
                        <a:lumOff val="25000"/>
                      </a:prstClr>
                    </a:solidFill>
                    <a:latin typeface="Arial" panose="020B0604020202020204" pitchFamily="34" charset="0"/>
                    <a:cs typeface="Arial" panose="020B0604020202020204" pitchFamily="34" charset="0"/>
                  </a:rPr>
                  <a:t>The</a:t>
                </a:r>
                <a:r>
                  <a:rPr lang="en-US" dirty="0">
                    <a:latin typeface="Arial" panose="020B0604020202020204" pitchFamily="34" charset="0"/>
                    <a:cs typeface="Arial" panose="020B0604020202020204" pitchFamily="34" charset="0"/>
                  </a:rPr>
                  <a:t> leakage current is expressed  by the diode equation – </a:t>
                </a:r>
                <a14:m>
                  <m:oMath xmlns:m="http://schemas.openxmlformats.org/officeDocument/2006/math">
                    <m:sSub>
                      <m:sSubPr>
                        <m:ctrlPr>
                          <a:rPr lang="en-IN" sz="2800" i="1">
                            <a:latin typeface="Cambria Math" panose="02040503050406030204" pitchFamily="18" charset="0"/>
                            <a:cs typeface="Arial" panose="020B0604020202020204" pitchFamily="34" charset="0"/>
                          </a:rPr>
                        </m:ctrlPr>
                      </m:sSubPr>
                      <m:e>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𝐼</m:t>
                        </m:r>
                      </m:e>
                      <m:sub>
                        <m:r>
                          <a:rPr lang="en-US" sz="2800" i="1">
                            <a:latin typeface="Cambria Math" panose="02040503050406030204" pitchFamily="18" charset="0"/>
                            <a:cs typeface="Arial" panose="020B0604020202020204" pitchFamily="34" charset="0"/>
                          </a:rPr>
                          <m:t>𝐷</m:t>
                        </m:r>
                      </m:sub>
                    </m:sSub>
                  </m:oMath>
                </a14:m>
                <a:r>
                  <a:rPr lang="en-IN" sz="2800" dirty="0">
                    <a:latin typeface="Arial" panose="020B0604020202020204" pitchFamily="34" charset="0"/>
                    <a:cs typeface="Arial" panose="020B0604020202020204" pitchFamily="34" charset="0"/>
                  </a:rPr>
                  <a:t>= </a:t>
                </a:r>
                <a14:m>
                  <m:oMath xmlns:m="http://schemas.openxmlformats.org/officeDocument/2006/math">
                    <m:sSub>
                      <m:sSubPr>
                        <m:ctrlPr>
                          <a:rPr lang="en-IN" sz="2800" i="1">
                            <a:latin typeface="Cambria Math" panose="02040503050406030204" pitchFamily="18" charset="0"/>
                            <a:cs typeface="Arial" panose="020B0604020202020204" pitchFamily="34" charset="0"/>
                          </a:rPr>
                        </m:ctrlPr>
                      </m:sSubPr>
                      <m:e>
                        <m:r>
                          <a:rPr lang="en-US" sz="2800" i="1">
                            <a:latin typeface="Cambria Math" panose="02040503050406030204" pitchFamily="18" charset="0"/>
                            <a:cs typeface="Arial" panose="020B0604020202020204" pitchFamily="34" charset="0"/>
                          </a:rPr>
                          <m:t>𝐼</m:t>
                        </m:r>
                      </m:e>
                      <m:sub>
                        <m:r>
                          <a:rPr lang="en-US" sz="2800" i="1">
                            <a:latin typeface="Cambria Math" panose="02040503050406030204" pitchFamily="18" charset="0"/>
                            <a:cs typeface="Arial" panose="020B0604020202020204" pitchFamily="34" charset="0"/>
                          </a:rPr>
                          <m:t>𝑆</m:t>
                        </m:r>
                      </m:sub>
                    </m:sSub>
                  </m:oMath>
                </a14:m>
                <a:r>
                  <a:rPr lang="en-IN" sz="2800" dirty="0">
                    <a:latin typeface="Arial" panose="020B0604020202020204" pitchFamily="34" charset="0"/>
                    <a:cs typeface="Arial" panose="020B0604020202020204" pitchFamily="34" charset="0"/>
                  </a:rPr>
                  <a:t> ( e</a:t>
                </a:r>
                <a:r>
                  <a:rPr lang="en-IN" sz="2800" baseline="30000" dirty="0">
                    <a:latin typeface="Arial" panose="020B0604020202020204" pitchFamily="34" charset="0"/>
                    <a:cs typeface="Arial" panose="020B0604020202020204" pitchFamily="34" charset="0"/>
                  </a:rPr>
                  <a:t>-qv/KT </a:t>
                </a:r>
                <a14:m>
                  <m:oMath xmlns:m="http://schemas.openxmlformats.org/officeDocument/2006/math">
                    <m:r>
                      <a:rPr lang="en-US" sz="2800">
                        <a:latin typeface="Cambria Math" panose="02040503050406030204" pitchFamily="18" charset="0"/>
                        <a:cs typeface="Arial" panose="020B0604020202020204" pitchFamily="34" charset="0"/>
                      </a:rPr>
                      <m:t>−</m:t>
                    </m:r>
                    <m:r>
                      <a:rPr lang="en-US" sz="2800" i="1">
                        <a:latin typeface="Cambria Math" panose="02040503050406030204" pitchFamily="18" charset="0"/>
                        <a:cs typeface="Arial" panose="020B0604020202020204" pitchFamily="34" charset="0"/>
                      </a:rPr>
                      <m:t>1)</m:t>
                    </m:r>
                  </m:oMath>
                </a14:m>
                <a:endParaRPr lang="en-US" sz="2800"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a:p>
                <a:r>
                  <a:rPr lang="en-IN" sz="2800" baseline="30000" dirty="0">
                    <a:latin typeface="Arial" panose="020B0604020202020204" pitchFamily="34" charset="0"/>
                    <a:cs typeface="Arial" panose="020B0604020202020204" pitchFamily="34" charset="0"/>
                  </a:rPr>
                  <a:t>Here is the reverse saturation current, V=diode voltage, q =electronic charge, (</a:t>
                </a:r>
                <a:r>
                  <a:rPr lang="en-IN" dirty="0">
                    <a:latin typeface="Arial" panose="020B0604020202020204" pitchFamily="34" charset="0"/>
                    <a:cs typeface="Arial" panose="020B0604020202020204" pitchFamily="34" charset="0"/>
                  </a:rPr>
                  <a:t>1.60217662 × 10</a:t>
                </a:r>
                <a:r>
                  <a:rPr lang="en-IN" baseline="30000" dirty="0">
                    <a:latin typeface="Arial" panose="020B0604020202020204" pitchFamily="34" charset="0"/>
                    <a:cs typeface="Arial" panose="020B0604020202020204" pitchFamily="34" charset="0"/>
                  </a:rPr>
                  <a:t>-19</a:t>
                </a:r>
                <a:r>
                  <a:rPr lang="en-IN" dirty="0">
                    <a:latin typeface="Arial" panose="020B0604020202020204" pitchFamily="34" charset="0"/>
                    <a:cs typeface="Arial" panose="020B0604020202020204" pitchFamily="34" charset="0"/>
                  </a:rPr>
                  <a:t> coulombs</a:t>
                </a:r>
                <a:r>
                  <a:rPr lang="en-IN" baseline="30000" dirty="0">
                    <a:latin typeface="Arial" panose="020B0604020202020204" pitchFamily="34" charset="0"/>
                    <a:cs typeface="Arial" panose="020B0604020202020204" pitchFamily="34" charset="0"/>
                  </a:rPr>
                  <a:t> )   </a:t>
                </a:r>
                <a:r>
                  <a:rPr lang="en-IN" sz="2800" baseline="30000" dirty="0">
                    <a:solidFill>
                      <a:prstClr val="black">
                        <a:lumMod val="75000"/>
                        <a:lumOff val="25000"/>
                      </a:prstClr>
                    </a:solidFill>
                    <a:latin typeface="Arial" panose="020B0604020202020204" pitchFamily="34" charset="0"/>
                    <a:cs typeface="Arial" panose="020B0604020202020204" pitchFamily="34" charset="0"/>
                  </a:rPr>
                  <a:t>K = Boltzmann  constant (</a:t>
                </a:r>
                <a:r>
                  <a:rPr lang="en-IN" dirty="0">
                    <a:latin typeface="Arial" panose="020B0604020202020204" pitchFamily="34" charset="0"/>
                    <a:cs typeface="Arial" panose="020B0604020202020204" pitchFamily="34" charset="0"/>
                  </a:rPr>
                  <a:t>1.38064852 × 10</a:t>
                </a:r>
                <a:r>
                  <a:rPr lang="en-IN" baseline="30000" dirty="0">
                    <a:latin typeface="Arial" panose="020B0604020202020204" pitchFamily="34" charset="0"/>
                    <a:cs typeface="Arial" panose="020B0604020202020204" pitchFamily="34" charset="0"/>
                  </a:rPr>
                  <a:t>-23</a:t>
                </a:r>
                <a:r>
                  <a:rPr lang="en-IN" dirty="0">
                    <a:latin typeface="Arial" panose="020B0604020202020204" pitchFamily="34" charset="0"/>
                    <a:cs typeface="Arial" panose="020B0604020202020204" pitchFamily="34" charset="0"/>
                  </a:rPr>
                  <a:t> J/K</a:t>
                </a:r>
                <a:r>
                  <a:rPr lang="en-IN" sz="2800" baseline="30000" dirty="0"/>
                  <a:t>), </a:t>
                </a:r>
                <a:r>
                  <a:rPr lang="en-IN" sz="2800" baseline="30000" dirty="0">
                    <a:latin typeface="Arial" panose="020B0604020202020204" pitchFamily="34" charset="0"/>
                    <a:cs typeface="Arial" panose="020B0604020202020204" pitchFamily="34" charset="0"/>
                  </a:rPr>
                  <a:t>T = Temperature in Kelvin</a:t>
                </a:r>
                <a:r>
                  <a:rPr lang="en-IN" sz="2800" baseline="30000" dirty="0"/>
                  <a:t>.  </a:t>
                </a:r>
              </a:p>
              <a:p>
                <a:endParaRPr lang="en-IN" sz="2800" baseline="30000" dirty="0"/>
              </a:p>
              <a:p>
                <a:r>
                  <a:rPr lang="en-IN" sz="2800" baseline="30000" dirty="0">
                    <a:latin typeface="Arial" panose="020B0604020202020204" pitchFamily="34" charset="0"/>
                    <a:cs typeface="Arial" panose="020B0604020202020204" pitchFamily="34" charset="0"/>
                  </a:rPr>
                  <a:t>The current is in the range 0.1nA to 0.5nA per device at room temperature.</a:t>
                </a:r>
              </a:p>
              <a:p>
                <a:r>
                  <a:rPr lang="en-IN" sz="2800" baseline="30000" dirty="0">
                    <a:latin typeface="Arial" panose="020B0604020202020204" pitchFamily="34" charset="0"/>
                    <a:cs typeface="Arial" panose="020B0604020202020204" pitchFamily="34" charset="0"/>
                  </a:rPr>
                  <a:t>This needs to be compensated by refreshing at regular intervals. </a:t>
                </a:r>
              </a:p>
              <a:p>
                <a:r>
                  <a:rPr lang="en-IN" sz="2800" baseline="30000" dirty="0">
                    <a:latin typeface="Arial" panose="020B0604020202020204" pitchFamily="34" charset="0"/>
                    <a:cs typeface="Arial" panose="020B0604020202020204" pitchFamily="34" charset="0"/>
                  </a:rPr>
                  <a:t>There will be some sub-threshold leakage current  </a:t>
                </a:r>
              </a:p>
              <a:p>
                <a:r>
                  <a:rPr lang="en-IN" sz="2800" b="1" baseline="30000" dirty="0">
                    <a:solidFill>
                      <a:srgbClr val="FF0000"/>
                    </a:solidFill>
                    <a:latin typeface="Arial" panose="020B0604020202020204" pitchFamily="34" charset="0"/>
                    <a:cs typeface="Arial" panose="020B0604020202020204" pitchFamily="34" charset="0"/>
                  </a:rPr>
                  <a:t>Solution </a:t>
                </a:r>
                <a:r>
                  <a:rPr lang="en-IN" sz="2800" baseline="30000" dirty="0">
                    <a:latin typeface="Arial" panose="020B0604020202020204" pitchFamily="34" charset="0"/>
                    <a:cs typeface="Arial" panose="020B0604020202020204" pitchFamily="34" charset="0"/>
                  </a:rPr>
                  <a:t>– </a:t>
                </a:r>
              </a:p>
              <a:p>
                <a:r>
                  <a:rPr lang="en-IN" sz="2800" baseline="30000" dirty="0">
                    <a:latin typeface="Arial" panose="020B0604020202020204" pitchFamily="34" charset="0"/>
                    <a:cs typeface="Arial" panose="020B0604020202020204" pitchFamily="34" charset="0"/>
                  </a:rPr>
                  <a:t>High V</a:t>
                </a:r>
                <a:r>
                  <a:rPr lang="en-IN" sz="2800" baseline="-25000" dirty="0">
                    <a:latin typeface="Arial" panose="020B0604020202020204" pitchFamily="34" charset="0"/>
                    <a:cs typeface="Arial" panose="020B0604020202020204" pitchFamily="34" charset="0"/>
                  </a:rPr>
                  <a:t>t  </a:t>
                </a:r>
                <a:r>
                  <a:rPr lang="en-IN" sz="2800" baseline="30000" dirty="0">
                    <a:latin typeface="Arial" panose="020B0604020202020204" pitchFamily="34" charset="0"/>
                    <a:cs typeface="Arial" panose="020B0604020202020204" pitchFamily="34" charset="0"/>
                  </a:rPr>
                  <a:t>transistor</a:t>
                </a:r>
              </a:p>
              <a:p>
                <a:r>
                  <a:rPr lang="en-IN" sz="2800" baseline="30000" dirty="0">
                    <a:latin typeface="Arial" panose="020B0604020202020204" pitchFamily="34" charset="0"/>
                    <a:cs typeface="Arial" panose="020B0604020202020204" pitchFamily="34" charset="0"/>
                  </a:rPr>
                  <a:t>Use weak </a:t>
                </a:r>
                <a:r>
                  <a:rPr lang="en-IN" sz="2800" baseline="30000">
                    <a:latin typeface="Arial" panose="020B0604020202020204" pitchFamily="34" charset="0"/>
                    <a:cs typeface="Arial" panose="020B0604020202020204" pitchFamily="34" charset="0"/>
                  </a:rPr>
                  <a:t>PMOS transistor.</a:t>
                </a:r>
                <a:endParaRPr lang="en-IN" baseline="-25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4="http://schemas.microsoft.com/office/drawing/2010/main" xmlns="" xmlns:a16="http://schemas.microsoft.com/office/drawing/2014/main" id="{16040A21-9C6B-4D41-81DB-64FEEDFA8834}"/>
                  </a:ext>
                </a:extLst>
              </p:cNvPr>
              <p:cNvSpPr>
                <a:spLocks noGrp="1" noRot="1" noChangeAspect="1" noMove="1" noResize="1" noEditPoints="1" noAdjustHandles="1" noChangeArrowheads="1" noChangeShapeType="1" noTextEdit="1"/>
              </p:cNvSpPr>
              <p:nvPr>
                <p:ph idx="1"/>
              </p:nvPr>
            </p:nvSpPr>
            <p:spPr>
              <a:xfrm>
                <a:off x="1137920" y="1564640"/>
                <a:ext cx="10576560" cy="4460240"/>
              </a:xfrm>
              <a:blipFill>
                <a:blip r:embed="rId2" cstate="print"/>
                <a:stretch>
                  <a:fillRect l="-1095" t="-2462" b="-684"/>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B06DD7E6-4B55-4E02-B517-68D12727604D}"/>
              </a:ext>
            </a:extLst>
          </p:cNvPr>
          <p:cNvSpPr>
            <a:spLocks noGrp="1"/>
          </p:cNvSpPr>
          <p:nvPr>
            <p:ph type="ftr" sz="quarter" idx="11"/>
          </p:nvPr>
        </p:nvSpPr>
        <p:spPr>
          <a:xfrm>
            <a:off x="1686560" y="6139822"/>
            <a:ext cx="8522651" cy="361111"/>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935528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A5747-7028-492C-BE1E-A20B6CD25AE6}"/>
              </a:ext>
            </a:extLst>
          </p:cNvPr>
          <p:cNvSpPr>
            <a:spLocks noGrp="1"/>
          </p:cNvSpPr>
          <p:nvPr>
            <p:ph type="title"/>
          </p:nvPr>
        </p:nvSpPr>
        <p:spPr>
          <a:xfrm>
            <a:off x="1899921" y="624110"/>
            <a:ext cx="9604692" cy="807384"/>
          </a:xfrm>
        </p:spPr>
        <p:txBody>
          <a:bodyPr/>
          <a:lstStyle/>
          <a:p>
            <a:r>
              <a:rPr lang="en-US" sz="3200" b="1" dirty="0">
                <a:solidFill>
                  <a:prstClr val="black">
                    <a:lumMod val="85000"/>
                    <a:lumOff val="15000"/>
                  </a:prstClr>
                </a:solidFill>
              </a:rPr>
              <a:t>C</a:t>
            </a:r>
            <a:r>
              <a:rPr lang="en-IN" sz="3200" b="1" dirty="0" err="1">
                <a:solidFill>
                  <a:prstClr val="black">
                    <a:lumMod val="85000"/>
                    <a:lumOff val="15000"/>
                  </a:prstClr>
                </a:solidFill>
              </a:rPr>
              <a:t>harge</a:t>
            </a:r>
            <a:r>
              <a:rPr lang="en-IN" sz="3200" b="1" dirty="0">
                <a:solidFill>
                  <a:prstClr val="black">
                    <a:lumMod val="85000"/>
                    <a:lumOff val="15000"/>
                  </a:prstClr>
                </a:solidFill>
              </a:rPr>
              <a:t> sharing Problem</a:t>
            </a:r>
            <a:endParaRPr lang="en-IN" dirty="0"/>
          </a:p>
        </p:txBody>
      </p:sp>
      <p:sp>
        <p:nvSpPr>
          <p:cNvPr id="3" name="Content Placeholder 2">
            <a:extLst>
              <a:ext uri="{FF2B5EF4-FFF2-40B4-BE49-F238E27FC236}">
                <a16:creationId xmlns:a16="http://schemas.microsoft.com/office/drawing/2014/main" id="{661ED1FC-6114-465D-BE55-37E3BFF1E8FE}"/>
              </a:ext>
            </a:extLst>
          </p:cNvPr>
          <p:cNvSpPr>
            <a:spLocks noGrp="1"/>
          </p:cNvSpPr>
          <p:nvPr>
            <p:ph idx="1"/>
          </p:nvPr>
        </p:nvSpPr>
        <p:spPr>
          <a:xfrm>
            <a:off x="687387" y="1431494"/>
            <a:ext cx="10701972" cy="4479728"/>
          </a:xfrm>
        </p:spPr>
        <p:txBody>
          <a:bodyPr/>
          <a:lstStyle/>
          <a:p>
            <a:r>
              <a:rPr lang="en-US" dirty="0">
                <a:latin typeface="Arial" panose="020B0604020202020204" pitchFamily="34" charset="0"/>
                <a:cs typeface="Arial" panose="020B0604020202020204" pitchFamily="34" charset="0"/>
              </a:rPr>
              <a:t>In Pre-charging phase  load capacitor (</a:t>
            </a:r>
            <a:r>
              <a:rPr lang="en-US" b="1" dirty="0">
                <a:latin typeface="Arial" panose="020B0604020202020204" pitchFamily="34" charset="0"/>
                <a:cs typeface="Arial" panose="020B0604020202020204" pitchFamily="34" charset="0"/>
              </a:rPr>
              <a:t>C</a:t>
            </a:r>
            <a:r>
              <a:rPr lang="en-US" b="1" baseline="-25000" dirty="0">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is charge to </a:t>
            </a:r>
            <a:r>
              <a:rPr lang="en-US" b="1" dirty="0" err="1"/>
              <a:t>V</a:t>
            </a:r>
            <a:r>
              <a:rPr lang="en-US" b="1" baseline="-25000" dirty="0" err="1"/>
              <a:t>dd</a:t>
            </a:r>
            <a:r>
              <a:rPr lang="en-US" b="1" baseline="-25000" dirty="0"/>
              <a:t> </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So the total charge </a:t>
            </a:r>
            <a:r>
              <a:rPr lang="en-US" b="1" dirty="0">
                <a:solidFill>
                  <a:prstClr val="black">
                    <a:lumMod val="75000"/>
                    <a:lumOff val="25000"/>
                  </a:prstClr>
                </a:solidFill>
                <a:latin typeface="Arial" panose="020B0604020202020204" pitchFamily="34" charset="0"/>
                <a:cs typeface="Arial" panose="020B0604020202020204" pitchFamily="34" charset="0"/>
              </a:rPr>
              <a:t>Q = V</a:t>
            </a:r>
            <a:r>
              <a:rPr lang="en-US" b="1" baseline="-25000" dirty="0">
                <a:solidFill>
                  <a:prstClr val="black">
                    <a:lumMod val="75000"/>
                    <a:lumOff val="25000"/>
                  </a:prstClr>
                </a:solidFill>
                <a:latin typeface="Arial" panose="020B0604020202020204" pitchFamily="34" charset="0"/>
                <a:cs typeface="Arial" panose="020B0604020202020204" pitchFamily="34" charset="0"/>
              </a:rPr>
              <a:t>dd.</a:t>
            </a:r>
            <a:r>
              <a:rPr lang="en-US" b="1" dirty="0">
                <a:solidFill>
                  <a:prstClr val="black">
                    <a:lumMod val="75000"/>
                    <a:lumOff val="25000"/>
                  </a:prstClr>
                </a:solidFill>
                <a:latin typeface="Arial" panose="020B0604020202020204" pitchFamily="34" charset="0"/>
                <a:cs typeface="Arial" panose="020B0604020202020204" pitchFamily="34" charset="0"/>
              </a:rPr>
              <a:t>C</a:t>
            </a:r>
            <a:r>
              <a:rPr lang="en-US" b="1" baseline="-25000" dirty="0">
                <a:solidFill>
                  <a:prstClr val="black">
                    <a:lumMod val="75000"/>
                    <a:lumOff val="25000"/>
                  </a:prstClr>
                </a:solidFill>
                <a:latin typeface="Arial" panose="020B0604020202020204" pitchFamily="34" charset="0"/>
                <a:cs typeface="Arial" panose="020B0604020202020204" pitchFamily="34" charset="0"/>
              </a:rPr>
              <a:t>L.</a:t>
            </a:r>
            <a:endParaRPr lang="en-IN" b="1" baseline="-25000" dirty="0"/>
          </a:p>
          <a:p>
            <a:endParaRPr lang="en-US" dirty="0">
              <a:solidFill>
                <a:prstClr val="black">
                  <a:lumMod val="75000"/>
                  <a:lumOff val="25000"/>
                </a:prstClr>
              </a:solidFill>
              <a:latin typeface="Arial" panose="020B0604020202020204" pitchFamily="34" charset="0"/>
              <a:cs typeface="Arial" panose="020B0604020202020204" pitchFamily="34" charset="0"/>
            </a:endParaRPr>
          </a:p>
          <a:p>
            <a:r>
              <a:rPr lang="en-US" dirty="0">
                <a:solidFill>
                  <a:prstClr val="black">
                    <a:lumMod val="75000"/>
                    <a:lumOff val="25000"/>
                  </a:prstClr>
                </a:solidFill>
                <a:latin typeface="Arial" panose="020B0604020202020204" pitchFamily="34" charset="0"/>
                <a:cs typeface="Arial" panose="020B0604020202020204" pitchFamily="34" charset="0"/>
              </a:rPr>
              <a:t>In Evaluation  phase if ABC = 111  then </a:t>
            </a:r>
            <a:r>
              <a:rPr lang="en-US" b="1" dirty="0">
                <a:latin typeface="Arial" panose="020B0604020202020204" pitchFamily="34" charset="0"/>
                <a:cs typeface="Arial" panose="020B0604020202020204" pitchFamily="34" charset="0"/>
              </a:rPr>
              <a:t>C</a:t>
            </a:r>
            <a:r>
              <a:rPr lang="en-US" b="1" baseline="-25000" dirty="0">
                <a:latin typeface="Arial" panose="020B0604020202020204" pitchFamily="34" charset="0"/>
                <a:cs typeface="Arial" panose="020B0604020202020204" pitchFamily="34" charset="0"/>
              </a:rPr>
              <a:t>L </a:t>
            </a:r>
            <a:r>
              <a:rPr lang="en-US" dirty="0">
                <a:solidFill>
                  <a:prstClr val="black">
                    <a:lumMod val="75000"/>
                    <a:lumOff val="25000"/>
                  </a:prstClr>
                </a:solidFill>
                <a:latin typeface="Arial" panose="020B0604020202020204" pitchFamily="34" charset="0"/>
                <a:cs typeface="Arial" panose="020B0604020202020204" pitchFamily="34" charset="0"/>
              </a:rPr>
              <a:t>will  discharge to ‘0’ </a:t>
            </a:r>
          </a:p>
          <a:p>
            <a:endParaRPr lang="en-US" dirty="0">
              <a:solidFill>
                <a:prstClr val="black">
                  <a:lumMod val="75000"/>
                  <a:lumOff val="25000"/>
                </a:prstClr>
              </a:solidFill>
              <a:latin typeface="Arial" panose="020B0604020202020204" pitchFamily="34" charset="0"/>
              <a:cs typeface="Arial" panose="020B0604020202020204" pitchFamily="34" charset="0"/>
            </a:endParaRPr>
          </a:p>
          <a:p>
            <a:r>
              <a:rPr lang="en-US" dirty="0">
                <a:solidFill>
                  <a:prstClr val="black">
                    <a:lumMod val="75000"/>
                    <a:lumOff val="25000"/>
                  </a:prstClr>
                </a:solidFill>
                <a:latin typeface="Arial" panose="020B0604020202020204" pitchFamily="34" charset="0"/>
                <a:cs typeface="Arial" panose="020B0604020202020204" pitchFamily="34" charset="0"/>
              </a:rPr>
              <a:t>If input is ABC = 110 , then after redistribution of charge the out node </a:t>
            </a:r>
          </a:p>
          <a:p>
            <a:pPr marL="0" indent="0">
              <a:buNone/>
            </a:pPr>
            <a:r>
              <a:rPr lang="en-US" b="1" baseline="-25000" dirty="0">
                <a:solidFill>
                  <a:prstClr val="black">
                    <a:lumMod val="75000"/>
                    <a:lumOff val="25000"/>
                  </a:prstClr>
                </a:solidFill>
                <a:latin typeface="Arial" panose="020B0604020202020204" pitchFamily="34" charset="0"/>
                <a:cs typeface="Arial" panose="020B0604020202020204" pitchFamily="34" charset="0"/>
              </a:rPr>
              <a:t>         </a:t>
            </a:r>
            <a:r>
              <a:rPr lang="en-US" dirty="0">
                <a:solidFill>
                  <a:prstClr val="black">
                    <a:lumMod val="75000"/>
                    <a:lumOff val="25000"/>
                  </a:prstClr>
                </a:solidFill>
                <a:latin typeface="Arial" panose="020B0604020202020204" pitchFamily="34" charset="0"/>
                <a:cs typeface="Arial" panose="020B0604020202020204" pitchFamily="34" charset="0"/>
              </a:rPr>
              <a:t>will attain  the value suppose  V</a:t>
            </a:r>
            <a:r>
              <a:rPr lang="en-US" b="1" baseline="-25000" dirty="0">
                <a:latin typeface="Arial" panose="020B0604020202020204" pitchFamily="34" charset="0"/>
                <a:cs typeface="Arial" panose="020B0604020202020204" pitchFamily="34" charset="0"/>
              </a:rPr>
              <a:t>A </a:t>
            </a:r>
            <a:endParaRPr lang="en-US" b="1" baseline="-25000" dirty="0"/>
          </a:p>
        </p:txBody>
      </p:sp>
      <p:sp>
        <p:nvSpPr>
          <p:cNvPr id="4" name="Footer Placeholder 3">
            <a:extLst>
              <a:ext uri="{FF2B5EF4-FFF2-40B4-BE49-F238E27FC236}">
                <a16:creationId xmlns:a16="http://schemas.microsoft.com/office/drawing/2014/main" id="{9B6AA1C3-53B6-476E-BF37-13EA133946BF}"/>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a:extLst>
              <a:ext uri="{FF2B5EF4-FFF2-40B4-BE49-F238E27FC236}">
                <a16:creationId xmlns:a16="http://schemas.microsoft.com/office/drawing/2014/main" id="{EAFF0451-10FE-4A57-8EE5-B3731A3697FF}"/>
              </a:ext>
            </a:extLst>
          </p:cNvPr>
          <p:cNvPicPr>
            <a:picLocks noChangeAspect="1"/>
          </p:cNvPicPr>
          <p:nvPr/>
        </p:nvPicPr>
        <p:blipFill>
          <a:blip r:embed="rId2" cstate="print"/>
          <a:stretch>
            <a:fillRect/>
          </a:stretch>
        </p:blipFill>
        <p:spPr>
          <a:xfrm>
            <a:off x="9349880" y="288299"/>
            <a:ext cx="2595600" cy="6281401"/>
          </a:xfrm>
          <a:prstGeom prst="rect">
            <a:avLst/>
          </a:prstGeom>
        </p:spPr>
      </p:pic>
    </p:spTree>
    <p:extLst>
      <p:ext uri="{BB962C8B-B14F-4D97-AF65-F5344CB8AC3E}">
        <p14:creationId xmlns:p14="http://schemas.microsoft.com/office/powerpoint/2010/main" val="1345875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6DFCE-0AC9-4064-8980-0F8579036F54}"/>
              </a:ext>
            </a:extLst>
          </p:cNvPr>
          <p:cNvSpPr>
            <a:spLocks noGrp="1"/>
          </p:cNvSpPr>
          <p:nvPr>
            <p:ph type="title"/>
          </p:nvPr>
        </p:nvSpPr>
        <p:spPr>
          <a:xfrm>
            <a:off x="1778001" y="624110"/>
            <a:ext cx="972661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Continue…..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BD3E89-96BE-4B31-BDC6-16A25C748DFB}"/>
                  </a:ext>
                </a:extLst>
              </p:cNvPr>
              <p:cNvSpPr>
                <a:spLocks noGrp="1"/>
              </p:cNvSpPr>
              <p:nvPr>
                <p:ph idx="1"/>
              </p:nvPr>
            </p:nvSpPr>
            <p:spPr>
              <a:xfrm>
                <a:off x="1209040" y="1442720"/>
                <a:ext cx="10295572" cy="4693088"/>
              </a:xfrm>
            </p:spPr>
            <p:txBody>
              <a:bodyPr/>
              <a:lstStyle/>
              <a:p>
                <a:r>
                  <a:rPr lang="en-IN" dirty="0">
                    <a:latin typeface="Arial" panose="020B0604020202020204" pitchFamily="34" charset="0"/>
                    <a:cs typeface="Arial" panose="020B0604020202020204" pitchFamily="34" charset="0"/>
                  </a:rPr>
                  <a:t>According to law of conservation , the total charge will remain same , but it get distributed </a:t>
                </a:r>
              </a:p>
              <a:p>
                <a:endParaRPr lang="en-IN" dirty="0">
                  <a:latin typeface="Arial" panose="020B0604020202020204" pitchFamily="34" charset="0"/>
                  <a:cs typeface="Arial" panose="020B0604020202020204" pitchFamily="34" charset="0"/>
                </a:endParaRPr>
              </a:p>
              <a:p>
                <a14:m>
                  <m:oMath xmlns:m="http://schemas.openxmlformats.org/officeDocument/2006/math">
                    <m:sSub>
                      <m:sSubPr>
                        <m:ctrlPr>
                          <a:rPr lang="en-IN" sz="2400" i="1" smtClean="0">
                            <a:latin typeface="Cambria Math" panose="02040503050406030204" pitchFamily="18" charset="0"/>
                            <a:cs typeface="Arial" panose="020B0604020202020204" pitchFamily="34" charset="0"/>
                          </a:rPr>
                        </m:ctrlPr>
                      </m:sSubPr>
                      <m:e>
                        <m:r>
                          <m:rPr>
                            <m:sty m:val="p"/>
                          </m:rPr>
                          <a:rPr lang="en-IN" sz="2400" b="0" i="0" smtClean="0">
                            <a:latin typeface="Cambria Math" panose="02040503050406030204" pitchFamily="18" charset="0"/>
                            <a:cs typeface="Arial" panose="020B0604020202020204" pitchFamily="34" charset="0"/>
                          </a:rPr>
                          <m:t>C</m:t>
                        </m:r>
                      </m:e>
                      <m:sub>
                        <m:r>
                          <m:rPr>
                            <m:sty m:val="p"/>
                          </m:rPr>
                          <a:rPr lang="en-IN" sz="2400" b="0" i="0" smtClean="0">
                            <a:latin typeface="Cambria Math" panose="02040503050406030204" pitchFamily="18" charset="0"/>
                            <a:cs typeface="Arial" panose="020B0604020202020204" pitchFamily="34" charset="0"/>
                          </a:rPr>
                          <m:t>L</m:t>
                        </m:r>
                      </m:sub>
                    </m:sSub>
                    <m:sSub>
                      <m:sSubPr>
                        <m:ctrlPr>
                          <a:rPr lang="en-IN" sz="2400" i="1" smtClean="0">
                            <a:latin typeface="Cambria Math" panose="02040503050406030204" pitchFamily="18" charset="0"/>
                            <a:cs typeface="Arial" panose="020B0604020202020204" pitchFamily="34" charset="0"/>
                          </a:rPr>
                        </m:ctrlPr>
                      </m:sSubPr>
                      <m:e>
                        <m:r>
                          <m:rPr>
                            <m:sty m:val="p"/>
                          </m:rPr>
                          <a:rPr lang="en-IN" sz="2400" b="0" i="0" smtClean="0">
                            <a:latin typeface="Cambria Math" panose="02040503050406030204" pitchFamily="18" charset="0"/>
                            <a:cs typeface="Arial" panose="020B0604020202020204" pitchFamily="34" charset="0"/>
                          </a:rPr>
                          <m:t>V</m:t>
                        </m:r>
                      </m:e>
                      <m:sub>
                        <m:r>
                          <m:rPr>
                            <m:sty m:val="p"/>
                          </m:rPr>
                          <a:rPr lang="en-IN" sz="2400" b="0" i="0" smtClean="0">
                            <a:latin typeface="Cambria Math" panose="02040503050406030204" pitchFamily="18" charset="0"/>
                            <a:cs typeface="Arial" panose="020B0604020202020204" pitchFamily="34" charset="0"/>
                          </a:rPr>
                          <m:t>DD</m:t>
                        </m:r>
                      </m:sub>
                    </m:sSub>
                    <m:r>
                      <a:rPr lang="en-IN" sz="2400" b="0" i="0" smtClean="0">
                        <a:latin typeface="Cambria Math" panose="02040503050406030204" pitchFamily="18" charset="0"/>
                        <a:cs typeface="Arial" panose="020B0604020202020204" pitchFamily="34" charset="0"/>
                      </a:rPr>
                      <m:t>=</m:t>
                    </m:r>
                  </m:oMath>
                </a14:m>
                <a:r>
                  <a:rPr lang="en-IN"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2400" i="1">
                            <a:latin typeface="Cambria Math" panose="02040503050406030204" pitchFamily="18" charset="0"/>
                            <a:cs typeface="Arial" panose="020B0604020202020204" pitchFamily="34" charset="0"/>
                          </a:rPr>
                        </m:ctrlPr>
                      </m:sSubPr>
                      <m:e>
                        <m:r>
                          <m:rPr>
                            <m:sty m:val="p"/>
                          </m:rPr>
                          <a:rPr lang="en-IN" sz="2400" i="0">
                            <a:latin typeface="Cambria Math" panose="02040503050406030204" pitchFamily="18" charset="0"/>
                            <a:cs typeface="Arial" panose="020B0604020202020204" pitchFamily="34" charset="0"/>
                          </a:rPr>
                          <m:t>V</m:t>
                        </m:r>
                      </m:e>
                      <m:sub>
                        <m:r>
                          <m:rPr>
                            <m:sty m:val="p"/>
                          </m:rPr>
                          <a:rPr lang="en-IN" sz="2400" b="0" i="0" smtClean="0">
                            <a:latin typeface="Cambria Math" panose="02040503050406030204" pitchFamily="18" charset="0"/>
                            <a:cs typeface="Arial" panose="020B0604020202020204" pitchFamily="34" charset="0"/>
                          </a:rPr>
                          <m:t>A</m:t>
                        </m:r>
                      </m:sub>
                    </m:sSub>
                  </m:oMath>
                </a14:m>
                <a:r>
                  <a:rPr lang="en-IN" sz="24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IN" sz="2400" i="1">
                            <a:latin typeface="Cambria Math" panose="02040503050406030204" pitchFamily="18" charset="0"/>
                            <a:cs typeface="Arial" panose="020B0604020202020204" pitchFamily="34" charset="0"/>
                          </a:rPr>
                        </m:ctrlPr>
                      </m:sSubPr>
                      <m:e>
                        <m:r>
                          <m:rPr>
                            <m:sty m:val="p"/>
                          </m:rPr>
                          <a:rPr lang="en-IN" sz="2400" i="0">
                            <a:latin typeface="Cambria Math" panose="02040503050406030204" pitchFamily="18" charset="0"/>
                            <a:cs typeface="Arial" panose="020B0604020202020204" pitchFamily="34" charset="0"/>
                          </a:rPr>
                          <m:t>C</m:t>
                        </m:r>
                      </m:e>
                      <m:sub>
                        <m:r>
                          <m:rPr>
                            <m:sty m:val="p"/>
                          </m:rPr>
                          <a:rPr lang="en-IN" sz="2400" b="0" i="0" smtClean="0">
                            <a:latin typeface="Cambria Math" panose="02040503050406030204" pitchFamily="18" charset="0"/>
                            <a:cs typeface="Arial" panose="020B0604020202020204" pitchFamily="34" charset="0"/>
                          </a:rPr>
                          <m:t>L</m:t>
                        </m:r>
                      </m:sub>
                    </m:sSub>
                    <m:r>
                      <a:rPr lang="en-IN" sz="2400" b="0" i="0" smtClean="0">
                        <a:latin typeface="Cambria Math" panose="02040503050406030204" pitchFamily="18" charset="0"/>
                        <a:cs typeface="Arial" panose="020B0604020202020204" pitchFamily="34" charset="0"/>
                      </a:rPr>
                      <m:t>+</m:t>
                    </m:r>
                  </m:oMath>
                </a14:m>
                <a:r>
                  <a:rPr lang="en-IN"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2400" i="1">
                            <a:latin typeface="Cambria Math" panose="02040503050406030204" pitchFamily="18" charset="0"/>
                            <a:cs typeface="Arial" panose="020B0604020202020204" pitchFamily="34" charset="0"/>
                          </a:rPr>
                        </m:ctrlPr>
                      </m:sSubPr>
                      <m:e>
                        <m:r>
                          <m:rPr>
                            <m:sty m:val="p"/>
                          </m:rPr>
                          <a:rPr lang="en-IN" sz="2400" i="0">
                            <a:latin typeface="Cambria Math" panose="02040503050406030204" pitchFamily="18" charset="0"/>
                            <a:cs typeface="Arial" panose="020B0604020202020204" pitchFamily="34" charset="0"/>
                          </a:rPr>
                          <m:t>C</m:t>
                        </m:r>
                      </m:e>
                      <m:sub>
                        <m:r>
                          <a:rPr lang="en-IN" sz="2400" b="0" i="0" smtClean="0">
                            <a:latin typeface="Cambria Math" panose="02040503050406030204" pitchFamily="18" charset="0"/>
                            <a:cs typeface="Arial" panose="020B0604020202020204" pitchFamily="34" charset="0"/>
                          </a:rPr>
                          <m:t>1</m:t>
                        </m:r>
                      </m:sub>
                    </m:sSub>
                    <m:r>
                      <a:rPr lang="en-IN" sz="2400" i="0">
                        <a:latin typeface="Cambria Math" panose="02040503050406030204" pitchFamily="18" charset="0"/>
                        <a:cs typeface="Arial" panose="020B0604020202020204" pitchFamily="34" charset="0"/>
                      </a:rPr>
                      <m:t>+</m:t>
                    </m:r>
                  </m:oMath>
                </a14:m>
                <a:r>
                  <a:rPr lang="en-IN"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2400" i="1">
                            <a:latin typeface="Cambria Math" panose="02040503050406030204" pitchFamily="18" charset="0"/>
                            <a:cs typeface="Arial" panose="020B0604020202020204" pitchFamily="34" charset="0"/>
                          </a:rPr>
                        </m:ctrlPr>
                      </m:sSubPr>
                      <m:e>
                        <m:r>
                          <m:rPr>
                            <m:sty m:val="p"/>
                          </m:rPr>
                          <a:rPr lang="en-IN" sz="2400" i="0">
                            <a:latin typeface="Cambria Math" panose="02040503050406030204" pitchFamily="18" charset="0"/>
                            <a:cs typeface="Arial" panose="020B0604020202020204" pitchFamily="34" charset="0"/>
                          </a:rPr>
                          <m:t>C</m:t>
                        </m:r>
                      </m:e>
                      <m:sub>
                        <m:r>
                          <a:rPr lang="en-IN" sz="2400" b="0" i="0" smtClean="0">
                            <a:latin typeface="Cambria Math" panose="02040503050406030204" pitchFamily="18" charset="0"/>
                            <a:cs typeface="Arial" panose="020B0604020202020204" pitchFamily="34" charset="0"/>
                          </a:rPr>
                          <m:t>2</m:t>
                        </m:r>
                      </m:sub>
                    </m:sSub>
                  </m:oMath>
                </a14:m>
                <a:r>
                  <a:rPr lang="en-IN" sz="2400" dirty="0">
                    <a:latin typeface="Times New Roman" panose="02020603050405020304" pitchFamily="18" charset="0"/>
                    <a:cs typeface="Times New Roman" panose="02020603050405020304" pitchFamily="18" charset="0"/>
                  </a:rPr>
                  <a:t>)  </a:t>
                </a:r>
              </a:p>
              <a:p>
                <a14:m>
                  <m:oMath xmlns:m="http://schemas.openxmlformats.org/officeDocument/2006/math">
                    <m:sSub>
                      <m:sSubPr>
                        <m:ctrlPr>
                          <a:rPr lang="en-IN" sz="2400" i="1">
                            <a:latin typeface="Cambria Math" panose="02040503050406030204" pitchFamily="18" charset="0"/>
                            <a:cs typeface="Arial" panose="020B0604020202020204" pitchFamily="34" charset="0"/>
                          </a:rPr>
                        </m:ctrlPr>
                      </m:sSubPr>
                      <m:e>
                        <m:r>
                          <m:rPr>
                            <m:sty m:val="p"/>
                          </m:rPr>
                          <a:rPr lang="en-IN" sz="2400" i="0">
                            <a:latin typeface="Cambria Math" panose="02040503050406030204" pitchFamily="18" charset="0"/>
                            <a:cs typeface="Arial" panose="020B0604020202020204" pitchFamily="34" charset="0"/>
                          </a:rPr>
                          <m:t>V</m:t>
                        </m:r>
                      </m:e>
                      <m:sub>
                        <m:r>
                          <m:rPr>
                            <m:sty m:val="p"/>
                          </m:rPr>
                          <a:rPr lang="en-IN" sz="2400" i="0">
                            <a:latin typeface="Cambria Math" panose="02040503050406030204" pitchFamily="18" charset="0"/>
                            <a:cs typeface="Arial" panose="020B0604020202020204" pitchFamily="34" charset="0"/>
                          </a:rPr>
                          <m:t>A</m:t>
                        </m:r>
                      </m:sub>
                    </m:sSub>
                    <m:r>
                      <a:rPr lang="en-US" sz="2400" i="0" smtClean="0">
                        <a:latin typeface="Cambria Math" panose="02040503050406030204" pitchFamily="18" charset="0"/>
                        <a:cs typeface="Arial" panose="020B0604020202020204" pitchFamily="34" charset="0"/>
                      </a:rPr>
                      <m:t>=</m:t>
                    </m:r>
                    <m:f>
                      <m:fPr>
                        <m:ctrlPr>
                          <a:rPr lang="en-US" sz="2400" i="1" smtClean="0">
                            <a:latin typeface="Cambria Math" panose="02040503050406030204" pitchFamily="18" charset="0"/>
                            <a:cs typeface="Arial" panose="020B0604020202020204" pitchFamily="34" charset="0"/>
                          </a:rPr>
                        </m:ctrlPr>
                      </m:fPr>
                      <m:num>
                        <m:sSub>
                          <m:sSubPr>
                            <m:ctrlPr>
                              <a:rPr lang="en-IN" sz="2400" i="1">
                                <a:latin typeface="Cambria Math" panose="02040503050406030204" pitchFamily="18" charset="0"/>
                                <a:cs typeface="Arial" panose="020B0604020202020204" pitchFamily="34" charset="0"/>
                              </a:rPr>
                            </m:ctrlPr>
                          </m:sSubPr>
                          <m:e>
                            <m:r>
                              <m:rPr>
                                <m:sty m:val="p"/>
                              </m:rPr>
                              <a:rPr lang="en-IN" sz="2400" i="0">
                                <a:latin typeface="Cambria Math" panose="02040503050406030204" pitchFamily="18" charset="0"/>
                                <a:cs typeface="Arial" panose="020B0604020202020204" pitchFamily="34" charset="0"/>
                              </a:rPr>
                              <m:t>C</m:t>
                            </m:r>
                          </m:e>
                          <m:sub>
                            <m:r>
                              <m:rPr>
                                <m:sty m:val="p"/>
                              </m:rPr>
                              <a:rPr lang="en-IN" sz="2400" i="0">
                                <a:latin typeface="Cambria Math" panose="02040503050406030204" pitchFamily="18" charset="0"/>
                                <a:cs typeface="Arial" panose="020B0604020202020204" pitchFamily="34" charset="0"/>
                              </a:rPr>
                              <m:t>L</m:t>
                            </m:r>
                          </m:sub>
                        </m:sSub>
                        <m:sSub>
                          <m:sSubPr>
                            <m:ctrlPr>
                              <a:rPr lang="en-IN" sz="2400" i="1">
                                <a:latin typeface="Cambria Math" panose="02040503050406030204" pitchFamily="18" charset="0"/>
                                <a:cs typeface="Arial" panose="020B0604020202020204" pitchFamily="34" charset="0"/>
                              </a:rPr>
                            </m:ctrlPr>
                          </m:sSubPr>
                          <m:e>
                            <m:r>
                              <m:rPr>
                                <m:sty m:val="p"/>
                              </m:rPr>
                              <a:rPr lang="en-IN" sz="2400" i="0">
                                <a:latin typeface="Cambria Math" panose="02040503050406030204" pitchFamily="18" charset="0"/>
                                <a:cs typeface="Arial" panose="020B0604020202020204" pitchFamily="34" charset="0"/>
                              </a:rPr>
                              <m:t>V</m:t>
                            </m:r>
                          </m:e>
                          <m:sub>
                            <m:r>
                              <m:rPr>
                                <m:sty m:val="p"/>
                              </m:rPr>
                              <a:rPr lang="en-IN" sz="2400" i="0">
                                <a:latin typeface="Cambria Math" panose="02040503050406030204" pitchFamily="18" charset="0"/>
                                <a:cs typeface="Arial" panose="020B0604020202020204" pitchFamily="34" charset="0"/>
                              </a:rPr>
                              <m:t>DD</m:t>
                            </m:r>
                          </m:sub>
                        </m:sSub>
                      </m:num>
                      <m:den>
                        <m:sSub>
                          <m:sSubPr>
                            <m:ctrlPr>
                              <a:rPr lang="en-IN" sz="2400" i="1">
                                <a:latin typeface="Cambria Math" panose="02040503050406030204" pitchFamily="18" charset="0"/>
                                <a:cs typeface="Arial" panose="020B0604020202020204" pitchFamily="34" charset="0"/>
                              </a:rPr>
                            </m:ctrlPr>
                          </m:sSubPr>
                          <m:e>
                            <m:r>
                              <m:rPr>
                                <m:sty m:val="p"/>
                              </m:rPr>
                              <a:rPr lang="en-IN" sz="2400" i="0">
                                <a:latin typeface="Cambria Math" panose="02040503050406030204" pitchFamily="18" charset="0"/>
                                <a:cs typeface="Arial" panose="020B0604020202020204" pitchFamily="34" charset="0"/>
                              </a:rPr>
                              <m:t>C</m:t>
                            </m:r>
                          </m:e>
                          <m:sub>
                            <m:r>
                              <m:rPr>
                                <m:sty m:val="p"/>
                              </m:rPr>
                              <a:rPr lang="en-IN" sz="2400" i="0">
                                <a:latin typeface="Cambria Math" panose="02040503050406030204" pitchFamily="18" charset="0"/>
                                <a:cs typeface="Arial" panose="020B0604020202020204" pitchFamily="34" charset="0"/>
                              </a:rPr>
                              <m:t>L</m:t>
                            </m:r>
                          </m:sub>
                        </m:sSub>
                        <m:r>
                          <a:rPr lang="en-IN" sz="2400" i="0">
                            <a:latin typeface="Cambria Math" panose="02040503050406030204" pitchFamily="18" charset="0"/>
                            <a:cs typeface="Arial" panose="020B0604020202020204" pitchFamily="34" charset="0"/>
                          </a:rPr>
                          <m:t>+</m:t>
                        </m:r>
                        <m:r>
                          <m:rPr>
                            <m:nor/>
                          </m:rPr>
                          <a:rPr lang="en-IN" sz="2400" dirty="0">
                            <a:latin typeface="Times New Roman" panose="02020603050405020304" pitchFamily="18" charset="0"/>
                            <a:cs typeface="Times New Roman" panose="02020603050405020304" pitchFamily="18" charset="0"/>
                          </a:rPr>
                          <m:t> </m:t>
                        </m:r>
                        <m:sSub>
                          <m:sSubPr>
                            <m:ctrlPr>
                              <a:rPr lang="en-IN" sz="2400" i="1">
                                <a:latin typeface="Cambria Math" panose="02040503050406030204" pitchFamily="18" charset="0"/>
                                <a:cs typeface="Arial" panose="020B0604020202020204" pitchFamily="34" charset="0"/>
                              </a:rPr>
                            </m:ctrlPr>
                          </m:sSubPr>
                          <m:e>
                            <m:r>
                              <m:rPr>
                                <m:sty m:val="p"/>
                              </m:rPr>
                              <a:rPr lang="en-IN" sz="2400" i="0">
                                <a:latin typeface="Cambria Math" panose="02040503050406030204" pitchFamily="18" charset="0"/>
                                <a:cs typeface="Arial" panose="020B0604020202020204" pitchFamily="34" charset="0"/>
                              </a:rPr>
                              <m:t>C</m:t>
                            </m:r>
                          </m:e>
                          <m:sub>
                            <m:r>
                              <a:rPr lang="en-IN" sz="2400" i="0">
                                <a:latin typeface="Cambria Math" panose="02040503050406030204" pitchFamily="18" charset="0"/>
                                <a:cs typeface="Arial" panose="020B0604020202020204" pitchFamily="34" charset="0"/>
                              </a:rPr>
                              <m:t>1</m:t>
                            </m:r>
                          </m:sub>
                        </m:sSub>
                        <m:r>
                          <a:rPr lang="en-IN" sz="2400" i="0">
                            <a:latin typeface="Cambria Math" panose="02040503050406030204" pitchFamily="18" charset="0"/>
                            <a:cs typeface="Arial" panose="020B0604020202020204" pitchFamily="34" charset="0"/>
                          </a:rPr>
                          <m:t>+</m:t>
                        </m:r>
                        <m:r>
                          <m:rPr>
                            <m:nor/>
                          </m:rPr>
                          <a:rPr lang="en-IN" sz="2400" dirty="0">
                            <a:latin typeface="Times New Roman" panose="02020603050405020304" pitchFamily="18" charset="0"/>
                            <a:cs typeface="Times New Roman" panose="02020603050405020304" pitchFamily="18" charset="0"/>
                          </a:rPr>
                          <m:t> </m:t>
                        </m:r>
                        <m:sSub>
                          <m:sSubPr>
                            <m:ctrlPr>
                              <a:rPr lang="en-IN" sz="2400" i="1">
                                <a:latin typeface="Cambria Math" panose="02040503050406030204" pitchFamily="18" charset="0"/>
                                <a:cs typeface="Arial" panose="020B0604020202020204" pitchFamily="34" charset="0"/>
                              </a:rPr>
                            </m:ctrlPr>
                          </m:sSubPr>
                          <m:e>
                            <m:r>
                              <m:rPr>
                                <m:sty m:val="p"/>
                              </m:rPr>
                              <a:rPr lang="en-IN" sz="2400" i="0">
                                <a:latin typeface="Cambria Math" panose="02040503050406030204" pitchFamily="18" charset="0"/>
                                <a:cs typeface="Arial" panose="020B0604020202020204" pitchFamily="34" charset="0"/>
                              </a:rPr>
                              <m:t>C</m:t>
                            </m:r>
                          </m:e>
                          <m:sub>
                            <m:r>
                              <a:rPr lang="en-IN" sz="2400" i="0">
                                <a:latin typeface="Cambria Math" panose="02040503050406030204" pitchFamily="18" charset="0"/>
                                <a:cs typeface="Arial" panose="020B0604020202020204" pitchFamily="34" charset="0"/>
                              </a:rPr>
                              <m:t>2</m:t>
                            </m:r>
                          </m:sub>
                        </m:sSub>
                      </m:den>
                    </m:f>
                    <m:r>
                      <a:rPr lang="en-IN" sz="2400" b="0" i="0" smtClean="0">
                        <a:latin typeface="Cambria Math" panose="02040503050406030204" pitchFamily="18" charset="0"/>
                        <a:cs typeface="Arial" panose="020B0604020202020204" pitchFamily="34" charset="0"/>
                      </a:rPr>
                      <m:t>   </m:t>
                    </m:r>
                  </m:oMath>
                </a14:m>
                <a:endParaRPr lang="en-IN" sz="2400" b="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Let </a:t>
                </a:r>
                <a14:m>
                  <m:oMath xmlns:m="http://schemas.openxmlformats.org/officeDocument/2006/math">
                    <m:sSub>
                      <m:sSubPr>
                        <m:ctrlPr>
                          <a:rPr lang="en-IN" sz="2400" i="1">
                            <a:solidFill>
                              <a:prstClr val="black">
                                <a:lumMod val="75000"/>
                                <a:lumOff val="25000"/>
                              </a:prstClr>
                            </a:solidFill>
                            <a:latin typeface="Cambria Math" panose="02040503050406030204" pitchFamily="18" charset="0"/>
                            <a:cs typeface="Arial" panose="020B0604020202020204" pitchFamily="34" charset="0"/>
                          </a:rPr>
                        </m:ctrlPr>
                      </m:sSubPr>
                      <m:e>
                        <m:r>
                          <m:rPr>
                            <m:sty m:val="p"/>
                          </m:rPr>
                          <a:rPr lang="en-IN" sz="2400">
                            <a:solidFill>
                              <a:prstClr val="black">
                                <a:lumMod val="75000"/>
                                <a:lumOff val="25000"/>
                              </a:prstClr>
                            </a:solidFill>
                            <a:latin typeface="Cambria Math" panose="02040503050406030204" pitchFamily="18" charset="0"/>
                            <a:cs typeface="Arial" panose="020B0604020202020204" pitchFamily="34" charset="0"/>
                          </a:rPr>
                          <m:t>C</m:t>
                        </m:r>
                      </m:e>
                      <m:sub>
                        <m:r>
                          <a:rPr lang="en-IN" sz="2400" b="0" i="1" smtClean="0">
                            <a:solidFill>
                              <a:prstClr val="black">
                                <a:lumMod val="75000"/>
                                <a:lumOff val="25000"/>
                              </a:prstClr>
                            </a:solidFill>
                            <a:latin typeface="Cambria Math" panose="02040503050406030204" pitchFamily="18" charset="0"/>
                            <a:cs typeface="Arial" panose="020B0604020202020204" pitchFamily="34" charset="0"/>
                          </a:rPr>
                          <m:t>1</m:t>
                        </m:r>
                      </m:sub>
                    </m:sSub>
                    <m:r>
                      <a:rPr lang="en-IN" sz="2400" b="0" i="1" smtClean="0">
                        <a:solidFill>
                          <a:prstClr val="black">
                            <a:lumMod val="75000"/>
                            <a:lumOff val="25000"/>
                          </a:prstClr>
                        </a:solidFill>
                        <a:latin typeface="Cambria Math" panose="02040503050406030204" pitchFamily="18" charset="0"/>
                        <a:cs typeface="Arial" panose="020B0604020202020204" pitchFamily="34" charset="0"/>
                      </a:rPr>
                      <m:t>=</m:t>
                    </m:r>
                  </m:oMath>
                </a14:m>
                <a:r>
                  <a:rPr lang="en-IN"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2400" i="1">
                            <a:solidFill>
                              <a:prstClr val="black">
                                <a:lumMod val="75000"/>
                                <a:lumOff val="25000"/>
                              </a:prstClr>
                            </a:solidFill>
                            <a:latin typeface="Cambria Math" panose="02040503050406030204" pitchFamily="18" charset="0"/>
                            <a:cs typeface="Arial" panose="020B0604020202020204" pitchFamily="34" charset="0"/>
                          </a:rPr>
                        </m:ctrlPr>
                      </m:sSubPr>
                      <m:e>
                        <m:r>
                          <m:rPr>
                            <m:sty m:val="p"/>
                          </m:rPr>
                          <a:rPr lang="en-IN" sz="2400">
                            <a:solidFill>
                              <a:prstClr val="black">
                                <a:lumMod val="75000"/>
                                <a:lumOff val="25000"/>
                              </a:prstClr>
                            </a:solidFill>
                            <a:latin typeface="Cambria Math" panose="02040503050406030204" pitchFamily="18" charset="0"/>
                            <a:cs typeface="Arial" panose="020B0604020202020204" pitchFamily="34" charset="0"/>
                          </a:rPr>
                          <m:t>C</m:t>
                        </m:r>
                      </m:e>
                      <m:sub>
                        <m:r>
                          <a:rPr lang="en-IN" sz="2400" b="0" i="1" smtClean="0">
                            <a:solidFill>
                              <a:prstClr val="black">
                                <a:lumMod val="75000"/>
                                <a:lumOff val="25000"/>
                              </a:prstClr>
                            </a:solidFill>
                            <a:latin typeface="Cambria Math" panose="02040503050406030204" pitchFamily="18" charset="0"/>
                            <a:cs typeface="Arial" panose="020B0604020202020204" pitchFamily="34" charset="0"/>
                          </a:rPr>
                          <m:t>2</m:t>
                        </m:r>
                      </m:sub>
                    </m:sSub>
                  </m:oMath>
                </a14:m>
                <a:r>
                  <a:rPr lang="en-IN" sz="2400" dirty="0">
                    <a:latin typeface="Times New Roman" panose="02020603050405020304" pitchFamily="18" charset="0"/>
                    <a:cs typeface="Times New Roman" panose="02020603050405020304" pitchFamily="18" charset="0"/>
                  </a:rPr>
                  <a:t> = 0.5 C</a:t>
                </a:r>
                <a:r>
                  <a:rPr lang="en-IN" sz="2400" baseline="-25000" dirty="0">
                    <a:latin typeface="Times New Roman" panose="02020603050405020304" pitchFamily="18" charset="0"/>
                    <a:cs typeface="Times New Roman" panose="02020603050405020304" pitchFamily="18" charset="0"/>
                  </a:rPr>
                  <a:t>L</a:t>
                </a:r>
              </a:p>
              <a:p>
                <a:endParaRPr lang="en-IN" sz="2000" dirty="0">
                  <a:latin typeface="Arial" panose="020B0604020202020204" pitchFamily="34" charset="0"/>
                  <a:cs typeface="Arial" panose="020B0604020202020204" pitchFamily="34" charset="0"/>
                </a:endParaRPr>
              </a:p>
              <a:p>
                <a14:m>
                  <m:oMath xmlns:m="http://schemas.openxmlformats.org/officeDocument/2006/math">
                    <m:f>
                      <m:fPr>
                        <m:ctrlPr>
                          <a:rPr lang="en-US" sz="2800" i="1">
                            <a:latin typeface="Cambria Math" panose="02040503050406030204" pitchFamily="18" charset="0"/>
                            <a:cs typeface="Arial" panose="020B0604020202020204" pitchFamily="34" charset="0"/>
                          </a:rPr>
                        </m:ctrlPr>
                      </m:fPr>
                      <m:num>
                        <m:sSub>
                          <m:sSubPr>
                            <m:ctrlPr>
                              <a:rPr lang="en-IN" sz="2800" i="1">
                                <a:latin typeface="Cambria Math" panose="02040503050406030204" pitchFamily="18" charset="0"/>
                                <a:cs typeface="Arial" panose="020B0604020202020204" pitchFamily="34" charset="0"/>
                              </a:rPr>
                            </m:ctrlPr>
                          </m:sSubPr>
                          <m:e>
                            <m:r>
                              <m:rPr>
                                <m:sty m:val="p"/>
                              </m:rPr>
                              <a:rPr lang="en-IN" sz="2800">
                                <a:latin typeface="Cambria Math" panose="02040503050406030204" pitchFamily="18" charset="0"/>
                                <a:cs typeface="Arial" panose="020B0604020202020204" pitchFamily="34" charset="0"/>
                              </a:rPr>
                              <m:t>C</m:t>
                            </m:r>
                          </m:e>
                          <m:sub>
                            <m:r>
                              <m:rPr>
                                <m:sty m:val="p"/>
                              </m:rPr>
                              <a:rPr lang="en-IN" sz="2800">
                                <a:latin typeface="Cambria Math" panose="02040503050406030204" pitchFamily="18" charset="0"/>
                                <a:cs typeface="Arial" panose="020B0604020202020204" pitchFamily="34" charset="0"/>
                              </a:rPr>
                              <m:t>L</m:t>
                            </m:r>
                          </m:sub>
                        </m:sSub>
                        <m:sSub>
                          <m:sSubPr>
                            <m:ctrlPr>
                              <a:rPr lang="en-IN" sz="2800" i="1">
                                <a:latin typeface="Cambria Math" panose="02040503050406030204" pitchFamily="18" charset="0"/>
                                <a:cs typeface="Arial" panose="020B0604020202020204" pitchFamily="34" charset="0"/>
                              </a:rPr>
                            </m:ctrlPr>
                          </m:sSubPr>
                          <m:e>
                            <m:r>
                              <m:rPr>
                                <m:sty m:val="p"/>
                              </m:rPr>
                              <a:rPr lang="en-IN" sz="2800">
                                <a:latin typeface="Cambria Math" panose="02040503050406030204" pitchFamily="18" charset="0"/>
                                <a:cs typeface="Arial" panose="020B0604020202020204" pitchFamily="34" charset="0"/>
                              </a:rPr>
                              <m:t>V</m:t>
                            </m:r>
                          </m:e>
                          <m:sub>
                            <m:r>
                              <m:rPr>
                                <m:sty m:val="p"/>
                              </m:rPr>
                              <a:rPr lang="en-IN" sz="2800">
                                <a:latin typeface="Cambria Math" panose="02040503050406030204" pitchFamily="18" charset="0"/>
                                <a:cs typeface="Arial" panose="020B0604020202020204" pitchFamily="34" charset="0"/>
                              </a:rPr>
                              <m:t>DD</m:t>
                            </m:r>
                          </m:sub>
                        </m:sSub>
                      </m:num>
                      <m:den>
                        <m:sSub>
                          <m:sSubPr>
                            <m:ctrlPr>
                              <a:rPr lang="en-IN" sz="2800" i="1">
                                <a:latin typeface="Cambria Math" panose="02040503050406030204" pitchFamily="18" charset="0"/>
                                <a:cs typeface="Arial" panose="020B0604020202020204" pitchFamily="34" charset="0"/>
                              </a:rPr>
                            </m:ctrlPr>
                          </m:sSubPr>
                          <m:e>
                            <m:r>
                              <m:rPr>
                                <m:sty m:val="p"/>
                              </m:rPr>
                              <a:rPr lang="en-IN" sz="2800">
                                <a:latin typeface="Cambria Math" panose="02040503050406030204" pitchFamily="18" charset="0"/>
                                <a:cs typeface="Arial" panose="020B0604020202020204" pitchFamily="34" charset="0"/>
                              </a:rPr>
                              <m:t>C</m:t>
                            </m:r>
                          </m:e>
                          <m:sub>
                            <m:r>
                              <m:rPr>
                                <m:sty m:val="p"/>
                              </m:rPr>
                              <a:rPr lang="en-IN" sz="2800">
                                <a:latin typeface="Cambria Math" panose="02040503050406030204" pitchFamily="18" charset="0"/>
                                <a:cs typeface="Arial" panose="020B0604020202020204" pitchFamily="34" charset="0"/>
                              </a:rPr>
                              <m:t>L</m:t>
                            </m:r>
                          </m:sub>
                        </m:sSub>
                        <m:r>
                          <a:rPr lang="en-IN" sz="2800">
                            <a:latin typeface="Cambria Math" panose="02040503050406030204" pitchFamily="18" charset="0"/>
                            <a:cs typeface="Arial" panose="020B0604020202020204" pitchFamily="34" charset="0"/>
                          </a:rPr>
                          <m:t>+</m:t>
                        </m:r>
                        <m:sSub>
                          <m:sSubPr>
                            <m:ctrlPr>
                              <a:rPr lang="en-IN" sz="2800" i="1">
                                <a:latin typeface="Cambria Math" panose="02040503050406030204" pitchFamily="18" charset="0"/>
                                <a:cs typeface="Arial" panose="020B0604020202020204" pitchFamily="34" charset="0"/>
                              </a:rPr>
                            </m:ctrlPr>
                          </m:sSubPr>
                          <m:e>
                            <m:r>
                              <a:rPr lang="en-IN" sz="2800" b="0" i="0" smtClean="0">
                                <a:latin typeface="Cambria Math" panose="02040503050406030204" pitchFamily="18" charset="0"/>
                                <a:cs typeface="Arial" panose="020B0604020202020204" pitchFamily="34" charset="0"/>
                              </a:rPr>
                              <m:t>0.5</m:t>
                            </m:r>
                            <m:r>
                              <m:rPr>
                                <m:sty m:val="p"/>
                              </m:rPr>
                              <a:rPr lang="en-IN" sz="2800">
                                <a:latin typeface="Cambria Math" panose="02040503050406030204" pitchFamily="18" charset="0"/>
                                <a:cs typeface="Arial" panose="020B0604020202020204" pitchFamily="34" charset="0"/>
                              </a:rPr>
                              <m:t>C</m:t>
                            </m:r>
                          </m:e>
                          <m:sub>
                            <m:r>
                              <m:rPr>
                                <m:sty m:val="p"/>
                              </m:rPr>
                              <a:rPr lang="en-IN" sz="2800">
                                <a:latin typeface="Cambria Math" panose="02040503050406030204" pitchFamily="18" charset="0"/>
                                <a:cs typeface="Arial" panose="020B0604020202020204" pitchFamily="34" charset="0"/>
                              </a:rPr>
                              <m:t>L</m:t>
                            </m:r>
                          </m:sub>
                        </m:sSub>
                        <m:r>
                          <a:rPr lang="en-IN" sz="2800">
                            <a:latin typeface="Cambria Math" panose="02040503050406030204" pitchFamily="18" charset="0"/>
                            <a:cs typeface="Arial" panose="020B0604020202020204" pitchFamily="34" charset="0"/>
                          </a:rPr>
                          <m:t>+</m:t>
                        </m:r>
                        <m:r>
                          <a:rPr lang="en-IN" sz="2800" b="0" i="0" smtClean="0">
                            <a:latin typeface="Cambria Math" panose="02040503050406030204" pitchFamily="18" charset="0"/>
                            <a:cs typeface="Arial" panose="020B0604020202020204" pitchFamily="34" charset="0"/>
                          </a:rPr>
                          <m:t>0.5</m:t>
                        </m:r>
                        <m:sSub>
                          <m:sSubPr>
                            <m:ctrlPr>
                              <a:rPr lang="en-IN" sz="2800" i="1">
                                <a:latin typeface="Cambria Math" panose="02040503050406030204" pitchFamily="18" charset="0"/>
                                <a:cs typeface="Arial" panose="020B0604020202020204" pitchFamily="34" charset="0"/>
                              </a:rPr>
                            </m:ctrlPr>
                          </m:sSubPr>
                          <m:e>
                            <m:r>
                              <m:rPr>
                                <m:sty m:val="p"/>
                              </m:rPr>
                              <a:rPr lang="en-IN" sz="2800">
                                <a:latin typeface="Cambria Math" panose="02040503050406030204" pitchFamily="18" charset="0"/>
                                <a:cs typeface="Arial" panose="020B0604020202020204" pitchFamily="34" charset="0"/>
                              </a:rPr>
                              <m:t>C</m:t>
                            </m:r>
                          </m:e>
                          <m:sub>
                            <m:r>
                              <m:rPr>
                                <m:sty m:val="p"/>
                              </m:rPr>
                              <a:rPr lang="en-IN" sz="2800">
                                <a:latin typeface="Cambria Math" panose="02040503050406030204" pitchFamily="18" charset="0"/>
                                <a:cs typeface="Arial" panose="020B0604020202020204" pitchFamily="34" charset="0"/>
                              </a:rPr>
                              <m:t>L</m:t>
                            </m:r>
                          </m:sub>
                        </m:sSub>
                      </m:den>
                    </m:f>
                    <m:r>
                      <a:rPr lang="en-US" sz="2800">
                        <a:latin typeface="Cambria Math" panose="02040503050406030204" pitchFamily="18" charset="0"/>
                        <a:cs typeface="Arial" panose="020B0604020202020204" pitchFamily="34" charset="0"/>
                      </a:rPr>
                      <m:t>=</m:t>
                    </m:r>
                    <m:f>
                      <m:fPr>
                        <m:ctrlPr>
                          <a:rPr lang="en-US" sz="2800" i="1">
                            <a:latin typeface="Cambria Math" panose="02040503050406030204" pitchFamily="18" charset="0"/>
                            <a:cs typeface="Arial" panose="020B0604020202020204" pitchFamily="34" charset="0"/>
                          </a:rPr>
                        </m:ctrlPr>
                      </m:fPr>
                      <m:num>
                        <m:sSub>
                          <m:sSubPr>
                            <m:ctrlPr>
                              <a:rPr lang="en-IN" sz="2800" i="1">
                                <a:latin typeface="Cambria Math" panose="02040503050406030204" pitchFamily="18" charset="0"/>
                                <a:cs typeface="Arial" panose="020B0604020202020204" pitchFamily="34" charset="0"/>
                              </a:rPr>
                            </m:ctrlPr>
                          </m:sSubPr>
                          <m:e>
                            <m:r>
                              <m:rPr>
                                <m:sty m:val="p"/>
                              </m:rPr>
                              <a:rPr lang="en-IN" sz="2800">
                                <a:latin typeface="Cambria Math" panose="02040503050406030204" pitchFamily="18" charset="0"/>
                                <a:cs typeface="Arial" panose="020B0604020202020204" pitchFamily="34" charset="0"/>
                              </a:rPr>
                              <m:t>C</m:t>
                            </m:r>
                          </m:e>
                          <m:sub>
                            <m:r>
                              <m:rPr>
                                <m:sty m:val="p"/>
                              </m:rPr>
                              <a:rPr lang="en-IN" sz="2800">
                                <a:latin typeface="Cambria Math" panose="02040503050406030204" pitchFamily="18" charset="0"/>
                                <a:cs typeface="Arial" panose="020B0604020202020204" pitchFamily="34" charset="0"/>
                              </a:rPr>
                              <m:t>L</m:t>
                            </m:r>
                          </m:sub>
                        </m:sSub>
                        <m:sSub>
                          <m:sSubPr>
                            <m:ctrlPr>
                              <a:rPr lang="en-IN" sz="2800" i="1">
                                <a:latin typeface="Cambria Math" panose="02040503050406030204" pitchFamily="18" charset="0"/>
                                <a:cs typeface="Arial" panose="020B0604020202020204" pitchFamily="34" charset="0"/>
                              </a:rPr>
                            </m:ctrlPr>
                          </m:sSubPr>
                          <m:e>
                            <m:r>
                              <m:rPr>
                                <m:sty m:val="p"/>
                              </m:rPr>
                              <a:rPr lang="en-IN" sz="2800">
                                <a:latin typeface="Cambria Math" panose="02040503050406030204" pitchFamily="18" charset="0"/>
                                <a:cs typeface="Arial" panose="020B0604020202020204" pitchFamily="34" charset="0"/>
                              </a:rPr>
                              <m:t>V</m:t>
                            </m:r>
                          </m:e>
                          <m:sub>
                            <m:r>
                              <m:rPr>
                                <m:sty m:val="p"/>
                              </m:rPr>
                              <a:rPr lang="en-IN" sz="2800">
                                <a:latin typeface="Cambria Math" panose="02040503050406030204" pitchFamily="18" charset="0"/>
                                <a:cs typeface="Arial" panose="020B0604020202020204" pitchFamily="34" charset="0"/>
                              </a:rPr>
                              <m:t>DD</m:t>
                            </m:r>
                          </m:sub>
                        </m:sSub>
                      </m:num>
                      <m:den>
                        <m:sSub>
                          <m:sSubPr>
                            <m:ctrlPr>
                              <a:rPr lang="en-IN" sz="2800" i="1">
                                <a:latin typeface="Cambria Math" panose="02040503050406030204" pitchFamily="18" charset="0"/>
                                <a:cs typeface="Arial" panose="020B0604020202020204" pitchFamily="34" charset="0"/>
                              </a:rPr>
                            </m:ctrlPr>
                          </m:sSubPr>
                          <m:e>
                            <m:r>
                              <a:rPr lang="en-IN" sz="2800" b="0" i="0" smtClean="0">
                                <a:latin typeface="Cambria Math" panose="02040503050406030204" pitchFamily="18" charset="0"/>
                                <a:cs typeface="Arial" panose="020B0604020202020204" pitchFamily="34" charset="0"/>
                              </a:rPr>
                              <m:t>2</m:t>
                            </m:r>
                            <m:r>
                              <m:rPr>
                                <m:sty m:val="p"/>
                              </m:rPr>
                              <a:rPr lang="en-IN" sz="2800">
                                <a:latin typeface="Cambria Math" panose="02040503050406030204" pitchFamily="18" charset="0"/>
                                <a:cs typeface="Arial" panose="020B0604020202020204" pitchFamily="34" charset="0"/>
                              </a:rPr>
                              <m:t>C</m:t>
                            </m:r>
                          </m:e>
                          <m:sub>
                            <m:r>
                              <m:rPr>
                                <m:sty m:val="p"/>
                              </m:rPr>
                              <a:rPr lang="en-IN" sz="2800">
                                <a:latin typeface="Cambria Math" panose="02040503050406030204" pitchFamily="18" charset="0"/>
                                <a:cs typeface="Arial" panose="020B0604020202020204" pitchFamily="34" charset="0"/>
                              </a:rPr>
                              <m:t>L</m:t>
                            </m:r>
                          </m:sub>
                        </m:sSub>
                      </m:den>
                    </m:f>
                  </m:oMath>
                </a14:m>
                <a:r>
                  <a:rPr lang="en-IN" sz="28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US" sz="2800" i="1">
                            <a:latin typeface="Cambria Math" panose="02040503050406030204" pitchFamily="18" charset="0"/>
                            <a:cs typeface="Arial" panose="020B0604020202020204" pitchFamily="34" charset="0"/>
                          </a:rPr>
                        </m:ctrlPr>
                      </m:fPr>
                      <m:num>
                        <m:sSub>
                          <m:sSubPr>
                            <m:ctrlPr>
                              <a:rPr lang="en-IN" sz="2800" i="1">
                                <a:latin typeface="Cambria Math" panose="02040503050406030204" pitchFamily="18" charset="0"/>
                                <a:cs typeface="Arial" panose="020B0604020202020204" pitchFamily="34" charset="0"/>
                              </a:rPr>
                            </m:ctrlPr>
                          </m:sSubPr>
                          <m:e>
                            <m:r>
                              <m:rPr>
                                <m:sty m:val="p"/>
                              </m:rPr>
                              <a:rPr lang="en-IN" sz="2800">
                                <a:latin typeface="Cambria Math" panose="02040503050406030204" pitchFamily="18" charset="0"/>
                                <a:cs typeface="Arial" panose="020B0604020202020204" pitchFamily="34" charset="0"/>
                              </a:rPr>
                              <m:t>V</m:t>
                            </m:r>
                          </m:e>
                          <m:sub>
                            <m:r>
                              <m:rPr>
                                <m:sty m:val="p"/>
                              </m:rPr>
                              <a:rPr lang="en-IN" sz="2800">
                                <a:latin typeface="Cambria Math" panose="02040503050406030204" pitchFamily="18" charset="0"/>
                                <a:cs typeface="Arial" panose="020B0604020202020204" pitchFamily="34" charset="0"/>
                              </a:rPr>
                              <m:t>DD</m:t>
                            </m:r>
                          </m:sub>
                        </m:sSub>
                      </m:num>
                      <m:den>
                        <m:r>
                          <a:rPr lang="en-IN" sz="2800" b="0" i="1" smtClean="0">
                            <a:latin typeface="Cambria Math" panose="02040503050406030204" pitchFamily="18" charset="0"/>
                            <a:cs typeface="Arial" panose="020B0604020202020204" pitchFamily="34" charset="0"/>
                          </a:rPr>
                          <m:t>2</m:t>
                        </m:r>
                      </m:den>
                    </m:f>
                  </m:oMath>
                </a14:m>
                <a:endParaRPr lang="en-IN" sz="28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4="http://schemas.microsoft.com/office/drawing/2010/main" xmlns="" xmlns:a16="http://schemas.microsoft.com/office/drawing/2014/main" id="{52BD3E89-96BE-4B31-BDC6-16A25C748DFB}"/>
                  </a:ext>
                </a:extLst>
              </p:cNvPr>
              <p:cNvSpPr>
                <a:spLocks noGrp="1" noRot="1" noChangeAspect="1" noMove="1" noResize="1" noEditPoints="1" noAdjustHandles="1" noChangeArrowheads="1" noChangeShapeType="1" noTextEdit="1"/>
              </p:cNvSpPr>
              <p:nvPr>
                <p:ph idx="1"/>
              </p:nvPr>
            </p:nvSpPr>
            <p:spPr>
              <a:xfrm>
                <a:off x="1209040" y="1442720"/>
                <a:ext cx="10295572" cy="4693088"/>
              </a:xfrm>
              <a:blipFill>
                <a:blip r:embed="rId2" cstate="print"/>
                <a:stretch>
                  <a:fillRect l="-829" t="-779"/>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D07DBAC4-0734-4B1A-839D-7201A2A37266}"/>
              </a:ext>
            </a:extLst>
          </p:cNvPr>
          <p:cNvSpPr>
            <a:spLocks noGrp="1"/>
          </p:cNvSpPr>
          <p:nvPr>
            <p:ph type="ftr" sz="quarter" idx="11"/>
          </p:nvPr>
        </p:nvSpPr>
        <p:spPr>
          <a:xfrm>
            <a:off x="1778002" y="6135808"/>
            <a:ext cx="8431210" cy="365125"/>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a:extLst>
              <a:ext uri="{FF2B5EF4-FFF2-40B4-BE49-F238E27FC236}">
                <a16:creationId xmlns:a16="http://schemas.microsoft.com/office/drawing/2014/main" id="{9E1A09FD-B4A0-4790-9BD7-AF9D74A2ACBA}"/>
              </a:ext>
            </a:extLst>
          </p:cNvPr>
          <p:cNvPicPr>
            <a:picLocks noChangeAspect="1"/>
          </p:cNvPicPr>
          <p:nvPr/>
        </p:nvPicPr>
        <p:blipFill>
          <a:blip r:embed="rId3" cstate="print"/>
          <a:stretch>
            <a:fillRect/>
          </a:stretch>
        </p:blipFill>
        <p:spPr>
          <a:xfrm>
            <a:off x="7547989" y="2776544"/>
            <a:ext cx="3354582" cy="2238800"/>
          </a:xfrm>
          <a:prstGeom prst="rect">
            <a:avLst/>
          </a:prstGeom>
        </p:spPr>
      </p:pic>
    </p:spTree>
    <p:extLst>
      <p:ext uri="{BB962C8B-B14F-4D97-AF65-F5344CB8AC3E}">
        <p14:creationId xmlns:p14="http://schemas.microsoft.com/office/powerpoint/2010/main" val="1061325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F093-BCF7-49AA-9841-D13767B46F3F}"/>
              </a:ext>
            </a:extLst>
          </p:cNvPr>
          <p:cNvSpPr>
            <a:spLocks noGrp="1"/>
          </p:cNvSpPr>
          <p:nvPr>
            <p:ph type="title"/>
          </p:nvPr>
        </p:nvSpPr>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Continue…..</a:t>
            </a:r>
            <a:endParaRPr lang="en-IN" dirty="0"/>
          </a:p>
        </p:txBody>
      </p:sp>
      <p:sp>
        <p:nvSpPr>
          <p:cNvPr id="3" name="Content Placeholder 2">
            <a:extLst>
              <a:ext uri="{FF2B5EF4-FFF2-40B4-BE49-F238E27FC236}">
                <a16:creationId xmlns:a16="http://schemas.microsoft.com/office/drawing/2014/main" id="{D15C8032-F500-4C42-AA05-0B6F083BC384}"/>
              </a:ext>
            </a:extLst>
          </p:cNvPr>
          <p:cNvSpPr>
            <a:spLocks noGrp="1"/>
          </p:cNvSpPr>
          <p:nvPr>
            <p:ph idx="1"/>
          </p:nvPr>
        </p:nvSpPr>
        <p:spPr>
          <a:xfrm>
            <a:off x="1808480" y="1493520"/>
            <a:ext cx="9696132" cy="4642288"/>
          </a:xfrm>
        </p:spPr>
        <p:txBody>
          <a:bodyPr/>
          <a:lstStyle/>
          <a:p>
            <a:pPr algn="just"/>
            <a:r>
              <a:rPr lang="en-US" dirty="0">
                <a:solidFill>
                  <a:prstClr val="black">
                    <a:lumMod val="75000"/>
                    <a:lumOff val="25000"/>
                  </a:prstClr>
                </a:solidFill>
                <a:latin typeface="Arial" panose="020B0604020202020204" pitchFamily="34" charset="0"/>
                <a:cs typeface="Arial" panose="020B0604020202020204" pitchFamily="34" charset="0"/>
              </a:rPr>
              <a:t>So  after distribution the charge remain to V</a:t>
            </a:r>
            <a:r>
              <a:rPr lang="en-US" baseline="-25000" dirty="0">
                <a:solidFill>
                  <a:prstClr val="black">
                    <a:lumMod val="75000"/>
                    <a:lumOff val="25000"/>
                  </a:prstClr>
                </a:solidFill>
                <a:latin typeface="Arial" panose="020B0604020202020204" pitchFamily="34" charset="0"/>
                <a:cs typeface="Arial" panose="020B0604020202020204" pitchFamily="34" charset="0"/>
              </a:rPr>
              <a:t>DD</a:t>
            </a:r>
            <a:r>
              <a:rPr lang="en-US" dirty="0">
                <a:solidFill>
                  <a:prstClr val="black">
                    <a:lumMod val="75000"/>
                    <a:lumOff val="25000"/>
                  </a:prstClr>
                </a:solidFill>
                <a:latin typeface="Arial" panose="020B0604020202020204" pitchFamily="34" charset="0"/>
                <a:cs typeface="Arial" panose="020B0604020202020204" pitchFamily="34" charset="0"/>
              </a:rPr>
              <a:t>/2  because of parasitic capacitance present on the internal node. </a:t>
            </a:r>
          </a:p>
          <a:p>
            <a:pPr algn="just"/>
            <a:r>
              <a:rPr lang="en-US" dirty="0">
                <a:solidFill>
                  <a:prstClr val="black">
                    <a:lumMod val="75000"/>
                    <a:lumOff val="25000"/>
                  </a:prstClr>
                </a:solidFill>
                <a:latin typeface="Arial" panose="020B0604020202020204" pitchFamily="34" charset="0"/>
                <a:cs typeface="Arial" panose="020B0604020202020204" pitchFamily="34" charset="0"/>
              </a:rPr>
              <a:t>The charge that was present during the pre-charging  mode get distributed leading to reduction in output voltage which may be treated as low level. So this problem is called </a:t>
            </a:r>
            <a:r>
              <a:rPr lang="en-US" b="1" dirty="0">
                <a:solidFill>
                  <a:prstClr val="black">
                    <a:lumMod val="75000"/>
                    <a:lumOff val="25000"/>
                  </a:prstClr>
                </a:solidFill>
                <a:latin typeface="Arial" panose="020B0604020202020204" pitchFamily="34" charset="0"/>
                <a:cs typeface="Arial" panose="020B0604020202020204" pitchFamily="34" charset="0"/>
              </a:rPr>
              <a:t>charge sharing problem</a:t>
            </a:r>
            <a:r>
              <a:rPr lang="en-US" dirty="0">
                <a:solidFill>
                  <a:prstClr val="black">
                    <a:lumMod val="75000"/>
                    <a:lumOff val="25000"/>
                  </a:prstClr>
                </a:solidFill>
                <a:latin typeface="Arial" panose="020B0604020202020204" pitchFamily="34" charset="0"/>
                <a:cs typeface="Arial" panose="020B0604020202020204" pitchFamily="34" charset="0"/>
              </a:rPr>
              <a:t>. </a:t>
            </a:r>
            <a:endParaRPr lang="en-IN" dirty="0"/>
          </a:p>
        </p:txBody>
      </p:sp>
      <p:sp>
        <p:nvSpPr>
          <p:cNvPr id="4" name="Footer Placeholder 3">
            <a:extLst>
              <a:ext uri="{FF2B5EF4-FFF2-40B4-BE49-F238E27FC236}">
                <a16:creationId xmlns:a16="http://schemas.microsoft.com/office/drawing/2014/main" id="{65FBE609-BA95-4682-9C22-942BA9467F6D}"/>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2168746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0046E-1987-4E22-9C56-F909A59AC3A2}"/>
              </a:ext>
            </a:extLst>
          </p:cNvPr>
          <p:cNvSpPr>
            <a:spLocks noGrp="1"/>
          </p:cNvSpPr>
          <p:nvPr>
            <p:ph type="title"/>
          </p:nvPr>
        </p:nvSpPr>
        <p:spPr>
          <a:xfrm>
            <a:off x="1750979" y="624110"/>
            <a:ext cx="9753634" cy="1280890"/>
          </a:xfrm>
        </p:spPr>
        <p:txBody>
          <a:bodyPr>
            <a:normAutofit/>
          </a:bodyPr>
          <a:lstStyle/>
          <a:p>
            <a:r>
              <a:rPr lang="en-US" sz="3000" dirty="0">
                <a:solidFill>
                  <a:prstClr val="black">
                    <a:lumMod val="85000"/>
                    <a:lumOff val="15000"/>
                  </a:prstClr>
                </a:solidFill>
                <a:latin typeface="Arial" panose="020B0604020202020204" pitchFamily="34" charset="0"/>
                <a:cs typeface="Arial" panose="020B0604020202020204" pitchFamily="34" charset="0"/>
              </a:rPr>
              <a:t>How to Overcome charge leakage and sharing problem</a:t>
            </a:r>
            <a:endParaRPr lang="en-IN" sz="3000" dirty="0"/>
          </a:p>
        </p:txBody>
      </p:sp>
      <p:sp>
        <p:nvSpPr>
          <p:cNvPr id="3" name="Content Placeholder 2">
            <a:extLst>
              <a:ext uri="{FF2B5EF4-FFF2-40B4-BE49-F238E27FC236}">
                <a16:creationId xmlns:a16="http://schemas.microsoft.com/office/drawing/2014/main" id="{67921C54-C5D1-406A-99E2-B8D455D0BB2C}"/>
              </a:ext>
            </a:extLst>
          </p:cNvPr>
          <p:cNvSpPr>
            <a:spLocks noGrp="1"/>
          </p:cNvSpPr>
          <p:nvPr>
            <p:ph idx="1"/>
          </p:nvPr>
        </p:nvSpPr>
        <p:spPr>
          <a:xfrm>
            <a:off x="428017" y="1341120"/>
            <a:ext cx="11076595" cy="4794688"/>
          </a:xfrm>
        </p:spPr>
        <p:txBody>
          <a:bodyPr>
            <a:normAutofit/>
          </a:bodyPr>
          <a:lstStyle/>
          <a:p>
            <a:pPr algn="just"/>
            <a:r>
              <a:rPr lang="en-US" sz="1600" dirty="0">
                <a:latin typeface="Arial" panose="020B0604020202020204" pitchFamily="34" charset="0"/>
                <a:cs typeface="Arial" panose="020B0604020202020204" pitchFamily="34" charset="0"/>
              </a:rPr>
              <a:t>This problem can be overcome by using a weak </a:t>
            </a:r>
            <a:r>
              <a:rPr lang="en-US" sz="1600" dirty="0" err="1">
                <a:latin typeface="Arial" panose="020B0604020202020204" pitchFamily="34" charset="0"/>
                <a:cs typeface="Arial" panose="020B0604020202020204" pitchFamily="34" charset="0"/>
              </a:rPr>
              <a:t>pMOS</a:t>
            </a:r>
            <a:r>
              <a:rPr lang="en-US" sz="1600" dirty="0">
                <a:latin typeface="Arial" panose="020B0604020202020204" pitchFamily="34" charset="0"/>
                <a:cs typeface="Arial" panose="020B0604020202020204" pitchFamily="34" charset="0"/>
              </a:rPr>
              <a:t> transistor (bleeder transistor) . This is also used to overcome the problem of charge leakage problem. So, a weak </a:t>
            </a:r>
            <a:r>
              <a:rPr lang="en-US" sz="1600" dirty="0" err="1">
                <a:latin typeface="Arial" panose="020B0604020202020204" pitchFamily="34" charset="0"/>
                <a:cs typeface="Arial" panose="020B0604020202020204" pitchFamily="34" charset="0"/>
              </a:rPr>
              <a:t>pMOS</a:t>
            </a:r>
            <a:r>
              <a:rPr lang="en-US" sz="1600" dirty="0">
                <a:latin typeface="Arial" panose="020B0604020202020204" pitchFamily="34" charset="0"/>
                <a:cs typeface="Arial" panose="020B0604020202020204" pitchFamily="34" charset="0"/>
              </a:rPr>
              <a:t> is added as pull-up transistor, this transistor always remains on and behaves like a pseudo n- MOS circuit during evaluation period.  </a:t>
            </a:r>
          </a:p>
          <a:p>
            <a:pPr algn="just"/>
            <a:r>
              <a:rPr lang="en-US" sz="1600" dirty="0">
                <a:latin typeface="Arial" panose="020B0604020202020204" pitchFamily="34" charset="0"/>
                <a:cs typeface="Arial" panose="020B0604020202020204" pitchFamily="34" charset="0"/>
              </a:rPr>
              <a:t>by weak I mean that resistance is very high. In other words the current that it will supply is very small, when the resistance is high current that will be, it will supply to the load capacitance will be small, and as a consequence it will replenish the charge that is lost; either due to leakage problem or due to charge sharing  problem.  </a:t>
            </a:r>
            <a:endParaRPr lang="en-IN" sz="16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B7646F98-D2CA-4A1E-A6EE-945AC2AECC26}"/>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a:p>
            <a:pPr lvl="0"/>
            <a:endParaRPr lang="en-IN" dirty="0">
              <a:solidFill>
                <a:srgbClr val="C0000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95614DD-0567-4EAC-9A59-66BB091F2F3E}"/>
              </a:ext>
            </a:extLst>
          </p:cNvPr>
          <p:cNvPicPr>
            <a:picLocks noChangeAspect="1"/>
          </p:cNvPicPr>
          <p:nvPr/>
        </p:nvPicPr>
        <p:blipFill>
          <a:blip r:embed="rId2" cstate="print"/>
          <a:stretch>
            <a:fillRect/>
          </a:stretch>
        </p:blipFill>
        <p:spPr>
          <a:xfrm>
            <a:off x="428373" y="3346315"/>
            <a:ext cx="5994903" cy="3351327"/>
          </a:xfrm>
          <a:prstGeom prst="rect">
            <a:avLst/>
          </a:prstGeom>
        </p:spPr>
      </p:pic>
      <p:pic>
        <p:nvPicPr>
          <p:cNvPr id="3075" name="Picture 3"/>
          <p:cNvPicPr>
            <a:picLocks noChangeAspect="1" noChangeArrowheads="1"/>
          </p:cNvPicPr>
          <p:nvPr/>
        </p:nvPicPr>
        <p:blipFill>
          <a:blip r:embed="rId3" cstate="print"/>
          <a:srcRect/>
          <a:stretch>
            <a:fillRect/>
          </a:stretch>
        </p:blipFill>
        <p:spPr bwMode="auto">
          <a:xfrm>
            <a:off x="6595353" y="3346315"/>
            <a:ext cx="5398647" cy="3393939"/>
          </a:xfrm>
          <a:prstGeom prst="rect">
            <a:avLst/>
          </a:prstGeom>
          <a:noFill/>
          <a:ln w="9525">
            <a:noFill/>
            <a:miter lim="800000"/>
            <a:headEnd/>
            <a:tailEnd/>
          </a:ln>
        </p:spPr>
      </p:pic>
    </p:spTree>
    <p:extLst>
      <p:ext uri="{BB962C8B-B14F-4D97-AF65-F5344CB8AC3E}">
        <p14:creationId xmlns:p14="http://schemas.microsoft.com/office/powerpoint/2010/main" val="1764150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83718-22D4-45D1-AE58-1E8C46F755D1}"/>
              </a:ext>
            </a:extLst>
          </p:cNvPr>
          <p:cNvSpPr>
            <a:spLocks noGrp="1"/>
          </p:cNvSpPr>
          <p:nvPr>
            <p:ph type="title"/>
          </p:nvPr>
        </p:nvSpPr>
        <p:spPr>
          <a:xfrm>
            <a:off x="1564641" y="624110"/>
            <a:ext cx="9939972" cy="1280890"/>
          </a:xfrm>
        </p:spPr>
        <p:txBody>
          <a:bodyPr/>
          <a:lstStyle/>
          <a:p>
            <a:r>
              <a:rPr lang="en-US" dirty="0">
                <a:latin typeface="Arial" pitchFamily="34" charset="0"/>
                <a:cs typeface="Arial" pitchFamily="34" charset="0"/>
              </a:rPr>
              <a:t>Capacitive Coupling</a:t>
            </a:r>
            <a:endParaRPr lang="en-IN" dirty="0">
              <a:latin typeface="Arial" pitchFamily="34" charset="0"/>
              <a:cs typeface="Arial" pitchFamily="34" charset="0"/>
            </a:endParaRPr>
          </a:p>
        </p:txBody>
      </p:sp>
      <p:sp>
        <p:nvSpPr>
          <p:cNvPr id="3" name="Content Placeholder 2">
            <a:extLst>
              <a:ext uri="{FF2B5EF4-FFF2-40B4-BE49-F238E27FC236}">
                <a16:creationId xmlns:a16="http://schemas.microsoft.com/office/drawing/2014/main" id="{6BD0F0FB-1D65-44D8-823B-150B5A3A8DDB}"/>
              </a:ext>
            </a:extLst>
          </p:cNvPr>
          <p:cNvSpPr>
            <a:spLocks noGrp="1"/>
          </p:cNvSpPr>
          <p:nvPr>
            <p:ph idx="1"/>
          </p:nvPr>
        </p:nvSpPr>
        <p:spPr>
          <a:xfrm>
            <a:off x="496111" y="1391055"/>
            <a:ext cx="11008501" cy="4744753"/>
          </a:xfrm>
        </p:spPr>
        <p:txBody>
          <a:bodyPr>
            <a:normAutofit/>
          </a:bodyPr>
          <a:lstStyle/>
          <a:p>
            <a:pPr algn="just"/>
            <a:r>
              <a:rPr lang="en-US" dirty="0">
                <a:latin typeface="Arial" pitchFamily="34" charset="0"/>
                <a:cs typeface="Arial" pitchFamily="34" charset="0"/>
              </a:rPr>
              <a:t>The high impedance of the output node makes the circuit very sensitive to crosstalk effects. A wire routed over a dynamic node may couple capacitively and destroy the state of the floating node. </a:t>
            </a:r>
          </a:p>
          <a:p>
            <a:pPr algn="just">
              <a:buNone/>
            </a:pPr>
            <a:endParaRPr lang="en-US" dirty="0">
              <a:latin typeface="Arial" pitchFamily="34" charset="0"/>
              <a:cs typeface="Arial" pitchFamily="34" charset="0"/>
            </a:endParaRPr>
          </a:p>
          <a:p>
            <a:pPr algn="just">
              <a:spcBef>
                <a:spcPts val="0"/>
              </a:spcBef>
            </a:pPr>
            <a:r>
              <a:rPr lang="en-US" dirty="0">
                <a:latin typeface="Arial" pitchFamily="34" charset="0"/>
                <a:cs typeface="Arial" pitchFamily="34" charset="0"/>
              </a:rPr>
              <a:t>A transition in the input In of  the static gate may cause the output of the gate (Out2) to go low. </a:t>
            </a:r>
          </a:p>
          <a:p>
            <a:pPr algn="just">
              <a:spcBef>
                <a:spcPts val="0"/>
              </a:spcBef>
            </a:pPr>
            <a:endParaRPr lang="en-US" dirty="0">
              <a:latin typeface="Arial" pitchFamily="34" charset="0"/>
              <a:cs typeface="Arial" pitchFamily="34" charset="0"/>
            </a:endParaRPr>
          </a:p>
          <a:p>
            <a:pPr algn="just">
              <a:spcBef>
                <a:spcPts val="0"/>
              </a:spcBef>
            </a:pPr>
            <a:endParaRPr lang="en-US" dirty="0">
              <a:latin typeface="Arial" pitchFamily="34" charset="0"/>
              <a:cs typeface="Arial" pitchFamily="34" charset="0"/>
            </a:endParaRPr>
          </a:p>
        </p:txBody>
      </p:sp>
      <p:sp>
        <p:nvSpPr>
          <p:cNvPr id="4" name="Footer Placeholder 3">
            <a:extLst>
              <a:ext uri="{FF2B5EF4-FFF2-40B4-BE49-F238E27FC236}">
                <a16:creationId xmlns:a16="http://schemas.microsoft.com/office/drawing/2014/main" id="{D7AB5497-4FD7-4E09-8760-7E7A18D43C7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1027" name="Picture 3"/>
          <p:cNvPicPr>
            <a:picLocks noChangeAspect="1" noChangeArrowheads="1"/>
          </p:cNvPicPr>
          <p:nvPr/>
        </p:nvPicPr>
        <p:blipFill>
          <a:blip r:embed="rId2" cstate="print"/>
          <a:srcRect/>
          <a:stretch>
            <a:fillRect/>
          </a:stretch>
        </p:blipFill>
        <p:spPr bwMode="auto">
          <a:xfrm>
            <a:off x="207504" y="2850204"/>
            <a:ext cx="5951597" cy="4007796"/>
          </a:xfrm>
          <a:prstGeom prst="rect">
            <a:avLst/>
          </a:prstGeom>
          <a:noFill/>
          <a:ln w="9525">
            <a:noFill/>
            <a:miter lim="800000"/>
            <a:headEnd/>
            <a:tailEnd/>
          </a:ln>
        </p:spPr>
      </p:pic>
      <p:pic>
        <p:nvPicPr>
          <p:cNvPr id="1029" name="Picture 5"/>
          <p:cNvPicPr>
            <a:picLocks noChangeAspect="1" noChangeArrowheads="1"/>
          </p:cNvPicPr>
          <p:nvPr/>
        </p:nvPicPr>
        <p:blipFill>
          <a:blip r:embed="rId3" cstate="print"/>
          <a:srcRect/>
          <a:stretch>
            <a:fillRect/>
          </a:stretch>
        </p:blipFill>
        <p:spPr bwMode="auto">
          <a:xfrm>
            <a:off x="6517533" y="2852214"/>
            <a:ext cx="5429352" cy="4005786"/>
          </a:xfrm>
          <a:prstGeom prst="rect">
            <a:avLst/>
          </a:prstGeom>
          <a:noFill/>
          <a:ln w="9525">
            <a:noFill/>
            <a:miter lim="800000"/>
            <a:headEnd/>
            <a:tailEnd/>
          </a:ln>
        </p:spPr>
      </p:pic>
    </p:spTree>
    <p:extLst>
      <p:ext uri="{BB962C8B-B14F-4D97-AF65-F5344CB8AC3E}">
        <p14:creationId xmlns:p14="http://schemas.microsoft.com/office/powerpoint/2010/main" val="1667902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83718-22D4-45D1-AE58-1E8C46F755D1}"/>
              </a:ext>
            </a:extLst>
          </p:cNvPr>
          <p:cNvSpPr>
            <a:spLocks noGrp="1"/>
          </p:cNvSpPr>
          <p:nvPr>
            <p:ph type="title"/>
          </p:nvPr>
        </p:nvSpPr>
        <p:spPr>
          <a:xfrm>
            <a:off x="1564641" y="624110"/>
            <a:ext cx="9939972" cy="1280890"/>
          </a:xfrm>
        </p:spPr>
        <p:txBody>
          <a:bodyPr/>
          <a:lstStyle/>
          <a:p>
            <a:r>
              <a:rPr lang="en-US" dirty="0">
                <a:latin typeface="Arial" pitchFamily="34" charset="0"/>
                <a:cs typeface="Arial" pitchFamily="34" charset="0"/>
              </a:rPr>
              <a:t>Continue….</a:t>
            </a:r>
            <a:endParaRPr lang="en-IN" dirty="0">
              <a:latin typeface="Arial" pitchFamily="34" charset="0"/>
              <a:cs typeface="Arial" pitchFamily="34" charset="0"/>
            </a:endParaRPr>
          </a:p>
        </p:txBody>
      </p:sp>
      <p:sp>
        <p:nvSpPr>
          <p:cNvPr id="3" name="Content Placeholder 2">
            <a:extLst>
              <a:ext uri="{FF2B5EF4-FFF2-40B4-BE49-F238E27FC236}">
                <a16:creationId xmlns:a16="http://schemas.microsoft.com/office/drawing/2014/main" id="{6BD0F0FB-1D65-44D8-823B-150B5A3A8DDB}"/>
              </a:ext>
            </a:extLst>
          </p:cNvPr>
          <p:cNvSpPr>
            <a:spLocks noGrp="1"/>
          </p:cNvSpPr>
          <p:nvPr>
            <p:ph idx="1"/>
          </p:nvPr>
        </p:nvSpPr>
        <p:spPr>
          <a:xfrm>
            <a:off x="496111" y="1391055"/>
            <a:ext cx="11008501" cy="4744753"/>
          </a:xfrm>
        </p:spPr>
        <p:txBody>
          <a:bodyPr>
            <a:normAutofit/>
          </a:bodyPr>
          <a:lstStyle/>
          <a:p>
            <a:pPr algn="just">
              <a:spcBef>
                <a:spcPts val="0"/>
              </a:spcBef>
            </a:pPr>
            <a:r>
              <a:rPr lang="en-US" dirty="0">
                <a:latin typeface="Arial" pitchFamily="34" charset="0"/>
                <a:cs typeface="Arial" pitchFamily="34" charset="0"/>
              </a:rPr>
              <a:t>This output transition couples capacitively to the other input of the gate, the dynamic node Out1,  through the gate-source and gate-drain capacitances  of transistor M4.</a:t>
            </a:r>
          </a:p>
          <a:p>
            <a:pPr algn="just"/>
            <a:r>
              <a:rPr lang="en-US" dirty="0">
                <a:latin typeface="Arial" pitchFamily="34" charset="0"/>
                <a:cs typeface="Arial" pitchFamily="34" charset="0"/>
              </a:rPr>
              <a:t>This further causes the output of the static NAND gate not to drop all the way down to 0V. Consequently, the circuit can evaluate incorrectly.</a:t>
            </a:r>
          </a:p>
          <a:p>
            <a:pPr algn="just">
              <a:spcBef>
                <a:spcPts val="0"/>
              </a:spcBef>
              <a:buNone/>
            </a:pPr>
            <a:endParaRPr lang="en-US" dirty="0">
              <a:latin typeface="Arial" pitchFamily="34" charset="0"/>
              <a:cs typeface="Arial" pitchFamily="34" charset="0"/>
            </a:endParaRPr>
          </a:p>
          <a:p>
            <a:pPr algn="just">
              <a:spcBef>
                <a:spcPts val="0"/>
              </a:spcBef>
            </a:pPr>
            <a:r>
              <a:rPr lang="en-US" sz="1900" b="1" u="sng" dirty="0">
                <a:latin typeface="Arial" pitchFamily="34" charset="0"/>
                <a:cs typeface="Arial" pitchFamily="34" charset="0"/>
              </a:rPr>
              <a:t>Clock-</a:t>
            </a:r>
            <a:r>
              <a:rPr lang="en-US" sz="1900" b="1" u="sng" dirty="0" err="1">
                <a:latin typeface="Arial" pitchFamily="34" charset="0"/>
                <a:cs typeface="Arial" pitchFamily="34" charset="0"/>
              </a:rPr>
              <a:t>Feedthrough</a:t>
            </a:r>
            <a:endParaRPr lang="en-US" sz="1900" b="1" u="sng" dirty="0">
              <a:latin typeface="Arial" pitchFamily="34" charset="0"/>
              <a:cs typeface="Arial" pitchFamily="34" charset="0"/>
            </a:endParaRPr>
          </a:p>
          <a:p>
            <a:pPr algn="just"/>
            <a:r>
              <a:rPr lang="en-US" dirty="0">
                <a:latin typeface="Arial" pitchFamily="34" charset="0"/>
                <a:cs typeface="Arial" pitchFamily="34" charset="0"/>
              </a:rPr>
              <a:t>A special case of capacitive coupling is clock-</a:t>
            </a:r>
            <a:r>
              <a:rPr lang="en-US" dirty="0" err="1">
                <a:latin typeface="Arial" pitchFamily="34" charset="0"/>
                <a:cs typeface="Arial" pitchFamily="34" charset="0"/>
              </a:rPr>
              <a:t>feedthrough</a:t>
            </a:r>
            <a:r>
              <a:rPr lang="en-US" dirty="0">
                <a:latin typeface="Arial" pitchFamily="34" charset="0"/>
                <a:cs typeface="Arial" pitchFamily="34" charset="0"/>
              </a:rPr>
              <a:t>, an effect caused by the capacitive coupling between the clock input of the precharge device and the dynamic output node. </a:t>
            </a:r>
          </a:p>
          <a:p>
            <a:r>
              <a:rPr lang="en-US" dirty="0">
                <a:latin typeface="Arial" pitchFamily="34" charset="0"/>
                <a:cs typeface="Arial" pitchFamily="34" charset="0"/>
              </a:rPr>
              <a:t>This capacitive coupling causes the output of the dynamic node to rise above V</a:t>
            </a:r>
            <a:r>
              <a:rPr lang="en-US" baseline="-25000" dirty="0">
                <a:latin typeface="Arial" pitchFamily="34" charset="0"/>
                <a:cs typeface="Arial" pitchFamily="34" charset="0"/>
              </a:rPr>
              <a:t>DD </a:t>
            </a:r>
            <a:r>
              <a:rPr lang="en-US" dirty="0">
                <a:latin typeface="Arial" pitchFamily="34" charset="0"/>
                <a:cs typeface="Arial" pitchFamily="34" charset="0"/>
              </a:rPr>
              <a:t>on the low-to-high transition of the clock, assuming that the pull-down network is turned off. Sometime they may lead to faulty operation. </a:t>
            </a:r>
          </a:p>
          <a:p>
            <a:pPr algn="just"/>
            <a:r>
              <a:rPr lang="en-US" dirty="0">
                <a:latin typeface="Arial" pitchFamily="34" charset="0"/>
                <a:cs typeface="Arial" pitchFamily="34" charset="0"/>
              </a:rPr>
              <a:t>All the above considerations demonstrate that the design of dynamic circuits is rather tricky and requires extreme care.</a:t>
            </a:r>
          </a:p>
        </p:txBody>
      </p:sp>
      <p:sp>
        <p:nvSpPr>
          <p:cNvPr id="4" name="Footer Placeholder 3">
            <a:extLst>
              <a:ext uri="{FF2B5EF4-FFF2-40B4-BE49-F238E27FC236}">
                <a16:creationId xmlns:a16="http://schemas.microsoft.com/office/drawing/2014/main" id="{D7AB5497-4FD7-4E09-8760-7E7A18D43C7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667902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83718-22D4-45D1-AE58-1E8C46F755D1}"/>
              </a:ext>
            </a:extLst>
          </p:cNvPr>
          <p:cNvSpPr>
            <a:spLocks noGrp="1"/>
          </p:cNvSpPr>
          <p:nvPr>
            <p:ph type="title"/>
          </p:nvPr>
        </p:nvSpPr>
        <p:spPr>
          <a:xfrm>
            <a:off x="1564641" y="624110"/>
            <a:ext cx="9939972" cy="1280890"/>
          </a:xfrm>
        </p:spPr>
        <p:txBody>
          <a:bodyPr>
            <a:normAutofit/>
          </a:bodyPr>
          <a:lstStyle/>
          <a:p>
            <a:r>
              <a:rPr lang="en-US" sz="3200" dirty="0">
                <a:latin typeface="Arial" pitchFamily="34" charset="0"/>
                <a:cs typeface="Arial" pitchFamily="34" charset="0"/>
              </a:rPr>
              <a:t>Cascading Dynamic Gates</a:t>
            </a:r>
            <a:endParaRPr lang="en-IN" sz="3200" dirty="0">
              <a:latin typeface="Arial" pitchFamily="34" charset="0"/>
              <a:cs typeface="Arial" pitchFamily="34" charset="0"/>
            </a:endParaRPr>
          </a:p>
        </p:txBody>
      </p:sp>
      <p:sp>
        <p:nvSpPr>
          <p:cNvPr id="3" name="Content Placeholder 2">
            <a:extLst>
              <a:ext uri="{FF2B5EF4-FFF2-40B4-BE49-F238E27FC236}">
                <a16:creationId xmlns:a16="http://schemas.microsoft.com/office/drawing/2014/main" id="{6BD0F0FB-1D65-44D8-823B-150B5A3A8DDB}"/>
              </a:ext>
            </a:extLst>
          </p:cNvPr>
          <p:cNvSpPr>
            <a:spLocks noGrp="1"/>
          </p:cNvSpPr>
          <p:nvPr>
            <p:ph idx="1"/>
          </p:nvPr>
        </p:nvSpPr>
        <p:spPr>
          <a:xfrm>
            <a:off x="496111" y="1391055"/>
            <a:ext cx="11008501" cy="4744753"/>
          </a:xfrm>
        </p:spPr>
        <p:txBody>
          <a:bodyPr>
            <a:normAutofit/>
          </a:bodyPr>
          <a:lstStyle/>
          <a:p>
            <a:pPr algn="just"/>
            <a:r>
              <a:rPr lang="en-US" dirty="0">
                <a:latin typeface="Arial" pitchFamily="34" charset="0"/>
                <a:cs typeface="Arial" pitchFamily="34" charset="0"/>
              </a:rPr>
              <a:t>Besides the signal integrity issues, there is one major catch that complicates the design of cascaded  dynamic circuits. </a:t>
            </a:r>
          </a:p>
          <a:p>
            <a:pPr algn="just"/>
            <a:r>
              <a:rPr lang="en-US" dirty="0">
                <a:latin typeface="Arial" pitchFamily="34" charset="0"/>
                <a:cs typeface="Arial" pitchFamily="34" charset="0"/>
              </a:rPr>
              <a:t>During the precharge phase (i.e., CLK =0), the outputs of both inverters are </a:t>
            </a:r>
            <a:r>
              <a:rPr lang="en-US" dirty="0" err="1">
                <a:latin typeface="Arial" pitchFamily="34" charset="0"/>
                <a:cs typeface="Arial" pitchFamily="34" charset="0"/>
              </a:rPr>
              <a:t>precharged</a:t>
            </a:r>
            <a:r>
              <a:rPr lang="en-US" dirty="0">
                <a:latin typeface="Arial" pitchFamily="34" charset="0"/>
                <a:cs typeface="Arial" pitchFamily="34" charset="0"/>
              </a:rPr>
              <a:t> to V</a:t>
            </a:r>
            <a:r>
              <a:rPr lang="en-US" baseline="-25000" dirty="0">
                <a:latin typeface="Arial" pitchFamily="34" charset="0"/>
                <a:cs typeface="Arial" pitchFamily="34" charset="0"/>
              </a:rPr>
              <a:t>DD. </a:t>
            </a:r>
            <a:r>
              <a:rPr lang="en-US" dirty="0">
                <a:latin typeface="Arial" pitchFamily="34" charset="0"/>
                <a:cs typeface="Arial" pitchFamily="34" charset="0"/>
              </a:rPr>
              <a:t>Assume that the primary input In makes a  0       1 transition (Figure 6.64b). On the rising edge of the clock output Out1 starts to discharge.</a:t>
            </a:r>
          </a:p>
          <a:p>
            <a:pPr algn="just"/>
            <a:endParaRPr lang="en-US" baseline="-25000" dirty="0">
              <a:latin typeface="Arial" pitchFamily="34" charset="0"/>
              <a:cs typeface="Arial" pitchFamily="34" charset="0"/>
            </a:endParaRPr>
          </a:p>
          <a:p>
            <a:pPr algn="just">
              <a:spcBef>
                <a:spcPts val="0"/>
              </a:spcBef>
            </a:pPr>
            <a:r>
              <a:rPr lang="en-US" dirty="0">
                <a:latin typeface="Arial" pitchFamily="34" charset="0"/>
                <a:cs typeface="Arial" pitchFamily="34" charset="0"/>
              </a:rPr>
              <a:t>The second output should remain  in the</a:t>
            </a:r>
          </a:p>
          <a:p>
            <a:pPr algn="just">
              <a:spcBef>
                <a:spcPts val="0"/>
              </a:spcBef>
            </a:pPr>
            <a:r>
              <a:rPr lang="en-US" dirty="0">
                <a:latin typeface="Arial" pitchFamily="34" charset="0"/>
                <a:cs typeface="Arial" pitchFamily="34" charset="0"/>
              </a:rPr>
              <a:t> </a:t>
            </a:r>
            <a:r>
              <a:rPr lang="en-US" dirty="0" err="1">
                <a:latin typeface="Arial" pitchFamily="34" charset="0"/>
                <a:cs typeface="Arial" pitchFamily="34" charset="0"/>
              </a:rPr>
              <a:t>precharged</a:t>
            </a:r>
            <a:r>
              <a:rPr lang="en-US" dirty="0">
                <a:latin typeface="Arial" pitchFamily="34" charset="0"/>
                <a:cs typeface="Arial" pitchFamily="34" charset="0"/>
              </a:rPr>
              <a:t> state of V</a:t>
            </a:r>
            <a:r>
              <a:rPr lang="en-US" baseline="-25000" dirty="0">
                <a:latin typeface="Arial" pitchFamily="34" charset="0"/>
                <a:cs typeface="Arial" pitchFamily="34" charset="0"/>
              </a:rPr>
              <a:t>DD</a:t>
            </a:r>
            <a:r>
              <a:rPr lang="en-US" dirty="0">
                <a:latin typeface="Arial" pitchFamily="34" charset="0"/>
                <a:cs typeface="Arial" pitchFamily="34" charset="0"/>
              </a:rPr>
              <a:t>  as its expected</a:t>
            </a:r>
          </a:p>
          <a:p>
            <a:pPr algn="just">
              <a:spcBef>
                <a:spcPts val="0"/>
              </a:spcBef>
            </a:pPr>
            <a:r>
              <a:rPr lang="en-US" dirty="0">
                <a:latin typeface="Arial" pitchFamily="34" charset="0"/>
                <a:cs typeface="Arial" pitchFamily="34" charset="0"/>
              </a:rPr>
              <a:t> value is 1.</a:t>
            </a:r>
          </a:p>
          <a:p>
            <a:pPr algn="just">
              <a:spcBef>
                <a:spcPts val="0"/>
              </a:spcBef>
            </a:pPr>
            <a:endParaRPr lang="en-US" baseline="-25000" dirty="0">
              <a:latin typeface="Arial" pitchFamily="34" charset="0"/>
              <a:cs typeface="Arial" pitchFamily="34" charset="0"/>
            </a:endParaRPr>
          </a:p>
          <a:p>
            <a:pPr>
              <a:spcBef>
                <a:spcPts val="0"/>
              </a:spcBef>
            </a:pPr>
            <a:r>
              <a:rPr lang="en-US" dirty="0">
                <a:latin typeface="Arial" pitchFamily="34" charset="0"/>
                <a:cs typeface="Arial" pitchFamily="34" charset="0"/>
              </a:rPr>
              <a:t>There is a finite propagation delay for the</a:t>
            </a:r>
          </a:p>
          <a:p>
            <a:pPr>
              <a:spcBef>
                <a:spcPts val="0"/>
              </a:spcBef>
            </a:pPr>
            <a:r>
              <a:rPr lang="en-US" dirty="0">
                <a:latin typeface="Arial" pitchFamily="34" charset="0"/>
                <a:cs typeface="Arial" pitchFamily="34" charset="0"/>
              </a:rPr>
              <a:t> input to discharge  Out1 to GND. </a:t>
            </a:r>
          </a:p>
          <a:p>
            <a:pPr>
              <a:spcBef>
                <a:spcPts val="0"/>
              </a:spcBef>
            </a:pPr>
            <a:r>
              <a:rPr lang="en-US" dirty="0">
                <a:latin typeface="Arial" pitchFamily="34" charset="0"/>
                <a:cs typeface="Arial" pitchFamily="34" charset="0"/>
              </a:rPr>
              <a:t>Therefore, the second output also starts</a:t>
            </a:r>
          </a:p>
          <a:p>
            <a:pPr>
              <a:spcBef>
                <a:spcPts val="0"/>
              </a:spcBef>
            </a:pPr>
            <a:r>
              <a:rPr lang="en-US" dirty="0">
                <a:latin typeface="Arial" pitchFamily="34" charset="0"/>
                <a:cs typeface="Arial" pitchFamily="34" charset="0"/>
              </a:rPr>
              <a:t> to discharge. Because of this precious</a:t>
            </a:r>
          </a:p>
          <a:p>
            <a:pPr>
              <a:spcBef>
                <a:spcPts val="0"/>
              </a:spcBef>
            </a:pPr>
            <a:r>
              <a:rPr lang="en-US" dirty="0">
                <a:latin typeface="Arial" pitchFamily="34" charset="0"/>
                <a:cs typeface="Arial" pitchFamily="34" charset="0"/>
              </a:rPr>
              <a:t>charge is lost. </a:t>
            </a:r>
          </a:p>
        </p:txBody>
      </p:sp>
      <p:sp>
        <p:nvSpPr>
          <p:cNvPr id="4" name="Footer Placeholder 3">
            <a:extLst>
              <a:ext uri="{FF2B5EF4-FFF2-40B4-BE49-F238E27FC236}">
                <a16:creationId xmlns:a16="http://schemas.microsoft.com/office/drawing/2014/main" id="{D7AB5497-4FD7-4E09-8760-7E7A18D43C7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2051" name="Picture 3"/>
          <p:cNvPicPr>
            <a:picLocks noChangeAspect="1" noChangeArrowheads="1"/>
          </p:cNvPicPr>
          <p:nvPr/>
        </p:nvPicPr>
        <p:blipFill>
          <a:blip r:embed="rId2" cstate="print"/>
          <a:srcRect/>
          <a:stretch>
            <a:fillRect/>
          </a:stretch>
        </p:blipFill>
        <p:spPr bwMode="auto">
          <a:xfrm>
            <a:off x="5126477" y="3249039"/>
            <a:ext cx="7065524" cy="3608962"/>
          </a:xfrm>
          <a:prstGeom prst="rect">
            <a:avLst/>
          </a:prstGeom>
          <a:noFill/>
          <a:ln w="9525">
            <a:noFill/>
            <a:miter lim="800000"/>
            <a:headEnd/>
            <a:tailEnd/>
          </a:ln>
        </p:spPr>
      </p:pic>
      <p:cxnSp>
        <p:nvCxnSpPr>
          <p:cNvPr id="12" name="Straight Arrow Connector 11"/>
          <p:cNvCxnSpPr/>
          <p:nvPr/>
        </p:nvCxnSpPr>
        <p:spPr>
          <a:xfrm>
            <a:off x="4815203" y="2538919"/>
            <a:ext cx="42801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7902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83718-22D4-45D1-AE58-1E8C46F755D1}"/>
              </a:ext>
            </a:extLst>
          </p:cNvPr>
          <p:cNvSpPr>
            <a:spLocks noGrp="1"/>
          </p:cNvSpPr>
          <p:nvPr>
            <p:ph type="title"/>
          </p:nvPr>
        </p:nvSpPr>
        <p:spPr>
          <a:xfrm>
            <a:off x="1564641" y="624110"/>
            <a:ext cx="9939972" cy="1280890"/>
          </a:xfrm>
        </p:spPr>
        <p:txBody>
          <a:bodyPr/>
          <a:lstStyle/>
          <a:p>
            <a:r>
              <a:rPr lang="en-US" dirty="0">
                <a:latin typeface="Arial" pitchFamily="34" charset="0"/>
                <a:cs typeface="Arial" pitchFamily="34" charset="0"/>
              </a:rPr>
              <a:t>Continue….</a:t>
            </a:r>
            <a:endParaRPr lang="en-IN" dirty="0">
              <a:latin typeface="Arial" pitchFamily="34" charset="0"/>
              <a:cs typeface="Arial" pitchFamily="34" charset="0"/>
            </a:endParaRPr>
          </a:p>
        </p:txBody>
      </p:sp>
      <p:sp>
        <p:nvSpPr>
          <p:cNvPr id="3" name="Content Placeholder 2">
            <a:extLst>
              <a:ext uri="{FF2B5EF4-FFF2-40B4-BE49-F238E27FC236}">
                <a16:creationId xmlns:a16="http://schemas.microsoft.com/office/drawing/2014/main" id="{6BD0F0FB-1D65-44D8-823B-150B5A3A8DDB}"/>
              </a:ext>
            </a:extLst>
          </p:cNvPr>
          <p:cNvSpPr>
            <a:spLocks noGrp="1"/>
          </p:cNvSpPr>
          <p:nvPr>
            <p:ph idx="1"/>
          </p:nvPr>
        </p:nvSpPr>
        <p:spPr>
          <a:xfrm>
            <a:off x="496111" y="1391055"/>
            <a:ext cx="11008501" cy="4744753"/>
          </a:xfrm>
        </p:spPr>
        <p:txBody>
          <a:bodyPr>
            <a:normAutofit/>
          </a:bodyPr>
          <a:lstStyle/>
          <a:p>
            <a:r>
              <a:rPr lang="en-US" dirty="0">
                <a:latin typeface="Arial" pitchFamily="34" charset="0"/>
                <a:cs typeface="Arial" pitchFamily="34" charset="0"/>
              </a:rPr>
              <a:t>This leaves Out2 at an intermediate voltage level. The correct level will not be recovered. The charge loss leads to reduced noise margins and potential malfunctioning.</a:t>
            </a:r>
          </a:p>
        </p:txBody>
      </p:sp>
      <p:sp>
        <p:nvSpPr>
          <p:cNvPr id="4" name="Footer Placeholder 3">
            <a:extLst>
              <a:ext uri="{FF2B5EF4-FFF2-40B4-BE49-F238E27FC236}">
                <a16:creationId xmlns:a16="http://schemas.microsoft.com/office/drawing/2014/main" id="{D7AB5497-4FD7-4E09-8760-7E7A18D43C7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667902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83718-22D4-45D1-AE58-1E8C46F755D1}"/>
              </a:ext>
            </a:extLst>
          </p:cNvPr>
          <p:cNvSpPr>
            <a:spLocks noGrp="1"/>
          </p:cNvSpPr>
          <p:nvPr>
            <p:ph type="title"/>
          </p:nvPr>
        </p:nvSpPr>
        <p:spPr>
          <a:xfrm>
            <a:off x="1564641" y="624110"/>
            <a:ext cx="993997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Clock Skew Problem</a:t>
            </a:r>
            <a:endParaRPr lang="en-IN" dirty="0"/>
          </a:p>
        </p:txBody>
      </p:sp>
      <p:sp>
        <p:nvSpPr>
          <p:cNvPr id="3" name="Content Placeholder 2">
            <a:extLst>
              <a:ext uri="{FF2B5EF4-FFF2-40B4-BE49-F238E27FC236}">
                <a16:creationId xmlns:a16="http://schemas.microsoft.com/office/drawing/2014/main" id="{6BD0F0FB-1D65-44D8-823B-150B5A3A8DDB}"/>
              </a:ext>
            </a:extLst>
          </p:cNvPr>
          <p:cNvSpPr>
            <a:spLocks noGrp="1"/>
          </p:cNvSpPr>
          <p:nvPr>
            <p:ph idx="1"/>
          </p:nvPr>
        </p:nvSpPr>
        <p:spPr>
          <a:xfrm>
            <a:off x="1259840" y="1493520"/>
            <a:ext cx="10244772" cy="4642288"/>
          </a:xfrm>
        </p:spPr>
        <p:txBody>
          <a:bodyPr>
            <a:normAutofit/>
          </a:bodyPr>
          <a:lstStyle/>
          <a:p>
            <a:r>
              <a:rPr lang="en-US" sz="1600" dirty="0">
                <a:latin typeface="Arial" panose="020B0604020202020204" pitchFamily="34" charset="0"/>
                <a:cs typeface="Arial" panose="020B0604020202020204" pitchFamily="34" charset="0"/>
              </a:rPr>
              <a:t>Clock skew problem arises in dynamic CMOS circuits, particularly whenever you are realizing multilevel circuits.  </a:t>
            </a:r>
          </a:p>
          <a:p>
            <a:pPr algn="just"/>
            <a:r>
              <a:rPr lang="en-US" sz="1600" dirty="0">
                <a:latin typeface="Arial" panose="020B0604020202020204" pitchFamily="34" charset="0"/>
                <a:cs typeface="Arial" panose="020B0604020202020204" pitchFamily="34" charset="0"/>
              </a:rPr>
              <a:t>Clock skew problem arises, because you have to distribute the clock throughout the entire circuit, but the depending on the clock tri-network, the clock signal can reach different points of the circuit at different points of the time,  because of different amounts of delay of the clock tree network.</a:t>
            </a:r>
          </a:p>
          <a:p>
            <a:pPr algn="just"/>
            <a:r>
              <a:rPr lang="en-US" sz="1600" dirty="0">
                <a:latin typeface="Arial" panose="020B0604020202020204" pitchFamily="34" charset="0"/>
                <a:cs typeface="Arial" panose="020B0604020202020204" pitchFamily="34" charset="0"/>
              </a:rPr>
              <a:t>Furthermore, this delay due to resistance and parasitic capacitance associated with the wire.  It result in hazard and race condition (or incorrect output).</a:t>
            </a:r>
          </a:p>
          <a:p>
            <a:pPr algn="just"/>
            <a:r>
              <a:rPr lang="en-US" sz="1600" dirty="0">
                <a:latin typeface="Arial" panose="020B0604020202020204" pitchFamily="34" charset="0"/>
                <a:cs typeface="Arial" panose="020B0604020202020204" pitchFamily="34" charset="0"/>
              </a:rPr>
              <a:t>This problem can be overcome by setting the output low during </a:t>
            </a:r>
            <a:r>
              <a:rPr lang="en-US" sz="1600" dirty="0" err="1">
                <a:latin typeface="Arial" panose="020B0604020202020204" pitchFamily="34" charset="0"/>
                <a:cs typeface="Arial" panose="020B0604020202020204" pitchFamily="34" charset="0"/>
              </a:rPr>
              <a:t>pr</a:t>
            </a:r>
            <a:r>
              <a:rPr lang="en-US" sz="1600" dirty="0">
                <a:latin typeface="Arial" panose="020B0604020202020204" pitchFamily="34" charset="0"/>
                <a:cs typeface="Arial" panose="020B0604020202020204" pitchFamily="34" charset="0"/>
              </a:rPr>
              <a:t>-charge.</a:t>
            </a:r>
            <a:endParaRPr lang="en-IN" sz="16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D7AB5497-4FD7-4E09-8760-7E7A18D43C7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a:extLst>
              <a:ext uri="{FF2B5EF4-FFF2-40B4-BE49-F238E27FC236}">
                <a16:creationId xmlns:a16="http://schemas.microsoft.com/office/drawing/2014/main" id="{14DDE92B-F38A-454A-BC78-E46D215B5084}"/>
              </a:ext>
            </a:extLst>
          </p:cNvPr>
          <p:cNvPicPr>
            <a:picLocks noChangeAspect="1"/>
          </p:cNvPicPr>
          <p:nvPr/>
        </p:nvPicPr>
        <p:blipFill>
          <a:blip r:embed="rId2" cstate="print"/>
          <a:stretch>
            <a:fillRect/>
          </a:stretch>
        </p:blipFill>
        <p:spPr>
          <a:xfrm>
            <a:off x="4518022" y="3992880"/>
            <a:ext cx="6854007" cy="2142928"/>
          </a:xfrm>
          <a:prstGeom prst="rect">
            <a:avLst/>
          </a:prstGeom>
        </p:spPr>
      </p:pic>
    </p:spTree>
    <p:extLst>
      <p:ext uri="{BB962C8B-B14F-4D97-AF65-F5344CB8AC3E}">
        <p14:creationId xmlns:p14="http://schemas.microsoft.com/office/powerpoint/2010/main" val="1667902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4965-450C-423E-8A81-6DA3109B6C3A}"/>
              </a:ext>
            </a:extLst>
          </p:cNvPr>
          <p:cNvSpPr>
            <a:spLocks noGrp="1"/>
          </p:cNvSpPr>
          <p:nvPr>
            <p:ph type="title"/>
          </p:nvPr>
        </p:nvSpPr>
        <p:spPr>
          <a:xfrm>
            <a:off x="1717041" y="624110"/>
            <a:ext cx="978757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Domino CMOS Circuits </a:t>
            </a:r>
            <a:endParaRPr lang="en-IN" dirty="0"/>
          </a:p>
        </p:txBody>
      </p:sp>
      <p:sp>
        <p:nvSpPr>
          <p:cNvPr id="3" name="Content Placeholder 2">
            <a:extLst>
              <a:ext uri="{FF2B5EF4-FFF2-40B4-BE49-F238E27FC236}">
                <a16:creationId xmlns:a16="http://schemas.microsoft.com/office/drawing/2014/main" id="{3E80E5B1-2E0E-41B5-AFBE-D05BD86A7842}"/>
              </a:ext>
            </a:extLst>
          </p:cNvPr>
          <p:cNvSpPr>
            <a:spLocks noGrp="1"/>
          </p:cNvSpPr>
          <p:nvPr>
            <p:ph idx="1"/>
          </p:nvPr>
        </p:nvSpPr>
        <p:spPr>
          <a:xfrm>
            <a:off x="1353024" y="1819706"/>
            <a:ext cx="10503695" cy="4316102"/>
          </a:xfrm>
        </p:spPr>
        <p:txBody>
          <a:bodyPr>
            <a:normAutofit/>
          </a:bodyPr>
          <a:lstStyle/>
          <a:p>
            <a:r>
              <a:rPr lang="en-US" dirty="0">
                <a:latin typeface="Arial" panose="020B0604020202020204" pitchFamily="34" charset="0"/>
                <a:cs typeface="Arial" panose="020B0604020202020204" pitchFamily="34" charset="0"/>
              </a:rPr>
              <a:t>The problem with faulty discharge of Pre-charged nodes in CMOS dynamic logic circuits can be solved by placing an inverter in series with the output of each gate.</a:t>
            </a:r>
          </a:p>
          <a:p>
            <a:r>
              <a:rPr lang="en-US" dirty="0">
                <a:latin typeface="Arial" panose="020B0604020202020204" pitchFamily="34" charset="0"/>
                <a:cs typeface="Arial" panose="020B0604020202020204" pitchFamily="34" charset="0"/>
              </a:rPr>
              <a:t>Domino gate consist of two distinct components:</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 The first component is a conventional </a:t>
            </a:r>
            <a:r>
              <a:rPr lang="en-US" dirty="0" err="1">
                <a:latin typeface="Arial" panose="020B0604020202020204" pitchFamily="34" charset="0"/>
                <a:cs typeface="Arial" panose="020B0604020202020204" pitchFamily="34" charset="0"/>
              </a:rPr>
              <a:t>nMOS</a:t>
            </a:r>
            <a:r>
              <a:rPr lang="en-US" dirty="0">
                <a:latin typeface="Arial" panose="020B0604020202020204" pitchFamily="34" charset="0"/>
                <a:cs typeface="Arial" panose="020B0604020202020204" pitchFamily="34" charset="0"/>
              </a:rPr>
              <a:t> gate.</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The second component is a static inverting CMOS buffer.</a:t>
            </a:r>
          </a:p>
          <a:p>
            <a:pPr>
              <a:buFont typeface="Wingdings" panose="05000000000000000000" pitchFamily="2" charset="2"/>
              <a:buChar char="Ø"/>
            </a:pPr>
            <a:endParaRPr lang="en-US"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en-US" dirty="0">
                <a:latin typeface="Arial" panose="020B0604020202020204" pitchFamily="34" charset="0"/>
                <a:cs typeface="Arial" panose="020B0604020202020204" pitchFamily="34" charset="0"/>
              </a:rPr>
              <a:t>For example, during pre-charge you are applying a inverter </a:t>
            </a:r>
          </a:p>
          <a:p>
            <a:pPr marL="0" indent="0" algn="just">
              <a:buNone/>
            </a:pPr>
            <a:r>
              <a:rPr lang="en-US" dirty="0">
                <a:latin typeface="Arial" panose="020B0604020202020204" pitchFamily="34" charset="0"/>
                <a:cs typeface="Arial" panose="020B0604020202020204" pitchFamily="34" charset="0"/>
              </a:rPr>
              <a:t>     here. So, when it is high, then this is low. </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14531068-CCC3-4940-800C-C4CDCEA6B02D}"/>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a:extLst>
              <a:ext uri="{FF2B5EF4-FFF2-40B4-BE49-F238E27FC236}">
                <a16:creationId xmlns:a16="http://schemas.microsoft.com/office/drawing/2014/main" id="{DA32E84A-E51F-45CD-874C-7C5790B50FB6}"/>
              </a:ext>
            </a:extLst>
          </p:cNvPr>
          <p:cNvPicPr>
            <a:picLocks noChangeAspect="1"/>
          </p:cNvPicPr>
          <p:nvPr/>
        </p:nvPicPr>
        <p:blipFill>
          <a:blip r:embed="rId2" cstate="print"/>
          <a:stretch>
            <a:fillRect/>
          </a:stretch>
        </p:blipFill>
        <p:spPr>
          <a:xfrm>
            <a:off x="8517571" y="2556167"/>
            <a:ext cx="3383280" cy="3579641"/>
          </a:xfrm>
          <a:prstGeom prst="rect">
            <a:avLst/>
          </a:prstGeom>
        </p:spPr>
      </p:pic>
    </p:spTree>
    <p:extLst>
      <p:ext uri="{BB962C8B-B14F-4D97-AF65-F5344CB8AC3E}">
        <p14:creationId xmlns:p14="http://schemas.microsoft.com/office/powerpoint/2010/main" val="1779839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D7CD-0227-4BAE-821E-DF02435B614D}"/>
              </a:ext>
            </a:extLst>
          </p:cNvPr>
          <p:cNvSpPr>
            <a:spLocks noGrp="1"/>
          </p:cNvSpPr>
          <p:nvPr>
            <p:ph type="title"/>
          </p:nvPr>
        </p:nvSpPr>
        <p:spPr>
          <a:xfrm>
            <a:off x="1950721" y="624110"/>
            <a:ext cx="955389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continue…..</a:t>
            </a:r>
            <a:endParaRPr lang="en-IN" dirty="0"/>
          </a:p>
        </p:txBody>
      </p:sp>
      <p:sp>
        <p:nvSpPr>
          <p:cNvPr id="3" name="Content Placeholder 2">
            <a:extLst>
              <a:ext uri="{FF2B5EF4-FFF2-40B4-BE49-F238E27FC236}">
                <a16:creationId xmlns:a16="http://schemas.microsoft.com/office/drawing/2014/main" id="{E1271893-3C53-4B7B-8FE2-C3A06C004BC4}"/>
              </a:ext>
            </a:extLst>
          </p:cNvPr>
          <p:cNvSpPr>
            <a:spLocks noGrp="1"/>
          </p:cNvSpPr>
          <p:nvPr>
            <p:ph idx="1"/>
          </p:nvPr>
        </p:nvSpPr>
        <p:spPr>
          <a:xfrm>
            <a:off x="700391" y="1595119"/>
            <a:ext cx="11491609" cy="4494395"/>
          </a:xfrm>
        </p:spPr>
        <p:txBody>
          <a:bodyPr>
            <a:normAutofit fontScale="92500" lnSpcReduction="20000"/>
          </a:bodyPr>
          <a:lstStyle/>
          <a:p>
            <a:pPr marL="0" lvl="0" indent="0" algn="just">
              <a:buClr>
                <a:srgbClr val="E78712"/>
              </a:buClr>
              <a:buNone/>
            </a:pPr>
            <a:r>
              <a:rPr lang="en-US" sz="1900" dirty="0">
                <a:solidFill>
                  <a:prstClr val="black">
                    <a:lumMod val="75000"/>
                    <a:lumOff val="25000"/>
                  </a:prstClr>
                </a:solidFill>
                <a:latin typeface="Arial" pitchFamily="34" charset="0"/>
                <a:cs typeface="Arial" pitchFamily="34" charset="0"/>
              </a:rPr>
              <a:t>So, this cannot really discharge and then you  can realize the circuit , it will always get correct output irrespective of this delay in irrespective of this clock  skew problem . </a:t>
            </a:r>
            <a:r>
              <a:rPr lang="en-US" sz="1900" dirty="0">
                <a:latin typeface="Arial" pitchFamily="34" charset="0"/>
                <a:cs typeface="Arial" pitchFamily="34" charset="0"/>
              </a:rPr>
              <a:t>so; that means, even if the clock arises late to the first stage, it will not lead to premature discharge of this capacitor during evaluation phase of the stage and pre-charge phase of the previous stage. </a:t>
            </a:r>
          </a:p>
          <a:p>
            <a:pPr marL="0" lvl="0" indent="0" algn="just">
              <a:buClr>
                <a:srgbClr val="E78712"/>
              </a:buClr>
              <a:buNone/>
            </a:pPr>
            <a:endParaRPr lang="en-IN" sz="1900" dirty="0">
              <a:latin typeface="Arial" pitchFamily="34" charset="0"/>
              <a:cs typeface="Arial" pitchFamily="34" charset="0"/>
            </a:endParaRPr>
          </a:p>
          <a:p>
            <a:pPr algn="just">
              <a:buNone/>
            </a:pPr>
            <a:r>
              <a:rPr lang="en-US" sz="1900" dirty="0">
                <a:latin typeface="Arial" pitchFamily="34" charset="0"/>
                <a:cs typeface="Arial" pitchFamily="34" charset="0"/>
              </a:rPr>
              <a:t>The introduction of the static inverter has the additional advantage that the fan-out of the gate is driven by a static inverter with a low impedance output, which increases noise immunity. The buffer furthermore reduces the capacitance of the dynamic output node by separating internal and load capacitances</a:t>
            </a:r>
          </a:p>
          <a:p>
            <a:pPr marL="0" lvl="0" indent="0">
              <a:buClr>
                <a:srgbClr val="E78712"/>
              </a:buClr>
              <a:buNone/>
            </a:pPr>
            <a:r>
              <a:rPr lang="en-US" sz="1900" b="1" u="sng" dirty="0">
                <a:solidFill>
                  <a:prstClr val="black">
                    <a:lumMod val="75000"/>
                    <a:lumOff val="25000"/>
                  </a:prstClr>
                </a:solidFill>
                <a:latin typeface="Arial" pitchFamily="34" charset="0"/>
                <a:cs typeface="Arial" pitchFamily="34" charset="0"/>
              </a:rPr>
              <a:t>Advantages </a:t>
            </a:r>
          </a:p>
          <a:p>
            <a:pPr lvl="0">
              <a:buClr>
                <a:srgbClr val="E78712"/>
              </a:buClr>
            </a:pPr>
            <a:r>
              <a:rPr lang="en-IN" sz="1900" dirty="0">
                <a:solidFill>
                  <a:prstClr val="black">
                    <a:lumMod val="75000"/>
                    <a:lumOff val="25000"/>
                  </a:prstClr>
                </a:solidFill>
                <a:latin typeface="Arial" pitchFamily="34" charset="0"/>
                <a:cs typeface="Arial" pitchFamily="34" charset="0"/>
              </a:rPr>
              <a:t>Low power consumption </a:t>
            </a:r>
          </a:p>
          <a:p>
            <a:pPr lvl="0">
              <a:buClr>
                <a:srgbClr val="E78712"/>
              </a:buClr>
            </a:pPr>
            <a:r>
              <a:rPr lang="en-IN" sz="1900" dirty="0">
                <a:solidFill>
                  <a:prstClr val="black">
                    <a:lumMod val="75000"/>
                    <a:lumOff val="25000"/>
                  </a:prstClr>
                </a:solidFill>
                <a:latin typeface="Arial" pitchFamily="34" charset="0"/>
                <a:cs typeface="Arial" pitchFamily="34" charset="0"/>
              </a:rPr>
              <a:t>Reduced chip area</a:t>
            </a:r>
          </a:p>
          <a:p>
            <a:pPr lvl="0">
              <a:buClr>
                <a:srgbClr val="E78712"/>
              </a:buClr>
            </a:pPr>
            <a:r>
              <a:rPr lang="en-IN" sz="1900" dirty="0">
                <a:solidFill>
                  <a:prstClr val="black">
                    <a:lumMod val="75000"/>
                    <a:lumOff val="25000"/>
                  </a:prstClr>
                </a:solidFill>
                <a:latin typeface="Arial" pitchFamily="34" charset="0"/>
                <a:cs typeface="Arial" pitchFamily="34" charset="0"/>
              </a:rPr>
              <a:t>Higher speed of operation</a:t>
            </a:r>
          </a:p>
          <a:p>
            <a:pPr lvl="0">
              <a:buClr>
                <a:srgbClr val="E78712"/>
              </a:buClr>
            </a:pPr>
            <a:r>
              <a:rPr lang="en-IN" sz="1900" dirty="0">
                <a:solidFill>
                  <a:prstClr val="black">
                    <a:lumMod val="75000"/>
                    <a:lumOff val="25000"/>
                  </a:prstClr>
                </a:solidFill>
                <a:latin typeface="Arial" pitchFamily="34" charset="0"/>
                <a:cs typeface="Arial" pitchFamily="34" charset="0"/>
              </a:rPr>
              <a:t>No short circuit power dissipation</a:t>
            </a:r>
          </a:p>
          <a:p>
            <a:pPr lvl="0">
              <a:buClr>
                <a:srgbClr val="E78712"/>
              </a:buClr>
            </a:pPr>
            <a:r>
              <a:rPr lang="en-IN" sz="1900" dirty="0">
                <a:solidFill>
                  <a:prstClr val="black">
                    <a:lumMod val="75000"/>
                    <a:lumOff val="25000"/>
                  </a:prstClr>
                </a:solidFill>
                <a:latin typeface="Arial" pitchFamily="34" charset="0"/>
                <a:cs typeface="Arial" pitchFamily="34" charset="0"/>
              </a:rPr>
              <a:t>No glitching power dissipation</a:t>
            </a:r>
          </a:p>
          <a:p>
            <a:endParaRPr lang="en-IN" dirty="0"/>
          </a:p>
        </p:txBody>
      </p:sp>
      <p:sp>
        <p:nvSpPr>
          <p:cNvPr id="4" name="Footer Placeholder 3">
            <a:extLst>
              <a:ext uri="{FF2B5EF4-FFF2-40B4-BE49-F238E27FC236}">
                <a16:creationId xmlns:a16="http://schemas.microsoft.com/office/drawing/2014/main" id="{7669B439-6C14-4FA5-A2D0-E4DE77EC9F36}"/>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a:p>
            <a:pPr lvl="0"/>
            <a:endParaRPr lang="en-IN" dirty="0"/>
          </a:p>
        </p:txBody>
      </p:sp>
    </p:spTree>
    <p:extLst>
      <p:ext uri="{BB962C8B-B14F-4D97-AF65-F5344CB8AC3E}">
        <p14:creationId xmlns:p14="http://schemas.microsoft.com/office/powerpoint/2010/main" val="1275929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E40D4-8BD5-455A-90C1-ECD86FC3977C}"/>
              </a:ext>
            </a:extLst>
          </p:cNvPr>
          <p:cNvSpPr>
            <a:spLocks noGrp="1"/>
          </p:cNvSpPr>
          <p:nvPr>
            <p:ph type="title"/>
          </p:nvPr>
        </p:nvSpPr>
        <p:spPr>
          <a:xfrm>
            <a:off x="1778001" y="624110"/>
            <a:ext cx="972661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Limitations:</a:t>
            </a:r>
            <a:endParaRPr lang="en-IN" dirty="0"/>
          </a:p>
        </p:txBody>
      </p:sp>
      <p:sp>
        <p:nvSpPr>
          <p:cNvPr id="3" name="Content Placeholder 2">
            <a:extLst>
              <a:ext uri="{FF2B5EF4-FFF2-40B4-BE49-F238E27FC236}">
                <a16:creationId xmlns:a16="http://schemas.microsoft.com/office/drawing/2014/main" id="{6020BF4A-7D4E-447A-BBDE-BEC4F1A7F467}"/>
              </a:ext>
            </a:extLst>
          </p:cNvPr>
          <p:cNvSpPr>
            <a:spLocks noGrp="1"/>
          </p:cNvSpPr>
          <p:nvPr>
            <p:ph idx="1"/>
          </p:nvPr>
        </p:nvSpPr>
        <p:spPr>
          <a:xfrm>
            <a:off x="1676400" y="1534160"/>
            <a:ext cx="10007600" cy="4377062"/>
          </a:xfrm>
        </p:spPr>
        <p:txBody>
          <a:bodyPr/>
          <a:lstStyle/>
          <a:p>
            <a:r>
              <a:rPr lang="en-US" dirty="0">
                <a:latin typeface="Arial" panose="020B0604020202020204" pitchFamily="34" charset="0"/>
                <a:cs typeface="Arial" panose="020B0604020202020204" pitchFamily="34" charset="0"/>
              </a:rPr>
              <a:t>Each gate requires an inverter buffer</a:t>
            </a:r>
          </a:p>
          <a:p>
            <a:r>
              <a:rPr lang="en-US" dirty="0">
                <a:latin typeface="Arial" panose="020B0604020202020204" pitchFamily="34" charset="0"/>
                <a:cs typeface="Arial" panose="020B0604020202020204" pitchFamily="34" charset="0"/>
              </a:rPr>
              <a:t>All gates are non-inverting in nature</a:t>
            </a:r>
          </a:p>
          <a:p>
            <a:r>
              <a:rPr lang="en-US" dirty="0">
                <a:latin typeface="Arial" panose="020B0604020202020204" pitchFamily="34" charset="0"/>
                <a:cs typeface="Arial" panose="020B0604020202020204" pitchFamily="34" charset="0"/>
              </a:rPr>
              <a:t>Higher switching activity </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dirty="0">
                <a:latin typeface="Arial" panose="020B0604020202020204" pitchFamily="34" charset="0"/>
                <a:cs typeface="Arial" panose="020B0604020202020204" pitchFamily="34" charset="0"/>
              </a:rPr>
              <a:t>How to deal with non-inverting property of domino logic ?</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Re-organize the logic using bubble shifting to transform the circuit.</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Dual rail domino logic.</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DBF51891-CDC8-4C7B-AD29-76548605FCDC}"/>
              </a:ext>
            </a:extLst>
          </p:cNvPr>
          <p:cNvSpPr>
            <a:spLocks noGrp="1"/>
          </p:cNvSpPr>
          <p:nvPr>
            <p:ph type="ftr" sz="quarter" idx="11"/>
          </p:nvPr>
        </p:nvSpPr>
        <p:spPr/>
        <p:txBody>
          <a:bodyPr/>
          <a:lstStyle/>
          <a:p>
            <a:endParaRPr lang="en-IN" dirty="0"/>
          </a:p>
        </p:txBody>
      </p:sp>
      <p:sp>
        <p:nvSpPr>
          <p:cNvPr id="5" name="Footer Placeholder 3">
            <a:extLst>
              <a:ext uri="{FF2B5EF4-FFF2-40B4-BE49-F238E27FC236}">
                <a16:creationId xmlns:a16="http://schemas.microsoft.com/office/drawing/2014/main" id="{EF051A2B-3556-4CE7-9251-8AC17B36A602}"/>
              </a:ext>
            </a:extLst>
          </p:cNvPr>
          <p:cNvSpPr txBox="1">
            <a:spLocks/>
          </p:cNvSpPr>
          <p:nvPr/>
        </p:nvSpPr>
        <p:spPr>
          <a:xfrm>
            <a:off x="2296160" y="6135808"/>
            <a:ext cx="8065451" cy="517525"/>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dirty="0">
                <a:solidFill>
                  <a:srgbClr val="C00000"/>
                </a:solidFill>
                <a:latin typeface="Arial" panose="020B0604020202020204" pitchFamily="34" charset="0"/>
                <a:cs typeface="Arial" panose="020B0604020202020204" pitchFamily="34" charset="0"/>
              </a:rPr>
              <a:t>Rohit Lorenzo, VIT-AP</a:t>
            </a:r>
          </a:p>
          <a:p>
            <a:endParaRPr lang="en-IN" dirty="0"/>
          </a:p>
        </p:txBody>
      </p:sp>
    </p:spTree>
    <p:extLst>
      <p:ext uri="{BB962C8B-B14F-4D97-AF65-F5344CB8AC3E}">
        <p14:creationId xmlns:p14="http://schemas.microsoft.com/office/powerpoint/2010/main" val="2783265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85A01-8F20-4F61-97A3-EED6D8836D3A}"/>
              </a:ext>
            </a:extLst>
          </p:cNvPr>
          <p:cNvSpPr>
            <a:spLocks noGrp="1"/>
          </p:cNvSpPr>
          <p:nvPr>
            <p:ph type="title"/>
          </p:nvPr>
        </p:nvSpPr>
        <p:spPr>
          <a:xfrm>
            <a:off x="1645921" y="624110"/>
            <a:ext cx="985869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Bubble Shifting</a:t>
            </a:r>
            <a:endParaRPr lang="en-IN" dirty="0"/>
          </a:p>
        </p:txBody>
      </p:sp>
      <p:pic>
        <p:nvPicPr>
          <p:cNvPr id="5" name="Content Placeholder 4">
            <a:extLst>
              <a:ext uri="{FF2B5EF4-FFF2-40B4-BE49-F238E27FC236}">
                <a16:creationId xmlns:a16="http://schemas.microsoft.com/office/drawing/2014/main" id="{6EE9270D-B9F6-4DB3-8014-F294FDD82915}"/>
              </a:ext>
            </a:extLst>
          </p:cNvPr>
          <p:cNvPicPr>
            <a:picLocks noGrp="1" noChangeAspect="1"/>
          </p:cNvPicPr>
          <p:nvPr>
            <p:ph idx="1"/>
          </p:nvPr>
        </p:nvPicPr>
        <p:blipFill>
          <a:blip r:embed="rId2" cstate="print"/>
          <a:stretch>
            <a:fillRect/>
          </a:stretch>
        </p:blipFill>
        <p:spPr>
          <a:xfrm>
            <a:off x="3956212" y="1905000"/>
            <a:ext cx="4279575" cy="3870960"/>
          </a:xfrm>
          <a:prstGeom prst="rect">
            <a:avLst/>
          </a:prstGeom>
        </p:spPr>
      </p:pic>
      <p:sp>
        <p:nvSpPr>
          <p:cNvPr id="4" name="Footer Placeholder 3">
            <a:extLst>
              <a:ext uri="{FF2B5EF4-FFF2-40B4-BE49-F238E27FC236}">
                <a16:creationId xmlns:a16="http://schemas.microsoft.com/office/drawing/2014/main" id="{2AEEF53B-31EB-4BE7-B4E5-C0A4DF0396E2}"/>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7765220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53F54-00A9-40A1-B078-B58867969EAA}"/>
              </a:ext>
            </a:extLst>
          </p:cNvPr>
          <p:cNvSpPr>
            <a:spLocks noGrp="1"/>
          </p:cNvSpPr>
          <p:nvPr>
            <p:ph type="title"/>
          </p:nvPr>
        </p:nvSpPr>
        <p:spPr>
          <a:xfrm>
            <a:off x="2021841" y="624110"/>
            <a:ext cx="948277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Dual Rail</a:t>
            </a:r>
            <a:endParaRPr lang="en-IN" dirty="0"/>
          </a:p>
        </p:txBody>
      </p:sp>
      <p:sp>
        <p:nvSpPr>
          <p:cNvPr id="3" name="Content Placeholder 2">
            <a:extLst>
              <a:ext uri="{FF2B5EF4-FFF2-40B4-BE49-F238E27FC236}">
                <a16:creationId xmlns:a16="http://schemas.microsoft.com/office/drawing/2014/main" id="{1CB92C6E-6195-4541-8521-7A5B9A2621C0}"/>
              </a:ext>
            </a:extLst>
          </p:cNvPr>
          <p:cNvSpPr>
            <a:spLocks noGrp="1"/>
          </p:cNvSpPr>
          <p:nvPr>
            <p:ph idx="1"/>
          </p:nvPr>
        </p:nvSpPr>
        <p:spPr>
          <a:xfrm>
            <a:off x="1219200" y="1828800"/>
            <a:ext cx="10285412" cy="4082422"/>
          </a:xfrm>
        </p:spPr>
        <p:txBody>
          <a:bodyPr/>
          <a:lstStyle/>
          <a:p>
            <a:pPr algn="just"/>
            <a:r>
              <a:rPr lang="en-US" dirty="0">
                <a:solidFill>
                  <a:srgbClr val="000000"/>
                </a:solidFill>
                <a:latin typeface="Arial" panose="020B0604020202020204" pitchFamily="34" charset="0"/>
                <a:cs typeface="Arial" panose="020B0604020202020204" pitchFamily="34" charset="0"/>
              </a:rPr>
              <a:t>we are applying input and producing F, in addition to F you will be also realizing F bar; that means, you are converting a dual rail circuit; that means, basic domino circuit can be modified to realize F as well as F bar simultaneously. Then it will be you know wherever inverter is required will be applying inverter. So, it is no longer realizing only positive unit function, because it is realizing positive unit and its compliment</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83E110ED-FF2E-4501-B024-B273BA064BF7}"/>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a:extLst>
              <a:ext uri="{FF2B5EF4-FFF2-40B4-BE49-F238E27FC236}">
                <a16:creationId xmlns:a16="http://schemas.microsoft.com/office/drawing/2014/main" id="{811F1764-D809-4571-AFBA-901483113E29}"/>
              </a:ext>
            </a:extLst>
          </p:cNvPr>
          <p:cNvPicPr>
            <a:picLocks noChangeAspect="1"/>
          </p:cNvPicPr>
          <p:nvPr/>
        </p:nvPicPr>
        <p:blipFill>
          <a:blip r:embed="rId2" cstate="print"/>
          <a:stretch>
            <a:fillRect/>
          </a:stretch>
        </p:blipFill>
        <p:spPr>
          <a:xfrm>
            <a:off x="5880430" y="3109690"/>
            <a:ext cx="4109060" cy="2438611"/>
          </a:xfrm>
          <a:prstGeom prst="rect">
            <a:avLst/>
          </a:prstGeom>
        </p:spPr>
      </p:pic>
    </p:spTree>
    <p:extLst>
      <p:ext uri="{BB962C8B-B14F-4D97-AF65-F5344CB8AC3E}">
        <p14:creationId xmlns:p14="http://schemas.microsoft.com/office/powerpoint/2010/main" val="37517703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4BE95-9646-479D-9B5F-D5D557F497D9}"/>
              </a:ext>
            </a:extLst>
          </p:cNvPr>
          <p:cNvSpPr>
            <a:spLocks noGrp="1"/>
          </p:cNvSpPr>
          <p:nvPr>
            <p:ph type="title"/>
          </p:nvPr>
        </p:nvSpPr>
        <p:spPr>
          <a:xfrm>
            <a:off x="1788161" y="624110"/>
            <a:ext cx="9716452" cy="1280890"/>
          </a:xfrm>
        </p:spPr>
        <p:txBody>
          <a:bodyPr/>
          <a:lstStyle/>
          <a:p>
            <a:r>
              <a:rPr lang="en-IN" dirty="0">
                <a:latin typeface="Arial" panose="020B0604020202020204" pitchFamily="34" charset="0"/>
                <a:cs typeface="Arial" panose="020B0604020202020204" pitchFamily="34" charset="0"/>
              </a:rPr>
              <a:t>NORA CMOS Logic (NP-Domino Logic)</a:t>
            </a:r>
          </a:p>
        </p:txBody>
      </p:sp>
      <p:sp>
        <p:nvSpPr>
          <p:cNvPr id="3" name="Content Placeholder 2">
            <a:extLst>
              <a:ext uri="{FF2B5EF4-FFF2-40B4-BE49-F238E27FC236}">
                <a16:creationId xmlns:a16="http://schemas.microsoft.com/office/drawing/2014/main" id="{D077282A-0D21-4D6B-92E4-A0CD58ED91F6}"/>
              </a:ext>
            </a:extLst>
          </p:cNvPr>
          <p:cNvSpPr>
            <a:spLocks noGrp="1"/>
          </p:cNvSpPr>
          <p:nvPr>
            <p:ph idx="1"/>
          </p:nvPr>
        </p:nvSpPr>
        <p:spPr>
          <a:xfrm>
            <a:off x="1717040" y="1463039"/>
            <a:ext cx="9787572" cy="4560475"/>
          </a:xfrm>
        </p:spPr>
        <p:txBody>
          <a:bodyPr>
            <a:normAutofit/>
          </a:bodyPr>
          <a:lstStyle/>
          <a:p>
            <a:r>
              <a:rPr lang="en-US" dirty="0">
                <a:latin typeface="Arial" panose="020B0604020202020204" pitchFamily="34" charset="0"/>
                <a:cs typeface="Arial" panose="020B0604020202020204" pitchFamily="34" charset="0"/>
              </a:rPr>
              <a:t>NORA stands for No Race </a:t>
            </a:r>
          </a:p>
          <a:p>
            <a:r>
              <a:rPr lang="en-US" dirty="0">
                <a:latin typeface="Arial" panose="020B0604020202020204" pitchFamily="34" charset="0"/>
                <a:cs typeface="Arial" panose="020B0604020202020204" pitchFamily="34" charset="0"/>
              </a:rPr>
              <a:t>By alternatively using p-blocks and n-blocks, the clock skew problem is overcome in NORA logic circuits. </a:t>
            </a:r>
          </a:p>
          <a:p>
            <a:r>
              <a:rPr lang="en-US" dirty="0">
                <a:latin typeface="Arial" panose="020B0604020202020204" pitchFamily="34" charset="0"/>
                <a:cs typeface="Arial" panose="020B0604020202020204" pitchFamily="34" charset="0"/>
              </a:rPr>
              <a:t>we have seen that the, when during   pre-charge the previous stage is disturbing the next stage if it is in the evaluation phase. Now, if it is a </a:t>
            </a:r>
            <a:r>
              <a:rPr lang="en-US" dirty="0" err="1">
                <a:latin typeface="Arial" panose="020B0604020202020204" pitchFamily="34" charset="0"/>
                <a:cs typeface="Arial" panose="020B0604020202020204" pitchFamily="34" charset="0"/>
              </a:rPr>
              <a:t>pMOS</a:t>
            </a:r>
            <a:r>
              <a:rPr lang="en-US" dirty="0">
                <a:latin typeface="Arial" panose="020B0604020202020204" pitchFamily="34" charset="0"/>
                <a:cs typeface="Arial" panose="020B0604020202020204" pitchFamily="34" charset="0"/>
              </a:rPr>
              <a:t> transistor, then a high level output will not disturb it. So, what we are doing, we are using alternatively a n-MOS block followed by </a:t>
            </a:r>
            <a:r>
              <a:rPr lang="en-US" dirty="0" err="1">
                <a:latin typeface="Arial" panose="020B0604020202020204" pitchFamily="34" charset="0"/>
                <a:cs typeface="Arial" panose="020B0604020202020204" pitchFamily="34" charset="0"/>
              </a:rPr>
              <a:t>pMOS</a:t>
            </a:r>
            <a:r>
              <a:rPr lang="en-US" dirty="0">
                <a:latin typeface="Arial" panose="020B0604020202020204" pitchFamily="34" charset="0"/>
                <a:cs typeface="Arial" panose="020B0604020202020204" pitchFamily="34" charset="0"/>
              </a:rPr>
              <a:t> block .</a:t>
            </a:r>
          </a:p>
        </p:txBody>
      </p:sp>
      <p:sp>
        <p:nvSpPr>
          <p:cNvPr id="4" name="Footer Placeholder 3">
            <a:extLst>
              <a:ext uri="{FF2B5EF4-FFF2-40B4-BE49-F238E27FC236}">
                <a16:creationId xmlns:a16="http://schemas.microsoft.com/office/drawing/2014/main" id="{AD36AFAF-091F-4A90-B47E-B9067F813237}"/>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7" name="Picture 6">
            <a:extLst>
              <a:ext uri="{FF2B5EF4-FFF2-40B4-BE49-F238E27FC236}">
                <a16:creationId xmlns:a16="http://schemas.microsoft.com/office/drawing/2014/main" id="{76908CF4-6143-4B21-89A7-876786A6190F}"/>
              </a:ext>
            </a:extLst>
          </p:cNvPr>
          <p:cNvPicPr>
            <a:picLocks noChangeAspect="1"/>
          </p:cNvPicPr>
          <p:nvPr/>
        </p:nvPicPr>
        <p:blipFill>
          <a:blip r:embed="rId2" cstate="print"/>
          <a:stretch>
            <a:fillRect/>
          </a:stretch>
        </p:blipFill>
        <p:spPr>
          <a:xfrm>
            <a:off x="5657532" y="3567930"/>
            <a:ext cx="5945188" cy="2665960"/>
          </a:xfrm>
          <a:prstGeom prst="rect">
            <a:avLst/>
          </a:prstGeom>
        </p:spPr>
      </p:pic>
    </p:spTree>
    <p:extLst>
      <p:ext uri="{BB962C8B-B14F-4D97-AF65-F5344CB8AC3E}">
        <p14:creationId xmlns:p14="http://schemas.microsoft.com/office/powerpoint/2010/main" val="23703492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A5F21-01F0-42A0-BD91-CD59D189105C}"/>
              </a:ext>
            </a:extLst>
          </p:cNvPr>
          <p:cNvSpPr>
            <a:spLocks noGrp="1"/>
          </p:cNvSpPr>
          <p:nvPr>
            <p:ph type="title"/>
          </p:nvPr>
        </p:nvSpPr>
        <p:spPr>
          <a:xfrm>
            <a:off x="1778001" y="624110"/>
            <a:ext cx="9726612" cy="1280890"/>
          </a:xfrm>
        </p:spPr>
        <p:txBody>
          <a:bodyPr>
            <a:normAutofit/>
          </a:bodyPr>
          <a:lstStyle/>
          <a:p>
            <a:r>
              <a:rPr lang="en-US" sz="3200" dirty="0">
                <a:latin typeface="Arial" panose="020B0604020202020204" pitchFamily="34" charset="0"/>
                <a:cs typeface="Arial" panose="020B0604020202020204" pitchFamily="34" charset="0"/>
              </a:rPr>
              <a:t>Continue….</a:t>
            </a:r>
            <a:endParaRPr lang="en-IN"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3C0356E-302A-4DC9-BDEC-046C897DEF8C}"/>
              </a:ext>
            </a:extLst>
          </p:cNvPr>
          <p:cNvSpPr>
            <a:spLocks noGrp="1"/>
          </p:cNvSpPr>
          <p:nvPr>
            <p:ph idx="1"/>
          </p:nvPr>
        </p:nvSpPr>
        <p:spPr>
          <a:xfrm>
            <a:off x="1778000" y="2133600"/>
            <a:ext cx="9726612" cy="3777622"/>
          </a:xfrm>
        </p:spPr>
        <p:txBody>
          <a:bodyPr/>
          <a:lstStyle/>
          <a:p>
            <a:pPr algn="just"/>
            <a:r>
              <a:rPr lang="en-US" dirty="0">
                <a:latin typeface="Arial" panose="020B0604020202020204" pitchFamily="34" charset="0"/>
                <a:cs typeface="Arial" panose="020B0604020202020204" pitchFamily="34" charset="0"/>
              </a:rPr>
              <a:t>Compared to domino technique, this approach gives higher flexibility.</a:t>
            </a:r>
          </a:p>
          <a:p>
            <a:pPr algn="just"/>
            <a:r>
              <a:rPr lang="en-US" dirty="0">
                <a:latin typeface="Arial" panose="020B0604020202020204" pitchFamily="34" charset="0"/>
                <a:cs typeface="Arial" panose="020B0604020202020204" pitchFamily="34" charset="0"/>
              </a:rPr>
              <a:t>Both inverted and non-inverted signals are available from NORA- technique. </a:t>
            </a:r>
          </a:p>
          <a:p>
            <a:pPr algn="just"/>
            <a:r>
              <a:rPr lang="en-US" dirty="0">
                <a:latin typeface="Arial" panose="020B0604020202020204" pitchFamily="34" charset="0"/>
                <a:cs typeface="Arial" panose="020B0604020202020204" pitchFamily="34" charset="0"/>
              </a:rPr>
              <a:t>The DEC-alpha processor, the first 250 MHz  CMOS microprocessor, made extensive use of NORA logic Circuits.</a:t>
            </a:r>
          </a:p>
          <a:p>
            <a:endParaRPr lang="en-IN" dirty="0"/>
          </a:p>
        </p:txBody>
      </p:sp>
      <p:sp>
        <p:nvSpPr>
          <p:cNvPr id="4" name="Footer Placeholder 3">
            <a:extLst>
              <a:ext uri="{FF2B5EF4-FFF2-40B4-BE49-F238E27FC236}">
                <a16:creationId xmlns:a16="http://schemas.microsoft.com/office/drawing/2014/main" id="{8B260D7A-9365-4F6F-B4ED-1909E68B6383}"/>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4176174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3226A-F17F-4084-863E-ABDCF55C9FF1}"/>
              </a:ext>
            </a:extLst>
          </p:cNvPr>
          <p:cNvSpPr>
            <a:spLocks noGrp="1"/>
          </p:cNvSpPr>
          <p:nvPr>
            <p:ph type="title"/>
          </p:nvPr>
        </p:nvSpPr>
        <p:spPr>
          <a:xfrm>
            <a:off x="1838961" y="624110"/>
            <a:ext cx="9665652" cy="1280890"/>
          </a:xfrm>
        </p:spPr>
        <p:txBody>
          <a:bodyPr/>
          <a:lstStyle/>
          <a:p>
            <a:r>
              <a:rPr lang="en-US" sz="3200" dirty="0">
                <a:solidFill>
                  <a:prstClr val="black">
                    <a:lumMod val="85000"/>
                    <a:lumOff val="15000"/>
                  </a:prstClr>
                </a:solidFill>
                <a:latin typeface="Arial" panose="020B0604020202020204" pitchFamily="34" charset="0"/>
                <a:cs typeface="Arial" panose="020B0604020202020204" pitchFamily="34" charset="0"/>
              </a:rPr>
              <a:t>Static CMOS full - Adder </a:t>
            </a:r>
            <a:endParaRPr lang="en-IN" dirty="0"/>
          </a:p>
        </p:txBody>
      </p:sp>
      <p:pic>
        <p:nvPicPr>
          <p:cNvPr id="5" name="Content Placeholder 4">
            <a:extLst>
              <a:ext uri="{FF2B5EF4-FFF2-40B4-BE49-F238E27FC236}">
                <a16:creationId xmlns:a16="http://schemas.microsoft.com/office/drawing/2014/main" id="{8E90D978-4C6B-487A-A12C-189EF5497FEA}"/>
              </a:ext>
            </a:extLst>
          </p:cNvPr>
          <p:cNvPicPr>
            <a:picLocks noGrp="1" noChangeAspect="1"/>
          </p:cNvPicPr>
          <p:nvPr>
            <p:ph idx="1"/>
          </p:nvPr>
        </p:nvPicPr>
        <p:blipFill>
          <a:blip r:embed="rId2" cstate="print"/>
          <a:stretch>
            <a:fillRect/>
          </a:stretch>
        </p:blipFill>
        <p:spPr>
          <a:xfrm>
            <a:off x="3058160" y="2021840"/>
            <a:ext cx="6604000" cy="3972560"/>
          </a:xfrm>
          <a:prstGeom prst="rect">
            <a:avLst/>
          </a:prstGeom>
        </p:spPr>
      </p:pic>
      <p:sp>
        <p:nvSpPr>
          <p:cNvPr id="4" name="Footer Placeholder 3">
            <a:extLst>
              <a:ext uri="{FF2B5EF4-FFF2-40B4-BE49-F238E27FC236}">
                <a16:creationId xmlns:a16="http://schemas.microsoft.com/office/drawing/2014/main" id="{C6EC3B68-26E1-4CAA-B72B-9B99F58C5673}"/>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0985188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C6AC6-DB0B-47AC-80E5-3D7E433762FD}"/>
              </a:ext>
            </a:extLst>
          </p:cNvPr>
          <p:cNvSpPr>
            <a:spLocks noGrp="1"/>
          </p:cNvSpPr>
          <p:nvPr>
            <p:ph type="title"/>
          </p:nvPr>
        </p:nvSpPr>
        <p:spPr>
          <a:xfrm>
            <a:off x="2103121" y="624110"/>
            <a:ext cx="9401492" cy="1280890"/>
          </a:xfrm>
        </p:spPr>
        <p:txBody>
          <a:bodyPr/>
          <a:lstStyle/>
          <a:p>
            <a:r>
              <a:rPr lang="en-US" sz="3200" dirty="0">
                <a:solidFill>
                  <a:prstClr val="black">
                    <a:lumMod val="85000"/>
                    <a:lumOff val="15000"/>
                  </a:prstClr>
                </a:solidFill>
                <a:latin typeface="Arial" panose="020B0604020202020204" pitchFamily="34" charset="0"/>
                <a:cs typeface="Arial" panose="020B0604020202020204" pitchFamily="34" charset="0"/>
              </a:rPr>
              <a:t>NORA CMOS realization of full adder circuit</a:t>
            </a:r>
            <a:endParaRPr lang="en-IN" dirty="0"/>
          </a:p>
        </p:txBody>
      </p:sp>
      <p:pic>
        <p:nvPicPr>
          <p:cNvPr id="5" name="Content Placeholder 4">
            <a:extLst>
              <a:ext uri="{FF2B5EF4-FFF2-40B4-BE49-F238E27FC236}">
                <a16:creationId xmlns:a16="http://schemas.microsoft.com/office/drawing/2014/main" id="{CBA47C44-C598-4DCE-A1A4-892EDCB888F7}"/>
              </a:ext>
            </a:extLst>
          </p:cNvPr>
          <p:cNvPicPr>
            <a:picLocks noGrp="1" noChangeAspect="1"/>
          </p:cNvPicPr>
          <p:nvPr>
            <p:ph idx="1"/>
          </p:nvPr>
        </p:nvPicPr>
        <p:blipFill>
          <a:blip r:embed="rId2" cstate="print"/>
          <a:stretch>
            <a:fillRect/>
          </a:stretch>
        </p:blipFill>
        <p:spPr>
          <a:xfrm>
            <a:off x="4074160" y="2062480"/>
            <a:ext cx="5415279" cy="3779519"/>
          </a:xfrm>
          <a:prstGeom prst="rect">
            <a:avLst/>
          </a:prstGeom>
        </p:spPr>
      </p:pic>
      <p:sp>
        <p:nvSpPr>
          <p:cNvPr id="4" name="Footer Placeholder 3">
            <a:extLst>
              <a:ext uri="{FF2B5EF4-FFF2-40B4-BE49-F238E27FC236}">
                <a16:creationId xmlns:a16="http://schemas.microsoft.com/office/drawing/2014/main" id="{8634DF2F-1D16-4581-925A-15677D8A3B37}"/>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484750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4641" y="624110"/>
            <a:ext cx="9939972" cy="1280890"/>
          </a:xfrm>
        </p:spPr>
        <p:txBody>
          <a:bodyPr/>
          <a:lstStyle/>
          <a:p>
            <a:endParaRPr lang="en-IN" dirty="0"/>
          </a:p>
        </p:txBody>
      </p:sp>
      <p:sp>
        <p:nvSpPr>
          <p:cNvPr id="3" name="Content Placeholder 2"/>
          <p:cNvSpPr>
            <a:spLocks noGrp="1"/>
          </p:cNvSpPr>
          <p:nvPr>
            <p:ph idx="1"/>
          </p:nvPr>
        </p:nvSpPr>
        <p:spPr>
          <a:xfrm>
            <a:off x="1564640" y="2133600"/>
            <a:ext cx="9939972" cy="3777622"/>
          </a:xfrm>
        </p:spPr>
        <p:txBody>
          <a:bodyPr/>
          <a:lstStyle/>
          <a:p>
            <a:endParaRPr lang="en-IN" dirty="0">
              <a:solidFill>
                <a:srgbClr val="FF0000"/>
              </a:solidFill>
            </a:endParaRPr>
          </a:p>
        </p:txBody>
      </p:sp>
      <p:sp>
        <p:nvSpPr>
          <p:cNvPr id="4" name="Rectangle 3"/>
          <p:cNvSpPr/>
          <p:nvPr/>
        </p:nvSpPr>
        <p:spPr>
          <a:xfrm>
            <a:off x="4285251" y="2967335"/>
            <a:ext cx="4999426" cy="1200329"/>
          </a:xfrm>
          <a:prstGeom prst="rect">
            <a:avLst/>
          </a:prstGeom>
          <a:noFill/>
          <a:scene3d>
            <a:camera prst="obliqueBottomLeft"/>
            <a:lightRig rig="threePt" dir="t"/>
          </a:scene3d>
        </p:spPr>
        <p:txBody>
          <a:bodyPr wrap="square" lIns="91440" tIns="45720" rIns="91440" bIns="45720">
            <a:spAutoFit/>
          </a:bodyPr>
          <a:lstStyle/>
          <a:p>
            <a:pPr algn="ctr"/>
            <a:r>
              <a:rPr lang="en-US" sz="7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
        <p:nvSpPr>
          <p:cNvPr id="5" name="Footer Placeholder 4">
            <a:extLst>
              <a:ext uri="{FF2B5EF4-FFF2-40B4-BE49-F238E27FC236}">
                <a16:creationId xmlns:a16="http://schemas.microsoft.com/office/drawing/2014/main" id="{5CB9775A-DA40-435C-881E-2A72176C381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66058031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3651</TotalTime>
  <Words>2376</Words>
  <Application>Microsoft Office PowerPoint</Application>
  <PresentationFormat>Widescreen</PresentationFormat>
  <Paragraphs>217</Paragraphs>
  <Slides>33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Cambria Math</vt:lpstr>
      <vt:lpstr>Century Gothic</vt:lpstr>
      <vt:lpstr>Times New Roman</vt:lpstr>
      <vt:lpstr>Wingdings</vt:lpstr>
      <vt:lpstr>Wingdings 3</vt:lpstr>
      <vt:lpstr>Wisp</vt:lpstr>
      <vt:lpstr>CMOS VLSI Design</vt:lpstr>
      <vt:lpstr>Static CMOS Complementary Logic </vt:lpstr>
      <vt:lpstr>Pseudo-nMOS Logic</vt:lpstr>
      <vt:lpstr>comparison of Static CMOS and Pseudo nMOS</vt:lpstr>
      <vt:lpstr>Dynamic CMOS Design</vt:lpstr>
      <vt:lpstr>Continue….. </vt:lpstr>
      <vt:lpstr>Speed and Power Dissipation of Dynamic Logic</vt:lpstr>
      <vt:lpstr>Dynamic CMOS with Pull-up network(PUN) and Pull-down Network (PDN)</vt:lpstr>
      <vt:lpstr>Advantages</vt:lpstr>
      <vt:lpstr>Disadvantages</vt:lpstr>
      <vt:lpstr>Charge Leakage Problem</vt:lpstr>
      <vt:lpstr>Continue….</vt:lpstr>
      <vt:lpstr>Continue…..</vt:lpstr>
      <vt:lpstr>Continue…..</vt:lpstr>
      <vt:lpstr>Charge sharing Problem</vt:lpstr>
      <vt:lpstr>Continue…..</vt:lpstr>
      <vt:lpstr>Continue…..</vt:lpstr>
      <vt:lpstr>How to Overcome charge leakage and sharing problem</vt:lpstr>
      <vt:lpstr>Capacitive Coupling</vt:lpstr>
      <vt:lpstr>Continue….</vt:lpstr>
      <vt:lpstr>Cascading Dynamic Gates</vt:lpstr>
      <vt:lpstr>Continue….</vt:lpstr>
      <vt:lpstr>Clock Skew Problem</vt:lpstr>
      <vt:lpstr>Domino CMOS Circuits </vt:lpstr>
      <vt:lpstr>continue…..</vt:lpstr>
      <vt:lpstr>Limitations:</vt:lpstr>
      <vt:lpstr>Bubble Shifting</vt:lpstr>
      <vt:lpstr>Dual Rail</vt:lpstr>
      <vt:lpstr>NORA CMOS Logic (NP-Domino Logic)</vt:lpstr>
      <vt:lpstr>Continue….</vt:lpstr>
      <vt:lpstr>Static CMOS full - Adder </vt:lpstr>
      <vt:lpstr>NORA CMOS realization of full adder circuit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 Power 10T SRAM Cell with Improved Stability Solving Soft Error Issue</dc:title>
  <dc:creator>eee</dc:creator>
  <cp:lastModifiedBy>Dr. Rohit Lorenzo</cp:lastModifiedBy>
  <cp:revision>215</cp:revision>
  <cp:lastPrinted>2020-02-15T11:14:57Z</cp:lastPrinted>
  <dcterms:created xsi:type="dcterms:W3CDTF">2019-09-25T11:46:40Z</dcterms:created>
  <dcterms:modified xsi:type="dcterms:W3CDTF">2021-08-18T13:42:23Z</dcterms:modified>
</cp:coreProperties>
</file>