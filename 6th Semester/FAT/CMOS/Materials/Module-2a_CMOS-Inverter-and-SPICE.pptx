
<file path=[Content_Types].xml><?xml version="1.0" encoding="utf-8"?>
<Types xmlns="http://schemas.openxmlformats.org/package/2006/content-types">
  <Default Extension="png" ContentType="image/pn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ink/ink1.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74" r:id="rId1"/>
  </p:sldMasterIdLst>
  <p:notesMasterIdLst>
    <p:notesMasterId r:id="rId57"/>
  </p:notesMasterIdLst>
  <p:sldIdLst>
    <p:sldId id="256" r:id="rId2"/>
    <p:sldId id="295" r:id="rId3"/>
    <p:sldId id="300" r:id="rId4"/>
    <p:sldId id="298" r:id="rId5"/>
    <p:sldId id="301" r:id="rId6"/>
    <p:sldId id="304" r:id="rId7"/>
    <p:sldId id="306" r:id="rId8"/>
    <p:sldId id="308" r:id="rId9"/>
    <p:sldId id="310" r:id="rId10"/>
    <p:sldId id="312" r:id="rId11"/>
    <p:sldId id="314" r:id="rId12"/>
    <p:sldId id="316" r:id="rId13"/>
    <p:sldId id="318" r:id="rId14"/>
    <p:sldId id="320" r:id="rId15"/>
    <p:sldId id="322" r:id="rId16"/>
    <p:sldId id="324" r:id="rId17"/>
    <p:sldId id="325" r:id="rId18"/>
    <p:sldId id="327" r:id="rId19"/>
    <p:sldId id="329" r:id="rId20"/>
    <p:sldId id="332" r:id="rId21"/>
    <p:sldId id="334" r:id="rId22"/>
    <p:sldId id="336" r:id="rId23"/>
    <p:sldId id="338" r:id="rId24"/>
    <p:sldId id="340" r:id="rId25"/>
    <p:sldId id="342" r:id="rId26"/>
    <p:sldId id="344" r:id="rId27"/>
    <p:sldId id="346" r:id="rId28"/>
    <p:sldId id="348" r:id="rId29"/>
    <p:sldId id="350" r:id="rId30"/>
    <p:sldId id="352" r:id="rId31"/>
    <p:sldId id="354" r:id="rId32"/>
    <p:sldId id="355" r:id="rId33"/>
    <p:sldId id="359" r:id="rId34"/>
    <p:sldId id="361" r:id="rId35"/>
    <p:sldId id="363" r:id="rId36"/>
    <p:sldId id="365" r:id="rId37"/>
    <p:sldId id="369" r:id="rId38"/>
    <p:sldId id="371" r:id="rId39"/>
    <p:sldId id="373" r:id="rId40"/>
    <p:sldId id="375" r:id="rId41"/>
    <p:sldId id="377" r:id="rId42"/>
    <p:sldId id="381" r:id="rId43"/>
    <p:sldId id="379" r:id="rId44"/>
    <p:sldId id="385" r:id="rId45"/>
    <p:sldId id="387" r:id="rId46"/>
    <p:sldId id="389" r:id="rId47"/>
    <p:sldId id="391" r:id="rId48"/>
    <p:sldId id="393" r:id="rId49"/>
    <p:sldId id="395" r:id="rId50"/>
    <p:sldId id="397" r:id="rId51"/>
    <p:sldId id="399" r:id="rId52"/>
    <p:sldId id="401" r:id="rId53"/>
    <p:sldId id="402" r:id="rId54"/>
    <p:sldId id="403" r:id="rId55"/>
    <p:sldId id="270" r:id="rId5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3" d="100"/>
          <a:sy n="63" d="100"/>
        </p:scale>
        <p:origin x="780" y="64"/>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notesMaster" Target="notesMasters/notesMaster1.xml"/><Relationship Id="rId61"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s>
</file>

<file path=ppt/ink/ink1.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62.13592" units="1/cm"/>
          <inkml:channelProperty channel="Y" name="resolution" value="62.06897" units="1/cm"/>
        </inkml:channelProperties>
      </inkml:inkSource>
      <inkml:timestamp xml:id="ts0" timeString="2020-09-03T05:09:50.542"/>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89 71,'0'-18,"0"0,-18 1,0-1,-35 36</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DAC73D7-7640-40F9-8434-A0F03C5760E6}" type="datetimeFigureOut">
              <a:rPr lang="en-IN" smtClean="0"/>
              <a:pPr/>
              <a:t>06-09-2024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582B883-0CBF-46F6-B001-F5F9F89E9899}" type="slidenum">
              <a:rPr lang="en-IN" smtClean="0"/>
              <a:pPr/>
              <a:t>‹#›</a:t>
            </a:fld>
            <a:endParaRPr lang="en-IN"/>
          </a:p>
        </p:txBody>
      </p:sp>
    </p:spTree>
    <p:extLst>
      <p:ext uri="{BB962C8B-B14F-4D97-AF65-F5344CB8AC3E}">
        <p14:creationId xmlns:p14="http://schemas.microsoft.com/office/powerpoint/2010/main" val="31702615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5793FC6-7D19-42F4-A915-A22E318BB010}" type="datetime1">
              <a:rPr lang="en-IN" smtClean="0"/>
              <a:pPr/>
              <a:t>06-09-2024</a:t>
            </a:fld>
            <a:endParaRPr lang="en-IN"/>
          </a:p>
        </p:txBody>
      </p:sp>
      <p:sp>
        <p:nvSpPr>
          <p:cNvPr id="5" name="Footer Placeholder 4"/>
          <p:cNvSpPr>
            <a:spLocks noGrp="1"/>
          </p:cNvSpPr>
          <p:nvPr>
            <p:ph type="ftr" sz="quarter" idx="11"/>
          </p:nvPr>
        </p:nvSpPr>
        <p:spPr/>
        <p:txBody>
          <a:bodyPr/>
          <a:lstStyle/>
          <a:p>
            <a:r>
              <a:rPr lang="en-IN"/>
              <a:t>Rohit Lorenzo , VIT-AP</a:t>
            </a:r>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31653373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E11B98C-9C5A-4162-993F-316E4E6C62BB}" type="datetime1">
              <a:rPr lang="en-IN" smtClean="0"/>
              <a:pPr/>
              <a:t>06-09-2024</a:t>
            </a:fld>
            <a:endParaRPr lang="en-IN"/>
          </a:p>
        </p:txBody>
      </p:sp>
      <p:sp>
        <p:nvSpPr>
          <p:cNvPr id="5" name="Footer Placeholder 4"/>
          <p:cNvSpPr>
            <a:spLocks noGrp="1"/>
          </p:cNvSpPr>
          <p:nvPr>
            <p:ph type="ftr" sz="quarter" idx="11"/>
          </p:nvPr>
        </p:nvSpPr>
        <p:spPr/>
        <p:txBody>
          <a:bodyPr/>
          <a:lstStyle/>
          <a:p>
            <a:r>
              <a:rPr lang="en-IN"/>
              <a:t>Rohit Lorenzo , VIT-AP</a:t>
            </a: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18583454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CA9ED1CE-D0E4-49F6-AA4E-0C3DE4D5CA9F}" type="datetime1">
              <a:rPr lang="en-IN" smtClean="0"/>
              <a:pPr/>
              <a:t>06-09-2024</a:t>
            </a:fld>
            <a:endParaRPr lang="en-IN"/>
          </a:p>
        </p:txBody>
      </p:sp>
      <p:sp>
        <p:nvSpPr>
          <p:cNvPr id="5" name="Footer Placeholder 4"/>
          <p:cNvSpPr>
            <a:spLocks noGrp="1"/>
          </p:cNvSpPr>
          <p:nvPr>
            <p:ph type="ftr" sz="quarter" idx="11"/>
          </p:nvPr>
        </p:nvSpPr>
        <p:spPr/>
        <p:txBody>
          <a:bodyPr/>
          <a:lstStyle/>
          <a:p>
            <a:r>
              <a:rPr lang="en-IN"/>
              <a:t>Rohit Lorenzo , VIT-AP</a:t>
            </a:r>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31137577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B6DC15E-93BC-4995-B67D-673FA7BA3E92}" type="datetime1">
              <a:rPr lang="en-IN" smtClean="0"/>
              <a:pPr/>
              <a:t>06-09-2024</a:t>
            </a:fld>
            <a:endParaRPr lang="en-IN"/>
          </a:p>
        </p:txBody>
      </p:sp>
      <p:sp>
        <p:nvSpPr>
          <p:cNvPr id="6" name="Footer Placeholder 5"/>
          <p:cNvSpPr>
            <a:spLocks noGrp="1"/>
          </p:cNvSpPr>
          <p:nvPr>
            <p:ph type="ftr" sz="quarter" idx="11"/>
          </p:nvPr>
        </p:nvSpPr>
        <p:spPr/>
        <p:txBody>
          <a:bodyPr/>
          <a:lstStyle/>
          <a:p>
            <a:r>
              <a:rPr lang="en-IN"/>
              <a:t>Rohit Lorenzo , VIT-AP</a:t>
            </a:r>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29489776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13"/>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F90AC8C-1DD9-4769-A93E-CB9191A82FBE}" type="datetime1">
              <a:rPr lang="en-IN" smtClean="0"/>
              <a:pPr/>
              <a:t>06-09-2024</a:t>
            </a:fld>
            <a:endParaRPr lang="en-IN"/>
          </a:p>
        </p:txBody>
      </p:sp>
      <p:sp>
        <p:nvSpPr>
          <p:cNvPr id="8" name="Footer Placeholder 7"/>
          <p:cNvSpPr>
            <a:spLocks noGrp="1"/>
          </p:cNvSpPr>
          <p:nvPr>
            <p:ph type="ftr" sz="quarter" idx="11"/>
          </p:nvPr>
        </p:nvSpPr>
        <p:spPr/>
        <p:txBody>
          <a:bodyPr/>
          <a:lstStyle/>
          <a:p>
            <a:r>
              <a:rPr lang="en-IN"/>
              <a:t>Rohit Lorenzo , VIT-AP</a:t>
            </a:r>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9487942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749D4AB-23A7-43B1-AC37-7A69E1B162CB}" type="datetime1">
              <a:rPr lang="en-IN" smtClean="0"/>
              <a:pPr/>
              <a:t>06-09-2024</a:t>
            </a:fld>
            <a:endParaRPr lang="en-IN"/>
          </a:p>
        </p:txBody>
      </p:sp>
      <p:sp>
        <p:nvSpPr>
          <p:cNvPr id="4" name="Footer Placeholder 3"/>
          <p:cNvSpPr>
            <a:spLocks noGrp="1"/>
          </p:cNvSpPr>
          <p:nvPr>
            <p:ph type="ftr" sz="quarter" idx="11"/>
          </p:nvPr>
        </p:nvSpPr>
        <p:spPr/>
        <p:txBody>
          <a:bodyPr/>
          <a:lstStyle/>
          <a:p>
            <a:r>
              <a:rPr lang="en-IN"/>
              <a:t>Rohit Lorenzo , VIT-AP</a:t>
            </a:r>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6884614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2DFFC48-1A3A-47F9-AB3E-F0A947B0BE83}" type="datetime1">
              <a:rPr lang="en-IN" smtClean="0"/>
              <a:pPr/>
              <a:t>06-09-2024</a:t>
            </a:fld>
            <a:endParaRPr lang="en-IN"/>
          </a:p>
        </p:txBody>
      </p:sp>
      <p:sp>
        <p:nvSpPr>
          <p:cNvPr id="3" name="Footer Placeholder 2"/>
          <p:cNvSpPr>
            <a:spLocks noGrp="1"/>
          </p:cNvSpPr>
          <p:nvPr>
            <p:ph type="ftr" sz="quarter" idx="11"/>
          </p:nvPr>
        </p:nvSpPr>
        <p:spPr/>
        <p:txBody>
          <a:bodyPr/>
          <a:lstStyle/>
          <a:p>
            <a:r>
              <a:rPr lang="en-IN"/>
              <a:t>Rohit Lorenzo , VIT-AP</a:t>
            </a:r>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1912236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480B7AB3-5AA6-4B2A-A848-6B9056B8F888}" type="datetime1">
              <a:rPr lang="en-IN" smtClean="0"/>
              <a:pPr/>
              <a:t>06-09-2024</a:t>
            </a:fld>
            <a:endParaRPr lang="en-IN"/>
          </a:p>
        </p:txBody>
      </p:sp>
      <p:sp>
        <p:nvSpPr>
          <p:cNvPr id="6" name="Footer Placeholder 5"/>
          <p:cNvSpPr>
            <a:spLocks noGrp="1"/>
          </p:cNvSpPr>
          <p:nvPr>
            <p:ph type="ftr" sz="quarter" idx="11"/>
          </p:nvPr>
        </p:nvSpPr>
        <p:spPr/>
        <p:txBody>
          <a:bodyPr/>
          <a:lstStyle/>
          <a:p>
            <a:r>
              <a:rPr lang="en-IN"/>
              <a:t>Rohit Lorenzo , VIT-AP</a:t>
            </a:r>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17878378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D962A0A8-2993-4F46-873E-B317420EEF1D}" type="datetime1">
              <a:rPr lang="en-IN" smtClean="0"/>
              <a:pPr/>
              <a:t>06-09-2024</a:t>
            </a:fld>
            <a:endParaRPr lang="en-IN"/>
          </a:p>
        </p:txBody>
      </p:sp>
      <p:sp>
        <p:nvSpPr>
          <p:cNvPr id="6" name="Footer Placeholder 5"/>
          <p:cNvSpPr>
            <a:spLocks noGrp="1"/>
          </p:cNvSpPr>
          <p:nvPr>
            <p:ph type="ftr" sz="quarter" idx="11"/>
          </p:nvPr>
        </p:nvSpPr>
        <p:spPr/>
        <p:txBody>
          <a:bodyPr/>
          <a:lstStyle/>
          <a:p>
            <a:r>
              <a:rPr lang="en-IN"/>
              <a:t>Rohit Lorenzo , VIT-AP</a:t>
            </a: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30052238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724AF5B2-9161-484D-941E-09E7D7D8822D}" type="datetime1">
              <a:rPr lang="en-IN" smtClean="0"/>
              <a:pPr/>
              <a:t>06-09-2024</a:t>
            </a:fld>
            <a:endParaRPr lang="en-IN"/>
          </a:p>
        </p:txBody>
      </p:sp>
      <p:sp>
        <p:nvSpPr>
          <p:cNvPr id="5" name="Footer Placeholder 4"/>
          <p:cNvSpPr>
            <a:spLocks noGrp="1"/>
          </p:cNvSpPr>
          <p:nvPr>
            <p:ph type="ftr" sz="quarter" idx="11"/>
          </p:nvPr>
        </p:nvSpPr>
        <p:spPr/>
        <p:txBody>
          <a:bodyPr/>
          <a:lstStyle/>
          <a:p>
            <a:r>
              <a:rPr lang="en-IN"/>
              <a:t>Rohit Lorenzo , VIT-AP</a:t>
            </a:r>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39276546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F802EE73-49A5-4032-8312-39A4654D8975}" type="datetime1">
              <a:rPr lang="en-IN" smtClean="0"/>
              <a:pPr/>
              <a:t>06-09-2024</a:t>
            </a:fld>
            <a:endParaRPr lang="en-IN"/>
          </a:p>
        </p:txBody>
      </p:sp>
      <p:sp>
        <p:nvSpPr>
          <p:cNvPr id="5" name="Footer Placeholder 4"/>
          <p:cNvSpPr>
            <a:spLocks noGrp="1"/>
          </p:cNvSpPr>
          <p:nvPr>
            <p:ph type="ftr" sz="quarter" idx="11"/>
          </p:nvPr>
        </p:nvSpPr>
        <p:spPr/>
        <p:txBody>
          <a:bodyPr/>
          <a:lstStyle/>
          <a:p>
            <a:r>
              <a:rPr lang="en-IN"/>
              <a:t>Rohit Lorenzo , VIT-AP</a:t>
            </a:r>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10C73DF5-5965-4AE9-8750-706DE33B318E}" type="slidenum">
              <a:rPr lang="en-IN" smtClean="0"/>
              <a:pPr/>
              <a:t>‹#›</a:t>
            </a:fld>
            <a:endParaRPr lang="en-IN"/>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8778532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113B1249-61C8-4A7F-8E7B-53A384F44D16}" type="datetime1">
              <a:rPr lang="en-IN" smtClean="0"/>
              <a:pPr/>
              <a:t>06-09-2024</a:t>
            </a:fld>
            <a:endParaRPr lang="en-IN"/>
          </a:p>
        </p:txBody>
      </p:sp>
      <p:sp>
        <p:nvSpPr>
          <p:cNvPr id="6" name="Footer Placeholder 5"/>
          <p:cNvSpPr>
            <a:spLocks noGrp="1"/>
          </p:cNvSpPr>
          <p:nvPr>
            <p:ph type="ftr" sz="quarter" idx="11"/>
          </p:nvPr>
        </p:nvSpPr>
        <p:spPr/>
        <p:txBody>
          <a:bodyPr/>
          <a:lstStyle/>
          <a:p>
            <a:r>
              <a:rPr lang="en-IN"/>
              <a:t>Rohit Lorenzo , VIT-AP</a:t>
            </a: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408125989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433059DD-5442-4AC6-B4D8-568940477A5F}" type="datetime1">
              <a:rPr lang="en-IN" smtClean="0"/>
              <a:pPr/>
              <a:t>06-09-2024</a:t>
            </a:fld>
            <a:endParaRPr lang="en-IN"/>
          </a:p>
        </p:txBody>
      </p:sp>
      <p:sp>
        <p:nvSpPr>
          <p:cNvPr id="6" name="Footer Placeholder 5"/>
          <p:cNvSpPr>
            <a:spLocks noGrp="1"/>
          </p:cNvSpPr>
          <p:nvPr>
            <p:ph type="ftr" sz="quarter" idx="11"/>
          </p:nvPr>
        </p:nvSpPr>
        <p:spPr/>
        <p:txBody>
          <a:bodyPr/>
          <a:lstStyle/>
          <a:p>
            <a:r>
              <a:rPr lang="en-IN"/>
              <a:t>Rohit Lorenzo , VIT-AP</a:t>
            </a:r>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0C73DF5-5965-4AE9-8750-706DE33B318E}" type="slidenum">
              <a:rPr lang="en-IN" smtClean="0"/>
              <a:pPr/>
              <a:t>‹#›</a:t>
            </a:fld>
            <a:endParaRPr lang="en-IN"/>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69374479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1A093278-5D43-45AE-BD96-13E9B97C202A}" type="datetime1">
              <a:rPr lang="en-IN" smtClean="0"/>
              <a:pPr/>
              <a:t>06-09-2024</a:t>
            </a:fld>
            <a:endParaRPr lang="en-IN"/>
          </a:p>
        </p:txBody>
      </p:sp>
      <p:sp>
        <p:nvSpPr>
          <p:cNvPr id="6" name="Footer Placeholder 5"/>
          <p:cNvSpPr>
            <a:spLocks noGrp="1"/>
          </p:cNvSpPr>
          <p:nvPr>
            <p:ph type="ftr" sz="quarter" idx="11"/>
          </p:nvPr>
        </p:nvSpPr>
        <p:spPr/>
        <p:txBody>
          <a:bodyPr/>
          <a:lstStyle/>
          <a:p>
            <a:r>
              <a:rPr lang="en-IN"/>
              <a:t>Rohit Lorenzo , VIT-AP</a:t>
            </a: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11782675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790D21C-79F6-4EA2-9761-2BBE3077020C}" type="datetime1">
              <a:rPr lang="en-IN" smtClean="0"/>
              <a:pPr/>
              <a:t>06-09-2024</a:t>
            </a:fld>
            <a:endParaRPr lang="en-IN"/>
          </a:p>
        </p:txBody>
      </p:sp>
      <p:sp>
        <p:nvSpPr>
          <p:cNvPr id="5" name="Footer Placeholder 4"/>
          <p:cNvSpPr>
            <a:spLocks noGrp="1"/>
          </p:cNvSpPr>
          <p:nvPr>
            <p:ph type="ftr" sz="quarter" idx="11"/>
          </p:nvPr>
        </p:nvSpPr>
        <p:spPr/>
        <p:txBody>
          <a:bodyPr/>
          <a:lstStyle/>
          <a:p>
            <a:r>
              <a:rPr lang="en-IN"/>
              <a:t>Rohit Lorenzo , VIT-AP</a:t>
            </a: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278477541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3744E18-DFA2-43E5-8F6D-0DBE05038609}" type="datetime1">
              <a:rPr lang="en-IN" smtClean="0"/>
              <a:pPr/>
              <a:t>06-09-2024</a:t>
            </a:fld>
            <a:endParaRPr lang="en-IN"/>
          </a:p>
        </p:txBody>
      </p:sp>
      <p:sp>
        <p:nvSpPr>
          <p:cNvPr id="5" name="Footer Placeholder 4"/>
          <p:cNvSpPr>
            <a:spLocks noGrp="1"/>
          </p:cNvSpPr>
          <p:nvPr>
            <p:ph type="ftr" sz="quarter" idx="11"/>
          </p:nvPr>
        </p:nvSpPr>
        <p:spPr/>
        <p:txBody>
          <a:bodyPr/>
          <a:lstStyle/>
          <a:p>
            <a:r>
              <a:rPr lang="en-IN"/>
              <a:t>Rohit Lorenzo , VIT-AP</a:t>
            </a: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36869373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32"/>
            <a:ext cx="2356674" cy="6853285"/>
            <a:chOff x="6627813" y="195454"/>
            <a:chExt cx="1952625" cy="5678297"/>
          </a:xfrm>
        </p:grpSpPr>
        <p:sp>
          <p:nvSpPr>
            <p:cNvPr id="11" name="Freeform 27"/>
            <p:cNvSpPr/>
            <p:nvPr/>
          </p:nvSpPr>
          <p:spPr bwMode="auto">
            <a:xfrm>
              <a:off x="6627813" y="195454"/>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331D4EE5-909F-48DF-A25F-F957D1B95CC9}" type="datetime1">
              <a:rPr lang="en-IN" smtClean="0"/>
              <a:pPr/>
              <a:t>06-09-2024</a:t>
            </a:fld>
            <a:endParaRPr lang="en-IN"/>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r>
              <a:rPr lang="en-IN"/>
              <a:t>Rohit Lorenzo , VIT-AP</a:t>
            </a:r>
          </a:p>
        </p:txBody>
      </p:sp>
      <p:sp>
        <p:nvSpPr>
          <p:cNvPr id="6" name="Slide Number Placeholder 5"/>
          <p:cNvSpPr>
            <a:spLocks noGrp="1"/>
          </p:cNvSpPr>
          <p:nvPr>
            <p:ph type="sldNum" sz="quarter" idx="4"/>
          </p:nvPr>
        </p:nvSpPr>
        <p:spPr>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10C73DF5-5965-4AE9-8750-706DE33B318E}" type="slidenum">
              <a:rPr lang="en-IN" smtClean="0"/>
              <a:pPr/>
              <a:t>‹#›</a:t>
            </a:fld>
            <a:endParaRPr lang="en-IN"/>
          </a:p>
        </p:txBody>
      </p:sp>
    </p:spTree>
    <p:extLst>
      <p:ext uri="{BB962C8B-B14F-4D97-AF65-F5344CB8AC3E}">
        <p14:creationId xmlns:p14="http://schemas.microsoft.com/office/powerpoint/2010/main" val="3660945311"/>
      </p:ext>
    </p:extLst>
  </p:cSld>
  <p:clrMap bg1="lt1" tx1="dk1" bg2="lt2" tx2="dk2" accent1="accent1" accent2="accent2" accent3="accent3" accent4="accent4" accent5="accent5" accent6="accent6" hlink="hlink" folHlink="folHlink"/>
  <p:sldLayoutIdLst>
    <p:sldLayoutId id="2147483875" r:id="rId1"/>
    <p:sldLayoutId id="2147483876" r:id="rId2"/>
    <p:sldLayoutId id="2147483877" r:id="rId3"/>
    <p:sldLayoutId id="2147483878" r:id="rId4"/>
    <p:sldLayoutId id="2147483879" r:id="rId5"/>
    <p:sldLayoutId id="2147483880" r:id="rId6"/>
    <p:sldLayoutId id="2147483881" r:id="rId7"/>
    <p:sldLayoutId id="2147483882" r:id="rId8"/>
    <p:sldLayoutId id="2147483883" r:id="rId9"/>
    <p:sldLayoutId id="2147483884" r:id="rId10"/>
    <p:sldLayoutId id="2147483885" r:id="rId11"/>
    <p:sldLayoutId id="2147483886" r:id="rId12"/>
    <p:sldLayoutId id="2147483887" r:id="rId13"/>
    <p:sldLayoutId id="2147483888" r:id="rId14"/>
    <p:sldLayoutId id="2147483889" r:id="rId15"/>
    <p:sldLayoutId id="2147483890" r:id="rId16"/>
  </p:sldLayoutIdLst>
  <p:hf sldNum="0" hdr="0" dt="0"/>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18.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image" Target="../media/image24.png"/><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 Id="rId9" Type="http://schemas.openxmlformats.org/officeDocument/2006/relationships/image" Target="../media/image31.png"/></Relationships>
</file>

<file path=ppt/slides/_rels/slide19.xml.rels><?xml version="1.0" encoding="UTF-8" standalone="yes"?>
<Relationships xmlns="http://schemas.openxmlformats.org/package/2006/relationships"><Relationship Id="rId3" Type="http://schemas.openxmlformats.org/officeDocument/2006/relationships/image" Target="../media/image33.png"/><Relationship Id="rId7" Type="http://schemas.openxmlformats.org/officeDocument/2006/relationships/image" Target="../media/image37.png"/><Relationship Id="rId2" Type="http://schemas.openxmlformats.org/officeDocument/2006/relationships/image" Target="../media/image32.png"/><Relationship Id="rId1" Type="http://schemas.openxmlformats.org/officeDocument/2006/relationships/slideLayout" Target="../slideLayouts/slideLayout2.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2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 Id="rId5" Type="http://schemas.openxmlformats.org/officeDocument/2006/relationships/image" Target="../media/image43.png"/><Relationship Id="rId4" Type="http://schemas.openxmlformats.org/officeDocument/2006/relationships/image" Target="../media/image42.png"/></Relationships>
</file>

<file path=ppt/slides/_rels/slide22.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 Id="rId5" Type="http://schemas.openxmlformats.org/officeDocument/2006/relationships/image" Target="../media/image47.png"/><Relationship Id="rId4" Type="http://schemas.openxmlformats.org/officeDocument/2006/relationships/image" Target="../media/image46.png"/></Relationships>
</file>

<file path=ppt/slides/_rels/slide23.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2.xml"/><Relationship Id="rId5" Type="http://schemas.openxmlformats.org/officeDocument/2006/relationships/image" Target="../media/image51.png"/><Relationship Id="rId4" Type="http://schemas.openxmlformats.org/officeDocument/2006/relationships/image" Target="../media/image50.png"/></Relationships>
</file>

<file path=ppt/slides/_rels/slide24.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2.xml"/><Relationship Id="rId4" Type="http://schemas.openxmlformats.org/officeDocument/2006/relationships/image" Target="../media/image54.png"/></Relationships>
</file>

<file path=ppt/slides/_rels/slide25.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2.xml"/><Relationship Id="rId4" Type="http://schemas.openxmlformats.org/officeDocument/2006/relationships/image" Target="../media/image57.png"/></Relationships>
</file>

<file path=ppt/slides/_rels/slide26.xml.rels><?xml version="1.0" encoding="UTF-8" standalone="yes"?>
<Relationships xmlns="http://schemas.openxmlformats.org/package/2006/relationships"><Relationship Id="rId3" Type="http://schemas.openxmlformats.org/officeDocument/2006/relationships/image" Target="../media/image59.png"/><Relationship Id="rId7" Type="http://schemas.openxmlformats.org/officeDocument/2006/relationships/image" Target="../media/image620.png"/><Relationship Id="rId2" Type="http://schemas.openxmlformats.org/officeDocument/2006/relationships/image" Target="../media/image58.png"/><Relationship Id="rId1" Type="http://schemas.openxmlformats.org/officeDocument/2006/relationships/slideLayout" Target="../slideLayouts/slideLayout2.xml"/><Relationship Id="rId6" Type="http://schemas.openxmlformats.org/officeDocument/2006/relationships/customXml" Target="../ink/ink1.xml"/><Relationship Id="rId5" Type="http://schemas.openxmlformats.org/officeDocument/2006/relationships/image" Target="../media/image61.png"/><Relationship Id="rId4" Type="http://schemas.openxmlformats.org/officeDocument/2006/relationships/image" Target="../media/image60.png"/></Relationships>
</file>

<file path=ppt/slides/_rels/slide27.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2.xml"/><Relationship Id="rId4" Type="http://schemas.openxmlformats.org/officeDocument/2006/relationships/image" Target="../media/image64.png"/></Relationships>
</file>

<file path=ppt/slides/_rels/slide28.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2.xml"/><Relationship Id="rId5" Type="http://schemas.openxmlformats.org/officeDocument/2006/relationships/image" Target="../media/image68.png"/><Relationship Id="rId4" Type="http://schemas.openxmlformats.org/officeDocument/2006/relationships/image" Target="../media/image67.png"/></Relationships>
</file>

<file path=ppt/slides/_rels/slide29.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45.png"/><Relationship Id="rId7" Type="http://schemas.openxmlformats.org/officeDocument/2006/relationships/image" Target="../media/image75.png"/><Relationship Id="rId2" Type="http://schemas.openxmlformats.org/officeDocument/2006/relationships/image" Target="../media/image71.png"/><Relationship Id="rId1" Type="http://schemas.openxmlformats.org/officeDocument/2006/relationships/slideLayout" Target="../slideLayouts/slideLayout2.xml"/><Relationship Id="rId6" Type="http://schemas.openxmlformats.org/officeDocument/2006/relationships/image" Target="../media/image74.png"/><Relationship Id="rId5" Type="http://schemas.openxmlformats.org/officeDocument/2006/relationships/image" Target="../media/image73.png"/><Relationship Id="rId4" Type="http://schemas.openxmlformats.org/officeDocument/2006/relationships/image" Target="../media/image72.png"/></Relationships>
</file>

<file path=ppt/slides/_rels/slide31.xml.rels><?xml version="1.0" encoding="UTF-8" standalone="yes"?>
<Relationships xmlns="http://schemas.openxmlformats.org/package/2006/relationships"><Relationship Id="rId3" Type="http://schemas.openxmlformats.org/officeDocument/2006/relationships/image" Target="../media/image49.png"/><Relationship Id="rId7" Type="http://schemas.openxmlformats.org/officeDocument/2006/relationships/image" Target="../media/image80.png"/><Relationship Id="rId2" Type="http://schemas.openxmlformats.org/officeDocument/2006/relationships/image" Target="../media/image76.png"/><Relationship Id="rId1" Type="http://schemas.openxmlformats.org/officeDocument/2006/relationships/slideLayout" Target="../slideLayouts/slideLayout2.xml"/><Relationship Id="rId6" Type="http://schemas.openxmlformats.org/officeDocument/2006/relationships/image" Target="../media/image79.png"/><Relationship Id="rId5" Type="http://schemas.openxmlformats.org/officeDocument/2006/relationships/image" Target="../media/image78.png"/><Relationship Id="rId4" Type="http://schemas.openxmlformats.org/officeDocument/2006/relationships/image" Target="../media/image77.png"/></Relationships>
</file>

<file path=ppt/slides/_rels/slide32.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image" Target="../media/image8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image" Target="../media/image85.png"/><Relationship Id="rId1" Type="http://schemas.openxmlformats.org/officeDocument/2006/relationships/slideLayout" Target="../slideLayouts/slideLayout2.xml"/><Relationship Id="rId5" Type="http://schemas.openxmlformats.org/officeDocument/2006/relationships/image" Target="../media/image88.png"/><Relationship Id="rId4" Type="http://schemas.openxmlformats.org/officeDocument/2006/relationships/image" Target="../media/image87.png"/></Relationships>
</file>

<file path=ppt/slides/_rels/slide36.xml.rels><?xml version="1.0" encoding="UTF-8" standalone="yes"?>
<Relationships xmlns="http://schemas.openxmlformats.org/package/2006/relationships"><Relationship Id="rId8" Type="http://schemas.openxmlformats.org/officeDocument/2006/relationships/image" Target="../media/image95.png"/><Relationship Id="rId3" Type="http://schemas.openxmlformats.org/officeDocument/2006/relationships/image" Target="../media/image90.png"/><Relationship Id="rId7" Type="http://schemas.openxmlformats.org/officeDocument/2006/relationships/image" Target="../media/image94.png"/><Relationship Id="rId2" Type="http://schemas.openxmlformats.org/officeDocument/2006/relationships/image" Target="../media/image89.png"/><Relationship Id="rId1" Type="http://schemas.openxmlformats.org/officeDocument/2006/relationships/slideLayout" Target="../slideLayouts/slideLayout2.xml"/><Relationship Id="rId6" Type="http://schemas.openxmlformats.org/officeDocument/2006/relationships/image" Target="../media/image93.png"/><Relationship Id="rId5" Type="http://schemas.openxmlformats.org/officeDocument/2006/relationships/image" Target="../media/image92.png"/><Relationship Id="rId4" Type="http://schemas.openxmlformats.org/officeDocument/2006/relationships/image" Target="../media/image91.png"/><Relationship Id="rId9" Type="http://schemas.openxmlformats.org/officeDocument/2006/relationships/image" Target="../media/image96.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image" Target="../media/image97.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image" Target="../media/image99.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image" Target="../media/image101.png"/><Relationship Id="rId1" Type="http://schemas.openxmlformats.org/officeDocument/2006/relationships/slideLayout" Target="../slideLayouts/slideLayout2.xml"/><Relationship Id="rId4" Type="http://schemas.openxmlformats.org/officeDocument/2006/relationships/image" Target="../media/image103.png"/></Relationships>
</file>

<file path=ppt/slides/_rels/slide41.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image" Target="../media/image104.png"/><Relationship Id="rId1" Type="http://schemas.openxmlformats.org/officeDocument/2006/relationships/slideLayout" Target="../slideLayouts/slideLayout2.xml"/><Relationship Id="rId5" Type="http://schemas.openxmlformats.org/officeDocument/2006/relationships/image" Target="../media/image107.png"/><Relationship Id="rId4" Type="http://schemas.openxmlformats.org/officeDocument/2006/relationships/image" Target="../media/image106.png"/></Relationships>
</file>

<file path=ppt/slides/_rels/slide42.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image" Target="../media/image108.png"/><Relationship Id="rId1" Type="http://schemas.openxmlformats.org/officeDocument/2006/relationships/slideLayout" Target="../slideLayouts/slideLayout2.xml"/><Relationship Id="rId4" Type="http://schemas.openxmlformats.org/officeDocument/2006/relationships/image" Target="../media/image110.png"/></Relationships>
</file>

<file path=ppt/slides/_rels/slide43.xml.rels><?xml version="1.0" encoding="UTF-8" standalone="yes"?>
<Relationships xmlns="http://schemas.openxmlformats.org/package/2006/relationships"><Relationship Id="rId2" Type="http://schemas.openxmlformats.org/officeDocument/2006/relationships/image" Target="../media/image111.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image" Target="../media/image112.png"/><Relationship Id="rId1" Type="http://schemas.openxmlformats.org/officeDocument/2006/relationships/slideLayout" Target="../slideLayouts/slideLayout2.xml"/><Relationship Id="rId4" Type="http://schemas.openxmlformats.org/officeDocument/2006/relationships/image" Target="../media/image114.png"/></Relationships>
</file>

<file path=ppt/slides/_rels/slide46.xml.rels><?xml version="1.0" encoding="UTF-8" standalone="yes"?>
<Relationships xmlns="http://schemas.openxmlformats.org/package/2006/relationships"><Relationship Id="rId3" Type="http://schemas.openxmlformats.org/officeDocument/2006/relationships/image" Target="../media/image116.png"/><Relationship Id="rId2" Type="http://schemas.openxmlformats.org/officeDocument/2006/relationships/image" Target="../media/image115.png"/><Relationship Id="rId1" Type="http://schemas.openxmlformats.org/officeDocument/2006/relationships/slideLayout" Target="../slideLayouts/slideLayout2.xml"/><Relationship Id="rId5" Type="http://schemas.openxmlformats.org/officeDocument/2006/relationships/image" Target="../media/image118.png"/><Relationship Id="rId4" Type="http://schemas.openxmlformats.org/officeDocument/2006/relationships/image" Target="../media/image117.png"/></Relationships>
</file>

<file path=ppt/slides/_rels/slide47.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image" Target="../media/image119.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21.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23.png"/><Relationship Id="rId2" Type="http://schemas.openxmlformats.org/officeDocument/2006/relationships/image" Target="../media/image122.png"/><Relationship Id="rId1" Type="http://schemas.openxmlformats.org/officeDocument/2006/relationships/slideLayout" Target="../slideLayouts/slideLayout2.xml"/><Relationship Id="rId5" Type="http://schemas.openxmlformats.org/officeDocument/2006/relationships/image" Target="../media/image125.png"/><Relationship Id="rId4" Type="http://schemas.openxmlformats.org/officeDocument/2006/relationships/image" Target="../media/image124.png"/></Relationships>
</file>

<file path=ppt/slides/_rels/slide50.xml.rels><?xml version="1.0" encoding="UTF-8" standalone="yes"?>
<Relationships xmlns="http://schemas.openxmlformats.org/package/2006/relationships"><Relationship Id="rId3" Type="http://schemas.openxmlformats.org/officeDocument/2006/relationships/image" Target="../media/image127.png"/><Relationship Id="rId2" Type="http://schemas.openxmlformats.org/officeDocument/2006/relationships/image" Target="../media/image126.png"/><Relationship Id="rId1" Type="http://schemas.openxmlformats.org/officeDocument/2006/relationships/slideLayout" Target="../slideLayouts/slideLayout2.xml"/><Relationship Id="rId5" Type="http://schemas.openxmlformats.org/officeDocument/2006/relationships/image" Target="../media/image129.png"/><Relationship Id="rId4" Type="http://schemas.openxmlformats.org/officeDocument/2006/relationships/image" Target="../media/image128.png"/></Relationships>
</file>

<file path=ppt/slides/_rels/slide51.xml.rels><?xml version="1.0" encoding="UTF-8" standalone="yes"?>
<Relationships xmlns="http://schemas.openxmlformats.org/package/2006/relationships"><Relationship Id="rId3" Type="http://schemas.openxmlformats.org/officeDocument/2006/relationships/image" Target="../media/image131.png"/><Relationship Id="rId2" Type="http://schemas.openxmlformats.org/officeDocument/2006/relationships/image" Target="../media/image130.png"/><Relationship Id="rId1" Type="http://schemas.openxmlformats.org/officeDocument/2006/relationships/slideLayout" Target="../slideLayouts/slideLayout2.xml"/><Relationship Id="rId4" Type="http://schemas.openxmlformats.org/officeDocument/2006/relationships/image" Target="../media/image132.png"/></Relationships>
</file>

<file path=ppt/slides/_rels/slide52.xml.rels><?xml version="1.0" encoding="UTF-8" standalone="yes"?>
<Relationships xmlns="http://schemas.openxmlformats.org/package/2006/relationships"><Relationship Id="rId3" Type="http://schemas.openxmlformats.org/officeDocument/2006/relationships/image" Target="../media/image134.png"/><Relationship Id="rId2" Type="http://schemas.openxmlformats.org/officeDocument/2006/relationships/image" Target="../media/image133.png"/><Relationship Id="rId1" Type="http://schemas.openxmlformats.org/officeDocument/2006/relationships/slideLayout" Target="../slideLayouts/slideLayout2.xml"/><Relationship Id="rId4" Type="http://schemas.openxmlformats.org/officeDocument/2006/relationships/image" Target="../media/image135.png"/></Relationships>
</file>

<file path=ppt/slides/_rels/slide53.xml.rels><?xml version="1.0" encoding="UTF-8" standalone="yes"?>
<Relationships xmlns="http://schemas.openxmlformats.org/package/2006/relationships"><Relationship Id="rId2" Type="http://schemas.openxmlformats.org/officeDocument/2006/relationships/image" Target="../media/image136.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37.emf"/><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000" b="1" dirty="0"/>
              <a:t>Module -2 – </a:t>
            </a:r>
            <a:r>
              <a:rPr lang="en-IN" sz="3200" b="1" dirty="0"/>
              <a:t> CMOS inverter</a:t>
            </a:r>
            <a:endParaRPr lang="en-IN" sz="3000" b="1" dirty="0"/>
          </a:p>
        </p:txBody>
      </p:sp>
      <p:sp>
        <p:nvSpPr>
          <p:cNvPr id="3" name="Content Placeholder 2"/>
          <p:cNvSpPr>
            <a:spLocks noGrp="1"/>
          </p:cNvSpPr>
          <p:nvPr>
            <p:ph idx="1"/>
          </p:nvPr>
        </p:nvSpPr>
        <p:spPr>
          <a:xfrm>
            <a:off x="1450731" y="2133599"/>
            <a:ext cx="10278207" cy="4399085"/>
          </a:xfrm>
        </p:spPr>
        <p:txBody>
          <a:bodyPr/>
          <a:lstStyle/>
          <a:p>
            <a:pPr marL="0" indent="0" algn="ctr">
              <a:buNone/>
            </a:pPr>
            <a:r>
              <a:rPr lang="en-IN" b="1" dirty="0"/>
              <a:t>By</a:t>
            </a:r>
          </a:p>
          <a:p>
            <a:pPr marL="0" indent="0" algn="ctr">
              <a:buNone/>
            </a:pPr>
            <a:endParaRPr lang="en-IN" dirty="0"/>
          </a:p>
          <a:p>
            <a:pPr marL="0" indent="0" algn="ctr">
              <a:buNone/>
            </a:pPr>
            <a:r>
              <a:rPr lang="en-IN" sz="2000" b="1" dirty="0" err="1"/>
              <a:t>Dr.Rohit</a:t>
            </a:r>
            <a:r>
              <a:rPr lang="en-IN" sz="2000" b="1" dirty="0"/>
              <a:t> Lorenzo</a:t>
            </a:r>
          </a:p>
          <a:p>
            <a:pPr marL="0" indent="0" algn="ctr">
              <a:buNone/>
            </a:pPr>
            <a:r>
              <a:rPr lang="en-IN" sz="2000" b="1" dirty="0"/>
              <a:t>Assistant Professor Sr. Grade -1</a:t>
            </a:r>
          </a:p>
          <a:p>
            <a:pPr marL="0" indent="0" algn="ctr">
              <a:buNone/>
            </a:pPr>
            <a:r>
              <a:rPr lang="en-IN" sz="2000" b="1" dirty="0"/>
              <a:t>School of Electronics Engineering (SENSE)</a:t>
            </a:r>
          </a:p>
          <a:p>
            <a:pPr marL="0" indent="0" algn="ctr">
              <a:buNone/>
            </a:pPr>
            <a:endParaRPr lang="en-IN" b="1" dirty="0"/>
          </a:p>
          <a:p>
            <a:pPr marL="0" indent="0" algn="ctr">
              <a:buNone/>
            </a:pPr>
            <a:r>
              <a:rPr lang="en-IN" dirty="0"/>
              <a:t> </a:t>
            </a:r>
          </a:p>
        </p:txBody>
      </p:sp>
      <p:pic>
        <p:nvPicPr>
          <p:cNvPr id="4" name="Picture 3">
            <a:extLst>
              <a:ext uri="{FF2B5EF4-FFF2-40B4-BE49-F238E27FC236}">
                <a16:creationId xmlns:a16="http://schemas.microsoft.com/office/drawing/2014/main" id="{E7D8A5F9-ED45-42EF-B008-2ACDB3324E29}"/>
              </a:ext>
            </a:extLst>
          </p:cNvPr>
          <p:cNvPicPr>
            <a:picLocks noChangeAspect="1"/>
          </p:cNvPicPr>
          <p:nvPr/>
        </p:nvPicPr>
        <p:blipFill>
          <a:blip r:embed="rId2" cstate="print"/>
          <a:stretch>
            <a:fillRect/>
          </a:stretch>
        </p:blipFill>
        <p:spPr>
          <a:xfrm>
            <a:off x="5518271" y="4206557"/>
            <a:ext cx="2143125" cy="2143125"/>
          </a:xfrm>
          <a:prstGeom prst="rect">
            <a:avLst/>
          </a:prstGeom>
        </p:spPr>
      </p:pic>
      <p:sp>
        <p:nvSpPr>
          <p:cNvPr id="6" name="Footer Placeholder 5">
            <a:extLst>
              <a:ext uri="{FF2B5EF4-FFF2-40B4-BE49-F238E27FC236}">
                <a16:creationId xmlns:a16="http://schemas.microsoft.com/office/drawing/2014/main" id="{5E9579B1-487B-4D07-8C3A-2D1E584D45E5}"/>
              </a:ext>
            </a:extLst>
          </p:cNvPr>
          <p:cNvSpPr>
            <a:spLocks noGrp="1"/>
          </p:cNvSpPr>
          <p:nvPr>
            <p:ph type="ftr" sz="quarter" idx="11"/>
          </p:nvPr>
        </p:nvSpPr>
        <p:spPr/>
        <p:txBody>
          <a:bodyPr/>
          <a:lstStyle/>
          <a:p>
            <a:endParaRPr lang="en-IN" dirty="0"/>
          </a:p>
        </p:txBody>
      </p:sp>
    </p:spTree>
    <p:extLst>
      <p:ext uri="{BB962C8B-B14F-4D97-AF65-F5344CB8AC3E}">
        <p14:creationId xmlns:p14="http://schemas.microsoft.com/office/powerpoint/2010/main" val="18081536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0AD63-250F-4106-8276-29E747C57D11}"/>
              </a:ext>
            </a:extLst>
          </p:cNvPr>
          <p:cNvSpPr>
            <a:spLocks noGrp="1"/>
          </p:cNvSpPr>
          <p:nvPr>
            <p:ph type="title"/>
          </p:nvPr>
        </p:nvSpPr>
        <p:spPr>
          <a:xfrm>
            <a:off x="1731523" y="624110"/>
            <a:ext cx="9773089" cy="1280890"/>
          </a:xfrm>
        </p:spPr>
        <p:txBody>
          <a:bodyPr/>
          <a:lstStyle/>
          <a:p>
            <a:r>
              <a:rPr lang="en-IN" sz="3200" b="1" dirty="0" err="1"/>
              <a:t>Modeling</a:t>
            </a:r>
            <a:r>
              <a:rPr lang="en-IN" sz="3200" b="1" dirty="0"/>
              <a:t> of MOS Transistor using SPICE </a:t>
            </a:r>
            <a:r>
              <a:rPr lang="en-IN" b="1" dirty="0"/>
              <a:t/>
            </a:r>
            <a:br>
              <a:rPr lang="en-IN" b="1" dirty="0"/>
            </a:br>
            <a:endParaRPr lang="en-IN" dirty="0"/>
          </a:p>
        </p:txBody>
      </p:sp>
      <p:sp>
        <p:nvSpPr>
          <p:cNvPr id="3" name="Content Placeholder 2">
            <a:extLst>
              <a:ext uri="{FF2B5EF4-FFF2-40B4-BE49-F238E27FC236}">
                <a16:creationId xmlns:a16="http://schemas.microsoft.com/office/drawing/2014/main" id="{174D21A1-6D28-40B9-8BF9-8E90C7235AFC}"/>
              </a:ext>
            </a:extLst>
          </p:cNvPr>
          <p:cNvSpPr>
            <a:spLocks noGrp="1"/>
          </p:cNvSpPr>
          <p:nvPr>
            <p:ph idx="1"/>
          </p:nvPr>
        </p:nvSpPr>
        <p:spPr>
          <a:xfrm>
            <a:off x="661481" y="1167319"/>
            <a:ext cx="11304377" cy="4968489"/>
          </a:xfrm>
        </p:spPr>
        <p:txBody>
          <a:bodyPr>
            <a:noAutofit/>
          </a:bodyPr>
          <a:lstStyle/>
          <a:p>
            <a:pPr algn="just">
              <a:buNone/>
            </a:pPr>
            <a:r>
              <a:rPr lang="en-US" dirty="0">
                <a:latin typeface="Arial" pitchFamily="34" charset="0"/>
                <a:cs typeface="Arial" pitchFamily="34" charset="0"/>
              </a:rPr>
              <a:t>SPICE (Simulation Program with Integrated Circuit Emphasis) is a general-purpose circuit simulator which is used very widely both in the microelectronics industry and in educational institutions as an essential computer-aided design (CAD) tool for circuit design.</a:t>
            </a:r>
            <a:endParaRPr lang="en-US" dirty="0">
              <a:solidFill>
                <a:srgbClr val="231F20"/>
              </a:solidFill>
              <a:latin typeface="Arial" pitchFamily="34" charset="0"/>
              <a:cs typeface="Arial" pitchFamily="34" charset="0"/>
            </a:endParaRPr>
          </a:p>
          <a:p>
            <a:pPr algn="just"/>
            <a:r>
              <a:rPr lang="en-US" dirty="0">
                <a:latin typeface="Arial" pitchFamily="34" charset="0"/>
                <a:cs typeface="Arial" pitchFamily="34" charset="0"/>
              </a:rPr>
              <a:t>In the fast-advancing field of VLSI design, a sound knowledge of physical models used to describe the behavior of transistors and knowledge of various device parameters are essential for performing detailed circuit simulations and for optimizing design.</a:t>
            </a:r>
          </a:p>
          <a:p>
            <a:pPr algn="just"/>
            <a:endParaRPr lang="en-US" dirty="0">
              <a:latin typeface="Arial" pitchFamily="34" charset="0"/>
              <a:cs typeface="Arial" pitchFamily="34" charset="0"/>
            </a:endParaRPr>
          </a:p>
          <a:p>
            <a:r>
              <a:rPr lang="en-US" dirty="0">
                <a:latin typeface="Arial" pitchFamily="34" charset="0"/>
                <a:cs typeface="Arial" pitchFamily="34" charset="0"/>
              </a:rPr>
              <a:t>SPICE has three built-in MOSFET models –</a:t>
            </a:r>
          </a:p>
          <a:p>
            <a:r>
              <a:rPr lang="en-US" dirty="0">
                <a:latin typeface="Arial" pitchFamily="34" charset="0"/>
                <a:cs typeface="Arial" pitchFamily="34" charset="0"/>
              </a:rPr>
              <a:t> LEVEL 1 (MOS1) is described by a square-law. current-voltage characteristic.</a:t>
            </a:r>
          </a:p>
          <a:p>
            <a:r>
              <a:rPr lang="en-US" dirty="0">
                <a:latin typeface="Arial" pitchFamily="34" charset="0"/>
                <a:cs typeface="Arial" pitchFamily="34" charset="0"/>
              </a:rPr>
              <a:t>LEVEL 2 (MOS2) is a detailed analytical MOSFET model. </a:t>
            </a:r>
          </a:p>
          <a:p>
            <a:r>
              <a:rPr lang="en-US" dirty="0">
                <a:latin typeface="Arial" pitchFamily="34" charset="0"/>
                <a:cs typeface="Arial" pitchFamily="34" charset="0"/>
              </a:rPr>
              <a:t>LEVEL 3 (MOS3) is a semi-empirical model.</a:t>
            </a:r>
          </a:p>
          <a:p>
            <a:endParaRPr lang="en-US" dirty="0">
              <a:latin typeface="Arial" pitchFamily="34" charset="0"/>
              <a:cs typeface="Arial" pitchFamily="34" charset="0"/>
            </a:endParaRPr>
          </a:p>
          <a:p>
            <a:pPr algn="just"/>
            <a:r>
              <a:rPr lang="en-US" dirty="0">
                <a:latin typeface="Arial" pitchFamily="34" charset="0"/>
                <a:cs typeface="Arial" pitchFamily="34" charset="0"/>
              </a:rPr>
              <a:t>Both MOS2 and MOS3 include second-order effects such as the short-channel threshold voltage, </a:t>
            </a:r>
            <a:r>
              <a:rPr lang="en-US" dirty="0" err="1">
                <a:latin typeface="Arial" pitchFamily="34" charset="0"/>
                <a:cs typeface="Arial" pitchFamily="34" charset="0"/>
              </a:rPr>
              <a:t>subthreshold</a:t>
            </a:r>
            <a:r>
              <a:rPr lang="en-US" dirty="0">
                <a:latin typeface="Arial" pitchFamily="34" charset="0"/>
                <a:cs typeface="Arial" pitchFamily="34" charset="0"/>
              </a:rPr>
              <a:t> conduction, scattering-limited velocity saturation, and charge-controlled capacitances.</a:t>
            </a:r>
            <a:endParaRPr lang="en-IN" dirty="0">
              <a:latin typeface="Arial" pitchFamily="34" charset="0"/>
              <a:cs typeface="Arial" pitchFamily="34" charset="0"/>
            </a:endParaRPr>
          </a:p>
          <a:p>
            <a:endParaRPr lang="en-IN" dirty="0">
              <a:latin typeface="Arial" pitchFamily="34" charset="0"/>
              <a:cs typeface="Arial" pitchFamily="34" charset="0"/>
            </a:endParaRPr>
          </a:p>
        </p:txBody>
      </p:sp>
      <p:sp>
        <p:nvSpPr>
          <p:cNvPr id="4" name="Footer Placeholder 3">
            <a:extLst>
              <a:ext uri="{FF2B5EF4-FFF2-40B4-BE49-F238E27FC236}">
                <a16:creationId xmlns:a16="http://schemas.microsoft.com/office/drawing/2014/main" id="{5A073A6F-A66A-46CE-86B4-9A31ED569E3B}"/>
              </a:ext>
            </a:extLst>
          </p:cNvPr>
          <p:cNvSpPr>
            <a:spLocks noGrp="1"/>
          </p:cNvSpPr>
          <p:nvPr>
            <p:ph type="ftr" sz="quarter" idx="11"/>
          </p:nvPr>
        </p:nvSpPr>
        <p:spPr/>
        <p:txBody>
          <a:bodyPr/>
          <a:lstStyle/>
          <a:p>
            <a:r>
              <a:rPr lang="en-IN" sz="1600" dirty="0">
                <a:solidFill>
                  <a:srgbClr val="C00000"/>
                </a:solidFill>
                <a:latin typeface="Arial" panose="020B0604020202020204" pitchFamily="34" charset="0"/>
                <a:cs typeface="Arial" panose="020B0604020202020204" pitchFamily="34" charset="0"/>
              </a:rPr>
              <a:t>Rohit Lorenzo, VIT-AP</a:t>
            </a:r>
          </a:p>
        </p:txBody>
      </p:sp>
    </p:spTree>
    <p:extLst>
      <p:ext uri="{BB962C8B-B14F-4D97-AF65-F5344CB8AC3E}">
        <p14:creationId xmlns:p14="http://schemas.microsoft.com/office/powerpoint/2010/main" val="20088674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D6C775-5C5E-44C6-AF37-8862644FEE86}"/>
              </a:ext>
            </a:extLst>
          </p:cNvPr>
          <p:cNvSpPr>
            <a:spLocks noGrp="1"/>
          </p:cNvSpPr>
          <p:nvPr>
            <p:ph type="title"/>
          </p:nvPr>
        </p:nvSpPr>
        <p:spPr>
          <a:xfrm>
            <a:off x="1624519" y="624110"/>
            <a:ext cx="9880094" cy="1280890"/>
          </a:xfrm>
        </p:spPr>
        <p:txBody>
          <a:bodyPr>
            <a:normAutofit/>
          </a:bodyPr>
          <a:lstStyle/>
          <a:p>
            <a:r>
              <a:rPr lang="en-US" sz="3200" b="1" dirty="0"/>
              <a:t>Basic Concepts</a:t>
            </a:r>
            <a:endParaRPr lang="en-IN" sz="3200" b="1" dirty="0">
              <a:latin typeface="Arial" panose="020B0604020202020204" pitchFamily="34" charset="0"/>
              <a:cs typeface="Arial" panose="020B0604020202020204" pitchFamily="34" charset="0"/>
            </a:endParaRPr>
          </a:p>
        </p:txBody>
      </p:sp>
      <p:sp>
        <p:nvSpPr>
          <p:cNvPr id="4" name="Footer Placeholder 3">
            <a:extLst>
              <a:ext uri="{FF2B5EF4-FFF2-40B4-BE49-F238E27FC236}">
                <a16:creationId xmlns:a16="http://schemas.microsoft.com/office/drawing/2014/main" id="{8A54FE58-DD1F-4476-A9A2-0D08E6F93900}"/>
              </a:ext>
            </a:extLst>
          </p:cNvPr>
          <p:cNvSpPr>
            <a:spLocks noGrp="1"/>
          </p:cNvSpPr>
          <p:nvPr>
            <p:ph type="ftr" sz="quarter" idx="11"/>
          </p:nvPr>
        </p:nvSpPr>
        <p:spPr>
          <a:xfrm>
            <a:off x="1879600" y="6139822"/>
            <a:ext cx="8329611" cy="361111"/>
          </a:xfrm>
        </p:spPr>
        <p:txBody>
          <a:bodyPr/>
          <a:lstStyle/>
          <a:p>
            <a:r>
              <a:rPr lang="en-IN" sz="1600" dirty="0">
                <a:solidFill>
                  <a:srgbClr val="C00000"/>
                </a:solidFill>
                <a:latin typeface="Arial" panose="020B0604020202020204" pitchFamily="34" charset="0"/>
                <a:cs typeface="Arial" panose="020B0604020202020204" pitchFamily="34" charset="0"/>
              </a:rPr>
              <a:t>Rohit Lorenzo, VIT-AP</a:t>
            </a:r>
          </a:p>
        </p:txBody>
      </p:sp>
      <p:sp>
        <p:nvSpPr>
          <p:cNvPr id="7" name="Content Placeholder 6"/>
          <p:cNvSpPr>
            <a:spLocks noGrp="1"/>
          </p:cNvSpPr>
          <p:nvPr>
            <p:ph idx="1"/>
          </p:nvPr>
        </p:nvSpPr>
        <p:spPr>
          <a:xfrm>
            <a:off x="457200" y="1215957"/>
            <a:ext cx="11371006" cy="5359941"/>
          </a:xfrm>
        </p:spPr>
        <p:txBody>
          <a:bodyPr>
            <a:normAutofit/>
          </a:bodyPr>
          <a:lstStyle/>
          <a:p>
            <a:pPr algn="just">
              <a:buNone/>
            </a:pPr>
            <a:r>
              <a:rPr lang="en-US" dirty="0">
                <a:latin typeface="Arial" pitchFamily="34" charset="0"/>
                <a:cs typeface="Arial" pitchFamily="34" charset="0"/>
              </a:rPr>
              <a:t>The source-substrate and the drain-substrate junctions, which are reverse-biased under normal operating conditions, are represented by ideal diodes in this equivalent circuit.</a:t>
            </a:r>
          </a:p>
          <a:p>
            <a:pPr algn="just">
              <a:buNone/>
            </a:pPr>
            <a:endParaRPr lang="en-IN" dirty="0">
              <a:latin typeface="Arial" pitchFamily="34" charset="0"/>
              <a:cs typeface="Arial" pitchFamily="34" charset="0"/>
            </a:endParaRPr>
          </a:p>
          <a:p>
            <a:pPr algn="just">
              <a:buNone/>
            </a:pPr>
            <a:endParaRPr lang="en-US" dirty="0">
              <a:latin typeface="Arial" pitchFamily="34" charset="0"/>
              <a:cs typeface="Arial" pitchFamily="34" charset="0"/>
            </a:endParaRPr>
          </a:p>
          <a:p>
            <a:pPr algn="just">
              <a:spcBef>
                <a:spcPts val="0"/>
              </a:spcBef>
            </a:pPr>
            <a:r>
              <a:rPr lang="en-US" dirty="0">
                <a:latin typeface="Arial" pitchFamily="34" charset="0"/>
                <a:cs typeface="Arial" pitchFamily="34" charset="0"/>
              </a:rPr>
              <a:t>The parasitic source and drain resistances</a:t>
            </a:r>
          </a:p>
          <a:p>
            <a:pPr algn="just">
              <a:spcBef>
                <a:spcPts val="0"/>
              </a:spcBef>
            </a:pPr>
            <a:r>
              <a:rPr lang="en-US" dirty="0">
                <a:latin typeface="Arial" pitchFamily="34" charset="0"/>
                <a:cs typeface="Arial" pitchFamily="34" charset="0"/>
              </a:rPr>
              <a:t> are represented by the resistors </a:t>
            </a:r>
            <a:r>
              <a:rPr lang="en-US" b="1" dirty="0">
                <a:latin typeface="Arial" pitchFamily="34" charset="0"/>
                <a:cs typeface="Arial" pitchFamily="34" charset="0"/>
              </a:rPr>
              <a:t>R</a:t>
            </a:r>
            <a:r>
              <a:rPr lang="en-US" b="1" baseline="-25000" dirty="0">
                <a:latin typeface="Arial" pitchFamily="34" charset="0"/>
                <a:cs typeface="Arial" pitchFamily="34" charset="0"/>
              </a:rPr>
              <a:t>D </a:t>
            </a:r>
            <a:r>
              <a:rPr lang="en-US" dirty="0">
                <a:latin typeface="Arial" pitchFamily="34" charset="0"/>
                <a:cs typeface="Arial" pitchFamily="34" charset="0"/>
              </a:rPr>
              <a:t>and </a:t>
            </a:r>
            <a:r>
              <a:rPr lang="en-US" b="1" dirty="0">
                <a:latin typeface="Arial" pitchFamily="34" charset="0"/>
                <a:cs typeface="Arial" pitchFamily="34" charset="0"/>
              </a:rPr>
              <a:t>R</a:t>
            </a:r>
            <a:r>
              <a:rPr lang="en-US" b="1" baseline="-25000" dirty="0">
                <a:latin typeface="Arial" pitchFamily="34" charset="0"/>
                <a:cs typeface="Arial" pitchFamily="34" charset="0"/>
              </a:rPr>
              <a:t>s</a:t>
            </a:r>
            <a:r>
              <a:rPr lang="en-US" dirty="0">
                <a:latin typeface="Arial" pitchFamily="34" charset="0"/>
                <a:cs typeface="Arial" pitchFamily="34" charset="0"/>
              </a:rPr>
              <a:t>,</a:t>
            </a:r>
          </a:p>
          <a:p>
            <a:pPr algn="just">
              <a:spcBef>
                <a:spcPts val="0"/>
              </a:spcBef>
            </a:pPr>
            <a:r>
              <a:rPr lang="en-US" dirty="0">
                <a:latin typeface="Arial" pitchFamily="34" charset="0"/>
                <a:cs typeface="Arial" pitchFamily="34" charset="0"/>
              </a:rPr>
              <a:t> respectively, connected between the drain</a:t>
            </a:r>
          </a:p>
          <a:p>
            <a:pPr algn="just">
              <a:spcBef>
                <a:spcPts val="0"/>
              </a:spcBef>
            </a:pPr>
            <a:r>
              <a:rPr lang="en-US" dirty="0">
                <a:latin typeface="Arial" pitchFamily="34" charset="0"/>
                <a:cs typeface="Arial" pitchFamily="34" charset="0"/>
              </a:rPr>
              <a:t> current source and the respective terminals.</a:t>
            </a:r>
            <a:endParaRPr lang="en-IN" dirty="0">
              <a:latin typeface="Arial" pitchFamily="34" charset="0"/>
              <a:cs typeface="Arial" pitchFamily="34" charset="0"/>
            </a:endParaRPr>
          </a:p>
          <a:p>
            <a:pPr marL="324000">
              <a:spcBef>
                <a:spcPts val="0"/>
              </a:spcBef>
              <a:buFont typeface="Wingdings" pitchFamily="2" charset="2"/>
              <a:buChar char="Ø"/>
            </a:pPr>
            <a:endParaRPr lang="en-IN" dirty="0">
              <a:latin typeface="Arial" pitchFamily="34" charset="0"/>
              <a:cs typeface="Arial" pitchFamily="34" charset="0"/>
            </a:endParaRPr>
          </a:p>
          <a:p>
            <a:pPr algn="just">
              <a:buNone/>
            </a:pPr>
            <a:endParaRPr lang="en-IN" dirty="0">
              <a:latin typeface="Arial" pitchFamily="34" charset="0"/>
              <a:cs typeface="Arial" pitchFamily="34" charset="0"/>
            </a:endParaRPr>
          </a:p>
          <a:p>
            <a:pPr algn="just">
              <a:spcBef>
                <a:spcPts val="0"/>
              </a:spcBef>
              <a:buNone/>
            </a:pPr>
            <a:endParaRPr lang="en-IN" dirty="0"/>
          </a:p>
          <a:p>
            <a:pPr algn="just">
              <a:spcBef>
                <a:spcPts val="0"/>
              </a:spcBef>
              <a:buNone/>
            </a:pPr>
            <a:endParaRPr lang="en-IN" b="1" u="sng" dirty="0">
              <a:latin typeface="Arial" pitchFamily="34" charset="0"/>
              <a:cs typeface="Arial" pitchFamily="34" charset="0"/>
            </a:endParaRPr>
          </a:p>
          <a:p>
            <a:pPr algn="just">
              <a:buNone/>
            </a:pPr>
            <a:endParaRPr lang="en-IN" b="1" u="sng" dirty="0">
              <a:latin typeface="Arial" pitchFamily="34" charset="0"/>
              <a:cs typeface="Arial" pitchFamily="34" charset="0"/>
            </a:endParaRPr>
          </a:p>
        </p:txBody>
      </p:sp>
      <p:pic>
        <p:nvPicPr>
          <p:cNvPr id="1026" name="Picture 2"/>
          <p:cNvPicPr>
            <a:picLocks noChangeAspect="1" noChangeArrowheads="1"/>
          </p:cNvPicPr>
          <p:nvPr/>
        </p:nvPicPr>
        <p:blipFill>
          <a:blip r:embed="rId2" cstate="print"/>
          <a:srcRect/>
          <a:stretch>
            <a:fillRect/>
          </a:stretch>
        </p:blipFill>
        <p:spPr bwMode="auto">
          <a:xfrm>
            <a:off x="5437762" y="2247089"/>
            <a:ext cx="6689662" cy="4484451"/>
          </a:xfrm>
          <a:prstGeom prst="rect">
            <a:avLst/>
          </a:prstGeom>
          <a:noFill/>
          <a:ln w="9525">
            <a:noFill/>
            <a:miter lim="800000"/>
            <a:headEnd/>
            <a:tailEnd/>
          </a:ln>
        </p:spPr>
      </p:pic>
    </p:spTree>
    <p:extLst>
      <p:ext uri="{BB962C8B-B14F-4D97-AF65-F5344CB8AC3E}">
        <p14:creationId xmlns:p14="http://schemas.microsoft.com/office/powerpoint/2010/main" val="24907757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6CFB2A-0814-40DA-956A-43B537D77CBF}"/>
              </a:ext>
            </a:extLst>
          </p:cNvPr>
          <p:cNvSpPr>
            <a:spLocks noGrp="1"/>
          </p:cNvSpPr>
          <p:nvPr>
            <p:ph type="title"/>
          </p:nvPr>
        </p:nvSpPr>
        <p:spPr>
          <a:xfrm>
            <a:off x="1634247" y="624110"/>
            <a:ext cx="9870366" cy="1280890"/>
          </a:xfrm>
        </p:spPr>
        <p:txBody>
          <a:bodyPr>
            <a:normAutofit/>
          </a:bodyPr>
          <a:lstStyle/>
          <a:p>
            <a:r>
              <a:rPr lang="en-US" sz="3200" b="1" dirty="0"/>
              <a:t>The LEVEL 1 Model Equations</a:t>
            </a:r>
            <a:endParaRPr lang="en-IN" sz="3200" dirty="0">
              <a:latin typeface="Arial" pitchFamily="34" charset="0"/>
              <a:cs typeface="Arial" pitchFamily="34" charset="0"/>
            </a:endParaRPr>
          </a:p>
        </p:txBody>
      </p:sp>
      <p:sp>
        <p:nvSpPr>
          <p:cNvPr id="3" name="Content Placeholder 2">
            <a:extLst>
              <a:ext uri="{FF2B5EF4-FFF2-40B4-BE49-F238E27FC236}">
                <a16:creationId xmlns:a16="http://schemas.microsoft.com/office/drawing/2014/main" id="{20CCCE38-9501-41BD-A653-793344110BEB}"/>
              </a:ext>
            </a:extLst>
          </p:cNvPr>
          <p:cNvSpPr>
            <a:spLocks noGrp="1"/>
          </p:cNvSpPr>
          <p:nvPr>
            <p:ph idx="1"/>
          </p:nvPr>
        </p:nvSpPr>
        <p:spPr>
          <a:xfrm>
            <a:off x="671209" y="1536971"/>
            <a:ext cx="11167353" cy="4659548"/>
          </a:xfrm>
        </p:spPr>
        <p:txBody>
          <a:bodyPr>
            <a:normAutofit/>
          </a:bodyPr>
          <a:lstStyle/>
          <a:p>
            <a:r>
              <a:rPr lang="en-US" b="1" dirty="0">
                <a:latin typeface="Arial" panose="020B0604020202020204" pitchFamily="34" charset="0"/>
                <a:cs typeface="Arial" panose="020B0604020202020204" pitchFamily="34" charset="0"/>
              </a:rPr>
              <a:t> </a:t>
            </a:r>
            <a:r>
              <a:rPr lang="en-US" dirty="0">
                <a:latin typeface="Arial" pitchFamily="34" charset="0"/>
                <a:cs typeface="Arial" pitchFamily="34" charset="0"/>
              </a:rPr>
              <a:t>The LEVEL 1 model is the simplest current-voltage description of the MOSFET, which is basically the GCA-based quadratic model. </a:t>
            </a:r>
          </a:p>
          <a:p>
            <a:r>
              <a:rPr lang="en-US" dirty="0">
                <a:latin typeface="Arial" pitchFamily="34" charset="0"/>
                <a:cs typeface="Arial" pitchFamily="34" charset="0"/>
              </a:rPr>
              <a:t>The equations used for the LEVEL 1 n-channel MOSFET model in SPICE are as follows.</a:t>
            </a:r>
          </a:p>
          <a:p>
            <a:pPr>
              <a:buNone/>
            </a:pPr>
            <a:endParaRPr lang="en-IN" dirty="0">
              <a:latin typeface="Arial" pitchFamily="34" charset="0"/>
              <a:cs typeface="Arial" pitchFamily="34" charset="0"/>
            </a:endParaRPr>
          </a:p>
        </p:txBody>
      </p:sp>
      <p:sp>
        <p:nvSpPr>
          <p:cNvPr id="4" name="Footer Placeholder 3">
            <a:extLst>
              <a:ext uri="{FF2B5EF4-FFF2-40B4-BE49-F238E27FC236}">
                <a16:creationId xmlns:a16="http://schemas.microsoft.com/office/drawing/2014/main" id="{A239F841-0985-43E5-840F-30D2F9F41ABB}"/>
              </a:ext>
            </a:extLst>
          </p:cNvPr>
          <p:cNvSpPr>
            <a:spLocks noGrp="1"/>
          </p:cNvSpPr>
          <p:nvPr>
            <p:ph type="ftr" sz="quarter" idx="11"/>
          </p:nvPr>
        </p:nvSpPr>
        <p:spPr>
          <a:xfrm>
            <a:off x="1889760" y="6116320"/>
            <a:ext cx="8319451" cy="384613"/>
          </a:xfrm>
        </p:spPr>
        <p:txBody>
          <a:bodyPr/>
          <a:lstStyle/>
          <a:p>
            <a:r>
              <a:rPr lang="en-IN" sz="1600" dirty="0">
                <a:solidFill>
                  <a:srgbClr val="C00000"/>
                </a:solidFill>
                <a:latin typeface="Arial" panose="020B0604020202020204" pitchFamily="34" charset="0"/>
                <a:cs typeface="Arial" panose="020B0604020202020204" pitchFamily="34" charset="0"/>
              </a:rPr>
              <a:t>Rohit Lorenzo, VIT-AP</a:t>
            </a:r>
          </a:p>
        </p:txBody>
      </p:sp>
      <p:pic>
        <p:nvPicPr>
          <p:cNvPr id="5" name="Picture 2"/>
          <p:cNvPicPr>
            <a:picLocks noChangeAspect="1" noChangeArrowheads="1"/>
          </p:cNvPicPr>
          <p:nvPr/>
        </p:nvPicPr>
        <p:blipFill>
          <a:blip r:embed="rId2" cstate="print"/>
          <a:srcRect/>
          <a:stretch>
            <a:fillRect/>
          </a:stretch>
        </p:blipFill>
        <p:spPr bwMode="auto">
          <a:xfrm>
            <a:off x="2023352" y="2657794"/>
            <a:ext cx="6771016" cy="1106810"/>
          </a:xfrm>
          <a:prstGeom prst="rect">
            <a:avLst/>
          </a:prstGeom>
          <a:noFill/>
          <a:ln w="9525">
            <a:noFill/>
            <a:miter lim="800000"/>
            <a:headEnd/>
            <a:tailEnd/>
          </a:ln>
        </p:spPr>
      </p:pic>
      <p:pic>
        <p:nvPicPr>
          <p:cNvPr id="1027" name="Picture 3"/>
          <p:cNvPicPr>
            <a:picLocks noChangeAspect="1" noChangeArrowheads="1"/>
          </p:cNvPicPr>
          <p:nvPr/>
        </p:nvPicPr>
        <p:blipFill>
          <a:blip r:embed="rId3" cstate="print"/>
          <a:srcRect/>
          <a:stretch>
            <a:fillRect/>
          </a:stretch>
        </p:blipFill>
        <p:spPr bwMode="auto">
          <a:xfrm>
            <a:off x="1994171" y="4345645"/>
            <a:ext cx="6870261" cy="1410799"/>
          </a:xfrm>
          <a:prstGeom prst="rect">
            <a:avLst/>
          </a:prstGeom>
          <a:noFill/>
          <a:ln w="9525">
            <a:noFill/>
            <a:miter lim="800000"/>
            <a:headEnd/>
            <a:tailEnd/>
          </a:ln>
        </p:spPr>
      </p:pic>
    </p:spTree>
    <p:extLst>
      <p:ext uri="{BB962C8B-B14F-4D97-AF65-F5344CB8AC3E}">
        <p14:creationId xmlns:p14="http://schemas.microsoft.com/office/powerpoint/2010/main" val="25273124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34247" y="624110"/>
            <a:ext cx="9870365" cy="1280890"/>
          </a:xfrm>
        </p:spPr>
        <p:txBody>
          <a:bodyPr>
            <a:normAutofit/>
          </a:bodyPr>
          <a:lstStyle/>
          <a:p>
            <a:r>
              <a:rPr lang="en-US" sz="3200" b="1" dirty="0"/>
              <a:t>The LEVEL 2 Model Equations</a:t>
            </a:r>
            <a:endParaRPr lang="en-US" sz="3200" b="1" dirty="0">
              <a:latin typeface="Arial" pitchFamily="34" charset="0"/>
              <a:cs typeface="Arial" pitchFamily="34" charset="0"/>
            </a:endParaRPr>
          </a:p>
        </p:txBody>
      </p:sp>
      <p:sp>
        <p:nvSpPr>
          <p:cNvPr id="3" name="Content Placeholder 2"/>
          <p:cNvSpPr>
            <a:spLocks noGrp="1"/>
          </p:cNvSpPr>
          <p:nvPr>
            <p:ph idx="1"/>
          </p:nvPr>
        </p:nvSpPr>
        <p:spPr>
          <a:xfrm>
            <a:off x="515566" y="1361873"/>
            <a:ext cx="11322995" cy="4747098"/>
          </a:xfrm>
        </p:spPr>
        <p:txBody>
          <a:bodyPr/>
          <a:lstStyle/>
          <a:p>
            <a:r>
              <a:rPr lang="en-US" dirty="0">
                <a:latin typeface="Arial" pitchFamily="34" charset="0"/>
                <a:cs typeface="Arial" pitchFamily="34" charset="0"/>
              </a:rPr>
              <a:t>To obtain a more accurate model for the drain current, it is necessary to eliminate some of the simplifying assumptions made in the original GCA analysis. </a:t>
            </a:r>
          </a:p>
          <a:p>
            <a:r>
              <a:rPr lang="en-US" dirty="0">
                <a:latin typeface="Arial" pitchFamily="34" charset="0"/>
                <a:cs typeface="Arial" pitchFamily="34" charset="0"/>
              </a:rPr>
              <a:t>Specifically, the bulk depletion charge must be calculated by taking into account its dependence on the channel voltage. current-voltage characteristics in model 2 can be obtained as –</a:t>
            </a:r>
          </a:p>
          <a:p>
            <a:endParaRPr lang="en-IN" dirty="0">
              <a:latin typeface="Arial" pitchFamily="34" charset="0"/>
              <a:cs typeface="Arial" pitchFamily="34" charset="0"/>
            </a:endParaRPr>
          </a:p>
          <a:p>
            <a:endParaRPr lang="en-IN" dirty="0">
              <a:latin typeface="Arial" pitchFamily="34" charset="0"/>
              <a:cs typeface="Arial" pitchFamily="34" charset="0"/>
            </a:endParaRPr>
          </a:p>
          <a:p>
            <a:endParaRPr lang="en-IN" dirty="0">
              <a:latin typeface="Arial" pitchFamily="34" charset="0"/>
              <a:cs typeface="Arial" pitchFamily="34" charset="0"/>
            </a:endParaRPr>
          </a:p>
          <a:p>
            <a:endParaRPr lang="en-IN" dirty="0">
              <a:latin typeface="Arial" pitchFamily="34" charset="0"/>
              <a:cs typeface="Arial" pitchFamily="34" charset="0"/>
            </a:endParaRPr>
          </a:p>
          <a:p>
            <a:r>
              <a:rPr lang="en-US" dirty="0">
                <a:latin typeface="Arial" pitchFamily="34" charset="0"/>
                <a:cs typeface="Arial" pitchFamily="34" charset="0"/>
              </a:rPr>
              <a:t>The saturation voltage V</a:t>
            </a:r>
            <a:r>
              <a:rPr lang="en-US" baseline="-25000" dirty="0">
                <a:latin typeface="Arial" pitchFamily="34" charset="0"/>
                <a:cs typeface="Arial" pitchFamily="34" charset="0"/>
              </a:rPr>
              <a:t>DSAT</a:t>
            </a:r>
            <a:r>
              <a:rPr lang="en-US" dirty="0">
                <a:latin typeface="Arial" pitchFamily="34" charset="0"/>
                <a:cs typeface="Arial" pitchFamily="34" charset="0"/>
              </a:rPr>
              <a:t> can be calculated as</a:t>
            </a:r>
          </a:p>
          <a:p>
            <a:endParaRPr lang="en-IN" dirty="0">
              <a:latin typeface="Arial" pitchFamily="34" charset="0"/>
              <a:cs typeface="Arial" pitchFamily="34" charset="0"/>
            </a:endParaRPr>
          </a:p>
          <a:p>
            <a:r>
              <a:rPr lang="en-IN" dirty="0">
                <a:latin typeface="Arial" pitchFamily="34" charset="0"/>
                <a:cs typeface="Arial" pitchFamily="34" charset="0"/>
              </a:rPr>
              <a:t>Saturation mode current </a:t>
            </a:r>
            <a:endParaRPr lang="en-US" dirty="0">
              <a:latin typeface="Arial" pitchFamily="34" charset="0"/>
              <a:cs typeface="Arial" pitchFamily="34" charset="0"/>
            </a:endParaRPr>
          </a:p>
        </p:txBody>
      </p:sp>
      <p:sp>
        <p:nvSpPr>
          <p:cNvPr id="4" name="Footer Placeholder 3"/>
          <p:cNvSpPr>
            <a:spLocks noGrp="1"/>
          </p:cNvSpPr>
          <p:nvPr>
            <p:ph type="ftr" sz="quarter" idx="11"/>
          </p:nvPr>
        </p:nvSpPr>
        <p:spPr/>
        <p:txBody>
          <a:bodyPr/>
          <a:lstStyle/>
          <a:p>
            <a:r>
              <a:rPr lang="en-IN" sz="1600" dirty="0">
                <a:solidFill>
                  <a:srgbClr val="C00000"/>
                </a:solidFill>
                <a:latin typeface="Arial" panose="020B0604020202020204" pitchFamily="34" charset="0"/>
                <a:cs typeface="Arial" panose="020B0604020202020204" pitchFamily="34" charset="0"/>
              </a:rPr>
              <a:t>Rohit Lorenzo, VIT-AP</a:t>
            </a:r>
          </a:p>
        </p:txBody>
      </p:sp>
      <p:pic>
        <p:nvPicPr>
          <p:cNvPr id="5" name="Picture 2"/>
          <p:cNvPicPr>
            <a:picLocks noChangeAspect="1" noChangeArrowheads="1"/>
          </p:cNvPicPr>
          <p:nvPr/>
        </p:nvPicPr>
        <p:blipFill>
          <a:blip r:embed="rId2" cstate="print"/>
          <a:srcRect/>
          <a:stretch>
            <a:fillRect/>
          </a:stretch>
        </p:blipFill>
        <p:spPr bwMode="auto">
          <a:xfrm>
            <a:off x="2577830" y="2703311"/>
            <a:ext cx="6429983" cy="1304485"/>
          </a:xfrm>
          <a:prstGeom prst="rect">
            <a:avLst/>
          </a:prstGeom>
          <a:noFill/>
          <a:ln w="9525">
            <a:noFill/>
            <a:miter lim="800000"/>
            <a:headEnd/>
            <a:tailEnd/>
          </a:ln>
        </p:spPr>
      </p:pic>
      <p:pic>
        <p:nvPicPr>
          <p:cNvPr id="2051" name="Picture 3"/>
          <p:cNvPicPr>
            <a:picLocks noChangeAspect="1" noChangeArrowheads="1"/>
          </p:cNvPicPr>
          <p:nvPr/>
        </p:nvPicPr>
        <p:blipFill>
          <a:blip r:embed="rId3" cstate="print"/>
          <a:srcRect/>
          <a:stretch>
            <a:fillRect/>
          </a:stretch>
        </p:blipFill>
        <p:spPr bwMode="auto">
          <a:xfrm>
            <a:off x="6303525" y="4245180"/>
            <a:ext cx="5541836" cy="725653"/>
          </a:xfrm>
          <a:prstGeom prst="rect">
            <a:avLst/>
          </a:prstGeom>
          <a:noFill/>
          <a:ln w="9525">
            <a:noFill/>
            <a:miter lim="800000"/>
            <a:headEnd/>
            <a:tailEnd/>
          </a:ln>
        </p:spPr>
      </p:pic>
      <p:pic>
        <p:nvPicPr>
          <p:cNvPr id="2052" name="Picture 4"/>
          <p:cNvPicPr>
            <a:picLocks noChangeAspect="1" noChangeArrowheads="1"/>
          </p:cNvPicPr>
          <p:nvPr/>
        </p:nvPicPr>
        <p:blipFill>
          <a:blip r:embed="rId4" cstate="print"/>
          <a:srcRect/>
          <a:stretch>
            <a:fillRect/>
          </a:stretch>
        </p:blipFill>
        <p:spPr bwMode="auto">
          <a:xfrm>
            <a:off x="3784058" y="5209346"/>
            <a:ext cx="2568103" cy="807118"/>
          </a:xfrm>
          <a:prstGeom prst="rect">
            <a:avLst/>
          </a:prstGeom>
          <a:noFill/>
          <a:ln w="9525">
            <a:noFill/>
            <a:miter lim="800000"/>
            <a:headEnd/>
            <a:tailEnd/>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95337" y="624110"/>
            <a:ext cx="9909276" cy="1280890"/>
          </a:xfrm>
        </p:spPr>
        <p:txBody>
          <a:bodyPr>
            <a:normAutofit/>
          </a:bodyPr>
          <a:lstStyle/>
          <a:p>
            <a:r>
              <a:rPr lang="en-US" sz="3200" b="1" dirty="0"/>
              <a:t>The LEVEL 3 Model Equations</a:t>
            </a:r>
            <a:endParaRPr lang="en-US" sz="3200" dirty="0"/>
          </a:p>
        </p:txBody>
      </p:sp>
      <p:sp>
        <p:nvSpPr>
          <p:cNvPr id="3" name="Content Placeholder 2"/>
          <p:cNvSpPr>
            <a:spLocks noGrp="1"/>
          </p:cNvSpPr>
          <p:nvPr>
            <p:ph idx="1"/>
          </p:nvPr>
        </p:nvSpPr>
        <p:spPr>
          <a:xfrm>
            <a:off x="612843" y="1429965"/>
            <a:ext cx="11313268" cy="4669277"/>
          </a:xfrm>
        </p:spPr>
        <p:txBody>
          <a:bodyPr>
            <a:normAutofit/>
          </a:bodyPr>
          <a:lstStyle/>
          <a:p>
            <a:pPr algn="just"/>
            <a:r>
              <a:rPr lang="en-US" dirty="0">
                <a:latin typeface="Arial" pitchFamily="34" charset="0"/>
                <a:cs typeface="Arial" pitchFamily="34" charset="0"/>
              </a:rPr>
              <a:t>The majority of the LEVEL 3 model equations are empirical. The aims of using empirical equations instead of analytical models are both to improve the accuracy of the model and to limit the complexity of the calculations. </a:t>
            </a:r>
          </a:p>
          <a:p>
            <a:pPr algn="just"/>
            <a:r>
              <a:rPr lang="en-US" dirty="0">
                <a:latin typeface="Arial" pitchFamily="34" charset="0"/>
                <a:cs typeface="Arial" pitchFamily="34" charset="0"/>
              </a:rPr>
              <a:t>The drain current in the linear region</a:t>
            </a:r>
          </a:p>
          <a:p>
            <a:pPr algn="just"/>
            <a:r>
              <a:rPr lang="en-US" dirty="0">
                <a:latin typeface="Arial" pitchFamily="34" charset="0"/>
                <a:cs typeface="Arial" pitchFamily="34" charset="0"/>
              </a:rPr>
              <a:t> is given by the following equation:</a:t>
            </a:r>
          </a:p>
          <a:p>
            <a:pPr algn="just"/>
            <a:endParaRPr lang="en-IN" dirty="0">
              <a:latin typeface="Arial" pitchFamily="34" charset="0"/>
              <a:cs typeface="Arial" pitchFamily="34" charset="0"/>
            </a:endParaRPr>
          </a:p>
          <a:p>
            <a:pPr algn="just"/>
            <a:endParaRPr lang="en-IN" dirty="0">
              <a:latin typeface="Arial" pitchFamily="34" charset="0"/>
              <a:cs typeface="Arial" pitchFamily="34" charset="0"/>
            </a:endParaRPr>
          </a:p>
          <a:p>
            <a:pPr algn="just"/>
            <a:endParaRPr lang="en-IN" dirty="0">
              <a:latin typeface="Arial" pitchFamily="34" charset="0"/>
              <a:cs typeface="Arial" pitchFamily="34" charset="0"/>
            </a:endParaRPr>
          </a:p>
          <a:p>
            <a:pPr algn="just"/>
            <a:r>
              <a:rPr lang="en-US" dirty="0">
                <a:latin typeface="Arial" pitchFamily="34" charset="0"/>
                <a:cs typeface="Arial" pitchFamily="34" charset="0"/>
              </a:rPr>
              <a:t>the empirical parameter</a:t>
            </a:r>
            <a:r>
              <a:rPr lang="en-US" b="1" dirty="0">
                <a:latin typeface="Arial" pitchFamily="34" charset="0"/>
                <a:cs typeface="Arial" pitchFamily="34" charset="0"/>
              </a:rPr>
              <a:t> F</a:t>
            </a:r>
            <a:r>
              <a:rPr lang="en-US" b="1" baseline="-25000" dirty="0">
                <a:latin typeface="Arial" pitchFamily="34" charset="0"/>
                <a:cs typeface="Arial" pitchFamily="34" charset="0"/>
              </a:rPr>
              <a:t>B</a:t>
            </a:r>
            <a:r>
              <a:rPr lang="en-US" b="1" dirty="0">
                <a:latin typeface="Arial" pitchFamily="34" charset="0"/>
                <a:cs typeface="Arial" pitchFamily="34" charset="0"/>
              </a:rPr>
              <a:t> </a:t>
            </a:r>
            <a:r>
              <a:rPr lang="en-US" dirty="0">
                <a:latin typeface="Arial" pitchFamily="34" charset="0"/>
                <a:cs typeface="Arial" pitchFamily="34" charset="0"/>
              </a:rPr>
              <a:t>expresses the dependence of the bulk depletion charge on the three-dimensional geometry of the MOSFET. Here, the parameters </a:t>
            </a:r>
            <a:r>
              <a:rPr lang="en-US" b="1" i="1" dirty="0">
                <a:latin typeface="Arial" pitchFamily="34" charset="0"/>
                <a:cs typeface="Arial" pitchFamily="34" charset="0"/>
              </a:rPr>
              <a:t>V</a:t>
            </a:r>
            <a:r>
              <a:rPr lang="en-US" b="1" i="1" baseline="-25000" dirty="0">
                <a:latin typeface="Arial" pitchFamily="34" charset="0"/>
                <a:cs typeface="Arial" pitchFamily="34" charset="0"/>
              </a:rPr>
              <a:t>T</a:t>
            </a:r>
            <a:r>
              <a:rPr lang="en-US" b="1" i="1" dirty="0">
                <a:latin typeface="Arial" pitchFamily="34" charset="0"/>
                <a:cs typeface="Arial" pitchFamily="34" charset="0"/>
              </a:rPr>
              <a:t>, F</a:t>
            </a:r>
            <a:r>
              <a:rPr lang="en-US" b="1" i="1" baseline="-25000" dirty="0">
                <a:latin typeface="Arial" pitchFamily="34" charset="0"/>
                <a:cs typeface="Arial" pitchFamily="34" charset="0"/>
              </a:rPr>
              <a:t>s</a:t>
            </a:r>
            <a:r>
              <a:rPr lang="en-US" b="1" i="1" dirty="0">
                <a:latin typeface="Arial" pitchFamily="34" charset="0"/>
                <a:cs typeface="Arial" pitchFamily="34" charset="0"/>
              </a:rPr>
              <a:t>, </a:t>
            </a:r>
            <a:r>
              <a:rPr lang="en-US" i="1" dirty="0">
                <a:latin typeface="Arial" pitchFamily="34" charset="0"/>
                <a:cs typeface="Arial" pitchFamily="34" charset="0"/>
              </a:rPr>
              <a:t>and </a:t>
            </a:r>
            <a:r>
              <a:rPr lang="el-GR" b="1" i="1" dirty="0">
                <a:latin typeface="Arial" pitchFamily="34" charset="0"/>
                <a:cs typeface="Arial" pitchFamily="34" charset="0"/>
              </a:rPr>
              <a:t>μ</a:t>
            </a:r>
            <a:r>
              <a:rPr lang="en-US" b="1" i="1" baseline="-25000" dirty="0">
                <a:latin typeface="Arial" pitchFamily="34" charset="0"/>
                <a:cs typeface="Arial" pitchFamily="34" charset="0"/>
              </a:rPr>
              <a:t>s</a:t>
            </a:r>
            <a:r>
              <a:rPr lang="en-US" b="1" i="1" dirty="0">
                <a:latin typeface="Arial" pitchFamily="34" charset="0"/>
                <a:cs typeface="Arial" pitchFamily="34" charset="0"/>
              </a:rPr>
              <a:t> </a:t>
            </a:r>
            <a:r>
              <a:rPr lang="en-US" i="1" dirty="0">
                <a:latin typeface="Arial" pitchFamily="34" charset="0"/>
                <a:cs typeface="Arial" pitchFamily="34" charset="0"/>
              </a:rPr>
              <a:t>are </a:t>
            </a:r>
            <a:r>
              <a:rPr lang="en-US" dirty="0">
                <a:latin typeface="Arial" pitchFamily="34" charset="0"/>
                <a:cs typeface="Arial" pitchFamily="34" charset="0"/>
              </a:rPr>
              <a:t>influenced by the short-channel effects, while the parameter </a:t>
            </a:r>
            <a:r>
              <a:rPr lang="en-US" b="1" dirty="0">
                <a:latin typeface="Arial" pitchFamily="34" charset="0"/>
                <a:cs typeface="Arial" pitchFamily="34" charset="0"/>
              </a:rPr>
              <a:t>F</a:t>
            </a:r>
            <a:r>
              <a:rPr lang="en-US" b="1" baseline="-25000" dirty="0">
                <a:latin typeface="Arial" pitchFamily="34" charset="0"/>
                <a:cs typeface="Arial" pitchFamily="34" charset="0"/>
              </a:rPr>
              <a:t>n</a:t>
            </a:r>
            <a:r>
              <a:rPr lang="en-US" dirty="0">
                <a:latin typeface="Arial" pitchFamily="34" charset="0"/>
                <a:cs typeface="Arial" pitchFamily="34" charset="0"/>
              </a:rPr>
              <a:t> is influenced by the narrow-channel effects.</a:t>
            </a:r>
          </a:p>
        </p:txBody>
      </p:sp>
      <p:sp>
        <p:nvSpPr>
          <p:cNvPr id="4" name="Footer Placeholder 3"/>
          <p:cNvSpPr>
            <a:spLocks noGrp="1"/>
          </p:cNvSpPr>
          <p:nvPr>
            <p:ph type="ftr" sz="quarter" idx="11"/>
          </p:nvPr>
        </p:nvSpPr>
        <p:spPr>
          <a:xfrm>
            <a:off x="2003898" y="6135808"/>
            <a:ext cx="8205313" cy="365125"/>
          </a:xfrm>
        </p:spPr>
        <p:txBody>
          <a:bodyPr/>
          <a:lstStyle/>
          <a:p>
            <a:r>
              <a:rPr lang="en-IN" sz="1400" dirty="0">
                <a:solidFill>
                  <a:srgbClr val="C00000"/>
                </a:solidFill>
                <a:latin typeface="Arial" panose="020B0604020202020204" pitchFamily="34" charset="0"/>
                <a:cs typeface="Arial" panose="020B0604020202020204" pitchFamily="34" charset="0"/>
              </a:rPr>
              <a:t>Rohit Lorenzo, VIT-AP</a:t>
            </a:r>
          </a:p>
        </p:txBody>
      </p:sp>
      <p:pic>
        <p:nvPicPr>
          <p:cNvPr id="3074" name="Picture 2"/>
          <p:cNvPicPr>
            <a:picLocks noChangeAspect="1" noChangeArrowheads="1"/>
          </p:cNvPicPr>
          <p:nvPr/>
        </p:nvPicPr>
        <p:blipFill>
          <a:blip r:embed="rId2" cstate="print"/>
          <a:srcRect/>
          <a:stretch>
            <a:fillRect/>
          </a:stretch>
        </p:blipFill>
        <p:spPr bwMode="auto">
          <a:xfrm>
            <a:off x="5875505" y="2165456"/>
            <a:ext cx="5380538" cy="1735334"/>
          </a:xfrm>
          <a:prstGeom prst="rect">
            <a:avLst/>
          </a:prstGeom>
          <a:noFill/>
          <a:ln w="9525">
            <a:noFill/>
            <a:miter lim="800000"/>
            <a:headEnd/>
            <a:tailEnd/>
          </a:ln>
        </p:spPr>
      </p:pic>
      <p:pic>
        <p:nvPicPr>
          <p:cNvPr id="3075" name="Picture 3"/>
          <p:cNvPicPr>
            <a:picLocks noChangeAspect="1" noChangeArrowheads="1"/>
          </p:cNvPicPr>
          <p:nvPr/>
        </p:nvPicPr>
        <p:blipFill>
          <a:blip r:embed="rId3" cstate="print"/>
          <a:srcRect/>
          <a:stretch>
            <a:fillRect/>
          </a:stretch>
        </p:blipFill>
        <p:spPr bwMode="auto">
          <a:xfrm>
            <a:off x="7062281" y="5458221"/>
            <a:ext cx="2850204" cy="872232"/>
          </a:xfrm>
          <a:prstGeom prst="rect">
            <a:avLst/>
          </a:prstGeom>
          <a:noFill/>
          <a:ln w="9525">
            <a:noFill/>
            <a:miter lim="800000"/>
            <a:headEnd/>
            <a:tailEnd/>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66153" y="624110"/>
            <a:ext cx="9938459" cy="1280890"/>
          </a:xfrm>
        </p:spPr>
        <p:txBody>
          <a:bodyPr>
            <a:normAutofit/>
          </a:bodyPr>
          <a:lstStyle/>
          <a:p>
            <a:r>
              <a:rPr lang="en-US" sz="3200" b="1" dirty="0">
                <a:latin typeface="Arial" pitchFamily="34" charset="0"/>
                <a:cs typeface="Arial" pitchFamily="34" charset="0"/>
              </a:rPr>
              <a:t>CMOS Inverter</a:t>
            </a:r>
          </a:p>
        </p:txBody>
      </p:sp>
      <p:sp>
        <p:nvSpPr>
          <p:cNvPr id="3" name="Content Placeholder 2"/>
          <p:cNvSpPr>
            <a:spLocks noGrp="1"/>
          </p:cNvSpPr>
          <p:nvPr>
            <p:ph idx="1"/>
          </p:nvPr>
        </p:nvSpPr>
        <p:spPr>
          <a:xfrm>
            <a:off x="564204" y="1225685"/>
            <a:ext cx="11361907" cy="4854102"/>
          </a:xfrm>
        </p:spPr>
        <p:txBody>
          <a:bodyPr/>
          <a:lstStyle/>
          <a:p>
            <a:pPr algn="just"/>
            <a:r>
              <a:rPr lang="en-US" dirty="0">
                <a:latin typeface="Arial" pitchFamily="34" charset="0"/>
                <a:cs typeface="Arial" pitchFamily="34" charset="0"/>
              </a:rPr>
              <a:t>The inverter is truly the nucleus of all digital designs. Once its operation and properties are clearly understood, designing more intricate structures such as NAND gates, adders, multipliers, and microprocessors is greatly simplified. </a:t>
            </a:r>
          </a:p>
          <a:p>
            <a:pPr algn="just"/>
            <a:r>
              <a:rPr lang="en-US" dirty="0">
                <a:latin typeface="Arial" pitchFamily="34" charset="0"/>
                <a:cs typeface="Arial" pitchFamily="34" charset="0"/>
              </a:rPr>
              <a:t>The analysis of inverters can be extended to explain the behavior of more complex gates such as NAND, NOR, or XOR, which in turn form the building blocks for modules such as multipliers and processors.</a:t>
            </a:r>
          </a:p>
          <a:p>
            <a:pPr algn="just"/>
            <a:endParaRPr lang="en-IN" dirty="0">
              <a:latin typeface="Arial" pitchFamily="34" charset="0"/>
              <a:cs typeface="Arial" pitchFamily="34" charset="0"/>
            </a:endParaRPr>
          </a:p>
          <a:p>
            <a:pPr algn="just"/>
            <a:r>
              <a:rPr lang="en-IN" sz="2000" b="1" u="sng" dirty="0">
                <a:latin typeface="Arial" pitchFamily="34" charset="0"/>
                <a:cs typeface="Arial" pitchFamily="34" charset="0"/>
              </a:rPr>
              <a:t>Static CMOS Inverter</a:t>
            </a:r>
          </a:p>
          <a:p>
            <a:pPr>
              <a:spcBef>
                <a:spcPts val="0"/>
              </a:spcBef>
            </a:pPr>
            <a:r>
              <a:rPr lang="en-US" dirty="0">
                <a:latin typeface="Arial" pitchFamily="34" charset="0"/>
                <a:cs typeface="Arial" pitchFamily="34" charset="0"/>
              </a:rPr>
              <a:t>Inverter  operation is readily understood with the aid of the simple switch </a:t>
            </a:r>
          </a:p>
          <a:p>
            <a:pPr>
              <a:spcBef>
                <a:spcPts val="0"/>
              </a:spcBef>
            </a:pPr>
            <a:r>
              <a:rPr lang="en-US" dirty="0">
                <a:latin typeface="Arial" pitchFamily="34" charset="0"/>
                <a:cs typeface="Arial" pitchFamily="34" charset="0"/>
              </a:rPr>
              <a:t>model of the MOS transistor.</a:t>
            </a:r>
          </a:p>
          <a:p>
            <a:pPr>
              <a:spcBef>
                <a:spcPts val="0"/>
              </a:spcBef>
            </a:pPr>
            <a:endParaRPr lang="en-IN" b="1" u="sng" dirty="0">
              <a:latin typeface="Arial" pitchFamily="34" charset="0"/>
              <a:cs typeface="Arial" pitchFamily="34" charset="0"/>
            </a:endParaRPr>
          </a:p>
          <a:p>
            <a:pPr>
              <a:spcBef>
                <a:spcPts val="0"/>
              </a:spcBef>
            </a:pPr>
            <a:r>
              <a:rPr lang="en-US" dirty="0">
                <a:latin typeface="Arial" pitchFamily="34" charset="0"/>
                <a:cs typeface="Arial" pitchFamily="34" charset="0"/>
              </a:rPr>
              <a:t>The transistor is nothing more than a switch with an infinite OFF resistance </a:t>
            </a:r>
          </a:p>
          <a:p>
            <a:pPr>
              <a:spcBef>
                <a:spcPts val="0"/>
              </a:spcBef>
            </a:pPr>
            <a:r>
              <a:rPr lang="en-US" dirty="0">
                <a:latin typeface="Arial" pitchFamily="34" charset="0"/>
                <a:cs typeface="Arial" pitchFamily="34" charset="0"/>
              </a:rPr>
              <a:t>( for </a:t>
            </a:r>
            <a:r>
              <a:rPr lang="en-US" b="1" dirty="0">
                <a:latin typeface="Arial" pitchFamily="34" charset="0"/>
                <a:cs typeface="Arial" pitchFamily="34" charset="0"/>
              </a:rPr>
              <a:t>V</a:t>
            </a:r>
            <a:r>
              <a:rPr lang="en-US" b="1" baseline="-25000" dirty="0">
                <a:latin typeface="Arial" pitchFamily="34" charset="0"/>
                <a:cs typeface="Arial" pitchFamily="34" charset="0"/>
              </a:rPr>
              <a:t>GS</a:t>
            </a:r>
            <a:r>
              <a:rPr lang="en-US" b="1" dirty="0">
                <a:latin typeface="Arial" pitchFamily="34" charset="0"/>
                <a:cs typeface="Arial" pitchFamily="34" charset="0"/>
              </a:rPr>
              <a:t>&lt;V</a:t>
            </a:r>
            <a:r>
              <a:rPr lang="en-US" b="1" baseline="-25000" dirty="0">
                <a:latin typeface="Arial" pitchFamily="34" charset="0"/>
                <a:cs typeface="Arial" pitchFamily="34" charset="0"/>
              </a:rPr>
              <a:t>T</a:t>
            </a:r>
            <a:r>
              <a:rPr lang="en-US" dirty="0">
                <a:latin typeface="Arial" pitchFamily="34" charset="0"/>
                <a:cs typeface="Arial" pitchFamily="34" charset="0"/>
              </a:rPr>
              <a:t>) and a finite on-resistance ( for </a:t>
            </a:r>
            <a:r>
              <a:rPr lang="en-US" b="1" dirty="0">
                <a:latin typeface="Arial" pitchFamily="34" charset="0"/>
                <a:cs typeface="Arial" pitchFamily="34" charset="0"/>
              </a:rPr>
              <a:t>V</a:t>
            </a:r>
            <a:r>
              <a:rPr lang="en-US" b="1" baseline="-25000" dirty="0">
                <a:latin typeface="Arial" pitchFamily="34" charset="0"/>
                <a:cs typeface="Arial" pitchFamily="34" charset="0"/>
              </a:rPr>
              <a:t>GS</a:t>
            </a:r>
            <a:r>
              <a:rPr lang="en-US" b="1" dirty="0">
                <a:latin typeface="Arial" pitchFamily="34" charset="0"/>
                <a:cs typeface="Arial" pitchFamily="34" charset="0"/>
              </a:rPr>
              <a:t>&gt;V</a:t>
            </a:r>
            <a:r>
              <a:rPr lang="en-US" b="1" baseline="-25000" dirty="0">
                <a:latin typeface="Arial" pitchFamily="34" charset="0"/>
                <a:cs typeface="Arial" pitchFamily="34" charset="0"/>
              </a:rPr>
              <a:t>T</a:t>
            </a:r>
            <a:r>
              <a:rPr lang="en-US" dirty="0">
                <a:latin typeface="Arial" pitchFamily="34" charset="0"/>
                <a:cs typeface="Arial" pitchFamily="34" charset="0"/>
              </a:rPr>
              <a:t>) .</a:t>
            </a:r>
            <a:endParaRPr lang="en-US" b="1" u="sng" dirty="0">
              <a:latin typeface="Arial" pitchFamily="34" charset="0"/>
              <a:cs typeface="Arial" pitchFamily="34" charset="0"/>
            </a:endParaRPr>
          </a:p>
        </p:txBody>
      </p:sp>
      <p:sp>
        <p:nvSpPr>
          <p:cNvPr id="4" name="Footer Placeholder 3"/>
          <p:cNvSpPr>
            <a:spLocks noGrp="1"/>
          </p:cNvSpPr>
          <p:nvPr>
            <p:ph type="ftr" sz="quarter" idx="11"/>
          </p:nvPr>
        </p:nvSpPr>
        <p:spPr>
          <a:xfrm>
            <a:off x="1488332" y="6135808"/>
            <a:ext cx="8720879" cy="365125"/>
          </a:xfrm>
        </p:spPr>
        <p:txBody>
          <a:bodyPr/>
          <a:lstStyle/>
          <a:p>
            <a:r>
              <a:rPr lang="en-IN" sz="1500" dirty="0">
                <a:solidFill>
                  <a:srgbClr val="C00000"/>
                </a:solidFill>
                <a:latin typeface="Arial" panose="020B0604020202020204" pitchFamily="34" charset="0"/>
                <a:cs typeface="Arial" panose="020B0604020202020204" pitchFamily="34" charset="0"/>
              </a:rPr>
              <a:t>Rohit Lorenzo, VIT-AP</a:t>
            </a:r>
          </a:p>
        </p:txBody>
      </p:sp>
      <p:pic>
        <p:nvPicPr>
          <p:cNvPr id="4098" name="Picture 2"/>
          <p:cNvPicPr>
            <a:picLocks noChangeAspect="1" noChangeArrowheads="1"/>
          </p:cNvPicPr>
          <p:nvPr/>
        </p:nvPicPr>
        <p:blipFill>
          <a:blip r:embed="rId2" cstate="print"/>
          <a:srcRect/>
          <a:stretch>
            <a:fillRect/>
          </a:stretch>
        </p:blipFill>
        <p:spPr bwMode="auto">
          <a:xfrm>
            <a:off x="8949447" y="2920074"/>
            <a:ext cx="3242553" cy="3937925"/>
          </a:xfrm>
          <a:prstGeom prst="rect">
            <a:avLst/>
          </a:prstGeom>
          <a:noFill/>
          <a:ln w="9525">
            <a:noFill/>
            <a:miter lim="800000"/>
            <a:headEnd/>
            <a:tailEnd/>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66153" y="624110"/>
            <a:ext cx="9938459" cy="1280890"/>
          </a:xfrm>
        </p:spPr>
        <p:txBody>
          <a:bodyPr>
            <a:normAutofit/>
          </a:bodyPr>
          <a:lstStyle/>
          <a:p>
            <a:r>
              <a:rPr lang="en-US" sz="3200" dirty="0">
                <a:latin typeface="Arial" pitchFamily="34" charset="0"/>
                <a:cs typeface="Arial" pitchFamily="34" charset="0"/>
              </a:rPr>
              <a:t> Continue…. </a:t>
            </a:r>
          </a:p>
        </p:txBody>
      </p:sp>
      <p:sp>
        <p:nvSpPr>
          <p:cNvPr id="3" name="Content Placeholder 2"/>
          <p:cNvSpPr>
            <a:spLocks noGrp="1"/>
          </p:cNvSpPr>
          <p:nvPr>
            <p:ph idx="1"/>
          </p:nvPr>
        </p:nvSpPr>
        <p:spPr>
          <a:xfrm>
            <a:off x="651753" y="1303505"/>
            <a:ext cx="11138170" cy="4854103"/>
          </a:xfrm>
        </p:spPr>
        <p:txBody>
          <a:bodyPr/>
          <a:lstStyle/>
          <a:p>
            <a:pPr algn="just"/>
            <a:r>
              <a:rPr lang="en-US" dirty="0">
                <a:latin typeface="Arial" pitchFamily="34" charset="0"/>
                <a:cs typeface="Arial" pitchFamily="34" charset="0"/>
              </a:rPr>
              <a:t>When V</a:t>
            </a:r>
            <a:r>
              <a:rPr lang="en-US" baseline="-25000" dirty="0">
                <a:latin typeface="Arial" pitchFamily="34" charset="0"/>
                <a:cs typeface="Arial" pitchFamily="34" charset="0"/>
              </a:rPr>
              <a:t>in </a:t>
            </a:r>
            <a:r>
              <a:rPr lang="en-US" dirty="0">
                <a:latin typeface="Arial" pitchFamily="34" charset="0"/>
                <a:cs typeface="Arial" pitchFamily="34" charset="0"/>
              </a:rPr>
              <a:t>is low (0 V), NMOS and PMOS transistors are OFF and ON, respectively. The equivalent circuit of Figure (a) shows that a path exists between </a:t>
            </a:r>
            <a:r>
              <a:rPr lang="en-US" b="1" dirty="0">
                <a:latin typeface="Arial" pitchFamily="34" charset="0"/>
                <a:cs typeface="Arial" pitchFamily="34" charset="0"/>
              </a:rPr>
              <a:t>V</a:t>
            </a:r>
            <a:r>
              <a:rPr lang="en-US" b="1" baseline="-25000" dirty="0">
                <a:latin typeface="Arial" pitchFamily="34" charset="0"/>
                <a:cs typeface="Arial" pitchFamily="34" charset="0"/>
              </a:rPr>
              <a:t>DD</a:t>
            </a:r>
            <a:r>
              <a:rPr lang="en-US" b="1" dirty="0">
                <a:latin typeface="Arial" pitchFamily="34" charset="0"/>
                <a:cs typeface="Arial" pitchFamily="34" charset="0"/>
              </a:rPr>
              <a:t> </a:t>
            </a:r>
            <a:r>
              <a:rPr lang="en-US" dirty="0">
                <a:latin typeface="Arial" pitchFamily="34" charset="0"/>
                <a:cs typeface="Arial" pitchFamily="34" charset="0"/>
              </a:rPr>
              <a:t>and </a:t>
            </a:r>
            <a:r>
              <a:rPr lang="en-US" b="1" dirty="0" err="1">
                <a:latin typeface="Arial" pitchFamily="34" charset="0"/>
                <a:cs typeface="Arial" pitchFamily="34" charset="0"/>
              </a:rPr>
              <a:t>V</a:t>
            </a:r>
            <a:r>
              <a:rPr lang="en-US" b="1" baseline="-25000" dirty="0" err="1">
                <a:latin typeface="Arial" pitchFamily="34" charset="0"/>
                <a:cs typeface="Arial" pitchFamily="34" charset="0"/>
              </a:rPr>
              <a:t>out</a:t>
            </a:r>
            <a:r>
              <a:rPr lang="en-US" dirty="0">
                <a:latin typeface="Arial" pitchFamily="34" charset="0"/>
                <a:cs typeface="Arial" pitchFamily="34" charset="0"/>
              </a:rPr>
              <a:t>, yielding a high output voltage. </a:t>
            </a:r>
          </a:p>
          <a:p>
            <a:r>
              <a:rPr lang="en-US" dirty="0">
                <a:latin typeface="Arial" pitchFamily="34" charset="0"/>
                <a:cs typeface="Arial" pitchFamily="34" charset="0"/>
              </a:rPr>
              <a:t>When V</a:t>
            </a:r>
            <a:r>
              <a:rPr lang="en-US" baseline="-25000" dirty="0">
                <a:latin typeface="Arial" pitchFamily="34" charset="0"/>
                <a:cs typeface="Arial" pitchFamily="34" charset="0"/>
              </a:rPr>
              <a:t>in</a:t>
            </a:r>
            <a:r>
              <a:rPr lang="en-US" dirty="0">
                <a:latin typeface="Arial" pitchFamily="34" charset="0"/>
                <a:cs typeface="Arial" pitchFamily="34" charset="0"/>
              </a:rPr>
              <a:t> is high and equal to </a:t>
            </a:r>
            <a:r>
              <a:rPr lang="en-US" b="1" dirty="0">
                <a:latin typeface="Arial" pitchFamily="34" charset="0"/>
                <a:cs typeface="Arial" pitchFamily="34" charset="0"/>
              </a:rPr>
              <a:t>V</a:t>
            </a:r>
            <a:r>
              <a:rPr lang="en-US" b="1" baseline="-25000" dirty="0">
                <a:latin typeface="Arial" pitchFamily="34" charset="0"/>
                <a:cs typeface="Arial" pitchFamily="34" charset="0"/>
              </a:rPr>
              <a:t>DD</a:t>
            </a:r>
            <a:r>
              <a:rPr lang="en-US" dirty="0">
                <a:latin typeface="Arial" pitchFamily="34" charset="0"/>
                <a:cs typeface="Arial" pitchFamily="34" charset="0"/>
              </a:rPr>
              <a:t>, the NMOS  transistor is ON, while the PMOS is OFF. This yields the equivalent circuit of Figure (b). A direct path exists between </a:t>
            </a:r>
            <a:r>
              <a:rPr lang="en-US" b="1" dirty="0" err="1">
                <a:latin typeface="Arial" pitchFamily="34" charset="0"/>
                <a:cs typeface="Arial" pitchFamily="34" charset="0"/>
              </a:rPr>
              <a:t>V</a:t>
            </a:r>
            <a:r>
              <a:rPr lang="en-US" b="1" baseline="-25000" dirty="0" err="1">
                <a:latin typeface="Arial" pitchFamily="34" charset="0"/>
                <a:cs typeface="Arial" pitchFamily="34" charset="0"/>
              </a:rPr>
              <a:t>out</a:t>
            </a:r>
            <a:r>
              <a:rPr lang="en-US" dirty="0">
                <a:latin typeface="Arial" pitchFamily="34" charset="0"/>
                <a:cs typeface="Arial" pitchFamily="34" charset="0"/>
              </a:rPr>
              <a:t> and the ground node,</a:t>
            </a:r>
          </a:p>
          <a:p>
            <a:pPr algn="just"/>
            <a:endParaRPr lang="en-US" b="1" dirty="0">
              <a:latin typeface="Arial" pitchFamily="34" charset="0"/>
              <a:cs typeface="Arial" pitchFamily="34" charset="0"/>
            </a:endParaRPr>
          </a:p>
          <a:p>
            <a:pPr algn="just"/>
            <a:endParaRPr lang="en-US" b="1" dirty="0">
              <a:latin typeface="Arial" pitchFamily="34" charset="0"/>
              <a:cs typeface="Arial" pitchFamily="34" charset="0"/>
            </a:endParaRPr>
          </a:p>
          <a:p>
            <a:pPr algn="just"/>
            <a:endParaRPr lang="en-US" b="1" dirty="0">
              <a:latin typeface="Arial" pitchFamily="34" charset="0"/>
              <a:cs typeface="Arial" pitchFamily="34" charset="0"/>
            </a:endParaRPr>
          </a:p>
        </p:txBody>
      </p:sp>
      <p:sp>
        <p:nvSpPr>
          <p:cNvPr id="4" name="Footer Placeholder 3"/>
          <p:cNvSpPr>
            <a:spLocks noGrp="1"/>
          </p:cNvSpPr>
          <p:nvPr>
            <p:ph type="ftr" sz="quarter" idx="11"/>
          </p:nvPr>
        </p:nvSpPr>
        <p:spPr>
          <a:xfrm>
            <a:off x="1488332" y="6135808"/>
            <a:ext cx="8720879" cy="365125"/>
          </a:xfrm>
        </p:spPr>
        <p:txBody>
          <a:bodyPr/>
          <a:lstStyle/>
          <a:p>
            <a:r>
              <a:rPr lang="en-IN" sz="1500" dirty="0">
                <a:solidFill>
                  <a:srgbClr val="C00000"/>
                </a:solidFill>
                <a:latin typeface="Arial" panose="020B0604020202020204" pitchFamily="34" charset="0"/>
                <a:cs typeface="Arial" panose="020B0604020202020204" pitchFamily="34" charset="0"/>
              </a:rPr>
              <a:t>Rohit Lorenzo, VIT-AP</a:t>
            </a:r>
          </a:p>
        </p:txBody>
      </p:sp>
      <p:sp>
        <p:nvSpPr>
          <p:cNvPr id="2050"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1" name="Rectangle 3"/>
          <p:cNvSpPr>
            <a:spLocks noChangeArrowheads="1"/>
          </p:cNvSpPr>
          <p:nvPr/>
        </p:nvSpPr>
        <p:spPr bwMode="auto">
          <a:xfrm>
            <a:off x="0" y="76835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053" name="Rectangle 5"/>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4" name="Rectangle 6"/>
          <p:cNvSpPr>
            <a:spLocks noChangeArrowheads="1"/>
          </p:cNvSpPr>
          <p:nvPr/>
        </p:nvSpPr>
        <p:spPr bwMode="auto">
          <a:xfrm>
            <a:off x="0" y="7747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056" name="Rectangle 8"/>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7" name="Rectangle 9"/>
          <p:cNvSpPr>
            <a:spLocks noChangeArrowheads="1"/>
          </p:cNvSpPr>
          <p:nvPr/>
        </p:nvSpPr>
        <p:spPr bwMode="auto">
          <a:xfrm>
            <a:off x="0" y="107315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pic>
        <p:nvPicPr>
          <p:cNvPr id="5122" name="Picture 2"/>
          <p:cNvPicPr>
            <a:picLocks noChangeAspect="1" noChangeArrowheads="1"/>
          </p:cNvPicPr>
          <p:nvPr/>
        </p:nvPicPr>
        <p:blipFill>
          <a:blip r:embed="rId2" cstate="print"/>
          <a:srcRect/>
          <a:stretch>
            <a:fillRect/>
          </a:stretch>
        </p:blipFill>
        <p:spPr bwMode="auto">
          <a:xfrm>
            <a:off x="2957209" y="2704289"/>
            <a:ext cx="4970834" cy="3935751"/>
          </a:xfrm>
          <a:prstGeom prst="rect">
            <a:avLst/>
          </a:prstGeom>
          <a:noFill/>
          <a:ln w="9525">
            <a:noFill/>
            <a:miter lim="800000"/>
            <a:headEnd/>
            <a:tailEnd/>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66153" y="624110"/>
            <a:ext cx="9938459" cy="1280890"/>
          </a:xfrm>
        </p:spPr>
        <p:txBody>
          <a:bodyPr>
            <a:normAutofit/>
          </a:bodyPr>
          <a:lstStyle/>
          <a:p>
            <a:r>
              <a:rPr lang="en-US" sz="3200" dirty="0">
                <a:latin typeface="Arial" pitchFamily="34" charset="0"/>
                <a:cs typeface="Arial" pitchFamily="34" charset="0"/>
              </a:rPr>
              <a:t> Continue….</a:t>
            </a:r>
          </a:p>
        </p:txBody>
      </p:sp>
      <p:sp>
        <p:nvSpPr>
          <p:cNvPr id="3" name="Content Placeholder 2"/>
          <p:cNvSpPr>
            <a:spLocks noGrp="1"/>
          </p:cNvSpPr>
          <p:nvPr>
            <p:ph idx="1"/>
          </p:nvPr>
        </p:nvSpPr>
        <p:spPr>
          <a:xfrm>
            <a:off x="505838" y="1303505"/>
            <a:ext cx="11284085" cy="5087247"/>
          </a:xfrm>
        </p:spPr>
        <p:txBody>
          <a:bodyPr>
            <a:normAutofit lnSpcReduction="10000"/>
          </a:bodyPr>
          <a:lstStyle/>
          <a:p>
            <a:r>
              <a:rPr lang="en-US" dirty="0">
                <a:latin typeface="Arial" pitchFamily="34" charset="0"/>
                <a:cs typeface="Arial" pitchFamily="34" charset="0"/>
              </a:rPr>
              <a:t> </a:t>
            </a:r>
            <a:r>
              <a:rPr lang="en-US" b="1" u="sng" dirty="0">
                <a:latin typeface="Arial" pitchFamily="34" charset="0"/>
                <a:cs typeface="Arial" pitchFamily="34" charset="0"/>
              </a:rPr>
              <a:t>Important properties of static CMOS inverter</a:t>
            </a:r>
          </a:p>
          <a:p>
            <a:pPr>
              <a:buFont typeface="Wingdings" pitchFamily="2" charset="2"/>
              <a:buChar char="Ø"/>
            </a:pPr>
            <a:r>
              <a:rPr lang="en-US" b="1" dirty="0">
                <a:latin typeface="Arial" pitchFamily="34" charset="0"/>
                <a:cs typeface="Arial" pitchFamily="34" charset="0"/>
              </a:rPr>
              <a:t> High noise margins </a:t>
            </a:r>
            <a:r>
              <a:rPr lang="en-US" dirty="0">
                <a:latin typeface="Arial" pitchFamily="34" charset="0"/>
                <a:cs typeface="Arial" pitchFamily="34" charset="0"/>
              </a:rPr>
              <a:t>-The high and low output levels equal </a:t>
            </a:r>
            <a:r>
              <a:rPr lang="en-US" b="1" dirty="0">
                <a:latin typeface="Arial" pitchFamily="34" charset="0"/>
                <a:cs typeface="Arial" pitchFamily="34" charset="0"/>
              </a:rPr>
              <a:t>V</a:t>
            </a:r>
            <a:r>
              <a:rPr lang="en-US" b="1" baseline="-25000" dirty="0">
                <a:latin typeface="Arial" pitchFamily="34" charset="0"/>
                <a:cs typeface="Arial" pitchFamily="34" charset="0"/>
              </a:rPr>
              <a:t>DD</a:t>
            </a:r>
            <a:r>
              <a:rPr lang="en-US" b="1" dirty="0">
                <a:latin typeface="Arial" pitchFamily="34" charset="0"/>
                <a:cs typeface="Arial" pitchFamily="34" charset="0"/>
              </a:rPr>
              <a:t> </a:t>
            </a:r>
            <a:r>
              <a:rPr lang="en-US" dirty="0">
                <a:latin typeface="Arial" pitchFamily="34" charset="0"/>
                <a:cs typeface="Arial" pitchFamily="34" charset="0"/>
              </a:rPr>
              <a:t>and </a:t>
            </a:r>
            <a:r>
              <a:rPr lang="en-US" b="1" dirty="0">
                <a:latin typeface="Arial" pitchFamily="34" charset="0"/>
                <a:cs typeface="Arial" pitchFamily="34" charset="0"/>
              </a:rPr>
              <a:t>GND</a:t>
            </a:r>
            <a:r>
              <a:rPr lang="en-US" dirty="0">
                <a:latin typeface="Arial" pitchFamily="34" charset="0"/>
                <a:cs typeface="Arial" pitchFamily="34" charset="0"/>
              </a:rPr>
              <a:t>, respectively; in other words, the voltage swing is equal to the supply voltage. This results in high noise margins.</a:t>
            </a:r>
          </a:p>
          <a:p>
            <a:pPr>
              <a:buFont typeface="Wingdings" pitchFamily="2" charset="2"/>
              <a:buChar char="Ø"/>
            </a:pPr>
            <a:r>
              <a:rPr lang="en-US" b="1" dirty="0" err="1">
                <a:latin typeface="Arial" pitchFamily="34" charset="0"/>
                <a:cs typeface="Arial" pitchFamily="34" charset="0"/>
              </a:rPr>
              <a:t>Ratioless</a:t>
            </a:r>
            <a:r>
              <a:rPr lang="en-US" b="1" dirty="0">
                <a:latin typeface="Arial" pitchFamily="34" charset="0"/>
                <a:cs typeface="Arial" pitchFamily="34" charset="0"/>
              </a:rPr>
              <a:t> Logic </a:t>
            </a:r>
            <a:r>
              <a:rPr lang="en-US" dirty="0">
                <a:latin typeface="Arial" pitchFamily="34" charset="0"/>
                <a:cs typeface="Arial" pitchFamily="34" charset="0"/>
              </a:rPr>
              <a:t>-The logic levels are not dependent upon the relative device sizes, so that the transistors can be minimum size. Gates with this property are called </a:t>
            </a:r>
            <a:r>
              <a:rPr lang="en-US" dirty="0" err="1">
                <a:latin typeface="Arial" pitchFamily="34" charset="0"/>
                <a:cs typeface="Arial" pitchFamily="34" charset="0"/>
              </a:rPr>
              <a:t>ratioless</a:t>
            </a:r>
            <a:r>
              <a:rPr lang="en-US" dirty="0">
                <a:latin typeface="Arial" pitchFamily="34" charset="0"/>
                <a:cs typeface="Arial" pitchFamily="34" charset="0"/>
              </a:rPr>
              <a:t>. </a:t>
            </a:r>
          </a:p>
          <a:p>
            <a:pPr algn="just"/>
            <a:r>
              <a:rPr lang="en-US" b="1" dirty="0">
                <a:latin typeface="Arial" pitchFamily="34" charset="0"/>
                <a:cs typeface="Arial" pitchFamily="34" charset="0"/>
              </a:rPr>
              <a:t>High Input Impedance </a:t>
            </a:r>
            <a:r>
              <a:rPr lang="en-US" dirty="0">
                <a:latin typeface="Arial" pitchFamily="34" charset="0"/>
                <a:cs typeface="Arial" pitchFamily="34" charset="0"/>
              </a:rPr>
              <a:t>- The input impedance of the CMOS inverter is extremely high, as the gate of an MOS transistor is a virtually perfect insulator and draws no dc input current. Since the input node of the inverter only connects to transistor gates. A single inverter can theoretically drive an infinite number of gates in static case. however, increasing the fan-out also increases the propagation delay in transient case.</a:t>
            </a:r>
          </a:p>
          <a:p>
            <a:pPr>
              <a:buFont typeface="Wingdings" pitchFamily="2" charset="2"/>
              <a:buChar char="Ø"/>
            </a:pPr>
            <a:r>
              <a:rPr lang="en-US" b="1" dirty="0">
                <a:latin typeface="Arial" pitchFamily="34" charset="0"/>
                <a:cs typeface="Arial" pitchFamily="34" charset="0"/>
              </a:rPr>
              <a:t>Low output Impedance -</a:t>
            </a:r>
            <a:r>
              <a:rPr lang="en-US" dirty="0">
                <a:latin typeface="Arial" pitchFamily="34" charset="0"/>
                <a:cs typeface="Arial" pitchFamily="34" charset="0"/>
              </a:rPr>
              <a:t>In steady state, there always exists a path with finite resistance between the output and either </a:t>
            </a:r>
            <a:r>
              <a:rPr lang="en-US" b="1" dirty="0">
                <a:latin typeface="Arial" pitchFamily="34" charset="0"/>
                <a:cs typeface="Arial" pitchFamily="34" charset="0"/>
              </a:rPr>
              <a:t>V</a:t>
            </a:r>
            <a:r>
              <a:rPr lang="en-US" b="1" baseline="-25000" dirty="0">
                <a:latin typeface="Arial" pitchFamily="34" charset="0"/>
                <a:cs typeface="Arial" pitchFamily="34" charset="0"/>
              </a:rPr>
              <a:t>DD</a:t>
            </a:r>
            <a:r>
              <a:rPr lang="en-US" dirty="0">
                <a:latin typeface="Arial" pitchFamily="34" charset="0"/>
                <a:cs typeface="Arial" pitchFamily="34" charset="0"/>
              </a:rPr>
              <a:t> or </a:t>
            </a:r>
            <a:r>
              <a:rPr lang="en-US" b="1" dirty="0">
                <a:latin typeface="Arial" pitchFamily="34" charset="0"/>
                <a:cs typeface="Arial" pitchFamily="34" charset="0"/>
              </a:rPr>
              <a:t>GND</a:t>
            </a:r>
            <a:r>
              <a:rPr lang="en-US" dirty="0">
                <a:latin typeface="Arial" pitchFamily="34" charset="0"/>
                <a:cs typeface="Arial" pitchFamily="34" charset="0"/>
              </a:rPr>
              <a:t>. A well-designed CMOS inverter, therefore, has a low output impedance, which makes it less sensitive to noise and disturbances. </a:t>
            </a:r>
          </a:p>
          <a:p>
            <a:pPr algn="just"/>
            <a:r>
              <a:rPr lang="en-US" b="1" dirty="0">
                <a:latin typeface="Arial" pitchFamily="34" charset="0"/>
                <a:cs typeface="Arial" pitchFamily="34" charset="0"/>
              </a:rPr>
              <a:t>static power -</a:t>
            </a:r>
            <a:r>
              <a:rPr lang="en-US" dirty="0">
                <a:latin typeface="Arial" pitchFamily="34" charset="0"/>
                <a:cs typeface="Arial" pitchFamily="34" charset="0"/>
              </a:rPr>
              <a:t>No direct path exists between the supply and ground rails under steady-state operating conditions (this is, when the input and outputs remain constant). The absence of current flow (ignoring leakage currents) means that the gate does not consume much static power</a:t>
            </a:r>
            <a:r>
              <a:rPr lang="en-US" dirty="0"/>
              <a:t>.</a:t>
            </a:r>
            <a:endParaRPr lang="en-US" dirty="0">
              <a:latin typeface="Arial" pitchFamily="34" charset="0"/>
              <a:cs typeface="Arial" pitchFamily="34" charset="0"/>
            </a:endParaRPr>
          </a:p>
        </p:txBody>
      </p:sp>
      <p:sp>
        <p:nvSpPr>
          <p:cNvPr id="4" name="Footer Placeholder 3"/>
          <p:cNvSpPr>
            <a:spLocks noGrp="1"/>
          </p:cNvSpPr>
          <p:nvPr>
            <p:ph type="ftr" sz="quarter" idx="11"/>
          </p:nvPr>
        </p:nvSpPr>
        <p:spPr>
          <a:xfrm>
            <a:off x="1488332" y="6135808"/>
            <a:ext cx="10703668" cy="365125"/>
          </a:xfrm>
        </p:spPr>
        <p:txBody>
          <a:bodyPr/>
          <a:lstStyle/>
          <a:p>
            <a:r>
              <a:rPr lang="en-IN" sz="1500" dirty="0">
                <a:solidFill>
                  <a:srgbClr val="C00000"/>
                </a:solidFill>
                <a:latin typeface="Arial" panose="020B0604020202020204" pitchFamily="34" charset="0"/>
                <a:cs typeface="Arial" panose="020B0604020202020204" pitchFamily="34" charset="0"/>
              </a:rPr>
              <a:t>Rohit Lorenzo, VIT-AP</a:t>
            </a:r>
            <a:endParaRPr lang="en-IN" sz="1500" dirty="0">
              <a:solidFill>
                <a:schemeClr val="tx1"/>
              </a:solidFill>
              <a:latin typeface="Arial" panose="020B0604020202020204" pitchFamily="34" charset="0"/>
              <a:cs typeface="Arial" panose="020B0604020202020204" pitchFamily="34" charset="0"/>
            </a:endParaRPr>
          </a:p>
        </p:txBody>
      </p:sp>
      <p:sp>
        <p:nvSpPr>
          <p:cNvPr id="2050"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1" name="Rectangle 3"/>
          <p:cNvSpPr>
            <a:spLocks noChangeArrowheads="1"/>
          </p:cNvSpPr>
          <p:nvPr/>
        </p:nvSpPr>
        <p:spPr bwMode="auto">
          <a:xfrm>
            <a:off x="0" y="76835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053" name="Rectangle 5"/>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4" name="Rectangle 6"/>
          <p:cNvSpPr>
            <a:spLocks noChangeArrowheads="1"/>
          </p:cNvSpPr>
          <p:nvPr/>
        </p:nvSpPr>
        <p:spPr bwMode="auto">
          <a:xfrm>
            <a:off x="0" y="7747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056" name="Rectangle 8"/>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7" name="Rectangle 9"/>
          <p:cNvSpPr>
            <a:spLocks noChangeArrowheads="1"/>
          </p:cNvSpPr>
          <p:nvPr/>
        </p:nvSpPr>
        <p:spPr bwMode="auto">
          <a:xfrm>
            <a:off x="0" y="107315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2770"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2773" name="Rectangle 5"/>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2774" name="Rectangle 6"/>
          <p:cNvSpPr>
            <a:spLocks noChangeArrowheads="1"/>
          </p:cNvSpPr>
          <p:nvPr/>
        </p:nvSpPr>
        <p:spPr bwMode="auto">
          <a:xfrm>
            <a:off x="0" y="103505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2776" name="Rectangle 8"/>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2777" name="Rectangle 9"/>
          <p:cNvSpPr>
            <a:spLocks noChangeArrowheads="1"/>
          </p:cNvSpPr>
          <p:nvPr/>
        </p:nvSpPr>
        <p:spPr bwMode="auto">
          <a:xfrm>
            <a:off x="0" y="103505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2779" name="Rectangle 11"/>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2780" name="Rectangle 12"/>
          <p:cNvSpPr>
            <a:spLocks noChangeArrowheads="1"/>
          </p:cNvSpPr>
          <p:nvPr/>
        </p:nvSpPr>
        <p:spPr bwMode="auto">
          <a:xfrm>
            <a:off x="0" y="10414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66153" y="624110"/>
            <a:ext cx="9938459" cy="1280890"/>
          </a:xfrm>
        </p:spPr>
        <p:txBody>
          <a:bodyPr>
            <a:normAutofit/>
          </a:bodyPr>
          <a:lstStyle/>
          <a:p>
            <a:r>
              <a:rPr lang="en-US" sz="3200" dirty="0">
                <a:latin typeface="Arial" pitchFamily="34" charset="0"/>
                <a:cs typeface="Arial" pitchFamily="34" charset="0"/>
              </a:rPr>
              <a:t> CMOS Inverter voltage-transfer characteristic</a:t>
            </a:r>
          </a:p>
        </p:txBody>
      </p:sp>
      <p:sp>
        <p:nvSpPr>
          <p:cNvPr id="3" name="Content Placeholder 2"/>
          <p:cNvSpPr>
            <a:spLocks noGrp="1"/>
          </p:cNvSpPr>
          <p:nvPr>
            <p:ph idx="1"/>
          </p:nvPr>
        </p:nvSpPr>
        <p:spPr>
          <a:xfrm>
            <a:off x="642026" y="1225685"/>
            <a:ext cx="11225719" cy="4931924"/>
          </a:xfrm>
        </p:spPr>
        <p:txBody>
          <a:bodyPr>
            <a:normAutofit/>
          </a:bodyPr>
          <a:lstStyle/>
          <a:p>
            <a:pPr algn="just"/>
            <a:r>
              <a:rPr lang="en-US" dirty="0">
                <a:latin typeface="Arial" pitchFamily="34" charset="0"/>
                <a:cs typeface="Arial" pitchFamily="34" charset="0"/>
              </a:rPr>
              <a:t>The nature and the form of the voltage-transfer characteristic (VTC) can be graphically deduced by superimposing the current characteristics of the NMOS and the PMOS devices. </a:t>
            </a:r>
          </a:p>
          <a:p>
            <a:pPr algn="just"/>
            <a:r>
              <a:rPr lang="en-US" dirty="0">
                <a:latin typeface="Arial" pitchFamily="34" charset="0"/>
                <a:cs typeface="Arial" pitchFamily="34" charset="0"/>
              </a:rPr>
              <a:t>It requires that the I-V curves of the NMOS and PMOS devices are transformed onto a common coordinate set. The PMOS I-V relations can be translated into this variable space by the following relations. </a:t>
            </a:r>
          </a:p>
          <a:p>
            <a:pPr algn="just"/>
            <a:endParaRPr lang="en-IN" b="1" dirty="0">
              <a:latin typeface="Arial" pitchFamily="34" charset="0"/>
              <a:cs typeface="Arial" pitchFamily="34" charset="0"/>
            </a:endParaRPr>
          </a:p>
          <a:p>
            <a:pPr algn="just"/>
            <a:endParaRPr lang="en-IN" b="1" dirty="0">
              <a:latin typeface="Arial" pitchFamily="34" charset="0"/>
              <a:cs typeface="Arial" pitchFamily="34" charset="0"/>
            </a:endParaRPr>
          </a:p>
          <a:p>
            <a:pPr algn="just"/>
            <a:r>
              <a:rPr lang="en-IN" b="1" dirty="0">
                <a:latin typeface="Arial" pitchFamily="34" charset="0"/>
                <a:cs typeface="Arial" pitchFamily="34" charset="0"/>
              </a:rPr>
              <a:t>                                                                                                                                           ……..(1)</a:t>
            </a:r>
          </a:p>
          <a:p>
            <a:endParaRPr lang="en-US" b="1" dirty="0">
              <a:latin typeface="Arial" pitchFamily="34" charset="0"/>
              <a:cs typeface="Arial" pitchFamily="34" charset="0"/>
            </a:endParaRPr>
          </a:p>
          <a:p>
            <a:endParaRPr lang="en-US" dirty="0">
              <a:latin typeface="Arial" pitchFamily="34" charset="0"/>
              <a:cs typeface="Arial" pitchFamily="34" charset="0"/>
            </a:endParaRPr>
          </a:p>
          <a:p>
            <a:pPr algn="just"/>
            <a:endParaRPr lang="en-US" b="1" dirty="0">
              <a:latin typeface="Arial" pitchFamily="34" charset="0"/>
              <a:cs typeface="Arial" pitchFamily="34" charset="0"/>
            </a:endParaRPr>
          </a:p>
          <a:p>
            <a:pPr algn="just"/>
            <a:endParaRPr lang="en-US" b="1" dirty="0">
              <a:latin typeface="Arial" pitchFamily="34" charset="0"/>
              <a:cs typeface="Arial" pitchFamily="34" charset="0"/>
            </a:endParaRPr>
          </a:p>
        </p:txBody>
      </p:sp>
      <p:sp>
        <p:nvSpPr>
          <p:cNvPr id="4" name="Footer Placeholder 3"/>
          <p:cNvSpPr>
            <a:spLocks noGrp="1"/>
          </p:cNvSpPr>
          <p:nvPr>
            <p:ph type="ftr" sz="quarter" idx="11"/>
          </p:nvPr>
        </p:nvSpPr>
        <p:spPr>
          <a:xfrm>
            <a:off x="1488332" y="6135808"/>
            <a:ext cx="8720879" cy="365125"/>
          </a:xfrm>
        </p:spPr>
        <p:txBody>
          <a:bodyPr/>
          <a:lstStyle/>
          <a:p>
            <a:r>
              <a:rPr lang="en-IN" sz="1500" dirty="0">
                <a:solidFill>
                  <a:srgbClr val="C00000"/>
                </a:solidFill>
                <a:latin typeface="Arial" panose="020B0604020202020204" pitchFamily="34" charset="0"/>
                <a:cs typeface="Arial" panose="020B0604020202020204" pitchFamily="34" charset="0"/>
              </a:rPr>
              <a:t>Rohit Lorenzo, VIT-AP</a:t>
            </a:r>
          </a:p>
        </p:txBody>
      </p:sp>
      <p:sp>
        <p:nvSpPr>
          <p:cNvPr id="2050"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1" name="Rectangle 3"/>
          <p:cNvSpPr>
            <a:spLocks noChangeArrowheads="1"/>
          </p:cNvSpPr>
          <p:nvPr/>
        </p:nvSpPr>
        <p:spPr bwMode="auto">
          <a:xfrm>
            <a:off x="0" y="76835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053" name="Rectangle 5"/>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4" name="Rectangle 6"/>
          <p:cNvSpPr>
            <a:spLocks noChangeArrowheads="1"/>
          </p:cNvSpPr>
          <p:nvPr/>
        </p:nvSpPr>
        <p:spPr bwMode="auto">
          <a:xfrm>
            <a:off x="0" y="7747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056" name="Rectangle 8"/>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7" name="Rectangle 9"/>
          <p:cNvSpPr>
            <a:spLocks noChangeArrowheads="1"/>
          </p:cNvSpPr>
          <p:nvPr/>
        </p:nvSpPr>
        <p:spPr bwMode="auto">
          <a:xfrm>
            <a:off x="0" y="107315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3794"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3795" name="Rectangle 3"/>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pic>
        <p:nvPicPr>
          <p:cNvPr id="1026" name="Picture 2"/>
          <p:cNvPicPr>
            <a:picLocks noChangeAspect="1" noChangeArrowheads="1"/>
          </p:cNvPicPr>
          <p:nvPr/>
        </p:nvPicPr>
        <p:blipFill>
          <a:blip r:embed="rId2" cstate="print"/>
          <a:srcRect/>
          <a:stretch>
            <a:fillRect/>
          </a:stretch>
        </p:blipFill>
        <p:spPr bwMode="auto">
          <a:xfrm>
            <a:off x="2986391" y="3064214"/>
            <a:ext cx="5781922" cy="1838526"/>
          </a:xfrm>
          <a:prstGeom prst="rect">
            <a:avLst/>
          </a:prstGeom>
          <a:noFill/>
          <a:ln w="9525">
            <a:noFill/>
            <a:miter lim="800000"/>
            <a:headEnd/>
            <a:tailEnd/>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66153" y="624110"/>
            <a:ext cx="9938459" cy="1280890"/>
          </a:xfrm>
        </p:spPr>
        <p:txBody>
          <a:bodyPr>
            <a:normAutofit/>
          </a:bodyPr>
          <a:lstStyle/>
          <a:p>
            <a:r>
              <a:rPr lang="en-US" sz="3200" dirty="0">
                <a:latin typeface="Arial" pitchFamily="34" charset="0"/>
                <a:cs typeface="Arial" pitchFamily="34" charset="0"/>
              </a:rPr>
              <a:t> Continue……. </a:t>
            </a:r>
          </a:p>
        </p:txBody>
      </p:sp>
      <p:sp>
        <p:nvSpPr>
          <p:cNvPr id="3" name="Content Placeholder 2"/>
          <p:cNvSpPr>
            <a:spLocks noGrp="1"/>
          </p:cNvSpPr>
          <p:nvPr>
            <p:ph idx="1"/>
          </p:nvPr>
        </p:nvSpPr>
        <p:spPr>
          <a:xfrm>
            <a:off x="710119" y="1371599"/>
            <a:ext cx="11079804" cy="4786009"/>
          </a:xfrm>
        </p:spPr>
        <p:txBody>
          <a:bodyPr>
            <a:normAutofit/>
          </a:bodyPr>
          <a:lstStyle/>
          <a:p>
            <a:r>
              <a:rPr lang="en-US" dirty="0">
                <a:latin typeface="Arial" pitchFamily="34" charset="0"/>
                <a:cs typeface="Arial" pitchFamily="34" charset="0"/>
              </a:rPr>
              <a:t>The load-line curves of the PMOS device are obtained by a mirroring around the </a:t>
            </a:r>
            <a:r>
              <a:rPr lang="en-US" i="1" dirty="0">
                <a:latin typeface="Arial" pitchFamily="34" charset="0"/>
                <a:cs typeface="Arial" pitchFamily="34" charset="0"/>
              </a:rPr>
              <a:t>x-axis </a:t>
            </a:r>
            <a:r>
              <a:rPr lang="en-US" dirty="0">
                <a:latin typeface="Arial" pitchFamily="34" charset="0"/>
                <a:cs typeface="Arial" pitchFamily="34" charset="0"/>
              </a:rPr>
              <a:t>and a horizontal shift over </a:t>
            </a:r>
            <a:r>
              <a:rPr lang="en-US" i="1" dirty="0">
                <a:latin typeface="Arial" pitchFamily="34" charset="0"/>
                <a:cs typeface="Arial" pitchFamily="34" charset="0"/>
              </a:rPr>
              <a:t>V</a:t>
            </a:r>
            <a:r>
              <a:rPr lang="en-US" i="1" baseline="-25000" dirty="0">
                <a:latin typeface="Arial" pitchFamily="34" charset="0"/>
                <a:cs typeface="Arial" pitchFamily="34" charset="0"/>
              </a:rPr>
              <a:t>DD</a:t>
            </a:r>
            <a:r>
              <a:rPr lang="en-US" i="1" dirty="0">
                <a:latin typeface="Arial" pitchFamily="34" charset="0"/>
                <a:cs typeface="Arial" pitchFamily="34" charset="0"/>
              </a:rPr>
              <a:t>.</a:t>
            </a:r>
            <a:endParaRPr lang="en-US" dirty="0">
              <a:latin typeface="Arial" pitchFamily="34" charset="0"/>
              <a:cs typeface="Arial" pitchFamily="34" charset="0"/>
            </a:endParaRPr>
          </a:p>
          <a:p>
            <a:pPr>
              <a:buNone/>
            </a:pPr>
            <a:endParaRPr lang="en-IN" dirty="0">
              <a:latin typeface="Arial" pitchFamily="34" charset="0"/>
              <a:cs typeface="Arial" pitchFamily="34" charset="0"/>
            </a:endParaRPr>
          </a:p>
          <a:p>
            <a:endParaRPr lang="en-US" dirty="0">
              <a:latin typeface="Arial" pitchFamily="34" charset="0"/>
              <a:cs typeface="Arial" pitchFamily="34" charset="0"/>
            </a:endParaRPr>
          </a:p>
          <a:p>
            <a:pPr algn="just"/>
            <a:endParaRPr lang="en-US" b="1" dirty="0">
              <a:latin typeface="Arial" pitchFamily="34" charset="0"/>
              <a:cs typeface="Arial" pitchFamily="34" charset="0"/>
            </a:endParaRPr>
          </a:p>
          <a:p>
            <a:pPr algn="just"/>
            <a:endParaRPr lang="en-US" b="1" dirty="0">
              <a:latin typeface="Arial" pitchFamily="34" charset="0"/>
              <a:cs typeface="Arial" pitchFamily="34" charset="0"/>
            </a:endParaRPr>
          </a:p>
        </p:txBody>
      </p:sp>
      <p:sp>
        <p:nvSpPr>
          <p:cNvPr id="4" name="Footer Placeholder 3"/>
          <p:cNvSpPr>
            <a:spLocks noGrp="1"/>
          </p:cNvSpPr>
          <p:nvPr>
            <p:ph type="ftr" sz="quarter" idx="11"/>
          </p:nvPr>
        </p:nvSpPr>
        <p:spPr>
          <a:xfrm>
            <a:off x="1488332" y="6135808"/>
            <a:ext cx="8720879" cy="365125"/>
          </a:xfrm>
        </p:spPr>
        <p:txBody>
          <a:bodyPr/>
          <a:lstStyle/>
          <a:p>
            <a:r>
              <a:rPr lang="en-IN" sz="1500" dirty="0">
                <a:solidFill>
                  <a:srgbClr val="C00000"/>
                </a:solidFill>
                <a:latin typeface="Arial" panose="020B0604020202020204" pitchFamily="34" charset="0"/>
                <a:cs typeface="Arial" panose="020B0604020202020204" pitchFamily="34" charset="0"/>
              </a:rPr>
              <a:t>Rohit Lorenzo, VIT-AP</a:t>
            </a:r>
          </a:p>
        </p:txBody>
      </p:sp>
      <p:sp>
        <p:nvSpPr>
          <p:cNvPr id="2050"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1" name="Rectangle 3"/>
          <p:cNvSpPr>
            <a:spLocks noChangeArrowheads="1"/>
          </p:cNvSpPr>
          <p:nvPr/>
        </p:nvSpPr>
        <p:spPr bwMode="auto">
          <a:xfrm>
            <a:off x="0" y="76835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053" name="Rectangle 5"/>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4" name="Rectangle 6"/>
          <p:cNvSpPr>
            <a:spLocks noChangeArrowheads="1"/>
          </p:cNvSpPr>
          <p:nvPr/>
        </p:nvSpPr>
        <p:spPr bwMode="auto">
          <a:xfrm>
            <a:off x="0" y="7747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056" name="Rectangle 8"/>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7" name="Rectangle 9"/>
          <p:cNvSpPr>
            <a:spLocks noChangeArrowheads="1"/>
          </p:cNvSpPr>
          <p:nvPr/>
        </p:nvSpPr>
        <p:spPr bwMode="auto">
          <a:xfrm>
            <a:off x="0" y="107315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3794"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3795" name="Rectangle 3"/>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pic>
        <p:nvPicPr>
          <p:cNvPr id="5" name="Picture 2"/>
          <p:cNvPicPr>
            <a:picLocks noChangeAspect="1" noChangeArrowheads="1"/>
          </p:cNvPicPr>
          <p:nvPr/>
        </p:nvPicPr>
        <p:blipFill>
          <a:blip r:embed="rId2" cstate="print"/>
          <a:srcRect/>
          <a:stretch>
            <a:fillRect/>
          </a:stretch>
        </p:blipFill>
        <p:spPr bwMode="auto">
          <a:xfrm>
            <a:off x="1498059" y="2201310"/>
            <a:ext cx="9864557" cy="3296033"/>
          </a:xfrm>
          <a:prstGeom prst="rect">
            <a:avLst/>
          </a:prstGeom>
          <a:noFill/>
          <a:ln w="9525">
            <a:noFill/>
            <a:miter lim="800000"/>
            <a:headEnd/>
            <a:tailEnd/>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66153" y="624110"/>
            <a:ext cx="9938459" cy="1280890"/>
          </a:xfrm>
        </p:spPr>
        <p:txBody>
          <a:bodyPr>
            <a:normAutofit/>
          </a:bodyPr>
          <a:lstStyle/>
          <a:p>
            <a:r>
              <a:rPr lang="en-US" sz="3200" dirty="0">
                <a:latin typeface="Arial" pitchFamily="34" charset="0"/>
                <a:cs typeface="Arial" pitchFamily="34" charset="0"/>
              </a:rPr>
              <a:t> Continued….</a:t>
            </a:r>
          </a:p>
        </p:txBody>
      </p:sp>
      <p:sp>
        <p:nvSpPr>
          <p:cNvPr id="3" name="Content Placeholder 2"/>
          <p:cNvSpPr>
            <a:spLocks noGrp="1"/>
          </p:cNvSpPr>
          <p:nvPr>
            <p:ph idx="1"/>
          </p:nvPr>
        </p:nvSpPr>
        <p:spPr>
          <a:xfrm>
            <a:off x="535021" y="1225685"/>
            <a:ext cx="11254902" cy="4931924"/>
          </a:xfrm>
        </p:spPr>
        <p:txBody>
          <a:bodyPr>
            <a:normAutofit/>
          </a:bodyPr>
          <a:lstStyle/>
          <a:p>
            <a:r>
              <a:rPr lang="en-US" dirty="0">
                <a:latin typeface="Arial" pitchFamily="34" charset="0"/>
                <a:cs typeface="Arial" pitchFamily="34" charset="0"/>
              </a:rPr>
              <a:t>The resulting load lines are shown in figure. For a dc operating points to be valid, the currents through the NMOS and PMOS devices must be equal.</a:t>
            </a:r>
          </a:p>
          <a:p>
            <a:r>
              <a:rPr lang="en-US" dirty="0">
                <a:latin typeface="Arial" pitchFamily="34" charset="0"/>
                <a:cs typeface="Arial" pitchFamily="34" charset="0"/>
              </a:rPr>
              <a:t>Graphically, this means that the dc points must be located at the intersection of corresponding load lines.</a:t>
            </a:r>
          </a:p>
          <a:p>
            <a:r>
              <a:rPr lang="en-US" dirty="0">
                <a:latin typeface="Arial" pitchFamily="34" charset="0"/>
                <a:cs typeface="Arial" pitchFamily="34" charset="0"/>
              </a:rPr>
              <a:t>A number of those points (for V</a:t>
            </a:r>
            <a:r>
              <a:rPr lang="en-US" baseline="-25000" dirty="0">
                <a:latin typeface="Arial" pitchFamily="34" charset="0"/>
                <a:cs typeface="Arial" pitchFamily="34" charset="0"/>
              </a:rPr>
              <a:t>in</a:t>
            </a:r>
            <a:r>
              <a:rPr lang="en-US" dirty="0">
                <a:latin typeface="Arial" pitchFamily="34" charset="0"/>
                <a:cs typeface="Arial" pitchFamily="34" charset="0"/>
              </a:rPr>
              <a:t> = 0, 0.5, 1, 1.5, 2, and 2.5 V) are marked on the graph.</a:t>
            </a:r>
          </a:p>
          <a:p>
            <a:pPr>
              <a:spcBef>
                <a:spcPts val="0"/>
              </a:spcBef>
            </a:pPr>
            <a:endParaRPr lang="en-US" dirty="0">
              <a:latin typeface="Arial" pitchFamily="34" charset="0"/>
              <a:cs typeface="Arial" pitchFamily="34" charset="0"/>
            </a:endParaRPr>
          </a:p>
          <a:p>
            <a:pPr>
              <a:spcBef>
                <a:spcPts val="0"/>
              </a:spcBef>
            </a:pPr>
            <a:r>
              <a:rPr lang="en-US" dirty="0">
                <a:latin typeface="Arial" pitchFamily="34" charset="0"/>
                <a:cs typeface="Arial" pitchFamily="34" charset="0"/>
              </a:rPr>
              <a:t>As can be observed, all operating points are</a:t>
            </a:r>
          </a:p>
          <a:p>
            <a:pPr>
              <a:spcBef>
                <a:spcPts val="0"/>
              </a:spcBef>
            </a:pPr>
            <a:r>
              <a:rPr lang="en-US" dirty="0">
                <a:latin typeface="Arial" pitchFamily="34" charset="0"/>
                <a:cs typeface="Arial" pitchFamily="34" charset="0"/>
              </a:rPr>
              <a:t> located either at the high or low output  levels.</a:t>
            </a:r>
            <a:endParaRPr lang="en-IN" dirty="0">
              <a:latin typeface="Arial" pitchFamily="34" charset="0"/>
              <a:cs typeface="Arial" pitchFamily="34" charset="0"/>
            </a:endParaRPr>
          </a:p>
          <a:p>
            <a:endParaRPr lang="en-US" dirty="0">
              <a:latin typeface="Arial" pitchFamily="34" charset="0"/>
              <a:cs typeface="Arial" pitchFamily="34" charset="0"/>
            </a:endParaRPr>
          </a:p>
          <a:p>
            <a:pPr algn="just"/>
            <a:endParaRPr lang="en-US" b="1" dirty="0">
              <a:latin typeface="Arial" pitchFamily="34" charset="0"/>
              <a:cs typeface="Arial" pitchFamily="34" charset="0"/>
            </a:endParaRPr>
          </a:p>
          <a:p>
            <a:pPr algn="just"/>
            <a:endParaRPr lang="en-US" b="1" dirty="0">
              <a:latin typeface="Arial" pitchFamily="34" charset="0"/>
              <a:cs typeface="Arial" pitchFamily="34" charset="0"/>
            </a:endParaRPr>
          </a:p>
        </p:txBody>
      </p:sp>
      <p:sp>
        <p:nvSpPr>
          <p:cNvPr id="4" name="Footer Placeholder 3"/>
          <p:cNvSpPr>
            <a:spLocks noGrp="1"/>
          </p:cNvSpPr>
          <p:nvPr>
            <p:ph type="ftr" sz="quarter" idx="11"/>
          </p:nvPr>
        </p:nvSpPr>
        <p:spPr>
          <a:xfrm>
            <a:off x="1488332" y="6135808"/>
            <a:ext cx="8720879" cy="365125"/>
          </a:xfrm>
        </p:spPr>
        <p:txBody>
          <a:bodyPr/>
          <a:lstStyle/>
          <a:p>
            <a:r>
              <a:rPr lang="en-IN" sz="1500" dirty="0">
                <a:solidFill>
                  <a:srgbClr val="C00000"/>
                </a:solidFill>
                <a:latin typeface="Arial" panose="020B0604020202020204" pitchFamily="34" charset="0"/>
                <a:cs typeface="Arial" panose="020B0604020202020204" pitchFamily="34" charset="0"/>
              </a:rPr>
              <a:t>Rohit Lorenzo, VIT-AP</a:t>
            </a:r>
          </a:p>
        </p:txBody>
      </p:sp>
      <p:sp>
        <p:nvSpPr>
          <p:cNvPr id="2050"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1" name="Rectangle 3"/>
          <p:cNvSpPr>
            <a:spLocks noChangeArrowheads="1"/>
          </p:cNvSpPr>
          <p:nvPr/>
        </p:nvSpPr>
        <p:spPr bwMode="auto">
          <a:xfrm>
            <a:off x="0" y="76835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053" name="Rectangle 5"/>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4" name="Rectangle 6"/>
          <p:cNvSpPr>
            <a:spLocks noChangeArrowheads="1"/>
          </p:cNvSpPr>
          <p:nvPr/>
        </p:nvSpPr>
        <p:spPr bwMode="auto">
          <a:xfrm>
            <a:off x="0" y="7747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056" name="Rectangle 8"/>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7" name="Rectangle 9"/>
          <p:cNvSpPr>
            <a:spLocks noChangeArrowheads="1"/>
          </p:cNvSpPr>
          <p:nvPr/>
        </p:nvSpPr>
        <p:spPr bwMode="auto">
          <a:xfrm>
            <a:off x="0" y="107315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3794"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3795" name="Rectangle 3"/>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pic>
        <p:nvPicPr>
          <p:cNvPr id="3074" name="Picture 2"/>
          <p:cNvPicPr>
            <a:picLocks noChangeAspect="1" noChangeArrowheads="1"/>
          </p:cNvPicPr>
          <p:nvPr/>
        </p:nvPicPr>
        <p:blipFill>
          <a:blip r:embed="rId2" cstate="print"/>
          <a:srcRect/>
          <a:stretch>
            <a:fillRect/>
          </a:stretch>
        </p:blipFill>
        <p:spPr bwMode="auto">
          <a:xfrm>
            <a:off x="5655013" y="2733472"/>
            <a:ext cx="6536987" cy="4124528"/>
          </a:xfrm>
          <a:prstGeom prst="rect">
            <a:avLst/>
          </a:prstGeom>
          <a:noFill/>
          <a:ln w="9525">
            <a:noFill/>
            <a:miter lim="800000"/>
            <a:headEnd/>
            <a:tailEnd/>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66153" y="624110"/>
            <a:ext cx="9938459" cy="1280890"/>
          </a:xfrm>
        </p:spPr>
        <p:txBody>
          <a:bodyPr>
            <a:normAutofit/>
          </a:bodyPr>
          <a:lstStyle/>
          <a:p>
            <a:r>
              <a:rPr lang="en-US" sz="3200" dirty="0">
                <a:latin typeface="Arial" pitchFamily="34" charset="0"/>
                <a:cs typeface="Arial" pitchFamily="34" charset="0"/>
              </a:rPr>
              <a:t> Continue….</a:t>
            </a:r>
          </a:p>
        </p:txBody>
      </p:sp>
      <p:sp>
        <p:nvSpPr>
          <p:cNvPr id="3" name="Content Placeholder 2"/>
          <p:cNvSpPr>
            <a:spLocks noGrp="1"/>
          </p:cNvSpPr>
          <p:nvPr>
            <p:ph idx="1"/>
          </p:nvPr>
        </p:nvSpPr>
        <p:spPr>
          <a:xfrm>
            <a:off x="739302" y="1332689"/>
            <a:ext cx="11089532" cy="4824920"/>
          </a:xfrm>
        </p:spPr>
        <p:txBody>
          <a:bodyPr>
            <a:normAutofit/>
          </a:bodyPr>
          <a:lstStyle/>
          <a:p>
            <a:r>
              <a:rPr lang="en-US" dirty="0">
                <a:latin typeface="Arial" pitchFamily="34" charset="0"/>
                <a:cs typeface="Arial" pitchFamily="34" charset="0"/>
              </a:rPr>
              <a:t>In that operation region, a small change in the input voltage results in a large output variation. All these observations translate into the VTC doped silicon substrate.</a:t>
            </a:r>
          </a:p>
          <a:p>
            <a:r>
              <a:rPr lang="en-US" dirty="0">
                <a:latin typeface="Arial" pitchFamily="34" charset="0"/>
                <a:cs typeface="Arial" pitchFamily="34" charset="0"/>
              </a:rPr>
              <a:t>Before going into the analytical details of the operation of the CMOS inverter, a qualitative analysis of the transient behavior of the gate.</a:t>
            </a:r>
          </a:p>
          <a:p>
            <a:endParaRPr lang="en-US" dirty="0">
              <a:latin typeface="Arial" pitchFamily="34" charset="0"/>
              <a:cs typeface="Arial" pitchFamily="34" charset="0"/>
            </a:endParaRPr>
          </a:p>
          <a:p>
            <a:pPr>
              <a:spcBef>
                <a:spcPts val="0"/>
              </a:spcBef>
            </a:pPr>
            <a:r>
              <a:rPr lang="en-US" dirty="0">
                <a:latin typeface="Arial" pitchFamily="34" charset="0"/>
                <a:cs typeface="Arial" pitchFamily="34" charset="0"/>
              </a:rPr>
              <a:t>The gate response time is simply determined by the </a:t>
            </a:r>
          </a:p>
          <a:p>
            <a:pPr>
              <a:spcBef>
                <a:spcPts val="0"/>
              </a:spcBef>
            </a:pPr>
            <a:r>
              <a:rPr lang="en-US" dirty="0">
                <a:latin typeface="Arial" pitchFamily="34" charset="0"/>
                <a:cs typeface="Arial" pitchFamily="34" charset="0"/>
              </a:rPr>
              <a:t>time it takes to charge the capacitor </a:t>
            </a:r>
            <a:r>
              <a:rPr lang="en-US" b="1" dirty="0">
                <a:latin typeface="Arial" pitchFamily="34" charset="0"/>
                <a:cs typeface="Arial" pitchFamily="34" charset="0"/>
              </a:rPr>
              <a:t>C</a:t>
            </a:r>
            <a:r>
              <a:rPr lang="en-US" b="1" baseline="-25000" dirty="0">
                <a:latin typeface="Arial" pitchFamily="34" charset="0"/>
                <a:cs typeface="Arial" pitchFamily="34" charset="0"/>
              </a:rPr>
              <a:t>L</a:t>
            </a:r>
            <a:r>
              <a:rPr lang="en-US" b="1" dirty="0">
                <a:latin typeface="Arial" pitchFamily="34" charset="0"/>
                <a:cs typeface="Arial" pitchFamily="34" charset="0"/>
              </a:rPr>
              <a:t> </a:t>
            </a:r>
            <a:r>
              <a:rPr lang="en-US" dirty="0">
                <a:latin typeface="Arial" pitchFamily="34" charset="0"/>
                <a:cs typeface="Arial" pitchFamily="34" charset="0"/>
              </a:rPr>
              <a:t>through </a:t>
            </a:r>
          </a:p>
          <a:p>
            <a:pPr>
              <a:spcBef>
                <a:spcPts val="0"/>
              </a:spcBef>
            </a:pPr>
            <a:r>
              <a:rPr lang="en-US" dirty="0">
                <a:latin typeface="Arial" pitchFamily="34" charset="0"/>
                <a:cs typeface="Arial" pitchFamily="34" charset="0"/>
              </a:rPr>
              <a:t>The resistor </a:t>
            </a:r>
            <a:r>
              <a:rPr lang="en-US" b="1" dirty="0" err="1">
                <a:latin typeface="Arial" pitchFamily="34" charset="0"/>
                <a:cs typeface="Arial" pitchFamily="34" charset="0"/>
              </a:rPr>
              <a:t>R</a:t>
            </a:r>
            <a:r>
              <a:rPr lang="en-US" b="1" baseline="-25000" dirty="0" err="1">
                <a:latin typeface="Arial" pitchFamily="34" charset="0"/>
                <a:cs typeface="Arial" pitchFamily="34" charset="0"/>
              </a:rPr>
              <a:t>p</a:t>
            </a:r>
            <a:r>
              <a:rPr lang="en-US" b="1" baseline="-25000" dirty="0">
                <a:latin typeface="Arial" pitchFamily="34" charset="0"/>
                <a:cs typeface="Arial" pitchFamily="34" charset="0"/>
              </a:rPr>
              <a:t>. </a:t>
            </a:r>
            <a:r>
              <a:rPr lang="en-US" dirty="0">
                <a:latin typeface="Arial" pitchFamily="34" charset="0"/>
                <a:cs typeface="Arial" pitchFamily="34" charset="0"/>
              </a:rPr>
              <a:t>we learned that the propagation delay of</a:t>
            </a:r>
          </a:p>
          <a:p>
            <a:pPr>
              <a:spcBef>
                <a:spcPts val="0"/>
              </a:spcBef>
            </a:pPr>
            <a:r>
              <a:rPr lang="en-US" dirty="0">
                <a:latin typeface="Arial" pitchFamily="34" charset="0"/>
                <a:cs typeface="Arial" pitchFamily="34" charset="0"/>
              </a:rPr>
              <a:t> such a network is proportional to the its time constant </a:t>
            </a:r>
          </a:p>
          <a:p>
            <a:pPr>
              <a:spcBef>
                <a:spcPts val="0"/>
              </a:spcBef>
            </a:pPr>
            <a:r>
              <a:rPr lang="en-US" b="1" i="1" dirty="0" err="1">
                <a:latin typeface="Arial" pitchFamily="34" charset="0"/>
                <a:cs typeface="Arial" pitchFamily="34" charset="0"/>
              </a:rPr>
              <a:t>R</a:t>
            </a:r>
            <a:r>
              <a:rPr lang="en-US" b="1" i="1" baseline="-25000" dirty="0" err="1">
                <a:latin typeface="Arial" pitchFamily="34" charset="0"/>
                <a:cs typeface="Arial" pitchFamily="34" charset="0"/>
              </a:rPr>
              <a:t>p</a:t>
            </a:r>
            <a:r>
              <a:rPr lang="en-US" b="1" i="1" dirty="0" err="1">
                <a:latin typeface="Arial" pitchFamily="34" charset="0"/>
                <a:cs typeface="Arial" pitchFamily="34" charset="0"/>
              </a:rPr>
              <a:t>C</a:t>
            </a:r>
            <a:r>
              <a:rPr lang="en-US" b="1" i="1" baseline="-25000" dirty="0" err="1">
                <a:latin typeface="Arial" pitchFamily="34" charset="0"/>
                <a:cs typeface="Arial" pitchFamily="34" charset="0"/>
              </a:rPr>
              <a:t>L</a:t>
            </a:r>
            <a:r>
              <a:rPr lang="en-US" b="1" i="1" baseline="-25000" dirty="0">
                <a:latin typeface="Arial" pitchFamily="34" charset="0"/>
                <a:cs typeface="Arial" pitchFamily="34" charset="0"/>
              </a:rPr>
              <a:t>.  </a:t>
            </a:r>
          </a:p>
          <a:p>
            <a:pPr>
              <a:spcBef>
                <a:spcPts val="0"/>
              </a:spcBef>
            </a:pPr>
            <a:endParaRPr lang="en-IN" b="1" i="1" baseline="-25000" dirty="0">
              <a:latin typeface="Arial" pitchFamily="34" charset="0"/>
              <a:cs typeface="Arial" pitchFamily="34" charset="0"/>
            </a:endParaRPr>
          </a:p>
          <a:p>
            <a:pPr>
              <a:spcBef>
                <a:spcPts val="0"/>
              </a:spcBef>
            </a:pPr>
            <a:r>
              <a:rPr lang="en-US" dirty="0">
                <a:latin typeface="Arial" pitchFamily="34" charset="0"/>
                <a:cs typeface="Arial" pitchFamily="34" charset="0"/>
              </a:rPr>
              <a:t>Hence, a fast gate is built either by keeping the output</a:t>
            </a:r>
          </a:p>
          <a:p>
            <a:pPr>
              <a:spcBef>
                <a:spcPts val="0"/>
              </a:spcBef>
            </a:pPr>
            <a:r>
              <a:rPr lang="en-US" dirty="0">
                <a:latin typeface="Arial" pitchFamily="34" charset="0"/>
                <a:cs typeface="Arial" pitchFamily="34" charset="0"/>
              </a:rPr>
              <a:t> capacitance small or by decreasing the on-resistance</a:t>
            </a:r>
          </a:p>
          <a:p>
            <a:pPr>
              <a:spcBef>
                <a:spcPts val="0"/>
              </a:spcBef>
            </a:pPr>
            <a:r>
              <a:rPr lang="en-US" dirty="0">
                <a:latin typeface="Arial" pitchFamily="34" charset="0"/>
                <a:cs typeface="Arial" pitchFamily="34" charset="0"/>
              </a:rPr>
              <a:t> of the transistor. The latter is achieved by</a:t>
            </a:r>
          </a:p>
          <a:p>
            <a:pPr>
              <a:spcBef>
                <a:spcPts val="0"/>
              </a:spcBef>
            </a:pPr>
            <a:r>
              <a:rPr lang="en-US" dirty="0">
                <a:latin typeface="Arial" pitchFamily="34" charset="0"/>
                <a:cs typeface="Arial" pitchFamily="34" charset="0"/>
              </a:rPr>
              <a:t>increasing the </a:t>
            </a:r>
            <a:r>
              <a:rPr lang="en-US" b="1" dirty="0">
                <a:latin typeface="Arial" pitchFamily="34" charset="0"/>
                <a:cs typeface="Arial" pitchFamily="34" charset="0"/>
              </a:rPr>
              <a:t>W/L</a:t>
            </a:r>
            <a:r>
              <a:rPr lang="en-US" dirty="0">
                <a:latin typeface="Arial" pitchFamily="34" charset="0"/>
                <a:cs typeface="Arial" pitchFamily="34" charset="0"/>
              </a:rPr>
              <a:t> ratio of the device</a:t>
            </a:r>
            <a:r>
              <a:rPr lang="en-US" i="1" dirty="0">
                <a:latin typeface="Arial" pitchFamily="34" charset="0"/>
                <a:cs typeface="Arial" pitchFamily="34" charset="0"/>
              </a:rPr>
              <a:t>.</a:t>
            </a:r>
            <a:endParaRPr lang="en-US" baseline="-25000" dirty="0">
              <a:latin typeface="Arial" pitchFamily="34" charset="0"/>
              <a:cs typeface="Arial" pitchFamily="34" charset="0"/>
            </a:endParaRPr>
          </a:p>
        </p:txBody>
      </p:sp>
      <p:sp>
        <p:nvSpPr>
          <p:cNvPr id="4" name="Footer Placeholder 3"/>
          <p:cNvSpPr>
            <a:spLocks noGrp="1"/>
          </p:cNvSpPr>
          <p:nvPr>
            <p:ph type="ftr" sz="quarter" idx="11"/>
          </p:nvPr>
        </p:nvSpPr>
        <p:spPr>
          <a:xfrm>
            <a:off x="1488332" y="6135808"/>
            <a:ext cx="8720879" cy="365125"/>
          </a:xfrm>
        </p:spPr>
        <p:txBody>
          <a:bodyPr/>
          <a:lstStyle/>
          <a:p>
            <a:r>
              <a:rPr lang="en-IN" sz="1500" dirty="0">
                <a:solidFill>
                  <a:srgbClr val="C00000"/>
                </a:solidFill>
                <a:latin typeface="Arial" panose="020B0604020202020204" pitchFamily="34" charset="0"/>
                <a:cs typeface="Arial" panose="020B0604020202020204" pitchFamily="34" charset="0"/>
              </a:rPr>
              <a:t>Rohit Lorenzo, VIT-AP</a:t>
            </a:r>
          </a:p>
        </p:txBody>
      </p:sp>
      <p:sp>
        <p:nvSpPr>
          <p:cNvPr id="2050"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1" name="Rectangle 3"/>
          <p:cNvSpPr>
            <a:spLocks noChangeArrowheads="1"/>
          </p:cNvSpPr>
          <p:nvPr/>
        </p:nvSpPr>
        <p:spPr bwMode="auto">
          <a:xfrm>
            <a:off x="0" y="76835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053" name="Rectangle 5"/>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4" name="Rectangle 6"/>
          <p:cNvSpPr>
            <a:spLocks noChangeArrowheads="1"/>
          </p:cNvSpPr>
          <p:nvPr/>
        </p:nvSpPr>
        <p:spPr bwMode="auto">
          <a:xfrm>
            <a:off x="0" y="7747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056" name="Rectangle 8"/>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7" name="Rectangle 9"/>
          <p:cNvSpPr>
            <a:spLocks noChangeArrowheads="1"/>
          </p:cNvSpPr>
          <p:nvPr/>
        </p:nvSpPr>
        <p:spPr bwMode="auto">
          <a:xfrm>
            <a:off x="0" y="107315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3794"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3795" name="Rectangle 3"/>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6866"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6867" name="Rectangle 3"/>
          <p:cNvSpPr>
            <a:spLocks noChangeArrowheads="1"/>
          </p:cNvSpPr>
          <p:nvPr/>
        </p:nvSpPr>
        <p:spPr bwMode="auto">
          <a:xfrm>
            <a:off x="0" y="7747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6869" name="Rectangle 5"/>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6870" name="Rectangle 6"/>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6872" name="Rectangle 8"/>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6873" name="Rectangle 9"/>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pic>
        <p:nvPicPr>
          <p:cNvPr id="1027" name="Picture 3"/>
          <p:cNvPicPr>
            <a:picLocks noChangeAspect="1" noChangeArrowheads="1"/>
          </p:cNvPicPr>
          <p:nvPr/>
        </p:nvPicPr>
        <p:blipFill>
          <a:blip r:embed="rId2" cstate="print"/>
          <a:srcRect/>
          <a:stretch>
            <a:fillRect/>
          </a:stretch>
        </p:blipFill>
        <p:spPr bwMode="auto">
          <a:xfrm>
            <a:off x="7137400" y="2699696"/>
            <a:ext cx="5054600" cy="4158304"/>
          </a:xfrm>
          <a:prstGeom prst="rect">
            <a:avLst/>
          </a:prstGeom>
          <a:noFill/>
          <a:ln w="9525">
            <a:noFill/>
            <a:miter lim="800000"/>
            <a:headEnd/>
            <a:tailEnd/>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66153" y="624110"/>
            <a:ext cx="9938459" cy="1280890"/>
          </a:xfrm>
        </p:spPr>
        <p:txBody>
          <a:bodyPr>
            <a:normAutofit/>
          </a:bodyPr>
          <a:lstStyle/>
          <a:p>
            <a:r>
              <a:rPr lang="en-US" sz="3200" b="1" dirty="0"/>
              <a:t>Switching Threshold</a:t>
            </a:r>
            <a:endParaRPr lang="en-US" sz="3200" dirty="0">
              <a:latin typeface="Arial" pitchFamily="34" charset="0"/>
              <a:cs typeface="Arial" pitchFamily="34" charset="0"/>
            </a:endParaRPr>
          </a:p>
        </p:txBody>
      </p:sp>
      <p:sp>
        <p:nvSpPr>
          <p:cNvPr id="3" name="Content Placeholder 2"/>
          <p:cNvSpPr>
            <a:spLocks noGrp="1"/>
          </p:cNvSpPr>
          <p:nvPr>
            <p:ph idx="1"/>
          </p:nvPr>
        </p:nvSpPr>
        <p:spPr>
          <a:xfrm>
            <a:off x="447472" y="1225685"/>
            <a:ext cx="11527277" cy="4931924"/>
          </a:xfrm>
        </p:spPr>
        <p:txBody>
          <a:bodyPr>
            <a:normAutofit/>
          </a:bodyPr>
          <a:lstStyle/>
          <a:p>
            <a:pPr algn="just"/>
            <a:r>
              <a:rPr lang="en-US" dirty="0">
                <a:latin typeface="Arial" pitchFamily="34" charset="0"/>
                <a:cs typeface="Arial" pitchFamily="34" charset="0"/>
              </a:rPr>
              <a:t>The switching threshold, </a:t>
            </a:r>
            <a:r>
              <a:rPr lang="en-US" b="1" dirty="0">
                <a:latin typeface="Arial" pitchFamily="34" charset="0"/>
                <a:cs typeface="Arial" pitchFamily="34" charset="0"/>
              </a:rPr>
              <a:t>V</a:t>
            </a:r>
            <a:r>
              <a:rPr lang="en-US" b="1" baseline="-25000" dirty="0">
                <a:latin typeface="Arial" pitchFamily="34" charset="0"/>
                <a:cs typeface="Arial" pitchFamily="34" charset="0"/>
              </a:rPr>
              <a:t>M</a:t>
            </a:r>
            <a:r>
              <a:rPr lang="en-US" b="1" dirty="0">
                <a:latin typeface="Arial" pitchFamily="34" charset="0"/>
                <a:cs typeface="Arial" pitchFamily="34" charset="0"/>
              </a:rPr>
              <a:t>, </a:t>
            </a:r>
            <a:r>
              <a:rPr lang="en-US" dirty="0">
                <a:latin typeface="Arial" pitchFamily="34" charset="0"/>
                <a:cs typeface="Arial" pitchFamily="34" charset="0"/>
              </a:rPr>
              <a:t>is defined as the point where </a:t>
            </a:r>
            <a:r>
              <a:rPr lang="en-US" b="1" dirty="0">
                <a:latin typeface="Arial" pitchFamily="34" charset="0"/>
                <a:cs typeface="Arial" pitchFamily="34" charset="0"/>
              </a:rPr>
              <a:t>V</a:t>
            </a:r>
            <a:r>
              <a:rPr lang="en-US" b="1" baseline="-25000" dirty="0">
                <a:latin typeface="Arial" pitchFamily="34" charset="0"/>
                <a:cs typeface="Arial" pitchFamily="34" charset="0"/>
              </a:rPr>
              <a:t>in</a:t>
            </a:r>
            <a:r>
              <a:rPr lang="en-US" b="1" dirty="0">
                <a:latin typeface="Arial" pitchFamily="34" charset="0"/>
                <a:cs typeface="Arial" pitchFamily="34" charset="0"/>
              </a:rPr>
              <a:t> = </a:t>
            </a:r>
            <a:r>
              <a:rPr lang="en-US" b="1" dirty="0" err="1">
                <a:latin typeface="Arial" pitchFamily="34" charset="0"/>
                <a:cs typeface="Arial" pitchFamily="34" charset="0"/>
              </a:rPr>
              <a:t>V</a:t>
            </a:r>
            <a:r>
              <a:rPr lang="en-US" b="1" baseline="-25000" dirty="0" err="1">
                <a:latin typeface="Arial" pitchFamily="34" charset="0"/>
                <a:cs typeface="Arial" pitchFamily="34" charset="0"/>
              </a:rPr>
              <a:t>out</a:t>
            </a:r>
            <a:r>
              <a:rPr lang="en-US" dirty="0">
                <a:latin typeface="Arial" pitchFamily="34" charset="0"/>
                <a:cs typeface="Arial" pitchFamily="34" charset="0"/>
              </a:rPr>
              <a:t>. Its value can be obtained graphically from the intersection of the VTC with the line given by </a:t>
            </a:r>
            <a:r>
              <a:rPr lang="en-US" b="1" dirty="0">
                <a:latin typeface="Arial" pitchFamily="34" charset="0"/>
                <a:cs typeface="Arial" pitchFamily="34" charset="0"/>
              </a:rPr>
              <a:t>V</a:t>
            </a:r>
            <a:r>
              <a:rPr lang="en-US" b="1" baseline="-25000" dirty="0">
                <a:latin typeface="Arial" pitchFamily="34" charset="0"/>
                <a:cs typeface="Arial" pitchFamily="34" charset="0"/>
              </a:rPr>
              <a:t>in </a:t>
            </a:r>
            <a:r>
              <a:rPr lang="en-US" b="1" dirty="0">
                <a:latin typeface="Arial" pitchFamily="34" charset="0"/>
                <a:cs typeface="Arial" pitchFamily="34" charset="0"/>
              </a:rPr>
              <a:t>= </a:t>
            </a:r>
            <a:r>
              <a:rPr lang="en-US" b="1" dirty="0" err="1">
                <a:latin typeface="Arial" pitchFamily="34" charset="0"/>
                <a:cs typeface="Arial" pitchFamily="34" charset="0"/>
              </a:rPr>
              <a:t>V</a:t>
            </a:r>
            <a:r>
              <a:rPr lang="en-US" b="1" baseline="-25000" dirty="0" err="1">
                <a:latin typeface="Arial" pitchFamily="34" charset="0"/>
                <a:cs typeface="Arial" pitchFamily="34" charset="0"/>
              </a:rPr>
              <a:t>out</a:t>
            </a:r>
            <a:r>
              <a:rPr lang="en-US" b="1" baseline="-25000" dirty="0">
                <a:latin typeface="Arial" pitchFamily="34" charset="0"/>
                <a:cs typeface="Arial" pitchFamily="34" charset="0"/>
              </a:rPr>
              <a:t> </a:t>
            </a:r>
            <a:r>
              <a:rPr lang="en-US" b="1" dirty="0">
                <a:latin typeface="Arial" pitchFamily="34" charset="0"/>
                <a:cs typeface="Arial" pitchFamily="34" charset="0"/>
              </a:rPr>
              <a:t> . </a:t>
            </a:r>
            <a:r>
              <a:rPr lang="en-US" dirty="0">
                <a:latin typeface="Arial" pitchFamily="34" charset="0"/>
                <a:cs typeface="Arial" pitchFamily="34" charset="0"/>
              </a:rPr>
              <a:t>In this region, both PMOS and NMOS are always saturated.</a:t>
            </a:r>
          </a:p>
          <a:p>
            <a:r>
              <a:rPr lang="en-US" dirty="0">
                <a:latin typeface="Arial" pitchFamily="34" charset="0"/>
                <a:cs typeface="Arial" pitchFamily="34" charset="0"/>
              </a:rPr>
              <a:t>We solve the case where the supply voltage is high so that the devices can be assumed to be velocity-saturated (</a:t>
            </a:r>
            <a:r>
              <a:rPr lang="en-US" b="1" dirty="0"/>
              <a:t>V</a:t>
            </a:r>
            <a:r>
              <a:rPr lang="en-US" b="1" baseline="-25000" dirty="0"/>
              <a:t>DSAT </a:t>
            </a:r>
            <a:r>
              <a:rPr lang="en-US" b="1" dirty="0"/>
              <a:t>&lt; V</a:t>
            </a:r>
            <a:r>
              <a:rPr lang="en-US" b="1" baseline="-25000" dirty="0"/>
              <a:t>M</a:t>
            </a:r>
            <a:r>
              <a:rPr lang="en-US" b="1" dirty="0"/>
              <a:t> - V</a:t>
            </a:r>
            <a:r>
              <a:rPr lang="en-US" b="1" baseline="-25000" dirty="0"/>
              <a:t>T</a:t>
            </a:r>
            <a:r>
              <a:rPr lang="en-US" dirty="0"/>
              <a:t>)</a:t>
            </a:r>
            <a:r>
              <a:rPr lang="en-US" i="1" dirty="0"/>
              <a:t>. </a:t>
            </a:r>
            <a:r>
              <a:rPr lang="en-US" dirty="0">
                <a:latin typeface="Arial" pitchFamily="34" charset="0"/>
                <a:cs typeface="Arial" pitchFamily="34" charset="0"/>
              </a:rPr>
              <a:t>We furthermore ignore the channel length modulation effects.</a:t>
            </a:r>
          </a:p>
          <a:p>
            <a:endParaRPr lang="en-IN" b="1" baseline="-25000" dirty="0">
              <a:latin typeface="Arial" pitchFamily="34" charset="0"/>
              <a:cs typeface="Arial" pitchFamily="34" charset="0"/>
            </a:endParaRPr>
          </a:p>
          <a:p>
            <a:r>
              <a:rPr lang="en-IN" b="1" baseline="-25000" dirty="0">
                <a:latin typeface="Arial" pitchFamily="34" charset="0"/>
                <a:cs typeface="Arial" pitchFamily="34" charset="0"/>
              </a:rPr>
              <a:t>                                                                                                                                                                                                                                       </a:t>
            </a:r>
            <a:r>
              <a:rPr lang="en-IN" sz="2400" b="1" baseline="-25000" dirty="0">
                <a:latin typeface="Arial" pitchFamily="34" charset="0"/>
                <a:cs typeface="Arial" pitchFamily="34" charset="0"/>
              </a:rPr>
              <a:t>…….(2)   </a:t>
            </a:r>
          </a:p>
          <a:p>
            <a:endParaRPr lang="en-IN" sz="2400" b="1" baseline="-25000" dirty="0">
              <a:latin typeface="Arial" pitchFamily="34" charset="0"/>
              <a:cs typeface="Arial" pitchFamily="34" charset="0"/>
            </a:endParaRPr>
          </a:p>
          <a:p>
            <a:r>
              <a:rPr lang="en-US" dirty="0">
                <a:latin typeface="Arial" pitchFamily="34" charset="0"/>
                <a:cs typeface="Arial" pitchFamily="34" charset="0"/>
              </a:rPr>
              <a:t>Solving for </a:t>
            </a:r>
            <a:r>
              <a:rPr lang="en-US" b="1" dirty="0">
                <a:latin typeface="Arial" pitchFamily="34" charset="0"/>
                <a:cs typeface="Arial" pitchFamily="34" charset="0"/>
              </a:rPr>
              <a:t>V</a:t>
            </a:r>
            <a:r>
              <a:rPr lang="en-US" b="1" baseline="-25000" dirty="0">
                <a:latin typeface="Arial" pitchFamily="34" charset="0"/>
                <a:cs typeface="Arial" pitchFamily="34" charset="0"/>
              </a:rPr>
              <a:t>M</a:t>
            </a:r>
            <a:r>
              <a:rPr lang="en-US" b="1" dirty="0">
                <a:latin typeface="Arial" pitchFamily="34" charset="0"/>
                <a:cs typeface="Arial" pitchFamily="34" charset="0"/>
              </a:rPr>
              <a:t> </a:t>
            </a:r>
            <a:r>
              <a:rPr lang="en-US" dirty="0">
                <a:latin typeface="Arial" pitchFamily="34" charset="0"/>
                <a:cs typeface="Arial" pitchFamily="34" charset="0"/>
              </a:rPr>
              <a:t>yields</a:t>
            </a:r>
            <a:r>
              <a:rPr lang="en-IN" b="1" baseline="-25000" dirty="0">
                <a:latin typeface="Arial" pitchFamily="34" charset="0"/>
                <a:cs typeface="Arial" pitchFamily="34" charset="0"/>
              </a:rPr>
              <a:t> </a:t>
            </a:r>
          </a:p>
          <a:p>
            <a:endParaRPr lang="en-IN" b="1" baseline="-25000" dirty="0">
              <a:latin typeface="Arial" pitchFamily="34" charset="0"/>
              <a:cs typeface="Arial" pitchFamily="34" charset="0"/>
            </a:endParaRPr>
          </a:p>
          <a:p>
            <a:r>
              <a:rPr lang="en-IN" b="1" baseline="-25000" dirty="0">
                <a:latin typeface="Arial" pitchFamily="34" charset="0"/>
                <a:cs typeface="Arial" pitchFamily="34" charset="0"/>
              </a:rPr>
              <a:t>                                                                                                                                                                                                                                               </a:t>
            </a:r>
            <a:r>
              <a:rPr lang="en-IN" sz="2400" b="1" baseline="-25000" dirty="0">
                <a:latin typeface="Arial" pitchFamily="34" charset="0"/>
                <a:cs typeface="Arial" pitchFamily="34" charset="0"/>
              </a:rPr>
              <a:t>……(3)                                                                                                                                 </a:t>
            </a:r>
          </a:p>
          <a:p>
            <a:pPr algn="just"/>
            <a:r>
              <a:rPr lang="en-IN" sz="2400" b="1" baseline="-25000" dirty="0">
                <a:latin typeface="Arial" pitchFamily="34" charset="0"/>
                <a:cs typeface="Arial" pitchFamily="34" charset="0"/>
              </a:rPr>
              <a:t>                     </a:t>
            </a:r>
          </a:p>
          <a:p>
            <a:endParaRPr lang="en-US" dirty="0">
              <a:latin typeface="Arial" pitchFamily="34" charset="0"/>
              <a:cs typeface="Arial" pitchFamily="34" charset="0"/>
            </a:endParaRPr>
          </a:p>
          <a:p>
            <a:pPr algn="just"/>
            <a:endParaRPr lang="en-US" b="1" dirty="0">
              <a:latin typeface="Arial" pitchFamily="34" charset="0"/>
              <a:cs typeface="Arial" pitchFamily="34" charset="0"/>
            </a:endParaRPr>
          </a:p>
          <a:p>
            <a:pPr algn="just"/>
            <a:endParaRPr lang="en-US" b="1" dirty="0">
              <a:latin typeface="Arial" pitchFamily="34" charset="0"/>
              <a:cs typeface="Arial" pitchFamily="34" charset="0"/>
            </a:endParaRPr>
          </a:p>
        </p:txBody>
      </p:sp>
      <p:sp>
        <p:nvSpPr>
          <p:cNvPr id="4" name="Footer Placeholder 3"/>
          <p:cNvSpPr>
            <a:spLocks noGrp="1"/>
          </p:cNvSpPr>
          <p:nvPr>
            <p:ph type="ftr" sz="quarter" idx="11"/>
          </p:nvPr>
        </p:nvSpPr>
        <p:spPr>
          <a:xfrm>
            <a:off x="1488332" y="6135808"/>
            <a:ext cx="8720879" cy="365125"/>
          </a:xfrm>
        </p:spPr>
        <p:txBody>
          <a:bodyPr/>
          <a:lstStyle/>
          <a:p>
            <a:r>
              <a:rPr lang="en-IN" sz="1500" dirty="0">
                <a:solidFill>
                  <a:srgbClr val="C00000"/>
                </a:solidFill>
                <a:latin typeface="Arial" panose="020B0604020202020204" pitchFamily="34" charset="0"/>
                <a:cs typeface="Arial" panose="020B0604020202020204" pitchFamily="34" charset="0"/>
              </a:rPr>
              <a:t>Rohit Lorenzo, VIT-AP</a:t>
            </a:r>
          </a:p>
        </p:txBody>
      </p:sp>
      <p:sp>
        <p:nvSpPr>
          <p:cNvPr id="2050"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1" name="Rectangle 3"/>
          <p:cNvSpPr>
            <a:spLocks noChangeArrowheads="1"/>
          </p:cNvSpPr>
          <p:nvPr/>
        </p:nvSpPr>
        <p:spPr bwMode="auto">
          <a:xfrm>
            <a:off x="0" y="76835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053" name="Rectangle 5"/>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4" name="Rectangle 6"/>
          <p:cNvSpPr>
            <a:spLocks noChangeArrowheads="1"/>
          </p:cNvSpPr>
          <p:nvPr/>
        </p:nvSpPr>
        <p:spPr bwMode="auto">
          <a:xfrm>
            <a:off x="0" y="7747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056" name="Rectangle 8"/>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7" name="Rectangle 9"/>
          <p:cNvSpPr>
            <a:spLocks noChangeArrowheads="1"/>
          </p:cNvSpPr>
          <p:nvPr/>
        </p:nvSpPr>
        <p:spPr bwMode="auto">
          <a:xfrm>
            <a:off x="0" y="107315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3794"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3795" name="Rectangle 3"/>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pic>
        <p:nvPicPr>
          <p:cNvPr id="5" name="Picture 2"/>
          <p:cNvPicPr>
            <a:picLocks noChangeAspect="1" noChangeArrowheads="1"/>
          </p:cNvPicPr>
          <p:nvPr/>
        </p:nvPicPr>
        <p:blipFill>
          <a:blip r:embed="rId2" cstate="print"/>
          <a:srcRect/>
          <a:stretch>
            <a:fillRect/>
          </a:stretch>
        </p:blipFill>
        <p:spPr bwMode="auto">
          <a:xfrm>
            <a:off x="1588851" y="2975719"/>
            <a:ext cx="8839200" cy="673100"/>
          </a:xfrm>
          <a:prstGeom prst="rect">
            <a:avLst/>
          </a:prstGeom>
          <a:noFill/>
          <a:ln w="9525">
            <a:noFill/>
            <a:miter lim="800000"/>
            <a:headEnd/>
            <a:tailEnd/>
          </a:ln>
        </p:spPr>
      </p:pic>
      <p:pic>
        <p:nvPicPr>
          <p:cNvPr id="6" name="Picture 3"/>
          <p:cNvPicPr>
            <a:picLocks noChangeAspect="1" noChangeArrowheads="1"/>
          </p:cNvPicPr>
          <p:nvPr/>
        </p:nvPicPr>
        <p:blipFill>
          <a:blip r:embed="rId3" cstate="print"/>
          <a:srcRect/>
          <a:stretch>
            <a:fillRect/>
          </a:stretch>
        </p:blipFill>
        <p:spPr bwMode="auto">
          <a:xfrm>
            <a:off x="1760707" y="4445004"/>
            <a:ext cx="8830688" cy="1099963"/>
          </a:xfrm>
          <a:prstGeom prst="rect">
            <a:avLst/>
          </a:prstGeom>
          <a:noFill/>
          <a:ln w="9525">
            <a:noFill/>
            <a:miter lim="800000"/>
            <a:headEnd/>
            <a:tailEnd/>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66153" y="624110"/>
            <a:ext cx="9938459" cy="1280890"/>
          </a:xfrm>
        </p:spPr>
        <p:txBody>
          <a:bodyPr>
            <a:normAutofit/>
          </a:bodyPr>
          <a:lstStyle/>
          <a:p>
            <a:r>
              <a:rPr lang="en-US" sz="3200" dirty="0">
                <a:latin typeface="Arial" pitchFamily="34" charset="0"/>
                <a:cs typeface="Arial" pitchFamily="34" charset="0"/>
              </a:rPr>
              <a:t> continue…….</a:t>
            </a:r>
          </a:p>
        </p:txBody>
      </p:sp>
      <p:sp>
        <p:nvSpPr>
          <p:cNvPr id="3" name="Content Placeholder 2"/>
          <p:cNvSpPr>
            <a:spLocks noGrp="1"/>
          </p:cNvSpPr>
          <p:nvPr>
            <p:ph idx="1"/>
          </p:nvPr>
        </p:nvSpPr>
        <p:spPr>
          <a:xfrm>
            <a:off x="573932" y="1225685"/>
            <a:ext cx="11352179" cy="4931924"/>
          </a:xfrm>
        </p:spPr>
        <p:txBody>
          <a:bodyPr>
            <a:normAutofit/>
          </a:bodyPr>
          <a:lstStyle/>
          <a:p>
            <a:r>
              <a:rPr lang="en-US" dirty="0">
                <a:latin typeface="Arial" pitchFamily="34" charset="0"/>
                <a:cs typeface="Arial" pitchFamily="34" charset="0"/>
              </a:rPr>
              <a:t>For large values of </a:t>
            </a:r>
            <a:r>
              <a:rPr lang="en-US" b="1" i="1" dirty="0">
                <a:latin typeface="Arial" pitchFamily="34" charset="0"/>
                <a:cs typeface="Arial" pitchFamily="34" charset="0"/>
              </a:rPr>
              <a:t>V</a:t>
            </a:r>
            <a:r>
              <a:rPr lang="en-US" b="1" i="1" baseline="-25000" dirty="0">
                <a:latin typeface="Arial" pitchFamily="34" charset="0"/>
                <a:cs typeface="Arial" pitchFamily="34" charset="0"/>
              </a:rPr>
              <a:t>DD   </a:t>
            </a:r>
            <a:r>
              <a:rPr lang="en-US" dirty="0">
                <a:latin typeface="Arial" pitchFamily="34" charset="0"/>
                <a:cs typeface="Arial" pitchFamily="34" charset="0"/>
              </a:rPr>
              <a:t>Eq. (3) can be simplified                                              …..(4)</a:t>
            </a:r>
          </a:p>
          <a:p>
            <a:endParaRPr lang="en-IN" b="1" baseline="-25000" dirty="0">
              <a:latin typeface="Arial" pitchFamily="34" charset="0"/>
              <a:cs typeface="Arial" pitchFamily="34" charset="0"/>
            </a:endParaRPr>
          </a:p>
          <a:p>
            <a:r>
              <a:rPr lang="en-US" dirty="0">
                <a:latin typeface="Arial" pitchFamily="34" charset="0"/>
                <a:cs typeface="Arial" pitchFamily="34" charset="0"/>
              </a:rPr>
              <a:t>we can derive the required ratio of PMOS versus NMOS transistor sizes such that the switching threshold is set to a desired value V</a:t>
            </a:r>
            <a:r>
              <a:rPr lang="en-US" baseline="-25000" dirty="0">
                <a:latin typeface="Arial" pitchFamily="34" charset="0"/>
                <a:cs typeface="Arial" pitchFamily="34" charset="0"/>
              </a:rPr>
              <a:t>M. </a:t>
            </a:r>
            <a:r>
              <a:rPr lang="en-US" dirty="0">
                <a:latin typeface="Arial" pitchFamily="34" charset="0"/>
                <a:cs typeface="Arial" pitchFamily="34" charset="0"/>
              </a:rPr>
              <a:t>When using this expression, please make sure that the assumption that both devices are velocity-saturated still holds for the chosen operation point.</a:t>
            </a:r>
          </a:p>
          <a:p>
            <a:endParaRPr lang="en-IN" b="1" baseline="-25000" dirty="0">
              <a:latin typeface="Arial" pitchFamily="34" charset="0"/>
              <a:cs typeface="Arial" pitchFamily="34" charset="0"/>
            </a:endParaRPr>
          </a:p>
          <a:p>
            <a:r>
              <a:rPr lang="en-IN" sz="2200" b="1" baseline="-25000" dirty="0">
                <a:latin typeface="Arial" pitchFamily="34" charset="0"/>
                <a:cs typeface="Arial" pitchFamily="34" charset="0"/>
              </a:rPr>
              <a:t>                                                                                                                                                                              </a:t>
            </a:r>
            <a:r>
              <a:rPr lang="en-IN" sz="2400" b="1" baseline="-25000" dirty="0">
                <a:latin typeface="Arial" pitchFamily="34" charset="0"/>
                <a:cs typeface="Arial" pitchFamily="34" charset="0"/>
              </a:rPr>
              <a:t>…….(5)</a:t>
            </a:r>
          </a:p>
          <a:p>
            <a:endParaRPr lang="en-US" dirty="0">
              <a:latin typeface="Arial" pitchFamily="34" charset="0"/>
              <a:cs typeface="Arial" pitchFamily="34" charset="0"/>
            </a:endParaRPr>
          </a:p>
          <a:p>
            <a:pPr algn="just"/>
            <a:endParaRPr lang="en-US" b="1" dirty="0">
              <a:latin typeface="Arial" pitchFamily="34" charset="0"/>
              <a:cs typeface="Arial" pitchFamily="34" charset="0"/>
            </a:endParaRPr>
          </a:p>
          <a:p>
            <a:pPr algn="just"/>
            <a:endParaRPr lang="en-US" b="1" dirty="0">
              <a:latin typeface="Arial" pitchFamily="34" charset="0"/>
              <a:cs typeface="Arial" pitchFamily="34" charset="0"/>
            </a:endParaRPr>
          </a:p>
        </p:txBody>
      </p:sp>
      <p:sp>
        <p:nvSpPr>
          <p:cNvPr id="4" name="Footer Placeholder 3"/>
          <p:cNvSpPr>
            <a:spLocks noGrp="1"/>
          </p:cNvSpPr>
          <p:nvPr>
            <p:ph type="ftr" sz="quarter" idx="11"/>
          </p:nvPr>
        </p:nvSpPr>
        <p:spPr>
          <a:xfrm>
            <a:off x="1488332" y="6135808"/>
            <a:ext cx="8720879" cy="365125"/>
          </a:xfrm>
        </p:spPr>
        <p:txBody>
          <a:bodyPr/>
          <a:lstStyle/>
          <a:p>
            <a:r>
              <a:rPr lang="en-IN" sz="1500" dirty="0">
                <a:solidFill>
                  <a:srgbClr val="C00000"/>
                </a:solidFill>
                <a:latin typeface="Arial" panose="020B0604020202020204" pitchFamily="34" charset="0"/>
                <a:cs typeface="Arial" panose="020B0604020202020204" pitchFamily="34" charset="0"/>
              </a:rPr>
              <a:t>Rohit Lorenzo, VIT-AP</a:t>
            </a:r>
          </a:p>
        </p:txBody>
      </p:sp>
      <p:sp>
        <p:nvSpPr>
          <p:cNvPr id="2050"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1" name="Rectangle 3"/>
          <p:cNvSpPr>
            <a:spLocks noChangeArrowheads="1"/>
          </p:cNvSpPr>
          <p:nvPr/>
        </p:nvSpPr>
        <p:spPr bwMode="auto">
          <a:xfrm>
            <a:off x="0" y="76835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053" name="Rectangle 5"/>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4" name="Rectangle 6"/>
          <p:cNvSpPr>
            <a:spLocks noChangeArrowheads="1"/>
          </p:cNvSpPr>
          <p:nvPr/>
        </p:nvSpPr>
        <p:spPr bwMode="auto">
          <a:xfrm>
            <a:off x="0" y="7747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056" name="Rectangle 8"/>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7" name="Rectangle 9"/>
          <p:cNvSpPr>
            <a:spLocks noChangeArrowheads="1"/>
          </p:cNvSpPr>
          <p:nvPr/>
        </p:nvSpPr>
        <p:spPr bwMode="auto">
          <a:xfrm>
            <a:off x="0" y="107315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3794"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3795" name="Rectangle 3"/>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pic>
        <p:nvPicPr>
          <p:cNvPr id="1026" name="Picture 2"/>
          <p:cNvPicPr>
            <a:picLocks noChangeAspect="1" noChangeArrowheads="1"/>
          </p:cNvPicPr>
          <p:nvPr/>
        </p:nvPicPr>
        <p:blipFill>
          <a:blip r:embed="rId2" cstate="print"/>
          <a:srcRect/>
          <a:stretch>
            <a:fillRect/>
          </a:stretch>
        </p:blipFill>
        <p:spPr bwMode="auto">
          <a:xfrm>
            <a:off x="6099241" y="1118203"/>
            <a:ext cx="1456173" cy="681414"/>
          </a:xfrm>
          <a:prstGeom prst="rect">
            <a:avLst/>
          </a:prstGeom>
          <a:noFill/>
          <a:ln w="9525">
            <a:noFill/>
            <a:miter lim="800000"/>
            <a:headEnd/>
            <a:tailEnd/>
          </a:ln>
        </p:spPr>
      </p:pic>
      <p:pic>
        <p:nvPicPr>
          <p:cNvPr id="1027" name="Picture 3"/>
          <p:cNvPicPr>
            <a:picLocks noChangeAspect="1" noChangeArrowheads="1"/>
          </p:cNvPicPr>
          <p:nvPr/>
        </p:nvPicPr>
        <p:blipFill>
          <a:blip r:embed="rId3" cstate="print"/>
          <a:srcRect/>
          <a:stretch>
            <a:fillRect/>
          </a:stretch>
        </p:blipFill>
        <p:spPr bwMode="auto">
          <a:xfrm>
            <a:off x="2110902" y="2936488"/>
            <a:ext cx="6254885" cy="756085"/>
          </a:xfrm>
          <a:prstGeom prst="rect">
            <a:avLst/>
          </a:prstGeom>
          <a:noFill/>
          <a:ln w="9525">
            <a:noFill/>
            <a:miter lim="800000"/>
            <a:headEnd/>
            <a:tailEnd/>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66153" y="624110"/>
            <a:ext cx="9938459" cy="1280890"/>
          </a:xfrm>
        </p:spPr>
        <p:txBody>
          <a:bodyPr>
            <a:normAutofit/>
          </a:bodyPr>
          <a:lstStyle/>
          <a:p>
            <a:r>
              <a:rPr lang="en-US" sz="3200" dirty="0">
                <a:latin typeface="Arial" pitchFamily="34" charset="0"/>
                <a:cs typeface="Arial" pitchFamily="34" charset="0"/>
              </a:rPr>
              <a:t> CMOS Inverter -  Noise Margin</a:t>
            </a:r>
          </a:p>
        </p:txBody>
      </p:sp>
      <p:sp>
        <p:nvSpPr>
          <p:cNvPr id="3" name="Content Placeholder 2"/>
          <p:cNvSpPr>
            <a:spLocks noGrp="1"/>
          </p:cNvSpPr>
          <p:nvPr>
            <p:ph idx="1"/>
          </p:nvPr>
        </p:nvSpPr>
        <p:spPr>
          <a:xfrm>
            <a:off x="496111" y="1225685"/>
            <a:ext cx="11293812" cy="4931924"/>
          </a:xfrm>
        </p:spPr>
        <p:txBody>
          <a:bodyPr>
            <a:normAutofit/>
          </a:bodyPr>
          <a:lstStyle/>
          <a:p>
            <a:pPr algn="just"/>
            <a:r>
              <a:rPr lang="en-IN" b="1" u="sng" dirty="0">
                <a:latin typeface="Arial" pitchFamily="34" charset="0"/>
                <a:cs typeface="Arial" pitchFamily="34" charset="0"/>
              </a:rPr>
              <a:t>Definition</a:t>
            </a:r>
            <a:r>
              <a:rPr lang="en-IN" dirty="0">
                <a:latin typeface="Arial" pitchFamily="34" charset="0"/>
                <a:cs typeface="Arial" pitchFamily="34" charset="0"/>
              </a:rPr>
              <a:t> - The  amount of noise voltage which the inverter can reject  without effecting the output. </a:t>
            </a:r>
          </a:p>
          <a:p>
            <a:pPr algn="just"/>
            <a:r>
              <a:rPr lang="en-IN" dirty="0">
                <a:latin typeface="Arial" pitchFamily="34" charset="0"/>
                <a:cs typeface="Arial" pitchFamily="34" charset="0"/>
              </a:rPr>
              <a:t>If higher is the value of noise margin better is the capability of inverter.</a:t>
            </a:r>
          </a:p>
          <a:p>
            <a:pPr algn="just"/>
            <a:r>
              <a:rPr lang="en-IN" dirty="0">
                <a:latin typeface="Arial" pitchFamily="34" charset="0"/>
                <a:cs typeface="Arial" pitchFamily="34" charset="0"/>
              </a:rPr>
              <a:t> In given figure </a:t>
            </a:r>
            <a:r>
              <a:rPr lang="en-US" dirty="0">
                <a:latin typeface="Arial" pitchFamily="34" charset="0"/>
                <a:cs typeface="Arial" pitchFamily="34" charset="0"/>
              </a:rPr>
              <a:t>this output signal  of first inverter is being transmitted to the second  inverter input via an interconnect, which is  prone to signal noise.</a:t>
            </a:r>
            <a:r>
              <a:rPr lang="en-IN" dirty="0">
                <a:latin typeface="Arial" pitchFamily="34" charset="0"/>
                <a:cs typeface="Arial" pitchFamily="34" charset="0"/>
              </a:rPr>
              <a:t> </a:t>
            </a:r>
          </a:p>
          <a:p>
            <a:pPr algn="just"/>
            <a:r>
              <a:rPr lang="en-US" dirty="0">
                <a:latin typeface="Arial" pitchFamily="34" charset="0"/>
                <a:cs typeface="Arial" pitchFamily="34" charset="0"/>
              </a:rPr>
              <a:t>Consequently , If the input voltage of the second inverter is smaller than </a:t>
            </a:r>
            <a:r>
              <a:rPr lang="en-US" b="1" dirty="0">
                <a:latin typeface="Arial" pitchFamily="34" charset="0"/>
                <a:cs typeface="Arial" pitchFamily="34" charset="0"/>
              </a:rPr>
              <a:t>V</a:t>
            </a:r>
            <a:r>
              <a:rPr lang="en-US" b="1" baseline="-25000" dirty="0">
                <a:latin typeface="Arial" pitchFamily="34" charset="0"/>
                <a:cs typeface="Arial" pitchFamily="34" charset="0"/>
              </a:rPr>
              <a:t>OL</a:t>
            </a:r>
            <a:r>
              <a:rPr lang="en-US" dirty="0">
                <a:latin typeface="Arial" pitchFamily="34" charset="0"/>
                <a:cs typeface="Arial" pitchFamily="34" charset="0"/>
              </a:rPr>
              <a:t>' this signal will be interpreted correctly as a logic "0" input by the second inverter.</a:t>
            </a:r>
            <a:r>
              <a:rPr lang="en-IN" dirty="0">
                <a:latin typeface="Arial" pitchFamily="34" charset="0"/>
                <a:cs typeface="Arial" pitchFamily="34" charset="0"/>
              </a:rPr>
              <a:t> </a:t>
            </a:r>
            <a:r>
              <a:rPr lang="en-US" dirty="0">
                <a:latin typeface="Arial" pitchFamily="34" charset="0"/>
                <a:cs typeface="Arial" pitchFamily="34" charset="0"/>
              </a:rPr>
              <a:t>On the other hand, if the input voltage becomes larger than </a:t>
            </a:r>
            <a:r>
              <a:rPr lang="en-US" b="1" dirty="0">
                <a:latin typeface="Arial" pitchFamily="34" charset="0"/>
                <a:cs typeface="Arial" pitchFamily="34" charset="0"/>
              </a:rPr>
              <a:t>V</a:t>
            </a:r>
            <a:r>
              <a:rPr lang="en-US" b="1" baseline="-25000" dirty="0">
                <a:latin typeface="Arial" pitchFamily="34" charset="0"/>
                <a:cs typeface="Arial" pitchFamily="34" charset="0"/>
              </a:rPr>
              <a:t>IL</a:t>
            </a:r>
            <a:r>
              <a:rPr lang="en-US" dirty="0">
                <a:latin typeface="Arial" pitchFamily="34" charset="0"/>
                <a:cs typeface="Arial" pitchFamily="34" charset="0"/>
              </a:rPr>
              <a:t> as a result of noise, then it may not be interpreted correctly by the inverter. Thus, we conclude that </a:t>
            </a:r>
            <a:r>
              <a:rPr lang="en-US" b="1" dirty="0">
                <a:latin typeface="Arial" pitchFamily="34" charset="0"/>
                <a:cs typeface="Arial" pitchFamily="34" charset="0"/>
              </a:rPr>
              <a:t>V</a:t>
            </a:r>
            <a:r>
              <a:rPr lang="en-US" b="1" baseline="-25000" dirty="0">
                <a:latin typeface="Arial" pitchFamily="34" charset="0"/>
                <a:cs typeface="Arial" pitchFamily="34" charset="0"/>
              </a:rPr>
              <a:t>IL</a:t>
            </a:r>
            <a:r>
              <a:rPr lang="en-US" b="1" dirty="0">
                <a:latin typeface="Arial" pitchFamily="34" charset="0"/>
                <a:cs typeface="Arial" pitchFamily="34" charset="0"/>
              </a:rPr>
              <a:t> </a:t>
            </a:r>
            <a:r>
              <a:rPr lang="en-US" dirty="0">
                <a:latin typeface="Arial" pitchFamily="34" charset="0"/>
                <a:cs typeface="Arial" pitchFamily="34" charset="0"/>
              </a:rPr>
              <a:t>is the maximum allowable voltage at the input of the second inverter, which is low enough to ensure a logic "1" output.</a:t>
            </a:r>
          </a:p>
          <a:p>
            <a:pPr algn="just"/>
            <a:endParaRPr lang="en-IN" dirty="0">
              <a:latin typeface="Arial" pitchFamily="34" charset="0"/>
              <a:cs typeface="Arial" pitchFamily="34" charset="0"/>
            </a:endParaRPr>
          </a:p>
          <a:p>
            <a:pPr algn="just">
              <a:spcBef>
                <a:spcPts val="0"/>
              </a:spcBef>
            </a:pPr>
            <a:r>
              <a:rPr lang="en-IN" dirty="0">
                <a:latin typeface="Arial" pitchFamily="34" charset="0"/>
                <a:cs typeface="Arial" pitchFamily="34" charset="0"/>
              </a:rPr>
              <a:t>Same way it is applicable</a:t>
            </a:r>
          </a:p>
          <a:p>
            <a:pPr algn="just">
              <a:spcBef>
                <a:spcPts val="0"/>
              </a:spcBef>
            </a:pPr>
            <a:r>
              <a:rPr lang="en-IN" dirty="0">
                <a:latin typeface="Arial" pitchFamily="34" charset="0"/>
                <a:cs typeface="Arial" pitchFamily="34" charset="0"/>
              </a:rPr>
              <a:t>For second and third </a:t>
            </a:r>
          </a:p>
          <a:p>
            <a:pPr algn="just">
              <a:spcBef>
                <a:spcPts val="0"/>
              </a:spcBef>
            </a:pPr>
            <a:r>
              <a:rPr lang="en-IN" dirty="0">
                <a:latin typeface="Arial" pitchFamily="34" charset="0"/>
                <a:cs typeface="Arial" pitchFamily="34" charset="0"/>
              </a:rPr>
              <a:t>Inverter.</a:t>
            </a:r>
          </a:p>
          <a:p>
            <a:endParaRPr lang="en-US" b="1" dirty="0">
              <a:latin typeface="Arial" pitchFamily="34" charset="0"/>
              <a:cs typeface="Arial" pitchFamily="34" charset="0"/>
            </a:endParaRPr>
          </a:p>
          <a:p>
            <a:pPr algn="just"/>
            <a:endParaRPr lang="en-IN" dirty="0">
              <a:latin typeface="Arial" pitchFamily="34" charset="0"/>
              <a:cs typeface="Arial" pitchFamily="34" charset="0"/>
            </a:endParaRPr>
          </a:p>
          <a:p>
            <a:pPr algn="just"/>
            <a:endParaRPr lang="en-IN" dirty="0">
              <a:latin typeface="Arial" pitchFamily="34" charset="0"/>
              <a:cs typeface="Arial" pitchFamily="34" charset="0"/>
            </a:endParaRPr>
          </a:p>
          <a:p>
            <a:pPr algn="just"/>
            <a:endParaRPr lang="en-US" b="1" dirty="0">
              <a:latin typeface="Arial" pitchFamily="34" charset="0"/>
              <a:cs typeface="Arial" pitchFamily="34" charset="0"/>
            </a:endParaRPr>
          </a:p>
        </p:txBody>
      </p:sp>
      <p:sp>
        <p:nvSpPr>
          <p:cNvPr id="4" name="Footer Placeholder 3"/>
          <p:cNvSpPr>
            <a:spLocks noGrp="1"/>
          </p:cNvSpPr>
          <p:nvPr>
            <p:ph type="ftr" sz="quarter" idx="11"/>
          </p:nvPr>
        </p:nvSpPr>
        <p:spPr>
          <a:xfrm>
            <a:off x="1488332" y="6135808"/>
            <a:ext cx="8720879" cy="365125"/>
          </a:xfrm>
        </p:spPr>
        <p:txBody>
          <a:bodyPr/>
          <a:lstStyle/>
          <a:p>
            <a:r>
              <a:rPr lang="en-IN" sz="1500" dirty="0">
                <a:solidFill>
                  <a:srgbClr val="C00000"/>
                </a:solidFill>
                <a:latin typeface="Arial" panose="020B0604020202020204" pitchFamily="34" charset="0"/>
                <a:cs typeface="Arial" panose="020B0604020202020204" pitchFamily="34" charset="0"/>
              </a:rPr>
              <a:t>Rohit Lorenzo, VIT-AP</a:t>
            </a:r>
          </a:p>
        </p:txBody>
      </p:sp>
      <p:sp>
        <p:nvSpPr>
          <p:cNvPr id="2050"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1" name="Rectangle 3"/>
          <p:cNvSpPr>
            <a:spLocks noChangeArrowheads="1"/>
          </p:cNvSpPr>
          <p:nvPr/>
        </p:nvSpPr>
        <p:spPr bwMode="auto">
          <a:xfrm>
            <a:off x="0" y="76835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053" name="Rectangle 5"/>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4" name="Rectangle 6"/>
          <p:cNvSpPr>
            <a:spLocks noChangeArrowheads="1"/>
          </p:cNvSpPr>
          <p:nvPr/>
        </p:nvSpPr>
        <p:spPr bwMode="auto">
          <a:xfrm>
            <a:off x="0" y="7747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056" name="Rectangle 8"/>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7" name="Rectangle 9"/>
          <p:cNvSpPr>
            <a:spLocks noChangeArrowheads="1"/>
          </p:cNvSpPr>
          <p:nvPr/>
        </p:nvSpPr>
        <p:spPr bwMode="auto">
          <a:xfrm>
            <a:off x="0" y="107315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3794"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3795" name="Rectangle 3"/>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9938"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9939" name="Rectangle 3"/>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9941" name="Rectangle 5"/>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9942" name="Rectangle 6"/>
          <p:cNvSpPr>
            <a:spLocks noChangeArrowheads="1"/>
          </p:cNvSpPr>
          <p:nvPr/>
        </p:nvSpPr>
        <p:spPr bwMode="auto">
          <a:xfrm>
            <a:off x="0" y="104775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9944" name="Rectangle 8"/>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9945" name="Rectangle 9"/>
          <p:cNvSpPr>
            <a:spLocks noChangeArrowheads="1"/>
          </p:cNvSpPr>
          <p:nvPr/>
        </p:nvSpPr>
        <p:spPr bwMode="auto">
          <a:xfrm>
            <a:off x="0" y="11049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pic>
        <p:nvPicPr>
          <p:cNvPr id="5" name="Picture 2"/>
          <p:cNvPicPr>
            <a:picLocks noChangeAspect="1" noChangeArrowheads="1"/>
          </p:cNvPicPr>
          <p:nvPr/>
        </p:nvPicPr>
        <p:blipFill>
          <a:blip r:embed="rId2" cstate="print"/>
          <a:srcRect/>
          <a:stretch>
            <a:fillRect/>
          </a:stretch>
        </p:blipFill>
        <p:spPr bwMode="auto">
          <a:xfrm>
            <a:off x="3735422" y="3959157"/>
            <a:ext cx="8456578" cy="2898843"/>
          </a:xfrm>
          <a:prstGeom prst="rect">
            <a:avLst/>
          </a:prstGeom>
          <a:noFill/>
          <a:ln w="9525">
            <a:noFill/>
            <a:miter lim="800000"/>
            <a:headEnd/>
            <a:tailEnd/>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09345" y="624110"/>
            <a:ext cx="9695267" cy="1280890"/>
          </a:xfrm>
        </p:spPr>
        <p:txBody>
          <a:bodyPr>
            <a:normAutofit/>
          </a:bodyPr>
          <a:lstStyle/>
          <a:p>
            <a:r>
              <a:rPr lang="en-IN" sz="3200" dirty="0">
                <a:latin typeface="Arial" pitchFamily="34" charset="0"/>
                <a:cs typeface="Arial" pitchFamily="34" charset="0"/>
              </a:rPr>
              <a:t>Continued…</a:t>
            </a:r>
            <a:endParaRPr lang="en-US" sz="3200" dirty="0">
              <a:latin typeface="Arial" pitchFamily="34" charset="0"/>
              <a:cs typeface="Arial" pitchFamily="34" charset="0"/>
            </a:endParaRPr>
          </a:p>
        </p:txBody>
      </p:sp>
      <p:sp>
        <p:nvSpPr>
          <p:cNvPr id="3" name="Content Placeholder 2"/>
          <p:cNvSpPr>
            <a:spLocks noGrp="1"/>
          </p:cNvSpPr>
          <p:nvPr>
            <p:ph idx="1"/>
          </p:nvPr>
        </p:nvSpPr>
        <p:spPr>
          <a:xfrm>
            <a:off x="350196" y="1361872"/>
            <a:ext cx="11585641" cy="4815192"/>
          </a:xfrm>
        </p:spPr>
        <p:txBody>
          <a:bodyPr>
            <a:normAutofit/>
          </a:bodyPr>
          <a:lstStyle/>
          <a:p>
            <a:pPr algn="just"/>
            <a:r>
              <a:rPr lang="en-IN" dirty="0">
                <a:latin typeface="Arial" pitchFamily="34" charset="0"/>
                <a:cs typeface="Arial" pitchFamily="34" charset="0"/>
              </a:rPr>
              <a:t>So from previous observation  </a:t>
            </a:r>
            <a:r>
              <a:rPr lang="fr-FR" dirty="0">
                <a:latin typeface="Arial" pitchFamily="34" charset="0"/>
                <a:cs typeface="Arial" pitchFamily="34" charset="0"/>
              </a:rPr>
              <a:t>noise tolérances for digital circuits, </a:t>
            </a:r>
            <a:r>
              <a:rPr lang="en-US" dirty="0">
                <a:latin typeface="Arial" pitchFamily="34" charset="0"/>
                <a:cs typeface="Arial" pitchFamily="34" charset="0"/>
              </a:rPr>
              <a:t>called noise margins and denoted by </a:t>
            </a:r>
            <a:r>
              <a:rPr lang="en-US" b="1" dirty="0">
                <a:latin typeface="Arial" pitchFamily="34" charset="0"/>
                <a:cs typeface="Arial" pitchFamily="34" charset="0"/>
              </a:rPr>
              <a:t>NM</a:t>
            </a:r>
            <a:r>
              <a:rPr lang="en-US" dirty="0">
                <a:latin typeface="Arial" pitchFamily="34" charset="0"/>
                <a:cs typeface="Arial" pitchFamily="34" charset="0"/>
              </a:rPr>
              <a:t>. </a:t>
            </a:r>
          </a:p>
          <a:p>
            <a:r>
              <a:rPr lang="en-US" dirty="0">
                <a:latin typeface="Arial" pitchFamily="34" charset="0"/>
                <a:cs typeface="Arial" pitchFamily="34" charset="0"/>
              </a:rPr>
              <a:t>Two noise margins will be defined: the noise margin for low signal levels (</a:t>
            </a:r>
            <a:r>
              <a:rPr lang="en-US" b="1" dirty="0">
                <a:latin typeface="Arial" pitchFamily="34" charset="0"/>
                <a:cs typeface="Arial" pitchFamily="34" charset="0"/>
              </a:rPr>
              <a:t>NM</a:t>
            </a:r>
            <a:r>
              <a:rPr lang="en-US" b="1" baseline="-25000" dirty="0">
                <a:latin typeface="Arial" pitchFamily="34" charset="0"/>
                <a:cs typeface="Arial" pitchFamily="34" charset="0"/>
              </a:rPr>
              <a:t>L</a:t>
            </a:r>
            <a:r>
              <a:rPr lang="en-US" dirty="0">
                <a:latin typeface="Arial" pitchFamily="34" charset="0"/>
                <a:cs typeface="Arial" pitchFamily="34" charset="0"/>
              </a:rPr>
              <a:t>) and the noise margin for high signal levels (</a:t>
            </a:r>
            <a:r>
              <a:rPr lang="en-US" b="1" dirty="0">
                <a:latin typeface="Arial" pitchFamily="34" charset="0"/>
                <a:cs typeface="Arial" pitchFamily="34" charset="0"/>
              </a:rPr>
              <a:t>NM</a:t>
            </a:r>
            <a:r>
              <a:rPr lang="en-US" b="1" baseline="-25000" dirty="0">
                <a:latin typeface="Arial" pitchFamily="34" charset="0"/>
                <a:cs typeface="Arial" pitchFamily="34" charset="0"/>
              </a:rPr>
              <a:t>H</a:t>
            </a:r>
            <a:r>
              <a:rPr lang="en-US" dirty="0">
                <a:latin typeface="Arial" pitchFamily="34" charset="0"/>
                <a:cs typeface="Arial" pitchFamily="34" charset="0"/>
              </a:rPr>
              <a:t>)</a:t>
            </a:r>
            <a:r>
              <a:rPr lang="en-IN" dirty="0">
                <a:latin typeface="Arial" pitchFamily="34" charset="0"/>
                <a:cs typeface="Arial" pitchFamily="34" charset="0"/>
              </a:rPr>
              <a:t> . </a:t>
            </a:r>
          </a:p>
          <a:p>
            <a:r>
              <a:rPr lang="en-IN" b="1" dirty="0">
                <a:latin typeface="Arial" pitchFamily="34" charset="0"/>
                <a:cs typeface="Arial" pitchFamily="34" charset="0"/>
              </a:rPr>
              <a:t>                                                                                                           …..(6)</a:t>
            </a:r>
          </a:p>
          <a:p>
            <a:endParaRPr lang="en-IN" b="1" dirty="0">
              <a:latin typeface="Arial" pitchFamily="34" charset="0"/>
              <a:cs typeface="Arial" pitchFamily="34" charset="0"/>
            </a:endParaRPr>
          </a:p>
          <a:p>
            <a:pPr algn="just">
              <a:spcBef>
                <a:spcPts val="0"/>
              </a:spcBef>
            </a:pPr>
            <a:r>
              <a:rPr lang="en-US" dirty="0">
                <a:latin typeface="Arial" pitchFamily="34" charset="0"/>
                <a:cs typeface="Arial" pitchFamily="34" charset="0"/>
              </a:rPr>
              <a:t>The shaded areas indicate the valid regions of the input and</a:t>
            </a:r>
          </a:p>
          <a:p>
            <a:pPr algn="just">
              <a:spcBef>
                <a:spcPts val="0"/>
              </a:spcBef>
            </a:pPr>
            <a:r>
              <a:rPr lang="en-US" dirty="0">
                <a:latin typeface="Arial" pitchFamily="34" charset="0"/>
                <a:cs typeface="Arial" pitchFamily="34" charset="0"/>
              </a:rPr>
              <a:t> output voltages, and the noise margins are shown as the</a:t>
            </a:r>
          </a:p>
          <a:p>
            <a:pPr algn="just">
              <a:spcBef>
                <a:spcPts val="0"/>
              </a:spcBef>
            </a:pPr>
            <a:r>
              <a:rPr lang="en-US" dirty="0">
                <a:latin typeface="Arial" pitchFamily="34" charset="0"/>
                <a:cs typeface="Arial" pitchFamily="34" charset="0"/>
              </a:rPr>
              <a:t> amount of variation in the signal levels that can be allowed </a:t>
            </a:r>
          </a:p>
          <a:p>
            <a:pPr algn="just">
              <a:spcBef>
                <a:spcPts val="0"/>
              </a:spcBef>
            </a:pPr>
            <a:r>
              <a:rPr lang="en-US" dirty="0">
                <a:latin typeface="Arial" pitchFamily="34" charset="0"/>
                <a:cs typeface="Arial" pitchFamily="34" charset="0"/>
              </a:rPr>
              <a:t>while the signal is transmitted from the output of one gate to</a:t>
            </a:r>
          </a:p>
          <a:p>
            <a:pPr algn="just">
              <a:spcBef>
                <a:spcPts val="0"/>
              </a:spcBef>
            </a:pPr>
            <a:r>
              <a:rPr lang="en-US" dirty="0">
                <a:latin typeface="Arial" pitchFamily="34" charset="0"/>
                <a:cs typeface="Arial" pitchFamily="34" charset="0"/>
              </a:rPr>
              <a:t> the input of the next gate.</a:t>
            </a:r>
          </a:p>
          <a:p>
            <a:pPr algn="just">
              <a:spcBef>
                <a:spcPts val="0"/>
              </a:spcBef>
            </a:pPr>
            <a:endParaRPr lang="en-US" b="1" dirty="0">
              <a:latin typeface="Arial" pitchFamily="34" charset="0"/>
              <a:cs typeface="Arial" pitchFamily="34" charset="0"/>
            </a:endParaRPr>
          </a:p>
          <a:p>
            <a:pPr algn="just">
              <a:spcBef>
                <a:spcPts val="0"/>
              </a:spcBef>
            </a:pPr>
            <a:r>
              <a:rPr lang="en-US" dirty="0">
                <a:latin typeface="Arial" pitchFamily="34" charset="0"/>
                <a:cs typeface="Arial" pitchFamily="34" charset="0"/>
              </a:rPr>
              <a:t>Note that there is a voltage range between </a:t>
            </a:r>
            <a:r>
              <a:rPr lang="en-US" b="1" dirty="0">
                <a:latin typeface="Arial" pitchFamily="34" charset="0"/>
                <a:cs typeface="Arial" pitchFamily="34" charset="0"/>
              </a:rPr>
              <a:t>V</a:t>
            </a:r>
            <a:r>
              <a:rPr lang="en-US" b="1" baseline="-25000" dirty="0">
                <a:latin typeface="Arial" pitchFamily="34" charset="0"/>
                <a:cs typeface="Arial" pitchFamily="34" charset="0"/>
              </a:rPr>
              <a:t>IL</a:t>
            </a:r>
            <a:r>
              <a:rPr lang="en-US" b="1" i="1" dirty="0">
                <a:latin typeface="Arial" pitchFamily="34" charset="0"/>
                <a:cs typeface="Arial" pitchFamily="34" charset="0"/>
              </a:rPr>
              <a:t> </a:t>
            </a:r>
            <a:r>
              <a:rPr lang="en-US" dirty="0">
                <a:latin typeface="Arial" pitchFamily="34" charset="0"/>
                <a:cs typeface="Arial" pitchFamily="34" charset="0"/>
              </a:rPr>
              <a:t>and</a:t>
            </a:r>
            <a:r>
              <a:rPr lang="en-US" i="1" dirty="0">
                <a:latin typeface="Arial" pitchFamily="34" charset="0"/>
                <a:cs typeface="Arial" pitchFamily="34" charset="0"/>
              </a:rPr>
              <a:t> </a:t>
            </a:r>
            <a:r>
              <a:rPr lang="en-US" b="1" dirty="0">
                <a:latin typeface="Arial" pitchFamily="34" charset="0"/>
                <a:cs typeface="Arial" pitchFamily="34" charset="0"/>
              </a:rPr>
              <a:t>V</a:t>
            </a:r>
            <a:r>
              <a:rPr lang="en-US" b="1" baseline="-25000" dirty="0">
                <a:latin typeface="Arial" pitchFamily="34" charset="0"/>
                <a:cs typeface="Arial" pitchFamily="34" charset="0"/>
              </a:rPr>
              <a:t>IH</a:t>
            </a:r>
          </a:p>
          <a:p>
            <a:pPr>
              <a:spcBef>
                <a:spcPts val="0"/>
              </a:spcBef>
            </a:pPr>
            <a:r>
              <a:rPr lang="en-US" dirty="0">
                <a:latin typeface="Arial" pitchFamily="34" charset="0"/>
                <a:cs typeface="Arial" pitchFamily="34" charset="0"/>
              </a:rPr>
              <a:t>corresponding to input voltage values. The region between </a:t>
            </a:r>
          </a:p>
          <a:p>
            <a:pPr>
              <a:spcBef>
                <a:spcPts val="0"/>
              </a:spcBef>
            </a:pPr>
            <a:r>
              <a:rPr lang="en-US" b="1" baseline="-25000" dirty="0">
                <a:latin typeface="Arial" pitchFamily="34" charset="0"/>
                <a:cs typeface="Arial" pitchFamily="34" charset="0"/>
              </a:rPr>
              <a:t> </a:t>
            </a:r>
            <a:r>
              <a:rPr lang="en-US" b="1" dirty="0">
                <a:latin typeface="Arial" pitchFamily="34" charset="0"/>
                <a:cs typeface="Arial" pitchFamily="34" charset="0"/>
              </a:rPr>
              <a:t>V</a:t>
            </a:r>
            <a:r>
              <a:rPr lang="en-US" b="1" baseline="-25000" dirty="0">
                <a:latin typeface="Arial" pitchFamily="34" charset="0"/>
                <a:cs typeface="Arial" pitchFamily="34" charset="0"/>
              </a:rPr>
              <a:t>IL</a:t>
            </a:r>
            <a:r>
              <a:rPr lang="en-US" b="1" i="1" dirty="0">
                <a:latin typeface="Arial" pitchFamily="34" charset="0"/>
                <a:cs typeface="Arial" pitchFamily="34" charset="0"/>
              </a:rPr>
              <a:t> </a:t>
            </a:r>
            <a:r>
              <a:rPr lang="en-US" dirty="0">
                <a:latin typeface="Arial" pitchFamily="34" charset="0"/>
                <a:cs typeface="Arial" pitchFamily="34" charset="0"/>
              </a:rPr>
              <a:t>and</a:t>
            </a:r>
            <a:r>
              <a:rPr lang="en-US" i="1" dirty="0">
                <a:latin typeface="Arial" pitchFamily="34" charset="0"/>
                <a:cs typeface="Arial" pitchFamily="34" charset="0"/>
              </a:rPr>
              <a:t> </a:t>
            </a:r>
            <a:r>
              <a:rPr lang="en-US" b="1" dirty="0">
                <a:latin typeface="Arial" pitchFamily="34" charset="0"/>
                <a:cs typeface="Arial" pitchFamily="34" charset="0"/>
              </a:rPr>
              <a:t>V</a:t>
            </a:r>
            <a:r>
              <a:rPr lang="en-US" b="1" baseline="-25000" dirty="0">
                <a:latin typeface="Arial" pitchFamily="34" charset="0"/>
                <a:cs typeface="Arial" pitchFamily="34" charset="0"/>
              </a:rPr>
              <a:t>IH  </a:t>
            </a:r>
            <a:r>
              <a:rPr lang="en-US" dirty="0">
                <a:latin typeface="Arial" pitchFamily="34" charset="0"/>
                <a:cs typeface="Arial" pitchFamily="34" charset="0"/>
              </a:rPr>
              <a:t>  is called uncertain region or alternatively the </a:t>
            </a:r>
          </a:p>
          <a:p>
            <a:pPr>
              <a:spcBef>
                <a:spcPts val="0"/>
              </a:spcBef>
            </a:pPr>
            <a:r>
              <a:rPr lang="en-US" dirty="0">
                <a:latin typeface="Arial" pitchFamily="34" charset="0"/>
                <a:cs typeface="Arial" pitchFamily="34" charset="0"/>
              </a:rPr>
              <a:t>transition  region. </a:t>
            </a:r>
            <a:endParaRPr lang="en-IN" b="1" baseline="-25000" dirty="0">
              <a:latin typeface="Arial" pitchFamily="34" charset="0"/>
              <a:cs typeface="Arial" pitchFamily="34" charset="0"/>
            </a:endParaRPr>
          </a:p>
          <a:p>
            <a:pPr>
              <a:buNone/>
            </a:pPr>
            <a:endParaRPr lang="en-IN" dirty="0"/>
          </a:p>
          <a:p>
            <a:pPr>
              <a:buNone/>
            </a:pPr>
            <a:endParaRPr lang="en-US" dirty="0">
              <a:latin typeface="Arial" pitchFamily="34" charset="0"/>
              <a:cs typeface="Arial" pitchFamily="34" charset="0"/>
            </a:endParaRPr>
          </a:p>
          <a:p>
            <a:endParaRPr lang="en-US" dirty="0">
              <a:latin typeface="Arial" pitchFamily="34" charset="0"/>
              <a:cs typeface="Arial" pitchFamily="34" charset="0"/>
            </a:endParaRPr>
          </a:p>
          <a:p>
            <a:endParaRPr lang="en-US" dirty="0">
              <a:latin typeface="Arial" pitchFamily="34" charset="0"/>
              <a:cs typeface="Arial" pitchFamily="34" charset="0"/>
            </a:endParaRPr>
          </a:p>
          <a:p>
            <a:endParaRPr lang="en-IN" dirty="0">
              <a:latin typeface="Arial" pitchFamily="34" charset="0"/>
              <a:cs typeface="Arial" pitchFamily="34" charset="0"/>
            </a:endParaRPr>
          </a:p>
        </p:txBody>
      </p:sp>
      <p:sp>
        <p:nvSpPr>
          <p:cNvPr id="4" name="Footer Placeholder 3"/>
          <p:cNvSpPr>
            <a:spLocks noGrp="1"/>
          </p:cNvSpPr>
          <p:nvPr>
            <p:ph type="ftr" sz="quarter" idx="11"/>
          </p:nvPr>
        </p:nvSpPr>
        <p:spPr>
          <a:xfrm>
            <a:off x="1828801" y="6164991"/>
            <a:ext cx="8292862" cy="365125"/>
          </a:xfrm>
        </p:spPr>
        <p:txBody>
          <a:bodyPr/>
          <a:lstStyle/>
          <a:p>
            <a:r>
              <a:rPr lang="en-IN" sz="1300" dirty="0">
                <a:solidFill>
                  <a:srgbClr val="C00000"/>
                </a:solidFill>
                <a:latin typeface="Arial" panose="020B0604020202020204" pitchFamily="34" charset="0"/>
                <a:cs typeface="Arial" panose="020B0604020202020204" pitchFamily="34" charset="0"/>
              </a:rPr>
              <a:t>Rohit Lorenzo, VIT-AP</a:t>
            </a:r>
          </a:p>
        </p:txBody>
      </p:sp>
      <p:sp>
        <p:nvSpPr>
          <p:cNvPr id="40962"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0963" name="Rectangle 3"/>
          <p:cNvSpPr>
            <a:spLocks noChangeArrowheads="1"/>
          </p:cNvSpPr>
          <p:nvPr/>
        </p:nvSpPr>
        <p:spPr bwMode="auto">
          <a:xfrm>
            <a:off x="0" y="10795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40965" name="Rectangle 5"/>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0966" name="Rectangle 6"/>
          <p:cNvSpPr>
            <a:spLocks noChangeArrowheads="1"/>
          </p:cNvSpPr>
          <p:nvPr/>
        </p:nvSpPr>
        <p:spPr bwMode="auto">
          <a:xfrm>
            <a:off x="0" y="128905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40968" name="Rectangle 8"/>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0969" name="Rectangle 9"/>
          <p:cNvSpPr>
            <a:spLocks noChangeArrowheads="1"/>
          </p:cNvSpPr>
          <p:nvPr/>
        </p:nvSpPr>
        <p:spPr bwMode="auto">
          <a:xfrm>
            <a:off x="0" y="8128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18434"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8435" name="Rectangle 3"/>
          <p:cNvSpPr>
            <a:spLocks noChangeArrowheads="1"/>
          </p:cNvSpPr>
          <p:nvPr/>
        </p:nvSpPr>
        <p:spPr bwMode="auto">
          <a:xfrm>
            <a:off x="0" y="10795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78850"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78851" name="Rectangle 3"/>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78853" name="Rectangle 5"/>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78852" name="Picture 4"/>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a:off x="4085615" y="2354092"/>
            <a:ext cx="1789891" cy="340227"/>
          </a:xfrm>
          <a:prstGeom prst="rect">
            <a:avLst/>
          </a:prstGeom>
          <a:noFill/>
        </p:spPr>
      </p:pic>
      <p:sp>
        <p:nvSpPr>
          <p:cNvPr id="78854" name="Rectangle 6"/>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78856" name="Rectangle 8"/>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78855" name="Picture 7"/>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4105073" y="2723745"/>
            <a:ext cx="1848255" cy="329534"/>
          </a:xfrm>
          <a:prstGeom prst="rect">
            <a:avLst/>
          </a:prstGeom>
          <a:noFill/>
        </p:spPr>
      </p:pic>
      <p:sp>
        <p:nvSpPr>
          <p:cNvPr id="78857" name="Rectangle 9"/>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pic>
        <p:nvPicPr>
          <p:cNvPr id="78858" name="Picture 10"/>
          <p:cNvPicPr>
            <a:picLocks noChangeAspect="1" noChangeArrowheads="1"/>
          </p:cNvPicPr>
          <p:nvPr/>
        </p:nvPicPr>
        <p:blipFill>
          <a:blip r:embed="rId4" cstate="print"/>
          <a:srcRect/>
          <a:stretch>
            <a:fillRect/>
          </a:stretch>
        </p:blipFill>
        <p:spPr bwMode="auto">
          <a:xfrm>
            <a:off x="7422204" y="3073425"/>
            <a:ext cx="4769796" cy="3784575"/>
          </a:xfrm>
          <a:prstGeom prst="rect">
            <a:avLst/>
          </a:prstGeom>
          <a:noFill/>
          <a:ln w="9525">
            <a:noFill/>
            <a:miter lim="800000"/>
            <a:headEnd/>
            <a:tailEnd/>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66153" y="624110"/>
            <a:ext cx="9938459" cy="1280890"/>
          </a:xfrm>
        </p:spPr>
        <p:txBody>
          <a:bodyPr>
            <a:normAutofit/>
          </a:bodyPr>
          <a:lstStyle/>
          <a:p>
            <a:r>
              <a:rPr lang="en-US" sz="3200" dirty="0">
                <a:latin typeface="Arial" pitchFamily="34" charset="0"/>
                <a:cs typeface="Arial" pitchFamily="34" charset="0"/>
              </a:rPr>
              <a:t> Calculation of  Voltages in CMOS Inverter</a:t>
            </a:r>
          </a:p>
        </p:txBody>
      </p:sp>
      <p:sp>
        <p:nvSpPr>
          <p:cNvPr id="3" name="Content Placeholder 2"/>
          <p:cNvSpPr>
            <a:spLocks noGrp="1"/>
          </p:cNvSpPr>
          <p:nvPr>
            <p:ph idx="1"/>
          </p:nvPr>
        </p:nvSpPr>
        <p:spPr>
          <a:xfrm>
            <a:off x="972767" y="1225685"/>
            <a:ext cx="10817156" cy="4931924"/>
          </a:xfrm>
        </p:spPr>
        <p:txBody>
          <a:bodyPr>
            <a:normAutofit/>
          </a:bodyPr>
          <a:lstStyle/>
          <a:p>
            <a:r>
              <a:rPr lang="en-US" dirty="0">
                <a:latin typeface="Arial" pitchFamily="34" charset="0"/>
                <a:cs typeface="Arial" pitchFamily="34" charset="0"/>
              </a:rPr>
              <a:t>CMOS Inverter circuit voltage configuration is shown in figure. According to circuit diagram voltages can be written as – </a:t>
            </a:r>
          </a:p>
          <a:p>
            <a:r>
              <a:rPr lang="en-IN" dirty="0">
                <a:latin typeface="Arial" pitchFamily="34" charset="0"/>
                <a:cs typeface="Arial" pitchFamily="34" charset="0"/>
              </a:rPr>
              <a:t>                                                                        ……. (7)</a:t>
            </a:r>
            <a:endParaRPr lang="en-US" dirty="0">
              <a:latin typeface="Arial" pitchFamily="34" charset="0"/>
              <a:cs typeface="Arial" pitchFamily="34" charset="0"/>
            </a:endParaRPr>
          </a:p>
          <a:p>
            <a:r>
              <a:rPr lang="en-US" dirty="0">
                <a:latin typeface="Arial" pitchFamily="34" charset="0"/>
                <a:cs typeface="Arial" pitchFamily="34" charset="0"/>
              </a:rPr>
              <a:t>  </a:t>
            </a:r>
          </a:p>
          <a:p>
            <a:endParaRPr lang="en-IN" dirty="0">
              <a:latin typeface="Arial" pitchFamily="34" charset="0"/>
              <a:cs typeface="Arial" pitchFamily="34" charset="0"/>
            </a:endParaRPr>
          </a:p>
          <a:p>
            <a:r>
              <a:rPr lang="en-IN" dirty="0">
                <a:latin typeface="Arial" pitchFamily="34" charset="0"/>
                <a:cs typeface="Arial" pitchFamily="34" charset="0"/>
              </a:rPr>
              <a:t>                                                                            ……..(8)</a:t>
            </a:r>
          </a:p>
          <a:p>
            <a:endParaRPr lang="en-IN" dirty="0">
              <a:latin typeface="Arial" pitchFamily="34" charset="0"/>
              <a:cs typeface="Arial" pitchFamily="34" charset="0"/>
            </a:endParaRPr>
          </a:p>
          <a:p>
            <a:pPr algn="just">
              <a:spcBef>
                <a:spcPts val="0"/>
              </a:spcBef>
            </a:pPr>
            <a:r>
              <a:rPr lang="en-IN" dirty="0">
                <a:latin typeface="Arial" pitchFamily="34" charset="0"/>
                <a:cs typeface="Arial" pitchFamily="34" charset="0"/>
              </a:rPr>
              <a:t>When                          </a:t>
            </a:r>
            <a:r>
              <a:rPr lang="en-US" dirty="0">
                <a:latin typeface="Arial" pitchFamily="34" charset="0"/>
                <a:cs typeface="Arial" pitchFamily="34" charset="0"/>
              </a:rPr>
              <a:t>the </a:t>
            </a:r>
            <a:r>
              <a:rPr lang="en-US" dirty="0" err="1">
                <a:latin typeface="Arial" pitchFamily="34" charset="0"/>
                <a:cs typeface="Arial" pitchFamily="34" charset="0"/>
              </a:rPr>
              <a:t>nMOS</a:t>
            </a:r>
            <a:r>
              <a:rPr lang="en-US" dirty="0">
                <a:latin typeface="Arial" pitchFamily="34" charset="0"/>
                <a:cs typeface="Arial" pitchFamily="34" charset="0"/>
              </a:rPr>
              <a:t> transistor is cut-OFF. The PMOS</a:t>
            </a:r>
          </a:p>
          <a:p>
            <a:pPr algn="just">
              <a:spcBef>
                <a:spcPts val="0"/>
              </a:spcBef>
            </a:pPr>
            <a:r>
              <a:rPr lang="en-US" dirty="0">
                <a:latin typeface="Arial" pitchFamily="34" charset="0"/>
                <a:cs typeface="Arial" pitchFamily="34" charset="0"/>
              </a:rPr>
              <a:t> transistor is on, operating in the linear region. Since the drain </a:t>
            </a:r>
          </a:p>
          <a:p>
            <a:pPr algn="just">
              <a:spcBef>
                <a:spcPts val="0"/>
              </a:spcBef>
            </a:pPr>
            <a:r>
              <a:rPr lang="en-US" dirty="0">
                <a:latin typeface="Arial" pitchFamily="34" charset="0"/>
                <a:cs typeface="Arial" pitchFamily="34" charset="0"/>
              </a:rPr>
              <a:t>currents of both transistors are approximately equal to zero.</a:t>
            </a:r>
          </a:p>
          <a:p>
            <a:pPr algn="just">
              <a:spcBef>
                <a:spcPts val="0"/>
              </a:spcBef>
            </a:pPr>
            <a:r>
              <a:rPr lang="en-IN" dirty="0">
                <a:latin typeface="Arial" pitchFamily="34" charset="0"/>
                <a:cs typeface="Arial" pitchFamily="34" charset="0"/>
              </a:rPr>
              <a:t>                                                         </a:t>
            </a:r>
          </a:p>
          <a:p>
            <a:pPr algn="just">
              <a:spcBef>
                <a:spcPts val="0"/>
              </a:spcBef>
            </a:pPr>
            <a:r>
              <a:rPr lang="en-IN" dirty="0">
                <a:latin typeface="Arial" pitchFamily="34" charset="0"/>
                <a:cs typeface="Arial" pitchFamily="34" charset="0"/>
              </a:rPr>
              <a:t>                                                                 …….(9)</a:t>
            </a:r>
          </a:p>
          <a:p>
            <a:pPr algn="just">
              <a:spcBef>
                <a:spcPts val="0"/>
              </a:spcBef>
            </a:pPr>
            <a:r>
              <a:rPr lang="en-IN" dirty="0">
                <a:latin typeface="Arial" pitchFamily="34" charset="0"/>
                <a:cs typeface="Arial" pitchFamily="34" charset="0"/>
              </a:rPr>
              <a:t>                                                                   ……(10)</a:t>
            </a:r>
          </a:p>
          <a:p>
            <a:endParaRPr lang="en-US" dirty="0">
              <a:latin typeface="Arial" pitchFamily="34" charset="0"/>
              <a:cs typeface="Arial" pitchFamily="34" charset="0"/>
            </a:endParaRPr>
          </a:p>
          <a:p>
            <a:pPr algn="just"/>
            <a:endParaRPr lang="en-US" b="1" dirty="0">
              <a:latin typeface="Arial" pitchFamily="34" charset="0"/>
              <a:cs typeface="Arial" pitchFamily="34" charset="0"/>
            </a:endParaRPr>
          </a:p>
          <a:p>
            <a:pPr algn="just"/>
            <a:endParaRPr lang="en-US" b="1" dirty="0">
              <a:latin typeface="Arial" pitchFamily="34" charset="0"/>
              <a:cs typeface="Arial" pitchFamily="34" charset="0"/>
            </a:endParaRPr>
          </a:p>
        </p:txBody>
      </p:sp>
      <p:sp>
        <p:nvSpPr>
          <p:cNvPr id="4" name="Footer Placeholder 3"/>
          <p:cNvSpPr>
            <a:spLocks noGrp="1"/>
          </p:cNvSpPr>
          <p:nvPr>
            <p:ph type="ftr" sz="quarter" idx="11"/>
          </p:nvPr>
        </p:nvSpPr>
        <p:spPr>
          <a:xfrm>
            <a:off x="1488332" y="6135808"/>
            <a:ext cx="8720879" cy="365125"/>
          </a:xfrm>
        </p:spPr>
        <p:txBody>
          <a:bodyPr/>
          <a:lstStyle/>
          <a:p>
            <a:r>
              <a:rPr lang="en-IN" sz="1500" dirty="0">
                <a:solidFill>
                  <a:srgbClr val="C00000"/>
                </a:solidFill>
                <a:latin typeface="Arial" panose="020B0604020202020204" pitchFamily="34" charset="0"/>
                <a:cs typeface="Arial" panose="020B0604020202020204" pitchFamily="34" charset="0"/>
              </a:rPr>
              <a:t>Rohit Lorenzo, VIT-AP</a:t>
            </a:r>
          </a:p>
        </p:txBody>
      </p:sp>
      <p:sp>
        <p:nvSpPr>
          <p:cNvPr id="2050"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1" name="Rectangle 3"/>
          <p:cNvSpPr>
            <a:spLocks noChangeArrowheads="1"/>
          </p:cNvSpPr>
          <p:nvPr/>
        </p:nvSpPr>
        <p:spPr bwMode="auto">
          <a:xfrm>
            <a:off x="0" y="76835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053" name="Rectangle 5"/>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4" name="Rectangle 6"/>
          <p:cNvSpPr>
            <a:spLocks noChangeArrowheads="1"/>
          </p:cNvSpPr>
          <p:nvPr/>
        </p:nvSpPr>
        <p:spPr bwMode="auto">
          <a:xfrm>
            <a:off x="0" y="7747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056" name="Rectangle 8"/>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7" name="Rectangle 9"/>
          <p:cNvSpPr>
            <a:spLocks noChangeArrowheads="1"/>
          </p:cNvSpPr>
          <p:nvPr/>
        </p:nvSpPr>
        <p:spPr bwMode="auto">
          <a:xfrm>
            <a:off x="0" y="107315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3794"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3795" name="Rectangle 3"/>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pic>
        <p:nvPicPr>
          <p:cNvPr id="1027" name="Picture 3"/>
          <p:cNvPicPr>
            <a:picLocks noChangeAspect="1" noChangeArrowheads="1"/>
          </p:cNvPicPr>
          <p:nvPr/>
        </p:nvPicPr>
        <p:blipFill>
          <a:blip r:embed="rId2" cstate="print"/>
          <a:srcRect/>
          <a:stretch>
            <a:fillRect/>
          </a:stretch>
        </p:blipFill>
        <p:spPr bwMode="auto">
          <a:xfrm>
            <a:off x="8093413" y="2727789"/>
            <a:ext cx="4098587" cy="4130212"/>
          </a:xfrm>
          <a:prstGeom prst="rect">
            <a:avLst/>
          </a:prstGeom>
          <a:noFill/>
          <a:ln w="9525">
            <a:noFill/>
            <a:miter lim="800000"/>
            <a:headEnd/>
            <a:tailEnd/>
          </a:ln>
        </p:spPr>
      </p:pic>
      <p:sp>
        <p:nvSpPr>
          <p:cNvPr id="1030" name="Rectangle 6"/>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1029" name="Picture 5"/>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3638144" y="1741250"/>
            <a:ext cx="1513871" cy="437746"/>
          </a:xfrm>
          <a:prstGeom prst="rect">
            <a:avLst/>
          </a:prstGeom>
          <a:noFill/>
        </p:spPr>
      </p:pic>
      <p:sp>
        <p:nvSpPr>
          <p:cNvPr id="1031" name="Rectangle 7"/>
          <p:cNvSpPr>
            <a:spLocks noChangeArrowheads="1"/>
          </p:cNvSpPr>
          <p:nvPr/>
        </p:nvSpPr>
        <p:spPr bwMode="auto">
          <a:xfrm>
            <a:off x="0" y="7620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1033" name="Rectangle 9"/>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1032" name="Picture 8"/>
          <p:cNvPicPr>
            <a:picLocks noChangeAspect="1" noChangeArrowheads="1"/>
          </p:cNvPicPr>
          <p:nvPr/>
        </p:nvPicPr>
        <p:blipFill>
          <a:blip r:embed="rId4" cstate="print">
            <a:clrChange>
              <a:clrFrom>
                <a:srgbClr val="FFFFFF"/>
              </a:clrFrom>
              <a:clrTo>
                <a:srgbClr val="FFFFFF">
                  <a:alpha val="0"/>
                </a:srgbClr>
              </a:clrTo>
            </a:clrChange>
          </a:blip>
          <a:srcRect/>
          <a:stretch>
            <a:fillRect/>
          </a:stretch>
        </p:blipFill>
        <p:spPr bwMode="auto">
          <a:xfrm>
            <a:off x="3657601" y="2130357"/>
            <a:ext cx="1545482" cy="398834"/>
          </a:xfrm>
          <a:prstGeom prst="rect">
            <a:avLst/>
          </a:prstGeom>
          <a:noFill/>
        </p:spPr>
      </p:pic>
      <p:sp>
        <p:nvSpPr>
          <p:cNvPr id="1034" name="Rectangle 10"/>
          <p:cNvSpPr>
            <a:spLocks noChangeArrowheads="1"/>
          </p:cNvSpPr>
          <p:nvPr/>
        </p:nvSpPr>
        <p:spPr bwMode="auto">
          <a:xfrm>
            <a:off x="0" y="7620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1036" name="Rectangle 1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1035" name="Picture 11"/>
          <p:cNvPicPr>
            <a:picLocks noChangeAspect="1" noChangeArrowheads="1"/>
          </p:cNvPicPr>
          <p:nvPr/>
        </p:nvPicPr>
        <p:blipFill>
          <a:blip r:embed="rId5" cstate="print">
            <a:clrChange>
              <a:clrFrom>
                <a:srgbClr val="FFFFFF"/>
              </a:clrFrom>
              <a:clrTo>
                <a:srgbClr val="FFFFFF">
                  <a:alpha val="0"/>
                </a:srgbClr>
              </a:clrTo>
            </a:clrChange>
          </a:blip>
          <a:srcRect/>
          <a:stretch>
            <a:fillRect/>
          </a:stretch>
        </p:blipFill>
        <p:spPr bwMode="auto">
          <a:xfrm>
            <a:off x="3317131" y="2636195"/>
            <a:ext cx="2202735" cy="359924"/>
          </a:xfrm>
          <a:prstGeom prst="rect">
            <a:avLst/>
          </a:prstGeom>
          <a:noFill/>
        </p:spPr>
      </p:pic>
      <p:sp>
        <p:nvSpPr>
          <p:cNvPr id="1037" name="Rectangle 13"/>
          <p:cNvSpPr>
            <a:spLocks noChangeArrowheads="1"/>
          </p:cNvSpPr>
          <p:nvPr/>
        </p:nvSpPr>
        <p:spPr bwMode="auto">
          <a:xfrm>
            <a:off x="0" y="7747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1039" name="Rectangle 15"/>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1038" name="Picture 14"/>
          <p:cNvPicPr>
            <a:picLocks noChangeAspect="1" noChangeArrowheads="1"/>
          </p:cNvPicPr>
          <p:nvPr/>
        </p:nvPicPr>
        <p:blipFill>
          <a:blip r:embed="rId6" cstate="print">
            <a:clrChange>
              <a:clrFrom>
                <a:srgbClr val="FFFFFF"/>
              </a:clrFrom>
              <a:clrTo>
                <a:srgbClr val="FFFFFF">
                  <a:alpha val="0"/>
                </a:srgbClr>
              </a:clrTo>
            </a:clrChange>
          </a:blip>
          <a:srcRect/>
          <a:stretch>
            <a:fillRect/>
          </a:stretch>
        </p:blipFill>
        <p:spPr bwMode="auto">
          <a:xfrm>
            <a:off x="3317131" y="3093395"/>
            <a:ext cx="2283271" cy="350195"/>
          </a:xfrm>
          <a:prstGeom prst="rect">
            <a:avLst/>
          </a:prstGeom>
          <a:noFill/>
        </p:spPr>
      </p:pic>
      <p:sp>
        <p:nvSpPr>
          <p:cNvPr id="1040" name="Rectangle 16"/>
          <p:cNvSpPr>
            <a:spLocks noChangeArrowheads="1"/>
          </p:cNvSpPr>
          <p:nvPr/>
        </p:nvSpPr>
        <p:spPr bwMode="auto">
          <a:xfrm>
            <a:off x="0" y="7747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1042" name="Rectangle 18"/>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1041" name="Picture 17"/>
          <p:cNvPicPr>
            <a:picLocks noChangeAspect="1" noChangeArrowheads="1"/>
          </p:cNvPicPr>
          <p:nvPr/>
        </p:nvPicPr>
        <p:blipFill>
          <a:blip r:embed="rId7" cstate="print">
            <a:clrChange>
              <a:clrFrom>
                <a:srgbClr val="FFFFFF"/>
              </a:clrFrom>
              <a:clrTo>
                <a:srgbClr val="FFFFFF">
                  <a:alpha val="0"/>
                </a:srgbClr>
              </a:clrTo>
            </a:clrChange>
          </a:blip>
          <a:srcRect/>
          <a:stretch>
            <a:fillRect/>
          </a:stretch>
        </p:blipFill>
        <p:spPr bwMode="auto">
          <a:xfrm>
            <a:off x="2178996" y="3793786"/>
            <a:ext cx="1252236" cy="359924"/>
          </a:xfrm>
          <a:prstGeom prst="rect">
            <a:avLst/>
          </a:prstGeom>
          <a:noFill/>
        </p:spPr>
      </p:pic>
      <p:sp>
        <p:nvSpPr>
          <p:cNvPr id="1043" name="Rectangle 19"/>
          <p:cNvSpPr>
            <a:spLocks noChangeArrowheads="1"/>
          </p:cNvSpPr>
          <p:nvPr/>
        </p:nvSpPr>
        <p:spPr bwMode="auto">
          <a:xfrm>
            <a:off x="0" y="7620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1045" name="Rectangle 21"/>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1044" name="Picture 20"/>
          <p:cNvPicPr>
            <a:picLocks noChangeAspect="1" noChangeArrowheads="1"/>
          </p:cNvPicPr>
          <p:nvPr/>
        </p:nvPicPr>
        <p:blipFill>
          <a:blip r:embed="rId8" cstate="print">
            <a:clrChange>
              <a:clrFrom>
                <a:srgbClr val="FFFFFF"/>
              </a:clrFrom>
              <a:clrTo>
                <a:srgbClr val="FFFFFF">
                  <a:alpha val="0"/>
                </a:srgbClr>
              </a:clrTo>
            </a:clrChange>
          </a:blip>
          <a:srcRect/>
          <a:stretch>
            <a:fillRect/>
          </a:stretch>
        </p:blipFill>
        <p:spPr bwMode="auto">
          <a:xfrm>
            <a:off x="3287948" y="4805464"/>
            <a:ext cx="1750980" cy="392597"/>
          </a:xfrm>
          <a:prstGeom prst="rect">
            <a:avLst/>
          </a:prstGeom>
          <a:noFill/>
        </p:spPr>
      </p:pic>
      <p:sp>
        <p:nvSpPr>
          <p:cNvPr id="1046" name="Rectangle 22"/>
          <p:cNvSpPr>
            <a:spLocks noChangeArrowheads="1"/>
          </p:cNvSpPr>
          <p:nvPr/>
        </p:nvSpPr>
        <p:spPr bwMode="auto">
          <a:xfrm>
            <a:off x="0" y="7747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1048" name="Rectangle 24"/>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1047" name="Picture 23"/>
          <p:cNvPicPr>
            <a:picLocks noChangeAspect="1" noChangeArrowheads="1"/>
          </p:cNvPicPr>
          <p:nvPr/>
        </p:nvPicPr>
        <p:blipFill>
          <a:blip r:embed="rId9" cstate="print">
            <a:clrChange>
              <a:clrFrom>
                <a:srgbClr val="FFFFFF"/>
              </a:clrFrom>
              <a:clrTo>
                <a:srgbClr val="FFFFFF">
                  <a:alpha val="0"/>
                </a:srgbClr>
              </a:clrTo>
            </a:clrChange>
          </a:blip>
          <a:srcRect/>
          <a:stretch>
            <a:fillRect/>
          </a:stretch>
        </p:blipFill>
        <p:spPr bwMode="auto">
          <a:xfrm>
            <a:off x="3268494" y="5262662"/>
            <a:ext cx="2070736" cy="350198"/>
          </a:xfrm>
          <a:prstGeom prst="rect">
            <a:avLst/>
          </a:prstGeom>
          <a:noFill/>
        </p:spPr>
      </p:pic>
      <p:sp>
        <p:nvSpPr>
          <p:cNvPr id="1049" name="Rectangle 25"/>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66153" y="624110"/>
            <a:ext cx="9938459" cy="1280890"/>
          </a:xfrm>
        </p:spPr>
        <p:txBody>
          <a:bodyPr>
            <a:normAutofit/>
          </a:bodyPr>
          <a:lstStyle/>
          <a:p>
            <a:r>
              <a:rPr lang="en-US" sz="3200" dirty="0">
                <a:latin typeface="Arial" pitchFamily="34" charset="0"/>
                <a:cs typeface="Arial" pitchFamily="34" charset="0"/>
              </a:rPr>
              <a:t> Continued….</a:t>
            </a:r>
          </a:p>
        </p:txBody>
      </p:sp>
      <p:sp>
        <p:nvSpPr>
          <p:cNvPr id="3" name="Content Placeholder 2"/>
          <p:cNvSpPr>
            <a:spLocks noGrp="1"/>
          </p:cNvSpPr>
          <p:nvPr>
            <p:ph idx="1"/>
          </p:nvPr>
        </p:nvSpPr>
        <p:spPr>
          <a:xfrm>
            <a:off x="972767" y="1225685"/>
            <a:ext cx="10817156" cy="4931924"/>
          </a:xfrm>
        </p:spPr>
        <p:txBody>
          <a:bodyPr>
            <a:normAutofit/>
          </a:bodyPr>
          <a:lstStyle/>
          <a:p>
            <a:r>
              <a:rPr lang="en-US" dirty="0">
                <a:latin typeface="Arial" pitchFamily="34" charset="0"/>
                <a:cs typeface="Arial" pitchFamily="34" charset="0"/>
              </a:rPr>
              <a:t>when the input voltage exceeds                                the PMOS transistor is turned off and  NMOS transistor is operating in the linear region. Consequently, the output voltage of the circuit is</a:t>
            </a:r>
          </a:p>
          <a:p>
            <a:r>
              <a:rPr lang="en-IN" dirty="0">
                <a:latin typeface="Arial" pitchFamily="34" charset="0"/>
                <a:cs typeface="Arial" pitchFamily="34" charset="0"/>
              </a:rPr>
              <a:t>                                                                                          ……(11)</a:t>
            </a:r>
          </a:p>
          <a:p>
            <a:endParaRPr lang="en-US" dirty="0">
              <a:latin typeface="Arial" pitchFamily="34" charset="0"/>
              <a:cs typeface="Arial" pitchFamily="34" charset="0"/>
            </a:endParaRPr>
          </a:p>
          <a:p>
            <a:r>
              <a:rPr lang="en-US" dirty="0">
                <a:latin typeface="Arial" pitchFamily="34" charset="0"/>
                <a:cs typeface="Arial" pitchFamily="34" charset="0"/>
              </a:rPr>
              <a:t>The NMOS transistor operates in saturation if                      </a:t>
            </a:r>
            <a:r>
              <a:rPr lang="en-US" dirty="0" err="1">
                <a:latin typeface="Arial" pitchFamily="34" charset="0"/>
                <a:cs typeface="Arial" pitchFamily="34" charset="0"/>
              </a:rPr>
              <a:t>if</a:t>
            </a:r>
            <a:r>
              <a:rPr lang="en-US" dirty="0">
                <a:latin typeface="Arial" pitchFamily="34" charset="0"/>
                <a:cs typeface="Arial" pitchFamily="34" charset="0"/>
              </a:rPr>
              <a:t> the following condition is satisfied</a:t>
            </a:r>
            <a:endParaRPr lang="en-IN" dirty="0">
              <a:latin typeface="Arial" pitchFamily="34" charset="0"/>
              <a:cs typeface="Arial" pitchFamily="34" charset="0"/>
            </a:endParaRPr>
          </a:p>
          <a:p>
            <a:r>
              <a:rPr lang="en-IN" dirty="0">
                <a:latin typeface="Arial" pitchFamily="34" charset="0"/>
                <a:cs typeface="Arial" pitchFamily="34" charset="0"/>
              </a:rPr>
              <a:t>                                                                                                                          ……(12)                                                                                                           </a:t>
            </a:r>
          </a:p>
          <a:p>
            <a:r>
              <a:rPr lang="en-IN" dirty="0">
                <a:latin typeface="Arial" pitchFamily="34" charset="0"/>
                <a:cs typeface="Arial" pitchFamily="34" charset="0"/>
              </a:rPr>
              <a:t>                                                                                                                 </a:t>
            </a:r>
            <a:endParaRPr lang="en-US" dirty="0">
              <a:latin typeface="Arial" pitchFamily="34" charset="0"/>
              <a:cs typeface="Arial" pitchFamily="34" charset="0"/>
            </a:endParaRPr>
          </a:p>
          <a:p>
            <a:r>
              <a:rPr lang="en-US" dirty="0">
                <a:latin typeface="Arial" pitchFamily="34" charset="0"/>
                <a:cs typeface="Arial" pitchFamily="34" charset="0"/>
              </a:rPr>
              <a:t>The PMOS transistor operates in saturation if</a:t>
            </a:r>
            <a:endParaRPr lang="en-IN" dirty="0">
              <a:latin typeface="Arial" pitchFamily="34" charset="0"/>
              <a:cs typeface="Arial" pitchFamily="34" charset="0"/>
            </a:endParaRPr>
          </a:p>
          <a:p>
            <a:pPr>
              <a:buNone/>
            </a:pPr>
            <a:r>
              <a:rPr lang="en-IN" dirty="0">
                <a:latin typeface="Arial" pitchFamily="34" charset="0"/>
                <a:cs typeface="Arial" pitchFamily="34" charset="0"/>
              </a:rPr>
              <a:t>                                                                                                          </a:t>
            </a:r>
          </a:p>
          <a:p>
            <a:r>
              <a:rPr lang="en-IN" dirty="0">
                <a:latin typeface="Arial" pitchFamily="34" charset="0"/>
                <a:cs typeface="Arial" pitchFamily="34" charset="0"/>
              </a:rPr>
              <a:t>                                                                                                                           ……(13)</a:t>
            </a:r>
          </a:p>
          <a:p>
            <a:endParaRPr lang="en-IN" dirty="0">
              <a:latin typeface="Arial" pitchFamily="34" charset="0"/>
              <a:cs typeface="Arial" pitchFamily="34" charset="0"/>
            </a:endParaRPr>
          </a:p>
          <a:p>
            <a:pPr>
              <a:spcBef>
                <a:spcPts val="0"/>
              </a:spcBef>
            </a:pPr>
            <a:endParaRPr lang="en-US" dirty="0">
              <a:latin typeface="Arial" pitchFamily="34" charset="0"/>
              <a:cs typeface="Arial" pitchFamily="34" charset="0"/>
            </a:endParaRPr>
          </a:p>
          <a:p>
            <a:endParaRPr lang="en-US" dirty="0">
              <a:latin typeface="Arial" pitchFamily="34" charset="0"/>
              <a:cs typeface="Arial" pitchFamily="34" charset="0"/>
            </a:endParaRPr>
          </a:p>
          <a:p>
            <a:pPr algn="just"/>
            <a:endParaRPr lang="en-US" b="1" dirty="0">
              <a:latin typeface="Arial" pitchFamily="34" charset="0"/>
              <a:cs typeface="Arial" pitchFamily="34" charset="0"/>
            </a:endParaRPr>
          </a:p>
          <a:p>
            <a:pPr algn="just"/>
            <a:endParaRPr lang="en-US" b="1" dirty="0">
              <a:latin typeface="Arial" pitchFamily="34" charset="0"/>
              <a:cs typeface="Arial" pitchFamily="34" charset="0"/>
            </a:endParaRPr>
          </a:p>
        </p:txBody>
      </p:sp>
      <p:sp>
        <p:nvSpPr>
          <p:cNvPr id="4" name="Footer Placeholder 3"/>
          <p:cNvSpPr>
            <a:spLocks noGrp="1"/>
          </p:cNvSpPr>
          <p:nvPr>
            <p:ph type="ftr" sz="quarter" idx="11"/>
          </p:nvPr>
        </p:nvSpPr>
        <p:spPr>
          <a:xfrm>
            <a:off x="1488332" y="6135808"/>
            <a:ext cx="8720879" cy="365125"/>
          </a:xfrm>
        </p:spPr>
        <p:txBody>
          <a:bodyPr/>
          <a:lstStyle/>
          <a:p>
            <a:r>
              <a:rPr lang="en-IN" sz="1500" dirty="0">
                <a:solidFill>
                  <a:srgbClr val="C00000"/>
                </a:solidFill>
                <a:latin typeface="Arial" panose="020B0604020202020204" pitchFamily="34" charset="0"/>
                <a:cs typeface="Arial" panose="020B0604020202020204" pitchFamily="34" charset="0"/>
              </a:rPr>
              <a:t>Rohit Lorenzo, VIT-AP</a:t>
            </a:r>
          </a:p>
        </p:txBody>
      </p:sp>
      <p:sp>
        <p:nvSpPr>
          <p:cNvPr id="2050"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1" name="Rectangle 3"/>
          <p:cNvSpPr>
            <a:spLocks noChangeArrowheads="1"/>
          </p:cNvSpPr>
          <p:nvPr/>
        </p:nvSpPr>
        <p:spPr bwMode="auto">
          <a:xfrm>
            <a:off x="0" y="76835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053" name="Rectangle 5"/>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4" name="Rectangle 6"/>
          <p:cNvSpPr>
            <a:spLocks noChangeArrowheads="1"/>
          </p:cNvSpPr>
          <p:nvPr/>
        </p:nvSpPr>
        <p:spPr bwMode="auto">
          <a:xfrm>
            <a:off x="0" y="7747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056" name="Rectangle 8"/>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7" name="Rectangle 9"/>
          <p:cNvSpPr>
            <a:spLocks noChangeArrowheads="1"/>
          </p:cNvSpPr>
          <p:nvPr/>
        </p:nvSpPr>
        <p:spPr bwMode="auto">
          <a:xfrm>
            <a:off x="0" y="107315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3794"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3795" name="Rectangle 3"/>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43010"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3011" name="Rectangle 3"/>
          <p:cNvSpPr>
            <a:spLocks noChangeArrowheads="1"/>
          </p:cNvSpPr>
          <p:nvPr/>
        </p:nvSpPr>
        <p:spPr bwMode="auto">
          <a:xfrm>
            <a:off x="0" y="128905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75778"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75777" name="Picture 1"/>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a:off x="4727641" y="1245142"/>
            <a:ext cx="1540277" cy="311284"/>
          </a:xfrm>
          <a:prstGeom prst="rect">
            <a:avLst/>
          </a:prstGeom>
          <a:noFill/>
        </p:spPr>
      </p:pic>
      <p:sp>
        <p:nvSpPr>
          <p:cNvPr id="75779" name="Rectangle 3"/>
          <p:cNvSpPr>
            <a:spLocks noChangeArrowheads="1"/>
          </p:cNvSpPr>
          <p:nvPr/>
        </p:nvSpPr>
        <p:spPr bwMode="auto">
          <a:xfrm>
            <a:off x="0" y="7747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75781" name="Rectangle 5"/>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75780" name="Picture 4"/>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4622453" y="1907261"/>
            <a:ext cx="1788395" cy="357679"/>
          </a:xfrm>
          <a:prstGeom prst="rect">
            <a:avLst/>
          </a:prstGeom>
          <a:noFill/>
        </p:spPr>
      </p:pic>
      <p:sp>
        <p:nvSpPr>
          <p:cNvPr id="75782" name="Rectangle 6"/>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75784" name="Rectangle 8"/>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75783" name="Picture 7"/>
          <p:cNvPicPr>
            <a:picLocks noChangeAspect="1" noChangeArrowheads="1"/>
          </p:cNvPicPr>
          <p:nvPr/>
        </p:nvPicPr>
        <p:blipFill>
          <a:blip r:embed="rId4" cstate="print">
            <a:clrChange>
              <a:clrFrom>
                <a:srgbClr val="FFFFFF"/>
              </a:clrFrom>
              <a:clrTo>
                <a:srgbClr val="FFFFFF">
                  <a:alpha val="0"/>
                </a:srgbClr>
              </a:clrTo>
            </a:clrChange>
          </a:blip>
          <a:srcRect/>
          <a:stretch>
            <a:fillRect/>
          </a:stretch>
        </p:blipFill>
        <p:spPr bwMode="auto">
          <a:xfrm>
            <a:off x="6178988" y="2786493"/>
            <a:ext cx="1060450" cy="304800"/>
          </a:xfrm>
          <a:prstGeom prst="rect">
            <a:avLst/>
          </a:prstGeom>
          <a:noFill/>
        </p:spPr>
      </p:pic>
      <p:sp>
        <p:nvSpPr>
          <p:cNvPr id="75785" name="Rectangle 9"/>
          <p:cNvSpPr>
            <a:spLocks noChangeArrowheads="1"/>
          </p:cNvSpPr>
          <p:nvPr/>
        </p:nvSpPr>
        <p:spPr bwMode="auto">
          <a:xfrm>
            <a:off x="0" y="7620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pic>
        <p:nvPicPr>
          <p:cNvPr id="75786" name="Picture 10"/>
          <p:cNvPicPr>
            <a:picLocks noChangeAspect="1" noChangeArrowheads="1"/>
          </p:cNvPicPr>
          <p:nvPr/>
        </p:nvPicPr>
        <p:blipFill>
          <a:blip r:embed="rId5" cstate="print"/>
          <a:srcRect/>
          <a:stretch>
            <a:fillRect/>
          </a:stretch>
        </p:blipFill>
        <p:spPr bwMode="auto">
          <a:xfrm>
            <a:off x="3384797" y="3200910"/>
            <a:ext cx="4663932" cy="404952"/>
          </a:xfrm>
          <a:prstGeom prst="rect">
            <a:avLst/>
          </a:prstGeom>
          <a:noFill/>
          <a:ln w="9525">
            <a:noFill/>
            <a:miter lim="800000"/>
            <a:headEnd/>
            <a:tailEnd/>
          </a:ln>
        </p:spPr>
      </p:pic>
      <p:sp>
        <p:nvSpPr>
          <p:cNvPr id="75788" name="Rectangle 1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75787" name="Picture 11"/>
          <p:cNvPicPr>
            <a:picLocks noChangeAspect="1" noChangeArrowheads="1"/>
          </p:cNvPicPr>
          <p:nvPr/>
        </p:nvPicPr>
        <p:blipFill>
          <a:blip r:embed="rId6" cstate="print">
            <a:clrChange>
              <a:clrFrom>
                <a:srgbClr val="FFFFFF"/>
              </a:clrFrom>
              <a:clrTo>
                <a:srgbClr val="FFFFFF">
                  <a:alpha val="0"/>
                </a:srgbClr>
              </a:clrTo>
            </a:clrChange>
          </a:blip>
          <a:srcRect/>
          <a:stretch>
            <a:fillRect/>
          </a:stretch>
        </p:blipFill>
        <p:spPr bwMode="auto">
          <a:xfrm>
            <a:off x="6126181" y="3964395"/>
            <a:ext cx="2130744" cy="359923"/>
          </a:xfrm>
          <a:prstGeom prst="rect">
            <a:avLst/>
          </a:prstGeom>
          <a:noFill/>
        </p:spPr>
      </p:pic>
      <p:sp>
        <p:nvSpPr>
          <p:cNvPr id="75789" name="Rectangle 13"/>
          <p:cNvSpPr>
            <a:spLocks noChangeArrowheads="1"/>
          </p:cNvSpPr>
          <p:nvPr/>
        </p:nvSpPr>
        <p:spPr bwMode="auto">
          <a:xfrm>
            <a:off x="0" y="7747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pic>
        <p:nvPicPr>
          <p:cNvPr id="75791" name="Picture 15"/>
          <p:cNvPicPr>
            <a:picLocks noChangeAspect="1" noChangeArrowheads="1"/>
          </p:cNvPicPr>
          <p:nvPr/>
        </p:nvPicPr>
        <p:blipFill>
          <a:blip r:embed="rId7" cstate="print"/>
          <a:srcRect/>
          <a:stretch>
            <a:fillRect/>
          </a:stretch>
        </p:blipFill>
        <p:spPr bwMode="auto">
          <a:xfrm>
            <a:off x="2988422" y="4436209"/>
            <a:ext cx="4915968" cy="577919"/>
          </a:xfrm>
          <a:prstGeom prst="rect">
            <a:avLst/>
          </a:prstGeom>
          <a:noFill/>
          <a:ln w="9525">
            <a:noFill/>
            <a:miter lim="800000"/>
            <a:headEnd/>
            <a:tailEnd/>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66153" y="624110"/>
            <a:ext cx="9938459" cy="1280890"/>
          </a:xfrm>
        </p:spPr>
        <p:txBody>
          <a:bodyPr>
            <a:normAutofit/>
          </a:bodyPr>
          <a:lstStyle/>
          <a:p>
            <a:r>
              <a:rPr lang="en-US" sz="3200" b="1" dirty="0">
                <a:latin typeface="Arial" pitchFamily="34" charset="0"/>
                <a:cs typeface="Arial" pitchFamily="34" charset="0"/>
              </a:rPr>
              <a:t>Continue…..</a:t>
            </a:r>
            <a:endParaRPr lang="en-US" sz="3200" b="1" baseline="-25000" dirty="0">
              <a:latin typeface="Arial" pitchFamily="34" charset="0"/>
              <a:cs typeface="Arial" pitchFamily="34" charset="0"/>
            </a:endParaRPr>
          </a:p>
        </p:txBody>
      </p:sp>
      <p:sp>
        <p:nvSpPr>
          <p:cNvPr id="3" name="Content Placeholder 2"/>
          <p:cNvSpPr>
            <a:spLocks noGrp="1"/>
          </p:cNvSpPr>
          <p:nvPr>
            <p:ph idx="1"/>
          </p:nvPr>
        </p:nvSpPr>
        <p:spPr>
          <a:xfrm>
            <a:off x="651753" y="1225685"/>
            <a:ext cx="11138170" cy="4931924"/>
          </a:xfrm>
        </p:spPr>
        <p:txBody>
          <a:bodyPr>
            <a:normAutofit/>
          </a:bodyPr>
          <a:lstStyle/>
          <a:p>
            <a:pPr>
              <a:spcBef>
                <a:spcPts val="0"/>
              </a:spcBef>
            </a:pPr>
            <a:r>
              <a:rPr lang="en-US" dirty="0">
                <a:latin typeface="Arial" pitchFamily="34" charset="0"/>
                <a:cs typeface="Arial" pitchFamily="34" charset="0"/>
              </a:rPr>
              <a:t>Here, we identify five distinct regions,  labeled A through E, each corresponding  to a different set of operating conditions</a:t>
            </a:r>
            <a:endParaRPr lang="en-IN" dirty="0">
              <a:latin typeface="Arial" pitchFamily="34" charset="0"/>
              <a:cs typeface="Arial" pitchFamily="34" charset="0"/>
            </a:endParaRPr>
          </a:p>
          <a:p>
            <a:endParaRPr lang="en-IN" dirty="0">
              <a:latin typeface="Arial" pitchFamily="34" charset="0"/>
              <a:cs typeface="Arial" pitchFamily="34" charset="0"/>
            </a:endParaRPr>
          </a:p>
          <a:p>
            <a:endParaRPr lang="en-IN" dirty="0">
              <a:latin typeface="Arial" pitchFamily="34" charset="0"/>
              <a:cs typeface="Arial" pitchFamily="34" charset="0"/>
            </a:endParaRPr>
          </a:p>
          <a:p>
            <a:endParaRPr lang="en-US" dirty="0">
              <a:latin typeface="Arial" pitchFamily="34" charset="0"/>
              <a:cs typeface="Arial" pitchFamily="34" charset="0"/>
            </a:endParaRPr>
          </a:p>
          <a:p>
            <a:pPr algn="just"/>
            <a:endParaRPr lang="en-US" b="1" dirty="0">
              <a:latin typeface="Arial" pitchFamily="34" charset="0"/>
              <a:cs typeface="Arial" pitchFamily="34" charset="0"/>
            </a:endParaRPr>
          </a:p>
          <a:p>
            <a:pPr algn="just"/>
            <a:endParaRPr lang="en-US" b="1" dirty="0">
              <a:latin typeface="Arial" pitchFamily="34" charset="0"/>
              <a:cs typeface="Arial" pitchFamily="34" charset="0"/>
            </a:endParaRPr>
          </a:p>
        </p:txBody>
      </p:sp>
      <p:sp>
        <p:nvSpPr>
          <p:cNvPr id="4" name="Footer Placeholder 3"/>
          <p:cNvSpPr>
            <a:spLocks noGrp="1"/>
          </p:cNvSpPr>
          <p:nvPr>
            <p:ph type="ftr" sz="quarter" idx="11"/>
          </p:nvPr>
        </p:nvSpPr>
        <p:spPr>
          <a:xfrm>
            <a:off x="1488332" y="6135808"/>
            <a:ext cx="8720879" cy="365125"/>
          </a:xfrm>
        </p:spPr>
        <p:txBody>
          <a:bodyPr/>
          <a:lstStyle/>
          <a:p>
            <a:r>
              <a:rPr lang="en-IN" sz="1500" dirty="0">
                <a:solidFill>
                  <a:srgbClr val="C00000"/>
                </a:solidFill>
                <a:latin typeface="Arial" panose="020B0604020202020204" pitchFamily="34" charset="0"/>
                <a:cs typeface="Arial" panose="020B0604020202020204" pitchFamily="34" charset="0"/>
              </a:rPr>
              <a:t>Rohit Lorenzo, VIT-AP</a:t>
            </a:r>
          </a:p>
        </p:txBody>
      </p:sp>
      <p:sp>
        <p:nvSpPr>
          <p:cNvPr id="2050"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1" name="Rectangle 3"/>
          <p:cNvSpPr>
            <a:spLocks noChangeArrowheads="1"/>
          </p:cNvSpPr>
          <p:nvPr/>
        </p:nvSpPr>
        <p:spPr bwMode="auto">
          <a:xfrm>
            <a:off x="0" y="76835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053" name="Rectangle 5"/>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4" name="Rectangle 6"/>
          <p:cNvSpPr>
            <a:spLocks noChangeArrowheads="1"/>
          </p:cNvSpPr>
          <p:nvPr/>
        </p:nvSpPr>
        <p:spPr bwMode="auto">
          <a:xfrm>
            <a:off x="0" y="7747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056" name="Rectangle 8"/>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7" name="Rectangle 9"/>
          <p:cNvSpPr>
            <a:spLocks noChangeArrowheads="1"/>
          </p:cNvSpPr>
          <p:nvPr/>
        </p:nvSpPr>
        <p:spPr bwMode="auto">
          <a:xfrm>
            <a:off x="0" y="107315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3794"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3795" name="Rectangle 3"/>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43010"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3011" name="Rectangle 3"/>
          <p:cNvSpPr>
            <a:spLocks noChangeArrowheads="1"/>
          </p:cNvSpPr>
          <p:nvPr/>
        </p:nvSpPr>
        <p:spPr bwMode="auto">
          <a:xfrm>
            <a:off x="0" y="128905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pic>
        <p:nvPicPr>
          <p:cNvPr id="16" name="Picture 3"/>
          <p:cNvPicPr>
            <a:picLocks noChangeAspect="1" noChangeArrowheads="1"/>
          </p:cNvPicPr>
          <p:nvPr/>
        </p:nvPicPr>
        <p:blipFill>
          <a:blip r:embed="rId2" cstate="print"/>
          <a:srcRect/>
          <a:stretch>
            <a:fillRect/>
          </a:stretch>
        </p:blipFill>
        <p:spPr bwMode="auto">
          <a:xfrm>
            <a:off x="285089" y="2383276"/>
            <a:ext cx="5423037" cy="4474724"/>
          </a:xfrm>
          <a:prstGeom prst="rect">
            <a:avLst/>
          </a:prstGeom>
          <a:noFill/>
          <a:ln w="9525">
            <a:noFill/>
            <a:miter lim="800000"/>
            <a:headEnd/>
            <a:tailEnd/>
          </a:ln>
        </p:spPr>
      </p:pic>
      <p:pic>
        <p:nvPicPr>
          <p:cNvPr id="17" name="Picture 2"/>
          <p:cNvPicPr>
            <a:picLocks noChangeAspect="1" noChangeArrowheads="1"/>
          </p:cNvPicPr>
          <p:nvPr/>
        </p:nvPicPr>
        <p:blipFill>
          <a:blip r:embed="rId3" cstate="print"/>
          <a:srcRect/>
          <a:stretch>
            <a:fillRect/>
          </a:stretch>
        </p:blipFill>
        <p:spPr bwMode="auto">
          <a:xfrm>
            <a:off x="5924145" y="2956398"/>
            <a:ext cx="6267855" cy="2705100"/>
          </a:xfrm>
          <a:prstGeom prst="rect">
            <a:avLst/>
          </a:prstGeom>
          <a:noFill/>
          <a:ln w="9525">
            <a:noFill/>
            <a:miter lim="800000"/>
            <a:headEnd/>
            <a:tailEnd/>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66153" y="624110"/>
            <a:ext cx="9938459" cy="1280890"/>
          </a:xfrm>
        </p:spPr>
        <p:txBody>
          <a:bodyPr>
            <a:normAutofit/>
          </a:bodyPr>
          <a:lstStyle/>
          <a:p>
            <a:r>
              <a:rPr lang="en-US" sz="3200" b="1" dirty="0">
                <a:latin typeface="Arial" pitchFamily="34" charset="0"/>
                <a:cs typeface="Arial" pitchFamily="34" charset="0"/>
              </a:rPr>
              <a:t>Continue….</a:t>
            </a:r>
            <a:endParaRPr lang="en-US" sz="3200" b="1" baseline="-25000" dirty="0">
              <a:latin typeface="Arial" pitchFamily="34" charset="0"/>
              <a:cs typeface="Arial" pitchFamily="34" charset="0"/>
            </a:endParaRPr>
          </a:p>
        </p:txBody>
      </p:sp>
      <p:sp>
        <p:nvSpPr>
          <p:cNvPr id="3" name="Content Placeholder 2"/>
          <p:cNvSpPr>
            <a:spLocks noGrp="1"/>
          </p:cNvSpPr>
          <p:nvPr>
            <p:ph idx="1"/>
          </p:nvPr>
        </p:nvSpPr>
        <p:spPr>
          <a:xfrm>
            <a:off x="651753" y="1225685"/>
            <a:ext cx="11138170" cy="4931924"/>
          </a:xfrm>
        </p:spPr>
        <p:txBody>
          <a:bodyPr>
            <a:normAutofit/>
          </a:bodyPr>
          <a:lstStyle/>
          <a:p>
            <a:r>
              <a:rPr lang="en-US" dirty="0">
                <a:latin typeface="Arial" pitchFamily="34" charset="0"/>
                <a:cs typeface="Arial" pitchFamily="34" charset="0"/>
              </a:rPr>
              <a:t>We already know that the drain current </a:t>
            </a:r>
            <a:r>
              <a:rPr lang="en-US" b="1" dirty="0" err="1">
                <a:latin typeface="Arial" pitchFamily="34" charset="0"/>
                <a:cs typeface="Arial" pitchFamily="34" charset="0"/>
              </a:rPr>
              <a:t>I</a:t>
            </a:r>
            <a:r>
              <a:rPr lang="en-US" b="1" baseline="-25000" dirty="0" err="1">
                <a:latin typeface="Arial" pitchFamily="34" charset="0"/>
                <a:cs typeface="Arial" pitchFamily="34" charset="0"/>
              </a:rPr>
              <a:t>D,n</a:t>
            </a:r>
            <a:r>
              <a:rPr lang="en-US" b="1" dirty="0">
                <a:latin typeface="Arial" pitchFamily="34" charset="0"/>
                <a:cs typeface="Arial" pitchFamily="34" charset="0"/>
              </a:rPr>
              <a:t> </a:t>
            </a:r>
            <a:r>
              <a:rPr lang="en-US" dirty="0">
                <a:latin typeface="Arial" pitchFamily="34" charset="0"/>
                <a:cs typeface="Arial" pitchFamily="34" charset="0"/>
              </a:rPr>
              <a:t>of the NMOS transistor is a function of the voltages </a:t>
            </a:r>
            <a:r>
              <a:rPr lang="en-US" b="1" dirty="0" err="1">
                <a:latin typeface="Arial" pitchFamily="34" charset="0"/>
                <a:cs typeface="Arial" pitchFamily="34" charset="0"/>
              </a:rPr>
              <a:t>V</a:t>
            </a:r>
            <a:r>
              <a:rPr lang="en-US" b="1" baseline="-25000" dirty="0" err="1">
                <a:latin typeface="Arial" pitchFamily="34" charset="0"/>
                <a:cs typeface="Arial" pitchFamily="34" charset="0"/>
              </a:rPr>
              <a:t>GS,n</a:t>
            </a:r>
            <a:r>
              <a:rPr lang="en-US" dirty="0">
                <a:latin typeface="Arial" pitchFamily="34" charset="0"/>
                <a:cs typeface="Arial" pitchFamily="34" charset="0"/>
              </a:rPr>
              <a:t> and </a:t>
            </a:r>
            <a:r>
              <a:rPr lang="en-US" b="1" dirty="0" err="1">
                <a:latin typeface="Arial" pitchFamily="34" charset="0"/>
                <a:cs typeface="Arial" pitchFamily="34" charset="0"/>
              </a:rPr>
              <a:t>V</a:t>
            </a:r>
            <a:r>
              <a:rPr lang="en-US" b="1" baseline="-25000" dirty="0" err="1">
                <a:latin typeface="Arial" pitchFamily="34" charset="0"/>
                <a:cs typeface="Arial" pitchFamily="34" charset="0"/>
              </a:rPr>
              <a:t>DS,n</a:t>
            </a:r>
            <a:r>
              <a:rPr lang="en-US" dirty="0">
                <a:latin typeface="Arial" pitchFamily="34" charset="0"/>
                <a:cs typeface="Arial" pitchFamily="34" charset="0"/>
              </a:rPr>
              <a:t>. The NMOS drain current is also a function of the inverter input and output voltages</a:t>
            </a:r>
            <a:r>
              <a:rPr lang="en-US" b="1" dirty="0">
                <a:latin typeface="Arial" pitchFamily="34" charset="0"/>
                <a:cs typeface="Arial" pitchFamily="34" charset="0"/>
              </a:rPr>
              <a:t> V</a:t>
            </a:r>
            <a:r>
              <a:rPr lang="en-US" b="1" baseline="-25000" dirty="0">
                <a:latin typeface="Arial" pitchFamily="34" charset="0"/>
                <a:cs typeface="Arial" pitchFamily="34" charset="0"/>
              </a:rPr>
              <a:t>in</a:t>
            </a:r>
            <a:r>
              <a:rPr lang="en-US" dirty="0">
                <a:latin typeface="Arial" pitchFamily="34" charset="0"/>
                <a:cs typeface="Arial" pitchFamily="34" charset="0"/>
              </a:rPr>
              <a:t>. and </a:t>
            </a:r>
            <a:r>
              <a:rPr lang="en-US" b="1" dirty="0" err="1">
                <a:latin typeface="Arial" pitchFamily="34" charset="0"/>
                <a:cs typeface="Arial" pitchFamily="34" charset="0"/>
              </a:rPr>
              <a:t>V</a:t>
            </a:r>
            <a:r>
              <a:rPr lang="en-US" b="1" baseline="-25000" dirty="0" err="1">
                <a:latin typeface="Arial" pitchFamily="34" charset="0"/>
                <a:cs typeface="Arial" pitchFamily="34" charset="0"/>
              </a:rPr>
              <a:t>out</a:t>
            </a:r>
            <a:r>
              <a:rPr lang="en-US" b="1" baseline="-25000" dirty="0">
                <a:latin typeface="Arial" pitchFamily="34" charset="0"/>
                <a:cs typeface="Arial" pitchFamily="34" charset="0"/>
              </a:rPr>
              <a:t>.</a:t>
            </a:r>
          </a:p>
          <a:p>
            <a:r>
              <a:rPr lang="en-IN" dirty="0">
                <a:latin typeface="Arial" pitchFamily="34" charset="0"/>
                <a:cs typeface="Arial" pitchFamily="34" charset="0"/>
              </a:rPr>
              <a:t>                                                                                          </a:t>
            </a:r>
          </a:p>
          <a:p>
            <a:r>
              <a:rPr lang="en-IN" dirty="0">
                <a:latin typeface="Arial" pitchFamily="34" charset="0"/>
                <a:cs typeface="Arial" pitchFamily="34" charset="0"/>
              </a:rPr>
              <a:t>Similarly for PMOS </a:t>
            </a:r>
          </a:p>
          <a:p>
            <a:r>
              <a:rPr lang="en-IN" dirty="0">
                <a:latin typeface="Arial" pitchFamily="34" charset="0"/>
                <a:cs typeface="Arial" pitchFamily="34" charset="0"/>
              </a:rPr>
              <a:t>                                                                            </a:t>
            </a:r>
          </a:p>
          <a:p>
            <a:r>
              <a:rPr lang="en-IN" b="1" u="sng" dirty="0">
                <a:latin typeface="Arial" pitchFamily="34" charset="0"/>
                <a:cs typeface="Arial" pitchFamily="34" charset="0"/>
              </a:rPr>
              <a:t>Calculation of V</a:t>
            </a:r>
            <a:r>
              <a:rPr lang="en-IN" b="1" u="sng" baseline="-25000" dirty="0">
                <a:latin typeface="Arial" pitchFamily="34" charset="0"/>
                <a:cs typeface="Arial" pitchFamily="34" charset="0"/>
              </a:rPr>
              <a:t>IL</a:t>
            </a:r>
          </a:p>
          <a:p>
            <a:pPr algn="just">
              <a:spcBef>
                <a:spcPts val="0"/>
              </a:spcBef>
            </a:pPr>
            <a:r>
              <a:rPr lang="en-US" dirty="0">
                <a:latin typeface="Arial" pitchFamily="34" charset="0"/>
                <a:cs typeface="Arial" pitchFamily="34" charset="0"/>
              </a:rPr>
              <a:t>By definition, the slope of the VTC is equal to (-1),</a:t>
            </a:r>
            <a:r>
              <a:rPr lang="en-IN" dirty="0">
                <a:latin typeface="Arial" pitchFamily="34" charset="0"/>
                <a:cs typeface="Arial" pitchFamily="34" charset="0"/>
              </a:rPr>
              <a:t> </a:t>
            </a:r>
            <a:r>
              <a:rPr lang="en-IN" b="1" dirty="0" err="1">
                <a:latin typeface="Arial" pitchFamily="34" charset="0"/>
                <a:cs typeface="Arial" pitchFamily="34" charset="0"/>
              </a:rPr>
              <a:t>dV</a:t>
            </a:r>
            <a:r>
              <a:rPr lang="en-IN" b="1" baseline="-25000" dirty="0" err="1">
                <a:latin typeface="Arial" pitchFamily="34" charset="0"/>
                <a:cs typeface="Arial" pitchFamily="34" charset="0"/>
              </a:rPr>
              <a:t>out</a:t>
            </a:r>
            <a:r>
              <a:rPr lang="en-IN" b="1" dirty="0">
                <a:latin typeface="Arial" pitchFamily="34" charset="0"/>
                <a:cs typeface="Arial" pitchFamily="34" charset="0"/>
              </a:rPr>
              <a:t>/</a:t>
            </a:r>
            <a:r>
              <a:rPr lang="en-IN" b="1" dirty="0" err="1">
                <a:latin typeface="Arial" pitchFamily="34" charset="0"/>
                <a:cs typeface="Arial" pitchFamily="34" charset="0"/>
              </a:rPr>
              <a:t>dV</a:t>
            </a:r>
            <a:r>
              <a:rPr lang="en-IN" b="1" baseline="-25000" dirty="0" err="1">
                <a:latin typeface="Arial" pitchFamily="34" charset="0"/>
                <a:cs typeface="Arial" pitchFamily="34" charset="0"/>
              </a:rPr>
              <a:t>in</a:t>
            </a:r>
            <a:r>
              <a:rPr lang="en-IN" b="1" dirty="0">
                <a:latin typeface="Arial" pitchFamily="34" charset="0"/>
                <a:cs typeface="Arial" pitchFamily="34" charset="0"/>
              </a:rPr>
              <a:t> = -1</a:t>
            </a:r>
            <a:r>
              <a:rPr lang="en-IN" dirty="0">
                <a:latin typeface="Arial" pitchFamily="34" charset="0"/>
                <a:cs typeface="Arial" pitchFamily="34" charset="0"/>
              </a:rPr>
              <a:t>. </a:t>
            </a:r>
            <a:r>
              <a:rPr lang="en-US" dirty="0">
                <a:latin typeface="Arial" pitchFamily="34" charset="0"/>
                <a:cs typeface="Arial" pitchFamily="34" charset="0"/>
              </a:rPr>
              <a:t>when the input voltage is </a:t>
            </a:r>
            <a:r>
              <a:rPr lang="en-US" b="1" i="1" dirty="0">
                <a:latin typeface="Arial" pitchFamily="34" charset="0"/>
                <a:cs typeface="Arial" pitchFamily="34" charset="0"/>
              </a:rPr>
              <a:t>V</a:t>
            </a:r>
            <a:r>
              <a:rPr lang="en-US" b="1" i="1" baseline="-25000" dirty="0">
                <a:latin typeface="Arial" pitchFamily="34" charset="0"/>
                <a:cs typeface="Arial" pitchFamily="34" charset="0"/>
              </a:rPr>
              <a:t>in</a:t>
            </a:r>
            <a:r>
              <a:rPr lang="en-US" b="1" i="1" dirty="0">
                <a:latin typeface="Arial" pitchFamily="34" charset="0"/>
                <a:cs typeface="Arial" pitchFamily="34" charset="0"/>
              </a:rPr>
              <a:t> = V</a:t>
            </a:r>
            <a:r>
              <a:rPr lang="en-US" b="1" i="1" baseline="-25000" dirty="0">
                <a:latin typeface="Arial" pitchFamily="34" charset="0"/>
                <a:cs typeface="Arial" pitchFamily="34" charset="0"/>
              </a:rPr>
              <a:t>IL</a:t>
            </a:r>
            <a:r>
              <a:rPr lang="en-IN" b="1" dirty="0">
                <a:latin typeface="Arial" pitchFamily="34" charset="0"/>
                <a:cs typeface="Arial" pitchFamily="34" charset="0"/>
              </a:rPr>
              <a:t>  . </a:t>
            </a:r>
          </a:p>
          <a:p>
            <a:r>
              <a:rPr lang="en-US" dirty="0">
                <a:latin typeface="Arial" pitchFamily="34" charset="0"/>
                <a:cs typeface="Arial" pitchFamily="34" charset="0"/>
              </a:rPr>
              <a:t>Note that in this case, the NMOS transistor operates in saturation while the PMOS transistor operates in the linear region.</a:t>
            </a:r>
            <a:r>
              <a:rPr lang="en-IN" b="1" dirty="0">
                <a:latin typeface="Arial" pitchFamily="34" charset="0"/>
                <a:cs typeface="Arial" pitchFamily="34" charset="0"/>
              </a:rPr>
              <a:t> </a:t>
            </a:r>
            <a:r>
              <a:rPr lang="en-IN" dirty="0">
                <a:latin typeface="Arial" pitchFamily="34" charset="0"/>
                <a:cs typeface="Arial" pitchFamily="34" charset="0"/>
              </a:rPr>
              <a:t>From   </a:t>
            </a:r>
            <a:r>
              <a:rPr lang="en-IN" b="1" dirty="0">
                <a:latin typeface="Arial" pitchFamily="34" charset="0"/>
                <a:cs typeface="Arial" pitchFamily="34" charset="0"/>
              </a:rPr>
              <a:t> </a:t>
            </a:r>
            <a:r>
              <a:rPr lang="en-IN" b="1" dirty="0" err="1">
                <a:latin typeface="Arial" pitchFamily="34" charset="0"/>
                <a:cs typeface="Arial" pitchFamily="34" charset="0"/>
              </a:rPr>
              <a:t>I</a:t>
            </a:r>
            <a:r>
              <a:rPr lang="en-IN" b="1" baseline="-25000" dirty="0" err="1">
                <a:latin typeface="Arial" pitchFamily="34" charset="0"/>
                <a:cs typeface="Arial" pitchFamily="34" charset="0"/>
              </a:rPr>
              <a:t>D,n</a:t>
            </a:r>
            <a:r>
              <a:rPr lang="en-IN" b="1" dirty="0">
                <a:latin typeface="Arial" pitchFamily="34" charset="0"/>
                <a:cs typeface="Arial" pitchFamily="34" charset="0"/>
              </a:rPr>
              <a:t> = </a:t>
            </a:r>
            <a:r>
              <a:rPr lang="en-IN" b="1" dirty="0" err="1">
                <a:latin typeface="Arial" pitchFamily="34" charset="0"/>
                <a:cs typeface="Arial" pitchFamily="34" charset="0"/>
              </a:rPr>
              <a:t>I</a:t>
            </a:r>
            <a:r>
              <a:rPr lang="en-IN" b="1" baseline="-25000" dirty="0" err="1">
                <a:latin typeface="Arial" pitchFamily="34" charset="0"/>
                <a:cs typeface="Arial" pitchFamily="34" charset="0"/>
              </a:rPr>
              <a:t>D,p</a:t>
            </a:r>
            <a:r>
              <a:rPr lang="en-IN" b="1" dirty="0">
                <a:latin typeface="Arial" pitchFamily="34" charset="0"/>
                <a:cs typeface="Arial" pitchFamily="34" charset="0"/>
              </a:rPr>
              <a:t>  . </a:t>
            </a:r>
            <a:r>
              <a:rPr lang="en-US" dirty="0">
                <a:latin typeface="Arial" pitchFamily="34" charset="0"/>
                <a:cs typeface="Arial" pitchFamily="34" charset="0"/>
              </a:rPr>
              <a:t>we obtain the following current equation:</a:t>
            </a:r>
          </a:p>
          <a:p>
            <a:r>
              <a:rPr lang="en-US" dirty="0">
                <a:latin typeface="Arial" pitchFamily="34" charset="0"/>
                <a:cs typeface="Arial" pitchFamily="34" charset="0"/>
              </a:rPr>
              <a:t>                                                                                                                      …(14)</a:t>
            </a:r>
          </a:p>
          <a:p>
            <a:endParaRPr lang="en-US" dirty="0">
              <a:latin typeface="Arial" pitchFamily="34" charset="0"/>
              <a:cs typeface="Arial" pitchFamily="34" charset="0"/>
            </a:endParaRPr>
          </a:p>
          <a:p>
            <a:r>
              <a:rPr lang="en-US" dirty="0">
                <a:latin typeface="Arial" pitchFamily="34" charset="0"/>
                <a:cs typeface="Arial" pitchFamily="34" charset="0"/>
              </a:rPr>
              <a:t>Using equation (7) and (8) , this expression can be rewritten as – </a:t>
            </a:r>
          </a:p>
          <a:p>
            <a:r>
              <a:rPr lang="en-US" dirty="0">
                <a:latin typeface="Arial" pitchFamily="34" charset="0"/>
                <a:cs typeface="Arial" pitchFamily="34" charset="0"/>
              </a:rPr>
              <a:t>                                                                                                                                …….(15)</a:t>
            </a:r>
          </a:p>
          <a:p>
            <a:endParaRPr lang="en-US" dirty="0">
              <a:latin typeface="Arial" pitchFamily="34" charset="0"/>
              <a:cs typeface="Arial" pitchFamily="34" charset="0"/>
            </a:endParaRPr>
          </a:p>
          <a:p>
            <a:endParaRPr lang="en-US" dirty="0">
              <a:latin typeface="Arial" pitchFamily="34" charset="0"/>
              <a:cs typeface="Arial" pitchFamily="34" charset="0"/>
            </a:endParaRPr>
          </a:p>
          <a:p>
            <a:endParaRPr lang="en-IN" b="1" dirty="0">
              <a:latin typeface="Arial" pitchFamily="34" charset="0"/>
              <a:cs typeface="Arial" pitchFamily="34" charset="0"/>
            </a:endParaRPr>
          </a:p>
          <a:p>
            <a:endParaRPr lang="en-US" dirty="0">
              <a:latin typeface="Arial" pitchFamily="34" charset="0"/>
              <a:cs typeface="Arial" pitchFamily="34" charset="0"/>
            </a:endParaRPr>
          </a:p>
          <a:p>
            <a:pPr algn="just"/>
            <a:endParaRPr lang="en-US" b="1" dirty="0">
              <a:latin typeface="Arial" pitchFamily="34" charset="0"/>
              <a:cs typeface="Arial" pitchFamily="34" charset="0"/>
            </a:endParaRPr>
          </a:p>
          <a:p>
            <a:pPr algn="just"/>
            <a:endParaRPr lang="en-US" b="1" dirty="0">
              <a:latin typeface="Arial" pitchFamily="34" charset="0"/>
              <a:cs typeface="Arial" pitchFamily="34" charset="0"/>
            </a:endParaRPr>
          </a:p>
        </p:txBody>
      </p:sp>
      <p:sp>
        <p:nvSpPr>
          <p:cNvPr id="4" name="Footer Placeholder 3"/>
          <p:cNvSpPr>
            <a:spLocks noGrp="1"/>
          </p:cNvSpPr>
          <p:nvPr>
            <p:ph type="ftr" sz="quarter" idx="11"/>
          </p:nvPr>
        </p:nvSpPr>
        <p:spPr>
          <a:xfrm>
            <a:off x="1488332" y="6135808"/>
            <a:ext cx="8720879" cy="365125"/>
          </a:xfrm>
        </p:spPr>
        <p:txBody>
          <a:bodyPr/>
          <a:lstStyle/>
          <a:p>
            <a:r>
              <a:rPr lang="en-IN" sz="1500" dirty="0">
                <a:solidFill>
                  <a:srgbClr val="C00000"/>
                </a:solidFill>
                <a:latin typeface="Arial" panose="020B0604020202020204" pitchFamily="34" charset="0"/>
                <a:cs typeface="Arial" panose="020B0604020202020204" pitchFamily="34" charset="0"/>
              </a:rPr>
              <a:t>Rohit Lorenzo, VIT-AP</a:t>
            </a:r>
          </a:p>
        </p:txBody>
      </p:sp>
      <p:sp>
        <p:nvSpPr>
          <p:cNvPr id="2050"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1" name="Rectangle 3"/>
          <p:cNvSpPr>
            <a:spLocks noChangeArrowheads="1"/>
          </p:cNvSpPr>
          <p:nvPr/>
        </p:nvSpPr>
        <p:spPr bwMode="auto">
          <a:xfrm>
            <a:off x="0" y="76835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053" name="Rectangle 5"/>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4" name="Rectangle 6"/>
          <p:cNvSpPr>
            <a:spLocks noChangeArrowheads="1"/>
          </p:cNvSpPr>
          <p:nvPr/>
        </p:nvSpPr>
        <p:spPr bwMode="auto">
          <a:xfrm>
            <a:off x="0" y="7747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056" name="Rectangle 8"/>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7" name="Rectangle 9"/>
          <p:cNvSpPr>
            <a:spLocks noChangeArrowheads="1"/>
          </p:cNvSpPr>
          <p:nvPr/>
        </p:nvSpPr>
        <p:spPr bwMode="auto">
          <a:xfrm>
            <a:off x="0" y="107315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3794"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3795" name="Rectangle 3"/>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43010"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3011" name="Rectangle 3"/>
          <p:cNvSpPr>
            <a:spLocks noChangeArrowheads="1"/>
          </p:cNvSpPr>
          <p:nvPr/>
        </p:nvSpPr>
        <p:spPr bwMode="auto">
          <a:xfrm>
            <a:off x="0" y="128905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71682"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71681" name="Picture 1"/>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a:off x="3638144" y="1926075"/>
            <a:ext cx="1848256" cy="322605"/>
          </a:xfrm>
          <a:prstGeom prst="rect">
            <a:avLst/>
          </a:prstGeom>
          <a:noFill/>
        </p:spPr>
      </p:pic>
      <p:sp>
        <p:nvSpPr>
          <p:cNvPr id="71683" name="Rectangle 3"/>
          <p:cNvSpPr>
            <a:spLocks noChangeArrowheads="1"/>
          </p:cNvSpPr>
          <p:nvPr/>
        </p:nvSpPr>
        <p:spPr bwMode="auto">
          <a:xfrm>
            <a:off x="0" y="7620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71685" name="Rectangle 5"/>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71684" name="Picture 4"/>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3560324" y="2577830"/>
            <a:ext cx="1994170" cy="362576"/>
          </a:xfrm>
          <a:prstGeom prst="rect">
            <a:avLst/>
          </a:prstGeom>
          <a:noFill/>
        </p:spPr>
      </p:pic>
      <p:sp>
        <p:nvSpPr>
          <p:cNvPr id="71686" name="Rectangle 6"/>
          <p:cNvSpPr>
            <a:spLocks noChangeArrowheads="1"/>
          </p:cNvSpPr>
          <p:nvPr/>
        </p:nvSpPr>
        <p:spPr bwMode="auto">
          <a:xfrm>
            <a:off x="0" y="7747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pic>
        <p:nvPicPr>
          <p:cNvPr id="71687" name="Picture 7"/>
          <p:cNvPicPr>
            <a:picLocks noChangeAspect="1" noChangeArrowheads="1"/>
          </p:cNvPicPr>
          <p:nvPr/>
        </p:nvPicPr>
        <p:blipFill>
          <a:blip r:embed="rId4" cstate="print"/>
          <a:srcRect/>
          <a:stretch>
            <a:fillRect/>
          </a:stretch>
        </p:blipFill>
        <p:spPr bwMode="auto">
          <a:xfrm>
            <a:off x="2198452" y="4524170"/>
            <a:ext cx="5744443" cy="582851"/>
          </a:xfrm>
          <a:prstGeom prst="rect">
            <a:avLst/>
          </a:prstGeom>
          <a:noFill/>
          <a:ln w="9525">
            <a:noFill/>
            <a:miter lim="800000"/>
            <a:headEnd/>
            <a:tailEnd/>
          </a:ln>
        </p:spPr>
      </p:pic>
      <p:pic>
        <p:nvPicPr>
          <p:cNvPr id="1026" name="Picture 2"/>
          <p:cNvPicPr>
            <a:picLocks noChangeAspect="1" noChangeArrowheads="1"/>
          </p:cNvPicPr>
          <p:nvPr/>
        </p:nvPicPr>
        <p:blipFill>
          <a:blip r:embed="rId5" cstate="print"/>
          <a:srcRect/>
          <a:stretch>
            <a:fillRect/>
          </a:stretch>
        </p:blipFill>
        <p:spPr bwMode="auto">
          <a:xfrm>
            <a:off x="1488873" y="5647851"/>
            <a:ext cx="7657378" cy="645944"/>
          </a:xfrm>
          <a:prstGeom prst="rect">
            <a:avLst/>
          </a:prstGeom>
          <a:noFill/>
          <a:ln w="9525">
            <a:noFill/>
            <a:miter lim="800000"/>
            <a:headEnd/>
            <a:tailEnd/>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53703" y="624110"/>
            <a:ext cx="9850910" cy="1280890"/>
          </a:xfrm>
        </p:spPr>
        <p:txBody>
          <a:bodyPr/>
          <a:lstStyle/>
          <a:p>
            <a:r>
              <a:rPr lang="en-IN" dirty="0">
                <a:latin typeface="Arial" pitchFamily="34" charset="0"/>
                <a:cs typeface="Arial" pitchFamily="34" charset="0"/>
              </a:rPr>
              <a:t>Continue….. </a:t>
            </a:r>
            <a:endParaRPr lang="en-US" dirty="0"/>
          </a:p>
        </p:txBody>
      </p:sp>
      <p:sp>
        <p:nvSpPr>
          <p:cNvPr id="3" name="Content Placeholder 2"/>
          <p:cNvSpPr>
            <a:spLocks noGrp="1"/>
          </p:cNvSpPr>
          <p:nvPr>
            <p:ph idx="1"/>
          </p:nvPr>
        </p:nvSpPr>
        <p:spPr>
          <a:xfrm>
            <a:off x="739303" y="1313234"/>
            <a:ext cx="11186808" cy="4776281"/>
          </a:xfrm>
        </p:spPr>
        <p:txBody>
          <a:bodyPr>
            <a:normAutofit/>
          </a:bodyPr>
          <a:lstStyle/>
          <a:p>
            <a:pPr algn="just"/>
            <a:r>
              <a:rPr lang="en-US" dirty="0">
                <a:latin typeface="Arial" pitchFamily="34" charset="0"/>
                <a:cs typeface="Arial" pitchFamily="34" charset="0"/>
              </a:rPr>
              <a:t> Differentiate equation (15) with respect to </a:t>
            </a:r>
            <a:r>
              <a:rPr lang="en-US" b="1" dirty="0">
                <a:latin typeface="Arial" pitchFamily="34" charset="0"/>
                <a:cs typeface="Arial" pitchFamily="34" charset="0"/>
              </a:rPr>
              <a:t>V</a:t>
            </a:r>
            <a:r>
              <a:rPr lang="en-US" b="1" baseline="-25000" dirty="0">
                <a:latin typeface="Arial" pitchFamily="34" charset="0"/>
                <a:cs typeface="Arial" pitchFamily="34" charset="0"/>
              </a:rPr>
              <a:t>in</a:t>
            </a:r>
            <a:r>
              <a:rPr lang="en-US" dirty="0">
                <a:latin typeface="Arial" pitchFamily="34" charset="0"/>
                <a:cs typeface="Arial" pitchFamily="34" charset="0"/>
              </a:rPr>
              <a:t> .</a:t>
            </a:r>
          </a:p>
          <a:p>
            <a:pPr algn="just"/>
            <a:endParaRPr lang="en-US" dirty="0">
              <a:latin typeface="Arial" pitchFamily="34" charset="0"/>
              <a:cs typeface="Arial" pitchFamily="34" charset="0"/>
            </a:endParaRPr>
          </a:p>
          <a:p>
            <a:pPr algn="just"/>
            <a:r>
              <a:rPr lang="en-US" dirty="0">
                <a:latin typeface="Arial" pitchFamily="34" charset="0"/>
                <a:cs typeface="Arial" pitchFamily="34" charset="0"/>
              </a:rPr>
              <a:t>                                                                                                                                                        …(16)    </a:t>
            </a:r>
          </a:p>
          <a:p>
            <a:pPr algn="just"/>
            <a:r>
              <a:rPr lang="en-US" dirty="0">
                <a:latin typeface="Arial" pitchFamily="34" charset="0"/>
                <a:cs typeface="Arial" pitchFamily="34" charset="0"/>
              </a:rPr>
              <a:t>Substitute </a:t>
            </a:r>
            <a:r>
              <a:rPr lang="en-US" b="1" dirty="0">
                <a:latin typeface="Arial" pitchFamily="34" charset="0"/>
                <a:cs typeface="Arial" pitchFamily="34" charset="0"/>
              </a:rPr>
              <a:t>V</a:t>
            </a:r>
            <a:r>
              <a:rPr lang="en-US" b="1" baseline="-25000" dirty="0">
                <a:latin typeface="Arial" pitchFamily="34" charset="0"/>
                <a:cs typeface="Arial" pitchFamily="34" charset="0"/>
              </a:rPr>
              <a:t>in </a:t>
            </a:r>
            <a:r>
              <a:rPr lang="en-US" b="1" dirty="0">
                <a:latin typeface="Arial" pitchFamily="34" charset="0"/>
                <a:cs typeface="Arial" pitchFamily="34" charset="0"/>
              </a:rPr>
              <a:t>= V</a:t>
            </a:r>
            <a:r>
              <a:rPr lang="en-US" b="1" baseline="-25000" dirty="0">
                <a:latin typeface="Arial" pitchFamily="34" charset="0"/>
                <a:cs typeface="Arial" pitchFamily="34" charset="0"/>
              </a:rPr>
              <a:t>IL </a:t>
            </a:r>
            <a:r>
              <a:rPr lang="en-US" b="1" dirty="0">
                <a:latin typeface="Arial" pitchFamily="34" charset="0"/>
                <a:cs typeface="Arial" pitchFamily="34" charset="0"/>
              </a:rPr>
              <a:t> </a:t>
            </a:r>
            <a:r>
              <a:rPr lang="en-US" dirty="0">
                <a:latin typeface="Arial" pitchFamily="34" charset="0"/>
                <a:cs typeface="Arial" pitchFamily="34" charset="0"/>
              </a:rPr>
              <a:t>and </a:t>
            </a:r>
            <a:r>
              <a:rPr lang="en-US" b="1" dirty="0" err="1">
                <a:latin typeface="Arial" pitchFamily="34" charset="0"/>
                <a:cs typeface="Arial" pitchFamily="34" charset="0"/>
              </a:rPr>
              <a:t>dV</a:t>
            </a:r>
            <a:r>
              <a:rPr lang="en-US" b="1" baseline="-25000" dirty="0" err="1">
                <a:latin typeface="Arial" pitchFamily="34" charset="0"/>
                <a:cs typeface="Arial" pitchFamily="34" charset="0"/>
              </a:rPr>
              <a:t>out</a:t>
            </a:r>
            <a:r>
              <a:rPr lang="en-US" b="1" dirty="0">
                <a:latin typeface="Arial" pitchFamily="34" charset="0"/>
                <a:cs typeface="Arial" pitchFamily="34" charset="0"/>
              </a:rPr>
              <a:t>/</a:t>
            </a:r>
            <a:r>
              <a:rPr lang="en-US" b="1" dirty="0" err="1">
                <a:latin typeface="Arial" pitchFamily="34" charset="0"/>
                <a:cs typeface="Arial" pitchFamily="34" charset="0"/>
              </a:rPr>
              <a:t>dV</a:t>
            </a:r>
            <a:r>
              <a:rPr lang="en-US" b="1" baseline="-25000" dirty="0" err="1">
                <a:latin typeface="Arial" pitchFamily="34" charset="0"/>
                <a:cs typeface="Arial" pitchFamily="34" charset="0"/>
              </a:rPr>
              <a:t>in</a:t>
            </a:r>
            <a:r>
              <a:rPr lang="en-US" b="1" dirty="0">
                <a:latin typeface="Arial" pitchFamily="34" charset="0"/>
                <a:cs typeface="Arial" pitchFamily="34" charset="0"/>
              </a:rPr>
              <a:t> = -1 </a:t>
            </a:r>
            <a:r>
              <a:rPr lang="en-US" dirty="0">
                <a:latin typeface="Arial" pitchFamily="34" charset="0"/>
                <a:cs typeface="Arial" pitchFamily="34" charset="0"/>
              </a:rPr>
              <a:t>in equation (16)</a:t>
            </a:r>
          </a:p>
          <a:p>
            <a:pPr algn="just"/>
            <a:r>
              <a:rPr lang="en-US" dirty="0">
                <a:latin typeface="Arial" pitchFamily="34" charset="0"/>
                <a:cs typeface="Arial" pitchFamily="34" charset="0"/>
              </a:rPr>
              <a:t>                                                                                                                 …..(17)</a:t>
            </a:r>
          </a:p>
          <a:p>
            <a:pPr algn="just"/>
            <a:endParaRPr lang="en-US" dirty="0">
              <a:latin typeface="Arial" pitchFamily="34" charset="0"/>
              <a:cs typeface="Arial" pitchFamily="34" charset="0"/>
            </a:endParaRPr>
          </a:p>
          <a:p>
            <a:pPr algn="just"/>
            <a:r>
              <a:rPr lang="en-US" dirty="0">
                <a:latin typeface="Arial" pitchFamily="34" charset="0"/>
                <a:cs typeface="Arial" pitchFamily="34" charset="0"/>
              </a:rPr>
              <a:t>Voltage </a:t>
            </a:r>
            <a:r>
              <a:rPr lang="en-US" b="1" dirty="0">
                <a:latin typeface="Arial" pitchFamily="34" charset="0"/>
                <a:cs typeface="Arial" pitchFamily="34" charset="0"/>
              </a:rPr>
              <a:t>V</a:t>
            </a:r>
            <a:r>
              <a:rPr lang="en-US" b="1" baseline="-25000" dirty="0">
                <a:latin typeface="Arial" pitchFamily="34" charset="0"/>
                <a:cs typeface="Arial" pitchFamily="34" charset="0"/>
              </a:rPr>
              <a:t>IL</a:t>
            </a:r>
            <a:r>
              <a:rPr lang="en-US" dirty="0">
                <a:latin typeface="Arial" pitchFamily="34" charset="0"/>
                <a:cs typeface="Arial" pitchFamily="34" charset="0"/>
              </a:rPr>
              <a:t> can now found as a function </a:t>
            </a:r>
            <a:r>
              <a:rPr lang="en-US" b="1" dirty="0" err="1">
                <a:latin typeface="Arial" pitchFamily="34" charset="0"/>
                <a:cs typeface="Arial" pitchFamily="34" charset="0"/>
              </a:rPr>
              <a:t>V</a:t>
            </a:r>
            <a:r>
              <a:rPr lang="en-US" b="1" baseline="-25000" dirty="0" err="1">
                <a:latin typeface="Arial" pitchFamily="34" charset="0"/>
                <a:cs typeface="Arial" pitchFamily="34" charset="0"/>
              </a:rPr>
              <a:t>out</a:t>
            </a:r>
            <a:endParaRPr lang="en-US" b="1" baseline="-25000" dirty="0">
              <a:latin typeface="Arial" pitchFamily="34" charset="0"/>
              <a:cs typeface="Arial" pitchFamily="34" charset="0"/>
            </a:endParaRPr>
          </a:p>
          <a:p>
            <a:pPr algn="just"/>
            <a:endParaRPr lang="en-US" b="1" baseline="-25000" dirty="0">
              <a:latin typeface="Arial" pitchFamily="34" charset="0"/>
              <a:cs typeface="Arial" pitchFamily="34" charset="0"/>
            </a:endParaRPr>
          </a:p>
          <a:p>
            <a:r>
              <a:rPr lang="en-US" dirty="0">
                <a:latin typeface="Arial" pitchFamily="34" charset="0"/>
                <a:cs typeface="Arial" pitchFamily="34" charset="0"/>
              </a:rPr>
              <a:t>                                                                                                     …..(18)</a:t>
            </a:r>
          </a:p>
          <a:p>
            <a:endParaRPr lang="en-US" b="1" baseline="-25000" dirty="0">
              <a:latin typeface="Arial" pitchFamily="34" charset="0"/>
              <a:cs typeface="Arial" pitchFamily="34" charset="0"/>
            </a:endParaRPr>
          </a:p>
          <a:p>
            <a:r>
              <a:rPr lang="en-US" b="1" baseline="-25000" dirty="0">
                <a:latin typeface="Arial" pitchFamily="34" charset="0"/>
                <a:cs typeface="Arial" pitchFamily="34" charset="0"/>
              </a:rPr>
              <a:t>                 </a:t>
            </a:r>
            <a:r>
              <a:rPr lang="en-US" sz="2400" b="1" baseline="-25000" dirty="0">
                <a:latin typeface="Arial" pitchFamily="34" charset="0"/>
                <a:cs typeface="Arial" pitchFamily="34" charset="0"/>
              </a:rPr>
              <a:t>Where </a:t>
            </a:r>
            <a:endParaRPr lang="en-IN" sz="2400" b="1" baseline="-25000" dirty="0">
              <a:latin typeface="Arial" pitchFamily="34" charset="0"/>
              <a:cs typeface="Arial" pitchFamily="34" charset="0"/>
            </a:endParaRPr>
          </a:p>
          <a:p>
            <a:r>
              <a:rPr lang="en-US" dirty="0">
                <a:latin typeface="Arial" pitchFamily="34" charset="0"/>
                <a:cs typeface="Arial" pitchFamily="34" charset="0"/>
              </a:rPr>
              <a:t>  </a:t>
            </a:r>
          </a:p>
        </p:txBody>
      </p:sp>
      <p:sp>
        <p:nvSpPr>
          <p:cNvPr id="4" name="Footer Placeholder 3"/>
          <p:cNvSpPr>
            <a:spLocks noGrp="1"/>
          </p:cNvSpPr>
          <p:nvPr>
            <p:ph type="ftr" sz="quarter" idx="11"/>
          </p:nvPr>
        </p:nvSpPr>
        <p:spPr>
          <a:xfrm>
            <a:off x="1721796" y="6135808"/>
            <a:ext cx="8487415" cy="365125"/>
          </a:xfrm>
        </p:spPr>
        <p:txBody>
          <a:bodyPr/>
          <a:lstStyle/>
          <a:p>
            <a:r>
              <a:rPr lang="en-IN" sz="1500" dirty="0">
                <a:solidFill>
                  <a:srgbClr val="C00000"/>
                </a:solidFill>
                <a:latin typeface="Arial" panose="020B0604020202020204" pitchFamily="34" charset="0"/>
                <a:cs typeface="Arial" panose="020B0604020202020204" pitchFamily="34" charset="0"/>
              </a:rPr>
              <a:t>Rohit Lorenzo, VIT-AP</a:t>
            </a:r>
          </a:p>
        </p:txBody>
      </p:sp>
      <p:sp>
        <p:nvSpPr>
          <p:cNvPr id="3074"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75" name="Rectangle 3"/>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pic>
        <p:nvPicPr>
          <p:cNvPr id="2050" name="Picture 2"/>
          <p:cNvPicPr>
            <a:picLocks noChangeAspect="1" noChangeArrowheads="1"/>
          </p:cNvPicPr>
          <p:nvPr/>
        </p:nvPicPr>
        <p:blipFill>
          <a:blip r:embed="rId2" cstate="print"/>
          <a:srcRect/>
          <a:stretch>
            <a:fillRect/>
          </a:stretch>
        </p:blipFill>
        <p:spPr bwMode="auto">
          <a:xfrm>
            <a:off x="958513" y="1703423"/>
            <a:ext cx="9430627" cy="777130"/>
          </a:xfrm>
          <a:prstGeom prst="rect">
            <a:avLst/>
          </a:prstGeom>
          <a:noFill/>
          <a:ln w="9525">
            <a:noFill/>
            <a:miter lim="800000"/>
            <a:headEnd/>
            <a:tailEnd/>
          </a:ln>
        </p:spPr>
      </p:pic>
      <p:pic>
        <p:nvPicPr>
          <p:cNvPr id="2051" name="Picture 3"/>
          <p:cNvPicPr>
            <a:picLocks noChangeAspect="1" noChangeArrowheads="1"/>
          </p:cNvPicPr>
          <p:nvPr/>
        </p:nvPicPr>
        <p:blipFill>
          <a:blip r:embed="rId3" cstate="print"/>
          <a:srcRect/>
          <a:stretch>
            <a:fillRect/>
          </a:stretch>
        </p:blipFill>
        <p:spPr bwMode="auto">
          <a:xfrm>
            <a:off x="1621582" y="2993992"/>
            <a:ext cx="5965993" cy="517693"/>
          </a:xfrm>
          <a:prstGeom prst="rect">
            <a:avLst/>
          </a:prstGeom>
          <a:noFill/>
          <a:ln w="9525">
            <a:noFill/>
            <a:miter lim="800000"/>
            <a:headEnd/>
            <a:tailEnd/>
          </a:ln>
        </p:spPr>
      </p:pic>
      <p:pic>
        <p:nvPicPr>
          <p:cNvPr id="2052" name="Picture 4"/>
          <p:cNvPicPr>
            <a:picLocks noChangeAspect="1" noChangeArrowheads="1"/>
          </p:cNvPicPr>
          <p:nvPr/>
        </p:nvPicPr>
        <p:blipFill>
          <a:blip r:embed="rId4" cstate="print"/>
          <a:srcRect/>
          <a:stretch>
            <a:fillRect/>
          </a:stretch>
        </p:blipFill>
        <p:spPr bwMode="auto">
          <a:xfrm>
            <a:off x="2470825" y="4136106"/>
            <a:ext cx="3540869" cy="727724"/>
          </a:xfrm>
          <a:prstGeom prst="rect">
            <a:avLst/>
          </a:prstGeom>
          <a:noFill/>
          <a:ln w="9525">
            <a:noFill/>
            <a:miter lim="800000"/>
            <a:headEnd/>
            <a:tailEnd/>
          </a:ln>
        </p:spPr>
      </p:pic>
      <p:pic>
        <p:nvPicPr>
          <p:cNvPr id="2053" name="Picture 5"/>
          <p:cNvPicPr>
            <a:picLocks noChangeAspect="1" noChangeArrowheads="1"/>
          </p:cNvPicPr>
          <p:nvPr/>
        </p:nvPicPr>
        <p:blipFill>
          <a:blip r:embed="rId5" cstate="print"/>
          <a:srcRect/>
          <a:stretch>
            <a:fillRect/>
          </a:stretch>
        </p:blipFill>
        <p:spPr bwMode="auto">
          <a:xfrm>
            <a:off x="3679893" y="5103576"/>
            <a:ext cx="1094737" cy="771930"/>
          </a:xfrm>
          <a:prstGeom prst="rect">
            <a:avLst/>
          </a:prstGeom>
          <a:noFill/>
          <a:ln w="9525">
            <a:noFill/>
            <a:miter lim="800000"/>
            <a:headEnd/>
            <a:tailEnd/>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53703" y="624110"/>
            <a:ext cx="9850910" cy="1280890"/>
          </a:xfrm>
        </p:spPr>
        <p:txBody>
          <a:bodyPr/>
          <a:lstStyle/>
          <a:p>
            <a:r>
              <a:rPr lang="en-IN" dirty="0">
                <a:latin typeface="Arial" pitchFamily="34" charset="0"/>
                <a:cs typeface="Arial" pitchFamily="34" charset="0"/>
              </a:rPr>
              <a:t>Calculation of V</a:t>
            </a:r>
            <a:r>
              <a:rPr lang="en-IN" baseline="-25000" dirty="0">
                <a:latin typeface="Arial" pitchFamily="34" charset="0"/>
                <a:cs typeface="Arial" pitchFamily="34" charset="0"/>
              </a:rPr>
              <a:t>IH</a:t>
            </a:r>
            <a:r>
              <a:rPr lang="en-IN" dirty="0">
                <a:latin typeface="Arial" pitchFamily="34" charset="0"/>
                <a:cs typeface="Arial" pitchFamily="34" charset="0"/>
              </a:rPr>
              <a:t> </a:t>
            </a:r>
            <a:endParaRPr lang="en-US" dirty="0"/>
          </a:p>
        </p:txBody>
      </p:sp>
      <p:sp>
        <p:nvSpPr>
          <p:cNvPr id="3" name="Content Placeholder 2"/>
          <p:cNvSpPr>
            <a:spLocks noGrp="1"/>
          </p:cNvSpPr>
          <p:nvPr>
            <p:ph idx="1"/>
          </p:nvPr>
        </p:nvSpPr>
        <p:spPr>
          <a:xfrm>
            <a:off x="739303" y="1313234"/>
            <a:ext cx="11186808" cy="4776281"/>
          </a:xfrm>
        </p:spPr>
        <p:txBody>
          <a:bodyPr>
            <a:normAutofit lnSpcReduction="10000"/>
          </a:bodyPr>
          <a:lstStyle/>
          <a:p>
            <a:pPr algn="just"/>
            <a:r>
              <a:rPr lang="en-US" dirty="0">
                <a:latin typeface="Arial" pitchFamily="34" charset="0"/>
                <a:cs typeface="Arial" pitchFamily="34" charset="0"/>
              </a:rPr>
              <a:t>When the input voltage is equal to V</a:t>
            </a:r>
            <a:r>
              <a:rPr lang="en-US" baseline="-25000" dirty="0">
                <a:latin typeface="Arial" pitchFamily="34" charset="0"/>
                <a:cs typeface="Arial" pitchFamily="34" charset="0"/>
              </a:rPr>
              <a:t>IH</a:t>
            </a:r>
            <a:r>
              <a:rPr lang="en-US" i="1" dirty="0">
                <a:latin typeface="Arial" pitchFamily="34" charset="0"/>
                <a:cs typeface="Arial" pitchFamily="34" charset="0"/>
              </a:rPr>
              <a:t>, </a:t>
            </a:r>
            <a:r>
              <a:rPr lang="en-US" dirty="0">
                <a:latin typeface="Arial" pitchFamily="34" charset="0"/>
                <a:cs typeface="Arial" pitchFamily="34" charset="0"/>
              </a:rPr>
              <a:t>the NMOS transistor operates in the linear region, and the PMOS transistor operates in saturation. Apply KCL to the output node </a:t>
            </a:r>
            <a:r>
              <a:rPr lang="en-IN" b="1" dirty="0">
                <a:latin typeface="Arial" pitchFamily="34" charset="0"/>
                <a:cs typeface="Arial" pitchFamily="34" charset="0"/>
              </a:rPr>
              <a:t> </a:t>
            </a:r>
            <a:r>
              <a:rPr lang="en-IN" b="1" dirty="0" err="1">
                <a:latin typeface="Arial" pitchFamily="34" charset="0"/>
                <a:cs typeface="Arial" pitchFamily="34" charset="0"/>
              </a:rPr>
              <a:t>I</a:t>
            </a:r>
            <a:r>
              <a:rPr lang="en-IN" b="1" baseline="-25000" dirty="0" err="1">
                <a:latin typeface="Arial" pitchFamily="34" charset="0"/>
                <a:cs typeface="Arial" pitchFamily="34" charset="0"/>
              </a:rPr>
              <a:t>D,n</a:t>
            </a:r>
            <a:r>
              <a:rPr lang="en-IN" b="1" dirty="0">
                <a:latin typeface="Arial" pitchFamily="34" charset="0"/>
                <a:cs typeface="Arial" pitchFamily="34" charset="0"/>
              </a:rPr>
              <a:t> = </a:t>
            </a:r>
            <a:r>
              <a:rPr lang="en-IN" b="1" dirty="0" err="1">
                <a:latin typeface="Arial" pitchFamily="34" charset="0"/>
                <a:cs typeface="Arial" pitchFamily="34" charset="0"/>
              </a:rPr>
              <a:t>I</a:t>
            </a:r>
            <a:r>
              <a:rPr lang="en-IN" b="1" baseline="-25000" dirty="0" err="1">
                <a:latin typeface="Arial" pitchFamily="34" charset="0"/>
                <a:cs typeface="Arial" pitchFamily="34" charset="0"/>
              </a:rPr>
              <a:t>D,p</a:t>
            </a:r>
            <a:r>
              <a:rPr lang="en-IN" b="1" dirty="0">
                <a:latin typeface="Arial" pitchFamily="34" charset="0"/>
                <a:cs typeface="Arial" pitchFamily="34" charset="0"/>
              </a:rPr>
              <a:t> . </a:t>
            </a:r>
          </a:p>
          <a:p>
            <a:pPr algn="just"/>
            <a:r>
              <a:rPr lang="en-IN" b="1" dirty="0">
                <a:latin typeface="Arial" pitchFamily="34" charset="0"/>
                <a:cs typeface="Arial" pitchFamily="34" charset="0"/>
              </a:rPr>
              <a:t>                                                                                                                            </a:t>
            </a:r>
            <a:r>
              <a:rPr lang="en-IN" dirty="0">
                <a:latin typeface="Arial" pitchFamily="34" charset="0"/>
                <a:cs typeface="Arial" pitchFamily="34" charset="0"/>
              </a:rPr>
              <a:t>……(19)</a:t>
            </a:r>
          </a:p>
          <a:p>
            <a:pPr algn="just"/>
            <a:endParaRPr lang="en-US" dirty="0">
              <a:latin typeface="Arial" pitchFamily="34" charset="0"/>
              <a:cs typeface="Arial" pitchFamily="34" charset="0"/>
            </a:endParaRPr>
          </a:p>
          <a:p>
            <a:pPr algn="just"/>
            <a:r>
              <a:rPr lang="en-US" dirty="0">
                <a:latin typeface="Arial" pitchFamily="34" charset="0"/>
                <a:cs typeface="Arial" pitchFamily="34" charset="0"/>
              </a:rPr>
              <a:t>Using equation (7) and (8) , this expression can be rewritten as</a:t>
            </a:r>
          </a:p>
          <a:p>
            <a:pPr algn="just"/>
            <a:r>
              <a:rPr lang="en-IN" dirty="0">
                <a:latin typeface="Arial" pitchFamily="34" charset="0"/>
                <a:cs typeface="Arial" pitchFamily="34" charset="0"/>
              </a:rPr>
              <a:t>                                                                                                                                  …(20)</a:t>
            </a:r>
          </a:p>
          <a:p>
            <a:pPr algn="just"/>
            <a:endParaRPr lang="en-IN" dirty="0">
              <a:latin typeface="Arial" pitchFamily="34" charset="0"/>
              <a:cs typeface="Arial" pitchFamily="34" charset="0"/>
            </a:endParaRPr>
          </a:p>
          <a:p>
            <a:pPr algn="just"/>
            <a:r>
              <a:rPr lang="en-US" dirty="0">
                <a:latin typeface="Arial" pitchFamily="34" charset="0"/>
                <a:cs typeface="Arial" pitchFamily="34" charset="0"/>
              </a:rPr>
              <a:t>Now, differentiate both sides of (20) with respect to </a:t>
            </a:r>
            <a:r>
              <a:rPr lang="en-US" b="1" dirty="0">
                <a:latin typeface="Arial" pitchFamily="34" charset="0"/>
                <a:cs typeface="Arial" pitchFamily="34" charset="0"/>
              </a:rPr>
              <a:t>V</a:t>
            </a:r>
            <a:r>
              <a:rPr lang="en-US" b="1" baseline="-25000" dirty="0">
                <a:latin typeface="Arial" pitchFamily="34" charset="0"/>
                <a:cs typeface="Arial" pitchFamily="34" charset="0"/>
              </a:rPr>
              <a:t>in </a:t>
            </a:r>
            <a:endParaRPr lang="en-IN" baseline="-25000" dirty="0">
              <a:latin typeface="Arial" pitchFamily="34" charset="0"/>
              <a:cs typeface="Arial" pitchFamily="34" charset="0"/>
            </a:endParaRPr>
          </a:p>
          <a:p>
            <a:pPr algn="just"/>
            <a:endParaRPr lang="en-US" sz="1900" dirty="0"/>
          </a:p>
          <a:p>
            <a:pPr>
              <a:buNone/>
            </a:pPr>
            <a:r>
              <a:rPr lang="en-IN" dirty="0">
                <a:latin typeface="Arial" pitchFamily="34" charset="0"/>
                <a:cs typeface="Arial" pitchFamily="34" charset="0"/>
              </a:rPr>
              <a:t>                                                                                                                                              ….(21)                                                                                                     </a:t>
            </a:r>
          </a:p>
          <a:p>
            <a:pPr algn="just"/>
            <a:r>
              <a:rPr lang="en-US" dirty="0">
                <a:latin typeface="Arial" pitchFamily="34" charset="0"/>
                <a:cs typeface="Arial" pitchFamily="34" charset="0"/>
              </a:rPr>
              <a:t>Substitute </a:t>
            </a:r>
            <a:r>
              <a:rPr lang="en-US" b="1" dirty="0">
                <a:latin typeface="Arial" pitchFamily="34" charset="0"/>
                <a:cs typeface="Arial" pitchFamily="34" charset="0"/>
              </a:rPr>
              <a:t>V</a:t>
            </a:r>
            <a:r>
              <a:rPr lang="en-US" b="1" baseline="-25000" dirty="0">
                <a:latin typeface="Arial" pitchFamily="34" charset="0"/>
                <a:cs typeface="Arial" pitchFamily="34" charset="0"/>
              </a:rPr>
              <a:t>in </a:t>
            </a:r>
            <a:r>
              <a:rPr lang="en-US" b="1" dirty="0">
                <a:latin typeface="Arial" pitchFamily="34" charset="0"/>
                <a:cs typeface="Arial" pitchFamily="34" charset="0"/>
              </a:rPr>
              <a:t>= V</a:t>
            </a:r>
            <a:r>
              <a:rPr lang="en-US" b="1" baseline="-25000" dirty="0">
                <a:latin typeface="Arial" pitchFamily="34" charset="0"/>
                <a:cs typeface="Arial" pitchFamily="34" charset="0"/>
              </a:rPr>
              <a:t>IH </a:t>
            </a:r>
            <a:r>
              <a:rPr lang="en-US" b="1" dirty="0">
                <a:latin typeface="Arial" pitchFamily="34" charset="0"/>
                <a:cs typeface="Arial" pitchFamily="34" charset="0"/>
              </a:rPr>
              <a:t> </a:t>
            </a:r>
            <a:r>
              <a:rPr lang="en-US" dirty="0">
                <a:latin typeface="Arial" pitchFamily="34" charset="0"/>
                <a:cs typeface="Arial" pitchFamily="34" charset="0"/>
              </a:rPr>
              <a:t>and </a:t>
            </a:r>
            <a:r>
              <a:rPr lang="en-US" b="1" dirty="0" err="1">
                <a:latin typeface="Arial" pitchFamily="34" charset="0"/>
                <a:cs typeface="Arial" pitchFamily="34" charset="0"/>
              </a:rPr>
              <a:t>dV</a:t>
            </a:r>
            <a:r>
              <a:rPr lang="en-US" b="1" baseline="-25000" dirty="0" err="1">
                <a:latin typeface="Arial" pitchFamily="34" charset="0"/>
                <a:cs typeface="Arial" pitchFamily="34" charset="0"/>
              </a:rPr>
              <a:t>out</a:t>
            </a:r>
            <a:r>
              <a:rPr lang="en-US" b="1" dirty="0">
                <a:latin typeface="Arial" pitchFamily="34" charset="0"/>
                <a:cs typeface="Arial" pitchFamily="34" charset="0"/>
              </a:rPr>
              <a:t>/</a:t>
            </a:r>
            <a:r>
              <a:rPr lang="en-US" b="1" dirty="0" err="1">
                <a:latin typeface="Arial" pitchFamily="34" charset="0"/>
                <a:cs typeface="Arial" pitchFamily="34" charset="0"/>
              </a:rPr>
              <a:t>dV</a:t>
            </a:r>
            <a:r>
              <a:rPr lang="en-US" b="1" baseline="-25000" dirty="0" err="1">
                <a:latin typeface="Arial" pitchFamily="34" charset="0"/>
                <a:cs typeface="Arial" pitchFamily="34" charset="0"/>
              </a:rPr>
              <a:t>in</a:t>
            </a:r>
            <a:r>
              <a:rPr lang="en-US" b="1" dirty="0">
                <a:latin typeface="Arial" pitchFamily="34" charset="0"/>
                <a:cs typeface="Arial" pitchFamily="34" charset="0"/>
              </a:rPr>
              <a:t> = -1 </a:t>
            </a:r>
            <a:r>
              <a:rPr lang="en-US" dirty="0">
                <a:latin typeface="Arial" pitchFamily="34" charset="0"/>
                <a:cs typeface="Arial" pitchFamily="34" charset="0"/>
              </a:rPr>
              <a:t>in equation (20)</a:t>
            </a:r>
          </a:p>
          <a:p>
            <a:pPr algn="just"/>
            <a:endParaRPr lang="en-IN" dirty="0">
              <a:latin typeface="Arial" pitchFamily="34" charset="0"/>
              <a:cs typeface="Arial" pitchFamily="34" charset="0"/>
            </a:endParaRPr>
          </a:p>
          <a:p>
            <a:pPr algn="just">
              <a:buNone/>
            </a:pPr>
            <a:r>
              <a:rPr lang="en-IN" dirty="0">
                <a:latin typeface="Arial" pitchFamily="34" charset="0"/>
                <a:cs typeface="Arial" pitchFamily="34" charset="0"/>
              </a:rPr>
              <a:t>                                                                                                                                     ….(22)                                                           </a:t>
            </a:r>
            <a:endParaRPr lang="en-US" dirty="0">
              <a:latin typeface="Arial" pitchFamily="34" charset="0"/>
              <a:cs typeface="Arial" pitchFamily="34" charset="0"/>
            </a:endParaRPr>
          </a:p>
          <a:p>
            <a:endParaRPr lang="en-US" dirty="0">
              <a:latin typeface="Arial" pitchFamily="34" charset="0"/>
              <a:cs typeface="Arial" pitchFamily="34" charset="0"/>
            </a:endParaRPr>
          </a:p>
          <a:p>
            <a:endParaRPr lang="en-IN" b="1" baseline="-25000" dirty="0">
              <a:latin typeface="Arial" pitchFamily="34" charset="0"/>
              <a:cs typeface="Arial" pitchFamily="34" charset="0"/>
            </a:endParaRPr>
          </a:p>
          <a:p>
            <a:endParaRPr lang="en-US" dirty="0">
              <a:latin typeface="Arial" pitchFamily="34" charset="0"/>
              <a:cs typeface="Arial" pitchFamily="34" charset="0"/>
            </a:endParaRPr>
          </a:p>
        </p:txBody>
      </p:sp>
      <p:sp>
        <p:nvSpPr>
          <p:cNvPr id="4" name="Footer Placeholder 3"/>
          <p:cNvSpPr>
            <a:spLocks noGrp="1"/>
          </p:cNvSpPr>
          <p:nvPr>
            <p:ph type="ftr" sz="quarter" idx="11"/>
          </p:nvPr>
        </p:nvSpPr>
        <p:spPr>
          <a:xfrm>
            <a:off x="1721796" y="6135808"/>
            <a:ext cx="8487415" cy="365125"/>
          </a:xfrm>
        </p:spPr>
        <p:txBody>
          <a:bodyPr/>
          <a:lstStyle/>
          <a:p>
            <a:r>
              <a:rPr lang="en-IN" sz="1500" dirty="0">
                <a:solidFill>
                  <a:srgbClr val="C00000"/>
                </a:solidFill>
                <a:latin typeface="Arial" panose="020B0604020202020204" pitchFamily="34" charset="0"/>
                <a:cs typeface="Arial" panose="020B0604020202020204" pitchFamily="34" charset="0"/>
              </a:rPr>
              <a:t>Rohit Lorenzo, VIT-AP</a:t>
            </a:r>
          </a:p>
        </p:txBody>
      </p:sp>
      <p:sp>
        <p:nvSpPr>
          <p:cNvPr id="3074"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75" name="Rectangle 3"/>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47106"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7107" name="Rectangle 3"/>
          <p:cNvSpPr>
            <a:spLocks noChangeArrowheads="1"/>
          </p:cNvSpPr>
          <p:nvPr/>
        </p:nvSpPr>
        <p:spPr bwMode="auto">
          <a:xfrm>
            <a:off x="0" y="8128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47109" name="Rectangle 5"/>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7110" name="Rectangle 6"/>
          <p:cNvSpPr>
            <a:spLocks noChangeArrowheads="1"/>
          </p:cNvSpPr>
          <p:nvPr/>
        </p:nvSpPr>
        <p:spPr bwMode="auto">
          <a:xfrm>
            <a:off x="0" y="8128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5"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 name="Rectangle 3"/>
          <p:cNvSpPr>
            <a:spLocks noChangeArrowheads="1"/>
          </p:cNvSpPr>
          <p:nvPr/>
        </p:nvSpPr>
        <p:spPr bwMode="auto">
          <a:xfrm>
            <a:off x="0" y="99695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pic>
        <p:nvPicPr>
          <p:cNvPr id="7" name="Picture 2"/>
          <p:cNvPicPr>
            <a:picLocks noChangeAspect="1" noChangeArrowheads="1"/>
          </p:cNvPicPr>
          <p:nvPr/>
        </p:nvPicPr>
        <p:blipFill>
          <a:blip r:embed="rId2" cstate="print"/>
          <a:srcRect/>
          <a:stretch>
            <a:fillRect/>
          </a:stretch>
        </p:blipFill>
        <p:spPr bwMode="auto">
          <a:xfrm>
            <a:off x="2320624" y="1906303"/>
            <a:ext cx="5925866" cy="620644"/>
          </a:xfrm>
          <a:prstGeom prst="rect">
            <a:avLst/>
          </a:prstGeom>
          <a:noFill/>
          <a:ln w="9525">
            <a:noFill/>
            <a:miter lim="800000"/>
            <a:headEnd/>
            <a:tailEnd/>
          </a:ln>
        </p:spPr>
      </p:pic>
      <p:pic>
        <p:nvPicPr>
          <p:cNvPr id="3076" name="Picture 4"/>
          <p:cNvPicPr>
            <a:picLocks noChangeAspect="1" noChangeArrowheads="1"/>
          </p:cNvPicPr>
          <p:nvPr/>
        </p:nvPicPr>
        <p:blipFill>
          <a:blip r:embed="rId3" cstate="print"/>
          <a:srcRect/>
          <a:stretch>
            <a:fillRect/>
          </a:stretch>
        </p:blipFill>
        <p:spPr bwMode="auto">
          <a:xfrm>
            <a:off x="2376306" y="3006389"/>
            <a:ext cx="5559862" cy="585842"/>
          </a:xfrm>
          <a:prstGeom prst="rect">
            <a:avLst/>
          </a:prstGeom>
          <a:noFill/>
          <a:ln w="9525">
            <a:noFill/>
            <a:miter lim="800000"/>
            <a:headEnd/>
            <a:tailEnd/>
          </a:ln>
        </p:spPr>
      </p:pic>
      <p:pic>
        <p:nvPicPr>
          <p:cNvPr id="3077" name="Picture 5"/>
          <p:cNvPicPr>
            <a:picLocks noChangeAspect="1" noChangeArrowheads="1"/>
          </p:cNvPicPr>
          <p:nvPr/>
        </p:nvPicPr>
        <p:blipFill>
          <a:blip r:embed="rId4" cstate="print"/>
          <a:srcRect/>
          <a:stretch>
            <a:fillRect/>
          </a:stretch>
        </p:blipFill>
        <p:spPr bwMode="auto">
          <a:xfrm>
            <a:off x="2141690" y="4127137"/>
            <a:ext cx="6945548" cy="747169"/>
          </a:xfrm>
          <a:prstGeom prst="rect">
            <a:avLst/>
          </a:prstGeom>
          <a:noFill/>
          <a:ln w="9525">
            <a:noFill/>
            <a:miter lim="800000"/>
            <a:headEnd/>
            <a:tailEnd/>
          </a:ln>
        </p:spPr>
      </p:pic>
      <p:pic>
        <p:nvPicPr>
          <p:cNvPr id="3078" name="Picture 6"/>
          <p:cNvPicPr>
            <a:picLocks noChangeAspect="1" noChangeArrowheads="1"/>
          </p:cNvPicPr>
          <p:nvPr/>
        </p:nvPicPr>
        <p:blipFill>
          <a:blip r:embed="rId5" cstate="print"/>
          <a:srcRect/>
          <a:stretch>
            <a:fillRect/>
          </a:stretch>
        </p:blipFill>
        <p:spPr bwMode="auto">
          <a:xfrm>
            <a:off x="2431700" y="5368368"/>
            <a:ext cx="5469548" cy="516356"/>
          </a:xfrm>
          <a:prstGeom prst="rect">
            <a:avLst/>
          </a:prstGeom>
          <a:noFill/>
          <a:ln w="9525">
            <a:noFill/>
            <a:miter lim="800000"/>
            <a:headEnd/>
            <a:tailEnd/>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53703" y="624110"/>
            <a:ext cx="9850910" cy="1280890"/>
          </a:xfrm>
        </p:spPr>
        <p:txBody>
          <a:bodyPr/>
          <a:lstStyle/>
          <a:p>
            <a:r>
              <a:rPr lang="en-IN" dirty="0">
                <a:latin typeface="Arial" pitchFamily="34" charset="0"/>
                <a:cs typeface="Arial" pitchFamily="34" charset="0"/>
              </a:rPr>
              <a:t>Continued…. </a:t>
            </a:r>
            <a:r>
              <a:rPr lang="en-US" dirty="0"/>
              <a:t> </a:t>
            </a:r>
            <a:br>
              <a:rPr lang="en-US" dirty="0"/>
            </a:br>
            <a:endParaRPr lang="en-US" dirty="0"/>
          </a:p>
        </p:txBody>
      </p:sp>
      <p:sp>
        <p:nvSpPr>
          <p:cNvPr id="3" name="Content Placeholder 2"/>
          <p:cNvSpPr>
            <a:spLocks noGrp="1"/>
          </p:cNvSpPr>
          <p:nvPr>
            <p:ph idx="1"/>
          </p:nvPr>
        </p:nvSpPr>
        <p:spPr>
          <a:xfrm>
            <a:off x="739303" y="1313234"/>
            <a:ext cx="11186808" cy="4776281"/>
          </a:xfrm>
        </p:spPr>
        <p:txBody>
          <a:bodyPr>
            <a:normAutofit/>
          </a:bodyPr>
          <a:lstStyle/>
          <a:p>
            <a:r>
              <a:rPr lang="en-US" dirty="0">
                <a:latin typeface="Arial" pitchFamily="34" charset="0"/>
                <a:cs typeface="Arial" pitchFamily="34" charset="0"/>
              </a:rPr>
              <a:t>The critical voltage </a:t>
            </a:r>
            <a:r>
              <a:rPr lang="en-US" b="1" dirty="0">
                <a:latin typeface="Arial" pitchFamily="34" charset="0"/>
                <a:cs typeface="Arial" pitchFamily="34" charset="0"/>
              </a:rPr>
              <a:t>V</a:t>
            </a:r>
            <a:r>
              <a:rPr lang="en-US" b="1" baseline="-25000" dirty="0">
                <a:latin typeface="Arial" pitchFamily="34" charset="0"/>
                <a:cs typeface="Arial" pitchFamily="34" charset="0"/>
              </a:rPr>
              <a:t>IH</a:t>
            </a:r>
            <a:r>
              <a:rPr lang="en-US" b="1" dirty="0">
                <a:latin typeface="Arial" pitchFamily="34" charset="0"/>
                <a:cs typeface="Arial" pitchFamily="34" charset="0"/>
              </a:rPr>
              <a:t> </a:t>
            </a:r>
            <a:r>
              <a:rPr lang="en-US" dirty="0">
                <a:latin typeface="Arial" pitchFamily="34" charset="0"/>
                <a:cs typeface="Arial" pitchFamily="34" charset="0"/>
              </a:rPr>
              <a:t>can now be found as a function of </a:t>
            </a:r>
            <a:r>
              <a:rPr lang="en-US" b="1" dirty="0" err="1">
                <a:latin typeface="Arial" pitchFamily="34" charset="0"/>
                <a:cs typeface="Arial" pitchFamily="34" charset="0"/>
              </a:rPr>
              <a:t>V</a:t>
            </a:r>
            <a:r>
              <a:rPr lang="en-US" b="1" baseline="-25000" dirty="0" err="1">
                <a:latin typeface="Arial" pitchFamily="34" charset="0"/>
                <a:cs typeface="Arial" pitchFamily="34" charset="0"/>
              </a:rPr>
              <a:t>out</a:t>
            </a:r>
            <a:r>
              <a:rPr lang="en-US" b="1" dirty="0">
                <a:latin typeface="Arial" pitchFamily="34" charset="0"/>
                <a:cs typeface="Arial" pitchFamily="34" charset="0"/>
              </a:rPr>
              <a:t>, </a:t>
            </a:r>
            <a:r>
              <a:rPr lang="en-US" dirty="0">
                <a:latin typeface="Arial" pitchFamily="34" charset="0"/>
                <a:cs typeface="Arial" pitchFamily="34" charset="0"/>
              </a:rPr>
              <a:t>as follows –</a:t>
            </a:r>
          </a:p>
          <a:p>
            <a:r>
              <a:rPr lang="en-US" dirty="0">
                <a:latin typeface="Arial" pitchFamily="34" charset="0"/>
                <a:cs typeface="Arial" pitchFamily="34" charset="0"/>
              </a:rPr>
              <a:t>                                                                                                             ……(23) </a:t>
            </a:r>
          </a:p>
          <a:p>
            <a:endParaRPr lang="en-IN" dirty="0">
              <a:latin typeface="Arial" pitchFamily="34" charset="0"/>
              <a:cs typeface="Arial" pitchFamily="34" charset="0"/>
            </a:endParaRPr>
          </a:p>
          <a:p>
            <a:r>
              <a:rPr lang="en-IN" b="1" u="sng" dirty="0">
                <a:latin typeface="Arial" pitchFamily="34" charset="0"/>
                <a:cs typeface="Arial" pitchFamily="34" charset="0"/>
              </a:rPr>
              <a:t>Calculation of </a:t>
            </a:r>
            <a:r>
              <a:rPr lang="en-IN" b="1" u="sng" dirty="0" err="1">
                <a:latin typeface="Arial" pitchFamily="34" charset="0"/>
                <a:cs typeface="Arial" pitchFamily="34" charset="0"/>
              </a:rPr>
              <a:t>V</a:t>
            </a:r>
            <a:r>
              <a:rPr lang="en-IN" b="1" u="sng" baseline="-25000" dirty="0" err="1">
                <a:latin typeface="Arial" pitchFamily="34" charset="0"/>
                <a:cs typeface="Arial" pitchFamily="34" charset="0"/>
              </a:rPr>
              <a:t>Ith</a:t>
            </a:r>
            <a:endParaRPr lang="en-IN" b="1" u="sng" baseline="-25000" dirty="0">
              <a:latin typeface="Arial" pitchFamily="34" charset="0"/>
              <a:cs typeface="Arial" pitchFamily="34" charset="0"/>
            </a:endParaRPr>
          </a:p>
          <a:p>
            <a:r>
              <a:rPr lang="en-US" dirty="0">
                <a:latin typeface="Arial" pitchFamily="34" charset="0"/>
                <a:cs typeface="Arial" pitchFamily="34" charset="0"/>
              </a:rPr>
              <a:t>The inverter threshold voltage is defined as </a:t>
            </a:r>
            <a:r>
              <a:rPr lang="en-US" b="1" dirty="0" err="1">
                <a:latin typeface="Arial" pitchFamily="34" charset="0"/>
                <a:cs typeface="Arial" pitchFamily="34" charset="0"/>
              </a:rPr>
              <a:t>V</a:t>
            </a:r>
            <a:r>
              <a:rPr lang="en-US" b="1" baseline="-25000" dirty="0" err="1">
                <a:latin typeface="Arial" pitchFamily="34" charset="0"/>
                <a:cs typeface="Arial" pitchFamily="34" charset="0"/>
              </a:rPr>
              <a:t>th</a:t>
            </a:r>
            <a:r>
              <a:rPr lang="en-US" b="1" baseline="-25000" dirty="0">
                <a:latin typeface="Arial" pitchFamily="34" charset="0"/>
                <a:cs typeface="Arial" pitchFamily="34" charset="0"/>
              </a:rPr>
              <a:t> </a:t>
            </a:r>
            <a:r>
              <a:rPr lang="en-US" b="1" dirty="0">
                <a:latin typeface="Arial" pitchFamily="34" charset="0"/>
                <a:cs typeface="Arial" pitchFamily="34" charset="0"/>
              </a:rPr>
              <a:t>= V</a:t>
            </a:r>
            <a:r>
              <a:rPr lang="en-US" b="1" baseline="-25000" dirty="0">
                <a:latin typeface="Arial" pitchFamily="34" charset="0"/>
                <a:cs typeface="Arial" pitchFamily="34" charset="0"/>
              </a:rPr>
              <a:t>in </a:t>
            </a:r>
            <a:r>
              <a:rPr lang="en-US" b="1" dirty="0">
                <a:latin typeface="Arial" pitchFamily="34" charset="0"/>
                <a:cs typeface="Arial" pitchFamily="34" charset="0"/>
              </a:rPr>
              <a:t>=</a:t>
            </a:r>
            <a:r>
              <a:rPr lang="en-US" b="1" dirty="0" err="1">
                <a:latin typeface="Arial" pitchFamily="34" charset="0"/>
                <a:cs typeface="Arial" pitchFamily="34" charset="0"/>
              </a:rPr>
              <a:t>V</a:t>
            </a:r>
            <a:r>
              <a:rPr lang="en-US" b="1" baseline="-25000" dirty="0" err="1">
                <a:latin typeface="Arial" pitchFamily="34" charset="0"/>
                <a:cs typeface="Arial" pitchFamily="34" charset="0"/>
              </a:rPr>
              <a:t>out</a:t>
            </a:r>
            <a:r>
              <a:rPr lang="en-US" b="1" baseline="-25000" dirty="0">
                <a:latin typeface="Arial" pitchFamily="34" charset="0"/>
                <a:cs typeface="Arial" pitchFamily="34" charset="0"/>
              </a:rPr>
              <a:t> . </a:t>
            </a:r>
            <a:r>
              <a:rPr lang="en-US" dirty="0">
                <a:latin typeface="Arial" pitchFamily="34" charset="0"/>
                <a:cs typeface="Arial" pitchFamily="34" charset="0"/>
              </a:rPr>
              <a:t>For </a:t>
            </a:r>
            <a:r>
              <a:rPr lang="en-US" b="1" dirty="0">
                <a:latin typeface="Arial" pitchFamily="34" charset="0"/>
                <a:cs typeface="Arial" pitchFamily="34" charset="0"/>
              </a:rPr>
              <a:t>V</a:t>
            </a:r>
            <a:r>
              <a:rPr lang="en-US" b="1" baseline="-25000" dirty="0">
                <a:latin typeface="Arial" pitchFamily="34" charset="0"/>
                <a:cs typeface="Arial" pitchFamily="34" charset="0"/>
              </a:rPr>
              <a:t>in</a:t>
            </a:r>
            <a:r>
              <a:rPr lang="en-US" b="1" dirty="0">
                <a:latin typeface="Arial" pitchFamily="34" charset="0"/>
                <a:cs typeface="Arial" pitchFamily="34" charset="0"/>
              </a:rPr>
              <a:t> = </a:t>
            </a:r>
            <a:r>
              <a:rPr lang="en-US" b="1" dirty="0" err="1">
                <a:latin typeface="Arial" pitchFamily="34" charset="0"/>
                <a:cs typeface="Arial" pitchFamily="34" charset="0"/>
              </a:rPr>
              <a:t>V</a:t>
            </a:r>
            <a:r>
              <a:rPr lang="en-US" b="1" baseline="-25000" dirty="0" err="1">
                <a:latin typeface="Arial" pitchFamily="34" charset="0"/>
                <a:cs typeface="Arial" pitchFamily="34" charset="0"/>
              </a:rPr>
              <a:t>out</a:t>
            </a:r>
            <a:r>
              <a:rPr lang="en-US" dirty="0">
                <a:latin typeface="Arial" pitchFamily="34" charset="0"/>
                <a:cs typeface="Arial" pitchFamily="34" charset="0"/>
              </a:rPr>
              <a:t>, both transistors are expected to be in saturation mode. Hence we can write KCL equation. </a:t>
            </a:r>
          </a:p>
          <a:p>
            <a:r>
              <a:rPr lang="en-IN" b="1" baseline="-25000" dirty="0">
                <a:latin typeface="Arial" pitchFamily="34" charset="0"/>
                <a:cs typeface="Arial" pitchFamily="34" charset="0"/>
              </a:rPr>
              <a:t>                                                                                                                                                                          </a:t>
            </a:r>
            <a:r>
              <a:rPr lang="en-IN" sz="2400" baseline="-25000" dirty="0">
                <a:latin typeface="Arial" pitchFamily="34" charset="0"/>
                <a:cs typeface="Arial" pitchFamily="34" charset="0"/>
              </a:rPr>
              <a:t>…….(23)</a:t>
            </a:r>
            <a:endParaRPr lang="en-US" sz="2400" baseline="-25000" dirty="0">
              <a:latin typeface="Arial" pitchFamily="34" charset="0"/>
              <a:cs typeface="Arial" pitchFamily="34" charset="0"/>
            </a:endParaRPr>
          </a:p>
          <a:p>
            <a:endParaRPr lang="en-US" dirty="0">
              <a:latin typeface="Arial" pitchFamily="34" charset="0"/>
              <a:cs typeface="Arial" pitchFamily="34" charset="0"/>
            </a:endParaRPr>
          </a:p>
          <a:p>
            <a:r>
              <a:rPr lang="en-US" dirty="0">
                <a:latin typeface="Arial" pitchFamily="34" charset="0"/>
                <a:cs typeface="Arial" pitchFamily="34" charset="0"/>
              </a:rPr>
              <a:t>Using equation (7) and (8) , this expression can be rewritten as</a:t>
            </a:r>
          </a:p>
          <a:p>
            <a:r>
              <a:rPr lang="en-IN" dirty="0">
                <a:latin typeface="Arial" pitchFamily="34" charset="0"/>
                <a:cs typeface="Arial" pitchFamily="34" charset="0"/>
              </a:rPr>
              <a:t>                                                                                                                   …… (24)</a:t>
            </a:r>
            <a:endParaRPr lang="en-US" dirty="0">
              <a:latin typeface="Arial" pitchFamily="34" charset="0"/>
              <a:cs typeface="Arial" pitchFamily="34" charset="0"/>
            </a:endParaRPr>
          </a:p>
          <a:p>
            <a:endParaRPr lang="en-US" dirty="0"/>
          </a:p>
          <a:p>
            <a:endParaRPr lang="en-IN" sz="2000" dirty="0">
              <a:latin typeface="Arial" pitchFamily="34" charset="0"/>
              <a:cs typeface="Arial" pitchFamily="34" charset="0"/>
            </a:endParaRPr>
          </a:p>
          <a:p>
            <a:endParaRPr lang="en-US" sz="1900" dirty="0">
              <a:latin typeface="Arial" pitchFamily="34" charset="0"/>
              <a:cs typeface="Arial" pitchFamily="34" charset="0"/>
            </a:endParaRPr>
          </a:p>
          <a:p>
            <a:endParaRPr lang="en-US" dirty="0">
              <a:latin typeface="Arial" pitchFamily="34" charset="0"/>
              <a:cs typeface="Arial" pitchFamily="34" charset="0"/>
            </a:endParaRPr>
          </a:p>
          <a:p>
            <a:endParaRPr lang="en-US" dirty="0">
              <a:latin typeface="Arial" pitchFamily="34" charset="0"/>
              <a:cs typeface="Arial" pitchFamily="34" charset="0"/>
            </a:endParaRPr>
          </a:p>
          <a:p>
            <a:endParaRPr lang="en-IN" b="1" baseline="-25000" dirty="0">
              <a:latin typeface="Arial" pitchFamily="34" charset="0"/>
              <a:cs typeface="Arial" pitchFamily="34" charset="0"/>
            </a:endParaRPr>
          </a:p>
          <a:p>
            <a:endParaRPr lang="en-US" dirty="0">
              <a:latin typeface="Arial" pitchFamily="34" charset="0"/>
              <a:cs typeface="Arial" pitchFamily="34" charset="0"/>
            </a:endParaRPr>
          </a:p>
        </p:txBody>
      </p:sp>
      <p:sp>
        <p:nvSpPr>
          <p:cNvPr id="4" name="Footer Placeholder 3"/>
          <p:cNvSpPr>
            <a:spLocks noGrp="1"/>
          </p:cNvSpPr>
          <p:nvPr>
            <p:ph type="ftr" sz="quarter" idx="11"/>
          </p:nvPr>
        </p:nvSpPr>
        <p:spPr>
          <a:xfrm>
            <a:off x="1721796" y="6135808"/>
            <a:ext cx="8487415" cy="365125"/>
          </a:xfrm>
        </p:spPr>
        <p:txBody>
          <a:bodyPr/>
          <a:lstStyle/>
          <a:p>
            <a:r>
              <a:rPr lang="en-IN" sz="1500" dirty="0">
                <a:solidFill>
                  <a:srgbClr val="C00000"/>
                </a:solidFill>
                <a:latin typeface="Arial" panose="020B0604020202020204" pitchFamily="34" charset="0"/>
                <a:cs typeface="Arial" panose="020B0604020202020204" pitchFamily="34" charset="0"/>
              </a:rPr>
              <a:t>Rohit Lorenzo, VIT-AP</a:t>
            </a:r>
          </a:p>
        </p:txBody>
      </p:sp>
      <p:sp>
        <p:nvSpPr>
          <p:cNvPr id="3074"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75" name="Rectangle 3"/>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47106"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7107" name="Rectangle 3"/>
          <p:cNvSpPr>
            <a:spLocks noChangeArrowheads="1"/>
          </p:cNvSpPr>
          <p:nvPr/>
        </p:nvSpPr>
        <p:spPr bwMode="auto">
          <a:xfrm>
            <a:off x="0" y="8128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47109" name="Rectangle 5"/>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7110" name="Rectangle 6"/>
          <p:cNvSpPr>
            <a:spLocks noChangeArrowheads="1"/>
          </p:cNvSpPr>
          <p:nvPr/>
        </p:nvSpPr>
        <p:spPr bwMode="auto">
          <a:xfrm>
            <a:off x="0" y="8128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5"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 name="Rectangle 3"/>
          <p:cNvSpPr>
            <a:spLocks noChangeArrowheads="1"/>
          </p:cNvSpPr>
          <p:nvPr/>
        </p:nvSpPr>
        <p:spPr bwMode="auto">
          <a:xfrm>
            <a:off x="0" y="99695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48130"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8131" name="Rectangle 3"/>
          <p:cNvSpPr>
            <a:spLocks noChangeArrowheads="1"/>
          </p:cNvSpPr>
          <p:nvPr/>
        </p:nvSpPr>
        <p:spPr bwMode="auto">
          <a:xfrm>
            <a:off x="0" y="10414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48133" name="Rectangle 5"/>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8134" name="Rectangle 6"/>
          <p:cNvSpPr>
            <a:spLocks noChangeArrowheads="1"/>
          </p:cNvSpPr>
          <p:nvPr/>
        </p:nvSpPr>
        <p:spPr bwMode="auto">
          <a:xfrm>
            <a:off x="0" y="10414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48136" name="Rectangle 8"/>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8137" name="Rectangle 9"/>
          <p:cNvSpPr>
            <a:spLocks noChangeArrowheads="1"/>
          </p:cNvSpPr>
          <p:nvPr/>
        </p:nvSpPr>
        <p:spPr bwMode="auto">
          <a:xfrm>
            <a:off x="0" y="10414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48139" name="Rectangle 11"/>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8140" name="Rectangle 12"/>
          <p:cNvSpPr>
            <a:spLocks noChangeArrowheads="1"/>
          </p:cNvSpPr>
          <p:nvPr/>
        </p:nvSpPr>
        <p:spPr bwMode="auto">
          <a:xfrm>
            <a:off x="0" y="10414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48142" name="Rectangle 14"/>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8144" name="Rectangle 16"/>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8145" name="Rectangle 17"/>
          <p:cNvSpPr>
            <a:spLocks noChangeArrowheads="1"/>
          </p:cNvSpPr>
          <p:nvPr/>
        </p:nvSpPr>
        <p:spPr bwMode="auto">
          <a:xfrm>
            <a:off x="0" y="10414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48147" name="Rectangle 19"/>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8148" name="Rectangle 20"/>
          <p:cNvSpPr>
            <a:spLocks noChangeArrowheads="1"/>
          </p:cNvSpPr>
          <p:nvPr/>
        </p:nvSpPr>
        <p:spPr bwMode="auto">
          <a:xfrm>
            <a:off x="0" y="10414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48150" name="Rectangle 2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8151" name="Rectangle 23"/>
          <p:cNvSpPr>
            <a:spLocks noChangeArrowheads="1"/>
          </p:cNvSpPr>
          <p:nvPr/>
        </p:nvSpPr>
        <p:spPr bwMode="auto">
          <a:xfrm>
            <a:off x="0" y="10414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pic>
        <p:nvPicPr>
          <p:cNvPr id="4098" name="Picture 2"/>
          <p:cNvPicPr>
            <a:picLocks noChangeAspect="1" noChangeArrowheads="1"/>
          </p:cNvPicPr>
          <p:nvPr/>
        </p:nvPicPr>
        <p:blipFill>
          <a:blip r:embed="rId2" cstate="print"/>
          <a:srcRect/>
          <a:stretch>
            <a:fillRect/>
          </a:stretch>
        </p:blipFill>
        <p:spPr bwMode="auto">
          <a:xfrm>
            <a:off x="2956298" y="1689572"/>
            <a:ext cx="3775242" cy="665189"/>
          </a:xfrm>
          <a:prstGeom prst="rect">
            <a:avLst/>
          </a:prstGeom>
          <a:noFill/>
          <a:ln w="9525">
            <a:noFill/>
            <a:miter lim="800000"/>
            <a:headEnd/>
            <a:tailEnd/>
          </a:ln>
        </p:spPr>
      </p:pic>
      <p:pic>
        <p:nvPicPr>
          <p:cNvPr id="4099" name="Picture 3"/>
          <p:cNvPicPr>
            <a:picLocks noChangeAspect="1" noChangeArrowheads="1"/>
          </p:cNvPicPr>
          <p:nvPr/>
        </p:nvPicPr>
        <p:blipFill>
          <a:blip r:embed="rId3" cstate="print"/>
          <a:srcRect/>
          <a:stretch>
            <a:fillRect/>
          </a:stretch>
        </p:blipFill>
        <p:spPr bwMode="auto">
          <a:xfrm>
            <a:off x="3011625" y="3595181"/>
            <a:ext cx="4449490" cy="649014"/>
          </a:xfrm>
          <a:prstGeom prst="rect">
            <a:avLst/>
          </a:prstGeom>
          <a:noFill/>
          <a:ln w="9525">
            <a:noFill/>
            <a:miter lim="800000"/>
            <a:headEnd/>
            <a:tailEnd/>
          </a:ln>
        </p:spPr>
      </p:pic>
      <p:pic>
        <p:nvPicPr>
          <p:cNvPr id="4100" name="Picture 4"/>
          <p:cNvPicPr>
            <a:picLocks noChangeAspect="1" noChangeArrowheads="1"/>
          </p:cNvPicPr>
          <p:nvPr/>
        </p:nvPicPr>
        <p:blipFill>
          <a:blip r:embed="rId4" cstate="print"/>
          <a:srcRect/>
          <a:stretch>
            <a:fillRect/>
          </a:stretch>
        </p:blipFill>
        <p:spPr bwMode="auto">
          <a:xfrm>
            <a:off x="2989230" y="4767669"/>
            <a:ext cx="4627528" cy="676428"/>
          </a:xfrm>
          <a:prstGeom prst="rect">
            <a:avLst/>
          </a:prstGeom>
          <a:noFill/>
          <a:ln w="9525">
            <a:noFill/>
            <a:miter lim="800000"/>
            <a:headEnd/>
            <a:tailEnd/>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53703" y="624110"/>
            <a:ext cx="9850910" cy="1280890"/>
          </a:xfrm>
        </p:spPr>
        <p:txBody>
          <a:bodyPr/>
          <a:lstStyle/>
          <a:p>
            <a:r>
              <a:rPr lang="en-IN" dirty="0">
                <a:latin typeface="Arial" pitchFamily="34" charset="0"/>
                <a:cs typeface="Arial" pitchFamily="34" charset="0"/>
              </a:rPr>
              <a:t>Continued…. </a:t>
            </a:r>
            <a:r>
              <a:rPr lang="en-US" dirty="0"/>
              <a:t> </a:t>
            </a:r>
            <a:br>
              <a:rPr lang="en-US" dirty="0"/>
            </a:br>
            <a:endParaRPr lang="en-US" dirty="0"/>
          </a:p>
        </p:txBody>
      </p:sp>
      <p:sp>
        <p:nvSpPr>
          <p:cNvPr id="3" name="Content Placeholder 2"/>
          <p:cNvSpPr>
            <a:spLocks noGrp="1"/>
          </p:cNvSpPr>
          <p:nvPr>
            <p:ph idx="1"/>
          </p:nvPr>
        </p:nvSpPr>
        <p:spPr>
          <a:xfrm>
            <a:off x="739303" y="1313234"/>
            <a:ext cx="11186808" cy="4776281"/>
          </a:xfrm>
        </p:spPr>
        <p:txBody>
          <a:bodyPr>
            <a:normAutofit/>
          </a:bodyPr>
          <a:lstStyle/>
          <a:p>
            <a:r>
              <a:rPr lang="en-US" dirty="0">
                <a:latin typeface="Arial" pitchFamily="34" charset="0"/>
                <a:cs typeface="Arial" pitchFamily="34" charset="0"/>
              </a:rPr>
              <a:t>The correct solution for </a:t>
            </a:r>
            <a:r>
              <a:rPr lang="en-US" b="1" dirty="0">
                <a:latin typeface="Arial" pitchFamily="34" charset="0"/>
                <a:cs typeface="Arial" pitchFamily="34" charset="0"/>
              </a:rPr>
              <a:t>V</a:t>
            </a:r>
            <a:r>
              <a:rPr lang="en-US" b="1" baseline="-25000" dirty="0">
                <a:latin typeface="Arial" pitchFamily="34" charset="0"/>
                <a:cs typeface="Arial" pitchFamily="34" charset="0"/>
              </a:rPr>
              <a:t>in</a:t>
            </a:r>
            <a:r>
              <a:rPr lang="en-US" dirty="0">
                <a:latin typeface="Arial" pitchFamily="34" charset="0"/>
                <a:cs typeface="Arial" pitchFamily="34" charset="0"/>
              </a:rPr>
              <a:t> for this equation is </a:t>
            </a:r>
          </a:p>
          <a:p>
            <a:endParaRPr lang="en-IN" dirty="0">
              <a:latin typeface="Arial" pitchFamily="34" charset="0"/>
              <a:cs typeface="Arial" pitchFamily="34" charset="0"/>
            </a:endParaRPr>
          </a:p>
          <a:p>
            <a:r>
              <a:rPr lang="en-IN" dirty="0">
                <a:latin typeface="Arial" pitchFamily="34" charset="0"/>
                <a:cs typeface="Arial" pitchFamily="34" charset="0"/>
              </a:rPr>
              <a:t>                                                                                                    ……(25)</a:t>
            </a:r>
          </a:p>
          <a:p>
            <a:r>
              <a:rPr lang="en-US" dirty="0">
                <a:latin typeface="Arial" pitchFamily="34" charset="0"/>
                <a:cs typeface="Arial" pitchFamily="34" charset="0"/>
              </a:rPr>
              <a:t>Finally, the inverter threshold (switching threshold) voltage </a:t>
            </a:r>
            <a:r>
              <a:rPr lang="en-US" b="1" dirty="0" err="1">
                <a:latin typeface="Arial" pitchFamily="34" charset="0"/>
                <a:cs typeface="Arial" pitchFamily="34" charset="0"/>
              </a:rPr>
              <a:t>V</a:t>
            </a:r>
            <a:r>
              <a:rPr lang="en-US" b="1" baseline="-25000" dirty="0" err="1">
                <a:latin typeface="Arial" pitchFamily="34" charset="0"/>
                <a:cs typeface="Arial" pitchFamily="34" charset="0"/>
              </a:rPr>
              <a:t>th</a:t>
            </a:r>
            <a:r>
              <a:rPr lang="en-US" baseline="-25000" dirty="0">
                <a:latin typeface="Arial" pitchFamily="34" charset="0"/>
                <a:cs typeface="Arial" pitchFamily="34" charset="0"/>
              </a:rPr>
              <a:t> </a:t>
            </a:r>
            <a:r>
              <a:rPr lang="en-US" dirty="0">
                <a:latin typeface="Arial" pitchFamily="34" charset="0"/>
                <a:cs typeface="Arial" pitchFamily="34" charset="0"/>
              </a:rPr>
              <a:t>is found as</a:t>
            </a:r>
          </a:p>
          <a:p>
            <a:endParaRPr lang="en-IN" dirty="0">
              <a:latin typeface="Arial" pitchFamily="34" charset="0"/>
              <a:cs typeface="Arial" pitchFamily="34" charset="0"/>
            </a:endParaRPr>
          </a:p>
          <a:p>
            <a:r>
              <a:rPr lang="en-IN" dirty="0">
                <a:latin typeface="Arial" pitchFamily="34" charset="0"/>
                <a:cs typeface="Arial" pitchFamily="34" charset="0"/>
              </a:rPr>
              <a:t>                                                             …….(26)</a:t>
            </a:r>
            <a:endParaRPr lang="en-US" dirty="0">
              <a:latin typeface="Arial" pitchFamily="34" charset="0"/>
              <a:cs typeface="Arial" pitchFamily="34" charset="0"/>
            </a:endParaRPr>
          </a:p>
          <a:p>
            <a:endParaRPr lang="en-US" dirty="0"/>
          </a:p>
          <a:p>
            <a:endParaRPr lang="en-US" dirty="0">
              <a:latin typeface="Arial" pitchFamily="34" charset="0"/>
              <a:cs typeface="Arial" pitchFamily="34" charset="0"/>
            </a:endParaRPr>
          </a:p>
          <a:p>
            <a:endParaRPr lang="en-IN" b="1" baseline="-25000" dirty="0">
              <a:latin typeface="Arial" pitchFamily="34" charset="0"/>
              <a:cs typeface="Arial" pitchFamily="34" charset="0"/>
            </a:endParaRPr>
          </a:p>
          <a:p>
            <a:endParaRPr lang="en-US" dirty="0">
              <a:latin typeface="Arial" pitchFamily="34" charset="0"/>
              <a:cs typeface="Arial" pitchFamily="34" charset="0"/>
            </a:endParaRPr>
          </a:p>
          <a:p>
            <a:endParaRPr lang="en-US" dirty="0"/>
          </a:p>
          <a:p>
            <a:pPr>
              <a:buNone/>
            </a:pPr>
            <a:r>
              <a:rPr lang="en-US" dirty="0"/>
              <a:t>       </a:t>
            </a:r>
            <a:endParaRPr lang="en-US" dirty="0">
              <a:latin typeface="Arial" pitchFamily="34" charset="0"/>
              <a:cs typeface="Arial" pitchFamily="34" charset="0"/>
            </a:endParaRPr>
          </a:p>
        </p:txBody>
      </p:sp>
      <p:sp>
        <p:nvSpPr>
          <p:cNvPr id="4" name="Footer Placeholder 3"/>
          <p:cNvSpPr>
            <a:spLocks noGrp="1"/>
          </p:cNvSpPr>
          <p:nvPr>
            <p:ph type="ftr" sz="quarter" idx="11"/>
          </p:nvPr>
        </p:nvSpPr>
        <p:spPr>
          <a:xfrm>
            <a:off x="1721796" y="6135808"/>
            <a:ext cx="8487415" cy="365125"/>
          </a:xfrm>
        </p:spPr>
        <p:txBody>
          <a:bodyPr/>
          <a:lstStyle/>
          <a:p>
            <a:r>
              <a:rPr lang="en-IN" sz="1500" dirty="0">
                <a:solidFill>
                  <a:srgbClr val="C00000"/>
                </a:solidFill>
                <a:latin typeface="Arial" panose="020B0604020202020204" pitchFamily="34" charset="0"/>
                <a:cs typeface="Arial" panose="020B0604020202020204" pitchFamily="34" charset="0"/>
              </a:rPr>
              <a:t>Rohit Lorenzo, VIT-AP</a:t>
            </a:r>
          </a:p>
        </p:txBody>
      </p:sp>
      <p:sp>
        <p:nvSpPr>
          <p:cNvPr id="3074"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75" name="Rectangle 3"/>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47106"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7107" name="Rectangle 3"/>
          <p:cNvSpPr>
            <a:spLocks noChangeArrowheads="1"/>
          </p:cNvSpPr>
          <p:nvPr/>
        </p:nvSpPr>
        <p:spPr bwMode="auto">
          <a:xfrm>
            <a:off x="0" y="8128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47109" name="Rectangle 5"/>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7110" name="Rectangle 6"/>
          <p:cNvSpPr>
            <a:spLocks noChangeArrowheads="1"/>
          </p:cNvSpPr>
          <p:nvPr/>
        </p:nvSpPr>
        <p:spPr bwMode="auto">
          <a:xfrm>
            <a:off x="0" y="8128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5"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 name="Rectangle 3"/>
          <p:cNvSpPr>
            <a:spLocks noChangeArrowheads="1"/>
          </p:cNvSpPr>
          <p:nvPr/>
        </p:nvSpPr>
        <p:spPr bwMode="auto">
          <a:xfrm>
            <a:off x="0" y="99695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48130"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8131" name="Rectangle 3"/>
          <p:cNvSpPr>
            <a:spLocks noChangeArrowheads="1"/>
          </p:cNvSpPr>
          <p:nvPr/>
        </p:nvSpPr>
        <p:spPr bwMode="auto">
          <a:xfrm>
            <a:off x="0" y="10414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48133" name="Rectangle 5"/>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8134" name="Rectangle 6"/>
          <p:cNvSpPr>
            <a:spLocks noChangeArrowheads="1"/>
          </p:cNvSpPr>
          <p:nvPr/>
        </p:nvSpPr>
        <p:spPr bwMode="auto">
          <a:xfrm>
            <a:off x="0" y="10414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48136" name="Rectangle 8"/>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8137" name="Rectangle 9"/>
          <p:cNvSpPr>
            <a:spLocks noChangeArrowheads="1"/>
          </p:cNvSpPr>
          <p:nvPr/>
        </p:nvSpPr>
        <p:spPr bwMode="auto">
          <a:xfrm>
            <a:off x="0" y="10414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48139" name="Rectangle 11"/>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8140" name="Rectangle 12"/>
          <p:cNvSpPr>
            <a:spLocks noChangeArrowheads="1"/>
          </p:cNvSpPr>
          <p:nvPr/>
        </p:nvSpPr>
        <p:spPr bwMode="auto">
          <a:xfrm>
            <a:off x="0" y="10414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48142" name="Rectangle 14"/>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8144" name="Rectangle 16"/>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8145" name="Rectangle 17"/>
          <p:cNvSpPr>
            <a:spLocks noChangeArrowheads="1"/>
          </p:cNvSpPr>
          <p:nvPr/>
        </p:nvSpPr>
        <p:spPr bwMode="auto">
          <a:xfrm>
            <a:off x="0" y="10414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48147" name="Rectangle 19"/>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8148" name="Rectangle 20"/>
          <p:cNvSpPr>
            <a:spLocks noChangeArrowheads="1"/>
          </p:cNvSpPr>
          <p:nvPr/>
        </p:nvSpPr>
        <p:spPr bwMode="auto">
          <a:xfrm>
            <a:off x="0" y="10414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48150" name="Rectangle 2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8151" name="Rectangle 23"/>
          <p:cNvSpPr>
            <a:spLocks noChangeArrowheads="1"/>
          </p:cNvSpPr>
          <p:nvPr/>
        </p:nvSpPr>
        <p:spPr bwMode="auto">
          <a:xfrm>
            <a:off x="0" y="10414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1026"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027" name="Rectangle 3"/>
          <p:cNvSpPr>
            <a:spLocks noChangeArrowheads="1"/>
          </p:cNvSpPr>
          <p:nvPr/>
        </p:nvSpPr>
        <p:spPr bwMode="auto">
          <a:xfrm>
            <a:off x="0" y="111125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1029" name="Rectangle 5"/>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030" name="Rectangle 6"/>
          <p:cNvSpPr>
            <a:spLocks noChangeArrowheads="1"/>
          </p:cNvSpPr>
          <p:nvPr/>
        </p:nvSpPr>
        <p:spPr bwMode="auto">
          <a:xfrm>
            <a:off x="0" y="8128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1032" name="Rectangle 8"/>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033" name="Rectangle 9"/>
          <p:cNvSpPr>
            <a:spLocks noChangeArrowheads="1"/>
          </p:cNvSpPr>
          <p:nvPr/>
        </p:nvSpPr>
        <p:spPr bwMode="auto">
          <a:xfrm>
            <a:off x="0" y="111125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pic>
        <p:nvPicPr>
          <p:cNvPr id="5122" name="Picture 2"/>
          <p:cNvPicPr>
            <a:picLocks noChangeAspect="1" noChangeArrowheads="1"/>
          </p:cNvPicPr>
          <p:nvPr/>
        </p:nvPicPr>
        <p:blipFill>
          <a:blip r:embed="rId2" cstate="print"/>
          <a:srcRect/>
          <a:stretch>
            <a:fillRect/>
          </a:stretch>
        </p:blipFill>
        <p:spPr bwMode="auto">
          <a:xfrm>
            <a:off x="2420669" y="1697174"/>
            <a:ext cx="4135774" cy="791240"/>
          </a:xfrm>
          <a:prstGeom prst="rect">
            <a:avLst/>
          </a:prstGeom>
          <a:noFill/>
          <a:ln w="9525">
            <a:noFill/>
            <a:miter lim="800000"/>
            <a:headEnd/>
            <a:tailEnd/>
          </a:ln>
        </p:spPr>
      </p:pic>
      <p:pic>
        <p:nvPicPr>
          <p:cNvPr id="5123" name="Picture 3"/>
          <p:cNvPicPr>
            <a:picLocks noChangeAspect="1" noChangeArrowheads="1"/>
          </p:cNvPicPr>
          <p:nvPr/>
        </p:nvPicPr>
        <p:blipFill>
          <a:blip r:embed="rId3" cstate="print"/>
          <a:srcRect/>
          <a:stretch>
            <a:fillRect/>
          </a:stretch>
        </p:blipFill>
        <p:spPr bwMode="auto">
          <a:xfrm>
            <a:off x="1886661" y="2920730"/>
            <a:ext cx="2428460" cy="1155159"/>
          </a:xfrm>
          <a:prstGeom prst="rect">
            <a:avLst/>
          </a:prstGeom>
          <a:noFill/>
          <a:ln w="9525">
            <a:noFill/>
            <a:miter lim="800000"/>
            <a:headEnd/>
            <a:tailEnd/>
          </a:ln>
        </p:spPr>
      </p:pic>
      <p:pic>
        <p:nvPicPr>
          <p:cNvPr id="5124" name="Picture 4"/>
          <p:cNvPicPr>
            <a:picLocks noChangeAspect="1" noChangeArrowheads="1"/>
          </p:cNvPicPr>
          <p:nvPr/>
        </p:nvPicPr>
        <p:blipFill>
          <a:blip r:embed="rId4" cstate="print"/>
          <a:srcRect/>
          <a:stretch>
            <a:fillRect/>
          </a:stretch>
        </p:blipFill>
        <p:spPr bwMode="auto">
          <a:xfrm>
            <a:off x="6478621" y="2986391"/>
            <a:ext cx="5713379" cy="3871609"/>
          </a:xfrm>
          <a:prstGeom prst="rect">
            <a:avLst/>
          </a:prstGeom>
          <a:noFill/>
          <a:ln w="9525">
            <a:noFill/>
            <a:miter lim="800000"/>
            <a:headEnd/>
            <a:tailEnd/>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53703" y="624110"/>
            <a:ext cx="9850910" cy="1280890"/>
          </a:xfrm>
        </p:spPr>
        <p:txBody>
          <a:bodyPr/>
          <a:lstStyle/>
          <a:p>
            <a:r>
              <a:rPr lang="en-US" dirty="0">
                <a:latin typeface="Arial" pitchFamily="34" charset="0"/>
                <a:cs typeface="Arial" pitchFamily="34" charset="0"/>
              </a:rPr>
              <a:t>Design of CMOS Inverters</a:t>
            </a:r>
          </a:p>
        </p:txBody>
      </p:sp>
      <p:sp>
        <p:nvSpPr>
          <p:cNvPr id="3" name="Content Placeholder 2"/>
          <p:cNvSpPr>
            <a:spLocks noGrp="1"/>
          </p:cNvSpPr>
          <p:nvPr>
            <p:ph idx="1"/>
          </p:nvPr>
        </p:nvSpPr>
        <p:spPr>
          <a:xfrm>
            <a:off x="457200" y="1313234"/>
            <a:ext cx="11468911" cy="4776281"/>
          </a:xfrm>
        </p:spPr>
        <p:txBody>
          <a:bodyPr>
            <a:normAutofit/>
          </a:bodyPr>
          <a:lstStyle/>
          <a:p>
            <a:r>
              <a:rPr lang="en-US" dirty="0">
                <a:latin typeface="Arial" pitchFamily="34" charset="0"/>
                <a:cs typeface="Arial" pitchFamily="34" charset="0"/>
              </a:rPr>
              <a:t>The inverter threshold voltage </a:t>
            </a:r>
            <a:r>
              <a:rPr lang="en-US" b="1" dirty="0" err="1">
                <a:latin typeface="Arial" pitchFamily="34" charset="0"/>
                <a:cs typeface="Arial" pitchFamily="34" charset="0"/>
              </a:rPr>
              <a:t>V</a:t>
            </a:r>
            <a:r>
              <a:rPr lang="en-US" b="1" baseline="-25000" dirty="0" err="1">
                <a:latin typeface="Arial" pitchFamily="34" charset="0"/>
                <a:cs typeface="Arial" pitchFamily="34" charset="0"/>
              </a:rPr>
              <a:t>th</a:t>
            </a:r>
            <a:r>
              <a:rPr lang="en-US" dirty="0">
                <a:latin typeface="Arial" pitchFamily="34" charset="0"/>
                <a:cs typeface="Arial" pitchFamily="34" charset="0"/>
              </a:rPr>
              <a:t> was identified as one of the most important parameters that characterize the steady-state  input-output behavior of the CMOS inverter circuit. </a:t>
            </a:r>
          </a:p>
          <a:p>
            <a:r>
              <a:rPr lang="en-US" dirty="0">
                <a:latin typeface="Arial" pitchFamily="34" charset="0"/>
                <a:cs typeface="Arial" pitchFamily="34" charset="0"/>
              </a:rPr>
              <a:t>The problem of designing a CMOS inverter can be reduced to setting the inverter threshold to a desired voltage value. The corresponding ratio </a:t>
            </a:r>
            <a:r>
              <a:rPr lang="en-US" b="1" i="1" dirty="0" err="1">
                <a:latin typeface="Arial" pitchFamily="34" charset="0"/>
                <a:cs typeface="Arial" pitchFamily="34" charset="0"/>
              </a:rPr>
              <a:t>k</a:t>
            </a:r>
            <a:r>
              <a:rPr lang="en-US" b="1" i="1" baseline="-25000" dirty="0" err="1">
                <a:latin typeface="Arial" pitchFamily="34" charset="0"/>
                <a:cs typeface="Arial" pitchFamily="34" charset="0"/>
              </a:rPr>
              <a:t>R</a:t>
            </a:r>
            <a:r>
              <a:rPr lang="en-US" i="1" dirty="0">
                <a:latin typeface="Arial" pitchFamily="34" charset="0"/>
                <a:cs typeface="Arial" pitchFamily="34" charset="0"/>
              </a:rPr>
              <a:t> </a:t>
            </a:r>
            <a:r>
              <a:rPr lang="en-US" dirty="0">
                <a:latin typeface="Arial" pitchFamily="34" charset="0"/>
                <a:cs typeface="Arial" pitchFamily="34" charset="0"/>
              </a:rPr>
              <a:t>can be found as follows. reorganizing (26) yields.</a:t>
            </a:r>
          </a:p>
          <a:p>
            <a:endParaRPr lang="en-US" dirty="0">
              <a:latin typeface="Arial" pitchFamily="34" charset="0"/>
              <a:cs typeface="Arial" pitchFamily="34" charset="0"/>
            </a:endParaRPr>
          </a:p>
          <a:p>
            <a:r>
              <a:rPr lang="en-US" dirty="0">
                <a:latin typeface="Arial" pitchFamily="34" charset="0"/>
                <a:cs typeface="Arial" pitchFamily="34" charset="0"/>
              </a:rPr>
              <a:t>                                                                              ……(27)</a:t>
            </a:r>
          </a:p>
          <a:p>
            <a:r>
              <a:rPr lang="en-US" dirty="0">
                <a:latin typeface="Arial" pitchFamily="34" charset="0"/>
                <a:cs typeface="Arial" pitchFamily="34" charset="0"/>
              </a:rPr>
              <a:t>Solve the </a:t>
            </a:r>
            <a:r>
              <a:rPr lang="en-US" b="1" dirty="0">
                <a:latin typeface="Arial" pitchFamily="34" charset="0"/>
                <a:cs typeface="Arial" pitchFamily="34" charset="0"/>
              </a:rPr>
              <a:t>K</a:t>
            </a:r>
            <a:r>
              <a:rPr lang="en-US" b="1" baseline="-25000" dirty="0">
                <a:latin typeface="Arial" pitchFamily="34" charset="0"/>
                <a:cs typeface="Arial" pitchFamily="34" charset="0"/>
              </a:rPr>
              <a:t>R </a:t>
            </a:r>
            <a:r>
              <a:rPr lang="en-US" baseline="-25000" dirty="0">
                <a:latin typeface="Arial" pitchFamily="34" charset="0"/>
                <a:cs typeface="Arial" pitchFamily="34" charset="0"/>
              </a:rPr>
              <a:t> </a:t>
            </a:r>
            <a:r>
              <a:rPr lang="en-US" dirty="0">
                <a:latin typeface="Arial" pitchFamily="34" charset="0"/>
                <a:cs typeface="Arial" pitchFamily="34" charset="0"/>
              </a:rPr>
              <a:t>that is required to achieve the given </a:t>
            </a:r>
            <a:r>
              <a:rPr lang="en-US" b="1" dirty="0" err="1">
                <a:latin typeface="Arial" pitchFamily="34" charset="0"/>
                <a:cs typeface="Arial" pitchFamily="34" charset="0"/>
              </a:rPr>
              <a:t>V</a:t>
            </a:r>
            <a:r>
              <a:rPr lang="en-US" b="1" baseline="-25000" dirty="0" err="1">
                <a:latin typeface="Arial" pitchFamily="34" charset="0"/>
                <a:cs typeface="Arial" pitchFamily="34" charset="0"/>
              </a:rPr>
              <a:t>th</a:t>
            </a:r>
            <a:r>
              <a:rPr lang="en-US" i="1" dirty="0">
                <a:latin typeface="Arial" pitchFamily="34" charset="0"/>
                <a:cs typeface="Arial" pitchFamily="34" charset="0"/>
              </a:rPr>
              <a:t>.  </a:t>
            </a:r>
          </a:p>
          <a:p>
            <a:endParaRPr lang="en-US" i="1" baseline="-25000" dirty="0">
              <a:latin typeface="Arial" pitchFamily="34" charset="0"/>
              <a:cs typeface="Arial" pitchFamily="34" charset="0"/>
            </a:endParaRPr>
          </a:p>
          <a:p>
            <a:r>
              <a:rPr lang="en-US" dirty="0">
                <a:latin typeface="Arial" pitchFamily="34" charset="0"/>
                <a:cs typeface="Arial" pitchFamily="34" charset="0"/>
              </a:rPr>
              <a:t>                                                                                  ……(28)</a:t>
            </a:r>
          </a:p>
          <a:p>
            <a:pPr>
              <a:spcBef>
                <a:spcPts val="0"/>
              </a:spcBef>
            </a:pPr>
            <a:endParaRPr lang="en-US" dirty="0">
              <a:latin typeface="Arial" pitchFamily="34" charset="0"/>
              <a:cs typeface="Arial" pitchFamily="34" charset="0"/>
            </a:endParaRPr>
          </a:p>
          <a:p>
            <a:pPr>
              <a:spcBef>
                <a:spcPts val="0"/>
              </a:spcBef>
            </a:pPr>
            <a:r>
              <a:rPr lang="en-US" dirty="0">
                <a:latin typeface="Arial" pitchFamily="34" charset="0"/>
                <a:cs typeface="Arial" pitchFamily="34" charset="0"/>
              </a:rPr>
              <a:t>Recall that the switching threshold voltage of an ideal inverter is</a:t>
            </a:r>
          </a:p>
          <a:p>
            <a:pPr>
              <a:spcBef>
                <a:spcPts val="0"/>
              </a:spcBef>
            </a:pPr>
            <a:r>
              <a:rPr lang="en-US" dirty="0">
                <a:latin typeface="Arial" pitchFamily="34" charset="0"/>
                <a:cs typeface="Arial" pitchFamily="34" charset="0"/>
              </a:rPr>
              <a:t> defined as</a:t>
            </a:r>
          </a:p>
          <a:p>
            <a:pPr>
              <a:spcBef>
                <a:spcPts val="0"/>
              </a:spcBef>
            </a:pPr>
            <a:r>
              <a:rPr lang="en-US" baseline="-25000" dirty="0">
                <a:latin typeface="Arial" pitchFamily="34" charset="0"/>
                <a:cs typeface="Arial" pitchFamily="34" charset="0"/>
              </a:rPr>
              <a:t>                                                                                                                    </a:t>
            </a:r>
            <a:r>
              <a:rPr lang="en-US" dirty="0">
                <a:latin typeface="Arial" pitchFamily="34" charset="0"/>
                <a:cs typeface="Arial" pitchFamily="34" charset="0"/>
              </a:rPr>
              <a:t>……(29)</a:t>
            </a:r>
            <a:endParaRPr lang="en-IN" baseline="-25000" dirty="0">
              <a:latin typeface="Arial" pitchFamily="34" charset="0"/>
              <a:cs typeface="Arial" pitchFamily="34" charset="0"/>
            </a:endParaRPr>
          </a:p>
        </p:txBody>
      </p:sp>
      <p:sp>
        <p:nvSpPr>
          <p:cNvPr id="4" name="Footer Placeholder 3"/>
          <p:cNvSpPr>
            <a:spLocks noGrp="1"/>
          </p:cNvSpPr>
          <p:nvPr>
            <p:ph type="ftr" sz="quarter" idx="11"/>
          </p:nvPr>
        </p:nvSpPr>
        <p:spPr>
          <a:xfrm>
            <a:off x="1721796" y="6135808"/>
            <a:ext cx="8487415" cy="365125"/>
          </a:xfrm>
        </p:spPr>
        <p:txBody>
          <a:bodyPr/>
          <a:lstStyle/>
          <a:p>
            <a:r>
              <a:rPr lang="en-IN" sz="1500" dirty="0">
                <a:solidFill>
                  <a:srgbClr val="C00000"/>
                </a:solidFill>
                <a:latin typeface="Arial" panose="020B0604020202020204" pitchFamily="34" charset="0"/>
                <a:cs typeface="Arial" panose="020B0604020202020204" pitchFamily="34" charset="0"/>
              </a:rPr>
              <a:t>Rohit Lorenzo, VIT-AP</a:t>
            </a:r>
          </a:p>
        </p:txBody>
      </p:sp>
      <p:sp>
        <p:nvSpPr>
          <p:cNvPr id="3074"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75" name="Rectangle 3"/>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pic>
        <p:nvPicPr>
          <p:cNvPr id="1026" name="Picture 2"/>
          <p:cNvPicPr>
            <a:picLocks noChangeAspect="1" noChangeArrowheads="1"/>
          </p:cNvPicPr>
          <p:nvPr/>
        </p:nvPicPr>
        <p:blipFill>
          <a:blip r:embed="rId2" cstate="print"/>
          <a:srcRect/>
          <a:stretch>
            <a:fillRect/>
          </a:stretch>
        </p:blipFill>
        <p:spPr bwMode="auto">
          <a:xfrm>
            <a:off x="7762672" y="2995340"/>
            <a:ext cx="4429328" cy="3862660"/>
          </a:xfrm>
          <a:prstGeom prst="rect">
            <a:avLst/>
          </a:prstGeom>
          <a:noFill/>
          <a:ln w="9525">
            <a:noFill/>
            <a:miter lim="800000"/>
            <a:headEnd/>
            <a:tailEnd/>
          </a:ln>
        </p:spPr>
      </p:pic>
      <p:pic>
        <p:nvPicPr>
          <p:cNvPr id="1027" name="Picture 3"/>
          <p:cNvPicPr>
            <a:picLocks noChangeAspect="1" noChangeArrowheads="1"/>
          </p:cNvPicPr>
          <p:nvPr/>
        </p:nvPicPr>
        <p:blipFill>
          <a:blip r:embed="rId3" cstate="print"/>
          <a:srcRect/>
          <a:stretch>
            <a:fillRect/>
          </a:stretch>
        </p:blipFill>
        <p:spPr bwMode="auto">
          <a:xfrm>
            <a:off x="2705302" y="2649877"/>
            <a:ext cx="2284987" cy="724116"/>
          </a:xfrm>
          <a:prstGeom prst="rect">
            <a:avLst/>
          </a:prstGeom>
          <a:noFill/>
          <a:ln w="9525">
            <a:noFill/>
            <a:miter lim="800000"/>
            <a:headEnd/>
            <a:tailEnd/>
          </a:ln>
        </p:spPr>
      </p:pic>
      <p:pic>
        <p:nvPicPr>
          <p:cNvPr id="1028" name="Picture 4"/>
          <p:cNvPicPr>
            <a:picLocks noChangeAspect="1" noChangeArrowheads="1"/>
          </p:cNvPicPr>
          <p:nvPr/>
        </p:nvPicPr>
        <p:blipFill>
          <a:blip r:embed="rId4" cstate="print"/>
          <a:srcRect/>
          <a:stretch>
            <a:fillRect/>
          </a:stretch>
        </p:blipFill>
        <p:spPr bwMode="auto">
          <a:xfrm>
            <a:off x="2448026" y="3837260"/>
            <a:ext cx="2814637" cy="753062"/>
          </a:xfrm>
          <a:prstGeom prst="rect">
            <a:avLst/>
          </a:prstGeom>
          <a:noFill/>
          <a:ln w="9525">
            <a:noFill/>
            <a:miter lim="800000"/>
            <a:headEnd/>
            <a:tailEnd/>
          </a:ln>
        </p:spPr>
      </p:pic>
      <p:pic>
        <p:nvPicPr>
          <p:cNvPr id="1029" name="Picture 5"/>
          <p:cNvPicPr>
            <a:picLocks noChangeAspect="1" noChangeArrowheads="1"/>
          </p:cNvPicPr>
          <p:nvPr/>
        </p:nvPicPr>
        <p:blipFill>
          <a:blip r:embed="rId5" cstate="print"/>
          <a:srcRect/>
          <a:stretch>
            <a:fillRect/>
          </a:stretch>
        </p:blipFill>
        <p:spPr bwMode="auto">
          <a:xfrm>
            <a:off x="2836830" y="5145832"/>
            <a:ext cx="1725443" cy="577173"/>
          </a:xfrm>
          <a:prstGeom prst="rect">
            <a:avLst/>
          </a:prstGeom>
          <a:noFill/>
          <a:ln w="9525">
            <a:noFill/>
            <a:miter lim="800000"/>
            <a:headEnd/>
            <a:tailEnd/>
          </a:ln>
        </p:spPr>
      </p:pic>
      <mc:AlternateContent xmlns:mc="http://schemas.openxmlformats.org/markup-compatibility/2006" xmlns:p14="http://schemas.microsoft.com/office/powerpoint/2010/main">
        <mc:Choice Requires="p14">
          <p:contentPart p14:bwMode="auto" r:id="rId6">
            <p14:nvContentPartPr>
              <p14:cNvPr id="8194" name="Ink 2"/>
              <p14:cNvContentPartPr>
                <a14:cpLocks xmlns:a14="http://schemas.microsoft.com/office/drawing/2010/main" noRot="1" noChangeAspect="1" noEditPoints="1" noChangeArrowheads="1" noChangeShapeType="1"/>
              </p14:cNvContentPartPr>
              <p14:nvPr/>
            </p14:nvContentPartPr>
            <p14:xfrm>
              <a:off x="9594850" y="4762500"/>
              <a:ext cx="31750" cy="25400"/>
            </p14:xfrm>
          </p:contentPart>
        </mc:Choice>
        <mc:Fallback xmlns="">
          <p:pic>
            <p:nvPicPr>
              <p:cNvPr id="8194" name="Ink 2"/>
              <p:cNvPicPr>
                <a:picLocks noRot="1" noChangeAspect="1" noEditPoints="1" noChangeArrowheads="1" noChangeShapeType="1"/>
              </p:cNvPicPr>
              <p:nvPr/>
            </p:nvPicPr>
            <p:blipFill>
              <a:blip r:embed="rId7"/>
              <a:stretch>
                <a:fillRect/>
              </a:stretch>
            </p:blipFill>
            <p:spPr>
              <a:xfrm>
                <a:off x="9585678" y="4753328"/>
                <a:ext cx="50094" cy="43744"/>
              </a:xfrm>
              <a:prstGeom prst="rect">
                <a:avLst/>
              </a:prstGeom>
            </p:spPr>
          </p:pic>
        </mc:Fallback>
      </mc:AlternateContent>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53703" y="624110"/>
            <a:ext cx="9850910" cy="1280890"/>
          </a:xfrm>
        </p:spPr>
        <p:txBody>
          <a:bodyPr/>
          <a:lstStyle/>
          <a:p>
            <a:r>
              <a:rPr lang="en-IN" dirty="0">
                <a:latin typeface="Arial" pitchFamily="34" charset="0"/>
                <a:cs typeface="Arial" pitchFamily="34" charset="0"/>
              </a:rPr>
              <a:t>Continue….</a:t>
            </a:r>
            <a:endParaRPr lang="en-US" dirty="0"/>
          </a:p>
        </p:txBody>
      </p:sp>
      <p:sp>
        <p:nvSpPr>
          <p:cNvPr id="3" name="Content Placeholder 2"/>
          <p:cNvSpPr>
            <a:spLocks noGrp="1"/>
          </p:cNvSpPr>
          <p:nvPr>
            <p:ph idx="1"/>
          </p:nvPr>
        </p:nvSpPr>
        <p:spPr>
          <a:xfrm>
            <a:off x="739303" y="1313234"/>
            <a:ext cx="11186808" cy="4776281"/>
          </a:xfrm>
        </p:spPr>
        <p:txBody>
          <a:bodyPr>
            <a:normAutofit/>
          </a:bodyPr>
          <a:lstStyle/>
          <a:p>
            <a:pPr algn="just"/>
            <a:r>
              <a:rPr lang="en-US" dirty="0">
                <a:latin typeface="Arial" pitchFamily="34" charset="0"/>
                <a:cs typeface="Arial" pitchFamily="34" charset="0"/>
              </a:rPr>
              <a:t>Substitute the value from (29) in (28).</a:t>
            </a:r>
          </a:p>
          <a:p>
            <a:pPr algn="just"/>
            <a:r>
              <a:rPr lang="en-US" dirty="0">
                <a:latin typeface="Arial" pitchFamily="34" charset="0"/>
                <a:cs typeface="Arial" pitchFamily="34" charset="0"/>
              </a:rPr>
              <a:t>                                                                                                  ….(30)</a:t>
            </a:r>
          </a:p>
          <a:p>
            <a:endParaRPr lang="en-US" dirty="0"/>
          </a:p>
          <a:p>
            <a:pPr>
              <a:spcBef>
                <a:spcPts val="0"/>
              </a:spcBef>
            </a:pPr>
            <a:r>
              <a:rPr lang="en-US" dirty="0">
                <a:latin typeface="Arial" pitchFamily="34" charset="0"/>
                <a:cs typeface="Arial" pitchFamily="34" charset="0"/>
              </a:rPr>
              <a:t>We can achieve completely symmetric input-output characteristics by setting the threshold voltages as</a:t>
            </a:r>
          </a:p>
          <a:p>
            <a:pPr>
              <a:spcBef>
                <a:spcPts val="0"/>
              </a:spcBef>
            </a:pPr>
            <a:r>
              <a:rPr lang="en-IN" b="1" dirty="0">
                <a:latin typeface="Arial" pitchFamily="34" charset="0"/>
                <a:cs typeface="Arial" pitchFamily="34" charset="0"/>
              </a:rPr>
              <a:t>V</a:t>
            </a:r>
            <a:r>
              <a:rPr lang="en-IN" b="1" baseline="-25000" dirty="0">
                <a:latin typeface="Arial" pitchFamily="34" charset="0"/>
                <a:cs typeface="Arial" pitchFamily="34" charset="0"/>
              </a:rPr>
              <a:t>T0</a:t>
            </a:r>
            <a:r>
              <a:rPr lang="en-IN" b="1" dirty="0">
                <a:latin typeface="Arial" pitchFamily="34" charset="0"/>
                <a:cs typeface="Arial" pitchFamily="34" charset="0"/>
              </a:rPr>
              <a:t> = VT</a:t>
            </a:r>
            <a:r>
              <a:rPr lang="en-IN" b="1" baseline="-25000" dirty="0">
                <a:latin typeface="Arial" pitchFamily="34" charset="0"/>
                <a:cs typeface="Arial" pitchFamily="34" charset="0"/>
              </a:rPr>
              <a:t>0,n</a:t>
            </a:r>
            <a:r>
              <a:rPr lang="en-IN" b="1" dirty="0">
                <a:latin typeface="Arial" pitchFamily="34" charset="0"/>
                <a:cs typeface="Arial" pitchFamily="34" charset="0"/>
              </a:rPr>
              <a:t> = |VT</a:t>
            </a:r>
            <a:r>
              <a:rPr lang="en-IN" b="1" baseline="-25000" dirty="0">
                <a:latin typeface="Arial" pitchFamily="34" charset="0"/>
                <a:cs typeface="Arial" pitchFamily="34" charset="0"/>
              </a:rPr>
              <a:t>0,p </a:t>
            </a:r>
            <a:r>
              <a:rPr lang="en-IN" b="1" dirty="0">
                <a:latin typeface="Arial" pitchFamily="34" charset="0"/>
                <a:cs typeface="Arial" pitchFamily="34" charset="0"/>
              </a:rPr>
              <a:t>| . </a:t>
            </a:r>
            <a:r>
              <a:rPr lang="en-IN" dirty="0">
                <a:latin typeface="Arial" pitchFamily="34" charset="0"/>
                <a:cs typeface="Arial" pitchFamily="34" charset="0"/>
              </a:rPr>
              <a:t>This reduces equation (30) </a:t>
            </a:r>
            <a:endParaRPr lang="en-IN" baseline="-25000" dirty="0">
              <a:latin typeface="Arial" pitchFamily="34" charset="0"/>
              <a:cs typeface="Arial" pitchFamily="34" charset="0"/>
            </a:endParaRPr>
          </a:p>
          <a:p>
            <a:pPr algn="just"/>
            <a:endParaRPr lang="en-US" dirty="0">
              <a:latin typeface="Arial" pitchFamily="34" charset="0"/>
              <a:cs typeface="Arial" pitchFamily="34" charset="0"/>
            </a:endParaRPr>
          </a:p>
          <a:p>
            <a:r>
              <a:rPr lang="en-IN" dirty="0">
                <a:latin typeface="Arial" pitchFamily="34" charset="0"/>
                <a:cs typeface="Arial" pitchFamily="34" charset="0"/>
              </a:rPr>
              <a:t>                                                                                                  … (31)</a:t>
            </a:r>
          </a:p>
          <a:p>
            <a:r>
              <a:rPr lang="en-US" dirty="0">
                <a:latin typeface="Arial" pitchFamily="34" charset="0"/>
                <a:cs typeface="Arial" pitchFamily="34" charset="0"/>
              </a:rPr>
              <a:t>Note that the ratio </a:t>
            </a:r>
            <a:r>
              <a:rPr lang="en-US" b="1" dirty="0" err="1">
                <a:latin typeface="Arial" pitchFamily="34" charset="0"/>
                <a:cs typeface="Arial" pitchFamily="34" charset="0"/>
              </a:rPr>
              <a:t>k</a:t>
            </a:r>
            <a:r>
              <a:rPr lang="en-US" b="1" baseline="-25000" dirty="0" err="1">
                <a:latin typeface="Arial" pitchFamily="34" charset="0"/>
                <a:cs typeface="Arial" pitchFamily="34" charset="0"/>
              </a:rPr>
              <a:t>R</a:t>
            </a:r>
            <a:r>
              <a:rPr lang="en-US" dirty="0">
                <a:latin typeface="Arial" pitchFamily="34" charset="0"/>
                <a:cs typeface="Arial" pitchFamily="34" charset="0"/>
              </a:rPr>
              <a:t> is defined as</a:t>
            </a:r>
          </a:p>
          <a:p>
            <a:endParaRPr lang="en-IN" dirty="0">
              <a:latin typeface="Arial" pitchFamily="34" charset="0"/>
              <a:cs typeface="Arial" pitchFamily="34" charset="0"/>
            </a:endParaRPr>
          </a:p>
          <a:p>
            <a:r>
              <a:rPr lang="en-IN" dirty="0">
                <a:latin typeface="Arial" pitchFamily="34" charset="0"/>
                <a:cs typeface="Arial" pitchFamily="34" charset="0"/>
              </a:rPr>
              <a:t>                                                                                                                        ……(32)</a:t>
            </a:r>
          </a:p>
          <a:p>
            <a:endParaRPr lang="en-US" dirty="0">
              <a:latin typeface="Arial" pitchFamily="34" charset="0"/>
              <a:cs typeface="Arial" pitchFamily="34" charset="0"/>
            </a:endParaRPr>
          </a:p>
          <a:p>
            <a:endParaRPr lang="en-IN" b="1" u="sng" dirty="0">
              <a:latin typeface="Arial" pitchFamily="34" charset="0"/>
              <a:cs typeface="Arial" pitchFamily="34" charset="0"/>
            </a:endParaRPr>
          </a:p>
        </p:txBody>
      </p:sp>
      <p:sp>
        <p:nvSpPr>
          <p:cNvPr id="4" name="Footer Placeholder 3"/>
          <p:cNvSpPr>
            <a:spLocks noGrp="1"/>
          </p:cNvSpPr>
          <p:nvPr>
            <p:ph type="ftr" sz="quarter" idx="11"/>
          </p:nvPr>
        </p:nvSpPr>
        <p:spPr>
          <a:xfrm>
            <a:off x="1721796" y="6135808"/>
            <a:ext cx="8487415" cy="365125"/>
          </a:xfrm>
        </p:spPr>
        <p:txBody>
          <a:bodyPr/>
          <a:lstStyle/>
          <a:p>
            <a:r>
              <a:rPr lang="en-IN" sz="1500" dirty="0">
                <a:solidFill>
                  <a:srgbClr val="C00000"/>
                </a:solidFill>
                <a:latin typeface="Arial" panose="020B0604020202020204" pitchFamily="34" charset="0"/>
                <a:cs typeface="Arial" panose="020B0604020202020204" pitchFamily="34" charset="0"/>
              </a:rPr>
              <a:t>Rohit Lorenzo, VIT-AP</a:t>
            </a:r>
          </a:p>
        </p:txBody>
      </p:sp>
      <p:sp>
        <p:nvSpPr>
          <p:cNvPr id="3074"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75" name="Rectangle 3"/>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5"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 name="Rectangle 3"/>
          <p:cNvSpPr>
            <a:spLocks noChangeArrowheads="1"/>
          </p:cNvSpPr>
          <p:nvPr/>
        </p:nvSpPr>
        <p:spPr bwMode="auto">
          <a:xfrm>
            <a:off x="0" y="10287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077" name="Rectangle 5"/>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78" name="Rectangle 6"/>
          <p:cNvSpPr>
            <a:spLocks noChangeArrowheads="1"/>
          </p:cNvSpPr>
          <p:nvPr/>
        </p:nvSpPr>
        <p:spPr bwMode="auto">
          <a:xfrm>
            <a:off x="0" y="7112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080" name="Rectangle 8"/>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81" name="Rectangle 9"/>
          <p:cNvSpPr>
            <a:spLocks noChangeArrowheads="1"/>
          </p:cNvSpPr>
          <p:nvPr/>
        </p:nvSpPr>
        <p:spPr bwMode="auto">
          <a:xfrm>
            <a:off x="0" y="8128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pic>
        <p:nvPicPr>
          <p:cNvPr id="2050" name="Picture 2"/>
          <p:cNvPicPr>
            <a:picLocks noChangeAspect="1" noChangeArrowheads="1"/>
          </p:cNvPicPr>
          <p:nvPr/>
        </p:nvPicPr>
        <p:blipFill>
          <a:blip r:embed="rId2" cstate="print"/>
          <a:srcRect/>
          <a:stretch>
            <a:fillRect/>
          </a:stretch>
        </p:blipFill>
        <p:spPr bwMode="auto">
          <a:xfrm>
            <a:off x="3844452" y="1640835"/>
            <a:ext cx="2488254" cy="753024"/>
          </a:xfrm>
          <a:prstGeom prst="rect">
            <a:avLst/>
          </a:prstGeom>
          <a:noFill/>
          <a:ln w="9525">
            <a:noFill/>
            <a:miter lim="800000"/>
            <a:headEnd/>
            <a:tailEnd/>
          </a:ln>
        </p:spPr>
      </p:pic>
      <p:pic>
        <p:nvPicPr>
          <p:cNvPr id="2051" name="Picture 3"/>
          <p:cNvPicPr>
            <a:picLocks noChangeAspect="1" noChangeArrowheads="1"/>
          </p:cNvPicPr>
          <p:nvPr/>
        </p:nvPicPr>
        <p:blipFill>
          <a:blip r:embed="rId3" cstate="print"/>
          <a:srcRect/>
          <a:stretch>
            <a:fillRect/>
          </a:stretch>
        </p:blipFill>
        <p:spPr bwMode="auto">
          <a:xfrm>
            <a:off x="4224744" y="3019730"/>
            <a:ext cx="1650763" cy="751344"/>
          </a:xfrm>
          <a:prstGeom prst="rect">
            <a:avLst/>
          </a:prstGeom>
          <a:noFill/>
          <a:ln w="9525">
            <a:noFill/>
            <a:miter lim="800000"/>
            <a:headEnd/>
            <a:tailEnd/>
          </a:ln>
        </p:spPr>
      </p:pic>
      <p:pic>
        <p:nvPicPr>
          <p:cNvPr id="2052" name="Picture 4"/>
          <p:cNvPicPr>
            <a:picLocks noChangeAspect="1" noChangeArrowheads="1"/>
          </p:cNvPicPr>
          <p:nvPr/>
        </p:nvPicPr>
        <p:blipFill>
          <a:blip r:embed="rId4" cstate="print"/>
          <a:srcRect/>
          <a:stretch>
            <a:fillRect/>
          </a:stretch>
        </p:blipFill>
        <p:spPr bwMode="auto">
          <a:xfrm>
            <a:off x="4497295" y="4235738"/>
            <a:ext cx="3102774" cy="1221479"/>
          </a:xfrm>
          <a:prstGeom prst="rect">
            <a:avLst/>
          </a:prstGeom>
          <a:noFill/>
          <a:ln w="9525">
            <a:noFill/>
            <a:miter lim="800000"/>
            <a:headEnd/>
            <a:tailEnd/>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53703" y="624110"/>
            <a:ext cx="9850910" cy="1280890"/>
          </a:xfrm>
        </p:spPr>
        <p:txBody>
          <a:bodyPr/>
          <a:lstStyle/>
          <a:p>
            <a:r>
              <a:rPr lang="en-IN" dirty="0">
                <a:latin typeface="Arial" pitchFamily="34" charset="0"/>
                <a:cs typeface="Arial" pitchFamily="34" charset="0"/>
              </a:rPr>
              <a:t>Continued……</a:t>
            </a:r>
            <a:endParaRPr lang="en-US" dirty="0"/>
          </a:p>
        </p:txBody>
      </p:sp>
      <p:sp>
        <p:nvSpPr>
          <p:cNvPr id="3" name="Content Placeholder 2"/>
          <p:cNvSpPr>
            <a:spLocks noGrp="1"/>
          </p:cNvSpPr>
          <p:nvPr>
            <p:ph idx="1"/>
          </p:nvPr>
        </p:nvSpPr>
        <p:spPr>
          <a:xfrm>
            <a:off x="496111" y="1313234"/>
            <a:ext cx="11430000" cy="4776281"/>
          </a:xfrm>
        </p:spPr>
        <p:txBody>
          <a:bodyPr>
            <a:normAutofit/>
          </a:bodyPr>
          <a:lstStyle/>
          <a:p>
            <a:r>
              <a:rPr lang="en-US" dirty="0">
                <a:latin typeface="Arial" pitchFamily="34" charset="0"/>
                <a:cs typeface="Arial" pitchFamily="34" charset="0"/>
              </a:rPr>
              <a:t>Assume the same </a:t>
            </a:r>
            <a:r>
              <a:rPr lang="en-US" b="1" dirty="0" err="1">
                <a:latin typeface="Arial" pitchFamily="34" charset="0"/>
                <a:cs typeface="Arial" pitchFamily="34" charset="0"/>
              </a:rPr>
              <a:t>t</a:t>
            </a:r>
            <a:r>
              <a:rPr lang="en-US" b="1" baseline="-25000" dirty="0" err="1">
                <a:latin typeface="Arial" pitchFamily="34" charset="0"/>
                <a:cs typeface="Arial" pitchFamily="34" charset="0"/>
              </a:rPr>
              <a:t>ox</a:t>
            </a:r>
            <a:r>
              <a:rPr lang="en-US" dirty="0">
                <a:latin typeface="Arial" pitchFamily="34" charset="0"/>
                <a:cs typeface="Arial" pitchFamily="34" charset="0"/>
              </a:rPr>
              <a:t>  and </a:t>
            </a:r>
            <a:r>
              <a:rPr lang="en-US" b="1" dirty="0">
                <a:latin typeface="Arial" pitchFamily="34" charset="0"/>
                <a:cs typeface="Arial" pitchFamily="34" charset="0"/>
              </a:rPr>
              <a:t>C</a:t>
            </a:r>
            <a:r>
              <a:rPr lang="en-US" b="1" baseline="-25000" dirty="0">
                <a:latin typeface="Arial" pitchFamily="34" charset="0"/>
                <a:cs typeface="Arial" pitchFamily="34" charset="0"/>
              </a:rPr>
              <a:t>ox</a:t>
            </a:r>
            <a:r>
              <a:rPr lang="en-US" baseline="-25000" dirty="0">
                <a:latin typeface="Arial" pitchFamily="34" charset="0"/>
                <a:cs typeface="Arial" pitchFamily="34" charset="0"/>
              </a:rPr>
              <a:t> . </a:t>
            </a:r>
            <a:r>
              <a:rPr lang="en-US" dirty="0">
                <a:latin typeface="Arial" pitchFamily="34" charset="0"/>
                <a:cs typeface="Arial" pitchFamily="34" charset="0"/>
              </a:rPr>
              <a:t>The unity-ratio condition (32) for the ideal symmetric inverter.</a:t>
            </a:r>
          </a:p>
          <a:p>
            <a:endParaRPr lang="en-IN" baseline="-25000" dirty="0">
              <a:latin typeface="Arial" pitchFamily="34" charset="0"/>
              <a:cs typeface="Arial" pitchFamily="34" charset="0"/>
            </a:endParaRPr>
          </a:p>
          <a:p>
            <a:r>
              <a:rPr lang="en-IN" baseline="-25000" dirty="0">
                <a:latin typeface="Arial" pitchFamily="34" charset="0"/>
                <a:cs typeface="Arial" pitchFamily="34" charset="0"/>
              </a:rPr>
              <a:t>       </a:t>
            </a:r>
            <a:r>
              <a:rPr lang="en-IN" dirty="0">
                <a:latin typeface="Arial" pitchFamily="34" charset="0"/>
                <a:cs typeface="Arial" pitchFamily="34" charset="0"/>
              </a:rPr>
              <a:t>             </a:t>
            </a:r>
            <a:r>
              <a:rPr lang="en-IN" baseline="-25000" dirty="0">
                <a:latin typeface="Arial" pitchFamily="34" charset="0"/>
                <a:cs typeface="Arial" pitchFamily="34" charset="0"/>
              </a:rPr>
              <a:t>                                    …. </a:t>
            </a:r>
            <a:r>
              <a:rPr lang="en-IN" sz="2400" baseline="-25000" dirty="0">
                <a:latin typeface="Arial" pitchFamily="34" charset="0"/>
                <a:cs typeface="Arial" pitchFamily="34" charset="0"/>
              </a:rPr>
              <a:t>(32)                                                            …. (33)</a:t>
            </a:r>
          </a:p>
          <a:p>
            <a:endParaRPr lang="en-IN" sz="2400" baseline="-25000" dirty="0">
              <a:latin typeface="Arial" pitchFamily="34" charset="0"/>
              <a:cs typeface="Arial" pitchFamily="34" charset="0"/>
            </a:endParaRPr>
          </a:p>
          <a:p>
            <a:pPr>
              <a:buNone/>
            </a:pPr>
            <a:r>
              <a:rPr lang="en-US" dirty="0">
                <a:latin typeface="Arial" pitchFamily="34" charset="0"/>
                <a:cs typeface="Arial" pitchFamily="34" charset="0"/>
              </a:rPr>
              <a:t>The VTCs of three CMOS inverter circuits with different</a:t>
            </a:r>
            <a:r>
              <a:rPr lang="en-US" b="1" dirty="0">
                <a:latin typeface="Arial" pitchFamily="34" charset="0"/>
                <a:cs typeface="Arial" pitchFamily="34" charset="0"/>
              </a:rPr>
              <a:t> </a:t>
            </a:r>
            <a:r>
              <a:rPr lang="en-US" b="1" dirty="0" err="1">
                <a:latin typeface="Arial" pitchFamily="34" charset="0"/>
                <a:cs typeface="Arial" pitchFamily="34" charset="0"/>
              </a:rPr>
              <a:t>k</a:t>
            </a:r>
            <a:r>
              <a:rPr lang="en-US" b="1" baseline="-25000" dirty="0" err="1">
                <a:latin typeface="Arial" pitchFamily="34" charset="0"/>
                <a:cs typeface="Arial" pitchFamily="34" charset="0"/>
              </a:rPr>
              <a:t>R</a:t>
            </a:r>
            <a:r>
              <a:rPr lang="en-US" b="1" dirty="0">
                <a:latin typeface="Arial" pitchFamily="34" charset="0"/>
                <a:cs typeface="Arial" pitchFamily="34" charset="0"/>
              </a:rPr>
              <a:t> </a:t>
            </a:r>
            <a:r>
              <a:rPr lang="en-US" dirty="0">
                <a:latin typeface="Arial" pitchFamily="34" charset="0"/>
                <a:cs typeface="Arial" pitchFamily="34" charset="0"/>
              </a:rPr>
              <a:t>ratios   are shown in Fig. It can be seen clearly that the inverter threshold  voltage </a:t>
            </a:r>
            <a:r>
              <a:rPr lang="en-US" b="1" dirty="0" err="1">
                <a:latin typeface="Arial" pitchFamily="34" charset="0"/>
                <a:cs typeface="Arial" pitchFamily="34" charset="0"/>
              </a:rPr>
              <a:t>V</a:t>
            </a:r>
            <a:r>
              <a:rPr lang="en-US" b="1" baseline="-25000" dirty="0" err="1">
                <a:latin typeface="Arial" pitchFamily="34" charset="0"/>
                <a:cs typeface="Arial" pitchFamily="34" charset="0"/>
              </a:rPr>
              <a:t>th</a:t>
            </a:r>
            <a:r>
              <a:rPr lang="en-US" dirty="0">
                <a:latin typeface="Arial" pitchFamily="34" charset="0"/>
                <a:cs typeface="Arial" pitchFamily="34" charset="0"/>
              </a:rPr>
              <a:t> shifts to lower values with increasing </a:t>
            </a:r>
            <a:r>
              <a:rPr lang="en-US" b="1" dirty="0" err="1">
                <a:latin typeface="Arial" pitchFamily="34" charset="0"/>
                <a:cs typeface="Arial" pitchFamily="34" charset="0"/>
              </a:rPr>
              <a:t>k</a:t>
            </a:r>
            <a:r>
              <a:rPr lang="en-US" b="1" baseline="-25000" dirty="0" err="1">
                <a:latin typeface="Arial" pitchFamily="34" charset="0"/>
                <a:cs typeface="Arial" pitchFamily="34" charset="0"/>
              </a:rPr>
              <a:t>R</a:t>
            </a:r>
            <a:r>
              <a:rPr lang="en-US" dirty="0">
                <a:latin typeface="Arial" pitchFamily="34" charset="0"/>
                <a:cs typeface="Arial" pitchFamily="34" charset="0"/>
              </a:rPr>
              <a:t> ratio</a:t>
            </a:r>
            <a:r>
              <a:rPr lang="en-US" i="1" dirty="0">
                <a:latin typeface="Arial" pitchFamily="34" charset="0"/>
                <a:cs typeface="Arial" pitchFamily="34" charset="0"/>
              </a:rPr>
              <a:t>.</a:t>
            </a:r>
            <a:endParaRPr lang="en-US" baseline="-25000" dirty="0">
              <a:latin typeface="Arial" pitchFamily="34" charset="0"/>
              <a:cs typeface="Arial" pitchFamily="34" charset="0"/>
            </a:endParaRPr>
          </a:p>
          <a:p>
            <a:pPr algn="just">
              <a:buNone/>
            </a:pPr>
            <a:r>
              <a:rPr lang="en-IN" dirty="0">
                <a:latin typeface="Arial" pitchFamily="34" charset="0"/>
                <a:cs typeface="Arial" pitchFamily="34" charset="0"/>
              </a:rPr>
              <a:t>    </a:t>
            </a:r>
          </a:p>
          <a:p>
            <a:pPr algn="just"/>
            <a:endParaRPr lang="en-IN" dirty="0">
              <a:latin typeface="Arial" pitchFamily="34" charset="0"/>
              <a:cs typeface="Arial" pitchFamily="34" charset="0"/>
            </a:endParaRPr>
          </a:p>
          <a:p>
            <a:endParaRPr lang="en-US" i="1" dirty="0">
              <a:latin typeface="Arial" pitchFamily="34" charset="0"/>
              <a:cs typeface="Arial" pitchFamily="34" charset="0"/>
            </a:endParaRPr>
          </a:p>
          <a:p>
            <a:endParaRPr lang="en-US" i="1" dirty="0">
              <a:latin typeface="Arial" pitchFamily="34" charset="0"/>
              <a:cs typeface="Arial" pitchFamily="34" charset="0"/>
            </a:endParaRPr>
          </a:p>
          <a:p>
            <a:endParaRPr lang="en-US" dirty="0">
              <a:latin typeface="Arial" pitchFamily="34" charset="0"/>
              <a:cs typeface="Arial" pitchFamily="34" charset="0"/>
            </a:endParaRPr>
          </a:p>
          <a:p>
            <a:endParaRPr lang="en-US" dirty="0">
              <a:latin typeface="Arial" pitchFamily="34" charset="0"/>
              <a:cs typeface="Arial" pitchFamily="34" charset="0"/>
            </a:endParaRPr>
          </a:p>
        </p:txBody>
      </p:sp>
      <p:sp>
        <p:nvSpPr>
          <p:cNvPr id="4" name="Footer Placeholder 3"/>
          <p:cNvSpPr>
            <a:spLocks noGrp="1"/>
          </p:cNvSpPr>
          <p:nvPr>
            <p:ph type="ftr" sz="quarter" idx="11"/>
          </p:nvPr>
        </p:nvSpPr>
        <p:spPr>
          <a:xfrm>
            <a:off x="1721796" y="6135808"/>
            <a:ext cx="8487415" cy="365125"/>
          </a:xfrm>
        </p:spPr>
        <p:txBody>
          <a:bodyPr/>
          <a:lstStyle/>
          <a:p>
            <a:r>
              <a:rPr lang="en-IN" sz="1500" dirty="0">
                <a:solidFill>
                  <a:srgbClr val="C00000"/>
                </a:solidFill>
                <a:latin typeface="Arial" panose="020B0604020202020204" pitchFamily="34" charset="0"/>
                <a:cs typeface="Arial" panose="020B0604020202020204" pitchFamily="34" charset="0"/>
              </a:rPr>
              <a:t>Rohit Lorenzo, VIT-AP</a:t>
            </a:r>
          </a:p>
        </p:txBody>
      </p:sp>
      <p:sp>
        <p:nvSpPr>
          <p:cNvPr id="3074"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75" name="Rectangle 3"/>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53250"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3251" name="Rectangle 3"/>
          <p:cNvSpPr>
            <a:spLocks noChangeArrowheads="1"/>
          </p:cNvSpPr>
          <p:nvPr/>
        </p:nvSpPr>
        <p:spPr bwMode="auto">
          <a:xfrm>
            <a:off x="0" y="128905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53253" name="Rectangle 5"/>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3254" name="Rectangle 6"/>
          <p:cNvSpPr>
            <a:spLocks noChangeArrowheads="1"/>
          </p:cNvSpPr>
          <p:nvPr/>
        </p:nvSpPr>
        <p:spPr bwMode="auto">
          <a:xfrm>
            <a:off x="0" y="95885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53256" name="Rectangle 8"/>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3257" name="Rectangle 9"/>
          <p:cNvSpPr>
            <a:spLocks noChangeArrowheads="1"/>
          </p:cNvSpPr>
          <p:nvPr/>
        </p:nvSpPr>
        <p:spPr bwMode="auto">
          <a:xfrm>
            <a:off x="0" y="10414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53259" name="Rectangle 11"/>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3260" name="Rectangle 12"/>
          <p:cNvSpPr>
            <a:spLocks noChangeArrowheads="1"/>
          </p:cNvSpPr>
          <p:nvPr/>
        </p:nvSpPr>
        <p:spPr bwMode="auto">
          <a:xfrm>
            <a:off x="0" y="1003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53265" name="Rectangle 17"/>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3266" name="Rectangle 18"/>
          <p:cNvSpPr>
            <a:spLocks noChangeArrowheads="1"/>
          </p:cNvSpPr>
          <p:nvPr/>
        </p:nvSpPr>
        <p:spPr bwMode="auto">
          <a:xfrm>
            <a:off x="0" y="10414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pic>
        <p:nvPicPr>
          <p:cNvPr id="5" name="Picture 2"/>
          <p:cNvPicPr>
            <a:picLocks noChangeAspect="1" noChangeArrowheads="1"/>
          </p:cNvPicPr>
          <p:nvPr/>
        </p:nvPicPr>
        <p:blipFill>
          <a:blip r:embed="rId2" cstate="print"/>
          <a:srcRect/>
          <a:stretch>
            <a:fillRect/>
          </a:stretch>
        </p:blipFill>
        <p:spPr bwMode="auto">
          <a:xfrm>
            <a:off x="1225686" y="1641424"/>
            <a:ext cx="2101174" cy="912138"/>
          </a:xfrm>
          <a:prstGeom prst="rect">
            <a:avLst/>
          </a:prstGeom>
          <a:noFill/>
          <a:ln w="9525">
            <a:noFill/>
            <a:miter lim="800000"/>
            <a:headEnd/>
            <a:tailEnd/>
          </a:ln>
        </p:spPr>
      </p:pic>
      <p:pic>
        <p:nvPicPr>
          <p:cNvPr id="6" name="Picture 3"/>
          <p:cNvPicPr>
            <a:picLocks noChangeAspect="1" noChangeArrowheads="1"/>
          </p:cNvPicPr>
          <p:nvPr/>
        </p:nvPicPr>
        <p:blipFill>
          <a:blip r:embed="rId3" cstate="print"/>
          <a:srcRect/>
          <a:stretch>
            <a:fillRect/>
          </a:stretch>
        </p:blipFill>
        <p:spPr bwMode="auto">
          <a:xfrm>
            <a:off x="5302183" y="1899226"/>
            <a:ext cx="1575273" cy="575023"/>
          </a:xfrm>
          <a:prstGeom prst="rect">
            <a:avLst/>
          </a:prstGeom>
          <a:noFill/>
          <a:ln w="9525">
            <a:noFill/>
            <a:miter lim="800000"/>
            <a:headEnd/>
            <a:tailEnd/>
          </a:ln>
        </p:spPr>
      </p:pic>
      <p:pic>
        <p:nvPicPr>
          <p:cNvPr id="3077" name="Picture 5"/>
          <p:cNvPicPr>
            <a:picLocks noChangeAspect="1" noChangeArrowheads="1"/>
          </p:cNvPicPr>
          <p:nvPr/>
        </p:nvPicPr>
        <p:blipFill>
          <a:blip r:embed="rId4" cstate="print"/>
          <a:srcRect/>
          <a:stretch>
            <a:fillRect/>
          </a:stretch>
        </p:blipFill>
        <p:spPr bwMode="auto">
          <a:xfrm>
            <a:off x="7811310" y="3424136"/>
            <a:ext cx="4380689" cy="3433864"/>
          </a:xfrm>
          <a:prstGeom prst="rect">
            <a:avLst/>
          </a:prstGeom>
          <a:noFill/>
          <a:ln w="9525">
            <a:noFill/>
            <a:miter lim="800000"/>
            <a:headEnd/>
            <a:tailEnd/>
          </a:ln>
        </p:spPr>
      </p:pic>
      <p:pic>
        <p:nvPicPr>
          <p:cNvPr id="46082" name="Picture 2"/>
          <p:cNvPicPr>
            <a:picLocks noChangeAspect="1" noChangeArrowheads="1"/>
          </p:cNvPicPr>
          <p:nvPr/>
        </p:nvPicPr>
        <p:blipFill>
          <a:blip r:embed="rId5" cstate="print"/>
          <a:srcRect/>
          <a:stretch>
            <a:fillRect/>
          </a:stretch>
        </p:blipFill>
        <p:spPr bwMode="auto">
          <a:xfrm>
            <a:off x="3813242" y="3505810"/>
            <a:ext cx="3735118" cy="3352190"/>
          </a:xfrm>
          <a:prstGeom prst="rect">
            <a:avLst/>
          </a:prstGeom>
          <a:noFill/>
          <a:ln w="9525">
            <a:noFill/>
            <a:miter lim="800000"/>
            <a:headEnd/>
            <a:tailEnd/>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53703" y="624110"/>
            <a:ext cx="9850910" cy="1280890"/>
          </a:xfrm>
        </p:spPr>
        <p:txBody>
          <a:bodyPr>
            <a:normAutofit/>
          </a:bodyPr>
          <a:lstStyle/>
          <a:p>
            <a:r>
              <a:rPr lang="en-US" sz="3200" dirty="0">
                <a:latin typeface="Arial" pitchFamily="34" charset="0"/>
                <a:cs typeface="Arial" pitchFamily="34" charset="0"/>
              </a:rPr>
              <a:t>Problem 1 </a:t>
            </a:r>
          </a:p>
        </p:txBody>
      </p:sp>
      <p:sp>
        <p:nvSpPr>
          <p:cNvPr id="3" name="Content Placeholder 2"/>
          <p:cNvSpPr>
            <a:spLocks noGrp="1"/>
          </p:cNvSpPr>
          <p:nvPr>
            <p:ph idx="1"/>
          </p:nvPr>
        </p:nvSpPr>
        <p:spPr>
          <a:xfrm>
            <a:off x="739303" y="1313234"/>
            <a:ext cx="11186808" cy="4776281"/>
          </a:xfrm>
        </p:spPr>
        <p:txBody>
          <a:bodyPr>
            <a:normAutofit/>
          </a:bodyPr>
          <a:lstStyle/>
          <a:p>
            <a:r>
              <a:rPr lang="en-US" dirty="0">
                <a:latin typeface="Arial" pitchFamily="34" charset="0"/>
                <a:cs typeface="Arial" pitchFamily="34" charset="0"/>
              </a:rPr>
              <a:t>Consider a CMOS inverter circuit with the following parameters:</a:t>
            </a:r>
          </a:p>
          <a:p>
            <a:endParaRPr lang="en-US" dirty="0"/>
          </a:p>
          <a:p>
            <a:endParaRPr lang="en-US" dirty="0"/>
          </a:p>
          <a:p>
            <a:endParaRPr lang="en-US" dirty="0"/>
          </a:p>
          <a:p>
            <a:endParaRPr lang="en-US" dirty="0"/>
          </a:p>
          <a:p>
            <a:pPr>
              <a:spcBef>
                <a:spcPts val="0"/>
              </a:spcBef>
            </a:pPr>
            <a:endParaRPr lang="en-US" dirty="0">
              <a:latin typeface="Arial" pitchFamily="34" charset="0"/>
              <a:cs typeface="Arial" pitchFamily="34" charset="0"/>
            </a:endParaRPr>
          </a:p>
          <a:p>
            <a:pPr>
              <a:spcBef>
                <a:spcPts val="0"/>
              </a:spcBef>
            </a:pPr>
            <a:endParaRPr lang="en-US" dirty="0">
              <a:latin typeface="Arial" pitchFamily="34" charset="0"/>
              <a:cs typeface="Arial" pitchFamily="34" charset="0"/>
            </a:endParaRPr>
          </a:p>
          <a:p>
            <a:pPr>
              <a:spcBef>
                <a:spcPts val="0"/>
              </a:spcBef>
            </a:pPr>
            <a:r>
              <a:rPr lang="en-US" dirty="0">
                <a:latin typeface="Arial" pitchFamily="34" charset="0"/>
                <a:cs typeface="Arial" pitchFamily="34" charset="0"/>
              </a:rPr>
              <a:t>Calculate the noise margins of the circuit. Notice that the CMOS inverter being considered here has </a:t>
            </a:r>
          </a:p>
          <a:p>
            <a:pPr>
              <a:spcBef>
                <a:spcPts val="0"/>
              </a:spcBef>
              <a:buNone/>
            </a:pPr>
            <a:r>
              <a:rPr lang="en-US" i="1" dirty="0">
                <a:latin typeface="Arial" pitchFamily="34" charset="0"/>
                <a:cs typeface="Arial" pitchFamily="34" charset="0"/>
              </a:rPr>
              <a:t>      </a:t>
            </a:r>
            <a:r>
              <a:rPr lang="en-US" dirty="0" err="1">
                <a:latin typeface="Arial" pitchFamily="34" charset="0"/>
                <a:cs typeface="Arial" pitchFamily="34" charset="0"/>
              </a:rPr>
              <a:t>k</a:t>
            </a:r>
            <a:r>
              <a:rPr lang="en-US" baseline="-25000" dirty="0" err="1">
                <a:latin typeface="Arial" pitchFamily="34" charset="0"/>
                <a:cs typeface="Arial" pitchFamily="34" charset="0"/>
              </a:rPr>
              <a:t>R</a:t>
            </a:r>
            <a:r>
              <a:rPr lang="en-US" baseline="-25000" dirty="0">
                <a:latin typeface="Arial" pitchFamily="34" charset="0"/>
                <a:cs typeface="Arial" pitchFamily="34" charset="0"/>
              </a:rPr>
              <a:t> </a:t>
            </a:r>
            <a:r>
              <a:rPr lang="en-US" dirty="0">
                <a:latin typeface="Arial" pitchFamily="34" charset="0"/>
                <a:cs typeface="Arial" pitchFamily="34" charset="0"/>
              </a:rPr>
              <a:t>= 2.5 and                          . hence, it is not a symmetric inverter. </a:t>
            </a:r>
            <a:endParaRPr lang="en-IN" b="1" baseline="-25000" dirty="0">
              <a:latin typeface="Arial" pitchFamily="34" charset="0"/>
              <a:cs typeface="Arial" pitchFamily="34" charset="0"/>
            </a:endParaRPr>
          </a:p>
        </p:txBody>
      </p:sp>
      <p:sp>
        <p:nvSpPr>
          <p:cNvPr id="4" name="Footer Placeholder 3"/>
          <p:cNvSpPr>
            <a:spLocks noGrp="1"/>
          </p:cNvSpPr>
          <p:nvPr>
            <p:ph type="ftr" sz="quarter" idx="11"/>
          </p:nvPr>
        </p:nvSpPr>
        <p:spPr>
          <a:xfrm>
            <a:off x="1721796" y="6135808"/>
            <a:ext cx="8487415" cy="365125"/>
          </a:xfrm>
        </p:spPr>
        <p:txBody>
          <a:bodyPr/>
          <a:lstStyle/>
          <a:p>
            <a:r>
              <a:rPr lang="en-IN" sz="1500" dirty="0">
                <a:solidFill>
                  <a:srgbClr val="C00000"/>
                </a:solidFill>
                <a:latin typeface="Arial" panose="020B0604020202020204" pitchFamily="34" charset="0"/>
                <a:cs typeface="Arial" panose="020B0604020202020204" pitchFamily="34" charset="0"/>
              </a:rPr>
              <a:t>Rohit Lorenzo, VIT-AP</a:t>
            </a:r>
          </a:p>
        </p:txBody>
      </p:sp>
      <p:sp>
        <p:nvSpPr>
          <p:cNvPr id="3074"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75" name="Rectangle 3"/>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pic>
        <p:nvPicPr>
          <p:cNvPr id="4099" name="Picture 3"/>
          <p:cNvPicPr>
            <a:picLocks noChangeAspect="1" noChangeArrowheads="1"/>
          </p:cNvPicPr>
          <p:nvPr/>
        </p:nvPicPr>
        <p:blipFill>
          <a:blip r:embed="rId2" cstate="print"/>
          <a:srcRect/>
          <a:stretch>
            <a:fillRect/>
          </a:stretch>
        </p:blipFill>
        <p:spPr bwMode="auto">
          <a:xfrm>
            <a:off x="3861879" y="1818344"/>
            <a:ext cx="1863541" cy="1683613"/>
          </a:xfrm>
          <a:prstGeom prst="rect">
            <a:avLst/>
          </a:prstGeom>
          <a:noFill/>
          <a:ln w="9525">
            <a:noFill/>
            <a:miter lim="800000"/>
            <a:headEnd/>
            <a:tailEnd/>
          </a:ln>
        </p:spPr>
      </p:pic>
      <p:sp>
        <p:nvSpPr>
          <p:cNvPr id="4101" name="Rectangle 5"/>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4100" name="Picture 4"/>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2529189" y="4046705"/>
            <a:ext cx="1473651" cy="359924"/>
          </a:xfrm>
          <a:prstGeom prst="rect">
            <a:avLst/>
          </a:prstGeom>
          <a:noFill/>
        </p:spPr>
      </p:pic>
      <p:sp>
        <p:nvSpPr>
          <p:cNvPr id="4102" name="Rectangle 6"/>
          <p:cNvSpPr>
            <a:spLocks noChangeArrowheads="1"/>
          </p:cNvSpPr>
          <p:nvPr/>
        </p:nvSpPr>
        <p:spPr bwMode="auto">
          <a:xfrm>
            <a:off x="0" y="79375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53703" y="624110"/>
            <a:ext cx="9850910" cy="1280890"/>
          </a:xfrm>
        </p:spPr>
        <p:txBody>
          <a:bodyPr>
            <a:normAutofit/>
          </a:bodyPr>
          <a:lstStyle/>
          <a:p>
            <a:r>
              <a:rPr lang="en-IN" sz="3200" dirty="0">
                <a:latin typeface="Arial" pitchFamily="34" charset="0"/>
                <a:cs typeface="Arial" pitchFamily="34" charset="0"/>
              </a:rPr>
              <a:t>Solution </a:t>
            </a:r>
            <a:endParaRPr lang="en-US" sz="3200" b="1" baseline="-25000" dirty="0">
              <a:latin typeface="Arial" pitchFamily="34" charset="0"/>
              <a:cs typeface="Arial" pitchFamily="34" charset="0"/>
            </a:endParaRPr>
          </a:p>
        </p:txBody>
      </p:sp>
      <p:sp>
        <p:nvSpPr>
          <p:cNvPr id="3" name="Content Placeholder 2"/>
          <p:cNvSpPr>
            <a:spLocks noGrp="1"/>
          </p:cNvSpPr>
          <p:nvPr>
            <p:ph idx="1"/>
          </p:nvPr>
        </p:nvSpPr>
        <p:spPr>
          <a:xfrm>
            <a:off x="739303" y="1313234"/>
            <a:ext cx="11186808" cy="4776281"/>
          </a:xfrm>
        </p:spPr>
        <p:txBody>
          <a:bodyPr>
            <a:normAutofit/>
          </a:bodyPr>
          <a:lstStyle/>
          <a:p>
            <a:r>
              <a:rPr lang="en-US" dirty="0">
                <a:latin typeface="Arial" pitchFamily="34" charset="0"/>
                <a:cs typeface="Arial" pitchFamily="34" charset="0"/>
              </a:rPr>
              <a:t>From equation (18)</a:t>
            </a:r>
          </a:p>
          <a:p>
            <a:endParaRPr lang="en-US" dirty="0">
              <a:latin typeface="Arial" pitchFamily="34" charset="0"/>
              <a:cs typeface="Arial" pitchFamily="34" charset="0"/>
            </a:endParaRPr>
          </a:p>
          <a:p>
            <a:endParaRPr lang="en-US" dirty="0">
              <a:latin typeface="Arial" pitchFamily="34" charset="0"/>
              <a:cs typeface="Arial" pitchFamily="34" charset="0"/>
            </a:endParaRPr>
          </a:p>
          <a:p>
            <a:r>
              <a:rPr lang="en-US" dirty="0">
                <a:latin typeface="Arial" pitchFamily="34" charset="0"/>
                <a:cs typeface="Arial" pitchFamily="34" charset="0"/>
              </a:rPr>
              <a:t>Now substitute this in equation (17) </a:t>
            </a:r>
          </a:p>
          <a:p>
            <a:endParaRPr lang="en-IN" dirty="0">
              <a:latin typeface="Arial" pitchFamily="34" charset="0"/>
              <a:cs typeface="Arial" pitchFamily="34" charset="0"/>
            </a:endParaRPr>
          </a:p>
          <a:p>
            <a:endParaRPr lang="en-IN" dirty="0">
              <a:latin typeface="Arial" pitchFamily="34" charset="0"/>
              <a:cs typeface="Arial" pitchFamily="34" charset="0"/>
            </a:endParaRPr>
          </a:p>
          <a:p>
            <a:endParaRPr lang="en-IN" dirty="0">
              <a:latin typeface="Arial" pitchFamily="34" charset="0"/>
              <a:cs typeface="Arial" pitchFamily="34" charset="0"/>
            </a:endParaRPr>
          </a:p>
          <a:p>
            <a:endParaRPr lang="en-IN" dirty="0">
              <a:latin typeface="Arial" pitchFamily="34" charset="0"/>
              <a:cs typeface="Arial" pitchFamily="34" charset="0"/>
            </a:endParaRPr>
          </a:p>
          <a:p>
            <a:endParaRPr lang="en-IN" dirty="0">
              <a:latin typeface="Arial" pitchFamily="34" charset="0"/>
              <a:cs typeface="Arial" pitchFamily="34" charset="0"/>
            </a:endParaRPr>
          </a:p>
          <a:p>
            <a:r>
              <a:rPr lang="en-IN" dirty="0">
                <a:latin typeface="Arial" pitchFamily="34" charset="0"/>
                <a:cs typeface="Arial" pitchFamily="34" charset="0"/>
              </a:rPr>
              <a:t>Now we can calculate the value in </a:t>
            </a:r>
            <a:r>
              <a:rPr lang="en-IN" b="1" dirty="0">
                <a:latin typeface="Arial" pitchFamily="34" charset="0"/>
                <a:cs typeface="Arial" pitchFamily="34" charset="0"/>
              </a:rPr>
              <a:t>V</a:t>
            </a:r>
            <a:r>
              <a:rPr lang="en-IN" b="1" baseline="-25000" dirty="0">
                <a:latin typeface="Arial" pitchFamily="34" charset="0"/>
                <a:cs typeface="Arial" pitchFamily="34" charset="0"/>
              </a:rPr>
              <a:t>IL</a:t>
            </a:r>
            <a:endParaRPr lang="en-US" b="1" baseline="-25000" dirty="0">
              <a:latin typeface="Arial" pitchFamily="34" charset="0"/>
              <a:cs typeface="Arial" pitchFamily="34" charset="0"/>
            </a:endParaRPr>
          </a:p>
        </p:txBody>
      </p:sp>
      <p:sp>
        <p:nvSpPr>
          <p:cNvPr id="4" name="Footer Placeholder 3"/>
          <p:cNvSpPr>
            <a:spLocks noGrp="1"/>
          </p:cNvSpPr>
          <p:nvPr>
            <p:ph type="ftr" sz="quarter" idx="11"/>
          </p:nvPr>
        </p:nvSpPr>
        <p:spPr>
          <a:xfrm>
            <a:off x="1721796" y="6135808"/>
            <a:ext cx="8487415" cy="365125"/>
          </a:xfrm>
        </p:spPr>
        <p:txBody>
          <a:bodyPr/>
          <a:lstStyle/>
          <a:p>
            <a:r>
              <a:rPr lang="en-IN" sz="1500" dirty="0">
                <a:solidFill>
                  <a:srgbClr val="C00000"/>
                </a:solidFill>
                <a:latin typeface="Arial" panose="020B0604020202020204" pitchFamily="34" charset="0"/>
                <a:cs typeface="Arial" panose="020B0604020202020204" pitchFamily="34" charset="0"/>
              </a:rPr>
              <a:t>Rohit Lorenzo, VIT-AP</a:t>
            </a:r>
          </a:p>
        </p:txBody>
      </p:sp>
      <p:sp>
        <p:nvSpPr>
          <p:cNvPr id="3074"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75" name="Rectangle 3"/>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pic>
        <p:nvPicPr>
          <p:cNvPr id="66561" name="Picture 1"/>
          <p:cNvPicPr>
            <a:picLocks noChangeAspect="1" noChangeArrowheads="1"/>
          </p:cNvPicPr>
          <p:nvPr/>
        </p:nvPicPr>
        <p:blipFill>
          <a:blip r:embed="rId2" cstate="print"/>
          <a:srcRect/>
          <a:stretch>
            <a:fillRect/>
          </a:stretch>
        </p:blipFill>
        <p:spPr bwMode="auto">
          <a:xfrm>
            <a:off x="3245594" y="1248688"/>
            <a:ext cx="3959911" cy="1173499"/>
          </a:xfrm>
          <a:prstGeom prst="rect">
            <a:avLst/>
          </a:prstGeom>
          <a:noFill/>
          <a:ln w="9525">
            <a:noFill/>
            <a:miter lim="800000"/>
            <a:headEnd/>
            <a:tailEnd/>
          </a:ln>
        </p:spPr>
      </p:pic>
      <p:pic>
        <p:nvPicPr>
          <p:cNvPr id="10" name="Picture 3"/>
          <p:cNvPicPr>
            <a:picLocks noChangeAspect="1" noChangeArrowheads="1"/>
          </p:cNvPicPr>
          <p:nvPr/>
        </p:nvPicPr>
        <p:blipFill>
          <a:blip r:embed="rId3" cstate="print"/>
          <a:srcRect/>
          <a:stretch>
            <a:fillRect/>
          </a:stretch>
        </p:blipFill>
        <p:spPr bwMode="auto">
          <a:xfrm>
            <a:off x="2244153" y="2945354"/>
            <a:ext cx="5820077" cy="469056"/>
          </a:xfrm>
          <a:prstGeom prst="rect">
            <a:avLst/>
          </a:prstGeom>
          <a:noFill/>
          <a:ln w="9525">
            <a:noFill/>
            <a:miter lim="800000"/>
            <a:headEnd/>
            <a:tailEnd/>
          </a:ln>
        </p:spPr>
      </p:pic>
      <p:pic>
        <p:nvPicPr>
          <p:cNvPr id="66562" name="Picture 2"/>
          <p:cNvPicPr>
            <a:picLocks noChangeAspect="1" noChangeArrowheads="1"/>
          </p:cNvPicPr>
          <p:nvPr/>
        </p:nvPicPr>
        <p:blipFill>
          <a:blip r:embed="rId4" cstate="print"/>
          <a:srcRect/>
          <a:stretch>
            <a:fillRect/>
          </a:stretch>
        </p:blipFill>
        <p:spPr bwMode="auto">
          <a:xfrm>
            <a:off x="1662348" y="3546610"/>
            <a:ext cx="9042400" cy="387350"/>
          </a:xfrm>
          <a:prstGeom prst="rect">
            <a:avLst/>
          </a:prstGeom>
          <a:noFill/>
          <a:ln w="9525">
            <a:noFill/>
            <a:miter lim="800000"/>
            <a:headEnd/>
            <a:tailEnd/>
          </a:ln>
        </p:spPr>
      </p:pic>
      <p:pic>
        <p:nvPicPr>
          <p:cNvPr id="66563" name="Picture 3"/>
          <p:cNvPicPr>
            <a:picLocks noChangeAspect="1" noChangeArrowheads="1"/>
          </p:cNvPicPr>
          <p:nvPr/>
        </p:nvPicPr>
        <p:blipFill>
          <a:blip r:embed="rId5" cstate="print"/>
          <a:srcRect/>
          <a:stretch>
            <a:fillRect/>
          </a:stretch>
        </p:blipFill>
        <p:spPr bwMode="auto">
          <a:xfrm>
            <a:off x="1825863" y="4120780"/>
            <a:ext cx="3563260" cy="395918"/>
          </a:xfrm>
          <a:prstGeom prst="rect">
            <a:avLst/>
          </a:prstGeom>
          <a:noFill/>
          <a:ln w="9525">
            <a:noFill/>
            <a:miter lim="800000"/>
            <a:headEnd/>
            <a:tailEnd/>
          </a:ln>
        </p:spPr>
      </p:pic>
      <p:pic>
        <p:nvPicPr>
          <p:cNvPr id="66564" name="Picture 4"/>
          <p:cNvPicPr>
            <a:picLocks noChangeAspect="1" noChangeArrowheads="1"/>
          </p:cNvPicPr>
          <p:nvPr/>
        </p:nvPicPr>
        <p:blipFill>
          <a:blip r:embed="rId6" cstate="print"/>
          <a:srcRect/>
          <a:stretch>
            <a:fillRect/>
          </a:stretch>
        </p:blipFill>
        <p:spPr bwMode="auto">
          <a:xfrm>
            <a:off x="1915942" y="4620434"/>
            <a:ext cx="1634652" cy="341791"/>
          </a:xfrm>
          <a:prstGeom prst="rect">
            <a:avLst/>
          </a:prstGeom>
          <a:noFill/>
          <a:ln w="9525">
            <a:noFill/>
            <a:miter lim="800000"/>
            <a:headEnd/>
            <a:tailEnd/>
          </a:ln>
        </p:spPr>
      </p:pic>
      <p:pic>
        <p:nvPicPr>
          <p:cNvPr id="66566" name="Picture 6"/>
          <p:cNvPicPr>
            <a:picLocks noChangeAspect="1" noChangeArrowheads="1"/>
          </p:cNvPicPr>
          <p:nvPr/>
        </p:nvPicPr>
        <p:blipFill>
          <a:blip r:embed="rId7" cstate="print"/>
          <a:srcRect/>
          <a:stretch>
            <a:fillRect/>
          </a:stretch>
        </p:blipFill>
        <p:spPr bwMode="auto">
          <a:xfrm>
            <a:off x="2676118" y="5356597"/>
            <a:ext cx="2878375" cy="347390"/>
          </a:xfrm>
          <a:prstGeom prst="rect">
            <a:avLst/>
          </a:prstGeom>
          <a:noFill/>
          <a:ln w="9525">
            <a:noFill/>
            <a:miter lim="800000"/>
            <a:headEnd/>
            <a:tailEnd/>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53703" y="624110"/>
            <a:ext cx="9850910" cy="1280890"/>
          </a:xfrm>
        </p:spPr>
        <p:txBody>
          <a:bodyPr>
            <a:normAutofit/>
          </a:bodyPr>
          <a:lstStyle/>
          <a:p>
            <a:r>
              <a:rPr lang="en-IN" sz="3200" dirty="0">
                <a:latin typeface="Arial" pitchFamily="34" charset="0"/>
                <a:cs typeface="Arial" pitchFamily="34" charset="0"/>
              </a:rPr>
              <a:t>Continue…..</a:t>
            </a:r>
            <a:endParaRPr lang="en-US" sz="3200" b="1" baseline="-25000" dirty="0">
              <a:latin typeface="Arial" pitchFamily="34" charset="0"/>
              <a:cs typeface="Arial" pitchFamily="34" charset="0"/>
            </a:endParaRPr>
          </a:p>
        </p:txBody>
      </p:sp>
      <p:sp>
        <p:nvSpPr>
          <p:cNvPr id="3" name="Content Placeholder 2"/>
          <p:cNvSpPr>
            <a:spLocks noGrp="1"/>
          </p:cNvSpPr>
          <p:nvPr>
            <p:ph idx="1"/>
          </p:nvPr>
        </p:nvSpPr>
        <p:spPr>
          <a:xfrm>
            <a:off x="739303" y="1313234"/>
            <a:ext cx="11186808" cy="4776281"/>
          </a:xfrm>
        </p:spPr>
        <p:txBody>
          <a:bodyPr>
            <a:normAutofit/>
          </a:bodyPr>
          <a:lstStyle/>
          <a:p>
            <a:r>
              <a:rPr lang="en-US" dirty="0">
                <a:latin typeface="Arial" pitchFamily="34" charset="0"/>
                <a:cs typeface="Arial" pitchFamily="34" charset="0"/>
              </a:rPr>
              <a:t>To calculate </a:t>
            </a:r>
            <a:r>
              <a:rPr lang="en-US" b="1" dirty="0">
                <a:latin typeface="Arial" pitchFamily="34" charset="0"/>
                <a:cs typeface="Arial" pitchFamily="34" charset="0"/>
              </a:rPr>
              <a:t>V</a:t>
            </a:r>
            <a:r>
              <a:rPr lang="en-US" b="1" baseline="-25000" dirty="0">
                <a:latin typeface="Arial" pitchFamily="34" charset="0"/>
                <a:cs typeface="Arial" pitchFamily="34" charset="0"/>
              </a:rPr>
              <a:t>IH</a:t>
            </a:r>
            <a:r>
              <a:rPr lang="en-US" dirty="0">
                <a:latin typeface="Arial" pitchFamily="34" charset="0"/>
                <a:cs typeface="Arial" pitchFamily="34" charset="0"/>
              </a:rPr>
              <a:t> in terms of the output voltage, use</a:t>
            </a:r>
          </a:p>
          <a:p>
            <a:endParaRPr lang="en-IN" dirty="0">
              <a:latin typeface="Arial" pitchFamily="34" charset="0"/>
              <a:cs typeface="Arial" pitchFamily="34" charset="0"/>
            </a:endParaRPr>
          </a:p>
          <a:p>
            <a:endParaRPr lang="en-IN" dirty="0">
              <a:latin typeface="Arial" pitchFamily="34" charset="0"/>
              <a:cs typeface="Arial" pitchFamily="34" charset="0"/>
            </a:endParaRPr>
          </a:p>
          <a:p>
            <a:endParaRPr lang="en-IN" dirty="0">
              <a:latin typeface="Arial" pitchFamily="34" charset="0"/>
              <a:cs typeface="Arial" pitchFamily="34" charset="0"/>
            </a:endParaRPr>
          </a:p>
          <a:p>
            <a:r>
              <a:rPr lang="en-IN" dirty="0">
                <a:latin typeface="Arial" pitchFamily="34" charset="0"/>
                <a:cs typeface="Arial" pitchFamily="34" charset="0"/>
              </a:rPr>
              <a:t>Use equation (20)</a:t>
            </a:r>
          </a:p>
          <a:p>
            <a:endParaRPr lang="en-IN" dirty="0">
              <a:latin typeface="Arial" pitchFamily="34" charset="0"/>
              <a:cs typeface="Arial" pitchFamily="34" charset="0"/>
            </a:endParaRPr>
          </a:p>
          <a:p>
            <a:endParaRPr lang="en-IN" dirty="0">
              <a:latin typeface="Arial" pitchFamily="34" charset="0"/>
              <a:cs typeface="Arial" pitchFamily="34" charset="0"/>
            </a:endParaRPr>
          </a:p>
          <a:p>
            <a:endParaRPr lang="en-IN" dirty="0">
              <a:latin typeface="Arial" pitchFamily="34" charset="0"/>
              <a:cs typeface="Arial" pitchFamily="34" charset="0"/>
            </a:endParaRPr>
          </a:p>
          <a:p>
            <a:endParaRPr lang="en-IN" dirty="0">
              <a:latin typeface="Arial" pitchFamily="34" charset="0"/>
              <a:cs typeface="Arial" pitchFamily="34" charset="0"/>
            </a:endParaRPr>
          </a:p>
          <a:p>
            <a:r>
              <a:rPr lang="en-US" dirty="0">
                <a:latin typeface="Arial" pitchFamily="34" charset="0"/>
                <a:cs typeface="Arial" pitchFamily="34" charset="0"/>
              </a:rPr>
              <a:t>we can calculate the critical voltage </a:t>
            </a:r>
            <a:r>
              <a:rPr lang="en-US" b="1" dirty="0">
                <a:latin typeface="Arial" pitchFamily="34" charset="0"/>
                <a:cs typeface="Arial" pitchFamily="34" charset="0"/>
              </a:rPr>
              <a:t>V</a:t>
            </a:r>
            <a:r>
              <a:rPr lang="en-US" b="1" baseline="-25000" dirty="0">
                <a:latin typeface="Arial" pitchFamily="34" charset="0"/>
                <a:cs typeface="Arial" pitchFamily="34" charset="0"/>
              </a:rPr>
              <a:t>IH</a:t>
            </a:r>
          </a:p>
          <a:p>
            <a:r>
              <a:rPr lang="en-US" dirty="0">
                <a:latin typeface="Arial" pitchFamily="34" charset="0"/>
                <a:cs typeface="Arial" pitchFamily="34" charset="0"/>
              </a:rPr>
              <a:t>we can find the noise margin</a:t>
            </a:r>
            <a:endParaRPr lang="en-US" b="1" baseline="-25000" dirty="0">
              <a:latin typeface="Arial" pitchFamily="34" charset="0"/>
              <a:cs typeface="Arial" pitchFamily="34" charset="0"/>
            </a:endParaRPr>
          </a:p>
        </p:txBody>
      </p:sp>
      <p:sp>
        <p:nvSpPr>
          <p:cNvPr id="4" name="Footer Placeholder 3"/>
          <p:cNvSpPr>
            <a:spLocks noGrp="1"/>
          </p:cNvSpPr>
          <p:nvPr>
            <p:ph type="ftr" sz="quarter" idx="11"/>
          </p:nvPr>
        </p:nvSpPr>
        <p:spPr>
          <a:xfrm>
            <a:off x="1721796" y="6135808"/>
            <a:ext cx="8487415" cy="365125"/>
          </a:xfrm>
        </p:spPr>
        <p:txBody>
          <a:bodyPr/>
          <a:lstStyle/>
          <a:p>
            <a:r>
              <a:rPr lang="en-IN" sz="1500" dirty="0">
                <a:solidFill>
                  <a:srgbClr val="C00000"/>
                </a:solidFill>
                <a:latin typeface="Arial" panose="020B0604020202020204" pitchFamily="34" charset="0"/>
                <a:cs typeface="Arial" panose="020B0604020202020204" pitchFamily="34" charset="0"/>
              </a:rPr>
              <a:t>Rohit Lorenzo, VIT-AP</a:t>
            </a:r>
          </a:p>
        </p:txBody>
      </p:sp>
      <p:sp>
        <p:nvSpPr>
          <p:cNvPr id="3074"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75" name="Rectangle 3"/>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pic>
        <p:nvPicPr>
          <p:cNvPr id="65537" name="Picture 1"/>
          <p:cNvPicPr>
            <a:picLocks noChangeAspect="1" noChangeArrowheads="1"/>
          </p:cNvPicPr>
          <p:nvPr/>
        </p:nvPicPr>
        <p:blipFill>
          <a:blip r:embed="rId2" cstate="print"/>
          <a:srcRect/>
          <a:stretch>
            <a:fillRect/>
          </a:stretch>
        </p:blipFill>
        <p:spPr bwMode="auto">
          <a:xfrm>
            <a:off x="2928027" y="1741182"/>
            <a:ext cx="4445540" cy="1281270"/>
          </a:xfrm>
          <a:prstGeom prst="rect">
            <a:avLst/>
          </a:prstGeom>
          <a:noFill/>
          <a:ln w="9525">
            <a:noFill/>
            <a:miter lim="800000"/>
            <a:headEnd/>
            <a:tailEnd/>
          </a:ln>
        </p:spPr>
      </p:pic>
      <p:pic>
        <p:nvPicPr>
          <p:cNvPr id="9" name="Picture 4"/>
          <p:cNvPicPr>
            <a:picLocks noChangeAspect="1" noChangeArrowheads="1"/>
          </p:cNvPicPr>
          <p:nvPr/>
        </p:nvPicPr>
        <p:blipFill>
          <a:blip r:embed="rId3" cstate="print"/>
          <a:srcRect/>
          <a:stretch>
            <a:fillRect/>
          </a:stretch>
        </p:blipFill>
        <p:spPr bwMode="auto">
          <a:xfrm>
            <a:off x="2249846" y="3249579"/>
            <a:ext cx="5559862" cy="544208"/>
          </a:xfrm>
          <a:prstGeom prst="rect">
            <a:avLst/>
          </a:prstGeom>
          <a:noFill/>
          <a:ln w="9525">
            <a:noFill/>
            <a:miter lim="800000"/>
            <a:headEnd/>
            <a:tailEnd/>
          </a:ln>
        </p:spPr>
      </p:pic>
      <p:pic>
        <p:nvPicPr>
          <p:cNvPr id="65538" name="Picture 2"/>
          <p:cNvPicPr>
            <a:picLocks noChangeAspect="1" noChangeArrowheads="1"/>
          </p:cNvPicPr>
          <p:nvPr/>
        </p:nvPicPr>
        <p:blipFill>
          <a:blip r:embed="rId4" cstate="print"/>
          <a:srcRect/>
          <a:stretch>
            <a:fillRect/>
          </a:stretch>
        </p:blipFill>
        <p:spPr bwMode="auto">
          <a:xfrm>
            <a:off x="2208179" y="3860337"/>
            <a:ext cx="5739319" cy="701935"/>
          </a:xfrm>
          <a:prstGeom prst="rect">
            <a:avLst/>
          </a:prstGeom>
          <a:noFill/>
          <a:ln w="9525">
            <a:noFill/>
            <a:miter lim="800000"/>
            <a:headEnd/>
            <a:tailEnd/>
          </a:ln>
        </p:spPr>
      </p:pic>
      <p:pic>
        <p:nvPicPr>
          <p:cNvPr id="65539" name="Picture 3"/>
          <p:cNvPicPr>
            <a:picLocks noChangeAspect="1" noChangeArrowheads="1"/>
          </p:cNvPicPr>
          <p:nvPr/>
        </p:nvPicPr>
        <p:blipFill>
          <a:blip r:embed="rId5" cstate="print"/>
          <a:srcRect/>
          <a:stretch>
            <a:fillRect/>
          </a:stretch>
        </p:blipFill>
        <p:spPr bwMode="auto">
          <a:xfrm>
            <a:off x="2252056" y="4562880"/>
            <a:ext cx="1512549" cy="363012"/>
          </a:xfrm>
          <a:prstGeom prst="rect">
            <a:avLst/>
          </a:prstGeom>
          <a:noFill/>
          <a:ln w="9525">
            <a:noFill/>
            <a:miter lim="800000"/>
            <a:headEnd/>
            <a:tailEnd/>
          </a:ln>
        </p:spPr>
      </p:pic>
      <p:pic>
        <p:nvPicPr>
          <p:cNvPr id="65540" name="Picture 4"/>
          <p:cNvPicPr>
            <a:picLocks noChangeAspect="1" noChangeArrowheads="1"/>
          </p:cNvPicPr>
          <p:nvPr/>
        </p:nvPicPr>
        <p:blipFill>
          <a:blip r:embed="rId6" cstate="print"/>
          <a:srcRect/>
          <a:stretch>
            <a:fillRect/>
          </a:stretch>
        </p:blipFill>
        <p:spPr bwMode="auto">
          <a:xfrm>
            <a:off x="5389125" y="5006985"/>
            <a:ext cx="2917419" cy="352958"/>
          </a:xfrm>
          <a:prstGeom prst="rect">
            <a:avLst/>
          </a:prstGeom>
          <a:noFill/>
          <a:ln w="9525">
            <a:noFill/>
            <a:miter lim="800000"/>
            <a:headEnd/>
            <a:tailEnd/>
          </a:ln>
        </p:spPr>
      </p:pic>
      <p:pic>
        <p:nvPicPr>
          <p:cNvPr id="13" name="Picture 1"/>
          <p:cNvPicPr>
            <a:picLocks noChangeAspect="1" noChangeArrowheads="1"/>
          </p:cNvPicPr>
          <p:nvPr/>
        </p:nvPicPr>
        <p:blipFill>
          <a:blip r:embed="rId7" cstate="print"/>
          <a:srcRect/>
          <a:stretch>
            <a:fillRect/>
          </a:stretch>
        </p:blipFill>
        <p:spPr bwMode="auto">
          <a:xfrm>
            <a:off x="4344211" y="5374635"/>
            <a:ext cx="2548713" cy="782973"/>
          </a:xfrm>
          <a:prstGeom prst="rect">
            <a:avLst/>
          </a:prstGeom>
          <a:noFill/>
          <a:ln w="9525">
            <a:noFill/>
            <a:miter lim="800000"/>
            <a:headEnd/>
            <a:tailEnd/>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53703" y="624110"/>
            <a:ext cx="9850910" cy="1280890"/>
          </a:xfrm>
        </p:spPr>
        <p:txBody>
          <a:bodyPr>
            <a:normAutofit/>
          </a:bodyPr>
          <a:lstStyle/>
          <a:p>
            <a:r>
              <a:rPr lang="en-IN" sz="3200" b="1" dirty="0">
                <a:latin typeface="Arial" pitchFamily="34" charset="0"/>
                <a:cs typeface="Arial" pitchFamily="34" charset="0"/>
              </a:rPr>
              <a:t>Supply Voltage scaling in CMOS </a:t>
            </a:r>
          </a:p>
        </p:txBody>
      </p:sp>
      <p:sp>
        <p:nvSpPr>
          <p:cNvPr id="3" name="Content Placeholder 2"/>
          <p:cNvSpPr>
            <a:spLocks noGrp="1"/>
          </p:cNvSpPr>
          <p:nvPr>
            <p:ph idx="1"/>
          </p:nvPr>
        </p:nvSpPr>
        <p:spPr>
          <a:xfrm>
            <a:off x="369651" y="1313234"/>
            <a:ext cx="11556460" cy="4776281"/>
          </a:xfrm>
        </p:spPr>
        <p:txBody>
          <a:bodyPr>
            <a:normAutofit/>
          </a:bodyPr>
          <a:lstStyle/>
          <a:p>
            <a:pPr algn="just">
              <a:spcBef>
                <a:spcPts val="0"/>
              </a:spcBef>
            </a:pPr>
            <a:r>
              <a:rPr lang="en-US" dirty="0">
                <a:latin typeface="Arial" pitchFamily="34" charset="0"/>
                <a:cs typeface="Arial" pitchFamily="34" charset="0"/>
              </a:rPr>
              <a:t>In the following, we will briefly examine the effects of supply </a:t>
            </a:r>
          </a:p>
          <a:p>
            <a:pPr algn="just">
              <a:spcBef>
                <a:spcPts val="0"/>
              </a:spcBef>
            </a:pPr>
            <a:r>
              <a:rPr lang="en-US" dirty="0">
                <a:latin typeface="Arial" pitchFamily="34" charset="0"/>
                <a:cs typeface="Arial" pitchFamily="34" charset="0"/>
              </a:rPr>
              <a:t>voltage scaling, i.e., reduction of </a:t>
            </a:r>
            <a:r>
              <a:rPr lang="en-US" b="1" dirty="0">
                <a:latin typeface="Arial" pitchFamily="34" charset="0"/>
                <a:cs typeface="Arial" pitchFamily="34" charset="0"/>
              </a:rPr>
              <a:t>V</a:t>
            </a:r>
            <a:r>
              <a:rPr lang="en-US" b="1" baseline="-25000" dirty="0">
                <a:latin typeface="Arial" pitchFamily="34" charset="0"/>
                <a:cs typeface="Arial" pitchFamily="34" charset="0"/>
              </a:rPr>
              <a:t>DD</a:t>
            </a:r>
            <a:r>
              <a:rPr lang="en-US" dirty="0">
                <a:latin typeface="Arial" pitchFamily="34" charset="0"/>
                <a:cs typeface="Arial" pitchFamily="34" charset="0"/>
              </a:rPr>
              <a:t>, upon the static voltage</a:t>
            </a:r>
          </a:p>
          <a:p>
            <a:pPr algn="just">
              <a:spcBef>
                <a:spcPts val="0"/>
              </a:spcBef>
            </a:pPr>
            <a:r>
              <a:rPr lang="en-US" dirty="0">
                <a:latin typeface="Arial" pitchFamily="34" charset="0"/>
                <a:cs typeface="Arial" pitchFamily="34" charset="0"/>
              </a:rPr>
              <a:t> transfer characteristics of CMOS inverters. overall power</a:t>
            </a:r>
          </a:p>
          <a:p>
            <a:pPr algn="just">
              <a:spcBef>
                <a:spcPts val="0"/>
              </a:spcBef>
            </a:pPr>
            <a:r>
              <a:rPr lang="en-US" dirty="0">
                <a:latin typeface="Arial" pitchFamily="34" charset="0"/>
                <a:cs typeface="Arial" pitchFamily="34" charset="0"/>
              </a:rPr>
              <a:t> dissipation of any digital circuit is a strong function of the</a:t>
            </a:r>
          </a:p>
          <a:p>
            <a:pPr algn="just">
              <a:spcBef>
                <a:spcPts val="0"/>
              </a:spcBef>
            </a:pPr>
            <a:r>
              <a:rPr lang="en-US" dirty="0">
                <a:latin typeface="Arial" pitchFamily="34" charset="0"/>
                <a:cs typeface="Arial" pitchFamily="34" charset="0"/>
              </a:rPr>
              <a:t> supply voltage </a:t>
            </a:r>
            <a:r>
              <a:rPr lang="en-US" b="1" dirty="0">
                <a:latin typeface="Arial" pitchFamily="34" charset="0"/>
                <a:cs typeface="Arial" pitchFamily="34" charset="0"/>
              </a:rPr>
              <a:t>V</a:t>
            </a:r>
            <a:r>
              <a:rPr lang="en-US" b="1" baseline="-25000" dirty="0">
                <a:latin typeface="Arial" pitchFamily="34" charset="0"/>
                <a:cs typeface="Arial" pitchFamily="34" charset="0"/>
              </a:rPr>
              <a:t>DD</a:t>
            </a:r>
            <a:r>
              <a:rPr lang="en-US" i="1" dirty="0"/>
              <a:t>.</a:t>
            </a:r>
            <a:endParaRPr lang="en-IN" b="1" baseline="-25000" dirty="0">
              <a:latin typeface="Arial" pitchFamily="34" charset="0"/>
              <a:cs typeface="Arial" pitchFamily="34" charset="0"/>
            </a:endParaRPr>
          </a:p>
          <a:p>
            <a:endParaRPr lang="en-US" b="1" u="sng" dirty="0">
              <a:latin typeface="Arial" pitchFamily="34" charset="0"/>
              <a:cs typeface="Arial" pitchFamily="34" charset="0"/>
            </a:endParaRPr>
          </a:p>
        </p:txBody>
      </p:sp>
      <p:sp>
        <p:nvSpPr>
          <p:cNvPr id="4" name="Footer Placeholder 3"/>
          <p:cNvSpPr>
            <a:spLocks noGrp="1"/>
          </p:cNvSpPr>
          <p:nvPr>
            <p:ph type="ftr" sz="quarter" idx="11"/>
          </p:nvPr>
        </p:nvSpPr>
        <p:spPr>
          <a:xfrm>
            <a:off x="1721796" y="6135808"/>
            <a:ext cx="8487415" cy="365125"/>
          </a:xfrm>
        </p:spPr>
        <p:txBody>
          <a:bodyPr/>
          <a:lstStyle/>
          <a:p>
            <a:r>
              <a:rPr lang="en-IN" sz="1500" dirty="0">
                <a:solidFill>
                  <a:srgbClr val="C00000"/>
                </a:solidFill>
                <a:latin typeface="Arial" panose="020B0604020202020204" pitchFamily="34" charset="0"/>
                <a:cs typeface="Arial" panose="020B0604020202020204" pitchFamily="34" charset="0"/>
              </a:rPr>
              <a:t>Rohit Lorenzo, VIT-AP</a:t>
            </a:r>
          </a:p>
        </p:txBody>
      </p:sp>
      <p:sp>
        <p:nvSpPr>
          <p:cNvPr id="3074"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75" name="Rectangle 3"/>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pic>
        <p:nvPicPr>
          <p:cNvPr id="8" name="Picture 1"/>
          <p:cNvPicPr>
            <a:picLocks noChangeAspect="1" noChangeArrowheads="1"/>
          </p:cNvPicPr>
          <p:nvPr/>
        </p:nvPicPr>
        <p:blipFill>
          <a:blip r:embed="rId2" cstate="print"/>
          <a:srcRect/>
          <a:stretch>
            <a:fillRect/>
          </a:stretch>
        </p:blipFill>
        <p:spPr bwMode="auto">
          <a:xfrm>
            <a:off x="7169285" y="2016996"/>
            <a:ext cx="4905983" cy="4841004"/>
          </a:xfrm>
          <a:prstGeom prst="rect">
            <a:avLst/>
          </a:prstGeom>
          <a:noFill/>
          <a:ln w="9525">
            <a:noFill/>
            <a:miter lim="800000"/>
            <a:headEnd/>
            <a:tailEnd/>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53703" y="624110"/>
            <a:ext cx="9850910" cy="1280890"/>
          </a:xfrm>
        </p:spPr>
        <p:txBody>
          <a:bodyPr>
            <a:normAutofit/>
          </a:bodyPr>
          <a:lstStyle/>
          <a:p>
            <a:r>
              <a:rPr lang="en-US" sz="3200" dirty="0">
                <a:latin typeface="Arial" pitchFamily="34" charset="0"/>
                <a:cs typeface="Arial" pitchFamily="34" charset="0"/>
              </a:rPr>
              <a:t>MOS Inverters : Dynamic Characteristics</a:t>
            </a:r>
            <a:endParaRPr lang="en-US" sz="3200" b="1" baseline="-25000" dirty="0">
              <a:latin typeface="Arial" pitchFamily="34" charset="0"/>
              <a:cs typeface="Arial" pitchFamily="34" charset="0"/>
            </a:endParaRPr>
          </a:p>
        </p:txBody>
      </p:sp>
      <p:sp>
        <p:nvSpPr>
          <p:cNvPr id="3" name="Content Placeholder 2"/>
          <p:cNvSpPr>
            <a:spLocks noGrp="1"/>
          </p:cNvSpPr>
          <p:nvPr>
            <p:ph idx="1"/>
          </p:nvPr>
        </p:nvSpPr>
        <p:spPr>
          <a:xfrm>
            <a:off x="447472" y="1313234"/>
            <a:ext cx="11478639" cy="4776281"/>
          </a:xfrm>
        </p:spPr>
        <p:txBody>
          <a:bodyPr>
            <a:normAutofit/>
          </a:bodyPr>
          <a:lstStyle/>
          <a:p>
            <a:pPr algn="just"/>
            <a:r>
              <a:rPr lang="en-US" dirty="0">
                <a:latin typeface="Arial" pitchFamily="34" charset="0"/>
                <a:cs typeface="Arial" pitchFamily="34" charset="0"/>
              </a:rPr>
              <a:t>We will investigate the dynamic (time-domain) behavior of the inverter circuits. The switching characteristics of digital integrated circuits and, in particular, of inverter circuits, essentially determine the overall operating speed of digital systems.</a:t>
            </a:r>
          </a:p>
          <a:p>
            <a:pPr algn="just"/>
            <a:r>
              <a:rPr lang="en-IN" sz="2000" b="1" u="sng" dirty="0">
                <a:latin typeface="Arial" pitchFamily="34" charset="0"/>
                <a:cs typeface="Arial" pitchFamily="34" charset="0"/>
              </a:rPr>
              <a:t>Introduction </a:t>
            </a:r>
          </a:p>
          <a:p>
            <a:pPr algn="just">
              <a:spcBef>
                <a:spcPts val="0"/>
              </a:spcBef>
            </a:pPr>
            <a:r>
              <a:rPr lang="en-US" dirty="0">
                <a:latin typeface="Arial" pitchFamily="34" charset="0"/>
                <a:cs typeface="Arial" pitchFamily="34" charset="0"/>
              </a:rPr>
              <a:t>The capacitances </a:t>
            </a:r>
            <a:r>
              <a:rPr lang="en-US" b="1" dirty="0" err="1">
                <a:latin typeface="Arial" pitchFamily="34" charset="0"/>
                <a:cs typeface="Arial" pitchFamily="34" charset="0"/>
              </a:rPr>
              <a:t>C</a:t>
            </a:r>
            <a:r>
              <a:rPr lang="en-US" b="1" baseline="-25000" dirty="0" err="1">
                <a:latin typeface="Arial" pitchFamily="34" charset="0"/>
                <a:cs typeface="Arial" pitchFamily="34" charset="0"/>
              </a:rPr>
              <a:t>gd</a:t>
            </a:r>
            <a:r>
              <a:rPr lang="en-US" dirty="0">
                <a:latin typeface="Arial" pitchFamily="34" charset="0"/>
                <a:cs typeface="Arial" pitchFamily="34" charset="0"/>
              </a:rPr>
              <a:t> and </a:t>
            </a:r>
            <a:r>
              <a:rPr lang="en-US" b="1" dirty="0" err="1">
                <a:latin typeface="Arial" pitchFamily="34" charset="0"/>
                <a:cs typeface="Arial" pitchFamily="34" charset="0"/>
              </a:rPr>
              <a:t>C</a:t>
            </a:r>
            <a:r>
              <a:rPr lang="en-US" b="1" baseline="-25000" dirty="0" err="1">
                <a:latin typeface="Arial" pitchFamily="34" charset="0"/>
                <a:cs typeface="Arial" pitchFamily="34" charset="0"/>
              </a:rPr>
              <a:t>gs</a:t>
            </a:r>
            <a:r>
              <a:rPr lang="en-US" dirty="0">
                <a:latin typeface="Arial" pitchFamily="34" charset="0"/>
                <a:cs typeface="Arial" pitchFamily="34" charset="0"/>
              </a:rPr>
              <a:t> are primarily due to gate overlap with diffusion, while </a:t>
            </a:r>
            <a:r>
              <a:rPr lang="en-US" b="1" dirty="0" err="1">
                <a:latin typeface="Arial" pitchFamily="34" charset="0"/>
                <a:cs typeface="Arial" pitchFamily="34" charset="0"/>
              </a:rPr>
              <a:t>C</a:t>
            </a:r>
            <a:r>
              <a:rPr lang="en-US" b="1" baseline="-25000" dirty="0" err="1">
                <a:latin typeface="Arial" pitchFamily="34" charset="0"/>
                <a:cs typeface="Arial" pitchFamily="34" charset="0"/>
              </a:rPr>
              <a:t>db</a:t>
            </a:r>
            <a:r>
              <a:rPr lang="en-US" dirty="0">
                <a:latin typeface="Arial" pitchFamily="34" charset="0"/>
                <a:cs typeface="Arial" pitchFamily="34" charset="0"/>
              </a:rPr>
              <a:t> and </a:t>
            </a:r>
            <a:r>
              <a:rPr lang="en-US" b="1" dirty="0" err="1">
                <a:latin typeface="Arial" pitchFamily="34" charset="0"/>
                <a:cs typeface="Arial" pitchFamily="34" charset="0"/>
              </a:rPr>
              <a:t>C</a:t>
            </a:r>
            <a:r>
              <a:rPr lang="en-US" b="1" baseline="-25000" dirty="0" err="1">
                <a:latin typeface="Arial" pitchFamily="34" charset="0"/>
                <a:cs typeface="Arial" pitchFamily="34" charset="0"/>
              </a:rPr>
              <a:t>sb</a:t>
            </a:r>
            <a:r>
              <a:rPr lang="en-US" b="1" dirty="0">
                <a:latin typeface="Arial" pitchFamily="34" charset="0"/>
                <a:cs typeface="Arial" pitchFamily="34" charset="0"/>
              </a:rPr>
              <a:t> </a:t>
            </a:r>
            <a:r>
              <a:rPr lang="en-US" dirty="0">
                <a:latin typeface="Arial" pitchFamily="34" charset="0"/>
                <a:cs typeface="Arial" pitchFamily="34" charset="0"/>
              </a:rPr>
              <a:t>are voltage-dependent junction capacitances. we also consider the lumped interconnect capacitance </a:t>
            </a:r>
            <a:r>
              <a:rPr lang="en-US" b="1" dirty="0" err="1">
                <a:latin typeface="Arial" pitchFamily="34" charset="0"/>
                <a:cs typeface="Arial" pitchFamily="34" charset="0"/>
              </a:rPr>
              <a:t>C</a:t>
            </a:r>
            <a:r>
              <a:rPr lang="en-US" b="1" baseline="-25000" dirty="0" err="1">
                <a:latin typeface="Arial" pitchFamily="34" charset="0"/>
                <a:cs typeface="Arial" pitchFamily="34" charset="0"/>
              </a:rPr>
              <a:t>int</a:t>
            </a:r>
            <a:r>
              <a:rPr lang="en-US" dirty="0">
                <a:latin typeface="Arial" pitchFamily="34" charset="0"/>
                <a:cs typeface="Arial" pitchFamily="34" charset="0"/>
              </a:rPr>
              <a:t>, which represents the parasitic capacitance contribution of the metal or polysilicon.</a:t>
            </a:r>
          </a:p>
          <a:p>
            <a:pPr algn="just">
              <a:spcBef>
                <a:spcPts val="0"/>
              </a:spcBef>
            </a:pPr>
            <a:endParaRPr lang="en-IN" dirty="0">
              <a:latin typeface="Arial" pitchFamily="34" charset="0"/>
              <a:cs typeface="Arial" pitchFamily="34" charset="0"/>
            </a:endParaRPr>
          </a:p>
          <a:p>
            <a:pPr>
              <a:spcBef>
                <a:spcPts val="0"/>
              </a:spcBef>
            </a:pPr>
            <a:r>
              <a:rPr lang="en-US" dirty="0">
                <a:latin typeface="Arial" pitchFamily="34" charset="0"/>
                <a:cs typeface="Arial" pitchFamily="34" charset="0"/>
              </a:rPr>
              <a:t>we first combine the capacitances  into an equivalent </a:t>
            </a:r>
          </a:p>
          <a:p>
            <a:pPr>
              <a:spcBef>
                <a:spcPts val="0"/>
              </a:spcBef>
            </a:pPr>
            <a:r>
              <a:rPr lang="en-US" dirty="0">
                <a:latin typeface="Arial" pitchFamily="34" charset="0"/>
                <a:cs typeface="Arial" pitchFamily="34" charset="0"/>
              </a:rPr>
              <a:t>lumped linear capacitance, connected between the</a:t>
            </a:r>
          </a:p>
          <a:p>
            <a:pPr>
              <a:spcBef>
                <a:spcPts val="0"/>
              </a:spcBef>
            </a:pPr>
            <a:r>
              <a:rPr lang="en-US" dirty="0">
                <a:latin typeface="Arial" pitchFamily="34" charset="0"/>
                <a:cs typeface="Arial" pitchFamily="34" charset="0"/>
              </a:rPr>
              <a:t> output node of the inverter and  the ground.</a:t>
            </a:r>
          </a:p>
          <a:p>
            <a:pPr>
              <a:spcBef>
                <a:spcPts val="0"/>
              </a:spcBef>
            </a:pPr>
            <a:endParaRPr lang="en-IN" dirty="0">
              <a:latin typeface="Arial" pitchFamily="34" charset="0"/>
              <a:cs typeface="Arial" pitchFamily="34" charset="0"/>
            </a:endParaRPr>
          </a:p>
          <a:p>
            <a:pPr>
              <a:spcBef>
                <a:spcPts val="0"/>
              </a:spcBef>
            </a:pPr>
            <a:r>
              <a:rPr lang="en-US" dirty="0">
                <a:latin typeface="Arial" pitchFamily="34" charset="0"/>
                <a:cs typeface="Arial" pitchFamily="34" charset="0"/>
              </a:rPr>
              <a:t>This combined capacitance at the output node</a:t>
            </a:r>
          </a:p>
          <a:p>
            <a:pPr>
              <a:spcBef>
                <a:spcPts val="0"/>
              </a:spcBef>
            </a:pPr>
            <a:r>
              <a:rPr lang="en-US" dirty="0">
                <a:latin typeface="Arial" pitchFamily="34" charset="0"/>
                <a:cs typeface="Arial" pitchFamily="34" charset="0"/>
              </a:rPr>
              <a:t>will be called the load capacitance </a:t>
            </a:r>
            <a:r>
              <a:rPr lang="en-US" b="1" dirty="0" err="1">
                <a:latin typeface="Arial" pitchFamily="34" charset="0"/>
                <a:cs typeface="Arial" pitchFamily="34" charset="0"/>
              </a:rPr>
              <a:t>C</a:t>
            </a:r>
            <a:r>
              <a:rPr lang="en-US" b="1" baseline="-25000" dirty="0" err="1">
                <a:latin typeface="Arial" pitchFamily="34" charset="0"/>
                <a:cs typeface="Arial" pitchFamily="34" charset="0"/>
              </a:rPr>
              <a:t>load</a:t>
            </a:r>
            <a:r>
              <a:rPr lang="en-US" dirty="0">
                <a:latin typeface="Arial" pitchFamily="34" charset="0"/>
                <a:cs typeface="Arial" pitchFamily="34" charset="0"/>
              </a:rPr>
              <a:t> .  </a:t>
            </a:r>
          </a:p>
          <a:p>
            <a:pPr>
              <a:spcBef>
                <a:spcPts val="0"/>
              </a:spcBef>
            </a:pPr>
            <a:endParaRPr lang="en-IN" dirty="0">
              <a:latin typeface="Arial" pitchFamily="34" charset="0"/>
              <a:cs typeface="Arial" pitchFamily="34" charset="0"/>
            </a:endParaRPr>
          </a:p>
          <a:p>
            <a:pPr>
              <a:spcBef>
                <a:spcPts val="0"/>
              </a:spcBef>
            </a:pPr>
            <a:r>
              <a:rPr lang="en-IN" dirty="0">
                <a:latin typeface="Arial" pitchFamily="34" charset="0"/>
                <a:cs typeface="Arial" pitchFamily="34" charset="0"/>
              </a:rPr>
              <a:t>                                                                           …(1)</a:t>
            </a:r>
            <a:endParaRPr lang="en-US" dirty="0">
              <a:latin typeface="Arial" pitchFamily="34" charset="0"/>
              <a:cs typeface="Arial" pitchFamily="34" charset="0"/>
            </a:endParaRPr>
          </a:p>
          <a:p>
            <a:pPr>
              <a:spcBef>
                <a:spcPts val="0"/>
              </a:spcBef>
            </a:pPr>
            <a:endParaRPr lang="en-IN" dirty="0">
              <a:latin typeface="Arial" pitchFamily="34" charset="0"/>
              <a:cs typeface="Arial" pitchFamily="34" charset="0"/>
            </a:endParaRPr>
          </a:p>
          <a:p>
            <a:pPr>
              <a:spcBef>
                <a:spcPts val="0"/>
              </a:spcBef>
            </a:pPr>
            <a:endParaRPr lang="en-US" dirty="0">
              <a:latin typeface="Arial" pitchFamily="34" charset="0"/>
              <a:cs typeface="Arial" pitchFamily="34" charset="0"/>
            </a:endParaRPr>
          </a:p>
        </p:txBody>
      </p:sp>
      <p:sp>
        <p:nvSpPr>
          <p:cNvPr id="4" name="Footer Placeholder 3"/>
          <p:cNvSpPr>
            <a:spLocks noGrp="1"/>
          </p:cNvSpPr>
          <p:nvPr>
            <p:ph type="ftr" sz="quarter" idx="11"/>
          </p:nvPr>
        </p:nvSpPr>
        <p:spPr>
          <a:xfrm>
            <a:off x="1721796" y="6135808"/>
            <a:ext cx="8487415" cy="365125"/>
          </a:xfrm>
        </p:spPr>
        <p:txBody>
          <a:bodyPr/>
          <a:lstStyle/>
          <a:p>
            <a:r>
              <a:rPr lang="en-IN" sz="1500" dirty="0">
                <a:solidFill>
                  <a:srgbClr val="C00000"/>
                </a:solidFill>
                <a:latin typeface="Arial" panose="020B0604020202020204" pitchFamily="34" charset="0"/>
                <a:cs typeface="Arial" panose="020B0604020202020204" pitchFamily="34" charset="0"/>
              </a:rPr>
              <a:t>Rohit Lorenzo, VIT-AP</a:t>
            </a:r>
          </a:p>
        </p:txBody>
      </p:sp>
      <p:sp>
        <p:nvSpPr>
          <p:cNvPr id="3074"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75" name="Rectangle 3"/>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5"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 name="Rectangle 3"/>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077" name="Rectangle 5"/>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79" name="Rectangle 7"/>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80" name="Rectangle 8"/>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082" name="Rectangle 10"/>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83" name="Rectangle 11"/>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085" name="Rectangle 13"/>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86" name="Rectangle 14"/>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pic>
        <p:nvPicPr>
          <p:cNvPr id="46082" name="Picture 2"/>
          <p:cNvPicPr>
            <a:picLocks noChangeAspect="1" noChangeArrowheads="1"/>
          </p:cNvPicPr>
          <p:nvPr/>
        </p:nvPicPr>
        <p:blipFill>
          <a:blip r:embed="rId2" cstate="print"/>
          <a:srcRect/>
          <a:stretch>
            <a:fillRect/>
          </a:stretch>
        </p:blipFill>
        <p:spPr bwMode="auto">
          <a:xfrm>
            <a:off x="6661488" y="3463046"/>
            <a:ext cx="5530512" cy="3394953"/>
          </a:xfrm>
          <a:prstGeom prst="rect">
            <a:avLst/>
          </a:prstGeom>
          <a:noFill/>
          <a:ln w="9525">
            <a:noFill/>
            <a:miter lim="800000"/>
            <a:headEnd/>
            <a:tailEnd/>
          </a:ln>
        </p:spPr>
      </p:pic>
      <p:pic>
        <p:nvPicPr>
          <p:cNvPr id="46084" name="Picture 4"/>
          <p:cNvPicPr>
            <a:picLocks noChangeAspect="1" noChangeArrowheads="1"/>
          </p:cNvPicPr>
          <p:nvPr/>
        </p:nvPicPr>
        <p:blipFill>
          <a:blip r:embed="rId3" cstate="print"/>
          <a:srcRect/>
          <a:stretch>
            <a:fillRect/>
          </a:stretch>
        </p:blipFill>
        <p:spPr bwMode="auto">
          <a:xfrm>
            <a:off x="1070043" y="5547198"/>
            <a:ext cx="4377448" cy="431851"/>
          </a:xfrm>
          <a:prstGeom prst="rect">
            <a:avLst/>
          </a:prstGeom>
          <a:noFill/>
          <a:ln w="9525">
            <a:noFill/>
            <a:miter lim="800000"/>
            <a:headEnd/>
            <a:tailEnd/>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53703" y="624110"/>
            <a:ext cx="9850910" cy="1280890"/>
          </a:xfrm>
        </p:spPr>
        <p:txBody>
          <a:bodyPr>
            <a:normAutofit/>
          </a:bodyPr>
          <a:lstStyle/>
          <a:p>
            <a:r>
              <a:rPr lang="en-IN" sz="3200" dirty="0">
                <a:latin typeface="Arial" pitchFamily="34" charset="0"/>
                <a:cs typeface="Arial" pitchFamily="34" charset="0"/>
              </a:rPr>
              <a:t>Continue….</a:t>
            </a:r>
            <a:endParaRPr lang="en-US" sz="3200" b="1" baseline="-25000" dirty="0">
              <a:latin typeface="Arial" pitchFamily="34" charset="0"/>
              <a:cs typeface="Arial" pitchFamily="34" charset="0"/>
            </a:endParaRPr>
          </a:p>
        </p:txBody>
      </p:sp>
      <p:sp>
        <p:nvSpPr>
          <p:cNvPr id="3" name="Content Placeholder 2"/>
          <p:cNvSpPr>
            <a:spLocks noGrp="1"/>
          </p:cNvSpPr>
          <p:nvPr>
            <p:ph idx="1"/>
          </p:nvPr>
        </p:nvSpPr>
        <p:spPr>
          <a:xfrm>
            <a:off x="447472" y="1313234"/>
            <a:ext cx="11478639" cy="4776281"/>
          </a:xfrm>
        </p:spPr>
        <p:txBody>
          <a:bodyPr>
            <a:normAutofit/>
          </a:bodyPr>
          <a:lstStyle/>
          <a:p>
            <a:pPr algn="just"/>
            <a:r>
              <a:rPr lang="en-US" dirty="0">
                <a:latin typeface="Arial" pitchFamily="34" charset="0"/>
                <a:cs typeface="Arial" pitchFamily="34" charset="0"/>
              </a:rPr>
              <a:t>In particular, </a:t>
            </a:r>
            <a:r>
              <a:rPr lang="en-US" b="1" dirty="0" err="1">
                <a:latin typeface="Arial" pitchFamily="34" charset="0"/>
                <a:cs typeface="Arial" pitchFamily="34" charset="0"/>
              </a:rPr>
              <a:t>C</a:t>
            </a:r>
            <a:r>
              <a:rPr lang="en-US" b="1" baseline="-25000" dirty="0" err="1">
                <a:latin typeface="Arial" pitchFamily="34" charset="0"/>
                <a:cs typeface="Arial" pitchFamily="34" charset="0"/>
              </a:rPr>
              <a:t>sb,n</a:t>
            </a:r>
            <a:r>
              <a:rPr lang="en-US" dirty="0">
                <a:latin typeface="Arial" pitchFamily="34" charset="0"/>
                <a:cs typeface="Arial" pitchFamily="34" charset="0"/>
              </a:rPr>
              <a:t> and </a:t>
            </a:r>
            <a:r>
              <a:rPr lang="en-US" b="1" dirty="0" err="1">
                <a:latin typeface="Arial" pitchFamily="34" charset="0"/>
                <a:cs typeface="Arial" pitchFamily="34" charset="0"/>
              </a:rPr>
              <a:t>C</a:t>
            </a:r>
            <a:r>
              <a:rPr lang="en-US" b="1" baseline="-25000" dirty="0" err="1">
                <a:latin typeface="Arial" pitchFamily="34" charset="0"/>
                <a:cs typeface="Arial" pitchFamily="34" charset="0"/>
              </a:rPr>
              <a:t>sb,p</a:t>
            </a:r>
            <a:r>
              <a:rPr lang="en-US" dirty="0">
                <a:latin typeface="Arial" pitchFamily="34" charset="0"/>
                <a:cs typeface="Arial" pitchFamily="34" charset="0"/>
              </a:rPr>
              <a:t> have no effect on the transient behavior. The capacitances </a:t>
            </a:r>
            <a:r>
              <a:rPr lang="en-US" b="1" dirty="0" err="1">
                <a:latin typeface="Arial" pitchFamily="34" charset="0"/>
                <a:cs typeface="Arial" pitchFamily="34" charset="0"/>
              </a:rPr>
              <a:t>C</a:t>
            </a:r>
            <a:r>
              <a:rPr lang="en-US" b="1" baseline="-25000" dirty="0" err="1">
                <a:latin typeface="Arial" pitchFamily="34" charset="0"/>
                <a:cs typeface="Arial" pitchFamily="34" charset="0"/>
              </a:rPr>
              <a:t>gs,n</a:t>
            </a:r>
            <a:r>
              <a:rPr lang="en-US" dirty="0">
                <a:latin typeface="Arial" pitchFamily="34" charset="0"/>
                <a:cs typeface="Arial" pitchFamily="34" charset="0"/>
              </a:rPr>
              <a:t> and </a:t>
            </a:r>
            <a:r>
              <a:rPr lang="en-US" b="1" dirty="0" err="1">
                <a:latin typeface="Arial" pitchFamily="34" charset="0"/>
                <a:cs typeface="Arial" pitchFamily="34" charset="0"/>
              </a:rPr>
              <a:t>C</a:t>
            </a:r>
            <a:r>
              <a:rPr lang="en-US" b="1" baseline="-25000" dirty="0" err="1">
                <a:latin typeface="Arial" pitchFamily="34" charset="0"/>
                <a:cs typeface="Arial" pitchFamily="34" charset="0"/>
              </a:rPr>
              <a:t>gs,p</a:t>
            </a:r>
            <a:r>
              <a:rPr lang="en-US" b="1" dirty="0">
                <a:latin typeface="Arial" pitchFamily="34" charset="0"/>
                <a:cs typeface="Arial" pitchFamily="34" charset="0"/>
              </a:rPr>
              <a:t> </a:t>
            </a:r>
            <a:r>
              <a:rPr lang="en-US" dirty="0">
                <a:latin typeface="Arial" pitchFamily="34" charset="0"/>
                <a:cs typeface="Arial" pitchFamily="34" charset="0"/>
              </a:rPr>
              <a:t>are also not included in (1) because they are connected to the input node. The capacitance terms</a:t>
            </a:r>
            <a:r>
              <a:rPr lang="en-US" b="1" dirty="0">
                <a:latin typeface="Arial" pitchFamily="34" charset="0"/>
                <a:cs typeface="Arial" pitchFamily="34" charset="0"/>
              </a:rPr>
              <a:t> </a:t>
            </a:r>
            <a:r>
              <a:rPr lang="en-US" b="1" dirty="0" err="1">
                <a:latin typeface="Arial" pitchFamily="34" charset="0"/>
                <a:cs typeface="Arial" pitchFamily="34" charset="0"/>
              </a:rPr>
              <a:t>C</a:t>
            </a:r>
            <a:r>
              <a:rPr lang="en-US" b="1" baseline="-25000" dirty="0" err="1">
                <a:latin typeface="Arial" pitchFamily="34" charset="0"/>
                <a:cs typeface="Arial" pitchFamily="34" charset="0"/>
              </a:rPr>
              <a:t>db,n</a:t>
            </a:r>
            <a:r>
              <a:rPr lang="en-US" b="1" dirty="0">
                <a:latin typeface="Arial" pitchFamily="34" charset="0"/>
                <a:cs typeface="Arial" pitchFamily="34" charset="0"/>
              </a:rPr>
              <a:t> </a:t>
            </a:r>
            <a:r>
              <a:rPr lang="en-US" dirty="0">
                <a:latin typeface="Arial" pitchFamily="34" charset="0"/>
                <a:cs typeface="Arial" pitchFamily="34" charset="0"/>
              </a:rPr>
              <a:t>and </a:t>
            </a:r>
            <a:r>
              <a:rPr lang="en-US" b="1" dirty="0" err="1">
                <a:latin typeface="Arial" pitchFamily="34" charset="0"/>
                <a:cs typeface="Arial" pitchFamily="34" charset="0"/>
              </a:rPr>
              <a:t>C</a:t>
            </a:r>
            <a:r>
              <a:rPr lang="en-US" b="1" baseline="-25000" dirty="0" err="1">
                <a:latin typeface="Arial" pitchFamily="34" charset="0"/>
                <a:cs typeface="Arial" pitchFamily="34" charset="0"/>
              </a:rPr>
              <a:t>db,p</a:t>
            </a:r>
            <a:r>
              <a:rPr lang="en-US" dirty="0">
                <a:latin typeface="Arial" pitchFamily="34" charset="0"/>
                <a:cs typeface="Arial" pitchFamily="34" charset="0"/>
              </a:rPr>
              <a:t> in (1) are the equivalent junction capacitances calculated for a particular output voltage transition. </a:t>
            </a:r>
            <a:endParaRPr lang="en-IN" dirty="0">
              <a:latin typeface="Arial" pitchFamily="34" charset="0"/>
              <a:cs typeface="Arial" pitchFamily="34" charset="0"/>
            </a:endParaRPr>
          </a:p>
          <a:p>
            <a:pPr>
              <a:spcBef>
                <a:spcPts val="0"/>
              </a:spcBef>
            </a:pPr>
            <a:endParaRPr lang="en-IN" dirty="0">
              <a:latin typeface="Arial" pitchFamily="34" charset="0"/>
              <a:cs typeface="Arial" pitchFamily="34" charset="0"/>
            </a:endParaRPr>
          </a:p>
          <a:p>
            <a:pPr>
              <a:spcBef>
                <a:spcPts val="0"/>
              </a:spcBef>
            </a:pPr>
            <a:r>
              <a:rPr lang="en-US" dirty="0">
                <a:latin typeface="Arial" pitchFamily="34" charset="0"/>
                <a:cs typeface="Arial" pitchFamily="34" charset="0"/>
              </a:rPr>
              <a:t>The first-stage CMOS inverter is shown with the single</a:t>
            </a:r>
          </a:p>
          <a:p>
            <a:pPr>
              <a:spcBef>
                <a:spcPts val="0"/>
              </a:spcBef>
            </a:pPr>
            <a:r>
              <a:rPr lang="en-US" dirty="0">
                <a:latin typeface="Arial" pitchFamily="34" charset="0"/>
                <a:cs typeface="Arial" pitchFamily="34" charset="0"/>
              </a:rPr>
              <a:t> lumped output load capacitance </a:t>
            </a:r>
            <a:r>
              <a:rPr lang="en-US" b="1" dirty="0" err="1">
                <a:latin typeface="Arial" pitchFamily="34" charset="0"/>
                <a:cs typeface="Arial" pitchFamily="34" charset="0"/>
              </a:rPr>
              <a:t>C</a:t>
            </a:r>
            <a:r>
              <a:rPr lang="en-US" b="1" baseline="-25000" dirty="0" err="1">
                <a:latin typeface="Arial" pitchFamily="34" charset="0"/>
                <a:cs typeface="Arial" pitchFamily="34" charset="0"/>
              </a:rPr>
              <a:t>load</a:t>
            </a:r>
            <a:r>
              <a:rPr lang="en-US" b="1" baseline="-25000" dirty="0">
                <a:latin typeface="Arial" pitchFamily="34" charset="0"/>
                <a:cs typeface="Arial" pitchFamily="34" charset="0"/>
              </a:rPr>
              <a:t> . </a:t>
            </a:r>
            <a:r>
              <a:rPr lang="en-IN" b="1" baseline="-25000" dirty="0">
                <a:latin typeface="Arial" pitchFamily="34" charset="0"/>
                <a:cs typeface="Arial" pitchFamily="34" charset="0"/>
              </a:rPr>
              <a:t> </a:t>
            </a:r>
            <a:r>
              <a:rPr lang="en-US" dirty="0">
                <a:latin typeface="Arial" pitchFamily="34" charset="0"/>
                <a:cs typeface="Arial" pitchFamily="34" charset="0"/>
              </a:rPr>
              <a:t>Now, the problem</a:t>
            </a:r>
          </a:p>
          <a:p>
            <a:pPr>
              <a:spcBef>
                <a:spcPts val="0"/>
              </a:spcBef>
            </a:pPr>
            <a:r>
              <a:rPr lang="en-US" dirty="0">
                <a:latin typeface="Arial" pitchFamily="34" charset="0"/>
                <a:cs typeface="Arial" pitchFamily="34" charset="0"/>
              </a:rPr>
              <a:t> of analyzing the switching behavior can be handled more</a:t>
            </a:r>
          </a:p>
          <a:p>
            <a:pPr>
              <a:spcBef>
                <a:spcPts val="0"/>
              </a:spcBef>
            </a:pPr>
            <a:r>
              <a:rPr lang="en-US" dirty="0">
                <a:latin typeface="Arial" pitchFamily="34" charset="0"/>
                <a:cs typeface="Arial" pitchFamily="34" charset="0"/>
              </a:rPr>
              <a:t> easily.</a:t>
            </a:r>
          </a:p>
          <a:p>
            <a:pPr>
              <a:spcBef>
                <a:spcPts val="0"/>
              </a:spcBef>
            </a:pPr>
            <a:endParaRPr lang="en-IN" dirty="0">
              <a:latin typeface="Arial" pitchFamily="34" charset="0"/>
              <a:cs typeface="Arial" pitchFamily="34" charset="0"/>
            </a:endParaRPr>
          </a:p>
          <a:p>
            <a:pPr>
              <a:spcBef>
                <a:spcPts val="0"/>
              </a:spcBef>
            </a:pPr>
            <a:r>
              <a:rPr lang="en-US" dirty="0">
                <a:latin typeface="Arial" pitchFamily="34" charset="0"/>
                <a:cs typeface="Arial" pitchFamily="34" charset="0"/>
              </a:rPr>
              <a:t>In fact, the question of inverter transient response is</a:t>
            </a:r>
          </a:p>
          <a:p>
            <a:pPr>
              <a:spcBef>
                <a:spcPts val="0"/>
              </a:spcBef>
            </a:pPr>
            <a:r>
              <a:rPr lang="en-US" dirty="0">
                <a:latin typeface="Arial" pitchFamily="34" charset="0"/>
                <a:cs typeface="Arial" pitchFamily="34" charset="0"/>
              </a:rPr>
              <a:t> reduced to finding the charge-up and charge-down times      </a:t>
            </a:r>
          </a:p>
          <a:p>
            <a:pPr>
              <a:spcBef>
                <a:spcPts val="0"/>
              </a:spcBef>
            </a:pPr>
            <a:r>
              <a:rPr lang="en-US" dirty="0">
                <a:latin typeface="Arial" pitchFamily="34" charset="0"/>
                <a:cs typeface="Arial" pitchFamily="34" charset="0"/>
              </a:rPr>
              <a:t> of a single capacitance which is charged</a:t>
            </a:r>
          </a:p>
          <a:p>
            <a:pPr>
              <a:spcBef>
                <a:spcPts val="0"/>
              </a:spcBef>
            </a:pPr>
            <a:r>
              <a:rPr lang="en-US" dirty="0">
                <a:latin typeface="Arial" pitchFamily="34" charset="0"/>
                <a:cs typeface="Arial" pitchFamily="34" charset="0"/>
              </a:rPr>
              <a:t>and discharged through one transistor.</a:t>
            </a:r>
          </a:p>
        </p:txBody>
      </p:sp>
      <p:sp>
        <p:nvSpPr>
          <p:cNvPr id="4" name="Footer Placeholder 3"/>
          <p:cNvSpPr>
            <a:spLocks noGrp="1"/>
          </p:cNvSpPr>
          <p:nvPr>
            <p:ph type="ftr" sz="quarter" idx="11"/>
          </p:nvPr>
        </p:nvSpPr>
        <p:spPr>
          <a:xfrm>
            <a:off x="1721796" y="6135808"/>
            <a:ext cx="8487415" cy="365125"/>
          </a:xfrm>
        </p:spPr>
        <p:txBody>
          <a:bodyPr/>
          <a:lstStyle/>
          <a:p>
            <a:r>
              <a:rPr lang="en-IN" sz="1500" dirty="0">
                <a:solidFill>
                  <a:srgbClr val="C00000"/>
                </a:solidFill>
                <a:latin typeface="Arial" panose="020B0604020202020204" pitchFamily="34" charset="0"/>
                <a:cs typeface="Arial" panose="020B0604020202020204" pitchFamily="34" charset="0"/>
              </a:rPr>
              <a:t>Rohit Lorenzo, VIT-AP</a:t>
            </a:r>
          </a:p>
        </p:txBody>
      </p:sp>
      <p:sp>
        <p:nvSpPr>
          <p:cNvPr id="3074"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75" name="Rectangle 3"/>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5"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 name="Rectangle 3"/>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077" name="Rectangle 5"/>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79" name="Rectangle 7"/>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80" name="Rectangle 8"/>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082" name="Rectangle 10"/>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83" name="Rectangle 11"/>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085" name="Rectangle 13"/>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86" name="Rectangle 14"/>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pic>
        <p:nvPicPr>
          <p:cNvPr id="47106" name="Picture 2"/>
          <p:cNvPicPr>
            <a:picLocks noChangeAspect="1" noChangeArrowheads="1"/>
          </p:cNvPicPr>
          <p:nvPr/>
        </p:nvPicPr>
        <p:blipFill>
          <a:blip r:embed="rId2" cstate="print"/>
          <a:srcRect/>
          <a:stretch>
            <a:fillRect/>
          </a:stretch>
        </p:blipFill>
        <p:spPr bwMode="auto">
          <a:xfrm>
            <a:off x="6843632" y="2451370"/>
            <a:ext cx="5348368" cy="4406629"/>
          </a:xfrm>
          <a:prstGeom prst="rect">
            <a:avLst/>
          </a:prstGeom>
          <a:noFill/>
          <a:ln w="9525">
            <a:noFill/>
            <a:miter lim="800000"/>
            <a:headEnd/>
            <a:tailEnd/>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53703" y="624110"/>
            <a:ext cx="9850910" cy="1280890"/>
          </a:xfrm>
        </p:spPr>
        <p:txBody>
          <a:bodyPr>
            <a:normAutofit/>
          </a:bodyPr>
          <a:lstStyle/>
          <a:p>
            <a:r>
              <a:rPr lang="en-US" sz="3200" b="1" dirty="0">
                <a:latin typeface="Arial" pitchFamily="34" charset="0"/>
                <a:cs typeface="Arial" pitchFamily="34" charset="0"/>
              </a:rPr>
              <a:t>Delay-Time Definitions</a:t>
            </a:r>
            <a:endParaRPr lang="en-US" sz="3200" b="1" baseline="-25000" dirty="0">
              <a:latin typeface="Arial" pitchFamily="34" charset="0"/>
              <a:cs typeface="Arial" pitchFamily="34" charset="0"/>
            </a:endParaRPr>
          </a:p>
        </p:txBody>
      </p:sp>
      <p:sp>
        <p:nvSpPr>
          <p:cNvPr id="3" name="Content Placeholder 2"/>
          <p:cNvSpPr>
            <a:spLocks noGrp="1"/>
          </p:cNvSpPr>
          <p:nvPr>
            <p:ph idx="1"/>
          </p:nvPr>
        </p:nvSpPr>
        <p:spPr>
          <a:xfrm>
            <a:off x="447472" y="1313234"/>
            <a:ext cx="11478639" cy="4776281"/>
          </a:xfrm>
        </p:spPr>
        <p:txBody>
          <a:bodyPr>
            <a:normAutofit/>
          </a:bodyPr>
          <a:lstStyle/>
          <a:p>
            <a:r>
              <a:rPr lang="en-US" dirty="0">
                <a:latin typeface="Arial" pitchFamily="34" charset="0"/>
                <a:cs typeface="Arial" pitchFamily="34" charset="0"/>
              </a:rPr>
              <a:t>The propagation delay times       </a:t>
            </a:r>
            <a:r>
              <a:rPr lang="en-IN" b="1" i="1" dirty="0">
                <a:latin typeface="Arial" pitchFamily="34" charset="0"/>
                <a:cs typeface="Arial" pitchFamily="34" charset="0"/>
              </a:rPr>
              <a:t>    </a:t>
            </a:r>
            <a:r>
              <a:rPr lang="en-IN" b="1" dirty="0">
                <a:latin typeface="Arial" pitchFamily="34" charset="0"/>
                <a:cs typeface="Arial" pitchFamily="34" charset="0"/>
              </a:rPr>
              <a:t> </a:t>
            </a:r>
            <a:r>
              <a:rPr lang="en-US" dirty="0">
                <a:latin typeface="Arial" pitchFamily="34" charset="0"/>
                <a:cs typeface="Arial" pitchFamily="34" charset="0"/>
              </a:rPr>
              <a:t> and             determine the input-to-output signal delay during the high-to-low and low-to-high transitions of the output, respectively.</a:t>
            </a:r>
          </a:p>
          <a:p>
            <a:r>
              <a:rPr lang="en-US" dirty="0">
                <a:latin typeface="Arial" pitchFamily="34" charset="0"/>
                <a:cs typeface="Arial" pitchFamily="34" charset="0"/>
              </a:rPr>
              <a:t>By definition,            is the time delay between the </a:t>
            </a:r>
            <a:r>
              <a:rPr lang="en-US" b="1" dirty="0">
                <a:latin typeface="Arial" pitchFamily="34" charset="0"/>
                <a:cs typeface="Arial" pitchFamily="34" charset="0"/>
              </a:rPr>
              <a:t>V</a:t>
            </a:r>
            <a:r>
              <a:rPr lang="en-US" b="1" baseline="-25000" dirty="0">
                <a:latin typeface="Arial" pitchFamily="34" charset="0"/>
                <a:cs typeface="Arial" pitchFamily="34" charset="0"/>
              </a:rPr>
              <a:t>50%   </a:t>
            </a:r>
            <a:r>
              <a:rPr lang="en-US" dirty="0">
                <a:latin typeface="Arial" pitchFamily="34" charset="0"/>
                <a:cs typeface="Arial" pitchFamily="34" charset="0"/>
              </a:rPr>
              <a:t>-transition of the rising input voltage and the </a:t>
            </a:r>
            <a:r>
              <a:rPr lang="en-US" b="1" dirty="0">
                <a:latin typeface="Arial" pitchFamily="34" charset="0"/>
                <a:cs typeface="Arial" pitchFamily="34" charset="0"/>
              </a:rPr>
              <a:t>V</a:t>
            </a:r>
            <a:r>
              <a:rPr lang="en-US" b="1" baseline="-25000" dirty="0">
                <a:latin typeface="Arial" pitchFamily="34" charset="0"/>
                <a:cs typeface="Arial" pitchFamily="34" charset="0"/>
              </a:rPr>
              <a:t>50%</a:t>
            </a:r>
            <a:r>
              <a:rPr lang="en-US" baseline="-25000" dirty="0">
                <a:latin typeface="Arial" pitchFamily="34" charset="0"/>
                <a:cs typeface="Arial" pitchFamily="34" charset="0"/>
              </a:rPr>
              <a:t> </a:t>
            </a:r>
            <a:r>
              <a:rPr lang="en-US" dirty="0">
                <a:latin typeface="Arial" pitchFamily="34" charset="0"/>
                <a:cs typeface="Arial" pitchFamily="34" charset="0"/>
              </a:rPr>
              <a:t>-transition of the falling output voltage.</a:t>
            </a:r>
          </a:p>
          <a:p>
            <a:pPr>
              <a:spcBef>
                <a:spcPts val="0"/>
              </a:spcBef>
            </a:pPr>
            <a:r>
              <a:rPr lang="en-US" dirty="0">
                <a:latin typeface="Arial" pitchFamily="34" charset="0"/>
                <a:cs typeface="Arial" pitchFamily="34" charset="0"/>
              </a:rPr>
              <a:t>Similarly  ,       is defined as the time delay between the </a:t>
            </a:r>
            <a:r>
              <a:rPr lang="en-US" b="1" dirty="0">
                <a:latin typeface="Arial" pitchFamily="34" charset="0"/>
                <a:cs typeface="Arial" pitchFamily="34" charset="0"/>
              </a:rPr>
              <a:t>V</a:t>
            </a:r>
            <a:r>
              <a:rPr lang="en-US" b="1" baseline="-25000" dirty="0">
                <a:latin typeface="Arial" pitchFamily="34" charset="0"/>
                <a:cs typeface="Arial" pitchFamily="34" charset="0"/>
              </a:rPr>
              <a:t>50%</a:t>
            </a:r>
            <a:r>
              <a:rPr lang="en-US" baseline="-25000" dirty="0">
                <a:latin typeface="Arial" pitchFamily="34" charset="0"/>
                <a:cs typeface="Arial" pitchFamily="34" charset="0"/>
              </a:rPr>
              <a:t> </a:t>
            </a:r>
            <a:r>
              <a:rPr lang="en-US" dirty="0">
                <a:latin typeface="Arial" pitchFamily="34" charset="0"/>
                <a:cs typeface="Arial" pitchFamily="34" charset="0"/>
              </a:rPr>
              <a:t>-transition of the falling input voltage</a:t>
            </a:r>
          </a:p>
          <a:p>
            <a:pPr>
              <a:spcBef>
                <a:spcPts val="0"/>
              </a:spcBef>
            </a:pPr>
            <a:r>
              <a:rPr lang="en-US" dirty="0">
                <a:latin typeface="Arial" pitchFamily="34" charset="0"/>
                <a:cs typeface="Arial" pitchFamily="34" charset="0"/>
              </a:rPr>
              <a:t>and the </a:t>
            </a:r>
            <a:r>
              <a:rPr lang="en-US" b="1" dirty="0">
                <a:latin typeface="Arial" pitchFamily="34" charset="0"/>
                <a:cs typeface="Arial" pitchFamily="34" charset="0"/>
              </a:rPr>
              <a:t>V</a:t>
            </a:r>
            <a:r>
              <a:rPr lang="en-US" b="1" baseline="-25000" dirty="0">
                <a:latin typeface="Arial" pitchFamily="34" charset="0"/>
                <a:cs typeface="Arial" pitchFamily="34" charset="0"/>
              </a:rPr>
              <a:t>50%</a:t>
            </a:r>
            <a:r>
              <a:rPr lang="en-US" baseline="-25000" dirty="0">
                <a:latin typeface="Arial" pitchFamily="34" charset="0"/>
                <a:cs typeface="Arial" pitchFamily="34" charset="0"/>
              </a:rPr>
              <a:t>-  </a:t>
            </a:r>
            <a:r>
              <a:rPr lang="en-US" dirty="0">
                <a:latin typeface="Arial" pitchFamily="34" charset="0"/>
                <a:cs typeface="Arial" pitchFamily="34" charset="0"/>
              </a:rPr>
              <a:t>transition of the rising output voltage.</a:t>
            </a:r>
          </a:p>
          <a:p>
            <a:pPr>
              <a:spcBef>
                <a:spcPts val="0"/>
              </a:spcBef>
            </a:pPr>
            <a:endParaRPr lang="en-US" dirty="0">
              <a:latin typeface="Arial" pitchFamily="34" charset="0"/>
              <a:cs typeface="Arial" pitchFamily="34" charset="0"/>
            </a:endParaRPr>
          </a:p>
          <a:p>
            <a:pPr>
              <a:spcBef>
                <a:spcPts val="0"/>
              </a:spcBef>
            </a:pPr>
            <a:r>
              <a:rPr lang="en-IN" dirty="0">
                <a:latin typeface="Arial" pitchFamily="34" charset="0"/>
                <a:cs typeface="Arial" pitchFamily="34" charset="0"/>
              </a:rPr>
              <a:t>To simplify the analysis           </a:t>
            </a:r>
            <a:r>
              <a:rPr lang="en-US" dirty="0">
                <a:latin typeface="Arial" pitchFamily="34" charset="0"/>
                <a:cs typeface="Arial" pitchFamily="34" charset="0"/>
              </a:rPr>
              <a:t>becomes the time required for</a:t>
            </a:r>
          </a:p>
          <a:p>
            <a:pPr>
              <a:spcBef>
                <a:spcPts val="0"/>
              </a:spcBef>
            </a:pPr>
            <a:r>
              <a:rPr lang="en-US" dirty="0">
                <a:latin typeface="Arial" pitchFamily="34" charset="0"/>
                <a:cs typeface="Arial" pitchFamily="34" charset="0"/>
              </a:rPr>
              <a:t> the output voltage to fall from</a:t>
            </a:r>
            <a:r>
              <a:rPr lang="en-US" b="1" dirty="0">
                <a:latin typeface="Arial" pitchFamily="34" charset="0"/>
                <a:cs typeface="Arial" pitchFamily="34" charset="0"/>
              </a:rPr>
              <a:t> V</a:t>
            </a:r>
            <a:r>
              <a:rPr lang="en-US" b="1" baseline="-25000" dirty="0">
                <a:latin typeface="Arial" pitchFamily="34" charset="0"/>
                <a:cs typeface="Arial" pitchFamily="34" charset="0"/>
              </a:rPr>
              <a:t>OH</a:t>
            </a:r>
            <a:r>
              <a:rPr lang="en-US" b="1" dirty="0">
                <a:latin typeface="Arial" pitchFamily="34" charset="0"/>
                <a:cs typeface="Arial" pitchFamily="34" charset="0"/>
              </a:rPr>
              <a:t> </a:t>
            </a:r>
            <a:r>
              <a:rPr lang="en-US" dirty="0">
                <a:latin typeface="Arial" pitchFamily="34" charset="0"/>
                <a:cs typeface="Arial" pitchFamily="34" charset="0"/>
              </a:rPr>
              <a:t>to the </a:t>
            </a:r>
            <a:r>
              <a:rPr lang="en-US" b="1" dirty="0">
                <a:latin typeface="Arial" pitchFamily="34" charset="0"/>
                <a:cs typeface="Arial" pitchFamily="34" charset="0"/>
              </a:rPr>
              <a:t>V</a:t>
            </a:r>
            <a:r>
              <a:rPr lang="en-US" b="1" baseline="-25000" dirty="0">
                <a:latin typeface="Arial" pitchFamily="34" charset="0"/>
                <a:cs typeface="Arial" pitchFamily="34" charset="0"/>
              </a:rPr>
              <a:t>50%</a:t>
            </a:r>
            <a:r>
              <a:rPr lang="en-US" b="1" dirty="0">
                <a:latin typeface="Arial" pitchFamily="34" charset="0"/>
                <a:cs typeface="Arial" pitchFamily="34" charset="0"/>
              </a:rPr>
              <a:t> </a:t>
            </a:r>
            <a:r>
              <a:rPr lang="en-US" dirty="0">
                <a:latin typeface="Arial" pitchFamily="34" charset="0"/>
                <a:cs typeface="Arial" pitchFamily="34" charset="0"/>
              </a:rPr>
              <a:t>level.</a:t>
            </a:r>
            <a:endParaRPr lang="en-IN" dirty="0">
              <a:latin typeface="Arial" pitchFamily="34" charset="0"/>
              <a:cs typeface="Arial" pitchFamily="34" charset="0"/>
            </a:endParaRPr>
          </a:p>
          <a:p>
            <a:pPr>
              <a:spcBef>
                <a:spcPts val="0"/>
              </a:spcBef>
            </a:pPr>
            <a:r>
              <a:rPr lang="en-IN" dirty="0">
                <a:latin typeface="Arial" pitchFamily="34" charset="0"/>
                <a:cs typeface="Arial" pitchFamily="34" charset="0"/>
              </a:rPr>
              <a:t>           </a:t>
            </a:r>
            <a:r>
              <a:rPr lang="en-US" dirty="0">
                <a:latin typeface="Arial" pitchFamily="34" charset="0"/>
                <a:cs typeface="Arial" pitchFamily="34" charset="0"/>
              </a:rPr>
              <a:t>becomes the time required for the output voltage to</a:t>
            </a:r>
          </a:p>
          <a:p>
            <a:pPr>
              <a:spcBef>
                <a:spcPts val="0"/>
              </a:spcBef>
            </a:pPr>
            <a:r>
              <a:rPr lang="en-US" dirty="0">
                <a:latin typeface="Arial" pitchFamily="34" charset="0"/>
                <a:cs typeface="Arial" pitchFamily="34" charset="0"/>
              </a:rPr>
              <a:t>            rise from </a:t>
            </a:r>
            <a:r>
              <a:rPr lang="en-US" b="1" dirty="0">
                <a:latin typeface="Arial" pitchFamily="34" charset="0"/>
                <a:cs typeface="Arial" pitchFamily="34" charset="0"/>
              </a:rPr>
              <a:t>V</a:t>
            </a:r>
            <a:r>
              <a:rPr lang="en-US" b="1" baseline="-25000" dirty="0">
                <a:latin typeface="Arial" pitchFamily="34" charset="0"/>
                <a:cs typeface="Arial" pitchFamily="34" charset="0"/>
              </a:rPr>
              <a:t>OL</a:t>
            </a:r>
            <a:r>
              <a:rPr lang="en-US" b="1" dirty="0">
                <a:latin typeface="Arial" pitchFamily="34" charset="0"/>
                <a:cs typeface="Arial" pitchFamily="34" charset="0"/>
              </a:rPr>
              <a:t> </a:t>
            </a:r>
            <a:r>
              <a:rPr lang="en-US" dirty="0">
                <a:latin typeface="Arial" pitchFamily="34" charset="0"/>
                <a:cs typeface="Arial" pitchFamily="34" charset="0"/>
              </a:rPr>
              <a:t>to the </a:t>
            </a:r>
            <a:r>
              <a:rPr lang="en-US" b="1" dirty="0">
                <a:latin typeface="Arial" pitchFamily="34" charset="0"/>
                <a:cs typeface="Arial" pitchFamily="34" charset="0"/>
              </a:rPr>
              <a:t>V</a:t>
            </a:r>
            <a:r>
              <a:rPr lang="en-US" b="1" baseline="-25000" dirty="0">
                <a:latin typeface="Arial" pitchFamily="34" charset="0"/>
                <a:cs typeface="Arial" pitchFamily="34" charset="0"/>
              </a:rPr>
              <a:t>50%</a:t>
            </a:r>
            <a:r>
              <a:rPr lang="en-US" b="1" dirty="0">
                <a:latin typeface="Arial" pitchFamily="34" charset="0"/>
                <a:cs typeface="Arial" pitchFamily="34" charset="0"/>
              </a:rPr>
              <a:t> </a:t>
            </a:r>
            <a:r>
              <a:rPr lang="en-US" dirty="0">
                <a:latin typeface="Arial" pitchFamily="34" charset="0"/>
                <a:cs typeface="Arial" pitchFamily="34" charset="0"/>
              </a:rPr>
              <a:t>level. The voltage point </a:t>
            </a:r>
            <a:r>
              <a:rPr lang="en-US" b="1" dirty="0">
                <a:latin typeface="Arial" pitchFamily="34" charset="0"/>
                <a:cs typeface="Arial" pitchFamily="34" charset="0"/>
              </a:rPr>
              <a:t>V</a:t>
            </a:r>
            <a:r>
              <a:rPr lang="en-US" b="1" baseline="-25000" dirty="0">
                <a:latin typeface="Arial" pitchFamily="34" charset="0"/>
                <a:cs typeface="Arial" pitchFamily="34" charset="0"/>
              </a:rPr>
              <a:t>50% </a:t>
            </a:r>
          </a:p>
          <a:p>
            <a:pPr>
              <a:spcBef>
                <a:spcPts val="0"/>
              </a:spcBef>
            </a:pPr>
            <a:r>
              <a:rPr lang="en-US" dirty="0">
                <a:latin typeface="Arial" pitchFamily="34" charset="0"/>
                <a:cs typeface="Arial" pitchFamily="34" charset="0"/>
              </a:rPr>
              <a:t>is defined as follows</a:t>
            </a:r>
          </a:p>
          <a:p>
            <a:pPr>
              <a:spcBef>
                <a:spcPts val="0"/>
              </a:spcBef>
            </a:pPr>
            <a:endParaRPr lang="en-IN" dirty="0">
              <a:latin typeface="Arial" pitchFamily="34" charset="0"/>
              <a:cs typeface="Arial" pitchFamily="34" charset="0"/>
            </a:endParaRPr>
          </a:p>
          <a:p>
            <a:pPr>
              <a:spcBef>
                <a:spcPts val="0"/>
              </a:spcBef>
            </a:pPr>
            <a:r>
              <a:rPr lang="en-IN" dirty="0">
                <a:latin typeface="Arial" pitchFamily="34" charset="0"/>
                <a:cs typeface="Arial" pitchFamily="34" charset="0"/>
              </a:rPr>
              <a:t>                                                                                        ….(2)</a:t>
            </a:r>
          </a:p>
        </p:txBody>
      </p:sp>
      <p:sp>
        <p:nvSpPr>
          <p:cNvPr id="4" name="Footer Placeholder 3"/>
          <p:cNvSpPr>
            <a:spLocks noGrp="1"/>
          </p:cNvSpPr>
          <p:nvPr>
            <p:ph type="ftr" sz="quarter" idx="11"/>
          </p:nvPr>
        </p:nvSpPr>
        <p:spPr>
          <a:xfrm>
            <a:off x="1721796" y="6135808"/>
            <a:ext cx="8487415" cy="365125"/>
          </a:xfrm>
        </p:spPr>
        <p:txBody>
          <a:bodyPr/>
          <a:lstStyle/>
          <a:p>
            <a:r>
              <a:rPr lang="en-IN" sz="1500" dirty="0">
                <a:solidFill>
                  <a:srgbClr val="C00000"/>
                </a:solidFill>
                <a:latin typeface="Arial" panose="020B0604020202020204" pitchFamily="34" charset="0"/>
                <a:cs typeface="Arial" panose="020B0604020202020204" pitchFamily="34" charset="0"/>
              </a:rPr>
              <a:t>Rohit Lorenzo, VIT-AP</a:t>
            </a:r>
          </a:p>
        </p:txBody>
      </p:sp>
      <p:sp>
        <p:nvSpPr>
          <p:cNvPr id="3074"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75" name="Rectangle 3"/>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5"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 name="Rectangle 3"/>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077" name="Rectangle 5"/>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79" name="Rectangle 7"/>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80" name="Rectangle 8"/>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082" name="Rectangle 10"/>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83" name="Rectangle 11"/>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085" name="Rectangle 13"/>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86" name="Rectangle 14"/>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pic>
        <p:nvPicPr>
          <p:cNvPr id="48132" name="Picture 4"/>
          <p:cNvPicPr>
            <a:picLocks noChangeAspect="1" noChangeArrowheads="1"/>
          </p:cNvPicPr>
          <p:nvPr/>
        </p:nvPicPr>
        <p:blipFill>
          <a:blip r:embed="rId2" cstate="print"/>
          <a:srcRect/>
          <a:stretch>
            <a:fillRect/>
          </a:stretch>
        </p:blipFill>
        <p:spPr bwMode="auto">
          <a:xfrm>
            <a:off x="3870367" y="1284051"/>
            <a:ext cx="513279" cy="379380"/>
          </a:xfrm>
          <a:prstGeom prst="rect">
            <a:avLst/>
          </a:prstGeom>
          <a:noFill/>
          <a:ln w="9525">
            <a:noFill/>
            <a:miter lim="800000"/>
            <a:headEnd/>
            <a:tailEnd/>
          </a:ln>
        </p:spPr>
      </p:pic>
      <p:pic>
        <p:nvPicPr>
          <p:cNvPr id="48134" name="Picture 6"/>
          <p:cNvPicPr>
            <a:picLocks noChangeAspect="1" noChangeArrowheads="1"/>
          </p:cNvPicPr>
          <p:nvPr/>
        </p:nvPicPr>
        <p:blipFill>
          <a:blip r:embed="rId3" cstate="print"/>
          <a:srcRect/>
          <a:stretch>
            <a:fillRect/>
          </a:stretch>
        </p:blipFill>
        <p:spPr bwMode="auto">
          <a:xfrm>
            <a:off x="5116747" y="1281938"/>
            <a:ext cx="503569" cy="381492"/>
          </a:xfrm>
          <a:prstGeom prst="rect">
            <a:avLst/>
          </a:prstGeom>
          <a:noFill/>
          <a:ln w="9525">
            <a:noFill/>
            <a:miter lim="800000"/>
            <a:headEnd/>
            <a:tailEnd/>
          </a:ln>
        </p:spPr>
      </p:pic>
      <p:pic>
        <p:nvPicPr>
          <p:cNvPr id="22" name="Picture 4"/>
          <p:cNvPicPr>
            <a:picLocks noChangeAspect="1" noChangeArrowheads="1"/>
          </p:cNvPicPr>
          <p:nvPr/>
        </p:nvPicPr>
        <p:blipFill>
          <a:blip r:embed="rId2" cstate="print"/>
          <a:srcRect/>
          <a:stretch>
            <a:fillRect/>
          </a:stretch>
        </p:blipFill>
        <p:spPr bwMode="auto">
          <a:xfrm>
            <a:off x="2223151" y="1942290"/>
            <a:ext cx="513279" cy="379380"/>
          </a:xfrm>
          <a:prstGeom prst="rect">
            <a:avLst/>
          </a:prstGeom>
          <a:noFill/>
          <a:ln w="9525">
            <a:noFill/>
            <a:miter lim="800000"/>
            <a:headEnd/>
            <a:tailEnd/>
          </a:ln>
        </p:spPr>
      </p:pic>
      <p:pic>
        <p:nvPicPr>
          <p:cNvPr id="48135" name="Picture 7"/>
          <p:cNvPicPr>
            <a:picLocks noChangeAspect="1" noChangeArrowheads="1"/>
          </p:cNvPicPr>
          <p:nvPr/>
        </p:nvPicPr>
        <p:blipFill>
          <a:blip r:embed="rId4" cstate="print"/>
          <a:srcRect/>
          <a:stretch>
            <a:fillRect/>
          </a:stretch>
        </p:blipFill>
        <p:spPr bwMode="auto">
          <a:xfrm>
            <a:off x="7655669" y="2962047"/>
            <a:ext cx="4536332" cy="3895953"/>
          </a:xfrm>
          <a:prstGeom prst="rect">
            <a:avLst/>
          </a:prstGeom>
          <a:noFill/>
          <a:ln w="9525">
            <a:noFill/>
            <a:miter lim="800000"/>
            <a:headEnd/>
            <a:tailEnd/>
          </a:ln>
        </p:spPr>
      </p:pic>
      <p:pic>
        <p:nvPicPr>
          <p:cNvPr id="24" name="Picture 6"/>
          <p:cNvPicPr>
            <a:picLocks noChangeAspect="1" noChangeArrowheads="1"/>
          </p:cNvPicPr>
          <p:nvPr/>
        </p:nvPicPr>
        <p:blipFill>
          <a:blip r:embed="rId3" cstate="print"/>
          <a:srcRect/>
          <a:stretch>
            <a:fillRect/>
          </a:stretch>
        </p:blipFill>
        <p:spPr bwMode="auto">
          <a:xfrm>
            <a:off x="1806101" y="2558375"/>
            <a:ext cx="503569" cy="327498"/>
          </a:xfrm>
          <a:prstGeom prst="rect">
            <a:avLst/>
          </a:prstGeom>
          <a:noFill/>
          <a:ln w="9525">
            <a:noFill/>
            <a:miter lim="800000"/>
            <a:headEnd/>
            <a:tailEnd/>
          </a:ln>
        </p:spPr>
      </p:pic>
      <p:pic>
        <p:nvPicPr>
          <p:cNvPr id="25" name="Picture 4"/>
          <p:cNvPicPr>
            <a:picLocks noChangeAspect="1" noChangeArrowheads="1"/>
          </p:cNvPicPr>
          <p:nvPr/>
        </p:nvPicPr>
        <p:blipFill>
          <a:blip r:embed="rId2" cstate="print"/>
          <a:srcRect/>
          <a:stretch>
            <a:fillRect/>
          </a:stretch>
        </p:blipFill>
        <p:spPr bwMode="auto">
          <a:xfrm>
            <a:off x="3260768" y="3359285"/>
            <a:ext cx="513279" cy="379380"/>
          </a:xfrm>
          <a:prstGeom prst="rect">
            <a:avLst/>
          </a:prstGeom>
          <a:noFill/>
          <a:ln w="9525">
            <a:noFill/>
            <a:miter lim="800000"/>
            <a:headEnd/>
            <a:tailEnd/>
          </a:ln>
        </p:spPr>
      </p:pic>
      <p:pic>
        <p:nvPicPr>
          <p:cNvPr id="26" name="Picture 6"/>
          <p:cNvPicPr>
            <a:picLocks noChangeAspect="1" noChangeArrowheads="1"/>
          </p:cNvPicPr>
          <p:nvPr/>
        </p:nvPicPr>
        <p:blipFill>
          <a:blip r:embed="rId3" cstate="print"/>
          <a:srcRect/>
          <a:stretch>
            <a:fillRect/>
          </a:stretch>
        </p:blipFill>
        <p:spPr bwMode="auto">
          <a:xfrm>
            <a:off x="940338" y="3982985"/>
            <a:ext cx="503569" cy="381492"/>
          </a:xfrm>
          <a:prstGeom prst="rect">
            <a:avLst/>
          </a:prstGeom>
          <a:noFill/>
          <a:ln w="9525">
            <a:noFill/>
            <a:miter lim="800000"/>
            <a:headEnd/>
            <a:tailEnd/>
          </a:ln>
        </p:spPr>
      </p:pic>
      <p:pic>
        <p:nvPicPr>
          <p:cNvPr id="48136" name="Picture 8"/>
          <p:cNvPicPr>
            <a:picLocks noChangeAspect="1" noChangeArrowheads="1"/>
          </p:cNvPicPr>
          <p:nvPr/>
        </p:nvPicPr>
        <p:blipFill>
          <a:blip r:embed="rId5" cstate="print"/>
          <a:srcRect/>
          <a:stretch>
            <a:fillRect/>
          </a:stretch>
        </p:blipFill>
        <p:spPr bwMode="auto">
          <a:xfrm>
            <a:off x="1398858" y="4936181"/>
            <a:ext cx="4680929" cy="574739"/>
          </a:xfrm>
          <a:prstGeom prst="rect">
            <a:avLst/>
          </a:prstGeom>
          <a:noFill/>
          <a:ln w="9525">
            <a:noFill/>
            <a:miter lim="800000"/>
            <a:headEnd/>
            <a:tailEnd/>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53703" y="624110"/>
            <a:ext cx="9850910" cy="1280890"/>
          </a:xfrm>
        </p:spPr>
        <p:txBody>
          <a:bodyPr>
            <a:normAutofit/>
          </a:bodyPr>
          <a:lstStyle/>
          <a:p>
            <a:r>
              <a:rPr lang="en-US" sz="3200" b="1" dirty="0">
                <a:latin typeface="Arial" pitchFamily="34" charset="0"/>
                <a:cs typeface="Arial" pitchFamily="34" charset="0"/>
              </a:rPr>
              <a:t>Continue….</a:t>
            </a:r>
            <a:endParaRPr lang="en-US" sz="3200" b="1" baseline="-25000" dirty="0">
              <a:latin typeface="Arial" pitchFamily="34" charset="0"/>
              <a:cs typeface="Arial" pitchFamily="34" charset="0"/>
            </a:endParaRPr>
          </a:p>
        </p:txBody>
      </p:sp>
      <p:sp>
        <p:nvSpPr>
          <p:cNvPr id="3" name="Content Placeholder 2"/>
          <p:cNvSpPr>
            <a:spLocks noGrp="1"/>
          </p:cNvSpPr>
          <p:nvPr>
            <p:ph idx="1"/>
          </p:nvPr>
        </p:nvSpPr>
        <p:spPr>
          <a:xfrm>
            <a:off x="447472" y="1313234"/>
            <a:ext cx="11478639" cy="4776281"/>
          </a:xfrm>
        </p:spPr>
        <p:txBody>
          <a:bodyPr>
            <a:normAutofit/>
          </a:bodyPr>
          <a:lstStyle/>
          <a:p>
            <a:r>
              <a:rPr lang="en-US" dirty="0">
                <a:latin typeface="Arial" pitchFamily="34" charset="0"/>
                <a:cs typeface="Arial" pitchFamily="34" charset="0"/>
              </a:rPr>
              <a:t>Thus, the propagation delay times                                                …..(3)</a:t>
            </a:r>
          </a:p>
          <a:p>
            <a:endParaRPr lang="en-IN" dirty="0">
              <a:latin typeface="Arial" pitchFamily="34" charset="0"/>
              <a:cs typeface="Arial" pitchFamily="34" charset="0"/>
            </a:endParaRPr>
          </a:p>
          <a:p>
            <a:r>
              <a:rPr lang="en-US" dirty="0">
                <a:latin typeface="Arial" pitchFamily="34" charset="0"/>
                <a:cs typeface="Arial" pitchFamily="34" charset="0"/>
              </a:rPr>
              <a:t>The average propagation delay </a:t>
            </a:r>
            <a:r>
              <a:rPr lang="en-US" b="1" dirty="0">
                <a:latin typeface="Arial" pitchFamily="34" charset="0"/>
                <a:cs typeface="Arial" pitchFamily="34" charset="0"/>
              </a:rPr>
              <a:t>      </a:t>
            </a:r>
            <a:r>
              <a:rPr lang="en-US" dirty="0">
                <a:latin typeface="Arial" pitchFamily="34" charset="0"/>
                <a:cs typeface="Arial" pitchFamily="34" charset="0"/>
              </a:rPr>
              <a:t>of the inverter characterizes the average time required for the input signal to propagate through the inverter. </a:t>
            </a:r>
          </a:p>
          <a:p>
            <a:r>
              <a:rPr lang="en-IN" dirty="0">
                <a:latin typeface="Arial" pitchFamily="34" charset="0"/>
                <a:cs typeface="Arial" pitchFamily="34" charset="0"/>
              </a:rPr>
              <a:t>                                                                                                        …..(4)</a:t>
            </a:r>
          </a:p>
          <a:p>
            <a:endParaRPr lang="en-US" dirty="0"/>
          </a:p>
          <a:p>
            <a:pPr>
              <a:spcBef>
                <a:spcPts val="0"/>
              </a:spcBef>
            </a:pPr>
            <a:r>
              <a:rPr lang="en-US" dirty="0">
                <a:latin typeface="Arial" pitchFamily="34" charset="0"/>
                <a:cs typeface="Arial" pitchFamily="34" charset="0"/>
              </a:rPr>
              <a:t>The rise time        is defined here as the time required </a:t>
            </a:r>
          </a:p>
          <a:p>
            <a:pPr>
              <a:spcBef>
                <a:spcPts val="0"/>
              </a:spcBef>
            </a:pPr>
            <a:r>
              <a:rPr lang="en-US" dirty="0">
                <a:latin typeface="Arial" pitchFamily="34" charset="0"/>
                <a:cs typeface="Arial" pitchFamily="34" charset="0"/>
              </a:rPr>
              <a:t>for the output voltage to rise from the </a:t>
            </a:r>
            <a:r>
              <a:rPr lang="en-US" b="1" dirty="0">
                <a:latin typeface="Arial" pitchFamily="34" charset="0"/>
                <a:cs typeface="Arial" pitchFamily="34" charset="0"/>
              </a:rPr>
              <a:t>V</a:t>
            </a:r>
            <a:r>
              <a:rPr lang="en-US" b="1" baseline="-25000" dirty="0">
                <a:latin typeface="Arial" pitchFamily="34" charset="0"/>
                <a:cs typeface="Arial" pitchFamily="34" charset="0"/>
              </a:rPr>
              <a:t>10%</a:t>
            </a:r>
            <a:r>
              <a:rPr lang="en-US" b="1" dirty="0">
                <a:latin typeface="Arial" pitchFamily="34" charset="0"/>
                <a:cs typeface="Arial" pitchFamily="34" charset="0"/>
              </a:rPr>
              <a:t> </a:t>
            </a:r>
            <a:r>
              <a:rPr lang="en-US" dirty="0">
                <a:latin typeface="Arial" pitchFamily="34" charset="0"/>
                <a:cs typeface="Arial" pitchFamily="34" charset="0"/>
              </a:rPr>
              <a:t>level to </a:t>
            </a:r>
            <a:r>
              <a:rPr lang="en-US" b="1" dirty="0">
                <a:latin typeface="Arial" pitchFamily="34" charset="0"/>
                <a:cs typeface="Arial" pitchFamily="34" charset="0"/>
              </a:rPr>
              <a:t>V</a:t>
            </a:r>
            <a:r>
              <a:rPr lang="en-US" b="1" baseline="-25000" dirty="0">
                <a:latin typeface="Arial" pitchFamily="34" charset="0"/>
                <a:cs typeface="Arial" pitchFamily="34" charset="0"/>
              </a:rPr>
              <a:t>90% </a:t>
            </a:r>
            <a:endParaRPr lang="en-US" dirty="0">
              <a:latin typeface="Arial" pitchFamily="34" charset="0"/>
              <a:cs typeface="Arial" pitchFamily="34" charset="0"/>
            </a:endParaRPr>
          </a:p>
          <a:p>
            <a:pPr>
              <a:spcBef>
                <a:spcPts val="0"/>
              </a:spcBef>
            </a:pPr>
            <a:r>
              <a:rPr lang="en-US" dirty="0">
                <a:latin typeface="Arial" pitchFamily="34" charset="0"/>
                <a:cs typeface="Arial" pitchFamily="34" charset="0"/>
              </a:rPr>
              <a:t>level.</a:t>
            </a:r>
            <a:endParaRPr lang="en-IN" dirty="0">
              <a:latin typeface="Arial" pitchFamily="34" charset="0"/>
              <a:cs typeface="Arial" pitchFamily="34" charset="0"/>
            </a:endParaRPr>
          </a:p>
          <a:p>
            <a:pPr algn="just">
              <a:spcBef>
                <a:spcPts val="0"/>
              </a:spcBef>
            </a:pPr>
            <a:r>
              <a:rPr lang="en-US" dirty="0">
                <a:latin typeface="Arial" pitchFamily="34" charset="0"/>
                <a:cs typeface="Arial" pitchFamily="34" charset="0"/>
              </a:rPr>
              <a:t>The fall time         is defined here as the time</a:t>
            </a:r>
          </a:p>
          <a:p>
            <a:pPr algn="just">
              <a:spcBef>
                <a:spcPts val="0"/>
              </a:spcBef>
            </a:pPr>
            <a:r>
              <a:rPr lang="en-US" dirty="0">
                <a:latin typeface="Arial" pitchFamily="34" charset="0"/>
                <a:cs typeface="Arial" pitchFamily="34" charset="0"/>
              </a:rPr>
              <a:t> required for the output voltage to drop from </a:t>
            </a:r>
          </a:p>
          <a:p>
            <a:pPr algn="just">
              <a:spcBef>
                <a:spcPts val="0"/>
              </a:spcBef>
            </a:pPr>
            <a:r>
              <a:rPr lang="en-US" dirty="0">
                <a:latin typeface="Arial" pitchFamily="34" charset="0"/>
                <a:cs typeface="Arial" pitchFamily="34" charset="0"/>
              </a:rPr>
              <a:t>the </a:t>
            </a:r>
            <a:r>
              <a:rPr lang="en-US" b="1" dirty="0">
                <a:latin typeface="Arial" pitchFamily="34" charset="0"/>
                <a:cs typeface="Arial" pitchFamily="34" charset="0"/>
              </a:rPr>
              <a:t>V</a:t>
            </a:r>
            <a:r>
              <a:rPr lang="en-US" b="1" baseline="-25000" dirty="0">
                <a:latin typeface="Arial" pitchFamily="34" charset="0"/>
                <a:cs typeface="Arial" pitchFamily="34" charset="0"/>
              </a:rPr>
              <a:t>90% </a:t>
            </a:r>
            <a:r>
              <a:rPr lang="en-US" dirty="0">
                <a:latin typeface="Arial" pitchFamily="34" charset="0"/>
                <a:cs typeface="Arial" pitchFamily="34" charset="0"/>
              </a:rPr>
              <a:t>level to </a:t>
            </a:r>
            <a:r>
              <a:rPr lang="en-US" b="1" dirty="0">
                <a:latin typeface="Arial" pitchFamily="34" charset="0"/>
                <a:cs typeface="Arial" pitchFamily="34" charset="0"/>
              </a:rPr>
              <a:t>V</a:t>
            </a:r>
            <a:r>
              <a:rPr lang="en-US" b="1" baseline="-25000" dirty="0">
                <a:latin typeface="Arial" pitchFamily="34" charset="0"/>
                <a:cs typeface="Arial" pitchFamily="34" charset="0"/>
              </a:rPr>
              <a:t>10%</a:t>
            </a:r>
            <a:r>
              <a:rPr lang="en-US" dirty="0">
                <a:latin typeface="Arial" pitchFamily="34" charset="0"/>
                <a:cs typeface="Arial" pitchFamily="34" charset="0"/>
              </a:rPr>
              <a:t>    level.</a:t>
            </a:r>
          </a:p>
          <a:p>
            <a:pPr algn="just">
              <a:spcBef>
                <a:spcPts val="0"/>
              </a:spcBef>
            </a:pPr>
            <a:endParaRPr lang="en-IN" dirty="0">
              <a:latin typeface="Arial" pitchFamily="34" charset="0"/>
              <a:cs typeface="Arial" pitchFamily="34" charset="0"/>
            </a:endParaRPr>
          </a:p>
          <a:p>
            <a:pPr algn="just">
              <a:spcBef>
                <a:spcPts val="0"/>
              </a:spcBef>
            </a:pPr>
            <a:r>
              <a:rPr lang="en-IN" dirty="0">
                <a:latin typeface="Arial" pitchFamily="34" charset="0"/>
                <a:cs typeface="Arial" pitchFamily="34" charset="0"/>
              </a:rPr>
              <a:t>                                              …(5)</a:t>
            </a:r>
          </a:p>
          <a:p>
            <a:endParaRPr lang="en-IN" dirty="0">
              <a:latin typeface="Arial" pitchFamily="34" charset="0"/>
              <a:cs typeface="Arial" pitchFamily="34" charset="0"/>
            </a:endParaRPr>
          </a:p>
          <a:p>
            <a:endParaRPr lang="en-US" dirty="0">
              <a:latin typeface="Arial" pitchFamily="34" charset="0"/>
              <a:cs typeface="Arial" pitchFamily="34" charset="0"/>
            </a:endParaRPr>
          </a:p>
          <a:p>
            <a:pPr>
              <a:spcBef>
                <a:spcPts val="0"/>
              </a:spcBef>
            </a:pPr>
            <a:endParaRPr lang="en-IN" dirty="0">
              <a:latin typeface="Arial" pitchFamily="34" charset="0"/>
              <a:cs typeface="Arial" pitchFamily="34" charset="0"/>
            </a:endParaRPr>
          </a:p>
        </p:txBody>
      </p:sp>
      <p:sp>
        <p:nvSpPr>
          <p:cNvPr id="4" name="Footer Placeholder 3"/>
          <p:cNvSpPr>
            <a:spLocks noGrp="1"/>
          </p:cNvSpPr>
          <p:nvPr>
            <p:ph type="ftr" sz="quarter" idx="11"/>
          </p:nvPr>
        </p:nvSpPr>
        <p:spPr>
          <a:xfrm>
            <a:off x="1721796" y="6135808"/>
            <a:ext cx="8487415" cy="365125"/>
          </a:xfrm>
        </p:spPr>
        <p:txBody>
          <a:bodyPr/>
          <a:lstStyle/>
          <a:p>
            <a:r>
              <a:rPr lang="en-IN" sz="1500" dirty="0">
                <a:solidFill>
                  <a:srgbClr val="C00000"/>
                </a:solidFill>
                <a:latin typeface="Arial" panose="020B0604020202020204" pitchFamily="34" charset="0"/>
                <a:cs typeface="Arial" panose="020B0604020202020204" pitchFamily="34" charset="0"/>
              </a:rPr>
              <a:t>Rohit Lorenzo, VIT-AP                                      </a:t>
            </a:r>
            <a:r>
              <a:rPr lang="en-IN" sz="1500" dirty="0">
                <a:solidFill>
                  <a:schemeClr val="tx1"/>
                </a:solidFill>
                <a:latin typeface="Arial" panose="020B0604020202020204" pitchFamily="34" charset="0"/>
                <a:cs typeface="Arial" panose="020B0604020202020204" pitchFamily="34" charset="0"/>
              </a:rPr>
              <a:t>…..(6)</a:t>
            </a:r>
          </a:p>
        </p:txBody>
      </p:sp>
      <p:sp>
        <p:nvSpPr>
          <p:cNvPr id="3074"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75" name="Rectangle 3"/>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5"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 name="Rectangle 3"/>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077" name="Rectangle 5"/>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79" name="Rectangle 7"/>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80" name="Rectangle 8"/>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082" name="Rectangle 10"/>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83" name="Rectangle 11"/>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085" name="Rectangle 13"/>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86" name="Rectangle 14"/>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pic>
        <p:nvPicPr>
          <p:cNvPr id="49154" name="Picture 2"/>
          <p:cNvPicPr>
            <a:picLocks noChangeAspect="1" noChangeArrowheads="1"/>
          </p:cNvPicPr>
          <p:nvPr/>
        </p:nvPicPr>
        <p:blipFill>
          <a:blip r:embed="rId2" cstate="print"/>
          <a:srcRect/>
          <a:stretch>
            <a:fillRect/>
          </a:stretch>
        </p:blipFill>
        <p:spPr bwMode="auto">
          <a:xfrm>
            <a:off x="4571999" y="1333804"/>
            <a:ext cx="1410511" cy="631183"/>
          </a:xfrm>
          <a:prstGeom prst="rect">
            <a:avLst/>
          </a:prstGeom>
          <a:noFill/>
          <a:ln w="9525">
            <a:noFill/>
            <a:miter lim="800000"/>
            <a:headEnd/>
            <a:tailEnd/>
          </a:ln>
        </p:spPr>
      </p:pic>
      <p:pic>
        <p:nvPicPr>
          <p:cNvPr id="49155" name="Picture 3"/>
          <p:cNvPicPr>
            <a:picLocks noChangeAspect="1" noChangeArrowheads="1"/>
          </p:cNvPicPr>
          <p:nvPr/>
        </p:nvPicPr>
        <p:blipFill>
          <a:blip r:embed="rId3" cstate="print"/>
          <a:srcRect/>
          <a:stretch>
            <a:fillRect/>
          </a:stretch>
        </p:blipFill>
        <p:spPr bwMode="auto">
          <a:xfrm>
            <a:off x="4091193" y="2188522"/>
            <a:ext cx="247592" cy="292032"/>
          </a:xfrm>
          <a:prstGeom prst="rect">
            <a:avLst/>
          </a:prstGeom>
          <a:noFill/>
          <a:ln w="9525">
            <a:noFill/>
            <a:miter lim="800000"/>
            <a:headEnd/>
            <a:tailEnd/>
          </a:ln>
        </p:spPr>
      </p:pic>
      <p:pic>
        <p:nvPicPr>
          <p:cNvPr id="49156" name="Picture 4"/>
          <p:cNvPicPr>
            <a:picLocks noChangeAspect="1" noChangeArrowheads="1"/>
          </p:cNvPicPr>
          <p:nvPr/>
        </p:nvPicPr>
        <p:blipFill>
          <a:blip r:embed="rId4" cstate="print"/>
          <a:srcRect/>
          <a:stretch>
            <a:fillRect/>
          </a:stretch>
        </p:blipFill>
        <p:spPr bwMode="auto">
          <a:xfrm>
            <a:off x="4394268" y="2815752"/>
            <a:ext cx="1571148" cy="491652"/>
          </a:xfrm>
          <a:prstGeom prst="rect">
            <a:avLst/>
          </a:prstGeom>
          <a:noFill/>
          <a:ln w="9525">
            <a:noFill/>
            <a:miter lim="800000"/>
            <a:headEnd/>
            <a:tailEnd/>
          </a:ln>
        </p:spPr>
      </p:pic>
      <p:pic>
        <p:nvPicPr>
          <p:cNvPr id="49158" name="Picture 6"/>
          <p:cNvPicPr>
            <a:picLocks noChangeAspect="1" noChangeArrowheads="1"/>
          </p:cNvPicPr>
          <p:nvPr/>
        </p:nvPicPr>
        <p:blipFill>
          <a:blip r:embed="rId5" cstate="print"/>
          <a:srcRect/>
          <a:stretch>
            <a:fillRect/>
          </a:stretch>
        </p:blipFill>
        <p:spPr bwMode="auto">
          <a:xfrm>
            <a:off x="2231282" y="3472976"/>
            <a:ext cx="453553" cy="333495"/>
          </a:xfrm>
          <a:prstGeom prst="rect">
            <a:avLst/>
          </a:prstGeom>
          <a:noFill/>
          <a:ln w="9525">
            <a:noFill/>
            <a:miter lim="800000"/>
            <a:headEnd/>
            <a:tailEnd/>
          </a:ln>
        </p:spPr>
      </p:pic>
      <p:pic>
        <p:nvPicPr>
          <p:cNvPr id="49159" name="Picture 7"/>
          <p:cNvPicPr>
            <a:picLocks noChangeAspect="1" noChangeArrowheads="1"/>
          </p:cNvPicPr>
          <p:nvPr/>
        </p:nvPicPr>
        <p:blipFill>
          <a:blip r:embed="rId6" cstate="print"/>
          <a:srcRect/>
          <a:stretch>
            <a:fillRect/>
          </a:stretch>
        </p:blipFill>
        <p:spPr bwMode="auto">
          <a:xfrm>
            <a:off x="6527260" y="3433864"/>
            <a:ext cx="5664740" cy="3424137"/>
          </a:xfrm>
          <a:prstGeom prst="rect">
            <a:avLst/>
          </a:prstGeom>
          <a:noFill/>
          <a:ln w="9525">
            <a:noFill/>
            <a:miter lim="800000"/>
            <a:headEnd/>
            <a:tailEnd/>
          </a:ln>
        </p:spPr>
      </p:pic>
      <p:pic>
        <p:nvPicPr>
          <p:cNvPr id="49160" name="Picture 8"/>
          <p:cNvPicPr>
            <a:picLocks noChangeAspect="1" noChangeArrowheads="1"/>
          </p:cNvPicPr>
          <p:nvPr/>
        </p:nvPicPr>
        <p:blipFill>
          <a:blip r:embed="rId7" cstate="print"/>
          <a:srcRect/>
          <a:stretch>
            <a:fillRect/>
          </a:stretch>
        </p:blipFill>
        <p:spPr bwMode="auto">
          <a:xfrm>
            <a:off x="2148699" y="4300638"/>
            <a:ext cx="450124" cy="378365"/>
          </a:xfrm>
          <a:prstGeom prst="rect">
            <a:avLst/>
          </a:prstGeom>
          <a:noFill/>
          <a:ln w="9525">
            <a:noFill/>
            <a:miter lim="800000"/>
            <a:headEnd/>
            <a:tailEnd/>
          </a:ln>
        </p:spPr>
      </p:pic>
      <p:pic>
        <p:nvPicPr>
          <p:cNvPr id="49161" name="Picture 9"/>
          <p:cNvPicPr>
            <a:picLocks noChangeAspect="1" noChangeArrowheads="1"/>
          </p:cNvPicPr>
          <p:nvPr/>
        </p:nvPicPr>
        <p:blipFill>
          <a:blip r:embed="rId8" cstate="print"/>
          <a:srcRect/>
          <a:stretch>
            <a:fillRect/>
          </a:stretch>
        </p:blipFill>
        <p:spPr bwMode="auto">
          <a:xfrm>
            <a:off x="933855" y="5260830"/>
            <a:ext cx="2547735" cy="640718"/>
          </a:xfrm>
          <a:prstGeom prst="rect">
            <a:avLst/>
          </a:prstGeom>
          <a:noFill/>
          <a:ln w="9525">
            <a:noFill/>
            <a:miter lim="800000"/>
            <a:headEnd/>
            <a:tailEnd/>
          </a:ln>
        </p:spPr>
      </p:pic>
      <p:pic>
        <p:nvPicPr>
          <p:cNvPr id="23" name="Picture 2"/>
          <p:cNvPicPr>
            <a:picLocks noChangeAspect="1" noChangeArrowheads="1"/>
          </p:cNvPicPr>
          <p:nvPr/>
        </p:nvPicPr>
        <p:blipFill>
          <a:blip r:embed="rId9" cstate="print"/>
          <a:srcRect/>
          <a:stretch>
            <a:fillRect/>
          </a:stretch>
        </p:blipFill>
        <p:spPr bwMode="auto">
          <a:xfrm>
            <a:off x="4017321" y="5906009"/>
            <a:ext cx="1449624" cy="711752"/>
          </a:xfrm>
          <a:prstGeom prst="rect">
            <a:avLst/>
          </a:prstGeom>
          <a:noFill/>
          <a:ln w="9525">
            <a:noFill/>
            <a:miter lim="800000"/>
            <a:headEnd/>
            <a:tailEnd/>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53703" y="624110"/>
            <a:ext cx="9850910" cy="1280890"/>
          </a:xfrm>
        </p:spPr>
        <p:txBody>
          <a:bodyPr>
            <a:normAutofit/>
          </a:bodyPr>
          <a:lstStyle/>
          <a:p>
            <a:r>
              <a:rPr lang="en-US" sz="3200" b="1" dirty="0"/>
              <a:t>Performance of CMOS Inverter</a:t>
            </a:r>
            <a:endParaRPr lang="en-US" sz="3200" b="1" baseline="-25000" dirty="0">
              <a:latin typeface="Arial" pitchFamily="34" charset="0"/>
              <a:cs typeface="Arial" pitchFamily="34" charset="0"/>
            </a:endParaRPr>
          </a:p>
        </p:txBody>
      </p:sp>
      <p:sp>
        <p:nvSpPr>
          <p:cNvPr id="3" name="Content Placeholder 2"/>
          <p:cNvSpPr>
            <a:spLocks noGrp="1"/>
          </p:cNvSpPr>
          <p:nvPr>
            <p:ph idx="1"/>
          </p:nvPr>
        </p:nvSpPr>
        <p:spPr>
          <a:xfrm>
            <a:off x="447472" y="1313234"/>
            <a:ext cx="11478639" cy="4776281"/>
          </a:xfrm>
        </p:spPr>
        <p:txBody>
          <a:bodyPr>
            <a:normAutofit/>
          </a:bodyPr>
          <a:lstStyle/>
          <a:p>
            <a:pPr algn="just"/>
            <a:r>
              <a:rPr lang="en-US" dirty="0">
                <a:latin typeface="Arial" pitchFamily="34" charset="0"/>
                <a:cs typeface="Arial" pitchFamily="34" charset="0"/>
              </a:rPr>
              <a:t>The qualitative analysis presented earlier concluded that the propagation delay of the CMOS inverter is determined by the time it takes to charge and discharge the load capacitor </a:t>
            </a:r>
            <a:r>
              <a:rPr lang="en-US" b="1" dirty="0">
                <a:latin typeface="Arial" pitchFamily="34" charset="0"/>
                <a:cs typeface="Arial" pitchFamily="34" charset="0"/>
              </a:rPr>
              <a:t>C</a:t>
            </a:r>
            <a:r>
              <a:rPr lang="en-US" b="1" baseline="-25000" dirty="0">
                <a:latin typeface="Arial" pitchFamily="34" charset="0"/>
                <a:cs typeface="Arial" pitchFamily="34" charset="0"/>
              </a:rPr>
              <a:t>L</a:t>
            </a:r>
            <a:r>
              <a:rPr lang="en-US" b="1" dirty="0">
                <a:latin typeface="Arial" pitchFamily="34" charset="0"/>
                <a:cs typeface="Arial" pitchFamily="34" charset="0"/>
              </a:rPr>
              <a:t> </a:t>
            </a:r>
            <a:r>
              <a:rPr lang="en-US" dirty="0">
                <a:latin typeface="Arial" pitchFamily="34" charset="0"/>
                <a:cs typeface="Arial" pitchFamily="34" charset="0"/>
              </a:rPr>
              <a:t>through the PMOS and NMOS transistors</a:t>
            </a:r>
            <a:r>
              <a:rPr lang="en-IN" dirty="0">
                <a:latin typeface="Arial" pitchFamily="34" charset="0"/>
                <a:cs typeface="Arial" pitchFamily="34" charset="0"/>
              </a:rPr>
              <a:t>.    </a:t>
            </a:r>
          </a:p>
          <a:p>
            <a:pPr algn="just"/>
            <a:r>
              <a:rPr lang="en-US" dirty="0">
                <a:latin typeface="Arial" pitchFamily="34" charset="0"/>
                <a:cs typeface="Arial" pitchFamily="34" charset="0"/>
              </a:rPr>
              <a:t>This observation suggests that getting </a:t>
            </a:r>
            <a:r>
              <a:rPr lang="en-US" b="1" dirty="0">
                <a:latin typeface="Arial" pitchFamily="34" charset="0"/>
                <a:cs typeface="Arial" pitchFamily="34" charset="0"/>
              </a:rPr>
              <a:t>C</a:t>
            </a:r>
            <a:r>
              <a:rPr lang="en-US" b="1" baseline="-25000" dirty="0">
                <a:latin typeface="Arial" pitchFamily="34" charset="0"/>
                <a:cs typeface="Arial" pitchFamily="34" charset="0"/>
              </a:rPr>
              <a:t>L</a:t>
            </a:r>
            <a:r>
              <a:rPr lang="en-US" dirty="0">
                <a:latin typeface="Arial" pitchFamily="34" charset="0"/>
                <a:cs typeface="Arial" pitchFamily="34" charset="0"/>
              </a:rPr>
              <a:t> as small as possible is crucial to the realization of high-performance CMOS circuits.</a:t>
            </a:r>
          </a:p>
          <a:p>
            <a:r>
              <a:rPr lang="en-US" dirty="0">
                <a:latin typeface="Arial" pitchFamily="34" charset="0"/>
                <a:cs typeface="Arial" pitchFamily="34" charset="0"/>
              </a:rPr>
              <a:t>It is hence worthwhile to first study the major components of the load capacitance before embarking onto an in-depth analysis of the propagation delay.</a:t>
            </a:r>
            <a:r>
              <a:rPr lang="en-IN" dirty="0">
                <a:latin typeface="Arial" pitchFamily="34" charset="0"/>
                <a:cs typeface="Arial" pitchFamily="34" charset="0"/>
              </a:rPr>
              <a:t>  </a:t>
            </a:r>
          </a:p>
          <a:p>
            <a:r>
              <a:rPr lang="en-US" b="1" u="sng" dirty="0"/>
              <a:t>Computing the Capacitances</a:t>
            </a:r>
            <a:r>
              <a:rPr lang="en-IN" dirty="0">
                <a:latin typeface="Arial" pitchFamily="34" charset="0"/>
                <a:cs typeface="Arial" pitchFamily="34" charset="0"/>
              </a:rPr>
              <a:t>             </a:t>
            </a:r>
          </a:p>
          <a:p>
            <a:pPr algn="just"/>
            <a:r>
              <a:rPr lang="en-US" dirty="0">
                <a:latin typeface="Arial" pitchFamily="34" charset="0"/>
                <a:cs typeface="Arial" pitchFamily="34" charset="0"/>
              </a:rPr>
              <a:t>Manual analysis of MOS circuits where each capacitor is considered individually is virtually impossible.</a:t>
            </a:r>
          </a:p>
          <a:p>
            <a:pPr algn="just"/>
            <a:r>
              <a:rPr lang="en-US" dirty="0">
                <a:latin typeface="Arial" pitchFamily="34" charset="0"/>
                <a:cs typeface="Arial" pitchFamily="34" charset="0"/>
              </a:rPr>
              <a:t>To make the analysis tractable, we assume that all capacitances are lumped together into one single capacitor C</a:t>
            </a:r>
            <a:r>
              <a:rPr lang="en-US" baseline="-25000" dirty="0">
                <a:latin typeface="Arial" pitchFamily="34" charset="0"/>
                <a:cs typeface="Arial" pitchFamily="34" charset="0"/>
              </a:rPr>
              <a:t>L</a:t>
            </a:r>
            <a:r>
              <a:rPr lang="en-US" dirty="0">
                <a:latin typeface="Arial" pitchFamily="34" charset="0"/>
                <a:cs typeface="Arial" pitchFamily="34" charset="0"/>
              </a:rPr>
              <a:t>, located between </a:t>
            </a:r>
            <a:r>
              <a:rPr lang="en-US" dirty="0" err="1">
                <a:latin typeface="Arial" pitchFamily="34" charset="0"/>
                <a:cs typeface="Arial" pitchFamily="34" charset="0"/>
              </a:rPr>
              <a:t>V</a:t>
            </a:r>
            <a:r>
              <a:rPr lang="en-US" baseline="-25000" dirty="0" err="1">
                <a:latin typeface="Arial" pitchFamily="34" charset="0"/>
                <a:cs typeface="Arial" pitchFamily="34" charset="0"/>
              </a:rPr>
              <a:t>out</a:t>
            </a:r>
            <a:r>
              <a:rPr lang="en-US" dirty="0">
                <a:latin typeface="Arial" pitchFamily="34" charset="0"/>
                <a:cs typeface="Arial" pitchFamily="34" charset="0"/>
              </a:rPr>
              <a:t> and GND. </a:t>
            </a:r>
          </a:p>
          <a:p>
            <a:r>
              <a:rPr lang="en-US" dirty="0">
                <a:latin typeface="Arial" pitchFamily="34" charset="0"/>
                <a:cs typeface="Arial" pitchFamily="34" charset="0"/>
              </a:rPr>
              <a:t>It includes all the capacitances influencing the transient response of node </a:t>
            </a:r>
            <a:r>
              <a:rPr lang="en-US" b="1" dirty="0" err="1">
                <a:latin typeface="Arial" pitchFamily="34" charset="0"/>
                <a:cs typeface="Arial" pitchFamily="34" charset="0"/>
              </a:rPr>
              <a:t>V</a:t>
            </a:r>
            <a:r>
              <a:rPr lang="en-US" b="1" baseline="-25000" dirty="0" err="1">
                <a:latin typeface="Arial" pitchFamily="34" charset="0"/>
                <a:cs typeface="Arial" pitchFamily="34" charset="0"/>
              </a:rPr>
              <a:t>out</a:t>
            </a:r>
            <a:r>
              <a:rPr lang="en-US" dirty="0">
                <a:latin typeface="Arial" pitchFamily="34" charset="0"/>
                <a:cs typeface="Arial" pitchFamily="34" charset="0"/>
              </a:rPr>
              <a:t>.</a:t>
            </a:r>
            <a:r>
              <a:rPr lang="en-IN" dirty="0">
                <a:latin typeface="Arial" pitchFamily="34" charset="0"/>
                <a:cs typeface="Arial" pitchFamily="34" charset="0"/>
              </a:rPr>
              <a:t>                                                                                 </a:t>
            </a:r>
          </a:p>
          <a:p>
            <a:endParaRPr lang="en-US" dirty="0"/>
          </a:p>
          <a:p>
            <a:pPr algn="just">
              <a:spcBef>
                <a:spcPts val="0"/>
              </a:spcBef>
            </a:pPr>
            <a:endParaRPr lang="en-IN" dirty="0">
              <a:latin typeface="Arial" pitchFamily="34" charset="0"/>
              <a:cs typeface="Arial" pitchFamily="34" charset="0"/>
            </a:endParaRPr>
          </a:p>
          <a:p>
            <a:endParaRPr lang="en-IN" dirty="0">
              <a:latin typeface="Arial" pitchFamily="34" charset="0"/>
              <a:cs typeface="Arial" pitchFamily="34" charset="0"/>
            </a:endParaRPr>
          </a:p>
          <a:p>
            <a:endParaRPr lang="en-US" dirty="0">
              <a:latin typeface="Arial" pitchFamily="34" charset="0"/>
              <a:cs typeface="Arial" pitchFamily="34" charset="0"/>
            </a:endParaRPr>
          </a:p>
          <a:p>
            <a:pPr>
              <a:spcBef>
                <a:spcPts val="0"/>
              </a:spcBef>
            </a:pPr>
            <a:endParaRPr lang="en-IN" dirty="0">
              <a:latin typeface="Arial" pitchFamily="34" charset="0"/>
              <a:cs typeface="Arial" pitchFamily="34" charset="0"/>
            </a:endParaRPr>
          </a:p>
        </p:txBody>
      </p:sp>
      <p:sp>
        <p:nvSpPr>
          <p:cNvPr id="4" name="Footer Placeholder 3"/>
          <p:cNvSpPr>
            <a:spLocks noGrp="1"/>
          </p:cNvSpPr>
          <p:nvPr>
            <p:ph type="ftr" sz="quarter" idx="11"/>
          </p:nvPr>
        </p:nvSpPr>
        <p:spPr>
          <a:xfrm>
            <a:off x="1721796" y="6135808"/>
            <a:ext cx="8487415" cy="365125"/>
          </a:xfrm>
        </p:spPr>
        <p:txBody>
          <a:bodyPr/>
          <a:lstStyle/>
          <a:p>
            <a:r>
              <a:rPr lang="en-IN" sz="1500" dirty="0">
                <a:solidFill>
                  <a:srgbClr val="C00000"/>
                </a:solidFill>
                <a:latin typeface="Arial" panose="020B0604020202020204" pitchFamily="34" charset="0"/>
                <a:cs typeface="Arial" panose="020B0604020202020204" pitchFamily="34" charset="0"/>
              </a:rPr>
              <a:t>Rohit Lorenzo, VIT-AP</a:t>
            </a:r>
          </a:p>
        </p:txBody>
      </p:sp>
      <p:sp>
        <p:nvSpPr>
          <p:cNvPr id="3074"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75" name="Rectangle 3"/>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5"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 name="Rectangle 3"/>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077" name="Rectangle 5"/>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79" name="Rectangle 7"/>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80" name="Rectangle 8"/>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082" name="Rectangle 10"/>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83" name="Rectangle 11"/>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085" name="Rectangle 13"/>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86" name="Rectangle 14"/>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53703" y="624110"/>
            <a:ext cx="9850910" cy="1280890"/>
          </a:xfrm>
        </p:spPr>
        <p:txBody>
          <a:bodyPr>
            <a:normAutofit/>
          </a:bodyPr>
          <a:lstStyle/>
          <a:p>
            <a:r>
              <a:rPr lang="en-US" sz="3200" b="1" dirty="0"/>
              <a:t>Continue……</a:t>
            </a:r>
            <a:endParaRPr lang="en-US" sz="3200" b="1" baseline="-25000" dirty="0">
              <a:latin typeface="Arial" pitchFamily="34" charset="0"/>
              <a:cs typeface="Arial" pitchFamily="34" charset="0"/>
            </a:endParaRPr>
          </a:p>
        </p:txBody>
      </p:sp>
      <p:sp>
        <p:nvSpPr>
          <p:cNvPr id="3" name="Content Placeholder 2"/>
          <p:cNvSpPr>
            <a:spLocks noGrp="1"/>
          </p:cNvSpPr>
          <p:nvPr>
            <p:ph idx="1"/>
          </p:nvPr>
        </p:nvSpPr>
        <p:spPr>
          <a:xfrm>
            <a:off x="447472" y="1313234"/>
            <a:ext cx="11478639" cy="4776281"/>
          </a:xfrm>
        </p:spPr>
        <p:txBody>
          <a:bodyPr>
            <a:normAutofit/>
          </a:bodyPr>
          <a:lstStyle/>
          <a:p>
            <a:r>
              <a:rPr lang="en-US" b="1" u="sng" dirty="0">
                <a:latin typeface="Arial" pitchFamily="34" charset="0"/>
                <a:cs typeface="Arial" pitchFamily="34" charset="0"/>
              </a:rPr>
              <a:t>Gate-Drain Capacitance C</a:t>
            </a:r>
            <a:r>
              <a:rPr lang="en-US" b="1" u="sng" baseline="-25000" dirty="0">
                <a:latin typeface="Arial" pitchFamily="34" charset="0"/>
                <a:cs typeface="Arial" pitchFamily="34" charset="0"/>
              </a:rPr>
              <a:t>gd12</a:t>
            </a:r>
            <a:endParaRPr lang="en-IN" u="sng" baseline="-25000" dirty="0">
              <a:latin typeface="Arial" pitchFamily="34" charset="0"/>
              <a:cs typeface="Arial" pitchFamily="34" charset="0"/>
            </a:endParaRPr>
          </a:p>
          <a:p>
            <a:r>
              <a:rPr lang="en-US" b="1" dirty="0">
                <a:latin typeface="Arial" pitchFamily="34" charset="0"/>
                <a:cs typeface="Arial" pitchFamily="34" charset="0"/>
              </a:rPr>
              <a:t>M1</a:t>
            </a:r>
            <a:r>
              <a:rPr lang="en-US" dirty="0">
                <a:latin typeface="Arial" pitchFamily="34" charset="0"/>
                <a:cs typeface="Arial" pitchFamily="34" charset="0"/>
              </a:rPr>
              <a:t> and </a:t>
            </a:r>
            <a:r>
              <a:rPr lang="en-US" b="1" dirty="0">
                <a:latin typeface="Arial" pitchFamily="34" charset="0"/>
                <a:cs typeface="Arial" pitchFamily="34" charset="0"/>
              </a:rPr>
              <a:t>M2</a:t>
            </a:r>
            <a:r>
              <a:rPr lang="en-US" dirty="0">
                <a:latin typeface="Arial" pitchFamily="34" charset="0"/>
                <a:cs typeface="Arial" pitchFamily="34" charset="0"/>
              </a:rPr>
              <a:t> are either in cut-off or in the saturation mode during the first half (up to 50% point) of the output transient. Under these circumstances, the only contributions to</a:t>
            </a:r>
            <a:r>
              <a:rPr lang="en-US" b="1" dirty="0">
                <a:latin typeface="Arial" pitchFamily="34" charset="0"/>
                <a:cs typeface="Arial" pitchFamily="34" charset="0"/>
              </a:rPr>
              <a:t> C</a:t>
            </a:r>
            <a:r>
              <a:rPr lang="en-US" b="1" baseline="-25000" dirty="0">
                <a:latin typeface="Arial" pitchFamily="34" charset="0"/>
                <a:cs typeface="Arial" pitchFamily="34" charset="0"/>
              </a:rPr>
              <a:t>gd12    </a:t>
            </a:r>
            <a:r>
              <a:rPr lang="en-US" dirty="0">
                <a:latin typeface="Arial" pitchFamily="34" charset="0"/>
                <a:cs typeface="Arial" pitchFamily="34" charset="0"/>
              </a:rPr>
              <a:t>are the overlap capacitances.</a:t>
            </a:r>
          </a:p>
          <a:p>
            <a:pPr algn="just"/>
            <a:r>
              <a:rPr lang="en-US" dirty="0">
                <a:latin typeface="Arial" pitchFamily="34" charset="0"/>
                <a:cs typeface="Arial" pitchFamily="34" charset="0"/>
              </a:rPr>
              <a:t>During a low-high or high-low transition, the terminals of the gate drain capacitor are moving in opposite directions. The voltage change over the floating capacitor is hence twice the actual output voltage swing.</a:t>
            </a:r>
          </a:p>
          <a:p>
            <a:pPr algn="just"/>
            <a:r>
              <a:rPr lang="en-US" dirty="0">
                <a:latin typeface="Arial" pitchFamily="34" charset="0"/>
                <a:cs typeface="Arial" pitchFamily="34" charset="0"/>
              </a:rPr>
              <a:t>We use the following equation for the gate-drain capacitors. – </a:t>
            </a:r>
            <a:r>
              <a:rPr lang="en-US" b="1" dirty="0" err="1">
                <a:latin typeface="Arial" pitchFamily="34" charset="0"/>
                <a:cs typeface="Arial" pitchFamily="34" charset="0"/>
              </a:rPr>
              <a:t>C</a:t>
            </a:r>
            <a:r>
              <a:rPr lang="en-US" b="1" baseline="-25000" dirty="0" err="1">
                <a:latin typeface="Arial" pitchFamily="34" charset="0"/>
                <a:cs typeface="Arial" pitchFamily="34" charset="0"/>
              </a:rPr>
              <a:t>gd</a:t>
            </a:r>
            <a:r>
              <a:rPr lang="en-US" b="1" dirty="0">
                <a:latin typeface="Arial" pitchFamily="34" charset="0"/>
                <a:cs typeface="Arial" pitchFamily="34" charset="0"/>
              </a:rPr>
              <a:t> = 2C</a:t>
            </a:r>
            <a:r>
              <a:rPr lang="en-US" b="1" baseline="-25000" dirty="0">
                <a:latin typeface="Arial" pitchFamily="34" charset="0"/>
                <a:cs typeface="Arial" pitchFamily="34" charset="0"/>
              </a:rPr>
              <a:t>GD0</a:t>
            </a:r>
            <a:r>
              <a:rPr lang="en-US" b="1" dirty="0">
                <a:latin typeface="Arial" pitchFamily="34" charset="0"/>
                <a:cs typeface="Arial" pitchFamily="34" charset="0"/>
              </a:rPr>
              <a:t>W</a:t>
            </a:r>
            <a:endParaRPr lang="en-US" b="1" baseline="-25000" dirty="0">
              <a:latin typeface="Arial" pitchFamily="34" charset="0"/>
              <a:cs typeface="Arial" pitchFamily="34" charset="0"/>
            </a:endParaRPr>
          </a:p>
          <a:p>
            <a:pPr>
              <a:spcBef>
                <a:spcPts val="0"/>
              </a:spcBef>
            </a:pPr>
            <a:endParaRPr lang="en-IN" dirty="0">
              <a:latin typeface="Arial" pitchFamily="34" charset="0"/>
              <a:cs typeface="Arial" pitchFamily="34" charset="0"/>
            </a:endParaRPr>
          </a:p>
        </p:txBody>
      </p:sp>
      <p:sp>
        <p:nvSpPr>
          <p:cNvPr id="4" name="Footer Placeholder 3"/>
          <p:cNvSpPr>
            <a:spLocks noGrp="1"/>
          </p:cNvSpPr>
          <p:nvPr>
            <p:ph type="ftr" sz="quarter" idx="11"/>
          </p:nvPr>
        </p:nvSpPr>
        <p:spPr>
          <a:xfrm>
            <a:off x="1721796" y="6135808"/>
            <a:ext cx="8487415" cy="365125"/>
          </a:xfrm>
        </p:spPr>
        <p:txBody>
          <a:bodyPr/>
          <a:lstStyle/>
          <a:p>
            <a:r>
              <a:rPr lang="en-IN" sz="1500" dirty="0">
                <a:solidFill>
                  <a:srgbClr val="C00000"/>
                </a:solidFill>
                <a:latin typeface="Arial" panose="020B0604020202020204" pitchFamily="34" charset="0"/>
                <a:cs typeface="Arial" panose="020B0604020202020204" pitchFamily="34" charset="0"/>
              </a:rPr>
              <a:t>Rohit Lorenzo, VIT-AP</a:t>
            </a:r>
          </a:p>
        </p:txBody>
      </p:sp>
      <p:sp>
        <p:nvSpPr>
          <p:cNvPr id="3074"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75" name="Rectangle 3"/>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5"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 name="Rectangle 3"/>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077" name="Rectangle 5"/>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79" name="Rectangle 7"/>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80" name="Rectangle 8"/>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082" name="Rectangle 10"/>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83" name="Rectangle 11"/>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085" name="Rectangle 13"/>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86" name="Rectangle 14"/>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pic>
        <p:nvPicPr>
          <p:cNvPr id="51202" name="Picture 2"/>
          <p:cNvPicPr>
            <a:picLocks noChangeAspect="1" noChangeArrowheads="1"/>
          </p:cNvPicPr>
          <p:nvPr/>
        </p:nvPicPr>
        <p:blipFill>
          <a:blip r:embed="rId2" cstate="print"/>
          <a:srcRect/>
          <a:stretch>
            <a:fillRect/>
          </a:stretch>
        </p:blipFill>
        <p:spPr bwMode="auto">
          <a:xfrm>
            <a:off x="7293616" y="3484715"/>
            <a:ext cx="4742741" cy="3192105"/>
          </a:xfrm>
          <a:prstGeom prst="rect">
            <a:avLst/>
          </a:prstGeom>
          <a:noFill/>
          <a:ln w="9525">
            <a:noFill/>
            <a:miter lim="800000"/>
            <a:headEnd/>
            <a:tailEnd/>
          </a:ln>
        </p:spPr>
      </p:pic>
      <p:pic>
        <p:nvPicPr>
          <p:cNvPr id="53250" name="Picture 2"/>
          <p:cNvPicPr>
            <a:picLocks noChangeAspect="1" noChangeArrowheads="1"/>
          </p:cNvPicPr>
          <p:nvPr/>
        </p:nvPicPr>
        <p:blipFill>
          <a:blip r:embed="rId3" cstate="print"/>
          <a:srcRect/>
          <a:stretch>
            <a:fillRect/>
          </a:stretch>
        </p:blipFill>
        <p:spPr bwMode="auto">
          <a:xfrm>
            <a:off x="291828" y="3754877"/>
            <a:ext cx="6780179" cy="2324911"/>
          </a:xfrm>
          <a:prstGeom prst="rect">
            <a:avLst/>
          </a:prstGeom>
          <a:noFill/>
          <a:ln w="9525">
            <a:noFill/>
            <a:miter lim="800000"/>
            <a:headEnd/>
            <a:tailEnd/>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53703" y="624110"/>
            <a:ext cx="9850910" cy="1280890"/>
          </a:xfrm>
        </p:spPr>
        <p:txBody>
          <a:bodyPr>
            <a:normAutofit/>
          </a:bodyPr>
          <a:lstStyle/>
          <a:p>
            <a:r>
              <a:rPr lang="fr-FR" sz="3200" b="1" dirty="0"/>
              <a:t>Diffusion Capacitances C</a:t>
            </a:r>
            <a:r>
              <a:rPr lang="fr-FR" sz="3200" b="1" baseline="-25000" dirty="0"/>
              <a:t>db1</a:t>
            </a:r>
            <a:r>
              <a:rPr lang="fr-FR" sz="3200" b="1" dirty="0"/>
              <a:t> and C</a:t>
            </a:r>
            <a:r>
              <a:rPr lang="fr-FR" sz="3200" b="1" baseline="-25000" dirty="0"/>
              <a:t>db2</a:t>
            </a:r>
            <a:endParaRPr lang="en-US" sz="3200" b="1" baseline="-25000" dirty="0">
              <a:latin typeface="Arial" pitchFamily="34" charset="0"/>
              <a:cs typeface="Arial" pitchFamily="34" charset="0"/>
            </a:endParaRPr>
          </a:p>
        </p:txBody>
      </p:sp>
      <p:sp>
        <p:nvSpPr>
          <p:cNvPr id="3" name="Content Placeholder 2"/>
          <p:cNvSpPr>
            <a:spLocks noGrp="1"/>
          </p:cNvSpPr>
          <p:nvPr>
            <p:ph idx="1"/>
          </p:nvPr>
        </p:nvSpPr>
        <p:spPr>
          <a:xfrm>
            <a:off x="447472" y="1313234"/>
            <a:ext cx="11478639" cy="4776281"/>
          </a:xfrm>
        </p:spPr>
        <p:txBody>
          <a:bodyPr>
            <a:normAutofit/>
          </a:bodyPr>
          <a:lstStyle/>
          <a:p>
            <a:r>
              <a:rPr lang="en-US" dirty="0">
                <a:latin typeface="Arial" pitchFamily="34" charset="0"/>
                <a:cs typeface="Arial" pitchFamily="34" charset="0"/>
              </a:rPr>
              <a:t>The capacitance between drain and bulk is due to the reverse-biased </a:t>
            </a:r>
            <a:r>
              <a:rPr lang="en-US" b="1" dirty="0" err="1">
                <a:latin typeface="Arial" pitchFamily="34" charset="0"/>
                <a:cs typeface="Arial" pitchFamily="34" charset="0"/>
              </a:rPr>
              <a:t>pn</a:t>
            </a:r>
            <a:r>
              <a:rPr lang="en-US" dirty="0">
                <a:latin typeface="Arial" pitchFamily="34" charset="0"/>
                <a:cs typeface="Arial" pitchFamily="34" charset="0"/>
              </a:rPr>
              <a:t>-junction. Such a capacitor is, unfortunately, quite nonlinear and depends heavily on the applied voltage. </a:t>
            </a:r>
          </a:p>
          <a:p>
            <a:pPr algn="just"/>
            <a:r>
              <a:rPr lang="en-US" dirty="0">
                <a:latin typeface="Arial" pitchFamily="34" charset="0"/>
                <a:cs typeface="Arial" pitchFamily="34" charset="0"/>
              </a:rPr>
              <a:t>A multiplication factor </a:t>
            </a:r>
            <a:r>
              <a:rPr lang="en-US" b="1" dirty="0" err="1">
                <a:latin typeface="Arial" pitchFamily="34" charset="0"/>
                <a:cs typeface="Arial" pitchFamily="34" charset="0"/>
              </a:rPr>
              <a:t>K</a:t>
            </a:r>
            <a:r>
              <a:rPr lang="en-US" b="1" baseline="-25000" dirty="0" err="1">
                <a:latin typeface="Arial" pitchFamily="34" charset="0"/>
                <a:cs typeface="Arial" pitchFamily="34" charset="0"/>
              </a:rPr>
              <a:t>eq</a:t>
            </a:r>
            <a:r>
              <a:rPr lang="en-US" dirty="0">
                <a:latin typeface="Arial" pitchFamily="34" charset="0"/>
                <a:cs typeface="Arial" pitchFamily="34" charset="0"/>
              </a:rPr>
              <a:t> is introduced to relate the linearized capacitor to the value of the junction capacitance under zero-bias conditions</a:t>
            </a:r>
          </a:p>
          <a:p>
            <a:pPr algn="just"/>
            <a:r>
              <a:rPr lang="en-US" dirty="0">
                <a:latin typeface="Arial" pitchFamily="34" charset="0"/>
                <a:cs typeface="Arial" pitchFamily="34" charset="0"/>
              </a:rPr>
              <a:t>                                                                                            ……(7)</a:t>
            </a:r>
          </a:p>
          <a:p>
            <a:pPr algn="just"/>
            <a:r>
              <a:rPr lang="en-US" b="1" u="sng" dirty="0">
                <a:latin typeface="Arial" pitchFamily="34" charset="0"/>
                <a:cs typeface="Arial" pitchFamily="34" charset="0"/>
              </a:rPr>
              <a:t>Wiring Capacitance </a:t>
            </a:r>
            <a:r>
              <a:rPr lang="en-US" b="1" u="sng" dirty="0" err="1">
                <a:latin typeface="Arial" pitchFamily="34" charset="0"/>
                <a:cs typeface="Arial" pitchFamily="34" charset="0"/>
              </a:rPr>
              <a:t>C</a:t>
            </a:r>
            <a:r>
              <a:rPr lang="en-US" b="1" u="sng" baseline="-25000" dirty="0" err="1">
                <a:latin typeface="Arial" pitchFamily="34" charset="0"/>
                <a:cs typeface="Arial" pitchFamily="34" charset="0"/>
              </a:rPr>
              <a:t>w</a:t>
            </a:r>
            <a:r>
              <a:rPr lang="en-US" b="1" u="sng" baseline="-25000" dirty="0">
                <a:latin typeface="Arial" pitchFamily="34" charset="0"/>
                <a:cs typeface="Arial" pitchFamily="34" charset="0"/>
              </a:rPr>
              <a:t> </a:t>
            </a:r>
          </a:p>
          <a:p>
            <a:pPr algn="just">
              <a:spcBef>
                <a:spcPts val="0"/>
              </a:spcBef>
            </a:pPr>
            <a:r>
              <a:rPr lang="en-US" dirty="0">
                <a:latin typeface="Arial" pitchFamily="34" charset="0"/>
                <a:cs typeface="Arial" pitchFamily="34" charset="0"/>
              </a:rPr>
              <a:t>The capacitance due to the wiring depends upon the length and width of the connecting wires, and is a function of the distance of the </a:t>
            </a:r>
            <a:r>
              <a:rPr lang="en-US" dirty="0" err="1">
                <a:latin typeface="Arial" pitchFamily="34" charset="0"/>
                <a:cs typeface="Arial" pitchFamily="34" charset="0"/>
              </a:rPr>
              <a:t>fanout</a:t>
            </a:r>
            <a:r>
              <a:rPr lang="en-US" dirty="0">
                <a:latin typeface="Arial" pitchFamily="34" charset="0"/>
                <a:cs typeface="Arial" pitchFamily="34" charset="0"/>
              </a:rPr>
              <a:t> from the driving gate and the number of </a:t>
            </a:r>
            <a:r>
              <a:rPr lang="en-US" dirty="0" err="1">
                <a:latin typeface="Arial" pitchFamily="34" charset="0"/>
                <a:cs typeface="Arial" pitchFamily="34" charset="0"/>
              </a:rPr>
              <a:t>fanout</a:t>
            </a:r>
            <a:r>
              <a:rPr lang="en-US" dirty="0">
                <a:latin typeface="Arial" pitchFamily="34" charset="0"/>
                <a:cs typeface="Arial" pitchFamily="34" charset="0"/>
              </a:rPr>
              <a:t> gates.</a:t>
            </a:r>
          </a:p>
          <a:p>
            <a:pPr algn="just">
              <a:spcBef>
                <a:spcPts val="0"/>
              </a:spcBef>
            </a:pPr>
            <a:endParaRPr lang="en-US" baseline="-25000" dirty="0">
              <a:latin typeface="Arial" pitchFamily="34" charset="0"/>
              <a:cs typeface="Arial" pitchFamily="34" charset="0"/>
            </a:endParaRPr>
          </a:p>
          <a:p>
            <a:pPr algn="just">
              <a:spcBef>
                <a:spcPts val="0"/>
              </a:spcBef>
            </a:pPr>
            <a:r>
              <a:rPr lang="en-US" b="1" u="sng" dirty="0">
                <a:latin typeface="Arial" pitchFamily="34" charset="0"/>
                <a:cs typeface="Arial" pitchFamily="34" charset="0"/>
              </a:rPr>
              <a:t>Gate Capacitance of </a:t>
            </a:r>
            <a:r>
              <a:rPr lang="en-US" b="1" u="sng" dirty="0" err="1">
                <a:latin typeface="Arial" pitchFamily="34" charset="0"/>
                <a:cs typeface="Arial" pitchFamily="34" charset="0"/>
              </a:rPr>
              <a:t>Fanout</a:t>
            </a:r>
            <a:r>
              <a:rPr lang="en-US" b="1" u="sng" dirty="0">
                <a:latin typeface="Arial" pitchFamily="34" charset="0"/>
                <a:cs typeface="Arial" pitchFamily="34" charset="0"/>
              </a:rPr>
              <a:t> C</a:t>
            </a:r>
            <a:r>
              <a:rPr lang="en-US" b="1" u="sng" baseline="-25000" dirty="0">
                <a:latin typeface="Arial" pitchFamily="34" charset="0"/>
                <a:cs typeface="Arial" pitchFamily="34" charset="0"/>
              </a:rPr>
              <a:t>g3</a:t>
            </a:r>
            <a:r>
              <a:rPr lang="en-US" b="1" u="sng" dirty="0">
                <a:latin typeface="Arial" pitchFamily="34" charset="0"/>
                <a:cs typeface="Arial" pitchFamily="34" charset="0"/>
              </a:rPr>
              <a:t> and C</a:t>
            </a:r>
            <a:r>
              <a:rPr lang="en-US" b="1" u="sng" baseline="-25000" dirty="0">
                <a:latin typeface="Arial" pitchFamily="34" charset="0"/>
                <a:cs typeface="Arial" pitchFamily="34" charset="0"/>
              </a:rPr>
              <a:t>g4</a:t>
            </a:r>
          </a:p>
          <a:p>
            <a:r>
              <a:rPr lang="en-US" dirty="0">
                <a:latin typeface="Arial" pitchFamily="34" charset="0"/>
                <a:cs typeface="Arial" pitchFamily="34" charset="0"/>
              </a:rPr>
              <a:t>We  assume that the </a:t>
            </a:r>
            <a:r>
              <a:rPr lang="en-US" dirty="0" err="1">
                <a:latin typeface="Arial" pitchFamily="34" charset="0"/>
                <a:cs typeface="Arial" pitchFamily="34" charset="0"/>
              </a:rPr>
              <a:t>fanout</a:t>
            </a:r>
            <a:r>
              <a:rPr lang="en-US" dirty="0">
                <a:latin typeface="Arial" pitchFamily="34" charset="0"/>
                <a:cs typeface="Arial" pitchFamily="34" charset="0"/>
              </a:rPr>
              <a:t> capacitance equals the total gate capacitance of the loading  gates M3 and M4. </a:t>
            </a:r>
          </a:p>
          <a:p>
            <a:endParaRPr lang="en-US" u="sng" baseline="-25000" dirty="0">
              <a:latin typeface="Arial" pitchFamily="34" charset="0"/>
              <a:cs typeface="Arial" pitchFamily="34" charset="0"/>
            </a:endParaRPr>
          </a:p>
          <a:p>
            <a:r>
              <a:rPr lang="en-US" dirty="0">
                <a:latin typeface="Arial" pitchFamily="34" charset="0"/>
                <a:cs typeface="Arial" pitchFamily="34" charset="0"/>
              </a:rPr>
              <a:t>…                                                                                                                                                    ……(8)</a:t>
            </a:r>
            <a:endParaRPr lang="en-IN" u="sng" baseline="-25000" dirty="0">
              <a:latin typeface="Arial" pitchFamily="34" charset="0"/>
              <a:cs typeface="Arial" pitchFamily="34" charset="0"/>
            </a:endParaRPr>
          </a:p>
        </p:txBody>
      </p:sp>
      <p:sp>
        <p:nvSpPr>
          <p:cNvPr id="4" name="Footer Placeholder 3"/>
          <p:cNvSpPr>
            <a:spLocks noGrp="1"/>
          </p:cNvSpPr>
          <p:nvPr>
            <p:ph type="ftr" sz="quarter" idx="11"/>
          </p:nvPr>
        </p:nvSpPr>
        <p:spPr>
          <a:xfrm>
            <a:off x="1721796" y="6135808"/>
            <a:ext cx="8487415" cy="365125"/>
          </a:xfrm>
        </p:spPr>
        <p:txBody>
          <a:bodyPr/>
          <a:lstStyle/>
          <a:p>
            <a:r>
              <a:rPr lang="en-IN" sz="1500" dirty="0">
                <a:solidFill>
                  <a:srgbClr val="C00000"/>
                </a:solidFill>
                <a:latin typeface="Arial" panose="020B0604020202020204" pitchFamily="34" charset="0"/>
                <a:cs typeface="Arial" panose="020B0604020202020204" pitchFamily="34" charset="0"/>
              </a:rPr>
              <a:t>Rohit Lorenzo, VIT-AP</a:t>
            </a:r>
          </a:p>
        </p:txBody>
      </p:sp>
      <p:sp>
        <p:nvSpPr>
          <p:cNvPr id="3074"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75" name="Rectangle 3"/>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5"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 name="Rectangle 3"/>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077" name="Rectangle 5"/>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79" name="Rectangle 7"/>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80" name="Rectangle 8"/>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082" name="Rectangle 10"/>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83" name="Rectangle 11"/>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085" name="Rectangle 13"/>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86" name="Rectangle 14"/>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pic>
        <p:nvPicPr>
          <p:cNvPr id="54274" name="Picture 2"/>
          <p:cNvPicPr>
            <a:picLocks noChangeAspect="1" noChangeArrowheads="1"/>
          </p:cNvPicPr>
          <p:nvPr/>
        </p:nvPicPr>
        <p:blipFill>
          <a:blip r:embed="rId2" cstate="print"/>
          <a:srcRect/>
          <a:stretch>
            <a:fillRect/>
          </a:stretch>
        </p:blipFill>
        <p:spPr bwMode="auto">
          <a:xfrm>
            <a:off x="4519309" y="2651092"/>
            <a:ext cx="1570206" cy="435220"/>
          </a:xfrm>
          <a:prstGeom prst="rect">
            <a:avLst/>
          </a:prstGeom>
          <a:noFill/>
          <a:ln w="9525">
            <a:noFill/>
            <a:miter lim="800000"/>
            <a:headEnd/>
            <a:tailEnd/>
          </a:ln>
        </p:spPr>
      </p:pic>
      <p:pic>
        <p:nvPicPr>
          <p:cNvPr id="54275" name="Picture 3"/>
          <p:cNvPicPr>
            <a:picLocks noChangeAspect="1" noChangeArrowheads="1"/>
          </p:cNvPicPr>
          <p:nvPr/>
        </p:nvPicPr>
        <p:blipFill>
          <a:blip r:embed="rId3" cstate="print"/>
          <a:srcRect/>
          <a:stretch>
            <a:fillRect/>
          </a:stretch>
        </p:blipFill>
        <p:spPr bwMode="auto">
          <a:xfrm>
            <a:off x="1536970" y="4909105"/>
            <a:ext cx="8410474" cy="911480"/>
          </a:xfrm>
          <a:prstGeom prst="rect">
            <a:avLst/>
          </a:prstGeom>
          <a:noFill/>
          <a:ln w="9525">
            <a:noFill/>
            <a:miter lim="800000"/>
            <a:headEnd/>
            <a:tailEnd/>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53703" y="624110"/>
            <a:ext cx="9850910" cy="1280890"/>
          </a:xfrm>
        </p:spPr>
        <p:txBody>
          <a:bodyPr>
            <a:normAutofit/>
          </a:bodyPr>
          <a:lstStyle/>
          <a:p>
            <a:r>
              <a:rPr lang="en-US" sz="3200" b="1" dirty="0"/>
              <a:t>Propagation Delay: First-Order Analysis</a:t>
            </a:r>
            <a:endParaRPr lang="en-US" sz="3200" b="1" baseline="-25000" dirty="0">
              <a:latin typeface="Arial" pitchFamily="34" charset="0"/>
              <a:cs typeface="Arial" pitchFamily="34" charset="0"/>
            </a:endParaRPr>
          </a:p>
        </p:txBody>
      </p:sp>
      <p:sp>
        <p:nvSpPr>
          <p:cNvPr id="3" name="Content Placeholder 2"/>
          <p:cNvSpPr>
            <a:spLocks noGrp="1"/>
          </p:cNvSpPr>
          <p:nvPr>
            <p:ph idx="1"/>
          </p:nvPr>
        </p:nvSpPr>
        <p:spPr>
          <a:xfrm>
            <a:off x="447472" y="1313234"/>
            <a:ext cx="11478639" cy="4776281"/>
          </a:xfrm>
        </p:spPr>
        <p:txBody>
          <a:bodyPr>
            <a:normAutofit/>
          </a:bodyPr>
          <a:lstStyle/>
          <a:p>
            <a:pPr>
              <a:spcBef>
                <a:spcPts val="0"/>
              </a:spcBef>
            </a:pPr>
            <a:r>
              <a:rPr lang="en-US" dirty="0">
                <a:latin typeface="Arial" pitchFamily="34" charset="0"/>
                <a:cs typeface="Arial" pitchFamily="34" charset="0"/>
              </a:rPr>
              <a:t>One way to compute the propagation delay of the inverter is to integrate the capacitor  (</a:t>
            </a:r>
            <a:r>
              <a:rPr lang="en-US" dirty="0" err="1">
                <a:latin typeface="Arial" pitchFamily="34" charset="0"/>
                <a:cs typeface="Arial" pitchFamily="34" charset="0"/>
              </a:rPr>
              <a:t>dis</a:t>
            </a:r>
            <a:r>
              <a:rPr lang="en-US" dirty="0">
                <a:latin typeface="Arial" pitchFamily="34" charset="0"/>
                <a:cs typeface="Arial" pitchFamily="34" charset="0"/>
              </a:rPr>
              <a:t>)charge current. with</a:t>
            </a:r>
            <a:r>
              <a:rPr lang="en-US" b="1" dirty="0">
                <a:latin typeface="Arial" pitchFamily="34" charset="0"/>
                <a:cs typeface="Arial" pitchFamily="34" charset="0"/>
              </a:rPr>
              <a:t> </a:t>
            </a:r>
            <a:r>
              <a:rPr lang="en-US" b="1" dirty="0" err="1">
                <a:latin typeface="Arial" pitchFamily="34" charset="0"/>
                <a:cs typeface="Arial" pitchFamily="34" charset="0"/>
              </a:rPr>
              <a:t>i</a:t>
            </a:r>
            <a:r>
              <a:rPr lang="en-US" b="1" dirty="0">
                <a:latin typeface="Arial" pitchFamily="34" charset="0"/>
                <a:cs typeface="Arial" pitchFamily="34" charset="0"/>
              </a:rPr>
              <a:t> </a:t>
            </a:r>
            <a:r>
              <a:rPr lang="en-US" dirty="0">
                <a:latin typeface="Arial" pitchFamily="34" charset="0"/>
                <a:cs typeface="Arial" pitchFamily="34" charset="0"/>
              </a:rPr>
              <a:t>is the (</a:t>
            </a:r>
            <a:r>
              <a:rPr lang="en-US" dirty="0" err="1">
                <a:latin typeface="Arial" pitchFamily="34" charset="0"/>
                <a:cs typeface="Arial" pitchFamily="34" charset="0"/>
              </a:rPr>
              <a:t>dis</a:t>
            </a:r>
            <a:r>
              <a:rPr lang="en-US" dirty="0">
                <a:latin typeface="Arial" pitchFamily="34" charset="0"/>
                <a:cs typeface="Arial" pitchFamily="34" charset="0"/>
              </a:rPr>
              <a:t>)charging current,</a:t>
            </a:r>
            <a:r>
              <a:rPr lang="en-US" b="1" dirty="0">
                <a:latin typeface="Arial" pitchFamily="34" charset="0"/>
                <a:cs typeface="Arial" pitchFamily="34" charset="0"/>
              </a:rPr>
              <a:t> V </a:t>
            </a:r>
            <a:r>
              <a:rPr lang="en-US" dirty="0">
                <a:latin typeface="Arial" pitchFamily="34" charset="0"/>
                <a:cs typeface="Arial" pitchFamily="34" charset="0"/>
              </a:rPr>
              <a:t>the voltage over the capacitor, and </a:t>
            </a:r>
            <a:r>
              <a:rPr lang="en-US" b="1" dirty="0">
                <a:latin typeface="Arial" pitchFamily="34" charset="0"/>
                <a:cs typeface="Arial" pitchFamily="34" charset="0"/>
              </a:rPr>
              <a:t>v1</a:t>
            </a:r>
            <a:r>
              <a:rPr lang="en-US" dirty="0">
                <a:latin typeface="Arial" pitchFamily="34" charset="0"/>
                <a:cs typeface="Arial" pitchFamily="34" charset="0"/>
              </a:rPr>
              <a:t> and </a:t>
            </a:r>
            <a:r>
              <a:rPr lang="en-US" b="1" dirty="0">
                <a:latin typeface="Arial" pitchFamily="34" charset="0"/>
                <a:cs typeface="Arial" pitchFamily="34" charset="0"/>
              </a:rPr>
              <a:t>v2</a:t>
            </a:r>
            <a:r>
              <a:rPr lang="en-US" dirty="0">
                <a:latin typeface="Arial" pitchFamily="34" charset="0"/>
                <a:cs typeface="Arial" pitchFamily="34" charset="0"/>
              </a:rPr>
              <a:t> the </a:t>
            </a:r>
          </a:p>
          <a:p>
            <a:pPr>
              <a:spcBef>
                <a:spcPts val="0"/>
              </a:spcBef>
            </a:pPr>
            <a:r>
              <a:rPr lang="en-US" dirty="0">
                <a:latin typeface="Arial" pitchFamily="34" charset="0"/>
                <a:cs typeface="Arial" pitchFamily="34" charset="0"/>
              </a:rPr>
              <a:t>Initial and final voltage.                                                                                                                            ….(9) </a:t>
            </a:r>
          </a:p>
          <a:p>
            <a:pPr>
              <a:spcBef>
                <a:spcPts val="0"/>
              </a:spcBef>
            </a:pPr>
            <a:endParaRPr lang="en-US" dirty="0">
              <a:latin typeface="Arial" pitchFamily="34" charset="0"/>
              <a:cs typeface="Arial" pitchFamily="34" charset="0"/>
            </a:endParaRPr>
          </a:p>
          <a:p>
            <a:pPr>
              <a:spcBef>
                <a:spcPts val="0"/>
              </a:spcBef>
            </a:pPr>
            <a:endParaRPr lang="en-US" dirty="0">
              <a:latin typeface="Arial" pitchFamily="34" charset="0"/>
              <a:cs typeface="Arial" pitchFamily="34" charset="0"/>
            </a:endParaRPr>
          </a:p>
          <a:p>
            <a:pPr>
              <a:spcBef>
                <a:spcPts val="0"/>
              </a:spcBef>
            </a:pPr>
            <a:r>
              <a:rPr lang="en-US" dirty="0">
                <a:latin typeface="Arial" pitchFamily="34" charset="0"/>
                <a:cs typeface="Arial" pitchFamily="34" charset="0"/>
              </a:rPr>
              <a:t>An exact computation of this equation is intractable, as both </a:t>
            </a:r>
            <a:r>
              <a:rPr lang="en-US" b="1" dirty="0">
                <a:latin typeface="Arial" pitchFamily="34" charset="0"/>
                <a:cs typeface="Arial" pitchFamily="34" charset="0"/>
              </a:rPr>
              <a:t>C</a:t>
            </a:r>
            <a:r>
              <a:rPr lang="en-US" b="1" baseline="-25000" dirty="0">
                <a:latin typeface="Arial" pitchFamily="34" charset="0"/>
                <a:cs typeface="Arial" pitchFamily="34" charset="0"/>
              </a:rPr>
              <a:t>L</a:t>
            </a:r>
            <a:r>
              <a:rPr lang="en-US" b="1" dirty="0">
                <a:latin typeface="Arial" pitchFamily="34" charset="0"/>
                <a:cs typeface="Arial" pitchFamily="34" charset="0"/>
              </a:rPr>
              <a:t>(v) </a:t>
            </a:r>
            <a:r>
              <a:rPr lang="en-US" dirty="0">
                <a:latin typeface="Arial" pitchFamily="34" charset="0"/>
                <a:cs typeface="Arial" pitchFamily="34" charset="0"/>
              </a:rPr>
              <a:t>and </a:t>
            </a:r>
            <a:r>
              <a:rPr lang="en-US" b="1" dirty="0" err="1">
                <a:latin typeface="Arial" pitchFamily="34" charset="0"/>
                <a:cs typeface="Arial" pitchFamily="34" charset="0"/>
              </a:rPr>
              <a:t>i</a:t>
            </a:r>
            <a:r>
              <a:rPr lang="en-US" b="1" dirty="0">
                <a:latin typeface="Arial" pitchFamily="34" charset="0"/>
                <a:cs typeface="Arial" pitchFamily="34" charset="0"/>
              </a:rPr>
              <a:t>(v</a:t>
            </a:r>
            <a:r>
              <a:rPr lang="en-US" i="1" dirty="0">
                <a:latin typeface="Arial" pitchFamily="34" charset="0"/>
                <a:cs typeface="Arial" pitchFamily="34" charset="0"/>
              </a:rPr>
              <a:t>) </a:t>
            </a:r>
            <a:r>
              <a:rPr lang="en-US" dirty="0">
                <a:latin typeface="Arial" pitchFamily="34" charset="0"/>
                <a:cs typeface="Arial" pitchFamily="34" charset="0"/>
              </a:rPr>
              <a:t>are nonlinear functions of </a:t>
            </a:r>
            <a:r>
              <a:rPr lang="en-US" b="1" dirty="0">
                <a:latin typeface="Arial" pitchFamily="34" charset="0"/>
                <a:cs typeface="Arial" pitchFamily="34" charset="0"/>
              </a:rPr>
              <a:t>V</a:t>
            </a:r>
            <a:r>
              <a:rPr lang="en-US" dirty="0">
                <a:latin typeface="Arial" pitchFamily="34" charset="0"/>
                <a:cs typeface="Arial" pitchFamily="34" charset="0"/>
              </a:rPr>
              <a:t>. </a:t>
            </a:r>
          </a:p>
          <a:p>
            <a:pPr>
              <a:spcBef>
                <a:spcPts val="0"/>
              </a:spcBef>
            </a:pPr>
            <a:r>
              <a:rPr lang="en-US" dirty="0">
                <a:latin typeface="Arial" pitchFamily="34" charset="0"/>
                <a:cs typeface="Arial" pitchFamily="34" charset="0"/>
              </a:rPr>
              <a:t>An expression for the average on-resistance of the MOS transistor.</a:t>
            </a:r>
          </a:p>
          <a:p>
            <a:pPr>
              <a:spcBef>
                <a:spcPts val="0"/>
              </a:spcBef>
            </a:pPr>
            <a:r>
              <a:rPr lang="en-US" dirty="0">
                <a:latin typeface="Arial" pitchFamily="34" charset="0"/>
                <a:cs typeface="Arial" pitchFamily="34" charset="0"/>
              </a:rPr>
              <a:t>This scenario is plotted in for the case of an NMOS discharging a capacitor from </a:t>
            </a:r>
            <a:r>
              <a:rPr lang="en-US" b="1" i="1" dirty="0">
                <a:latin typeface="Arial" pitchFamily="34" charset="0"/>
                <a:cs typeface="Arial" pitchFamily="34" charset="0"/>
              </a:rPr>
              <a:t>V</a:t>
            </a:r>
            <a:r>
              <a:rPr lang="en-US" b="1" i="1" baseline="-25000" dirty="0">
                <a:latin typeface="Arial" pitchFamily="34" charset="0"/>
                <a:cs typeface="Arial" pitchFamily="34" charset="0"/>
              </a:rPr>
              <a:t>DD</a:t>
            </a:r>
            <a:r>
              <a:rPr lang="en-US" i="1" dirty="0">
                <a:latin typeface="Arial" pitchFamily="34" charset="0"/>
                <a:cs typeface="Arial" pitchFamily="34" charset="0"/>
              </a:rPr>
              <a:t> to </a:t>
            </a:r>
            <a:r>
              <a:rPr lang="en-US" b="1" i="1" dirty="0">
                <a:latin typeface="Arial" pitchFamily="34" charset="0"/>
                <a:cs typeface="Arial" pitchFamily="34" charset="0"/>
              </a:rPr>
              <a:t>V</a:t>
            </a:r>
            <a:r>
              <a:rPr lang="en-US" b="1" i="1" baseline="-25000" dirty="0">
                <a:latin typeface="Arial" pitchFamily="34" charset="0"/>
                <a:cs typeface="Arial" pitchFamily="34" charset="0"/>
              </a:rPr>
              <a:t>DD</a:t>
            </a:r>
            <a:r>
              <a:rPr lang="en-US" b="1" i="1" dirty="0">
                <a:latin typeface="Arial" pitchFamily="34" charset="0"/>
                <a:cs typeface="Arial" pitchFamily="34" charset="0"/>
              </a:rPr>
              <a:t>/2</a:t>
            </a:r>
            <a:r>
              <a:rPr lang="en-US" i="1" dirty="0"/>
              <a:t>.</a:t>
            </a:r>
            <a:endParaRPr lang="en-US" dirty="0">
              <a:latin typeface="Arial" pitchFamily="34" charset="0"/>
              <a:cs typeface="Arial" pitchFamily="34" charset="0"/>
            </a:endParaRPr>
          </a:p>
        </p:txBody>
      </p:sp>
      <p:sp>
        <p:nvSpPr>
          <p:cNvPr id="4" name="Footer Placeholder 3"/>
          <p:cNvSpPr>
            <a:spLocks noGrp="1"/>
          </p:cNvSpPr>
          <p:nvPr>
            <p:ph type="ftr" sz="quarter" idx="11"/>
          </p:nvPr>
        </p:nvSpPr>
        <p:spPr>
          <a:xfrm>
            <a:off x="1721796" y="6135808"/>
            <a:ext cx="8487415" cy="365125"/>
          </a:xfrm>
        </p:spPr>
        <p:txBody>
          <a:bodyPr/>
          <a:lstStyle/>
          <a:p>
            <a:r>
              <a:rPr lang="en-IN" sz="1500" dirty="0">
                <a:solidFill>
                  <a:srgbClr val="C00000"/>
                </a:solidFill>
                <a:latin typeface="Arial" panose="020B0604020202020204" pitchFamily="34" charset="0"/>
                <a:cs typeface="Arial" panose="020B0604020202020204" pitchFamily="34" charset="0"/>
              </a:rPr>
              <a:t>Rohit Lorenzo, VIT-AP</a:t>
            </a:r>
          </a:p>
        </p:txBody>
      </p:sp>
      <p:sp>
        <p:nvSpPr>
          <p:cNvPr id="3074"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75" name="Rectangle 3"/>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5"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 name="Rectangle 3"/>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077" name="Rectangle 5"/>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79" name="Rectangle 7"/>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80" name="Rectangle 8"/>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082" name="Rectangle 10"/>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83" name="Rectangle 11"/>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085" name="Rectangle 13"/>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86" name="Rectangle 14"/>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pic>
        <p:nvPicPr>
          <p:cNvPr id="55298" name="Picture 2"/>
          <p:cNvPicPr>
            <a:picLocks noChangeAspect="1" noChangeArrowheads="1"/>
          </p:cNvPicPr>
          <p:nvPr/>
        </p:nvPicPr>
        <p:blipFill>
          <a:blip r:embed="rId2" cstate="print"/>
          <a:srcRect/>
          <a:stretch>
            <a:fillRect/>
          </a:stretch>
        </p:blipFill>
        <p:spPr bwMode="auto">
          <a:xfrm>
            <a:off x="9553481" y="1630089"/>
            <a:ext cx="1577497" cy="949663"/>
          </a:xfrm>
          <a:prstGeom prst="rect">
            <a:avLst/>
          </a:prstGeom>
          <a:noFill/>
          <a:ln w="9525">
            <a:noFill/>
            <a:miter lim="800000"/>
            <a:headEnd/>
            <a:tailEnd/>
          </a:ln>
        </p:spPr>
      </p:pic>
      <p:pic>
        <p:nvPicPr>
          <p:cNvPr id="55299" name="Picture 3"/>
          <p:cNvPicPr>
            <a:picLocks noChangeAspect="1" noChangeArrowheads="1"/>
          </p:cNvPicPr>
          <p:nvPr/>
        </p:nvPicPr>
        <p:blipFill>
          <a:blip r:embed="rId3" cstate="print"/>
          <a:srcRect/>
          <a:stretch>
            <a:fillRect/>
          </a:stretch>
        </p:blipFill>
        <p:spPr bwMode="auto">
          <a:xfrm>
            <a:off x="8667345" y="3667328"/>
            <a:ext cx="3524655" cy="3190672"/>
          </a:xfrm>
          <a:prstGeom prst="rect">
            <a:avLst/>
          </a:prstGeom>
          <a:noFill/>
          <a:ln w="9525">
            <a:noFill/>
            <a:miter lim="800000"/>
            <a:headEnd/>
            <a:tailEnd/>
          </a:ln>
        </p:spPr>
      </p:pic>
      <p:pic>
        <p:nvPicPr>
          <p:cNvPr id="55301" name="Picture 5"/>
          <p:cNvPicPr>
            <a:picLocks noChangeAspect="1" noChangeArrowheads="1"/>
          </p:cNvPicPr>
          <p:nvPr/>
        </p:nvPicPr>
        <p:blipFill>
          <a:blip r:embed="rId4" cstate="print"/>
          <a:srcRect/>
          <a:stretch>
            <a:fillRect/>
          </a:stretch>
        </p:blipFill>
        <p:spPr bwMode="auto">
          <a:xfrm>
            <a:off x="633469" y="3735421"/>
            <a:ext cx="7502746" cy="3122579"/>
          </a:xfrm>
          <a:prstGeom prst="rect">
            <a:avLst/>
          </a:prstGeom>
          <a:noFill/>
          <a:ln w="9525">
            <a:noFill/>
            <a:miter lim="800000"/>
            <a:headEnd/>
            <a:tailEnd/>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53703" y="624110"/>
            <a:ext cx="9850910" cy="1280890"/>
          </a:xfrm>
        </p:spPr>
        <p:txBody>
          <a:bodyPr>
            <a:normAutofit/>
          </a:bodyPr>
          <a:lstStyle/>
          <a:p>
            <a:r>
              <a:rPr lang="en-IN" sz="3200" b="1" dirty="0"/>
              <a:t>Continue……</a:t>
            </a:r>
            <a:endParaRPr lang="en-US" sz="3200" b="1" baseline="-25000" dirty="0">
              <a:latin typeface="Arial" pitchFamily="34" charset="0"/>
              <a:cs typeface="Arial" pitchFamily="34" charset="0"/>
            </a:endParaRPr>
          </a:p>
        </p:txBody>
      </p:sp>
      <p:sp>
        <p:nvSpPr>
          <p:cNvPr id="3" name="Content Placeholder 2"/>
          <p:cNvSpPr>
            <a:spLocks noGrp="1"/>
          </p:cNvSpPr>
          <p:nvPr>
            <p:ph idx="1"/>
          </p:nvPr>
        </p:nvSpPr>
        <p:spPr>
          <a:xfrm>
            <a:off x="447472" y="1313234"/>
            <a:ext cx="11478639" cy="4776281"/>
          </a:xfrm>
        </p:spPr>
        <p:txBody>
          <a:bodyPr>
            <a:normAutofit/>
          </a:bodyPr>
          <a:lstStyle/>
          <a:p>
            <a:r>
              <a:rPr lang="en-US" dirty="0">
                <a:latin typeface="Arial" pitchFamily="34" charset="0"/>
                <a:cs typeface="Arial" pitchFamily="34" charset="0"/>
              </a:rPr>
              <a:t>we can derive the value of the equivalent resistance, which averages the resistance of the device over the interval                                                                                                             </a:t>
            </a:r>
          </a:p>
          <a:p>
            <a:r>
              <a:rPr lang="en-US" dirty="0">
                <a:latin typeface="Arial" pitchFamily="34" charset="0"/>
                <a:cs typeface="Arial" pitchFamily="34" charset="0"/>
              </a:rPr>
              <a:t>                                                                                                                                 …..(10)</a:t>
            </a:r>
          </a:p>
          <a:p>
            <a:endParaRPr lang="en-US" dirty="0">
              <a:latin typeface="Arial" pitchFamily="34" charset="0"/>
              <a:cs typeface="Arial" pitchFamily="34" charset="0"/>
            </a:endParaRPr>
          </a:p>
          <a:p>
            <a:pPr algn="just"/>
            <a:r>
              <a:rPr lang="en-US" dirty="0">
                <a:latin typeface="Arial" pitchFamily="34" charset="0"/>
                <a:cs typeface="Arial" pitchFamily="34" charset="0"/>
              </a:rPr>
              <a:t>Deriving the propagation delay of the resulting circuit is now straightforward, and is nothing more than the analysis of a first-order linear RC-network. the propagation delay of such a network for a voltage step at the input is proportional to the time-constant of the network.</a:t>
            </a:r>
          </a:p>
          <a:p>
            <a:pPr algn="just"/>
            <a:r>
              <a:rPr lang="en-US" dirty="0">
                <a:latin typeface="Arial" pitchFamily="34" charset="0"/>
                <a:cs typeface="Arial" pitchFamily="34" charset="0"/>
              </a:rPr>
              <a:t>                                                                                                                                …..(11)</a:t>
            </a:r>
            <a:endParaRPr lang="en-IN" dirty="0">
              <a:latin typeface="Arial" pitchFamily="34" charset="0"/>
              <a:cs typeface="Arial" pitchFamily="34" charset="0"/>
            </a:endParaRPr>
          </a:p>
          <a:p>
            <a:pPr algn="just"/>
            <a:r>
              <a:rPr lang="en-US" dirty="0">
                <a:latin typeface="Arial" pitchFamily="34" charset="0"/>
                <a:cs typeface="Arial" pitchFamily="34" charset="0"/>
              </a:rPr>
              <a:t>Similarly, we can obtain the propagation delay for the low-to-high transition  </a:t>
            </a:r>
          </a:p>
          <a:p>
            <a:pPr algn="just"/>
            <a:r>
              <a:rPr lang="en-US" dirty="0">
                <a:latin typeface="Arial" pitchFamily="34" charset="0"/>
                <a:cs typeface="Arial" pitchFamily="34" charset="0"/>
              </a:rPr>
              <a:t>                                                                                                                                 …..(12)</a:t>
            </a:r>
          </a:p>
          <a:p>
            <a:r>
              <a:rPr lang="en-US" b="1" dirty="0" err="1">
                <a:latin typeface="Arial" pitchFamily="34" charset="0"/>
                <a:cs typeface="Arial" pitchFamily="34" charset="0"/>
              </a:rPr>
              <a:t>R</a:t>
            </a:r>
            <a:r>
              <a:rPr lang="en-US" b="1" baseline="-25000" dirty="0" err="1">
                <a:latin typeface="Arial" pitchFamily="34" charset="0"/>
                <a:cs typeface="Arial" pitchFamily="34" charset="0"/>
              </a:rPr>
              <a:t>eqp</a:t>
            </a:r>
            <a:r>
              <a:rPr lang="en-US" dirty="0">
                <a:latin typeface="Arial" pitchFamily="34" charset="0"/>
                <a:cs typeface="Arial" pitchFamily="34" charset="0"/>
              </a:rPr>
              <a:t> and  </a:t>
            </a:r>
            <a:r>
              <a:rPr lang="en-US" b="1" dirty="0" err="1">
                <a:latin typeface="Arial" pitchFamily="34" charset="0"/>
                <a:cs typeface="Arial" pitchFamily="34" charset="0"/>
              </a:rPr>
              <a:t>R</a:t>
            </a:r>
            <a:r>
              <a:rPr lang="en-US" b="1" baseline="-25000" dirty="0" err="1">
                <a:latin typeface="Arial" pitchFamily="34" charset="0"/>
                <a:cs typeface="Arial" pitchFamily="34" charset="0"/>
              </a:rPr>
              <a:t>eqn</a:t>
            </a:r>
            <a:r>
              <a:rPr lang="en-US" dirty="0">
                <a:latin typeface="Arial" pitchFamily="34" charset="0"/>
                <a:cs typeface="Arial" pitchFamily="34" charset="0"/>
              </a:rPr>
              <a:t>  the equivalent on-resistance of the PMOS and NMOS transistor. The overall propagation delay of the inverter is defined as the average of the two values.</a:t>
            </a:r>
          </a:p>
          <a:p>
            <a:r>
              <a:rPr lang="en-US" dirty="0">
                <a:latin typeface="Arial" pitchFamily="34" charset="0"/>
                <a:cs typeface="Arial" pitchFamily="34" charset="0"/>
              </a:rPr>
              <a:t>                                                                                                                               …..(13)</a:t>
            </a:r>
          </a:p>
        </p:txBody>
      </p:sp>
      <p:sp>
        <p:nvSpPr>
          <p:cNvPr id="4" name="Footer Placeholder 3"/>
          <p:cNvSpPr>
            <a:spLocks noGrp="1"/>
          </p:cNvSpPr>
          <p:nvPr>
            <p:ph type="ftr" sz="quarter" idx="11"/>
          </p:nvPr>
        </p:nvSpPr>
        <p:spPr>
          <a:xfrm>
            <a:off x="1721796" y="6135808"/>
            <a:ext cx="8487415" cy="365125"/>
          </a:xfrm>
        </p:spPr>
        <p:txBody>
          <a:bodyPr/>
          <a:lstStyle/>
          <a:p>
            <a:r>
              <a:rPr lang="en-IN" sz="1500" dirty="0">
                <a:solidFill>
                  <a:srgbClr val="C00000"/>
                </a:solidFill>
                <a:latin typeface="Arial" panose="020B0604020202020204" pitchFamily="34" charset="0"/>
                <a:cs typeface="Arial" panose="020B0604020202020204" pitchFamily="34" charset="0"/>
              </a:rPr>
              <a:t>Rohit Lorenzo, VIT-AP</a:t>
            </a:r>
          </a:p>
        </p:txBody>
      </p:sp>
      <p:sp>
        <p:nvSpPr>
          <p:cNvPr id="3074"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75" name="Rectangle 3"/>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5"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 name="Rectangle 3"/>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077" name="Rectangle 5"/>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79" name="Rectangle 7"/>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80" name="Rectangle 8"/>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082" name="Rectangle 10"/>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83" name="Rectangle 11"/>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085" name="Rectangle 13"/>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86" name="Rectangle 14"/>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pic>
        <p:nvPicPr>
          <p:cNvPr id="56322" name="Picture 2"/>
          <p:cNvPicPr>
            <a:picLocks noChangeAspect="1" noChangeArrowheads="1"/>
          </p:cNvPicPr>
          <p:nvPr/>
        </p:nvPicPr>
        <p:blipFill>
          <a:blip r:embed="rId2" cstate="print"/>
          <a:srcRect/>
          <a:stretch>
            <a:fillRect/>
          </a:stretch>
        </p:blipFill>
        <p:spPr bwMode="auto">
          <a:xfrm>
            <a:off x="2929141" y="1743786"/>
            <a:ext cx="5075279" cy="804861"/>
          </a:xfrm>
          <a:prstGeom prst="rect">
            <a:avLst/>
          </a:prstGeom>
          <a:noFill/>
          <a:ln w="9525">
            <a:noFill/>
            <a:miter lim="800000"/>
            <a:headEnd/>
            <a:tailEnd/>
          </a:ln>
        </p:spPr>
      </p:pic>
      <p:pic>
        <p:nvPicPr>
          <p:cNvPr id="56323" name="Picture 3"/>
          <p:cNvPicPr>
            <a:picLocks noChangeAspect="1" noChangeArrowheads="1"/>
          </p:cNvPicPr>
          <p:nvPr/>
        </p:nvPicPr>
        <p:blipFill>
          <a:blip r:embed="rId3" cstate="print"/>
          <a:srcRect/>
          <a:stretch>
            <a:fillRect/>
          </a:stretch>
        </p:blipFill>
        <p:spPr bwMode="auto">
          <a:xfrm>
            <a:off x="3603592" y="3759841"/>
            <a:ext cx="3974683" cy="384141"/>
          </a:xfrm>
          <a:prstGeom prst="rect">
            <a:avLst/>
          </a:prstGeom>
          <a:noFill/>
          <a:ln w="9525">
            <a:noFill/>
            <a:miter lim="800000"/>
            <a:headEnd/>
            <a:tailEnd/>
          </a:ln>
        </p:spPr>
      </p:pic>
      <p:pic>
        <p:nvPicPr>
          <p:cNvPr id="56324" name="Picture 4"/>
          <p:cNvPicPr>
            <a:picLocks noChangeAspect="1" noChangeArrowheads="1"/>
          </p:cNvPicPr>
          <p:nvPr/>
        </p:nvPicPr>
        <p:blipFill>
          <a:blip r:embed="rId4" cstate="print"/>
          <a:srcRect/>
          <a:stretch>
            <a:fillRect/>
          </a:stretch>
        </p:blipFill>
        <p:spPr bwMode="auto">
          <a:xfrm>
            <a:off x="3706238" y="4576765"/>
            <a:ext cx="2159540" cy="339792"/>
          </a:xfrm>
          <a:prstGeom prst="rect">
            <a:avLst/>
          </a:prstGeom>
          <a:noFill/>
          <a:ln w="9525">
            <a:noFill/>
            <a:miter lim="800000"/>
            <a:headEnd/>
            <a:tailEnd/>
          </a:ln>
        </p:spPr>
      </p:pic>
      <p:pic>
        <p:nvPicPr>
          <p:cNvPr id="56325" name="Picture 5"/>
          <p:cNvPicPr>
            <a:picLocks noChangeAspect="1" noChangeArrowheads="1"/>
          </p:cNvPicPr>
          <p:nvPr/>
        </p:nvPicPr>
        <p:blipFill>
          <a:blip r:embed="rId5" cstate="print"/>
          <a:srcRect/>
          <a:stretch>
            <a:fillRect/>
          </a:stretch>
        </p:blipFill>
        <p:spPr bwMode="auto">
          <a:xfrm>
            <a:off x="4036980" y="5628009"/>
            <a:ext cx="4005978" cy="578237"/>
          </a:xfrm>
          <a:prstGeom prst="rect">
            <a:avLst/>
          </a:prstGeom>
          <a:noFill/>
          <a:ln w="9525">
            <a:noFill/>
            <a:miter lim="800000"/>
            <a:headEnd/>
            <a:tailEnd/>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53703" y="624110"/>
            <a:ext cx="9850910" cy="1280890"/>
          </a:xfrm>
        </p:spPr>
        <p:txBody>
          <a:bodyPr>
            <a:normAutofit/>
          </a:bodyPr>
          <a:lstStyle/>
          <a:p>
            <a:r>
              <a:rPr lang="en-IN" sz="3200" b="1" dirty="0"/>
              <a:t>Continue……</a:t>
            </a:r>
            <a:endParaRPr lang="en-US" sz="3200" b="1" baseline="-25000" dirty="0">
              <a:latin typeface="Arial" pitchFamily="34" charset="0"/>
              <a:cs typeface="Arial" pitchFamily="34" charset="0"/>
            </a:endParaRPr>
          </a:p>
        </p:txBody>
      </p:sp>
      <p:sp>
        <p:nvSpPr>
          <p:cNvPr id="3" name="Content Placeholder 2"/>
          <p:cNvSpPr>
            <a:spLocks noGrp="1"/>
          </p:cNvSpPr>
          <p:nvPr>
            <p:ph idx="1"/>
          </p:nvPr>
        </p:nvSpPr>
        <p:spPr>
          <a:xfrm>
            <a:off x="447472" y="1313234"/>
            <a:ext cx="11478639" cy="4776281"/>
          </a:xfrm>
        </p:spPr>
        <p:txBody>
          <a:bodyPr>
            <a:normAutofit lnSpcReduction="10000"/>
          </a:bodyPr>
          <a:lstStyle/>
          <a:p>
            <a:r>
              <a:rPr lang="en-US" dirty="0">
                <a:latin typeface="Arial" pitchFamily="34" charset="0"/>
                <a:cs typeface="Arial" pitchFamily="34" charset="0"/>
              </a:rPr>
              <a:t>Combining Eq. (10) and Eq. (11), and assuming for the time being that the channel- length modulation factor l is ignorable, yields the following expression for </a:t>
            </a:r>
            <a:r>
              <a:rPr lang="en-US" b="1" i="1" dirty="0" err="1">
                <a:latin typeface="Arial" pitchFamily="34" charset="0"/>
                <a:cs typeface="Arial" pitchFamily="34" charset="0"/>
              </a:rPr>
              <a:t>t</a:t>
            </a:r>
            <a:r>
              <a:rPr lang="en-US" b="1" i="1" baseline="-25000" dirty="0" err="1">
                <a:latin typeface="Arial" pitchFamily="34" charset="0"/>
                <a:cs typeface="Arial" pitchFamily="34" charset="0"/>
              </a:rPr>
              <a:t>pHL</a:t>
            </a:r>
            <a:r>
              <a:rPr lang="en-US" dirty="0">
                <a:latin typeface="Arial" pitchFamily="34" charset="0"/>
                <a:cs typeface="Arial" pitchFamily="34" charset="0"/>
              </a:rPr>
              <a:t> .   </a:t>
            </a:r>
          </a:p>
          <a:p>
            <a:r>
              <a:rPr lang="en-US" dirty="0">
                <a:latin typeface="Arial" pitchFamily="34" charset="0"/>
                <a:cs typeface="Arial" pitchFamily="34" charset="0"/>
              </a:rPr>
              <a:t>                                                                                                                                  ……(14)  </a:t>
            </a:r>
          </a:p>
          <a:p>
            <a:endParaRPr lang="en-US" dirty="0">
              <a:latin typeface="Arial" pitchFamily="34" charset="0"/>
              <a:cs typeface="Arial" pitchFamily="34" charset="0"/>
            </a:endParaRPr>
          </a:p>
          <a:p>
            <a:r>
              <a:rPr lang="en-US" dirty="0">
                <a:latin typeface="Arial" pitchFamily="34" charset="0"/>
                <a:cs typeface="Arial" pitchFamily="34" charset="0"/>
              </a:rPr>
              <a:t>In the majority of designs, the supply voltage is chosen high enough so that  </a:t>
            </a:r>
            <a:r>
              <a:rPr lang="en-US" b="1" dirty="0">
                <a:latin typeface="Arial" pitchFamily="34" charset="0"/>
                <a:cs typeface="Arial" pitchFamily="34" charset="0"/>
              </a:rPr>
              <a:t>V</a:t>
            </a:r>
            <a:r>
              <a:rPr lang="en-US" b="1" baseline="-25000" dirty="0">
                <a:latin typeface="Arial" pitchFamily="34" charset="0"/>
                <a:cs typeface="Arial" pitchFamily="34" charset="0"/>
              </a:rPr>
              <a:t>DD</a:t>
            </a:r>
            <a:r>
              <a:rPr lang="en-US" b="1" dirty="0">
                <a:latin typeface="Arial" pitchFamily="34" charset="0"/>
                <a:cs typeface="Arial" pitchFamily="34" charset="0"/>
              </a:rPr>
              <a:t>&gt;&gt;</a:t>
            </a:r>
            <a:r>
              <a:rPr lang="en-US" b="1" dirty="0" err="1">
                <a:latin typeface="Arial" pitchFamily="34" charset="0"/>
                <a:cs typeface="Arial" pitchFamily="34" charset="0"/>
              </a:rPr>
              <a:t>V</a:t>
            </a:r>
            <a:r>
              <a:rPr lang="en-US" b="1" baseline="-25000" dirty="0" err="1">
                <a:latin typeface="Arial" pitchFamily="34" charset="0"/>
                <a:cs typeface="Arial" pitchFamily="34" charset="0"/>
              </a:rPr>
              <a:t>Tn</a:t>
            </a:r>
            <a:r>
              <a:rPr lang="en-US" b="1" dirty="0" err="1">
                <a:latin typeface="Arial" pitchFamily="34" charset="0"/>
                <a:cs typeface="Arial" pitchFamily="34" charset="0"/>
              </a:rPr>
              <a:t>+V</a:t>
            </a:r>
            <a:r>
              <a:rPr lang="en-US" b="1" baseline="-25000" dirty="0" err="1">
                <a:latin typeface="Arial" pitchFamily="34" charset="0"/>
                <a:cs typeface="Arial" pitchFamily="34" charset="0"/>
              </a:rPr>
              <a:t>DSATn</a:t>
            </a:r>
            <a:r>
              <a:rPr lang="en-US" b="1" dirty="0">
                <a:latin typeface="Arial" pitchFamily="34" charset="0"/>
                <a:cs typeface="Arial" pitchFamily="34" charset="0"/>
              </a:rPr>
              <a:t>/2 </a:t>
            </a:r>
            <a:r>
              <a:rPr lang="en-US" dirty="0">
                <a:latin typeface="Arial" pitchFamily="34" charset="0"/>
                <a:cs typeface="Arial" pitchFamily="34" charset="0"/>
              </a:rPr>
              <a:t>. Under these conditions, the delay becomes virtually independent of the supply voltage .   </a:t>
            </a:r>
          </a:p>
          <a:p>
            <a:r>
              <a:rPr lang="en-US" dirty="0">
                <a:latin typeface="Arial" pitchFamily="34" charset="0"/>
                <a:cs typeface="Arial" pitchFamily="34" charset="0"/>
              </a:rPr>
              <a:t>                                                                                             ……(15)</a:t>
            </a:r>
          </a:p>
          <a:p>
            <a:endParaRPr lang="en-IN" dirty="0">
              <a:latin typeface="Arial" pitchFamily="34" charset="0"/>
              <a:cs typeface="Arial" pitchFamily="34" charset="0"/>
            </a:endParaRPr>
          </a:p>
          <a:p>
            <a:pPr>
              <a:spcBef>
                <a:spcPts val="0"/>
              </a:spcBef>
            </a:pPr>
            <a:endParaRPr lang="en-US" dirty="0">
              <a:latin typeface="Arial" pitchFamily="34" charset="0"/>
              <a:cs typeface="Arial" pitchFamily="34" charset="0"/>
            </a:endParaRPr>
          </a:p>
          <a:p>
            <a:pPr>
              <a:spcBef>
                <a:spcPts val="0"/>
              </a:spcBef>
            </a:pPr>
            <a:endParaRPr lang="en-US" dirty="0">
              <a:latin typeface="Arial" pitchFamily="34" charset="0"/>
              <a:cs typeface="Arial" pitchFamily="34" charset="0"/>
            </a:endParaRPr>
          </a:p>
          <a:p>
            <a:pPr>
              <a:spcBef>
                <a:spcPts val="0"/>
              </a:spcBef>
            </a:pPr>
            <a:r>
              <a:rPr lang="en-US" dirty="0">
                <a:latin typeface="Arial" pitchFamily="34" charset="0"/>
                <a:cs typeface="Arial" pitchFamily="34" charset="0"/>
              </a:rPr>
              <a:t>From the above analysis we can plot the propagation delay </a:t>
            </a:r>
          </a:p>
          <a:p>
            <a:pPr>
              <a:spcBef>
                <a:spcPts val="0"/>
              </a:spcBef>
            </a:pPr>
            <a:r>
              <a:rPr lang="en-US" dirty="0">
                <a:latin typeface="Arial" pitchFamily="34" charset="0"/>
                <a:cs typeface="Arial" pitchFamily="34" charset="0"/>
              </a:rPr>
              <a:t>of the inverter as a function of the supply voltage.                                                                                                                    </a:t>
            </a:r>
            <a:endParaRPr lang="en-IN" dirty="0">
              <a:latin typeface="Arial" pitchFamily="34" charset="0"/>
              <a:cs typeface="Arial" pitchFamily="34" charset="0"/>
            </a:endParaRPr>
          </a:p>
          <a:p>
            <a:pPr algn="just">
              <a:buNone/>
            </a:pPr>
            <a:r>
              <a:rPr lang="en-US" dirty="0">
                <a:latin typeface="Arial" pitchFamily="34" charset="0"/>
                <a:cs typeface="Arial" pitchFamily="34" charset="0"/>
              </a:rPr>
              <a:t>                                                                                                                                 </a:t>
            </a:r>
          </a:p>
          <a:p>
            <a:pPr>
              <a:buNone/>
            </a:pPr>
            <a:r>
              <a:rPr lang="en-US" dirty="0">
                <a:latin typeface="Arial" pitchFamily="34" charset="0"/>
                <a:cs typeface="Arial" pitchFamily="34" charset="0"/>
              </a:rPr>
              <a:t>                                                                                                                              </a:t>
            </a:r>
          </a:p>
        </p:txBody>
      </p:sp>
      <p:sp>
        <p:nvSpPr>
          <p:cNvPr id="4" name="Footer Placeholder 3"/>
          <p:cNvSpPr>
            <a:spLocks noGrp="1"/>
          </p:cNvSpPr>
          <p:nvPr>
            <p:ph type="ftr" sz="quarter" idx="11"/>
          </p:nvPr>
        </p:nvSpPr>
        <p:spPr>
          <a:xfrm>
            <a:off x="1721796" y="6135808"/>
            <a:ext cx="8487415" cy="365125"/>
          </a:xfrm>
        </p:spPr>
        <p:txBody>
          <a:bodyPr/>
          <a:lstStyle/>
          <a:p>
            <a:r>
              <a:rPr lang="en-IN" sz="1500" dirty="0">
                <a:solidFill>
                  <a:srgbClr val="C00000"/>
                </a:solidFill>
                <a:latin typeface="Arial" panose="020B0604020202020204" pitchFamily="34" charset="0"/>
                <a:cs typeface="Arial" panose="020B0604020202020204" pitchFamily="34" charset="0"/>
              </a:rPr>
              <a:t>Rohit Lorenzo, VIT-AP</a:t>
            </a:r>
          </a:p>
        </p:txBody>
      </p:sp>
      <p:sp>
        <p:nvSpPr>
          <p:cNvPr id="3074"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75" name="Rectangle 3"/>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5"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 name="Rectangle 3"/>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077" name="Rectangle 5"/>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79" name="Rectangle 7"/>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80" name="Rectangle 8"/>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082" name="Rectangle 10"/>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83" name="Rectangle 11"/>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085" name="Rectangle 13"/>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86" name="Rectangle 14"/>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pic>
        <p:nvPicPr>
          <p:cNvPr id="58370" name="Picture 2"/>
          <p:cNvPicPr>
            <a:picLocks noChangeAspect="1" noChangeArrowheads="1"/>
          </p:cNvPicPr>
          <p:nvPr/>
        </p:nvPicPr>
        <p:blipFill>
          <a:blip r:embed="rId2" cstate="print"/>
          <a:srcRect/>
          <a:stretch>
            <a:fillRect/>
          </a:stretch>
        </p:blipFill>
        <p:spPr bwMode="auto">
          <a:xfrm>
            <a:off x="1908630" y="1995017"/>
            <a:ext cx="6913823" cy="671048"/>
          </a:xfrm>
          <a:prstGeom prst="rect">
            <a:avLst/>
          </a:prstGeom>
          <a:noFill/>
          <a:ln w="9525">
            <a:noFill/>
            <a:miter lim="800000"/>
            <a:headEnd/>
            <a:tailEnd/>
          </a:ln>
        </p:spPr>
      </p:pic>
      <p:pic>
        <p:nvPicPr>
          <p:cNvPr id="58371" name="Picture 3"/>
          <p:cNvPicPr>
            <a:picLocks noChangeAspect="1" noChangeArrowheads="1"/>
          </p:cNvPicPr>
          <p:nvPr/>
        </p:nvPicPr>
        <p:blipFill>
          <a:blip r:embed="rId3" cstate="print"/>
          <a:srcRect/>
          <a:stretch>
            <a:fillRect/>
          </a:stretch>
        </p:blipFill>
        <p:spPr bwMode="auto">
          <a:xfrm>
            <a:off x="3279969" y="3448110"/>
            <a:ext cx="3134300" cy="680719"/>
          </a:xfrm>
          <a:prstGeom prst="rect">
            <a:avLst/>
          </a:prstGeom>
          <a:noFill/>
          <a:ln w="9525">
            <a:noFill/>
            <a:miter lim="800000"/>
            <a:headEnd/>
            <a:tailEnd/>
          </a:ln>
        </p:spPr>
      </p:pic>
      <p:pic>
        <p:nvPicPr>
          <p:cNvPr id="58372" name="Picture 4"/>
          <p:cNvPicPr>
            <a:picLocks noChangeAspect="1" noChangeArrowheads="1"/>
          </p:cNvPicPr>
          <p:nvPr/>
        </p:nvPicPr>
        <p:blipFill>
          <a:blip r:embed="rId4" cstate="print"/>
          <a:srcRect/>
          <a:stretch>
            <a:fillRect/>
          </a:stretch>
        </p:blipFill>
        <p:spPr bwMode="auto">
          <a:xfrm>
            <a:off x="7976681" y="3326860"/>
            <a:ext cx="4098587" cy="3531140"/>
          </a:xfrm>
          <a:prstGeom prst="rect">
            <a:avLst/>
          </a:prstGeom>
          <a:noFill/>
          <a:ln w="9525">
            <a:noFill/>
            <a:miter lim="800000"/>
            <a:headEnd/>
            <a:tailEnd/>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53703" y="624110"/>
            <a:ext cx="9850910" cy="1280890"/>
          </a:xfrm>
        </p:spPr>
        <p:txBody>
          <a:bodyPr>
            <a:normAutofit/>
          </a:bodyPr>
          <a:lstStyle/>
          <a:p>
            <a:r>
              <a:rPr lang="en-IN" sz="3200" b="1" dirty="0"/>
              <a:t>Problem 2</a:t>
            </a:r>
            <a:endParaRPr lang="en-US" sz="3200" b="1" baseline="-25000" dirty="0">
              <a:latin typeface="Arial" pitchFamily="34" charset="0"/>
              <a:cs typeface="Arial" pitchFamily="34" charset="0"/>
            </a:endParaRPr>
          </a:p>
        </p:txBody>
      </p:sp>
      <p:sp>
        <p:nvSpPr>
          <p:cNvPr id="3" name="Content Placeholder 2"/>
          <p:cNvSpPr>
            <a:spLocks noGrp="1"/>
          </p:cNvSpPr>
          <p:nvPr>
            <p:ph idx="1"/>
          </p:nvPr>
        </p:nvSpPr>
        <p:spPr>
          <a:xfrm>
            <a:off x="447472" y="1313234"/>
            <a:ext cx="11478639" cy="4776281"/>
          </a:xfrm>
        </p:spPr>
        <p:txBody>
          <a:bodyPr>
            <a:normAutofit/>
          </a:bodyPr>
          <a:lstStyle/>
          <a:p>
            <a:pPr algn="just"/>
            <a:r>
              <a:rPr lang="en-US" b="1" dirty="0">
                <a:latin typeface="Arial" pitchFamily="34" charset="0"/>
                <a:cs typeface="Arial" pitchFamily="34" charset="0"/>
              </a:rPr>
              <a:t>Q ) </a:t>
            </a:r>
            <a:r>
              <a:rPr lang="en-IN" dirty="0">
                <a:latin typeface="Arial" pitchFamily="34" charset="0"/>
                <a:cs typeface="Arial" pitchFamily="34" charset="0"/>
              </a:rPr>
              <a:t>For a supply voltage of 2.5 V, the normalized on-resistances of NMOS and PMOS transistors equal 13kΩ and 31kΩ, respectively. From the layout, we determine the (W/L) ratios of the transistors to be 1.5 for the NMOS, and 4.5 for the PMOS.    capacitor   6.1 </a:t>
            </a:r>
            <a:r>
              <a:rPr lang="en-IN" dirty="0" err="1">
                <a:latin typeface="Arial" pitchFamily="34" charset="0"/>
                <a:cs typeface="Arial" pitchFamily="34" charset="0"/>
              </a:rPr>
              <a:t>fF</a:t>
            </a:r>
            <a:r>
              <a:rPr lang="en-IN" dirty="0">
                <a:latin typeface="Arial" pitchFamily="34" charset="0"/>
                <a:cs typeface="Arial" pitchFamily="34" charset="0"/>
              </a:rPr>
              <a:t> (</a:t>
            </a:r>
            <a:r>
              <a:rPr lang="en-IN" dirty="0" err="1">
                <a:latin typeface="Arial" pitchFamily="34" charset="0"/>
                <a:cs typeface="Arial" pitchFamily="34" charset="0"/>
              </a:rPr>
              <a:t>nmos</a:t>
            </a:r>
            <a:r>
              <a:rPr lang="en-IN" dirty="0">
                <a:latin typeface="Arial" pitchFamily="34" charset="0"/>
                <a:cs typeface="Arial" pitchFamily="34" charset="0"/>
              </a:rPr>
              <a:t>)  and 6.0 </a:t>
            </a:r>
            <a:r>
              <a:rPr lang="en-IN" dirty="0" err="1">
                <a:latin typeface="Arial" pitchFamily="34" charset="0"/>
                <a:cs typeface="Arial" pitchFamily="34" charset="0"/>
              </a:rPr>
              <a:t>fF</a:t>
            </a:r>
            <a:r>
              <a:rPr lang="en-IN" dirty="0">
                <a:latin typeface="Arial" pitchFamily="34" charset="0"/>
                <a:cs typeface="Arial" pitchFamily="34" charset="0"/>
              </a:rPr>
              <a:t> (PMOS). Calculate delay?</a:t>
            </a:r>
            <a:endParaRPr lang="en-US" dirty="0">
              <a:latin typeface="Arial" pitchFamily="34" charset="0"/>
              <a:cs typeface="Arial" pitchFamily="34" charset="0"/>
            </a:endParaRPr>
          </a:p>
          <a:p>
            <a:endParaRPr lang="en-US" dirty="0">
              <a:latin typeface="Arial" pitchFamily="34" charset="0"/>
              <a:cs typeface="Arial" pitchFamily="34" charset="0"/>
            </a:endParaRPr>
          </a:p>
          <a:p>
            <a:endParaRPr lang="en-US" dirty="0">
              <a:latin typeface="Arial" pitchFamily="34" charset="0"/>
              <a:cs typeface="Arial" pitchFamily="34" charset="0"/>
            </a:endParaRPr>
          </a:p>
          <a:p>
            <a:r>
              <a:rPr lang="en-US" b="1" u="sng" dirty="0">
                <a:latin typeface="Arial" pitchFamily="34" charset="0"/>
                <a:cs typeface="Arial" pitchFamily="34" charset="0"/>
              </a:rPr>
              <a:t>Solution  </a:t>
            </a:r>
          </a:p>
          <a:p>
            <a:r>
              <a:rPr lang="en-US" b="1" u="sng" dirty="0">
                <a:latin typeface="Arial" pitchFamily="34" charset="0"/>
                <a:cs typeface="Arial" pitchFamily="34" charset="0"/>
              </a:rPr>
              <a:t>     </a:t>
            </a:r>
            <a:r>
              <a:rPr lang="en-US" dirty="0">
                <a:latin typeface="Arial" pitchFamily="34" charset="0"/>
                <a:cs typeface="Arial" pitchFamily="34" charset="0"/>
              </a:rPr>
              <a:t>                                                                                                                      </a:t>
            </a:r>
          </a:p>
          <a:p>
            <a:pPr algn="just">
              <a:buNone/>
            </a:pPr>
            <a:r>
              <a:rPr lang="en-US" dirty="0">
                <a:latin typeface="Arial" pitchFamily="34" charset="0"/>
                <a:cs typeface="Arial" pitchFamily="34" charset="0"/>
              </a:rPr>
              <a:t>                                                </a:t>
            </a:r>
          </a:p>
          <a:p>
            <a:endParaRPr lang="en-US" dirty="0">
              <a:latin typeface="Arial" pitchFamily="34" charset="0"/>
              <a:cs typeface="Arial" pitchFamily="34" charset="0"/>
            </a:endParaRPr>
          </a:p>
          <a:p>
            <a:pPr>
              <a:buNone/>
            </a:pPr>
            <a:r>
              <a:rPr lang="en-US" dirty="0">
                <a:latin typeface="Arial" pitchFamily="34" charset="0"/>
                <a:cs typeface="Arial" pitchFamily="34" charset="0"/>
              </a:rPr>
              <a:t>                                                                                                                               </a:t>
            </a:r>
          </a:p>
        </p:txBody>
      </p:sp>
      <p:sp>
        <p:nvSpPr>
          <p:cNvPr id="4" name="Footer Placeholder 3"/>
          <p:cNvSpPr>
            <a:spLocks noGrp="1"/>
          </p:cNvSpPr>
          <p:nvPr>
            <p:ph type="ftr" sz="quarter" idx="11"/>
          </p:nvPr>
        </p:nvSpPr>
        <p:spPr>
          <a:xfrm>
            <a:off x="1721796" y="6135808"/>
            <a:ext cx="8487415" cy="365125"/>
          </a:xfrm>
        </p:spPr>
        <p:txBody>
          <a:bodyPr/>
          <a:lstStyle/>
          <a:p>
            <a:r>
              <a:rPr lang="en-IN" sz="1500" dirty="0">
                <a:solidFill>
                  <a:srgbClr val="C00000"/>
                </a:solidFill>
                <a:latin typeface="Arial" panose="020B0604020202020204" pitchFamily="34" charset="0"/>
                <a:cs typeface="Arial" panose="020B0604020202020204" pitchFamily="34" charset="0"/>
              </a:rPr>
              <a:t>Rohit Lorenzo, VIT-AP</a:t>
            </a:r>
          </a:p>
        </p:txBody>
      </p:sp>
      <p:sp>
        <p:nvSpPr>
          <p:cNvPr id="3074"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75" name="Rectangle 3"/>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5"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 name="Rectangle 3"/>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077" name="Rectangle 5"/>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79" name="Rectangle 7"/>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80" name="Rectangle 8"/>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082" name="Rectangle 10"/>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83" name="Rectangle 11"/>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085" name="Rectangle 13"/>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86" name="Rectangle 14"/>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pic>
        <p:nvPicPr>
          <p:cNvPr id="57346" name="Picture 2"/>
          <p:cNvPicPr>
            <a:picLocks noChangeAspect="1" noChangeArrowheads="1"/>
          </p:cNvPicPr>
          <p:nvPr/>
        </p:nvPicPr>
        <p:blipFill>
          <a:blip r:embed="rId2" cstate="print"/>
          <a:srcRect/>
          <a:stretch>
            <a:fillRect/>
          </a:stretch>
        </p:blipFill>
        <p:spPr bwMode="auto">
          <a:xfrm>
            <a:off x="2946165" y="3003009"/>
            <a:ext cx="4479543" cy="2522302"/>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7346"/>
                                        </p:tgtEl>
                                        <p:attrNameLst>
                                          <p:attrName>style.visibility</p:attrName>
                                        </p:attrNameLst>
                                      </p:cBhvr>
                                      <p:to>
                                        <p:strVal val="visible"/>
                                      </p:to>
                                    </p:set>
                                    <p:animEffect transition="in" filter="fade">
                                      <p:cBhvr>
                                        <p:cTn id="7" dur="500"/>
                                        <p:tgtEl>
                                          <p:spTgt spid="573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53703" y="624110"/>
            <a:ext cx="9850910" cy="1280890"/>
          </a:xfrm>
        </p:spPr>
        <p:txBody>
          <a:bodyPr>
            <a:normAutofit/>
          </a:bodyPr>
          <a:lstStyle/>
          <a:p>
            <a:r>
              <a:rPr lang="en-US" sz="3200" b="1" dirty="0"/>
              <a:t>Propagation Delay from a Design Perspective</a:t>
            </a:r>
            <a:endParaRPr lang="en-US" sz="3200" b="1" baseline="-25000" dirty="0">
              <a:latin typeface="Arial" pitchFamily="34" charset="0"/>
              <a:cs typeface="Arial" pitchFamily="34" charset="0"/>
            </a:endParaRPr>
          </a:p>
        </p:txBody>
      </p:sp>
      <p:sp>
        <p:nvSpPr>
          <p:cNvPr id="3" name="Content Placeholder 2"/>
          <p:cNvSpPr>
            <a:spLocks noGrp="1"/>
          </p:cNvSpPr>
          <p:nvPr>
            <p:ph idx="1"/>
          </p:nvPr>
        </p:nvSpPr>
        <p:spPr>
          <a:xfrm>
            <a:off x="447472" y="1313234"/>
            <a:ext cx="11478639" cy="4776281"/>
          </a:xfrm>
        </p:spPr>
        <p:txBody>
          <a:bodyPr>
            <a:normAutofit/>
          </a:bodyPr>
          <a:lstStyle/>
          <a:p>
            <a:r>
              <a:rPr lang="en-US" dirty="0">
                <a:latin typeface="Arial" pitchFamily="34" charset="0"/>
                <a:cs typeface="Arial" pitchFamily="34" charset="0"/>
              </a:rPr>
              <a:t>We deduce that the propagation delay of a gate can be minimized in the following ways                                                </a:t>
            </a:r>
          </a:p>
          <a:p>
            <a:pPr algn="just"/>
            <a:r>
              <a:rPr lang="en-US" b="1" dirty="0">
                <a:latin typeface="Arial" pitchFamily="34" charset="0"/>
                <a:cs typeface="Arial" pitchFamily="34" charset="0"/>
              </a:rPr>
              <a:t>Reduce C</a:t>
            </a:r>
            <a:r>
              <a:rPr lang="en-US" b="1" baseline="-25000" dirty="0">
                <a:latin typeface="Arial" pitchFamily="34" charset="0"/>
                <a:cs typeface="Arial" pitchFamily="34" charset="0"/>
              </a:rPr>
              <a:t>L</a:t>
            </a:r>
            <a:r>
              <a:rPr lang="en-US" dirty="0">
                <a:latin typeface="Arial" pitchFamily="34" charset="0"/>
                <a:cs typeface="Arial" pitchFamily="34" charset="0"/>
              </a:rPr>
              <a:t> </a:t>
            </a:r>
            <a:r>
              <a:rPr lang="en-US" b="1" dirty="0">
                <a:latin typeface="Arial" pitchFamily="34" charset="0"/>
                <a:cs typeface="Arial" pitchFamily="34" charset="0"/>
              </a:rPr>
              <a:t>:</a:t>
            </a:r>
            <a:r>
              <a:rPr lang="en-US" dirty="0">
                <a:latin typeface="Arial" pitchFamily="34" charset="0"/>
                <a:cs typeface="Arial" pitchFamily="34" charset="0"/>
              </a:rPr>
              <a:t> Remember that three major factors contribute to the load capacitance: the internal diffusion capacitance of the gate itself, the interconnect capacitance, and the </a:t>
            </a:r>
            <a:r>
              <a:rPr lang="en-US" dirty="0" err="1">
                <a:latin typeface="Arial" pitchFamily="34" charset="0"/>
                <a:cs typeface="Arial" pitchFamily="34" charset="0"/>
              </a:rPr>
              <a:t>fanout</a:t>
            </a:r>
            <a:r>
              <a:rPr lang="en-US" dirty="0">
                <a:latin typeface="Arial" pitchFamily="34" charset="0"/>
                <a:cs typeface="Arial" pitchFamily="34" charset="0"/>
              </a:rPr>
              <a:t>. Careful layout helps to reduce the diffusion and interconnect capacitances. Good design practice requires keeping the drain diffusion areas as small as possible.</a:t>
            </a:r>
          </a:p>
          <a:p>
            <a:pPr algn="just"/>
            <a:r>
              <a:rPr lang="en-US" b="1" dirty="0">
                <a:latin typeface="Arial" pitchFamily="34" charset="0"/>
                <a:cs typeface="Arial" pitchFamily="34" charset="0"/>
              </a:rPr>
              <a:t>Increase the W/L ratio of the transistors : </a:t>
            </a:r>
            <a:r>
              <a:rPr lang="en-US" dirty="0">
                <a:latin typeface="Arial" pitchFamily="34" charset="0"/>
                <a:cs typeface="Arial" pitchFamily="34" charset="0"/>
              </a:rPr>
              <a:t>Increasing the transistor size also raises the diffusion capacitance and hence </a:t>
            </a:r>
            <a:r>
              <a:rPr lang="en-US" i="1" dirty="0">
                <a:latin typeface="Arial" pitchFamily="34" charset="0"/>
                <a:cs typeface="Arial" pitchFamily="34" charset="0"/>
              </a:rPr>
              <a:t>C</a:t>
            </a:r>
            <a:r>
              <a:rPr lang="en-US" i="1" baseline="-25000" dirty="0">
                <a:latin typeface="Arial" pitchFamily="34" charset="0"/>
                <a:cs typeface="Arial" pitchFamily="34" charset="0"/>
              </a:rPr>
              <a:t>L . </a:t>
            </a:r>
            <a:r>
              <a:rPr lang="en-US" dirty="0">
                <a:latin typeface="Arial" pitchFamily="34" charset="0"/>
                <a:cs typeface="Arial" pitchFamily="34" charset="0"/>
              </a:rPr>
              <a:t>In fact, once the intrinsic capacitance (i.e. the diffusion capacitance) starts to dominate the extrinsic load formed by wiring and </a:t>
            </a:r>
            <a:r>
              <a:rPr lang="en-US" dirty="0" err="1">
                <a:latin typeface="Arial" pitchFamily="34" charset="0"/>
                <a:cs typeface="Arial" pitchFamily="34" charset="0"/>
              </a:rPr>
              <a:t>fanout</a:t>
            </a:r>
            <a:r>
              <a:rPr lang="en-US" dirty="0">
                <a:latin typeface="Arial" pitchFamily="34" charset="0"/>
                <a:cs typeface="Arial" pitchFamily="34" charset="0"/>
              </a:rPr>
              <a:t>, increasing the gate size does not longer help in reducing the delay. In addition, wide transistors have a larger gate capacitance, which increases the fan-out factor of the driving gate and adversely affects its speed. </a:t>
            </a:r>
          </a:p>
          <a:p>
            <a:pPr algn="just"/>
            <a:r>
              <a:rPr lang="en-US" b="1" dirty="0"/>
              <a:t>Increase V</a:t>
            </a:r>
            <a:r>
              <a:rPr lang="en-US" b="1" baseline="-25000" dirty="0"/>
              <a:t>DD</a:t>
            </a:r>
            <a:r>
              <a:rPr lang="en-US" b="1" dirty="0"/>
              <a:t> </a:t>
            </a:r>
            <a:r>
              <a:rPr lang="en-US" i="1" dirty="0"/>
              <a:t>: </a:t>
            </a:r>
            <a:r>
              <a:rPr lang="en-US" dirty="0">
                <a:latin typeface="Arial" pitchFamily="34" charset="0"/>
                <a:cs typeface="Arial" pitchFamily="34" charset="0"/>
              </a:rPr>
              <a:t>The delay of a gate can be modulated by modifying the supply voltage. This flexibility allows the designer to trade-off energy dissipation for performance. However, increasing the supply voltage above a certain level yields only very minimal improvement. Also, reliability concerns (oxide breakdown, hot-electron effects)enforce firm upper-bounds on the supply voltage in deep sub-micron processes</a:t>
            </a:r>
            <a:endParaRPr lang="en-US" b="1" baseline="-25000" dirty="0">
              <a:latin typeface="Arial" pitchFamily="34" charset="0"/>
              <a:cs typeface="Arial" pitchFamily="34" charset="0"/>
            </a:endParaRPr>
          </a:p>
          <a:p>
            <a:pPr>
              <a:buNone/>
            </a:pPr>
            <a:r>
              <a:rPr lang="en-US" dirty="0">
                <a:latin typeface="Arial" pitchFamily="34" charset="0"/>
                <a:cs typeface="Arial" pitchFamily="34" charset="0"/>
              </a:rPr>
              <a:t>                                                                                                                               </a:t>
            </a:r>
          </a:p>
        </p:txBody>
      </p:sp>
      <p:sp>
        <p:nvSpPr>
          <p:cNvPr id="4" name="Footer Placeholder 3"/>
          <p:cNvSpPr>
            <a:spLocks noGrp="1"/>
          </p:cNvSpPr>
          <p:nvPr>
            <p:ph type="ftr" sz="quarter" idx="11"/>
          </p:nvPr>
        </p:nvSpPr>
        <p:spPr>
          <a:xfrm>
            <a:off x="1721796" y="6135808"/>
            <a:ext cx="8487415" cy="365125"/>
          </a:xfrm>
        </p:spPr>
        <p:txBody>
          <a:bodyPr/>
          <a:lstStyle/>
          <a:p>
            <a:r>
              <a:rPr lang="en-IN" sz="1500" dirty="0">
                <a:solidFill>
                  <a:srgbClr val="C00000"/>
                </a:solidFill>
                <a:latin typeface="Arial" panose="020B0604020202020204" pitchFamily="34" charset="0"/>
                <a:cs typeface="Arial" panose="020B0604020202020204" pitchFamily="34" charset="0"/>
              </a:rPr>
              <a:t>Rohit Lorenzo, VIT-AP</a:t>
            </a:r>
          </a:p>
        </p:txBody>
      </p:sp>
      <p:sp>
        <p:nvSpPr>
          <p:cNvPr id="3074"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75" name="Rectangle 3"/>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5"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 name="Rectangle 3"/>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077" name="Rectangle 5"/>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79" name="Rectangle 7"/>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80" name="Rectangle 8"/>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082" name="Rectangle 10"/>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83" name="Rectangle 11"/>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085" name="Rectangle 13"/>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86" name="Rectangle 14"/>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53703" y="624110"/>
            <a:ext cx="9850910" cy="1280890"/>
          </a:xfrm>
        </p:spPr>
        <p:txBody>
          <a:bodyPr>
            <a:normAutofit/>
          </a:bodyPr>
          <a:lstStyle/>
          <a:p>
            <a:r>
              <a:rPr lang="en-US" sz="3200" b="1" dirty="0"/>
              <a:t>NMOS/PMOS Ratio</a:t>
            </a:r>
            <a:endParaRPr lang="en-US" sz="3200" b="1" baseline="-25000" dirty="0">
              <a:latin typeface="Arial" pitchFamily="34" charset="0"/>
              <a:cs typeface="Arial" pitchFamily="34" charset="0"/>
            </a:endParaRPr>
          </a:p>
        </p:txBody>
      </p:sp>
      <p:sp>
        <p:nvSpPr>
          <p:cNvPr id="3" name="Content Placeholder 2"/>
          <p:cNvSpPr>
            <a:spLocks noGrp="1"/>
          </p:cNvSpPr>
          <p:nvPr>
            <p:ph idx="1"/>
          </p:nvPr>
        </p:nvSpPr>
        <p:spPr>
          <a:xfrm>
            <a:off x="447472" y="1313234"/>
            <a:ext cx="11478639" cy="4776281"/>
          </a:xfrm>
        </p:spPr>
        <p:txBody>
          <a:bodyPr>
            <a:normAutofit/>
          </a:bodyPr>
          <a:lstStyle/>
          <a:p>
            <a:pPr algn="just"/>
            <a:r>
              <a:rPr lang="en-US" dirty="0">
                <a:latin typeface="Arial" pitchFamily="34" charset="0"/>
                <a:cs typeface="Arial" pitchFamily="34" charset="0"/>
              </a:rPr>
              <a:t>We have consistently widened the PMOS transistor so that its resistance matches. The motivation behind this approach is to create an inverter with  symmetrical VTC. However, this does not imply that this ratio also yields the minimum overall propagation delay. </a:t>
            </a:r>
          </a:p>
          <a:p>
            <a:r>
              <a:rPr lang="en-US" dirty="0">
                <a:latin typeface="Arial" pitchFamily="34" charset="0"/>
                <a:cs typeface="Arial" pitchFamily="34" charset="0"/>
              </a:rPr>
              <a:t>If symmetry and  noise margins are not of prime concern it is actually possible to speed up the inverter by reducing the width of the PMOS device. </a:t>
            </a:r>
          </a:p>
          <a:p>
            <a:r>
              <a:rPr lang="en-US" dirty="0">
                <a:latin typeface="Arial" pitchFamily="34" charset="0"/>
                <a:cs typeface="Arial" pitchFamily="34" charset="0"/>
              </a:rPr>
              <a:t>This optimum ratio can be derived through the following simple analysis. Consider two identical, cascaded CMOS inverters. The load capacitance of the first gate equals approximately</a:t>
            </a:r>
          </a:p>
          <a:p>
            <a:r>
              <a:rPr lang="en-US" dirty="0">
                <a:latin typeface="Arial" pitchFamily="34" charset="0"/>
                <a:cs typeface="Arial" pitchFamily="34" charset="0"/>
              </a:rPr>
              <a:t>                                                                                                                            ……(16)</a:t>
            </a:r>
          </a:p>
          <a:p>
            <a:pPr algn="just"/>
            <a:r>
              <a:rPr lang="en-US" dirty="0">
                <a:latin typeface="Arial" pitchFamily="34" charset="0"/>
                <a:cs typeface="Arial" pitchFamily="34" charset="0"/>
              </a:rPr>
              <a:t>When the PMOS devices are made </a:t>
            </a:r>
            <a:r>
              <a:rPr lang="el-GR" dirty="0">
                <a:latin typeface="Arial" pitchFamily="34" charset="0"/>
                <a:cs typeface="Arial" pitchFamily="34" charset="0"/>
              </a:rPr>
              <a:t>β</a:t>
            </a:r>
            <a:r>
              <a:rPr lang="en-US" dirty="0">
                <a:latin typeface="Arial" pitchFamily="34" charset="0"/>
                <a:cs typeface="Arial" pitchFamily="34" charset="0"/>
              </a:rPr>
              <a:t> times larger than the NMOS ones </a:t>
            </a:r>
            <a:r>
              <a:rPr lang="en-US" b="1" dirty="0">
                <a:latin typeface="Arial" pitchFamily="34" charset="0"/>
                <a:cs typeface="Arial" pitchFamily="34" charset="0"/>
              </a:rPr>
              <a:t>(</a:t>
            </a:r>
            <a:r>
              <a:rPr lang="el-GR" b="1" dirty="0">
                <a:latin typeface="Arial" pitchFamily="34" charset="0"/>
                <a:cs typeface="Arial" pitchFamily="34" charset="0"/>
              </a:rPr>
              <a:t>β</a:t>
            </a:r>
            <a:r>
              <a:rPr lang="en-US" b="1" dirty="0">
                <a:latin typeface="Arial" pitchFamily="34" charset="0"/>
                <a:cs typeface="Arial" pitchFamily="34" charset="0"/>
              </a:rPr>
              <a:t>=(W/L)</a:t>
            </a:r>
            <a:r>
              <a:rPr lang="en-US" b="1" baseline="-25000" dirty="0">
                <a:latin typeface="Arial" pitchFamily="34" charset="0"/>
                <a:cs typeface="Arial" pitchFamily="34" charset="0"/>
              </a:rPr>
              <a:t>p</a:t>
            </a:r>
            <a:r>
              <a:rPr lang="en-US" b="1" dirty="0">
                <a:latin typeface="Arial" pitchFamily="34" charset="0"/>
                <a:cs typeface="Arial" pitchFamily="34" charset="0"/>
              </a:rPr>
              <a:t>/(W/L)</a:t>
            </a:r>
            <a:r>
              <a:rPr lang="en-US" b="1" baseline="-25000" dirty="0">
                <a:latin typeface="Arial" pitchFamily="34" charset="0"/>
                <a:cs typeface="Arial" pitchFamily="34" charset="0"/>
              </a:rPr>
              <a:t>n</a:t>
            </a:r>
            <a:r>
              <a:rPr lang="en-US" b="1" dirty="0">
                <a:latin typeface="Arial" pitchFamily="34" charset="0"/>
                <a:cs typeface="Arial" pitchFamily="34" charset="0"/>
              </a:rPr>
              <a:t>) </a:t>
            </a:r>
            <a:r>
              <a:rPr lang="en-US" dirty="0">
                <a:latin typeface="Arial" pitchFamily="34" charset="0"/>
                <a:cs typeface="Arial" pitchFamily="34" charset="0"/>
              </a:rPr>
              <a:t>all transistor capacitances will scale in approximately the same way or </a:t>
            </a:r>
            <a:r>
              <a:rPr lang="en-US" b="1" dirty="0">
                <a:latin typeface="Arial" pitchFamily="34" charset="0"/>
                <a:cs typeface="Arial" pitchFamily="34" charset="0"/>
              </a:rPr>
              <a:t>C</a:t>
            </a:r>
            <a:r>
              <a:rPr lang="en-US" b="1" baseline="-25000" dirty="0">
                <a:latin typeface="Arial" pitchFamily="34" charset="0"/>
                <a:cs typeface="Arial" pitchFamily="34" charset="0"/>
              </a:rPr>
              <a:t>dp1</a:t>
            </a:r>
            <a:r>
              <a:rPr lang="en-US" b="1" dirty="0">
                <a:latin typeface="Arial" pitchFamily="34" charset="0"/>
                <a:cs typeface="Arial" pitchFamily="34" charset="0"/>
              </a:rPr>
              <a:t>≈</a:t>
            </a:r>
            <a:r>
              <a:rPr lang="el-GR" b="1" dirty="0">
                <a:latin typeface="Arial" pitchFamily="34" charset="0"/>
                <a:cs typeface="Arial" pitchFamily="34" charset="0"/>
              </a:rPr>
              <a:t>β</a:t>
            </a:r>
            <a:r>
              <a:rPr lang="en-US" b="1" dirty="0">
                <a:latin typeface="Arial" pitchFamily="34" charset="0"/>
                <a:cs typeface="Arial" pitchFamily="34" charset="0"/>
              </a:rPr>
              <a:t> C</a:t>
            </a:r>
            <a:r>
              <a:rPr lang="en-US" b="1" baseline="-25000" dirty="0">
                <a:latin typeface="Arial" pitchFamily="34" charset="0"/>
                <a:cs typeface="Arial" pitchFamily="34" charset="0"/>
              </a:rPr>
              <a:t>dn1 </a:t>
            </a:r>
            <a:r>
              <a:rPr lang="en-US" b="1" dirty="0">
                <a:latin typeface="Arial" pitchFamily="34" charset="0"/>
                <a:cs typeface="Arial" pitchFamily="34" charset="0"/>
              </a:rPr>
              <a:t> </a:t>
            </a:r>
            <a:r>
              <a:rPr lang="en-US" dirty="0">
                <a:latin typeface="Arial" pitchFamily="34" charset="0"/>
                <a:cs typeface="Arial" pitchFamily="34" charset="0"/>
              </a:rPr>
              <a:t>,and </a:t>
            </a:r>
            <a:r>
              <a:rPr lang="en-US" b="1" dirty="0">
                <a:latin typeface="Arial" pitchFamily="34" charset="0"/>
                <a:cs typeface="Arial" pitchFamily="34" charset="0"/>
              </a:rPr>
              <a:t>C</a:t>
            </a:r>
            <a:r>
              <a:rPr lang="en-US" b="1" baseline="-25000" dirty="0">
                <a:latin typeface="Arial" pitchFamily="34" charset="0"/>
                <a:cs typeface="Arial" pitchFamily="34" charset="0"/>
              </a:rPr>
              <a:t>gp2</a:t>
            </a:r>
            <a:r>
              <a:rPr lang="en-US" b="1" dirty="0">
                <a:latin typeface="Arial" pitchFamily="34" charset="0"/>
                <a:cs typeface="Arial" pitchFamily="34" charset="0"/>
              </a:rPr>
              <a:t>≈</a:t>
            </a:r>
            <a:r>
              <a:rPr lang="el-GR" b="1" dirty="0">
                <a:latin typeface="Arial" pitchFamily="34" charset="0"/>
                <a:cs typeface="Arial" pitchFamily="34" charset="0"/>
              </a:rPr>
              <a:t>β</a:t>
            </a:r>
            <a:r>
              <a:rPr lang="en-US" b="1" dirty="0">
                <a:latin typeface="Arial" pitchFamily="34" charset="0"/>
                <a:cs typeface="Arial" pitchFamily="34" charset="0"/>
              </a:rPr>
              <a:t>C</a:t>
            </a:r>
            <a:r>
              <a:rPr lang="en-US" b="1" baseline="-25000" dirty="0">
                <a:latin typeface="Arial" pitchFamily="34" charset="0"/>
                <a:cs typeface="Arial" pitchFamily="34" charset="0"/>
              </a:rPr>
              <a:t>gn2  .  </a:t>
            </a:r>
            <a:r>
              <a:rPr lang="en-US" dirty="0">
                <a:latin typeface="Arial" pitchFamily="34" charset="0"/>
                <a:cs typeface="Arial" pitchFamily="34" charset="0"/>
              </a:rPr>
              <a:t> </a:t>
            </a:r>
            <a:r>
              <a:rPr lang="en-US" dirty="0" err="1">
                <a:latin typeface="Arial" pitchFamily="34" charset="0"/>
                <a:cs typeface="Arial" pitchFamily="34" charset="0"/>
              </a:rPr>
              <a:t>Eqn</a:t>
            </a:r>
            <a:r>
              <a:rPr lang="en-US" dirty="0">
                <a:latin typeface="Arial" pitchFamily="34" charset="0"/>
                <a:cs typeface="Arial" pitchFamily="34" charset="0"/>
              </a:rPr>
              <a:t> (16)then be rewritten</a:t>
            </a:r>
          </a:p>
          <a:p>
            <a:pPr algn="just"/>
            <a:r>
              <a:rPr lang="en-US" dirty="0">
                <a:latin typeface="Arial" pitchFamily="34" charset="0"/>
                <a:cs typeface="Arial" pitchFamily="34" charset="0"/>
              </a:rPr>
              <a:t>                                                                                                     ……. (17)</a:t>
            </a:r>
          </a:p>
          <a:p>
            <a:pPr algn="just"/>
            <a:r>
              <a:rPr lang="en-US" dirty="0">
                <a:latin typeface="Arial" pitchFamily="34" charset="0"/>
                <a:cs typeface="Arial" pitchFamily="34" charset="0"/>
              </a:rPr>
              <a:t> An expression for the propagation delay can be derived, based on </a:t>
            </a:r>
            <a:r>
              <a:rPr lang="en-US" dirty="0" err="1">
                <a:latin typeface="Arial" pitchFamily="34" charset="0"/>
                <a:cs typeface="Arial" pitchFamily="34" charset="0"/>
              </a:rPr>
              <a:t>Eq</a:t>
            </a:r>
            <a:r>
              <a:rPr lang="en-US" dirty="0">
                <a:latin typeface="Arial" pitchFamily="34" charset="0"/>
                <a:cs typeface="Arial" pitchFamily="34" charset="0"/>
              </a:rPr>
              <a:t> (13)                                                                                                   </a:t>
            </a:r>
          </a:p>
          <a:p>
            <a:pPr algn="just"/>
            <a:r>
              <a:rPr lang="en-US" b="1" baseline="-25000" dirty="0">
                <a:latin typeface="Arial" pitchFamily="34" charset="0"/>
                <a:cs typeface="Arial" pitchFamily="34" charset="0"/>
              </a:rPr>
              <a:t>                                                                                                                                                                                                                           </a:t>
            </a:r>
            <a:r>
              <a:rPr lang="en-US" sz="2200" b="1" baseline="-25000" dirty="0">
                <a:latin typeface="Arial" pitchFamily="34" charset="0"/>
                <a:cs typeface="Arial" pitchFamily="34" charset="0"/>
              </a:rPr>
              <a:t>……(18)</a:t>
            </a:r>
          </a:p>
        </p:txBody>
      </p:sp>
      <p:sp>
        <p:nvSpPr>
          <p:cNvPr id="4" name="Footer Placeholder 3"/>
          <p:cNvSpPr>
            <a:spLocks noGrp="1"/>
          </p:cNvSpPr>
          <p:nvPr>
            <p:ph type="ftr" sz="quarter" idx="11"/>
          </p:nvPr>
        </p:nvSpPr>
        <p:spPr>
          <a:xfrm>
            <a:off x="1721796" y="6135808"/>
            <a:ext cx="8487415" cy="365125"/>
          </a:xfrm>
        </p:spPr>
        <p:txBody>
          <a:bodyPr/>
          <a:lstStyle/>
          <a:p>
            <a:r>
              <a:rPr lang="en-IN" sz="1500" dirty="0">
                <a:solidFill>
                  <a:srgbClr val="C00000"/>
                </a:solidFill>
                <a:latin typeface="Arial" panose="020B0604020202020204" pitchFamily="34" charset="0"/>
                <a:cs typeface="Arial" panose="020B0604020202020204" pitchFamily="34" charset="0"/>
              </a:rPr>
              <a:t>Rohit Lorenzo, VIT-AP</a:t>
            </a:r>
          </a:p>
        </p:txBody>
      </p:sp>
      <p:sp>
        <p:nvSpPr>
          <p:cNvPr id="3074"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75" name="Rectangle 3"/>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5"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 name="Rectangle 3"/>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077" name="Rectangle 5"/>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79" name="Rectangle 7"/>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80" name="Rectangle 8"/>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082" name="Rectangle 10"/>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83" name="Rectangle 11"/>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085" name="Rectangle 13"/>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86" name="Rectangle 14"/>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pic>
        <p:nvPicPr>
          <p:cNvPr id="53250" name="Picture 2"/>
          <p:cNvPicPr>
            <a:picLocks noChangeAspect="1" noChangeArrowheads="1"/>
          </p:cNvPicPr>
          <p:nvPr/>
        </p:nvPicPr>
        <p:blipFill>
          <a:blip r:embed="rId2" cstate="print"/>
          <a:srcRect/>
          <a:stretch>
            <a:fillRect/>
          </a:stretch>
        </p:blipFill>
        <p:spPr bwMode="auto">
          <a:xfrm>
            <a:off x="2804808" y="3642503"/>
            <a:ext cx="4520120" cy="357289"/>
          </a:xfrm>
          <a:prstGeom prst="rect">
            <a:avLst/>
          </a:prstGeom>
          <a:noFill/>
          <a:ln w="9525">
            <a:noFill/>
            <a:miter lim="800000"/>
            <a:headEnd/>
            <a:tailEnd/>
          </a:ln>
        </p:spPr>
      </p:pic>
      <p:pic>
        <p:nvPicPr>
          <p:cNvPr id="53253" name="Picture 5"/>
          <p:cNvPicPr>
            <a:picLocks noChangeAspect="1" noChangeArrowheads="1"/>
          </p:cNvPicPr>
          <p:nvPr/>
        </p:nvPicPr>
        <p:blipFill>
          <a:blip r:embed="rId3" cstate="print"/>
          <a:srcRect/>
          <a:stretch>
            <a:fillRect/>
          </a:stretch>
        </p:blipFill>
        <p:spPr bwMode="auto">
          <a:xfrm>
            <a:off x="3249037" y="4854912"/>
            <a:ext cx="3546136" cy="348392"/>
          </a:xfrm>
          <a:prstGeom prst="rect">
            <a:avLst/>
          </a:prstGeom>
          <a:noFill/>
          <a:ln w="9525">
            <a:noFill/>
            <a:miter lim="800000"/>
            <a:headEnd/>
            <a:tailEnd/>
          </a:ln>
        </p:spPr>
      </p:pic>
      <p:pic>
        <p:nvPicPr>
          <p:cNvPr id="53254" name="Picture 6"/>
          <p:cNvPicPr>
            <a:picLocks noChangeAspect="1" noChangeArrowheads="1"/>
          </p:cNvPicPr>
          <p:nvPr/>
        </p:nvPicPr>
        <p:blipFill>
          <a:blip r:embed="rId4" cstate="print"/>
          <a:srcRect/>
          <a:stretch>
            <a:fillRect/>
          </a:stretch>
        </p:blipFill>
        <p:spPr bwMode="auto">
          <a:xfrm>
            <a:off x="5661496" y="5699126"/>
            <a:ext cx="4125957" cy="1012959"/>
          </a:xfrm>
          <a:prstGeom prst="rect">
            <a:avLst/>
          </a:prstGeom>
          <a:noFill/>
          <a:ln w="9525">
            <a:noFill/>
            <a:miter lim="800000"/>
            <a:headEnd/>
            <a:tailEnd/>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53703" y="624110"/>
            <a:ext cx="9850910" cy="1280890"/>
          </a:xfrm>
        </p:spPr>
        <p:txBody>
          <a:bodyPr>
            <a:normAutofit/>
          </a:bodyPr>
          <a:lstStyle/>
          <a:p>
            <a:r>
              <a:rPr lang="en-US" sz="3200" b="1" dirty="0"/>
              <a:t>Continue…..</a:t>
            </a:r>
            <a:endParaRPr lang="en-US" sz="3200" b="1" baseline="-25000" dirty="0">
              <a:latin typeface="Arial" pitchFamily="34" charset="0"/>
              <a:cs typeface="Arial" pitchFamily="34" charset="0"/>
            </a:endParaRPr>
          </a:p>
        </p:txBody>
      </p:sp>
      <p:sp>
        <p:nvSpPr>
          <p:cNvPr id="3" name="Content Placeholder 2"/>
          <p:cNvSpPr>
            <a:spLocks noGrp="1"/>
          </p:cNvSpPr>
          <p:nvPr>
            <p:ph idx="1"/>
          </p:nvPr>
        </p:nvSpPr>
        <p:spPr>
          <a:xfrm>
            <a:off x="447472" y="1313234"/>
            <a:ext cx="11478639" cy="4776281"/>
          </a:xfrm>
        </p:spPr>
        <p:txBody>
          <a:bodyPr>
            <a:normAutofit/>
          </a:bodyPr>
          <a:lstStyle/>
          <a:p>
            <a:r>
              <a:rPr lang="en-US" dirty="0">
                <a:latin typeface="Arial" pitchFamily="34" charset="0"/>
                <a:cs typeface="Arial" pitchFamily="34" charset="0"/>
              </a:rPr>
              <a:t>r (= </a:t>
            </a:r>
            <a:r>
              <a:rPr lang="en-US" dirty="0" err="1">
                <a:latin typeface="Arial" pitchFamily="34" charset="0"/>
                <a:cs typeface="Arial" pitchFamily="34" charset="0"/>
              </a:rPr>
              <a:t>R</a:t>
            </a:r>
            <a:r>
              <a:rPr lang="en-US" baseline="-25000" dirty="0" err="1">
                <a:latin typeface="Arial" pitchFamily="34" charset="0"/>
                <a:cs typeface="Arial" pitchFamily="34" charset="0"/>
              </a:rPr>
              <a:t>eqp</a:t>
            </a:r>
            <a:r>
              <a:rPr lang="en-US" dirty="0">
                <a:latin typeface="Arial" pitchFamily="34" charset="0"/>
                <a:cs typeface="Arial" pitchFamily="34" charset="0"/>
              </a:rPr>
              <a:t>/</a:t>
            </a:r>
            <a:r>
              <a:rPr lang="en-US" dirty="0" err="1">
                <a:latin typeface="Arial" pitchFamily="34" charset="0"/>
                <a:cs typeface="Arial" pitchFamily="34" charset="0"/>
              </a:rPr>
              <a:t>R</a:t>
            </a:r>
            <a:r>
              <a:rPr lang="en-US" baseline="-25000" dirty="0" err="1">
                <a:latin typeface="Arial" pitchFamily="34" charset="0"/>
                <a:cs typeface="Arial" pitchFamily="34" charset="0"/>
              </a:rPr>
              <a:t>eqn</a:t>
            </a:r>
            <a:r>
              <a:rPr lang="en-US" dirty="0">
                <a:latin typeface="Arial" pitchFamily="34" charset="0"/>
                <a:cs typeface="Arial" pitchFamily="34" charset="0"/>
              </a:rPr>
              <a:t>) represents the resistance ratio of identically-sized PMOS and NMOS transistors. The optimal value of </a:t>
            </a:r>
            <a:r>
              <a:rPr lang="el-GR" dirty="0">
                <a:latin typeface="Arial" pitchFamily="34" charset="0"/>
                <a:cs typeface="Arial" pitchFamily="34" charset="0"/>
              </a:rPr>
              <a:t>β</a:t>
            </a:r>
            <a:r>
              <a:rPr lang="en-US" dirty="0">
                <a:latin typeface="Arial" pitchFamily="34" charset="0"/>
                <a:cs typeface="Arial" pitchFamily="34" charset="0"/>
              </a:rPr>
              <a:t> can be found by setting         to 0, which yields. </a:t>
            </a:r>
          </a:p>
          <a:p>
            <a:endParaRPr lang="en-US" dirty="0">
              <a:latin typeface="Arial" pitchFamily="34" charset="0"/>
              <a:cs typeface="Arial" pitchFamily="34" charset="0"/>
            </a:endParaRPr>
          </a:p>
          <a:p>
            <a:r>
              <a:rPr lang="en-US" dirty="0">
                <a:latin typeface="Arial" pitchFamily="34" charset="0"/>
                <a:cs typeface="Arial" pitchFamily="34" charset="0"/>
              </a:rPr>
              <a:t>                                                                                                     ……(19)</a:t>
            </a:r>
          </a:p>
          <a:p>
            <a:endParaRPr lang="en-US" dirty="0"/>
          </a:p>
          <a:p>
            <a:pPr algn="just">
              <a:spcBef>
                <a:spcPts val="0"/>
              </a:spcBef>
            </a:pPr>
            <a:r>
              <a:rPr lang="en-US" dirty="0">
                <a:latin typeface="Arial" pitchFamily="34" charset="0"/>
                <a:cs typeface="Arial" pitchFamily="34" charset="0"/>
              </a:rPr>
              <a:t>This means that when the wiring capacitance is negligible </a:t>
            </a:r>
          </a:p>
          <a:p>
            <a:pPr algn="just">
              <a:spcBef>
                <a:spcPts val="0"/>
              </a:spcBef>
            </a:pPr>
            <a:r>
              <a:rPr lang="en-US" dirty="0">
                <a:latin typeface="Arial" pitchFamily="34" charset="0"/>
                <a:cs typeface="Arial" pitchFamily="34" charset="0"/>
              </a:rPr>
              <a:t>(</a:t>
            </a:r>
            <a:r>
              <a:rPr lang="en-US" b="1" dirty="0">
                <a:latin typeface="Arial" pitchFamily="34" charset="0"/>
                <a:cs typeface="Arial" pitchFamily="34" charset="0"/>
              </a:rPr>
              <a:t>C</a:t>
            </a:r>
            <a:r>
              <a:rPr lang="en-US" b="1" baseline="-25000" dirty="0">
                <a:latin typeface="Arial" pitchFamily="34" charset="0"/>
                <a:cs typeface="Arial" pitchFamily="34" charset="0"/>
              </a:rPr>
              <a:t>dn1</a:t>
            </a:r>
            <a:r>
              <a:rPr lang="en-US" b="1" dirty="0">
                <a:latin typeface="Arial" pitchFamily="34" charset="0"/>
                <a:cs typeface="Arial" pitchFamily="34" charset="0"/>
              </a:rPr>
              <a:t>+ C</a:t>
            </a:r>
            <a:r>
              <a:rPr lang="en-US" b="1" baseline="-25000" dirty="0">
                <a:latin typeface="Arial" pitchFamily="34" charset="0"/>
                <a:cs typeface="Arial" pitchFamily="34" charset="0"/>
              </a:rPr>
              <a:t>gn2 </a:t>
            </a:r>
            <a:r>
              <a:rPr lang="en-US" dirty="0">
                <a:latin typeface="Arial" pitchFamily="34" charset="0"/>
                <a:cs typeface="Arial" pitchFamily="34" charset="0"/>
              </a:rPr>
              <a:t> &gt;&gt; </a:t>
            </a:r>
            <a:r>
              <a:rPr lang="en-US" b="1" dirty="0">
                <a:latin typeface="Arial" pitchFamily="34" charset="0"/>
                <a:cs typeface="Arial" pitchFamily="34" charset="0"/>
              </a:rPr>
              <a:t>C</a:t>
            </a:r>
            <a:r>
              <a:rPr lang="en-US" b="1" baseline="-25000" dirty="0">
                <a:latin typeface="Arial" pitchFamily="34" charset="0"/>
                <a:cs typeface="Arial" pitchFamily="34" charset="0"/>
              </a:rPr>
              <a:t>W </a:t>
            </a:r>
            <a:r>
              <a:rPr lang="en-US" dirty="0">
                <a:latin typeface="Arial" pitchFamily="34" charset="0"/>
                <a:cs typeface="Arial" pitchFamily="34" charset="0"/>
              </a:rPr>
              <a:t>) , </a:t>
            </a:r>
            <a:r>
              <a:rPr lang="el-GR" dirty="0">
                <a:latin typeface="Arial" pitchFamily="34" charset="0"/>
                <a:cs typeface="Arial" pitchFamily="34" charset="0"/>
              </a:rPr>
              <a:t>β</a:t>
            </a:r>
            <a:r>
              <a:rPr lang="en-US" dirty="0">
                <a:latin typeface="Arial" pitchFamily="34" charset="0"/>
                <a:cs typeface="Arial" pitchFamily="34" charset="0"/>
              </a:rPr>
              <a:t>opt equals      .The surprising result of this</a:t>
            </a:r>
          </a:p>
          <a:p>
            <a:pPr algn="just">
              <a:spcBef>
                <a:spcPts val="0"/>
              </a:spcBef>
            </a:pPr>
            <a:r>
              <a:rPr lang="en-US" dirty="0">
                <a:latin typeface="Arial" pitchFamily="34" charset="0"/>
                <a:cs typeface="Arial" pitchFamily="34" charset="0"/>
              </a:rPr>
              <a:t> analysis is that smaller device  sizes (and hence smaller design</a:t>
            </a:r>
          </a:p>
          <a:p>
            <a:pPr algn="just">
              <a:spcBef>
                <a:spcPts val="0"/>
              </a:spcBef>
            </a:pPr>
            <a:r>
              <a:rPr lang="en-US" dirty="0">
                <a:latin typeface="Arial" pitchFamily="34" charset="0"/>
                <a:cs typeface="Arial" pitchFamily="34" charset="0"/>
              </a:rPr>
              <a:t> area)  yield a faster design.  </a:t>
            </a:r>
          </a:p>
        </p:txBody>
      </p:sp>
      <p:sp>
        <p:nvSpPr>
          <p:cNvPr id="4" name="Footer Placeholder 3"/>
          <p:cNvSpPr>
            <a:spLocks noGrp="1"/>
          </p:cNvSpPr>
          <p:nvPr>
            <p:ph type="ftr" sz="quarter" idx="11"/>
          </p:nvPr>
        </p:nvSpPr>
        <p:spPr>
          <a:xfrm>
            <a:off x="1721796" y="6135808"/>
            <a:ext cx="8487415" cy="365125"/>
          </a:xfrm>
        </p:spPr>
        <p:txBody>
          <a:bodyPr/>
          <a:lstStyle/>
          <a:p>
            <a:r>
              <a:rPr lang="en-IN" sz="1500" dirty="0">
                <a:solidFill>
                  <a:srgbClr val="C00000"/>
                </a:solidFill>
                <a:latin typeface="Arial" panose="020B0604020202020204" pitchFamily="34" charset="0"/>
                <a:cs typeface="Arial" panose="020B0604020202020204" pitchFamily="34" charset="0"/>
              </a:rPr>
              <a:t>Rohit Lorenzo, VIT-AP</a:t>
            </a:r>
          </a:p>
        </p:txBody>
      </p:sp>
      <p:sp>
        <p:nvSpPr>
          <p:cNvPr id="3074"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75" name="Rectangle 3"/>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5"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 name="Rectangle 3"/>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077" name="Rectangle 5"/>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79" name="Rectangle 7"/>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80" name="Rectangle 8"/>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082" name="Rectangle 10"/>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83" name="Rectangle 11"/>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085" name="Rectangle 13"/>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86" name="Rectangle 14"/>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pic>
        <p:nvPicPr>
          <p:cNvPr id="54274" name="Picture 2"/>
          <p:cNvPicPr>
            <a:picLocks noChangeAspect="1" noChangeArrowheads="1"/>
          </p:cNvPicPr>
          <p:nvPr/>
        </p:nvPicPr>
        <p:blipFill>
          <a:blip r:embed="rId2" cstate="print"/>
          <a:srcRect/>
          <a:stretch>
            <a:fillRect/>
          </a:stretch>
        </p:blipFill>
        <p:spPr bwMode="auto">
          <a:xfrm>
            <a:off x="4403085" y="1647014"/>
            <a:ext cx="334286" cy="579429"/>
          </a:xfrm>
          <a:prstGeom prst="rect">
            <a:avLst/>
          </a:prstGeom>
          <a:noFill/>
          <a:ln w="9525">
            <a:noFill/>
            <a:miter lim="800000"/>
            <a:headEnd/>
            <a:tailEnd/>
          </a:ln>
        </p:spPr>
      </p:pic>
      <p:pic>
        <p:nvPicPr>
          <p:cNvPr id="54275" name="Picture 3"/>
          <p:cNvPicPr>
            <a:picLocks noChangeAspect="1" noChangeArrowheads="1"/>
          </p:cNvPicPr>
          <p:nvPr/>
        </p:nvPicPr>
        <p:blipFill>
          <a:blip r:embed="rId3" cstate="print"/>
          <a:srcRect/>
          <a:stretch>
            <a:fillRect/>
          </a:stretch>
        </p:blipFill>
        <p:spPr bwMode="auto">
          <a:xfrm>
            <a:off x="3478044" y="2285697"/>
            <a:ext cx="2728203" cy="554465"/>
          </a:xfrm>
          <a:prstGeom prst="rect">
            <a:avLst/>
          </a:prstGeom>
          <a:noFill/>
          <a:ln w="9525">
            <a:noFill/>
            <a:miter lim="800000"/>
            <a:headEnd/>
            <a:tailEnd/>
          </a:ln>
        </p:spPr>
      </p:pic>
      <p:sp>
        <p:nvSpPr>
          <p:cNvPr id="54277" name="Rectangle 5"/>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54276" name="Picture 4"/>
          <p:cNvPicPr>
            <a:picLocks noChangeAspect="1" noChangeArrowheads="1"/>
          </p:cNvPicPr>
          <p:nvPr/>
        </p:nvPicPr>
        <p:blipFill>
          <a:blip r:embed="rId4" cstate="print">
            <a:clrChange>
              <a:clrFrom>
                <a:srgbClr val="FFFFFF"/>
              </a:clrFrom>
              <a:clrTo>
                <a:srgbClr val="FFFFFF">
                  <a:alpha val="0"/>
                </a:srgbClr>
              </a:clrTo>
            </a:clrChange>
          </a:blip>
          <a:srcRect/>
          <a:stretch>
            <a:fillRect/>
          </a:stretch>
        </p:blipFill>
        <p:spPr bwMode="auto">
          <a:xfrm>
            <a:off x="4309352" y="3356042"/>
            <a:ext cx="425450" cy="323850"/>
          </a:xfrm>
          <a:prstGeom prst="rect">
            <a:avLst/>
          </a:prstGeom>
          <a:noFill/>
        </p:spPr>
      </p:pic>
      <p:sp>
        <p:nvSpPr>
          <p:cNvPr id="54278" name="Rectangle 6"/>
          <p:cNvSpPr>
            <a:spLocks noChangeArrowheads="1"/>
          </p:cNvSpPr>
          <p:nvPr/>
        </p:nvSpPr>
        <p:spPr bwMode="auto">
          <a:xfrm>
            <a:off x="0" y="78105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pic>
        <p:nvPicPr>
          <p:cNvPr id="54279" name="Picture 7"/>
          <p:cNvPicPr>
            <a:picLocks noChangeAspect="1" noChangeArrowheads="1"/>
          </p:cNvPicPr>
          <p:nvPr/>
        </p:nvPicPr>
        <p:blipFill>
          <a:blip r:embed="rId5" cstate="print"/>
          <a:srcRect/>
          <a:stretch>
            <a:fillRect/>
          </a:stretch>
        </p:blipFill>
        <p:spPr bwMode="auto">
          <a:xfrm>
            <a:off x="7519481" y="3142034"/>
            <a:ext cx="4672519" cy="3715966"/>
          </a:xfrm>
          <a:prstGeom prst="rect">
            <a:avLst/>
          </a:prstGeom>
          <a:noFill/>
          <a:ln w="9525">
            <a:noFill/>
            <a:miter lim="800000"/>
            <a:headEnd/>
            <a:tailEnd/>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53703" y="624110"/>
            <a:ext cx="9850910" cy="1280890"/>
          </a:xfrm>
        </p:spPr>
        <p:txBody>
          <a:bodyPr>
            <a:normAutofit/>
          </a:bodyPr>
          <a:lstStyle/>
          <a:p>
            <a:r>
              <a:rPr lang="en-US" sz="3200" b="1" dirty="0"/>
              <a:t>Sizing Inverters for Performance</a:t>
            </a:r>
            <a:endParaRPr lang="en-US" sz="3200" b="1" baseline="-25000" dirty="0">
              <a:latin typeface="Arial" pitchFamily="34" charset="0"/>
              <a:cs typeface="Arial" pitchFamily="34" charset="0"/>
            </a:endParaRPr>
          </a:p>
        </p:txBody>
      </p:sp>
      <p:sp>
        <p:nvSpPr>
          <p:cNvPr id="3" name="Content Placeholder 2"/>
          <p:cNvSpPr>
            <a:spLocks noGrp="1"/>
          </p:cNvSpPr>
          <p:nvPr>
            <p:ph idx="1"/>
          </p:nvPr>
        </p:nvSpPr>
        <p:spPr>
          <a:xfrm>
            <a:off x="447472" y="1313234"/>
            <a:ext cx="11478639" cy="4776281"/>
          </a:xfrm>
        </p:spPr>
        <p:txBody>
          <a:bodyPr>
            <a:normAutofit/>
          </a:bodyPr>
          <a:lstStyle/>
          <a:p>
            <a:r>
              <a:rPr lang="en-US" dirty="0">
                <a:latin typeface="Arial" pitchFamily="34" charset="0"/>
                <a:cs typeface="Arial" pitchFamily="34" charset="0"/>
              </a:rPr>
              <a:t>we assume a symmetrical inverter, this is an inverter where PMOS and NMOS are sized such that the rise and fall delays are identical.</a:t>
            </a:r>
          </a:p>
          <a:p>
            <a:pPr algn="just"/>
            <a:r>
              <a:rPr lang="en-US" dirty="0">
                <a:latin typeface="Arial" pitchFamily="34" charset="0"/>
                <a:cs typeface="Arial" pitchFamily="34" charset="0"/>
              </a:rPr>
              <a:t>The load capacitance of the inverter can be divided into an intrinsic and an extrinsic component. </a:t>
            </a:r>
            <a:r>
              <a:rPr lang="en-IN" b="1" dirty="0">
                <a:latin typeface="Arial" pitchFamily="34" charset="0"/>
                <a:cs typeface="Arial" pitchFamily="34" charset="0"/>
              </a:rPr>
              <a:t>C</a:t>
            </a:r>
            <a:r>
              <a:rPr lang="en-IN" b="1" baseline="-25000" dirty="0">
                <a:latin typeface="Arial" pitchFamily="34" charset="0"/>
                <a:cs typeface="Arial" pitchFamily="34" charset="0"/>
              </a:rPr>
              <a:t>L</a:t>
            </a:r>
            <a:r>
              <a:rPr lang="en-IN" b="1" dirty="0">
                <a:latin typeface="Arial" pitchFamily="34" charset="0"/>
                <a:cs typeface="Arial" pitchFamily="34" charset="0"/>
              </a:rPr>
              <a:t>=</a:t>
            </a:r>
            <a:r>
              <a:rPr lang="en-IN" b="1" dirty="0" err="1">
                <a:latin typeface="Arial" pitchFamily="34" charset="0"/>
                <a:cs typeface="Arial" pitchFamily="34" charset="0"/>
              </a:rPr>
              <a:t>C</a:t>
            </a:r>
            <a:r>
              <a:rPr lang="en-IN" b="1" baseline="-25000" dirty="0" err="1">
                <a:latin typeface="Arial" pitchFamily="34" charset="0"/>
                <a:cs typeface="Arial" pitchFamily="34" charset="0"/>
              </a:rPr>
              <a:t>int</a:t>
            </a:r>
            <a:r>
              <a:rPr lang="en-IN" b="1" dirty="0" err="1">
                <a:latin typeface="Arial" pitchFamily="34" charset="0"/>
                <a:cs typeface="Arial" pitchFamily="34" charset="0"/>
              </a:rPr>
              <a:t>+C</a:t>
            </a:r>
            <a:r>
              <a:rPr lang="en-IN" b="1" baseline="-25000" dirty="0" err="1">
                <a:latin typeface="Arial" pitchFamily="34" charset="0"/>
                <a:cs typeface="Arial" pitchFamily="34" charset="0"/>
              </a:rPr>
              <a:t>ext</a:t>
            </a:r>
            <a:r>
              <a:rPr lang="en-IN" dirty="0">
                <a:latin typeface="Arial" pitchFamily="34" charset="0"/>
                <a:cs typeface="Arial" pitchFamily="34" charset="0"/>
              </a:rPr>
              <a:t>. </a:t>
            </a:r>
          </a:p>
          <a:p>
            <a:pPr algn="just"/>
            <a:endParaRPr lang="en-IN" dirty="0">
              <a:latin typeface="Arial" pitchFamily="34" charset="0"/>
              <a:cs typeface="Arial" pitchFamily="34" charset="0"/>
            </a:endParaRPr>
          </a:p>
          <a:p>
            <a:pPr algn="just">
              <a:spcBef>
                <a:spcPts val="0"/>
              </a:spcBef>
            </a:pPr>
            <a:r>
              <a:rPr lang="en-US" dirty="0">
                <a:latin typeface="Arial" pitchFamily="34" charset="0"/>
                <a:cs typeface="Arial" pitchFamily="34" charset="0"/>
              </a:rPr>
              <a:t>we can express the propagation delay</a:t>
            </a:r>
          </a:p>
          <a:p>
            <a:pPr algn="just">
              <a:spcBef>
                <a:spcPts val="0"/>
              </a:spcBef>
            </a:pPr>
            <a:r>
              <a:rPr lang="en-US" dirty="0">
                <a:latin typeface="Arial" pitchFamily="34" charset="0"/>
                <a:cs typeface="Arial" pitchFamily="34" charset="0"/>
              </a:rPr>
              <a:t> as follows                                                                                                                                         ….(20)   </a:t>
            </a:r>
          </a:p>
          <a:p>
            <a:pPr algn="just">
              <a:spcBef>
                <a:spcPts val="0"/>
              </a:spcBef>
            </a:pPr>
            <a:endParaRPr lang="en-US" dirty="0">
              <a:latin typeface="Arial" pitchFamily="34" charset="0"/>
              <a:cs typeface="Arial" pitchFamily="34" charset="0"/>
            </a:endParaRPr>
          </a:p>
          <a:p>
            <a:r>
              <a:rPr lang="en-IN" b="1" dirty="0" err="1">
                <a:latin typeface="Arial" pitchFamily="34" charset="0"/>
                <a:cs typeface="Arial" pitchFamily="34" charset="0"/>
              </a:rPr>
              <a:t>t</a:t>
            </a:r>
            <a:r>
              <a:rPr lang="en-IN" b="1" baseline="-25000" dirty="0" err="1">
                <a:latin typeface="Arial" pitchFamily="34" charset="0"/>
                <a:cs typeface="Arial" pitchFamily="34" charset="0"/>
              </a:rPr>
              <a:t>po</a:t>
            </a:r>
            <a:r>
              <a:rPr lang="en-IN" b="1" dirty="0">
                <a:latin typeface="Arial" pitchFamily="34" charset="0"/>
                <a:cs typeface="Arial" pitchFamily="34" charset="0"/>
              </a:rPr>
              <a:t>= 0.69 </a:t>
            </a:r>
            <a:r>
              <a:rPr lang="en-IN" b="1" dirty="0" err="1">
                <a:latin typeface="Arial" pitchFamily="34" charset="0"/>
                <a:cs typeface="Arial" pitchFamily="34" charset="0"/>
              </a:rPr>
              <a:t>R</a:t>
            </a:r>
            <a:r>
              <a:rPr lang="en-IN" b="1" baseline="-25000" dirty="0" err="1">
                <a:latin typeface="Arial" pitchFamily="34" charset="0"/>
                <a:cs typeface="Arial" pitchFamily="34" charset="0"/>
              </a:rPr>
              <a:t>eq</a:t>
            </a:r>
            <a:r>
              <a:rPr lang="en-US" dirty="0">
                <a:latin typeface="Arial" pitchFamily="34" charset="0"/>
                <a:cs typeface="Arial" pitchFamily="34" charset="0"/>
              </a:rPr>
              <a:t> .</a:t>
            </a:r>
            <a:r>
              <a:rPr lang="en-IN" b="1" dirty="0" err="1">
                <a:latin typeface="Arial" pitchFamily="34" charset="0"/>
                <a:cs typeface="Arial" pitchFamily="34" charset="0"/>
              </a:rPr>
              <a:t>C</a:t>
            </a:r>
            <a:r>
              <a:rPr lang="en-IN" b="1" baseline="-25000" dirty="0" err="1">
                <a:latin typeface="Arial" pitchFamily="34" charset="0"/>
                <a:cs typeface="Arial" pitchFamily="34" charset="0"/>
              </a:rPr>
              <a:t>int</a:t>
            </a:r>
            <a:r>
              <a:rPr lang="en-IN" b="1" dirty="0">
                <a:latin typeface="Arial" pitchFamily="34" charset="0"/>
                <a:cs typeface="Arial" pitchFamily="34" charset="0"/>
              </a:rPr>
              <a:t>  </a:t>
            </a:r>
            <a:r>
              <a:rPr lang="en-US" dirty="0">
                <a:latin typeface="Arial" pitchFamily="34" charset="0"/>
                <a:cs typeface="Arial" pitchFamily="34" charset="0"/>
              </a:rPr>
              <a:t>represents the delay of the inverter only loaded by its own intrinsic capacitance  (</a:t>
            </a:r>
            <a:r>
              <a:rPr lang="en-US" b="1" dirty="0" err="1">
                <a:latin typeface="Arial" pitchFamily="34" charset="0"/>
                <a:cs typeface="Arial" pitchFamily="34" charset="0"/>
              </a:rPr>
              <a:t>C</a:t>
            </a:r>
            <a:r>
              <a:rPr lang="en-US" b="1" baseline="-25000" dirty="0" err="1">
                <a:latin typeface="Arial" pitchFamily="34" charset="0"/>
                <a:cs typeface="Arial" pitchFamily="34" charset="0"/>
              </a:rPr>
              <a:t>ext</a:t>
            </a:r>
            <a:r>
              <a:rPr lang="en-US" b="1" dirty="0">
                <a:latin typeface="Arial" pitchFamily="34" charset="0"/>
                <a:cs typeface="Arial" pitchFamily="34" charset="0"/>
              </a:rPr>
              <a:t> =0</a:t>
            </a:r>
            <a:r>
              <a:rPr lang="en-US" dirty="0">
                <a:latin typeface="Arial" pitchFamily="34" charset="0"/>
                <a:cs typeface="Arial" pitchFamily="34" charset="0"/>
              </a:rPr>
              <a:t>) </a:t>
            </a:r>
          </a:p>
          <a:p>
            <a:r>
              <a:rPr lang="en-US" dirty="0">
                <a:latin typeface="Arial" pitchFamily="34" charset="0"/>
                <a:cs typeface="Arial" pitchFamily="34" charset="0"/>
              </a:rPr>
              <a:t>and is called the intrinsic or unloaded delay. The sizing factor </a:t>
            </a:r>
            <a:r>
              <a:rPr lang="en-US" b="1" dirty="0">
                <a:latin typeface="Arial" pitchFamily="34" charset="0"/>
                <a:cs typeface="Arial" pitchFamily="34" charset="0"/>
              </a:rPr>
              <a:t>S</a:t>
            </a:r>
            <a:r>
              <a:rPr lang="en-US" dirty="0">
                <a:latin typeface="Arial" pitchFamily="34" charset="0"/>
                <a:cs typeface="Arial" pitchFamily="34" charset="0"/>
              </a:rPr>
              <a:t>, we consider for  inverter to a reference gate—typically a minimum-sized inverter. Hence  </a:t>
            </a:r>
            <a:r>
              <a:rPr lang="en-US" b="1" dirty="0" err="1">
                <a:latin typeface="Arial" pitchFamily="34" charset="0"/>
                <a:cs typeface="Arial" pitchFamily="34" charset="0"/>
              </a:rPr>
              <a:t>C</a:t>
            </a:r>
            <a:r>
              <a:rPr lang="en-US" b="1" baseline="-25000" dirty="0" err="1">
                <a:latin typeface="Arial" pitchFamily="34" charset="0"/>
                <a:cs typeface="Arial" pitchFamily="34" charset="0"/>
              </a:rPr>
              <a:t>int</a:t>
            </a:r>
            <a:r>
              <a:rPr lang="en-US" b="1" dirty="0">
                <a:latin typeface="Arial" pitchFamily="34" charset="0"/>
                <a:cs typeface="Arial" pitchFamily="34" charset="0"/>
              </a:rPr>
              <a:t>=</a:t>
            </a:r>
            <a:r>
              <a:rPr lang="en-US" b="1" dirty="0" err="1">
                <a:latin typeface="Arial" pitchFamily="34" charset="0"/>
                <a:cs typeface="Arial" pitchFamily="34" charset="0"/>
              </a:rPr>
              <a:t>SC</a:t>
            </a:r>
            <a:r>
              <a:rPr lang="en-US" b="1" baseline="-25000" dirty="0" err="1">
                <a:latin typeface="Arial" pitchFamily="34" charset="0"/>
                <a:cs typeface="Arial" pitchFamily="34" charset="0"/>
              </a:rPr>
              <a:t>iref</a:t>
            </a:r>
            <a:r>
              <a:rPr lang="en-US" b="1" dirty="0">
                <a:latin typeface="Arial" pitchFamily="34" charset="0"/>
                <a:cs typeface="Arial" pitchFamily="34" charset="0"/>
              </a:rPr>
              <a:t> </a:t>
            </a:r>
            <a:r>
              <a:rPr lang="en-US" dirty="0">
                <a:latin typeface="Arial" pitchFamily="34" charset="0"/>
                <a:cs typeface="Arial" pitchFamily="34" charset="0"/>
              </a:rPr>
              <a:t>. The resistance of the gate relates to the reference gate as  </a:t>
            </a:r>
            <a:r>
              <a:rPr lang="en-US" b="1" dirty="0" err="1">
                <a:latin typeface="Arial" pitchFamily="34" charset="0"/>
                <a:cs typeface="Arial" pitchFamily="34" charset="0"/>
              </a:rPr>
              <a:t>R</a:t>
            </a:r>
            <a:r>
              <a:rPr lang="en-US" b="1" baseline="-25000" dirty="0" err="1">
                <a:latin typeface="Arial" pitchFamily="34" charset="0"/>
                <a:cs typeface="Arial" pitchFamily="34" charset="0"/>
              </a:rPr>
              <a:t>eq</a:t>
            </a:r>
            <a:r>
              <a:rPr lang="en-US" b="1" dirty="0">
                <a:latin typeface="Arial" pitchFamily="34" charset="0"/>
                <a:cs typeface="Arial" pitchFamily="34" charset="0"/>
              </a:rPr>
              <a:t> = R</a:t>
            </a:r>
            <a:r>
              <a:rPr lang="en-US" b="1" baseline="-25000" dirty="0">
                <a:latin typeface="Arial" pitchFamily="34" charset="0"/>
                <a:cs typeface="Arial" pitchFamily="34" charset="0"/>
              </a:rPr>
              <a:t>ef</a:t>
            </a:r>
            <a:r>
              <a:rPr lang="en-US" b="1" dirty="0">
                <a:latin typeface="Arial" pitchFamily="34" charset="0"/>
                <a:cs typeface="Arial" pitchFamily="34" charset="0"/>
              </a:rPr>
              <a:t>/S </a:t>
            </a:r>
            <a:r>
              <a:rPr lang="en-US" dirty="0">
                <a:latin typeface="Arial" pitchFamily="34" charset="0"/>
                <a:cs typeface="Arial" pitchFamily="34" charset="0"/>
              </a:rPr>
              <a:t>. We can now rewrite the equation (20) .          </a:t>
            </a:r>
          </a:p>
          <a:p>
            <a:endParaRPr lang="en-US" dirty="0">
              <a:latin typeface="Arial" pitchFamily="34" charset="0"/>
              <a:cs typeface="Arial" pitchFamily="34" charset="0"/>
            </a:endParaRPr>
          </a:p>
          <a:p>
            <a:r>
              <a:rPr lang="en-US" dirty="0">
                <a:latin typeface="Arial" pitchFamily="34" charset="0"/>
                <a:cs typeface="Arial" pitchFamily="34" charset="0"/>
              </a:rPr>
              <a:t>                                                                                                                                                          …(21)                                                                 </a:t>
            </a:r>
          </a:p>
        </p:txBody>
      </p:sp>
      <p:sp>
        <p:nvSpPr>
          <p:cNvPr id="4" name="Footer Placeholder 3"/>
          <p:cNvSpPr>
            <a:spLocks noGrp="1"/>
          </p:cNvSpPr>
          <p:nvPr>
            <p:ph type="ftr" sz="quarter" idx="11"/>
          </p:nvPr>
        </p:nvSpPr>
        <p:spPr>
          <a:xfrm>
            <a:off x="1721796" y="6135808"/>
            <a:ext cx="8487415" cy="365125"/>
          </a:xfrm>
        </p:spPr>
        <p:txBody>
          <a:bodyPr/>
          <a:lstStyle/>
          <a:p>
            <a:r>
              <a:rPr lang="en-IN" sz="1500" dirty="0">
                <a:solidFill>
                  <a:srgbClr val="C00000"/>
                </a:solidFill>
                <a:latin typeface="Arial" panose="020B0604020202020204" pitchFamily="34" charset="0"/>
                <a:cs typeface="Arial" panose="020B0604020202020204" pitchFamily="34" charset="0"/>
              </a:rPr>
              <a:t>Rohit Lorenzo, VIT-AP</a:t>
            </a:r>
          </a:p>
        </p:txBody>
      </p:sp>
      <p:sp>
        <p:nvSpPr>
          <p:cNvPr id="3074"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75" name="Rectangle 3"/>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5"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 name="Rectangle 3"/>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077" name="Rectangle 5"/>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79" name="Rectangle 7"/>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80" name="Rectangle 8"/>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082" name="Rectangle 10"/>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83" name="Rectangle 11"/>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085" name="Rectangle 13"/>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86" name="Rectangle 14"/>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54277" name="Rectangle 5"/>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4278" name="Rectangle 6"/>
          <p:cNvSpPr>
            <a:spLocks noChangeArrowheads="1"/>
          </p:cNvSpPr>
          <p:nvPr/>
        </p:nvSpPr>
        <p:spPr bwMode="auto">
          <a:xfrm>
            <a:off x="0" y="78105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pic>
        <p:nvPicPr>
          <p:cNvPr id="75778" name="Picture 2"/>
          <p:cNvPicPr>
            <a:picLocks noChangeAspect="1" noChangeArrowheads="1"/>
          </p:cNvPicPr>
          <p:nvPr/>
        </p:nvPicPr>
        <p:blipFill>
          <a:blip r:embed="rId2" cstate="print"/>
          <a:srcRect/>
          <a:stretch>
            <a:fillRect/>
          </a:stretch>
        </p:blipFill>
        <p:spPr bwMode="auto">
          <a:xfrm>
            <a:off x="5181802" y="3059957"/>
            <a:ext cx="5197610" cy="688515"/>
          </a:xfrm>
          <a:prstGeom prst="rect">
            <a:avLst/>
          </a:prstGeom>
          <a:noFill/>
          <a:ln w="9525">
            <a:noFill/>
            <a:miter lim="800000"/>
            <a:headEnd/>
            <a:tailEnd/>
          </a:ln>
        </p:spPr>
      </p:pic>
      <p:pic>
        <p:nvPicPr>
          <p:cNvPr id="75779" name="Picture 3"/>
          <p:cNvPicPr>
            <a:picLocks noChangeAspect="1" noChangeArrowheads="1"/>
          </p:cNvPicPr>
          <p:nvPr/>
        </p:nvPicPr>
        <p:blipFill>
          <a:blip r:embed="rId3" cstate="print"/>
          <a:srcRect/>
          <a:stretch>
            <a:fillRect/>
          </a:stretch>
        </p:blipFill>
        <p:spPr bwMode="auto">
          <a:xfrm>
            <a:off x="4815192" y="5375142"/>
            <a:ext cx="5258650" cy="1103479"/>
          </a:xfrm>
          <a:prstGeom prst="rect">
            <a:avLst/>
          </a:prstGeom>
          <a:noFill/>
          <a:ln w="9525">
            <a:noFill/>
            <a:miter lim="800000"/>
            <a:headEnd/>
            <a:tailEnd/>
          </a:ln>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53703" y="624110"/>
            <a:ext cx="9850910" cy="1280890"/>
          </a:xfrm>
        </p:spPr>
        <p:txBody>
          <a:bodyPr>
            <a:normAutofit/>
          </a:bodyPr>
          <a:lstStyle/>
          <a:p>
            <a:r>
              <a:rPr lang="en-US" sz="3200" b="1" dirty="0"/>
              <a:t>Continue….</a:t>
            </a:r>
            <a:endParaRPr lang="en-US" sz="3200" b="1" baseline="-25000" dirty="0">
              <a:latin typeface="Arial" pitchFamily="34" charset="0"/>
              <a:cs typeface="Arial" pitchFamily="34" charset="0"/>
            </a:endParaRPr>
          </a:p>
        </p:txBody>
      </p:sp>
      <p:sp>
        <p:nvSpPr>
          <p:cNvPr id="3" name="Content Placeholder 2"/>
          <p:cNvSpPr>
            <a:spLocks noGrp="1"/>
          </p:cNvSpPr>
          <p:nvPr>
            <p:ph idx="1"/>
          </p:nvPr>
        </p:nvSpPr>
        <p:spPr>
          <a:xfrm>
            <a:off x="447472" y="1313234"/>
            <a:ext cx="11478639" cy="4776281"/>
          </a:xfrm>
        </p:spPr>
        <p:txBody>
          <a:bodyPr>
            <a:normAutofit/>
          </a:bodyPr>
          <a:lstStyle/>
          <a:p>
            <a:r>
              <a:rPr lang="en-US" dirty="0">
                <a:latin typeface="Arial" pitchFamily="34" charset="0"/>
                <a:cs typeface="Arial" pitchFamily="34" charset="0"/>
              </a:rPr>
              <a:t>This leads to two important conclusions: </a:t>
            </a:r>
          </a:p>
          <a:p>
            <a:r>
              <a:rPr lang="en-IN" dirty="0">
                <a:latin typeface="Arial" pitchFamily="34" charset="0"/>
                <a:cs typeface="Arial" pitchFamily="34" charset="0"/>
              </a:rPr>
              <a:t>(1) </a:t>
            </a:r>
            <a:r>
              <a:rPr lang="en-US" dirty="0">
                <a:latin typeface="Arial" pitchFamily="34" charset="0"/>
                <a:cs typeface="Arial" pitchFamily="34" charset="0"/>
              </a:rPr>
              <a:t>The intrinsic delay of the inverter </a:t>
            </a:r>
            <a:r>
              <a:rPr lang="en-US" b="1" dirty="0">
                <a:latin typeface="Arial" pitchFamily="34" charset="0"/>
                <a:cs typeface="Arial" pitchFamily="34" charset="0"/>
              </a:rPr>
              <a:t>t</a:t>
            </a:r>
            <a:r>
              <a:rPr lang="en-US" b="1" baseline="-25000" dirty="0">
                <a:latin typeface="Arial" pitchFamily="34" charset="0"/>
                <a:cs typeface="Arial" pitchFamily="34" charset="0"/>
              </a:rPr>
              <a:t>p0</a:t>
            </a:r>
            <a:r>
              <a:rPr lang="en-US" dirty="0">
                <a:latin typeface="Arial" pitchFamily="34" charset="0"/>
                <a:cs typeface="Arial" pitchFamily="34" charset="0"/>
              </a:rPr>
              <a:t> is independent of the sizing of the gate, and is purely determined by technology and inverter layout.</a:t>
            </a:r>
          </a:p>
          <a:p>
            <a:r>
              <a:rPr lang="en-IN" dirty="0">
                <a:latin typeface="Arial" pitchFamily="34" charset="0"/>
                <a:cs typeface="Arial" pitchFamily="34" charset="0"/>
              </a:rPr>
              <a:t>(2) </a:t>
            </a:r>
            <a:r>
              <a:rPr lang="en-US" dirty="0">
                <a:latin typeface="Arial" pitchFamily="34" charset="0"/>
                <a:cs typeface="Arial" pitchFamily="34" charset="0"/>
              </a:rPr>
              <a:t>Making </a:t>
            </a:r>
            <a:r>
              <a:rPr lang="en-US" b="1" dirty="0">
                <a:latin typeface="Arial" pitchFamily="34" charset="0"/>
                <a:cs typeface="Arial" pitchFamily="34" charset="0"/>
              </a:rPr>
              <a:t>S</a:t>
            </a:r>
            <a:r>
              <a:rPr lang="en-US" dirty="0">
                <a:latin typeface="Arial" pitchFamily="34" charset="0"/>
                <a:cs typeface="Arial" pitchFamily="34" charset="0"/>
              </a:rPr>
              <a:t> infinitely large yields the maximum obtainable performance gain, </a:t>
            </a:r>
          </a:p>
          <a:p>
            <a:r>
              <a:rPr lang="en-US" dirty="0">
                <a:latin typeface="Arial" pitchFamily="34" charset="0"/>
                <a:cs typeface="Arial" pitchFamily="34" charset="0"/>
              </a:rPr>
              <a:t>eliminating the impact of any external load, and reducing</a:t>
            </a:r>
          </a:p>
          <a:p>
            <a:r>
              <a:rPr lang="en-US" dirty="0">
                <a:latin typeface="Arial" pitchFamily="34" charset="0"/>
                <a:cs typeface="Arial" pitchFamily="34" charset="0"/>
              </a:rPr>
              <a:t> the delay to the intrinsic one.</a:t>
            </a:r>
            <a:endParaRPr lang="en-IN" dirty="0">
              <a:latin typeface="Arial" pitchFamily="34" charset="0"/>
              <a:cs typeface="Arial" pitchFamily="34" charset="0"/>
            </a:endParaRPr>
          </a:p>
          <a:p>
            <a:pPr algn="just">
              <a:spcBef>
                <a:spcPts val="0"/>
              </a:spcBef>
            </a:pPr>
            <a:endParaRPr lang="en-US" dirty="0">
              <a:latin typeface="Arial" pitchFamily="34" charset="0"/>
              <a:cs typeface="Arial" pitchFamily="34" charset="0"/>
            </a:endParaRPr>
          </a:p>
          <a:p>
            <a:endParaRPr lang="en-US" dirty="0">
              <a:latin typeface="Arial" pitchFamily="34" charset="0"/>
              <a:cs typeface="Arial" pitchFamily="34" charset="0"/>
            </a:endParaRPr>
          </a:p>
        </p:txBody>
      </p:sp>
      <p:sp>
        <p:nvSpPr>
          <p:cNvPr id="4" name="Footer Placeholder 3"/>
          <p:cNvSpPr>
            <a:spLocks noGrp="1"/>
          </p:cNvSpPr>
          <p:nvPr>
            <p:ph type="ftr" sz="quarter" idx="11"/>
          </p:nvPr>
        </p:nvSpPr>
        <p:spPr>
          <a:xfrm>
            <a:off x="1721796" y="6135808"/>
            <a:ext cx="8487415" cy="365125"/>
          </a:xfrm>
        </p:spPr>
        <p:txBody>
          <a:bodyPr/>
          <a:lstStyle/>
          <a:p>
            <a:r>
              <a:rPr lang="en-IN" sz="1500" dirty="0">
                <a:solidFill>
                  <a:srgbClr val="C00000"/>
                </a:solidFill>
                <a:latin typeface="Arial" panose="020B0604020202020204" pitchFamily="34" charset="0"/>
                <a:cs typeface="Arial" panose="020B0604020202020204" pitchFamily="34" charset="0"/>
              </a:rPr>
              <a:t>Rohit Lorenzo, VIT-AP</a:t>
            </a:r>
          </a:p>
        </p:txBody>
      </p:sp>
      <p:sp>
        <p:nvSpPr>
          <p:cNvPr id="3074"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75" name="Rectangle 3"/>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5"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 name="Rectangle 3"/>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077" name="Rectangle 5"/>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79" name="Rectangle 7"/>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80" name="Rectangle 8"/>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082" name="Rectangle 10"/>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83" name="Rectangle 11"/>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085" name="Rectangle 13"/>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86" name="Rectangle 14"/>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54277" name="Rectangle 5"/>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4278" name="Rectangle 6"/>
          <p:cNvSpPr>
            <a:spLocks noChangeArrowheads="1"/>
          </p:cNvSpPr>
          <p:nvPr/>
        </p:nvSpPr>
        <p:spPr bwMode="auto">
          <a:xfrm>
            <a:off x="0" y="78105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pic>
        <p:nvPicPr>
          <p:cNvPr id="53250" name="Picture 2"/>
          <p:cNvPicPr>
            <a:picLocks noChangeAspect="1" noChangeArrowheads="1"/>
          </p:cNvPicPr>
          <p:nvPr/>
        </p:nvPicPr>
        <p:blipFill>
          <a:blip r:embed="rId2" cstate="print"/>
          <a:srcRect/>
          <a:stretch>
            <a:fillRect/>
          </a:stretch>
        </p:blipFill>
        <p:spPr bwMode="auto">
          <a:xfrm>
            <a:off x="7519481" y="2723745"/>
            <a:ext cx="4672519" cy="4134255"/>
          </a:xfrm>
          <a:prstGeom prst="rect">
            <a:avLst/>
          </a:prstGeom>
          <a:noFill/>
          <a:ln w="9525">
            <a:noFill/>
            <a:miter lim="800000"/>
            <a:headEnd/>
            <a:tailEnd/>
          </a:ln>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53703" y="624110"/>
            <a:ext cx="9850910" cy="1280890"/>
          </a:xfrm>
        </p:spPr>
        <p:txBody>
          <a:bodyPr>
            <a:normAutofit/>
          </a:bodyPr>
          <a:lstStyle/>
          <a:p>
            <a:r>
              <a:rPr lang="en-US" sz="3200" b="1" dirty="0"/>
              <a:t>Sizing of inverter chain</a:t>
            </a:r>
            <a:endParaRPr lang="en-US" sz="3200" b="1" baseline="-25000" dirty="0">
              <a:latin typeface="Arial" pitchFamily="34" charset="0"/>
              <a:cs typeface="Arial" pitchFamily="34" charset="0"/>
            </a:endParaRPr>
          </a:p>
        </p:txBody>
      </p:sp>
      <p:sp>
        <p:nvSpPr>
          <p:cNvPr id="3" name="Content Placeholder 2"/>
          <p:cNvSpPr>
            <a:spLocks noGrp="1"/>
          </p:cNvSpPr>
          <p:nvPr>
            <p:ph idx="1"/>
          </p:nvPr>
        </p:nvSpPr>
        <p:spPr>
          <a:xfrm>
            <a:off x="447472" y="1313234"/>
            <a:ext cx="11478639" cy="4776281"/>
          </a:xfrm>
        </p:spPr>
        <p:txBody>
          <a:bodyPr>
            <a:normAutofit/>
          </a:bodyPr>
          <a:lstStyle/>
          <a:p>
            <a:pPr>
              <a:spcBef>
                <a:spcPts val="0"/>
              </a:spcBef>
            </a:pPr>
            <a:r>
              <a:rPr lang="en-US" dirty="0">
                <a:latin typeface="Arial" pitchFamily="34" charset="0"/>
                <a:cs typeface="Arial" pitchFamily="34" charset="0"/>
              </a:rPr>
              <a:t>For an inverter the load capacitance can be divided into an intrinsic </a:t>
            </a:r>
          </a:p>
          <a:p>
            <a:pPr>
              <a:spcBef>
                <a:spcPts val="0"/>
              </a:spcBef>
            </a:pPr>
            <a:r>
              <a:rPr lang="en-IN" dirty="0">
                <a:latin typeface="Arial" pitchFamily="34" charset="0"/>
                <a:cs typeface="Arial" pitchFamily="34" charset="0"/>
              </a:rPr>
              <a:t>and extrinsic capacitive component. </a:t>
            </a:r>
          </a:p>
          <a:p>
            <a:pPr>
              <a:spcBef>
                <a:spcPts val="0"/>
              </a:spcBef>
              <a:buNone/>
            </a:pPr>
            <a:r>
              <a:rPr lang="en-IN" dirty="0">
                <a:latin typeface="Arial" pitchFamily="34" charset="0"/>
                <a:cs typeface="Arial" pitchFamily="34" charset="0"/>
              </a:rPr>
              <a:t>                                                                              ……. (22)</a:t>
            </a:r>
          </a:p>
          <a:p>
            <a:pPr>
              <a:spcBef>
                <a:spcPts val="0"/>
              </a:spcBef>
              <a:buNone/>
            </a:pPr>
            <a:endParaRPr lang="en-IN" dirty="0">
              <a:latin typeface="Arial" pitchFamily="34" charset="0"/>
              <a:cs typeface="Arial" pitchFamily="34" charset="0"/>
            </a:endParaRPr>
          </a:p>
          <a:p>
            <a:pPr>
              <a:spcBef>
                <a:spcPts val="0"/>
              </a:spcBef>
              <a:buNone/>
            </a:pPr>
            <a:r>
              <a:rPr lang="en-IN" b="1" dirty="0" err="1">
                <a:latin typeface="Arial" pitchFamily="34" charset="0"/>
                <a:cs typeface="Arial" pitchFamily="34" charset="0"/>
              </a:rPr>
              <a:t>C</a:t>
            </a:r>
            <a:r>
              <a:rPr lang="en-IN" b="1" baseline="-25000" dirty="0" err="1">
                <a:latin typeface="Arial" pitchFamily="34" charset="0"/>
                <a:cs typeface="Arial" pitchFamily="34" charset="0"/>
              </a:rPr>
              <a:t>int</a:t>
            </a:r>
            <a:r>
              <a:rPr lang="en-IN" dirty="0">
                <a:latin typeface="Arial" pitchFamily="34" charset="0"/>
                <a:cs typeface="Arial" pitchFamily="34" charset="0"/>
              </a:rPr>
              <a:t> = intrinsic output capacitance of the inverter, associated with diffusion capacitance  </a:t>
            </a:r>
            <a:endParaRPr lang="en-US" dirty="0">
              <a:latin typeface="Arial" pitchFamily="34" charset="0"/>
              <a:cs typeface="Arial" pitchFamily="34" charset="0"/>
            </a:endParaRPr>
          </a:p>
          <a:p>
            <a:pPr>
              <a:buNone/>
            </a:pPr>
            <a:r>
              <a:rPr lang="en-IN" b="1" dirty="0" err="1">
                <a:latin typeface="Arial" pitchFamily="34" charset="0"/>
                <a:cs typeface="Arial" pitchFamily="34" charset="0"/>
              </a:rPr>
              <a:t>C</a:t>
            </a:r>
            <a:r>
              <a:rPr lang="en-IN" b="1" baseline="-25000" dirty="0" err="1">
                <a:latin typeface="Arial" pitchFamily="34" charset="0"/>
                <a:cs typeface="Arial" pitchFamily="34" charset="0"/>
              </a:rPr>
              <a:t>ext</a:t>
            </a:r>
            <a:r>
              <a:rPr lang="en-IN" dirty="0">
                <a:latin typeface="Arial" pitchFamily="34" charset="0"/>
                <a:cs typeface="Arial" pitchFamily="34" charset="0"/>
              </a:rPr>
              <a:t> = </a:t>
            </a:r>
            <a:r>
              <a:rPr lang="en-IN" dirty="0" err="1">
                <a:latin typeface="Arial" pitchFamily="34" charset="0"/>
                <a:cs typeface="Arial" pitchFamily="34" charset="0"/>
              </a:rPr>
              <a:t>fanout</a:t>
            </a:r>
            <a:r>
              <a:rPr lang="en-IN" dirty="0">
                <a:latin typeface="Arial" pitchFamily="34" charset="0"/>
                <a:cs typeface="Arial" pitchFamily="34" charset="0"/>
              </a:rPr>
              <a:t> and wire capacitance   </a:t>
            </a:r>
          </a:p>
          <a:p>
            <a:pPr>
              <a:buNone/>
            </a:pPr>
            <a:endParaRPr lang="en-US" dirty="0">
              <a:latin typeface="Arial" pitchFamily="34" charset="0"/>
              <a:cs typeface="Arial" pitchFamily="34" charset="0"/>
            </a:endParaRPr>
          </a:p>
          <a:p>
            <a:pPr>
              <a:spcBef>
                <a:spcPts val="0"/>
              </a:spcBef>
            </a:pPr>
            <a:r>
              <a:rPr lang="en-US" dirty="0">
                <a:latin typeface="Arial" pitchFamily="34" charset="0"/>
                <a:cs typeface="Arial" pitchFamily="34" charset="0"/>
              </a:rPr>
              <a:t>The input gate capacitance and output gate capacitance are function of transistor gate size.  </a:t>
            </a:r>
          </a:p>
          <a:p>
            <a:pPr>
              <a:spcBef>
                <a:spcPts val="0"/>
              </a:spcBef>
              <a:buNone/>
            </a:pPr>
            <a:r>
              <a:rPr lang="en-IN" dirty="0">
                <a:latin typeface="Arial" pitchFamily="34" charset="0"/>
                <a:cs typeface="Arial" pitchFamily="34" charset="0"/>
              </a:rPr>
              <a:t>                                                                                       ……(23)</a:t>
            </a:r>
          </a:p>
          <a:p>
            <a:pPr>
              <a:spcBef>
                <a:spcPts val="0"/>
              </a:spcBef>
              <a:buNone/>
            </a:pPr>
            <a:endParaRPr lang="en-IN" dirty="0">
              <a:latin typeface="Arial" pitchFamily="34" charset="0"/>
              <a:cs typeface="Arial" pitchFamily="34" charset="0"/>
            </a:endParaRPr>
          </a:p>
          <a:p>
            <a:pPr>
              <a:spcBef>
                <a:spcPts val="0"/>
              </a:spcBef>
            </a:pPr>
            <a:r>
              <a:rPr lang="en-US" dirty="0">
                <a:latin typeface="Cambria Math"/>
                <a:ea typeface="Cambria Math"/>
              </a:rPr>
              <a:t>𝛾 </a:t>
            </a:r>
            <a:r>
              <a:rPr lang="en-US" dirty="0">
                <a:latin typeface="Arial" pitchFamily="34" charset="0"/>
                <a:cs typeface="Arial" pitchFamily="34" charset="0"/>
              </a:rPr>
              <a:t>is a proportionality factor, which is only a function of technology. Now equation (20) can be rewritten as </a:t>
            </a:r>
          </a:p>
          <a:p>
            <a:pPr>
              <a:spcBef>
                <a:spcPts val="0"/>
              </a:spcBef>
            </a:pPr>
            <a:endParaRPr lang="en-IN" dirty="0">
              <a:latin typeface="Arial" pitchFamily="34" charset="0"/>
              <a:cs typeface="Arial" pitchFamily="34" charset="0"/>
            </a:endParaRPr>
          </a:p>
          <a:p>
            <a:pPr>
              <a:spcBef>
                <a:spcPts val="0"/>
              </a:spcBef>
            </a:pPr>
            <a:r>
              <a:rPr lang="en-IN" dirty="0">
                <a:latin typeface="Arial" pitchFamily="34" charset="0"/>
                <a:cs typeface="Arial" pitchFamily="34" charset="0"/>
              </a:rPr>
              <a:t>                                                                                                          …..(24)</a:t>
            </a:r>
          </a:p>
          <a:p>
            <a:r>
              <a:rPr lang="en-US" dirty="0">
                <a:latin typeface="Arial" pitchFamily="34" charset="0"/>
                <a:cs typeface="Arial" pitchFamily="34" charset="0"/>
              </a:rPr>
              <a:t>The delay if the inverter is only a function of the ratio between its external load capacitance and input capacitance. This ratio is called the effective </a:t>
            </a:r>
            <a:r>
              <a:rPr lang="en-US" dirty="0" err="1">
                <a:latin typeface="Arial" pitchFamily="34" charset="0"/>
                <a:cs typeface="Arial" pitchFamily="34" charset="0"/>
              </a:rPr>
              <a:t>fanout</a:t>
            </a:r>
            <a:r>
              <a:rPr lang="en-US" b="1" dirty="0">
                <a:latin typeface="Arial" pitchFamily="34" charset="0"/>
                <a:cs typeface="Arial" pitchFamily="34" charset="0"/>
              </a:rPr>
              <a:t> f</a:t>
            </a:r>
            <a:r>
              <a:rPr lang="en-US" i="1" dirty="0">
                <a:latin typeface="Arial" pitchFamily="34" charset="0"/>
                <a:cs typeface="Arial" pitchFamily="34" charset="0"/>
              </a:rPr>
              <a:t>.</a:t>
            </a:r>
            <a:endParaRPr lang="en-US" dirty="0">
              <a:latin typeface="Arial" pitchFamily="34" charset="0"/>
              <a:cs typeface="Arial" pitchFamily="34" charset="0"/>
            </a:endParaRPr>
          </a:p>
          <a:p>
            <a:pPr>
              <a:spcBef>
                <a:spcPts val="0"/>
              </a:spcBef>
            </a:pPr>
            <a:endParaRPr lang="en-US" dirty="0">
              <a:latin typeface="Arial" pitchFamily="34" charset="0"/>
              <a:cs typeface="Arial" pitchFamily="34" charset="0"/>
            </a:endParaRPr>
          </a:p>
          <a:p>
            <a:pPr>
              <a:spcBef>
                <a:spcPts val="0"/>
              </a:spcBef>
            </a:pPr>
            <a:endParaRPr lang="en-IN" dirty="0">
              <a:latin typeface="Arial" pitchFamily="34" charset="0"/>
              <a:cs typeface="Arial" pitchFamily="34" charset="0"/>
            </a:endParaRPr>
          </a:p>
          <a:p>
            <a:pPr>
              <a:buNone/>
            </a:pPr>
            <a:endParaRPr lang="en-US" dirty="0">
              <a:latin typeface="Arial" pitchFamily="34" charset="0"/>
              <a:cs typeface="Arial" pitchFamily="34" charset="0"/>
            </a:endParaRPr>
          </a:p>
          <a:p>
            <a:endParaRPr lang="en-US" dirty="0">
              <a:latin typeface="Arial" pitchFamily="34" charset="0"/>
              <a:cs typeface="Arial" pitchFamily="34" charset="0"/>
            </a:endParaRPr>
          </a:p>
          <a:p>
            <a:pPr>
              <a:buNone/>
            </a:pPr>
            <a:endParaRPr lang="en-US" dirty="0">
              <a:latin typeface="Arial" pitchFamily="34" charset="0"/>
              <a:cs typeface="Arial" pitchFamily="34" charset="0"/>
            </a:endParaRPr>
          </a:p>
        </p:txBody>
      </p:sp>
      <p:sp>
        <p:nvSpPr>
          <p:cNvPr id="4" name="Footer Placeholder 3"/>
          <p:cNvSpPr>
            <a:spLocks noGrp="1"/>
          </p:cNvSpPr>
          <p:nvPr>
            <p:ph type="ftr" sz="quarter" idx="11"/>
          </p:nvPr>
        </p:nvSpPr>
        <p:spPr>
          <a:xfrm>
            <a:off x="1721796" y="6135808"/>
            <a:ext cx="8487415" cy="365125"/>
          </a:xfrm>
        </p:spPr>
        <p:txBody>
          <a:bodyPr/>
          <a:lstStyle/>
          <a:p>
            <a:r>
              <a:rPr lang="en-IN" sz="1500" dirty="0">
                <a:solidFill>
                  <a:srgbClr val="C00000"/>
                </a:solidFill>
                <a:latin typeface="Arial" panose="020B0604020202020204" pitchFamily="34" charset="0"/>
                <a:cs typeface="Arial" panose="020B0604020202020204" pitchFamily="34" charset="0"/>
              </a:rPr>
              <a:t>Rohit Lorenzo, VIT-AP</a:t>
            </a:r>
          </a:p>
        </p:txBody>
      </p:sp>
      <p:sp>
        <p:nvSpPr>
          <p:cNvPr id="3074"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75" name="Rectangle 3"/>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5"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 name="Rectangle 3"/>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077" name="Rectangle 5"/>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79" name="Rectangle 7"/>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80" name="Rectangle 8"/>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082" name="Rectangle 10"/>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83" name="Rectangle 11"/>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085" name="Rectangle 13"/>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86" name="Rectangle 14"/>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54277" name="Rectangle 5"/>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4278" name="Rectangle 6"/>
          <p:cNvSpPr>
            <a:spLocks noChangeArrowheads="1"/>
          </p:cNvSpPr>
          <p:nvPr/>
        </p:nvSpPr>
        <p:spPr bwMode="auto">
          <a:xfrm>
            <a:off x="0" y="78105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pic>
        <p:nvPicPr>
          <p:cNvPr id="54275" name="Picture 3"/>
          <p:cNvPicPr>
            <a:picLocks noChangeAspect="1" noChangeArrowheads="1"/>
          </p:cNvPicPr>
          <p:nvPr/>
        </p:nvPicPr>
        <p:blipFill>
          <a:blip r:embed="rId2" cstate="print"/>
          <a:srcRect/>
          <a:stretch>
            <a:fillRect/>
          </a:stretch>
        </p:blipFill>
        <p:spPr bwMode="auto">
          <a:xfrm>
            <a:off x="7929563" y="1285672"/>
            <a:ext cx="4262437" cy="927877"/>
          </a:xfrm>
          <a:prstGeom prst="rect">
            <a:avLst/>
          </a:prstGeom>
          <a:noFill/>
          <a:ln w="9525">
            <a:noFill/>
            <a:miter lim="800000"/>
            <a:headEnd/>
            <a:tailEnd/>
          </a:ln>
        </p:spPr>
      </p:pic>
      <p:sp>
        <p:nvSpPr>
          <p:cNvPr id="7" name="Rectangle 5"/>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54276" name="Picture 4"/>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3035031" y="1935803"/>
            <a:ext cx="1983232" cy="340469"/>
          </a:xfrm>
          <a:prstGeom prst="rect">
            <a:avLst/>
          </a:prstGeom>
          <a:noFill/>
        </p:spPr>
      </p:pic>
      <p:sp>
        <p:nvSpPr>
          <p:cNvPr id="8" name="Rectangle 6"/>
          <p:cNvSpPr>
            <a:spLocks noChangeArrowheads="1"/>
          </p:cNvSpPr>
          <p:nvPr/>
        </p:nvSpPr>
        <p:spPr bwMode="auto">
          <a:xfrm>
            <a:off x="0" y="7112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54280" name="Rectangle 8"/>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54279" name="Picture 7"/>
          <p:cNvPicPr>
            <a:picLocks noChangeAspect="1" noChangeArrowheads="1"/>
          </p:cNvPicPr>
          <p:nvPr/>
        </p:nvPicPr>
        <p:blipFill>
          <a:blip r:embed="rId4" cstate="print">
            <a:clrChange>
              <a:clrFrom>
                <a:srgbClr val="FFFFFF"/>
              </a:clrFrom>
              <a:clrTo>
                <a:srgbClr val="FFFFFF">
                  <a:alpha val="0"/>
                </a:srgbClr>
              </a:clrTo>
            </a:clrChange>
          </a:blip>
          <a:srcRect/>
          <a:stretch>
            <a:fillRect/>
          </a:stretch>
        </p:blipFill>
        <p:spPr bwMode="auto">
          <a:xfrm>
            <a:off x="4348263" y="3861879"/>
            <a:ext cx="1154058" cy="350197"/>
          </a:xfrm>
          <a:prstGeom prst="rect">
            <a:avLst/>
          </a:prstGeom>
          <a:noFill/>
        </p:spPr>
      </p:pic>
      <p:sp>
        <p:nvSpPr>
          <p:cNvPr id="54281" name="Rectangle 9"/>
          <p:cNvSpPr>
            <a:spLocks noChangeArrowheads="1"/>
          </p:cNvSpPr>
          <p:nvPr/>
        </p:nvSpPr>
        <p:spPr bwMode="auto">
          <a:xfrm>
            <a:off x="0" y="7366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54283" name="Rectangle 11"/>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4284" name="Rectangle 12"/>
          <p:cNvSpPr>
            <a:spLocks noChangeArrowheads="1"/>
          </p:cNvSpPr>
          <p:nvPr/>
        </p:nvSpPr>
        <p:spPr bwMode="auto">
          <a:xfrm>
            <a:off x="0" y="10287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54286" name="Rectangle 14"/>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54285" name="Picture 13"/>
          <p:cNvPicPr>
            <a:picLocks noChangeAspect="1" noChangeArrowheads="1"/>
          </p:cNvPicPr>
          <p:nvPr/>
        </p:nvPicPr>
        <p:blipFill>
          <a:blip r:embed="rId5" cstate="print">
            <a:clrChange>
              <a:clrFrom>
                <a:srgbClr val="FFFFFF"/>
              </a:clrFrom>
              <a:clrTo>
                <a:srgbClr val="FFFFFF">
                  <a:alpha val="0"/>
                </a:srgbClr>
              </a:clrTo>
            </a:clrChange>
          </a:blip>
          <a:srcRect/>
          <a:stretch>
            <a:fillRect/>
          </a:stretch>
        </p:blipFill>
        <p:spPr bwMode="auto">
          <a:xfrm>
            <a:off x="3492229" y="4659549"/>
            <a:ext cx="3281466" cy="642026"/>
          </a:xfrm>
          <a:prstGeom prst="rect">
            <a:avLst/>
          </a:prstGeom>
          <a:noFill/>
        </p:spPr>
      </p:pic>
      <p:sp>
        <p:nvSpPr>
          <p:cNvPr id="54287" name="Rectangle 15"/>
          <p:cNvSpPr>
            <a:spLocks noChangeArrowheads="1"/>
          </p:cNvSpPr>
          <p:nvPr/>
        </p:nvSpPr>
        <p:spPr bwMode="auto">
          <a:xfrm>
            <a:off x="0" y="10287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53703" y="624110"/>
            <a:ext cx="9850910" cy="1280890"/>
          </a:xfrm>
        </p:spPr>
        <p:txBody>
          <a:bodyPr>
            <a:normAutofit/>
          </a:bodyPr>
          <a:lstStyle/>
          <a:p>
            <a:r>
              <a:rPr lang="en-US" sz="3200" b="1" dirty="0"/>
              <a:t>Continue……</a:t>
            </a:r>
            <a:endParaRPr lang="en-US" sz="3200" b="1" baseline="-25000" dirty="0">
              <a:latin typeface="Arial" pitchFamily="34" charset="0"/>
              <a:cs typeface="Arial" pitchFamily="34" charset="0"/>
            </a:endParaRPr>
          </a:p>
        </p:txBody>
      </p:sp>
      <p:sp>
        <p:nvSpPr>
          <p:cNvPr id="3" name="Content Placeholder 2"/>
          <p:cNvSpPr>
            <a:spLocks noGrp="1"/>
          </p:cNvSpPr>
          <p:nvPr>
            <p:ph idx="1"/>
          </p:nvPr>
        </p:nvSpPr>
        <p:spPr>
          <a:xfrm>
            <a:off x="447472" y="1313234"/>
            <a:ext cx="11478639" cy="4776281"/>
          </a:xfrm>
        </p:spPr>
        <p:txBody>
          <a:bodyPr>
            <a:normAutofit/>
          </a:bodyPr>
          <a:lstStyle/>
          <a:p>
            <a:pPr>
              <a:spcBef>
                <a:spcPts val="0"/>
              </a:spcBef>
            </a:pPr>
            <a:r>
              <a:rPr lang="en-US" dirty="0">
                <a:latin typeface="Arial" pitchFamily="34" charset="0"/>
                <a:cs typeface="Arial" pitchFamily="34" charset="0"/>
              </a:rPr>
              <a:t>Let us consider the circuit. The goal is to minimize the</a:t>
            </a:r>
          </a:p>
          <a:p>
            <a:pPr>
              <a:spcBef>
                <a:spcPts val="0"/>
              </a:spcBef>
            </a:pPr>
            <a:r>
              <a:rPr lang="en-US" dirty="0">
                <a:latin typeface="Arial" pitchFamily="34" charset="0"/>
                <a:cs typeface="Arial" pitchFamily="34" charset="0"/>
              </a:rPr>
              <a:t> delay through the inverter chain, with the input capacitance</a:t>
            </a:r>
          </a:p>
          <a:p>
            <a:pPr>
              <a:spcBef>
                <a:spcPts val="0"/>
              </a:spcBef>
            </a:pPr>
            <a:r>
              <a:rPr lang="en-US" dirty="0">
                <a:latin typeface="Arial" pitchFamily="34" charset="0"/>
                <a:cs typeface="Arial" pitchFamily="34" charset="0"/>
              </a:rPr>
              <a:t> of the first inverter </a:t>
            </a:r>
            <a:r>
              <a:rPr lang="en-US" b="1" dirty="0">
                <a:latin typeface="Arial" pitchFamily="34" charset="0"/>
                <a:cs typeface="Arial" pitchFamily="34" charset="0"/>
              </a:rPr>
              <a:t>C</a:t>
            </a:r>
            <a:r>
              <a:rPr lang="en-US" b="1" baseline="-25000" dirty="0">
                <a:latin typeface="Arial" pitchFamily="34" charset="0"/>
                <a:cs typeface="Arial" pitchFamily="34" charset="0"/>
              </a:rPr>
              <a:t>g1</a:t>
            </a:r>
            <a:r>
              <a:rPr lang="en-US" dirty="0">
                <a:latin typeface="Arial" pitchFamily="34" charset="0"/>
                <a:cs typeface="Arial" pitchFamily="34" charset="0"/>
              </a:rPr>
              <a:t> typically </a:t>
            </a:r>
            <a:r>
              <a:rPr lang="en-US" i="1" dirty="0">
                <a:latin typeface="Arial" pitchFamily="34" charset="0"/>
                <a:cs typeface="Arial" pitchFamily="34" charset="0"/>
              </a:rPr>
              <a:t>a </a:t>
            </a:r>
            <a:r>
              <a:rPr lang="en-US" dirty="0">
                <a:latin typeface="Arial" pitchFamily="34" charset="0"/>
                <a:cs typeface="Arial" pitchFamily="34" charset="0"/>
              </a:rPr>
              <a:t>minimally-sized device</a:t>
            </a:r>
          </a:p>
          <a:p>
            <a:pPr>
              <a:spcBef>
                <a:spcPts val="0"/>
              </a:spcBef>
            </a:pPr>
            <a:r>
              <a:rPr lang="en-US" dirty="0">
                <a:latin typeface="Arial" pitchFamily="34" charset="0"/>
                <a:cs typeface="Arial" pitchFamily="34" charset="0"/>
              </a:rPr>
              <a:t> and the load capacitance</a:t>
            </a:r>
            <a:r>
              <a:rPr lang="en-US" b="1" dirty="0">
                <a:latin typeface="Arial" pitchFamily="34" charset="0"/>
                <a:cs typeface="Arial" pitchFamily="34" charset="0"/>
              </a:rPr>
              <a:t> C</a:t>
            </a:r>
            <a:r>
              <a:rPr lang="en-US" b="1" baseline="-25000" dirty="0">
                <a:latin typeface="Arial" pitchFamily="34" charset="0"/>
                <a:cs typeface="Arial" pitchFamily="34" charset="0"/>
              </a:rPr>
              <a:t>L</a:t>
            </a:r>
            <a:r>
              <a:rPr lang="en-US" b="1" dirty="0">
                <a:latin typeface="Arial" pitchFamily="34" charset="0"/>
                <a:cs typeface="Arial" pitchFamily="34" charset="0"/>
              </a:rPr>
              <a:t> </a:t>
            </a:r>
            <a:r>
              <a:rPr lang="en-US" dirty="0">
                <a:latin typeface="Arial" pitchFamily="34" charset="0"/>
                <a:cs typeface="Arial" pitchFamily="34" charset="0"/>
              </a:rPr>
              <a:t>fixed .</a:t>
            </a:r>
            <a:r>
              <a:rPr lang="en-IN" dirty="0">
                <a:latin typeface="Arial" pitchFamily="34" charset="0"/>
                <a:cs typeface="Arial" pitchFamily="34" charset="0"/>
              </a:rPr>
              <a:t>   </a:t>
            </a:r>
          </a:p>
          <a:p>
            <a:pPr>
              <a:spcBef>
                <a:spcPts val="0"/>
              </a:spcBef>
            </a:pPr>
            <a:endParaRPr lang="en-IN" dirty="0">
              <a:latin typeface="Arial" pitchFamily="34" charset="0"/>
              <a:cs typeface="Arial" pitchFamily="34" charset="0"/>
            </a:endParaRPr>
          </a:p>
          <a:p>
            <a:pPr>
              <a:spcBef>
                <a:spcPts val="0"/>
              </a:spcBef>
            </a:pPr>
            <a:r>
              <a:rPr lang="en-US" dirty="0">
                <a:latin typeface="Arial" pitchFamily="34" charset="0"/>
                <a:cs typeface="Arial" pitchFamily="34" charset="0"/>
              </a:rPr>
              <a:t>Given the delay expression for the j-</a:t>
            </a:r>
            <a:r>
              <a:rPr lang="en-US" dirty="0" err="1">
                <a:latin typeface="Arial" pitchFamily="34" charset="0"/>
                <a:cs typeface="Arial" pitchFamily="34" charset="0"/>
              </a:rPr>
              <a:t>th</a:t>
            </a:r>
            <a:r>
              <a:rPr lang="en-US" dirty="0">
                <a:latin typeface="Arial" pitchFamily="34" charset="0"/>
                <a:cs typeface="Arial" pitchFamily="34" charset="0"/>
              </a:rPr>
              <a:t> inverter stage</a:t>
            </a:r>
            <a:r>
              <a:rPr lang="en-IN" dirty="0">
                <a:latin typeface="Arial" pitchFamily="34" charset="0"/>
                <a:cs typeface="Arial" pitchFamily="34" charset="0"/>
              </a:rPr>
              <a:t>    </a:t>
            </a:r>
          </a:p>
          <a:p>
            <a:pPr>
              <a:spcBef>
                <a:spcPts val="0"/>
              </a:spcBef>
            </a:pPr>
            <a:endParaRPr lang="en-IN" dirty="0">
              <a:latin typeface="Arial" pitchFamily="34" charset="0"/>
              <a:cs typeface="Arial" pitchFamily="34" charset="0"/>
            </a:endParaRPr>
          </a:p>
          <a:p>
            <a:pPr>
              <a:spcBef>
                <a:spcPts val="0"/>
              </a:spcBef>
              <a:buNone/>
            </a:pPr>
            <a:r>
              <a:rPr lang="en-IN" dirty="0">
                <a:latin typeface="Arial" pitchFamily="34" charset="0"/>
                <a:cs typeface="Arial" pitchFamily="34" charset="0"/>
              </a:rPr>
              <a:t>                                                                                                         …….(24)  </a:t>
            </a:r>
          </a:p>
          <a:p>
            <a:pPr>
              <a:spcBef>
                <a:spcPts val="0"/>
              </a:spcBef>
              <a:buNone/>
            </a:pPr>
            <a:endParaRPr lang="en-IN" dirty="0">
              <a:latin typeface="Arial" pitchFamily="34" charset="0"/>
              <a:cs typeface="Arial" pitchFamily="34" charset="0"/>
            </a:endParaRPr>
          </a:p>
          <a:p>
            <a:pPr>
              <a:spcBef>
                <a:spcPts val="0"/>
              </a:spcBef>
              <a:buNone/>
            </a:pPr>
            <a:r>
              <a:rPr lang="en-US" dirty="0">
                <a:latin typeface="Arial" pitchFamily="34" charset="0"/>
                <a:cs typeface="Arial" pitchFamily="34" charset="0"/>
              </a:rPr>
              <a:t>we can derive the total delay of the chain</a:t>
            </a:r>
            <a:r>
              <a:rPr lang="en-IN" dirty="0">
                <a:latin typeface="Arial" pitchFamily="34" charset="0"/>
                <a:cs typeface="Arial" pitchFamily="34" charset="0"/>
              </a:rPr>
              <a:t>    </a:t>
            </a:r>
          </a:p>
          <a:p>
            <a:pPr>
              <a:spcBef>
                <a:spcPts val="0"/>
              </a:spcBef>
              <a:buNone/>
            </a:pPr>
            <a:endParaRPr lang="en-IN" dirty="0">
              <a:latin typeface="Arial" pitchFamily="34" charset="0"/>
              <a:cs typeface="Arial" pitchFamily="34" charset="0"/>
            </a:endParaRPr>
          </a:p>
          <a:p>
            <a:pPr>
              <a:spcBef>
                <a:spcPts val="0"/>
              </a:spcBef>
              <a:buNone/>
            </a:pPr>
            <a:r>
              <a:rPr lang="en-IN" dirty="0">
                <a:latin typeface="Arial" pitchFamily="34" charset="0"/>
                <a:cs typeface="Arial" pitchFamily="34" charset="0"/>
              </a:rPr>
              <a:t>                                                                                                                    …….(25)       </a:t>
            </a:r>
          </a:p>
          <a:p>
            <a:pPr>
              <a:spcBef>
                <a:spcPts val="0"/>
              </a:spcBef>
              <a:buNone/>
            </a:pPr>
            <a:endParaRPr lang="en-IN" dirty="0">
              <a:latin typeface="Arial" pitchFamily="34" charset="0"/>
              <a:cs typeface="Arial" pitchFamily="34" charset="0"/>
            </a:endParaRPr>
          </a:p>
          <a:p>
            <a:r>
              <a:rPr lang="en-US" dirty="0">
                <a:latin typeface="Arial" pitchFamily="34" charset="0"/>
                <a:cs typeface="Arial" pitchFamily="34" charset="0"/>
              </a:rPr>
              <a:t>This equation has N-1 unknowns, being C</a:t>
            </a:r>
            <a:r>
              <a:rPr lang="en-US" baseline="-25000" dirty="0">
                <a:latin typeface="Arial" pitchFamily="34" charset="0"/>
                <a:cs typeface="Arial" pitchFamily="34" charset="0"/>
              </a:rPr>
              <a:t>g,2</a:t>
            </a:r>
            <a:r>
              <a:rPr lang="en-US" dirty="0">
                <a:latin typeface="Arial" pitchFamily="34" charset="0"/>
                <a:cs typeface="Arial" pitchFamily="34" charset="0"/>
              </a:rPr>
              <a:t>, C</a:t>
            </a:r>
            <a:r>
              <a:rPr lang="en-US" baseline="-25000" dirty="0">
                <a:latin typeface="Arial" pitchFamily="34" charset="0"/>
                <a:cs typeface="Arial" pitchFamily="34" charset="0"/>
              </a:rPr>
              <a:t>g,3</a:t>
            </a:r>
            <a:r>
              <a:rPr lang="en-US" dirty="0">
                <a:latin typeface="Arial" pitchFamily="34" charset="0"/>
                <a:cs typeface="Arial" pitchFamily="34" charset="0"/>
              </a:rPr>
              <a:t>,…….., </a:t>
            </a:r>
            <a:r>
              <a:rPr lang="en-US" dirty="0" err="1">
                <a:latin typeface="Arial" pitchFamily="34" charset="0"/>
                <a:cs typeface="Arial" pitchFamily="34" charset="0"/>
              </a:rPr>
              <a:t>C</a:t>
            </a:r>
            <a:r>
              <a:rPr lang="en-US" baseline="-25000" dirty="0" err="1">
                <a:latin typeface="Arial" pitchFamily="34" charset="0"/>
                <a:cs typeface="Arial" pitchFamily="34" charset="0"/>
              </a:rPr>
              <a:t>g,N</a:t>
            </a:r>
            <a:r>
              <a:rPr lang="en-US" dirty="0">
                <a:latin typeface="Arial" pitchFamily="34" charset="0"/>
                <a:cs typeface="Arial" pitchFamily="34" charset="0"/>
              </a:rPr>
              <a:t>.</a:t>
            </a:r>
            <a:r>
              <a:rPr lang="en-IN" dirty="0">
                <a:latin typeface="Arial" pitchFamily="34" charset="0"/>
                <a:cs typeface="Arial" pitchFamily="34" charset="0"/>
              </a:rPr>
              <a:t> </a:t>
            </a:r>
            <a:r>
              <a:rPr lang="en-US" dirty="0">
                <a:latin typeface="Arial" pitchFamily="34" charset="0"/>
                <a:cs typeface="Arial" pitchFamily="34" charset="0"/>
              </a:rPr>
              <a:t>The minimum delay can be found by taking N-1 partial derivatives, and equating them to 0</a:t>
            </a:r>
            <a:r>
              <a:rPr lang="en-IN" dirty="0">
                <a:latin typeface="Arial" pitchFamily="34" charset="0"/>
                <a:cs typeface="Arial" pitchFamily="34" charset="0"/>
              </a:rPr>
              <a:t>  or                                                       </a:t>
            </a:r>
          </a:p>
          <a:p>
            <a:pPr>
              <a:spcBef>
                <a:spcPts val="0"/>
              </a:spcBef>
              <a:buNone/>
            </a:pPr>
            <a:endParaRPr lang="en-IN" dirty="0">
              <a:latin typeface="Arial" pitchFamily="34" charset="0"/>
              <a:cs typeface="Arial" pitchFamily="34" charset="0"/>
            </a:endParaRPr>
          </a:p>
          <a:p>
            <a:pPr>
              <a:buNone/>
            </a:pPr>
            <a:endParaRPr lang="en-US" dirty="0">
              <a:latin typeface="Arial" pitchFamily="34" charset="0"/>
              <a:cs typeface="Arial" pitchFamily="34" charset="0"/>
            </a:endParaRPr>
          </a:p>
          <a:p>
            <a:pPr>
              <a:spcBef>
                <a:spcPts val="0"/>
              </a:spcBef>
              <a:buNone/>
            </a:pPr>
            <a:endParaRPr lang="en-IN" dirty="0">
              <a:latin typeface="Arial" pitchFamily="34" charset="0"/>
              <a:cs typeface="Arial" pitchFamily="34" charset="0"/>
            </a:endParaRPr>
          </a:p>
          <a:p>
            <a:pPr>
              <a:spcBef>
                <a:spcPts val="0"/>
              </a:spcBef>
            </a:pPr>
            <a:endParaRPr lang="en-US" dirty="0">
              <a:latin typeface="Arial" pitchFamily="34" charset="0"/>
              <a:cs typeface="Arial" pitchFamily="34" charset="0"/>
            </a:endParaRPr>
          </a:p>
          <a:p>
            <a:pPr>
              <a:spcBef>
                <a:spcPts val="0"/>
              </a:spcBef>
            </a:pPr>
            <a:endParaRPr lang="en-IN" dirty="0">
              <a:latin typeface="Arial" pitchFamily="34" charset="0"/>
              <a:cs typeface="Arial" pitchFamily="34" charset="0"/>
            </a:endParaRPr>
          </a:p>
          <a:p>
            <a:pPr>
              <a:buNone/>
            </a:pPr>
            <a:endParaRPr lang="en-US" dirty="0">
              <a:latin typeface="Arial" pitchFamily="34" charset="0"/>
              <a:cs typeface="Arial" pitchFamily="34" charset="0"/>
            </a:endParaRPr>
          </a:p>
          <a:p>
            <a:endParaRPr lang="en-US" dirty="0">
              <a:latin typeface="Arial" pitchFamily="34" charset="0"/>
              <a:cs typeface="Arial" pitchFamily="34" charset="0"/>
            </a:endParaRPr>
          </a:p>
          <a:p>
            <a:pPr>
              <a:buNone/>
            </a:pPr>
            <a:endParaRPr lang="en-US" dirty="0">
              <a:latin typeface="Arial" pitchFamily="34" charset="0"/>
              <a:cs typeface="Arial" pitchFamily="34" charset="0"/>
            </a:endParaRPr>
          </a:p>
        </p:txBody>
      </p:sp>
      <p:sp>
        <p:nvSpPr>
          <p:cNvPr id="4" name="Footer Placeholder 3"/>
          <p:cNvSpPr>
            <a:spLocks noGrp="1"/>
          </p:cNvSpPr>
          <p:nvPr>
            <p:ph type="ftr" sz="quarter" idx="11"/>
          </p:nvPr>
        </p:nvSpPr>
        <p:spPr>
          <a:xfrm>
            <a:off x="1721796" y="6135808"/>
            <a:ext cx="8487415" cy="365125"/>
          </a:xfrm>
        </p:spPr>
        <p:txBody>
          <a:bodyPr/>
          <a:lstStyle/>
          <a:p>
            <a:r>
              <a:rPr lang="en-IN" sz="1500" dirty="0">
                <a:solidFill>
                  <a:srgbClr val="C00000"/>
                </a:solidFill>
                <a:latin typeface="Arial" panose="020B0604020202020204" pitchFamily="34" charset="0"/>
                <a:cs typeface="Arial" panose="020B0604020202020204" pitchFamily="34" charset="0"/>
              </a:rPr>
              <a:t>Rohit Lorenzo, VIT-AP</a:t>
            </a:r>
          </a:p>
        </p:txBody>
      </p:sp>
      <p:sp>
        <p:nvSpPr>
          <p:cNvPr id="3074"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75" name="Rectangle 3"/>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5"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 name="Rectangle 3"/>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077" name="Rectangle 5"/>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79" name="Rectangle 7"/>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80" name="Rectangle 8"/>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082" name="Rectangle 10"/>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83" name="Rectangle 11"/>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085" name="Rectangle 13"/>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86" name="Rectangle 14"/>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54277" name="Rectangle 5"/>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4278" name="Rectangle 6"/>
          <p:cNvSpPr>
            <a:spLocks noChangeArrowheads="1"/>
          </p:cNvSpPr>
          <p:nvPr/>
        </p:nvSpPr>
        <p:spPr bwMode="auto">
          <a:xfrm>
            <a:off x="0" y="78105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7" name="Rectangle 5"/>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8" name="Rectangle 6"/>
          <p:cNvSpPr>
            <a:spLocks noChangeArrowheads="1"/>
          </p:cNvSpPr>
          <p:nvPr/>
        </p:nvSpPr>
        <p:spPr bwMode="auto">
          <a:xfrm>
            <a:off x="0" y="7112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54280" name="Rectangle 8"/>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4281" name="Rectangle 9"/>
          <p:cNvSpPr>
            <a:spLocks noChangeArrowheads="1"/>
          </p:cNvSpPr>
          <p:nvPr/>
        </p:nvSpPr>
        <p:spPr bwMode="auto">
          <a:xfrm>
            <a:off x="0" y="7366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54283" name="Rectangle 11"/>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4284" name="Rectangle 12"/>
          <p:cNvSpPr>
            <a:spLocks noChangeArrowheads="1"/>
          </p:cNvSpPr>
          <p:nvPr/>
        </p:nvSpPr>
        <p:spPr bwMode="auto">
          <a:xfrm>
            <a:off x="0" y="10287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54286" name="Rectangle 14"/>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4287" name="Rectangle 15"/>
          <p:cNvSpPr>
            <a:spLocks noChangeArrowheads="1"/>
          </p:cNvSpPr>
          <p:nvPr/>
        </p:nvSpPr>
        <p:spPr bwMode="auto">
          <a:xfrm>
            <a:off x="0" y="10287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pic>
        <p:nvPicPr>
          <p:cNvPr id="77826" name="Picture 2"/>
          <p:cNvPicPr>
            <a:picLocks noChangeAspect="1" noChangeArrowheads="1"/>
          </p:cNvPicPr>
          <p:nvPr/>
        </p:nvPicPr>
        <p:blipFill>
          <a:blip r:embed="rId2" cstate="print"/>
          <a:srcRect/>
          <a:stretch>
            <a:fillRect/>
          </a:stretch>
        </p:blipFill>
        <p:spPr bwMode="auto">
          <a:xfrm>
            <a:off x="7332629" y="1277313"/>
            <a:ext cx="4859371" cy="1040404"/>
          </a:xfrm>
          <a:prstGeom prst="rect">
            <a:avLst/>
          </a:prstGeom>
          <a:noFill/>
          <a:ln w="9525">
            <a:noFill/>
            <a:miter lim="800000"/>
            <a:headEnd/>
            <a:tailEnd/>
          </a:ln>
        </p:spPr>
      </p:pic>
      <p:pic>
        <p:nvPicPr>
          <p:cNvPr id="53250" name="Picture 2"/>
          <p:cNvPicPr>
            <a:picLocks noChangeAspect="1" noChangeArrowheads="1"/>
          </p:cNvPicPr>
          <p:nvPr/>
        </p:nvPicPr>
        <p:blipFill>
          <a:blip r:embed="rId3" cstate="print"/>
          <a:srcRect/>
          <a:stretch>
            <a:fillRect/>
          </a:stretch>
        </p:blipFill>
        <p:spPr bwMode="auto">
          <a:xfrm>
            <a:off x="2902691" y="3044860"/>
            <a:ext cx="4025873" cy="710017"/>
          </a:xfrm>
          <a:prstGeom prst="rect">
            <a:avLst/>
          </a:prstGeom>
          <a:noFill/>
          <a:ln w="9525">
            <a:noFill/>
            <a:miter lim="800000"/>
            <a:headEnd/>
            <a:tailEnd/>
          </a:ln>
        </p:spPr>
      </p:pic>
      <p:pic>
        <p:nvPicPr>
          <p:cNvPr id="53251" name="Picture 3"/>
          <p:cNvPicPr>
            <a:picLocks noChangeAspect="1" noChangeArrowheads="1"/>
          </p:cNvPicPr>
          <p:nvPr/>
        </p:nvPicPr>
        <p:blipFill>
          <a:blip r:embed="rId4" cstate="print"/>
          <a:srcRect/>
          <a:stretch>
            <a:fillRect/>
          </a:stretch>
        </p:blipFill>
        <p:spPr bwMode="auto">
          <a:xfrm>
            <a:off x="2655652" y="4187201"/>
            <a:ext cx="4958806" cy="812816"/>
          </a:xfrm>
          <a:prstGeom prst="rect">
            <a:avLst/>
          </a:prstGeom>
          <a:noFill/>
          <a:ln w="9525">
            <a:noFill/>
            <a:miter lim="800000"/>
            <a:headEnd/>
            <a:tailEnd/>
          </a:ln>
        </p:spPr>
      </p:pic>
      <p:pic>
        <p:nvPicPr>
          <p:cNvPr id="53252" name="Picture 4"/>
          <p:cNvPicPr>
            <a:picLocks noChangeAspect="1" noChangeArrowheads="1"/>
          </p:cNvPicPr>
          <p:nvPr/>
        </p:nvPicPr>
        <p:blipFill>
          <a:blip r:embed="rId5" cstate="print"/>
          <a:srcRect/>
          <a:stretch>
            <a:fillRect/>
          </a:stretch>
        </p:blipFill>
        <p:spPr bwMode="auto">
          <a:xfrm>
            <a:off x="5706489" y="5369263"/>
            <a:ext cx="1297426" cy="303653"/>
          </a:xfrm>
          <a:prstGeom prst="rect">
            <a:avLst/>
          </a:prstGeom>
          <a:noFill/>
          <a:ln w="9525">
            <a:noFill/>
            <a:miter lim="800000"/>
            <a:headEnd/>
            <a:tailEnd/>
          </a:ln>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53703" y="624110"/>
            <a:ext cx="9850910" cy="1280890"/>
          </a:xfrm>
        </p:spPr>
        <p:txBody>
          <a:bodyPr>
            <a:normAutofit/>
          </a:bodyPr>
          <a:lstStyle/>
          <a:p>
            <a:r>
              <a:rPr lang="en-US" sz="3200" b="1" dirty="0"/>
              <a:t>Continue……</a:t>
            </a:r>
            <a:endParaRPr lang="en-US" sz="3200" b="1" baseline="-25000" dirty="0">
              <a:latin typeface="Arial" pitchFamily="34" charset="0"/>
              <a:cs typeface="Arial" pitchFamily="34" charset="0"/>
            </a:endParaRPr>
          </a:p>
        </p:txBody>
      </p:sp>
      <p:sp>
        <p:nvSpPr>
          <p:cNvPr id="3" name="Content Placeholder 2"/>
          <p:cNvSpPr>
            <a:spLocks noGrp="1"/>
          </p:cNvSpPr>
          <p:nvPr>
            <p:ph idx="1"/>
          </p:nvPr>
        </p:nvSpPr>
        <p:spPr>
          <a:xfrm>
            <a:off x="447472" y="1313234"/>
            <a:ext cx="11478639" cy="4776281"/>
          </a:xfrm>
        </p:spPr>
        <p:txBody>
          <a:bodyPr>
            <a:normAutofit/>
          </a:bodyPr>
          <a:lstStyle/>
          <a:p>
            <a:r>
              <a:rPr lang="en-US" dirty="0">
                <a:latin typeface="Arial" pitchFamily="34" charset="0"/>
                <a:cs typeface="Arial" pitchFamily="34" charset="0"/>
              </a:rPr>
              <a:t>In other words, the optimum size of each inverter is the geometric mean of its neighbors sizes</a:t>
            </a:r>
            <a:endParaRPr lang="en-IN" dirty="0">
              <a:latin typeface="Arial" pitchFamily="34" charset="0"/>
              <a:cs typeface="Arial" pitchFamily="34" charset="0"/>
            </a:endParaRPr>
          </a:p>
          <a:p>
            <a:pPr>
              <a:spcBef>
                <a:spcPts val="0"/>
              </a:spcBef>
              <a:buNone/>
            </a:pPr>
            <a:r>
              <a:rPr lang="en-IN" dirty="0">
                <a:latin typeface="Arial" pitchFamily="34" charset="0"/>
                <a:cs typeface="Arial" pitchFamily="34" charset="0"/>
              </a:rPr>
              <a:t>                                                                                                    ……(26) </a:t>
            </a:r>
          </a:p>
          <a:p>
            <a:pPr>
              <a:spcBef>
                <a:spcPts val="0"/>
              </a:spcBef>
              <a:buNone/>
            </a:pPr>
            <a:endParaRPr lang="en-IN" dirty="0">
              <a:latin typeface="Arial" pitchFamily="34" charset="0"/>
              <a:cs typeface="Arial" pitchFamily="34" charset="0"/>
            </a:endParaRPr>
          </a:p>
          <a:p>
            <a:r>
              <a:rPr lang="en-US" dirty="0">
                <a:latin typeface="Arial" pitchFamily="34" charset="0"/>
                <a:cs typeface="Arial" pitchFamily="34" charset="0"/>
              </a:rPr>
              <a:t>With </a:t>
            </a:r>
            <a:r>
              <a:rPr lang="en-US" b="1" dirty="0">
                <a:latin typeface="Arial" pitchFamily="34" charset="0"/>
                <a:cs typeface="Arial" pitchFamily="34" charset="0"/>
              </a:rPr>
              <a:t>C</a:t>
            </a:r>
            <a:r>
              <a:rPr lang="en-US" b="1" baseline="-25000" dirty="0">
                <a:latin typeface="Arial" pitchFamily="34" charset="0"/>
                <a:cs typeface="Arial" pitchFamily="34" charset="0"/>
              </a:rPr>
              <a:t>g</a:t>
            </a:r>
            <a:r>
              <a:rPr lang="en-US" b="1" dirty="0">
                <a:latin typeface="Arial" pitchFamily="34" charset="0"/>
                <a:cs typeface="Arial" pitchFamily="34" charset="0"/>
              </a:rPr>
              <a:t>,</a:t>
            </a:r>
            <a:r>
              <a:rPr lang="en-US" b="1" baseline="-25000" dirty="0">
                <a:latin typeface="Arial" pitchFamily="34" charset="0"/>
                <a:cs typeface="Arial" pitchFamily="34" charset="0"/>
              </a:rPr>
              <a:t>1</a:t>
            </a:r>
            <a:r>
              <a:rPr lang="en-US" dirty="0">
                <a:latin typeface="Arial" pitchFamily="34" charset="0"/>
                <a:cs typeface="Arial" pitchFamily="34" charset="0"/>
              </a:rPr>
              <a:t>  and</a:t>
            </a:r>
            <a:r>
              <a:rPr lang="en-US" b="1" dirty="0">
                <a:latin typeface="Arial" pitchFamily="34" charset="0"/>
                <a:cs typeface="Arial" pitchFamily="34" charset="0"/>
              </a:rPr>
              <a:t> C</a:t>
            </a:r>
            <a:r>
              <a:rPr lang="en-US" b="1" baseline="-25000" dirty="0">
                <a:latin typeface="Arial" pitchFamily="34" charset="0"/>
                <a:cs typeface="Arial" pitchFamily="34" charset="0"/>
              </a:rPr>
              <a:t>L</a:t>
            </a:r>
            <a:r>
              <a:rPr lang="en-US" b="1" dirty="0">
                <a:latin typeface="Arial" pitchFamily="34" charset="0"/>
                <a:cs typeface="Arial" pitchFamily="34" charset="0"/>
              </a:rPr>
              <a:t> </a:t>
            </a:r>
            <a:r>
              <a:rPr lang="en-US" dirty="0">
                <a:latin typeface="Arial" pitchFamily="34" charset="0"/>
                <a:cs typeface="Arial" pitchFamily="34" charset="0"/>
              </a:rPr>
              <a:t>given, we can derive the sizing factor.</a:t>
            </a:r>
          </a:p>
          <a:p>
            <a:pPr>
              <a:buNone/>
            </a:pPr>
            <a:r>
              <a:rPr lang="en-IN" dirty="0">
                <a:latin typeface="Arial" pitchFamily="34" charset="0"/>
                <a:cs typeface="Arial" pitchFamily="34" charset="0"/>
              </a:rPr>
              <a:t>                                                                                                      ……(27)</a:t>
            </a:r>
          </a:p>
          <a:p>
            <a:pPr>
              <a:buNone/>
            </a:pPr>
            <a:r>
              <a:rPr lang="en-US" dirty="0">
                <a:latin typeface="Arial" pitchFamily="34" charset="0"/>
                <a:cs typeface="Arial" pitchFamily="34" charset="0"/>
              </a:rPr>
              <a:t>and the minimum delay through the chain,</a:t>
            </a:r>
          </a:p>
          <a:p>
            <a:pPr>
              <a:buNone/>
            </a:pPr>
            <a:r>
              <a:rPr lang="en-IN" dirty="0">
                <a:latin typeface="Arial" pitchFamily="34" charset="0"/>
                <a:cs typeface="Arial" pitchFamily="34" charset="0"/>
              </a:rPr>
              <a:t>                                                                                                    …..(28)</a:t>
            </a:r>
          </a:p>
          <a:p>
            <a:pPr>
              <a:buNone/>
            </a:pPr>
            <a:r>
              <a:rPr lang="en-US" dirty="0"/>
              <a:t> F represents the overall effective </a:t>
            </a:r>
            <a:r>
              <a:rPr lang="en-US" dirty="0" err="1"/>
              <a:t>fanout</a:t>
            </a:r>
            <a:r>
              <a:rPr lang="en-US" dirty="0"/>
              <a:t> of the circuit</a:t>
            </a:r>
            <a:endParaRPr lang="en-US" dirty="0">
              <a:latin typeface="Arial" pitchFamily="34" charset="0"/>
              <a:cs typeface="Arial" pitchFamily="34" charset="0"/>
            </a:endParaRPr>
          </a:p>
          <a:p>
            <a:pPr>
              <a:spcBef>
                <a:spcPts val="0"/>
              </a:spcBef>
              <a:buNone/>
            </a:pPr>
            <a:endParaRPr lang="en-IN" dirty="0">
              <a:latin typeface="Arial" pitchFamily="34" charset="0"/>
              <a:cs typeface="Arial" pitchFamily="34" charset="0"/>
            </a:endParaRPr>
          </a:p>
          <a:p>
            <a:pPr>
              <a:spcBef>
                <a:spcPts val="0"/>
              </a:spcBef>
            </a:pPr>
            <a:endParaRPr lang="en-US" dirty="0">
              <a:latin typeface="Arial" pitchFamily="34" charset="0"/>
              <a:cs typeface="Arial" pitchFamily="34" charset="0"/>
            </a:endParaRPr>
          </a:p>
          <a:p>
            <a:pPr>
              <a:spcBef>
                <a:spcPts val="0"/>
              </a:spcBef>
            </a:pPr>
            <a:endParaRPr lang="en-IN" dirty="0">
              <a:latin typeface="Arial" pitchFamily="34" charset="0"/>
              <a:cs typeface="Arial" pitchFamily="34" charset="0"/>
            </a:endParaRPr>
          </a:p>
          <a:p>
            <a:pPr>
              <a:buNone/>
            </a:pPr>
            <a:endParaRPr lang="en-US" dirty="0">
              <a:latin typeface="Arial" pitchFamily="34" charset="0"/>
              <a:cs typeface="Arial" pitchFamily="34" charset="0"/>
            </a:endParaRPr>
          </a:p>
          <a:p>
            <a:endParaRPr lang="en-US" dirty="0">
              <a:latin typeface="Arial" pitchFamily="34" charset="0"/>
              <a:cs typeface="Arial" pitchFamily="34" charset="0"/>
            </a:endParaRPr>
          </a:p>
          <a:p>
            <a:pPr>
              <a:buNone/>
            </a:pPr>
            <a:endParaRPr lang="en-US" dirty="0">
              <a:latin typeface="Arial" pitchFamily="34" charset="0"/>
              <a:cs typeface="Arial" pitchFamily="34" charset="0"/>
            </a:endParaRPr>
          </a:p>
        </p:txBody>
      </p:sp>
      <p:sp>
        <p:nvSpPr>
          <p:cNvPr id="4" name="Footer Placeholder 3"/>
          <p:cNvSpPr>
            <a:spLocks noGrp="1"/>
          </p:cNvSpPr>
          <p:nvPr>
            <p:ph type="ftr" sz="quarter" idx="11"/>
          </p:nvPr>
        </p:nvSpPr>
        <p:spPr>
          <a:xfrm>
            <a:off x="1721796" y="6135808"/>
            <a:ext cx="8487415" cy="365125"/>
          </a:xfrm>
        </p:spPr>
        <p:txBody>
          <a:bodyPr/>
          <a:lstStyle/>
          <a:p>
            <a:r>
              <a:rPr lang="en-IN" sz="1500" dirty="0">
                <a:solidFill>
                  <a:srgbClr val="C00000"/>
                </a:solidFill>
                <a:latin typeface="Arial" panose="020B0604020202020204" pitchFamily="34" charset="0"/>
                <a:cs typeface="Arial" panose="020B0604020202020204" pitchFamily="34" charset="0"/>
              </a:rPr>
              <a:t>Rohit Lorenzo, VIT-AP</a:t>
            </a:r>
          </a:p>
        </p:txBody>
      </p:sp>
      <p:sp>
        <p:nvSpPr>
          <p:cNvPr id="3074"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75" name="Rectangle 3"/>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5"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 name="Rectangle 3"/>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077" name="Rectangle 5"/>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79" name="Rectangle 7"/>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80" name="Rectangle 8"/>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082" name="Rectangle 10"/>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83" name="Rectangle 11"/>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085" name="Rectangle 13"/>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86" name="Rectangle 14"/>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54277" name="Rectangle 5"/>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4278" name="Rectangle 6"/>
          <p:cNvSpPr>
            <a:spLocks noChangeArrowheads="1"/>
          </p:cNvSpPr>
          <p:nvPr/>
        </p:nvSpPr>
        <p:spPr bwMode="auto">
          <a:xfrm>
            <a:off x="0" y="78105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7" name="Rectangle 5"/>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8" name="Rectangle 6"/>
          <p:cNvSpPr>
            <a:spLocks noChangeArrowheads="1"/>
          </p:cNvSpPr>
          <p:nvPr/>
        </p:nvSpPr>
        <p:spPr bwMode="auto">
          <a:xfrm>
            <a:off x="0" y="7112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54280" name="Rectangle 8"/>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4281" name="Rectangle 9"/>
          <p:cNvSpPr>
            <a:spLocks noChangeArrowheads="1"/>
          </p:cNvSpPr>
          <p:nvPr/>
        </p:nvSpPr>
        <p:spPr bwMode="auto">
          <a:xfrm>
            <a:off x="0" y="7366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54283" name="Rectangle 11"/>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4284" name="Rectangle 12"/>
          <p:cNvSpPr>
            <a:spLocks noChangeArrowheads="1"/>
          </p:cNvSpPr>
          <p:nvPr/>
        </p:nvSpPr>
        <p:spPr bwMode="auto">
          <a:xfrm>
            <a:off x="0" y="10287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54286" name="Rectangle 14"/>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4287" name="Rectangle 15"/>
          <p:cNvSpPr>
            <a:spLocks noChangeArrowheads="1"/>
          </p:cNvSpPr>
          <p:nvPr/>
        </p:nvSpPr>
        <p:spPr bwMode="auto">
          <a:xfrm>
            <a:off x="0" y="10287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pic>
        <p:nvPicPr>
          <p:cNvPr id="54274" name="Picture 2"/>
          <p:cNvPicPr>
            <a:picLocks noChangeAspect="1" noChangeArrowheads="1"/>
          </p:cNvPicPr>
          <p:nvPr/>
        </p:nvPicPr>
        <p:blipFill>
          <a:blip r:embed="rId2" cstate="print"/>
          <a:srcRect/>
          <a:stretch>
            <a:fillRect/>
          </a:stretch>
        </p:blipFill>
        <p:spPr bwMode="auto">
          <a:xfrm>
            <a:off x="3721135" y="1654715"/>
            <a:ext cx="2572661" cy="450379"/>
          </a:xfrm>
          <a:prstGeom prst="rect">
            <a:avLst/>
          </a:prstGeom>
          <a:noFill/>
          <a:ln w="9525">
            <a:noFill/>
            <a:miter lim="800000"/>
            <a:headEnd/>
            <a:tailEnd/>
          </a:ln>
        </p:spPr>
      </p:pic>
      <p:pic>
        <p:nvPicPr>
          <p:cNvPr id="54275" name="Picture 3"/>
          <p:cNvPicPr>
            <a:picLocks noChangeAspect="1" noChangeArrowheads="1"/>
          </p:cNvPicPr>
          <p:nvPr/>
        </p:nvPicPr>
        <p:blipFill>
          <a:blip r:embed="rId3" cstate="print"/>
          <a:srcRect/>
          <a:stretch>
            <a:fillRect/>
          </a:stretch>
        </p:blipFill>
        <p:spPr bwMode="auto">
          <a:xfrm>
            <a:off x="3658410" y="2651092"/>
            <a:ext cx="2586747" cy="402208"/>
          </a:xfrm>
          <a:prstGeom prst="rect">
            <a:avLst/>
          </a:prstGeom>
          <a:noFill/>
          <a:ln w="9525">
            <a:noFill/>
            <a:miter lim="800000"/>
            <a:headEnd/>
            <a:tailEnd/>
          </a:ln>
        </p:spPr>
      </p:pic>
      <p:pic>
        <p:nvPicPr>
          <p:cNvPr id="54276" name="Picture 4"/>
          <p:cNvPicPr>
            <a:picLocks noChangeAspect="1" noChangeArrowheads="1"/>
          </p:cNvPicPr>
          <p:nvPr/>
        </p:nvPicPr>
        <p:blipFill>
          <a:blip r:embed="rId4" cstate="print"/>
          <a:srcRect/>
          <a:stretch>
            <a:fillRect/>
          </a:stretch>
        </p:blipFill>
        <p:spPr bwMode="auto">
          <a:xfrm>
            <a:off x="3823375" y="3415220"/>
            <a:ext cx="2587153" cy="447162"/>
          </a:xfrm>
          <a:prstGeom prst="rect">
            <a:avLst/>
          </a:prstGeom>
          <a:noFill/>
          <a:ln w="9525">
            <a:noFill/>
            <a:miter lim="800000"/>
            <a:headEnd/>
            <a:tailEnd/>
          </a:ln>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53703" y="624110"/>
            <a:ext cx="9850910" cy="1280890"/>
          </a:xfrm>
        </p:spPr>
        <p:txBody>
          <a:bodyPr>
            <a:normAutofit/>
          </a:bodyPr>
          <a:lstStyle/>
          <a:p>
            <a:r>
              <a:rPr lang="en-US" sz="2500" b="1" dirty="0"/>
              <a:t>Choosing the Right Number of Stages in an Inverter Chain</a:t>
            </a:r>
            <a:endParaRPr lang="en-US" sz="2500" b="1" baseline="-25000" dirty="0">
              <a:latin typeface="Arial" pitchFamily="34" charset="0"/>
              <a:cs typeface="Arial" pitchFamily="34" charset="0"/>
            </a:endParaRPr>
          </a:p>
        </p:txBody>
      </p:sp>
      <p:sp>
        <p:nvSpPr>
          <p:cNvPr id="3" name="Content Placeholder 2"/>
          <p:cNvSpPr>
            <a:spLocks noGrp="1"/>
          </p:cNvSpPr>
          <p:nvPr>
            <p:ph idx="1"/>
          </p:nvPr>
        </p:nvSpPr>
        <p:spPr>
          <a:xfrm>
            <a:off x="447472" y="1313234"/>
            <a:ext cx="11478639" cy="4776281"/>
          </a:xfrm>
        </p:spPr>
        <p:txBody>
          <a:bodyPr>
            <a:normAutofit/>
          </a:bodyPr>
          <a:lstStyle/>
          <a:p>
            <a:r>
              <a:rPr lang="en-US" dirty="0">
                <a:latin typeface="Arial" pitchFamily="34" charset="0"/>
                <a:cs typeface="Arial" pitchFamily="34" charset="0"/>
              </a:rPr>
              <a:t>The optimum value can be found by differentiating the minimum delay expression by the number of stages, and setting the result to 0.</a:t>
            </a:r>
          </a:p>
          <a:p>
            <a:pPr>
              <a:buNone/>
            </a:pPr>
            <a:r>
              <a:rPr lang="en-IN" dirty="0">
                <a:latin typeface="Arial" pitchFamily="34" charset="0"/>
                <a:cs typeface="Arial" pitchFamily="34" charset="0"/>
              </a:rPr>
              <a:t>                                                                                                       ……. (29)</a:t>
            </a:r>
          </a:p>
          <a:p>
            <a:pPr>
              <a:buNone/>
            </a:pPr>
            <a:r>
              <a:rPr lang="en-US" dirty="0"/>
              <a:t>                       </a:t>
            </a:r>
          </a:p>
          <a:p>
            <a:pPr>
              <a:buNone/>
            </a:pPr>
            <a:r>
              <a:rPr lang="en-US" dirty="0"/>
              <a:t>                                               </a:t>
            </a:r>
            <a:r>
              <a:rPr lang="en-US" dirty="0">
                <a:latin typeface="Arial" pitchFamily="34" charset="0"/>
                <a:cs typeface="Arial" pitchFamily="34" charset="0"/>
              </a:rPr>
              <a:t>or equivalently                                  …….. (30)</a:t>
            </a:r>
          </a:p>
          <a:p>
            <a:r>
              <a:rPr lang="en-US" dirty="0">
                <a:latin typeface="Arial" pitchFamily="34" charset="0"/>
                <a:cs typeface="Arial" pitchFamily="34" charset="0"/>
              </a:rPr>
              <a:t>This equation only has a closed-form solution for </a:t>
            </a:r>
            <a:r>
              <a:rPr lang="en-US" dirty="0">
                <a:latin typeface="Arial" pitchFamily="34" charset="0"/>
                <a:ea typeface="Cambria Math"/>
                <a:cs typeface="Arial" pitchFamily="34" charset="0"/>
              </a:rPr>
              <a:t>𝛾</a:t>
            </a:r>
            <a:r>
              <a:rPr lang="en-US" dirty="0">
                <a:latin typeface="Arial" pitchFamily="34" charset="0"/>
                <a:cs typeface="Arial" pitchFamily="34" charset="0"/>
              </a:rPr>
              <a:t> = 0, this is when the self-loading is ignored and the load capacitance only consists of the </a:t>
            </a:r>
            <a:r>
              <a:rPr lang="en-US" dirty="0" err="1">
                <a:latin typeface="Arial" pitchFamily="34" charset="0"/>
                <a:cs typeface="Arial" pitchFamily="34" charset="0"/>
              </a:rPr>
              <a:t>fanout</a:t>
            </a:r>
            <a:r>
              <a:rPr lang="en-US" dirty="0">
                <a:latin typeface="Arial" pitchFamily="34" charset="0"/>
                <a:cs typeface="Arial" pitchFamily="34" charset="0"/>
              </a:rPr>
              <a:t>. A common practice is to select an optimum </a:t>
            </a:r>
            <a:r>
              <a:rPr lang="en-US" dirty="0" err="1">
                <a:latin typeface="Arial" pitchFamily="34" charset="0"/>
                <a:cs typeface="Arial" pitchFamily="34" charset="0"/>
              </a:rPr>
              <a:t>fanout</a:t>
            </a:r>
            <a:r>
              <a:rPr lang="en-US" dirty="0">
                <a:latin typeface="Arial" pitchFamily="34" charset="0"/>
                <a:cs typeface="Arial" pitchFamily="34" charset="0"/>
              </a:rPr>
              <a:t> of 4.</a:t>
            </a:r>
            <a:endParaRPr lang="en-IN" dirty="0">
              <a:latin typeface="Arial" pitchFamily="34" charset="0"/>
              <a:cs typeface="Arial" pitchFamily="34" charset="0"/>
            </a:endParaRPr>
          </a:p>
          <a:p>
            <a:pPr>
              <a:spcBef>
                <a:spcPts val="0"/>
              </a:spcBef>
              <a:buNone/>
            </a:pPr>
            <a:endParaRPr lang="en-IN" dirty="0">
              <a:latin typeface="Arial" pitchFamily="34" charset="0"/>
              <a:cs typeface="Arial" pitchFamily="34" charset="0"/>
            </a:endParaRPr>
          </a:p>
          <a:p>
            <a:pPr>
              <a:spcBef>
                <a:spcPts val="0"/>
              </a:spcBef>
            </a:pPr>
            <a:endParaRPr lang="en-US" dirty="0">
              <a:latin typeface="Arial" pitchFamily="34" charset="0"/>
              <a:cs typeface="Arial" pitchFamily="34" charset="0"/>
            </a:endParaRPr>
          </a:p>
          <a:p>
            <a:pPr>
              <a:spcBef>
                <a:spcPts val="0"/>
              </a:spcBef>
            </a:pPr>
            <a:endParaRPr lang="en-IN" dirty="0">
              <a:latin typeface="Arial" pitchFamily="34" charset="0"/>
              <a:cs typeface="Arial" pitchFamily="34" charset="0"/>
            </a:endParaRPr>
          </a:p>
          <a:p>
            <a:pPr>
              <a:buNone/>
            </a:pPr>
            <a:endParaRPr lang="en-US" dirty="0">
              <a:latin typeface="Arial" pitchFamily="34" charset="0"/>
              <a:cs typeface="Arial" pitchFamily="34" charset="0"/>
            </a:endParaRPr>
          </a:p>
          <a:p>
            <a:endParaRPr lang="en-US" dirty="0">
              <a:latin typeface="Arial" pitchFamily="34" charset="0"/>
              <a:cs typeface="Arial" pitchFamily="34" charset="0"/>
            </a:endParaRPr>
          </a:p>
          <a:p>
            <a:pPr>
              <a:buNone/>
            </a:pPr>
            <a:endParaRPr lang="en-US" dirty="0">
              <a:latin typeface="Arial" pitchFamily="34" charset="0"/>
              <a:cs typeface="Arial" pitchFamily="34" charset="0"/>
            </a:endParaRPr>
          </a:p>
        </p:txBody>
      </p:sp>
      <p:sp>
        <p:nvSpPr>
          <p:cNvPr id="4" name="Footer Placeholder 3"/>
          <p:cNvSpPr>
            <a:spLocks noGrp="1"/>
          </p:cNvSpPr>
          <p:nvPr>
            <p:ph type="ftr" sz="quarter" idx="11"/>
          </p:nvPr>
        </p:nvSpPr>
        <p:spPr>
          <a:xfrm>
            <a:off x="1721796" y="6135808"/>
            <a:ext cx="8487415" cy="365125"/>
          </a:xfrm>
        </p:spPr>
        <p:txBody>
          <a:bodyPr/>
          <a:lstStyle/>
          <a:p>
            <a:r>
              <a:rPr lang="en-IN" sz="1500" dirty="0">
                <a:solidFill>
                  <a:srgbClr val="C00000"/>
                </a:solidFill>
                <a:latin typeface="Arial" panose="020B0604020202020204" pitchFamily="34" charset="0"/>
                <a:cs typeface="Arial" panose="020B0604020202020204" pitchFamily="34" charset="0"/>
              </a:rPr>
              <a:t>Rohit Lorenzo, VIT-AP</a:t>
            </a:r>
          </a:p>
        </p:txBody>
      </p:sp>
      <p:sp>
        <p:nvSpPr>
          <p:cNvPr id="3074"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75" name="Rectangle 3"/>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5"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 name="Rectangle 3"/>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077" name="Rectangle 5"/>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79" name="Rectangle 7"/>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80" name="Rectangle 8"/>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082" name="Rectangle 10"/>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83" name="Rectangle 11"/>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085" name="Rectangle 13"/>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86" name="Rectangle 14"/>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54277" name="Rectangle 5"/>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4278" name="Rectangle 6"/>
          <p:cNvSpPr>
            <a:spLocks noChangeArrowheads="1"/>
          </p:cNvSpPr>
          <p:nvPr/>
        </p:nvSpPr>
        <p:spPr bwMode="auto">
          <a:xfrm>
            <a:off x="0" y="78105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7" name="Rectangle 5"/>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8" name="Rectangle 6"/>
          <p:cNvSpPr>
            <a:spLocks noChangeArrowheads="1"/>
          </p:cNvSpPr>
          <p:nvPr/>
        </p:nvSpPr>
        <p:spPr bwMode="auto">
          <a:xfrm>
            <a:off x="0" y="7112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54280" name="Rectangle 8"/>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4281" name="Rectangle 9"/>
          <p:cNvSpPr>
            <a:spLocks noChangeArrowheads="1"/>
          </p:cNvSpPr>
          <p:nvPr/>
        </p:nvSpPr>
        <p:spPr bwMode="auto">
          <a:xfrm>
            <a:off x="0" y="7366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54283" name="Rectangle 11"/>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4284" name="Rectangle 12"/>
          <p:cNvSpPr>
            <a:spLocks noChangeArrowheads="1"/>
          </p:cNvSpPr>
          <p:nvPr/>
        </p:nvSpPr>
        <p:spPr bwMode="auto">
          <a:xfrm>
            <a:off x="0" y="10287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54286" name="Rectangle 14"/>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4287" name="Rectangle 15"/>
          <p:cNvSpPr>
            <a:spLocks noChangeArrowheads="1"/>
          </p:cNvSpPr>
          <p:nvPr/>
        </p:nvSpPr>
        <p:spPr bwMode="auto">
          <a:xfrm>
            <a:off x="0" y="10287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pic>
        <p:nvPicPr>
          <p:cNvPr id="55298" name="Picture 2"/>
          <p:cNvPicPr>
            <a:picLocks noChangeAspect="1" noChangeArrowheads="1"/>
          </p:cNvPicPr>
          <p:nvPr/>
        </p:nvPicPr>
        <p:blipFill>
          <a:blip r:embed="rId2" cstate="print"/>
          <a:srcRect/>
          <a:stretch>
            <a:fillRect/>
          </a:stretch>
        </p:blipFill>
        <p:spPr bwMode="auto">
          <a:xfrm>
            <a:off x="3634397" y="1832650"/>
            <a:ext cx="2552396" cy="663160"/>
          </a:xfrm>
          <a:prstGeom prst="rect">
            <a:avLst/>
          </a:prstGeom>
          <a:noFill/>
          <a:ln w="9525">
            <a:noFill/>
            <a:miter lim="800000"/>
            <a:headEnd/>
            <a:tailEnd/>
          </a:ln>
        </p:spPr>
      </p:pic>
      <p:pic>
        <p:nvPicPr>
          <p:cNvPr id="55299" name="Picture 3"/>
          <p:cNvPicPr>
            <a:picLocks noChangeAspect="1" noChangeArrowheads="1"/>
          </p:cNvPicPr>
          <p:nvPr/>
        </p:nvPicPr>
        <p:blipFill>
          <a:blip r:embed="rId3" cstate="print"/>
          <a:srcRect/>
          <a:stretch>
            <a:fillRect/>
          </a:stretch>
        </p:blipFill>
        <p:spPr bwMode="auto">
          <a:xfrm>
            <a:off x="5258611" y="2626469"/>
            <a:ext cx="1581459" cy="429744"/>
          </a:xfrm>
          <a:prstGeom prst="rect">
            <a:avLst/>
          </a:prstGeom>
          <a:noFill/>
          <a:ln w="9525">
            <a:noFill/>
            <a:miter lim="800000"/>
            <a:headEnd/>
            <a:tailEnd/>
          </a:ln>
        </p:spPr>
      </p:pic>
      <p:pic>
        <p:nvPicPr>
          <p:cNvPr id="55300" name="Picture 4"/>
          <p:cNvPicPr>
            <a:picLocks noChangeAspect="1" noChangeArrowheads="1"/>
          </p:cNvPicPr>
          <p:nvPr/>
        </p:nvPicPr>
        <p:blipFill>
          <a:blip r:embed="rId4" cstate="print"/>
          <a:srcRect/>
          <a:stretch>
            <a:fillRect/>
          </a:stretch>
        </p:blipFill>
        <p:spPr bwMode="auto">
          <a:xfrm>
            <a:off x="3910519" y="3852153"/>
            <a:ext cx="6601568" cy="3005847"/>
          </a:xfrm>
          <a:prstGeom prst="rect">
            <a:avLst/>
          </a:prstGeom>
          <a:noFill/>
          <a:ln w="9525">
            <a:noFill/>
            <a:miter lim="800000"/>
            <a:headEnd/>
            <a:tailEnd/>
          </a:ln>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FBFE3618-8387-4153-870E-99EA1B9784F5}"/>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86"/>
            <a:ext cx="12192000" cy="68540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EE916DA-5455-4259-B1E8-EE9B8ADD3E66}"/>
              </a:ext>
            </a:extLst>
          </p:cNvPr>
          <p:cNvSpPr>
            <a:spLocks noGrp="1"/>
          </p:cNvSpPr>
          <p:nvPr>
            <p:ph type="title"/>
          </p:nvPr>
        </p:nvSpPr>
        <p:spPr>
          <a:xfrm>
            <a:off x="649224" y="645106"/>
            <a:ext cx="3650279" cy="1259894"/>
          </a:xfrm>
        </p:spPr>
        <p:txBody>
          <a:bodyPr>
            <a:normAutofit/>
          </a:bodyPr>
          <a:lstStyle/>
          <a:p>
            <a:r>
              <a:rPr lang="en-IN" dirty="0"/>
              <a:t>Problem </a:t>
            </a:r>
          </a:p>
        </p:txBody>
      </p:sp>
      <p:sp>
        <p:nvSpPr>
          <p:cNvPr id="12" name="Rectangle 11">
            <a:extLst>
              <a:ext uri="{FF2B5EF4-FFF2-40B4-BE49-F238E27FC236}">
                <a16:creationId xmlns:a16="http://schemas.microsoft.com/office/drawing/2014/main" id="{BB99A42A-5548-4BB8-9115-A05821C360A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3" name="Content Placeholder 2">
            <a:extLst>
              <a:ext uri="{FF2B5EF4-FFF2-40B4-BE49-F238E27FC236}">
                <a16:creationId xmlns:a16="http://schemas.microsoft.com/office/drawing/2014/main" id="{E3F133D0-8B6D-43C0-B7EB-35B29507DB9B}"/>
              </a:ext>
            </a:extLst>
          </p:cNvPr>
          <p:cNvSpPr>
            <a:spLocks noGrp="1"/>
          </p:cNvSpPr>
          <p:nvPr>
            <p:ph idx="1"/>
          </p:nvPr>
        </p:nvSpPr>
        <p:spPr>
          <a:xfrm>
            <a:off x="649225" y="2133600"/>
            <a:ext cx="3650278" cy="3759253"/>
          </a:xfrm>
        </p:spPr>
        <p:txBody>
          <a:bodyPr>
            <a:normAutofit/>
          </a:bodyPr>
          <a:lstStyle/>
          <a:p>
            <a:pPr algn="just"/>
            <a:r>
              <a:rPr lang="en-US" sz="2000" b="1" dirty="0"/>
              <a:t>Q) </a:t>
            </a:r>
            <a:r>
              <a:rPr lang="en-US" sz="2000" dirty="0">
                <a:latin typeface="Arial" panose="020B0604020202020204" pitchFamily="34" charset="0"/>
                <a:cs typeface="Arial" panose="020B0604020202020204" pitchFamily="34" charset="0"/>
              </a:rPr>
              <a:t>Assume a circuit designed with a chain of inverters as shown in Figure 2. The unloaded delay is 1  and   𝛾 = 1   in each  case of  inverter chain. Evaluate the value of effective fanout  (small f) and  </a:t>
            </a:r>
            <a:r>
              <a:rPr lang="en-US" sz="2000" dirty="0" err="1">
                <a:latin typeface="Arial" panose="020B0604020202020204" pitchFamily="34" charset="0"/>
                <a:cs typeface="Arial" panose="020B0604020202020204" pitchFamily="34" charset="0"/>
              </a:rPr>
              <a:t>tp</a:t>
            </a:r>
            <a:r>
              <a:rPr lang="en-US" sz="2000" dirty="0">
                <a:latin typeface="Arial" panose="020B0604020202020204" pitchFamily="34" charset="0"/>
                <a:cs typeface="Arial" panose="020B0604020202020204" pitchFamily="34" charset="0"/>
              </a:rPr>
              <a:t> for given inverter  chains? </a:t>
            </a:r>
          </a:p>
          <a:p>
            <a:endParaRPr lang="en-IN"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666FB8D7-E15C-4B83-9132-1AB8A0991324}"/>
              </a:ext>
            </a:extLst>
          </p:cNvPr>
          <p:cNvPicPr>
            <a:picLocks noChangeAspect="1"/>
          </p:cNvPicPr>
          <p:nvPr/>
        </p:nvPicPr>
        <p:blipFill>
          <a:blip r:embed="rId2" cstate="print"/>
          <a:stretch>
            <a:fillRect/>
          </a:stretch>
        </p:blipFill>
        <p:spPr bwMode="auto">
          <a:xfrm>
            <a:off x="4832228" y="640080"/>
            <a:ext cx="6528207" cy="5252773"/>
          </a:xfrm>
          <a:prstGeom prst="rect">
            <a:avLst/>
          </a:prstGeom>
          <a:noFill/>
        </p:spPr>
      </p:pic>
      <p:sp>
        <p:nvSpPr>
          <p:cNvPr id="14" name="Freeform 11">
            <a:extLst>
              <a:ext uri="{FF2B5EF4-FFF2-40B4-BE49-F238E27FC236}">
                <a16:creationId xmlns:a16="http://schemas.microsoft.com/office/drawing/2014/main" id="{D49441E5-946F-46B3-BDD2-BAD08853236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061223"/>
            <a:ext cx="1038036" cy="506277"/>
          </a:xfrm>
          <a:custGeom>
            <a:avLst/>
            <a:gdLst>
              <a:gd name="connsiteX0" fmla="*/ 0 w 1038036"/>
              <a:gd name="connsiteY0" fmla="*/ 0 h 506277"/>
              <a:gd name="connsiteX1" fmla="*/ 182880 w 1038036"/>
              <a:gd name="connsiteY1" fmla="*/ 0 h 506277"/>
              <a:gd name="connsiteX2" fmla="*/ 291705 w 1038036"/>
              <a:gd name="connsiteY2" fmla="*/ 0 h 506277"/>
              <a:gd name="connsiteX3" fmla="*/ 291705 w 1038036"/>
              <a:gd name="connsiteY3" fmla="*/ 151 h 506277"/>
              <a:gd name="connsiteX4" fmla="*/ 692049 w 1038036"/>
              <a:gd name="connsiteY4" fmla="*/ 705 h 506277"/>
              <a:gd name="connsiteX5" fmla="*/ 782744 w 1038036"/>
              <a:gd name="connsiteY5" fmla="*/ 705 h 506277"/>
              <a:gd name="connsiteX6" fmla="*/ 797001 w 1038036"/>
              <a:gd name="connsiteY6" fmla="*/ 5473 h 506277"/>
              <a:gd name="connsiteX7" fmla="*/ 801982 w 1038036"/>
              <a:gd name="connsiteY7" fmla="*/ 10242 h 506277"/>
              <a:gd name="connsiteX8" fmla="*/ 1030951 w 1038036"/>
              <a:gd name="connsiteY8" fmla="*/ 239185 h 506277"/>
              <a:gd name="connsiteX9" fmla="*/ 1030951 w 1038036"/>
              <a:gd name="connsiteY9" fmla="*/ 267797 h 506277"/>
              <a:gd name="connsiteX10" fmla="*/ 801982 w 1038036"/>
              <a:gd name="connsiteY10" fmla="*/ 496740 h 506277"/>
              <a:gd name="connsiteX11" fmla="*/ 797001 w 1038036"/>
              <a:gd name="connsiteY11" fmla="*/ 501508 h 506277"/>
              <a:gd name="connsiteX12" fmla="*/ 782744 w 1038036"/>
              <a:gd name="connsiteY12" fmla="*/ 506277 h 506277"/>
              <a:gd name="connsiteX13" fmla="*/ 692049 w 1038036"/>
              <a:gd name="connsiteY13" fmla="*/ 506277 h 506277"/>
              <a:gd name="connsiteX14" fmla="*/ 291705 w 1038036"/>
              <a:gd name="connsiteY14" fmla="*/ 505140 h 506277"/>
              <a:gd name="connsiteX15" fmla="*/ 291705 w 1038036"/>
              <a:gd name="connsiteY15" fmla="*/ 506277 h 506277"/>
              <a:gd name="connsiteX16" fmla="*/ 0 w 1038036"/>
              <a:gd name="connsiteY16" fmla="*/ 506277 h 506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38036" h="506277">
                <a:moveTo>
                  <a:pt x="0" y="0"/>
                </a:moveTo>
                <a:lnTo>
                  <a:pt x="182880" y="0"/>
                </a:lnTo>
                <a:lnTo>
                  <a:pt x="291705" y="0"/>
                </a:lnTo>
                <a:lnTo>
                  <a:pt x="291705" y="151"/>
                </a:lnTo>
                <a:lnTo>
                  <a:pt x="692049" y="705"/>
                </a:lnTo>
                <a:lnTo>
                  <a:pt x="782744" y="705"/>
                </a:lnTo>
                <a:cubicBezTo>
                  <a:pt x="787553" y="705"/>
                  <a:pt x="792363" y="5473"/>
                  <a:pt x="797001" y="5473"/>
                </a:cubicBezTo>
                <a:cubicBezTo>
                  <a:pt x="797001" y="10242"/>
                  <a:pt x="801982" y="10242"/>
                  <a:pt x="801982" y="10242"/>
                </a:cubicBezTo>
                <a:lnTo>
                  <a:pt x="1030951" y="239185"/>
                </a:lnTo>
                <a:cubicBezTo>
                  <a:pt x="1040398" y="248722"/>
                  <a:pt x="1040398" y="258259"/>
                  <a:pt x="1030951" y="267797"/>
                </a:cubicBezTo>
                <a:lnTo>
                  <a:pt x="801982" y="496740"/>
                </a:lnTo>
                <a:cubicBezTo>
                  <a:pt x="800436" y="498363"/>
                  <a:pt x="798547" y="499885"/>
                  <a:pt x="797001" y="501508"/>
                </a:cubicBezTo>
                <a:cubicBezTo>
                  <a:pt x="792363" y="506277"/>
                  <a:pt x="787553" y="506277"/>
                  <a:pt x="782744" y="506277"/>
                </a:cubicBezTo>
                <a:lnTo>
                  <a:pt x="692049" y="506277"/>
                </a:lnTo>
                <a:lnTo>
                  <a:pt x="291705" y="505140"/>
                </a:lnTo>
                <a:lnTo>
                  <a:pt x="291705" y="506277"/>
                </a:lnTo>
                <a:lnTo>
                  <a:pt x="0" y="506277"/>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ooter Placeholder 3">
            <a:extLst>
              <a:ext uri="{FF2B5EF4-FFF2-40B4-BE49-F238E27FC236}">
                <a16:creationId xmlns:a16="http://schemas.microsoft.com/office/drawing/2014/main" id="{4C659C25-AFCE-48AC-965D-A26035A92118}"/>
              </a:ext>
            </a:extLst>
          </p:cNvPr>
          <p:cNvSpPr>
            <a:spLocks noGrp="1"/>
          </p:cNvSpPr>
          <p:nvPr>
            <p:ph type="ftr" sz="quarter" idx="11"/>
          </p:nvPr>
        </p:nvSpPr>
        <p:spPr>
          <a:xfrm>
            <a:off x="1220916" y="6135808"/>
            <a:ext cx="7619999" cy="365125"/>
          </a:xfrm>
        </p:spPr>
        <p:txBody>
          <a:bodyPr>
            <a:normAutofit/>
          </a:bodyPr>
          <a:lstStyle/>
          <a:p>
            <a:pPr>
              <a:spcAft>
                <a:spcPts val="600"/>
              </a:spcAft>
            </a:pPr>
            <a:r>
              <a:rPr lang="en-IN"/>
              <a:t>Rohit Lorenzo , VIT-AP</a:t>
            </a:r>
          </a:p>
        </p:txBody>
      </p:sp>
    </p:spTree>
    <p:extLst>
      <p:ext uri="{BB962C8B-B14F-4D97-AF65-F5344CB8AC3E}">
        <p14:creationId xmlns:p14="http://schemas.microsoft.com/office/powerpoint/2010/main" val="96593326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A02B8E-2DF7-40AD-BAF2-B3B8E88A033F}"/>
              </a:ext>
            </a:extLst>
          </p:cNvPr>
          <p:cNvSpPr>
            <a:spLocks noGrp="1"/>
          </p:cNvSpPr>
          <p:nvPr>
            <p:ph type="title"/>
          </p:nvPr>
        </p:nvSpPr>
        <p:spPr/>
        <p:txBody>
          <a:bodyPr/>
          <a:lstStyle/>
          <a:p>
            <a:r>
              <a:rPr lang="en-IN" dirty="0"/>
              <a:t>Solution</a:t>
            </a:r>
          </a:p>
        </p:txBody>
      </p:sp>
      <p:sp>
        <p:nvSpPr>
          <p:cNvPr id="4" name="Footer Placeholder 3">
            <a:extLst>
              <a:ext uri="{FF2B5EF4-FFF2-40B4-BE49-F238E27FC236}">
                <a16:creationId xmlns:a16="http://schemas.microsoft.com/office/drawing/2014/main" id="{15C41B58-C358-4248-9A44-831A750E0C0A}"/>
              </a:ext>
            </a:extLst>
          </p:cNvPr>
          <p:cNvSpPr>
            <a:spLocks noGrp="1"/>
          </p:cNvSpPr>
          <p:nvPr>
            <p:ph type="ftr" sz="quarter" idx="11"/>
          </p:nvPr>
        </p:nvSpPr>
        <p:spPr/>
        <p:txBody>
          <a:bodyPr/>
          <a:lstStyle/>
          <a:p>
            <a:r>
              <a:rPr lang="en-IN"/>
              <a:t>Rohit Lorenzo , VIT-AP</a:t>
            </a:r>
          </a:p>
        </p:txBody>
      </p:sp>
      <p:pic>
        <p:nvPicPr>
          <p:cNvPr id="5" name="Content Placeholder 4">
            <a:extLst>
              <a:ext uri="{FF2B5EF4-FFF2-40B4-BE49-F238E27FC236}">
                <a16:creationId xmlns:a16="http://schemas.microsoft.com/office/drawing/2014/main" id="{EA1F5292-C553-410E-86FD-ADDAD3E6EB22}"/>
              </a:ext>
            </a:extLst>
          </p:cNvPr>
          <p:cNvPicPr>
            <a:picLocks noGrp="1" noChangeAspect="1"/>
          </p:cNvPicPr>
          <p:nvPr>
            <p:ph idx="1"/>
          </p:nvPr>
        </p:nvPicPr>
        <p:blipFill>
          <a:blip r:embed="rId2" cstate="print"/>
          <a:srcRect/>
          <a:stretch>
            <a:fillRect/>
          </a:stretch>
        </p:blipFill>
        <p:spPr bwMode="auto">
          <a:xfrm>
            <a:off x="3000178" y="1722048"/>
            <a:ext cx="5985559" cy="4511842"/>
          </a:xfrm>
          <a:prstGeom prst="rect">
            <a:avLst/>
          </a:prstGeom>
          <a:noFill/>
          <a:ln w="9525">
            <a:noFill/>
            <a:miter lim="800000"/>
            <a:headEnd/>
            <a:tailEnd/>
          </a:ln>
        </p:spPr>
      </p:pic>
    </p:spTree>
    <p:extLst>
      <p:ext uri="{BB962C8B-B14F-4D97-AF65-F5344CB8AC3E}">
        <p14:creationId xmlns:p14="http://schemas.microsoft.com/office/powerpoint/2010/main" val="122615985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64641" y="624110"/>
            <a:ext cx="9939972" cy="1280890"/>
          </a:xfrm>
        </p:spPr>
        <p:txBody>
          <a:bodyPr/>
          <a:lstStyle/>
          <a:p>
            <a:endParaRPr lang="en-IN" dirty="0">
              <a:solidFill>
                <a:schemeClr val="tx1"/>
              </a:solidFill>
            </a:endParaRPr>
          </a:p>
        </p:txBody>
      </p:sp>
      <p:sp>
        <p:nvSpPr>
          <p:cNvPr id="3" name="Content Placeholder 2"/>
          <p:cNvSpPr>
            <a:spLocks noGrp="1"/>
          </p:cNvSpPr>
          <p:nvPr>
            <p:ph idx="1"/>
          </p:nvPr>
        </p:nvSpPr>
        <p:spPr>
          <a:xfrm>
            <a:off x="1564640" y="2133600"/>
            <a:ext cx="9939972" cy="3777622"/>
          </a:xfrm>
        </p:spPr>
        <p:txBody>
          <a:bodyPr/>
          <a:lstStyle/>
          <a:p>
            <a:endParaRPr lang="en-IN" dirty="0">
              <a:solidFill>
                <a:srgbClr val="FF0000"/>
              </a:solidFill>
            </a:endParaRPr>
          </a:p>
        </p:txBody>
      </p:sp>
      <p:sp>
        <p:nvSpPr>
          <p:cNvPr id="4" name="Rectangle 3"/>
          <p:cNvSpPr/>
          <p:nvPr/>
        </p:nvSpPr>
        <p:spPr>
          <a:xfrm>
            <a:off x="4285251" y="2967335"/>
            <a:ext cx="4999426" cy="1200329"/>
          </a:xfrm>
          <a:prstGeom prst="rect">
            <a:avLst/>
          </a:prstGeom>
          <a:noFill/>
          <a:scene3d>
            <a:camera prst="obliqueBottomLeft"/>
            <a:lightRig rig="threePt" dir="t"/>
          </a:scene3d>
        </p:spPr>
        <p:txBody>
          <a:bodyPr wrap="square" lIns="91440" tIns="45720" rIns="91440" bIns="45720">
            <a:spAutoFit/>
          </a:bodyPr>
          <a:lstStyle/>
          <a:p>
            <a:pPr algn="ctr"/>
            <a:r>
              <a:rPr lang="en-US" sz="72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Thank You</a:t>
            </a:r>
          </a:p>
        </p:txBody>
      </p:sp>
      <p:sp>
        <p:nvSpPr>
          <p:cNvPr id="5" name="Footer Placeholder 4">
            <a:extLst>
              <a:ext uri="{FF2B5EF4-FFF2-40B4-BE49-F238E27FC236}">
                <a16:creationId xmlns:a16="http://schemas.microsoft.com/office/drawing/2014/main" id="{5CB9775A-DA40-435C-881E-2A72176C3810}"/>
              </a:ext>
            </a:extLst>
          </p:cNvPr>
          <p:cNvSpPr>
            <a:spLocks noGrp="1"/>
          </p:cNvSpPr>
          <p:nvPr>
            <p:ph type="ftr" sz="quarter" idx="11"/>
          </p:nvPr>
        </p:nvSpPr>
        <p:spPr/>
        <p:txBody>
          <a:bodyPr/>
          <a:lstStyle/>
          <a:p>
            <a:pPr lvl="0"/>
            <a:r>
              <a:rPr lang="en-IN" sz="1600" dirty="0">
                <a:solidFill>
                  <a:srgbClr val="C00000"/>
                </a:solidFill>
                <a:latin typeface="Arial" panose="020B0604020202020204" pitchFamily="34" charset="0"/>
                <a:cs typeface="Arial" panose="020B0604020202020204" pitchFamily="34" charset="0"/>
              </a:rPr>
              <a:t>Rohit Lorenzo, VIT-AP</a:t>
            </a:r>
          </a:p>
        </p:txBody>
      </p:sp>
    </p:spTree>
    <p:extLst>
      <p:ext uri="{BB962C8B-B14F-4D97-AF65-F5344CB8AC3E}">
        <p14:creationId xmlns:p14="http://schemas.microsoft.com/office/powerpoint/2010/main" val="3660580311"/>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647252"/>
      </a:dk2>
      <a:lt2>
        <a:srgbClr val="EAE8CF"/>
      </a:lt2>
      <a:accent1>
        <a:srgbClr val="E78712"/>
      </a:accent1>
      <a:accent2>
        <a:srgbClr val="B73C26"/>
      </a:accent2>
      <a:accent3>
        <a:srgbClr val="865331"/>
      </a:accent3>
      <a:accent4>
        <a:srgbClr val="B38648"/>
      </a:accent4>
      <a:accent5>
        <a:srgbClr val="BBB473"/>
      </a:accent5>
      <a:accent6>
        <a:srgbClr val="849276"/>
      </a:accent6>
      <a:hlink>
        <a:srgbClr val="FDAB2A"/>
      </a:hlink>
      <a:folHlink>
        <a:srgbClr val="CCB182"/>
      </a:folHlink>
    </a:clrScheme>
    <a:fontScheme name="Wisp">
      <a:maj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54F6613E-5ED7-40ED-90A8-F639BE712C0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11898</TotalTime>
  <Words>5351</Words>
  <Application>Microsoft Office PowerPoint</Application>
  <PresentationFormat>Widescreen</PresentationFormat>
  <Paragraphs>608</Paragraphs>
  <Slides>55</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55</vt:i4>
      </vt:variant>
    </vt:vector>
  </HeadingPairs>
  <TitlesOfParts>
    <vt:vector size="62" baseType="lpstr">
      <vt:lpstr>Arial</vt:lpstr>
      <vt:lpstr>Calibri</vt:lpstr>
      <vt:lpstr>Cambria Math</vt:lpstr>
      <vt:lpstr>Century Gothic</vt:lpstr>
      <vt:lpstr>Wingdings</vt:lpstr>
      <vt:lpstr>Wingdings 3</vt:lpstr>
      <vt:lpstr>Wisp</vt:lpstr>
      <vt:lpstr>Module -2 –  CMOS inverter</vt:lpstr>
      <vt:lpstr>Modeling of MOS Transistor using SPICE  </vt:lpstr>
      <vt:lpstr>Basic Concepts</vt:lpstr>
      <vt:lpstr>The LEVEL 1 Model Equations</vt:lpstr>
      <vt:lpstr>The LEVEL 2 Model Equations</vt:lpstr>
      <vt:lpstr>The LEVEL 3 Model Equations</vt:lpstr>
      <vt:lpstr>CMOS Inverter</vt:lpstr>
      <vt:lpstr> Continue…. </vt:lpstr>
      <vt:lpstr> Continue….</vt:lpstr>
      <vt:lpstr> CMOS Inverter voltage-transfer characteristic</vt:lpstr>
      <vt:lpstr> Continue……. </vt:lpstr>
      <vt:lpstr> Continued….</vt:lpstr>
      <vt:lpstr> Continue….</vt:lpstr>
      <vt:lpstr>Switching Threshold</vt:lpstr>
      <vt:lpstr> continue…….</vt:lpstr>
      <vt:lpstr> CMOS Inverter -  Noise Margin</vt:lpstr>
      <vt:lpstr>Continued…</vt:lpstr>
      <vt:lpstr> Calculation of  Voltages in CMOS Inverter</vt:lpstr>
      <vt:lpstr> Continued….</vt:lpstr>
      <vt:lpstr>Continue…..</vt:lpstr>
      <vt:lpstr>Continue….</vt:lpstr>
      <vt:lpstr>Continue….. </vt:lpstr>
      <vt:lpstr>Calculation of VIH </vt:lpstr>
      <vt:lpstr>Continued….   </vt:lpstr>
      <vt:lpstr>Continued….   </vt:lpstr>
      <vt:lpstr>Design of CMOS Inverters</vt:lpstr>
      <vt:lpstr>Continue….</vt:lpstr>
      <vt:lpstr>Continued……</vt:lpstr>
      <vt:lpstr>Problem 1 </vt:lpstr>
      <vt:lpstr>Solution </vt:lpstr>
      <vt:lpstr>Continue…..</vt:lpstr>
      <vt:lpstr>Supply Voltage scaling in CMOS </vt:lpstr>
      <vt:lpstr>MOS Inverters : Dynamic Characteristics</vt:lpstr>
      <vt:lpstr>Continue….</vt:lpstr>
      <vt:lpstr>Delay-Time Definitions</vt:lpstr>
      <vt:lpstr>Continue….</vt:lpstr>
      <vt:lpstr>Performance of CMOS Inverter</vt:lpstr>
      <vt:lpstr>Continue……</vt:lpstr>
      <vt:lpstr>Diffusion Capacitances Cdb1 and Cdb2</vt:lpstr>
      <vt:lpstr>Propagation Delay: First-Order Analysis</vt:lpstr>
      <vt:lpstr>Continue……</vt:lpstr>
      <vt:lpstr>Continue……</vt:lpstr>
      <vt:lpstr>Problem 2</vt:lpstr>
      <vt:lpstr>Propagation Delay from a Design Perspective</vt:lpstr>
      <vt:lpstr>NMOS/PMOS Ratio</vt:lpstr>
      <vt:lpstr>Continue…..</vt:lpstr>
      <vt:lpstr>Sizing Inverters for Performance</vt:lpstr>
      <vt:lpstr>Continue….</vt:lpstr>
      <vt:lpstr>Sizing of inverter chain</vt:lpstr>
      <vt:lpstr>Continue……</vt:lpstr>
      <vt:lpstr>Continue……</vt:lpstr>
      <vt:lpstr>Choosing the Right Number of Stages in an Inverter Chain</vt:lpstr>
      <vt:lpstr>Problem </vt:lpstr>
      <vt:lpstr>Solution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CMOS VLSI Design</dc:title>
  <dc:creator>Rohit Lorenzo</dc:creator>
  <cp:lastModifiedBy>Rohit Lorenzo</cp:lastModifiedBy>
  <cp:revision>781</cp:revision>
  <cp:lastPrinted>2021-10-30T04:58:44Z</cp:lastPrinted>
  <dcterms:created xsi:type="dcterms:W3CDTF">2020-02-29T06:50:22Z</dcterms:created>
  <dcterms:modified xsi:type="dcterms:W3CDTF">2024-09-06T11:26:10Z</dcterms:modified>
</cp:coreProperties>
</file>