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4.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5.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6.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7.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theme/theme8.xml" ContentType="application/vnd.openxmlformats-officedocument.theme+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9.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theme/theme10.xml" ContentType="application/vnd.openxmlformats-officedocument.theme+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11.xml" ContentType="application/vnd.openxmlformats-officedocument.theme+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12.xml" ContentType="application/vnd.openxmlformats-officedocument.theme+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theme/theme13.xml" ContentType="application/vnd.openxmlformats-officedocument.theme+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theme/theme14.xml" ContentType="application/vnd.openxmlformats-officedocument.theme+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theme/theme15.xml" ContentType="application/vnd.openxmlformats-officedocument.theme+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theme/theme16.xml" ContentType="application/vnd.openxmlformats-officedocument.theme+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theme/theme17.xml" ContentType="application/vnd.openxmlformats-officedocument.theme+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18.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 id="2147483908" r:id="rId2"/>
    <p:sldMasterId id="2147483925" r:id="rId3"/>
    <p:sldMasterId id="2147483942" r:id="rId4"/>
    <p:sldMasterId id="2147483959" r:id="rId5"/>
    <p:sldMasterId id="2147483976" r:id="rId6"/>
    <p:sldMasterId id="2147483993" r:id="rId7"/>
    <p:sldMasterId id="2147484010" r:id="rId8"/>
    <p:sldMasterId id="2147484027" r:id="rId9"/>
    <p:sldMasterId id="2147484044" r:id="rId10"/>
    <p:sldMasterId id="2147484061" r:id="rId11"/>
    <p:sldMasterId id="2147484078" r:id="rId12"/>
    <p:sldMasterId id="2147484095" r:id="rId13"/>
    <p:sldMasterId id="2147484112" r:id="rId14"/>
    <p:sldMasterId id="2147484129" r:id="rId15"/>
    <p:sldMasterId id="2147484146" r:id="rId16"/>
    <p:sldMasterId id="2147484163" r:id="rId17"/>
    <p:sldMasterId id="2147484180" r:id="rId18"/>
    <p:sldMasterId id="2147484197" r:id="rId19"/>
  </p:sldMasterIdLst>
  <p:notesMasterIdLst>
    <p:notesMasterId r:id="rId52"/>
  </p:notesMasterIdLst>
  <p:sldIdLst>
    <p:sldId id="256" r:id="rId20"/>
    <p:sldId id="257" r:id="rId21"/>
    <p:sldId id="343" r:id="rId22"/>
    <p:sldId id="342" r:id="rId23"/>
    <p:sldId id="296" r:id="rId24"/>
    <p:sldId id="298" r:id="rId25"/>
    <p:sldId id="300" r:id="rId26"/>
    <p:sldId id="301" r:id="rId27"/>
    <p:sldId id="324" r:id="rId28"/>
    <p:sldId id="344" r:id="rId29"/>
    <p:sldId id="345" r:id="rId30"/>
    <p:sldId id="346" r:id="rId31"/>
    <p:sldId id="347" r:id="rId32"/>
    <p:sldId id="348" r:id="rId33"/>
    <p:sldId id="349" r:id="rId34"/>
    <p:sldId id="350" r:id="rId35"/>
    <p:sldId id="351" r:id="rId36"/>
    <p:sldId id="352" r:id="rId37"/>
    <p:sldId id="353" r:id="rId38"/>
    <p:sldId id="354" r:id="rId39"/>
    <p:sldId id="355" r:id="rId40"/>
    <p:sldId id="356" r:id="rId41"/>
    <p:sldId id="367" r:id="rId42"/>
    <p:sldId id="357" r:id="rId43"/>
    <p:sldId id="358" r:id="rId44"/>
    <p:sldId id="359" r:id="rId45"/>
    <p:sldId id="360" r:id="rId46"/>
    <p:sldId id="361" r:id="rId47"/>
    <p:sldId id="362" r:id="rId48"/>
    <p:sldId id="364" r:id="rId49"/>
    <p:sldId id="365" r:id="rId50"/>
    <p:sldId id="27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39" Type="http://schemas.openxmlformats.org/officeDocument/2006/relationships/slide" Target="slides/slide20.xml"/><Relationship Id="rId21" Type="http://schemas.openxmlformats.org/officeDocument/2006/relationships/slide" Target="slides/slide2.xml"/><Relationship Id="rId34" Type="http://schemas.openxmlformats.org/officeDocument/2006/relationships/slide" Target="slides/slide15.xml"/><Relationship Id="rId42" Type="http://schemas.openxmlformats.org/officeDocument/2006/relationships/slide" Target="slides/slide23.xml"/><Relationship Id="rId47" Type="http://schemas.openxmlformats.org/officeDocument/2006/relationships/slide" Target="slides/slide28.xml"/><Relationship Id="rId50" Type="http://schemas.openxmlformats.org/officeDocument/2006/relationships/slide" Target="slides/slide31.xml"/><Relationship Id="rId55"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slide" Target="slides/slide14.xml"/><Relationship Id="rId38" Type="http://schemas.openxmlformats.org/officeDocument/2006/relationships/slide" Target="slides/slide19.xml"/><Relationship Id="rId46" Type="http://schemas.openxmlformats.org/officeDocument/2006/relationships/slide" Target="slides/slide2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1.xml"/><Relationship Id="rId29" Type="http://schemas.openxmlformats.org/officeDocument/2006/relationships/slide" Target="slides/slide10.xml"/><Relationship Id="rId41" Type="http://schemas.openxmlformats.org/officeDocument/2006/relationships/slide" Target="slides/slide22.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slide" Target="slides/slide13.xml"/><Relationship Id="rId37" Type="http://schemas.openxmlformats.org/officeDocument/2006/relationships/slide" Target="slides/slide18.xml"/><Relationship Id="rId40" Type="http://schemas.openxmlformats.org/officeDocument/2006/relationships/slide" Target="slides/slide21.xml"/><Relationship Id="rId45" Type="http://schemas.openxmlformats.org/officeDocument/2006/relationships/slide" Target="slides/slide26.xml"/><Relationship Id="rId53"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slide" Target="slides/slide17.xml"/><Relationship Id="rId49" Type="http://schemas.openxmlformats.org/officeDocument/2006/relationships/slide" Target="slides/slide30.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2.xml"/><Relationship Id="rId44" Type="http://schemas.openxmlformats.org/officeDocument/2006/relationships/slide" Target="slides/slide25.xml"/><Relationship Id="rId52"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slide" Target="slides/slide11.xml"/><Relationship Id="rId35" Type="http://schemas.openxmlformats.org/officeDocument/2006/relationships/slide" Target="slides/slide16.xml"/><Relationship Id="rId43" Type="http://schemas.openxmlformats.org/officeDocument/2006/relationships/slide" Target="slides/slide24.xml"/><Relationship Id="rId48" Type="http://schemas.openxmlformats.org/officeDocument/2006/relationships/slide" Target="slides/slide29.xml"/><Relationship Id="rId56"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32.xml"/><Relationship Id="rId3" Type="http://schemas.openxmlformats.org/officeDocument/2006/relationships/slideMaster" Target="slideMasters/slideMaster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5-18T06:45:43.752"/>
    </inkml:context>
    <inkml:brush xml:id="br0">
      <inkml:brushProperty name="width" value="0.05" units="cm"/>
      <inkml:brushProperty name="height" value="0.05" units="cm"/>
    </inkml:brush>
  </inkml:definitions>
  <inkml:trace contextRef="#ctx0" brushRef="#br0">0 466 272,'1'-2'63,"-1"0"0,0 1-1,1-1 1,0 0 0,-1 0 0,1 0-1,0 1 1,0-1 0,0 0 0,0 1-1,0-1 1,1 1 0,1-3 0,20-18 339,-18 18-232,-2 1-140,-1 0 0,1 0 0,-1-1 0,0 1 0,0 0 0,-1-1 0,1 1 0,-1-1 0,0 1 0,0-1 0,1-6 0,0 4-16,-1 1-1,1-1 0,0 0 1,0 1-1,4-7 1,0 4-12,0 1 0,0-1 0,1 1 0,0 0 0,0 1 0,0 0 0,1 0 0,0 0 0,0 1 0,16-7 0,9-2 7,55-15 0,-60 20-17,174-45 18,8-4-2,-111 29-18,149-26-1,-198 54 598,-57 2-562,0 0 0,0 0 0,0 1 0,0 0 0,0 0 0,0 1 0,1-1 0,-9 6 0,-24 9 43,-37 13 54,38-13 3,-1-2 0,0-2 0,-47 9 0,13-9 363,42-11-254,23-2-153,21 0-49,86 1-16,-32 2 19,0-4-1,110-15 1,-108 5-37,86-2 0,70 11 129,-162 2 41,-60 0 123,-8 0-233,-380 0 191,320 3-67,-99 17 1,-6 1 177,100-15-187,-74 2 70,131-7-222,0 0-1,-23 5 0,-13 1 74,49-7-91,0 0-1,-1 1 0,1-1 1,0 0-1,0 0 1,-1 1-1,1-1 0,0 1 1,0-1-1,0 0 1,-1 1-1,1-1 1,0 0-1,0 1 0,0-1 1,0 1-1,0-1 1,0 0-1,0 1 0,0-1 1,0 1-1,0-1 1,0 1-1,0-1 0,0 0 1,0 1-1,0-1 1,0 1-1,1-1 1,-1 1-1,0-1 3,0 1-2,1 0-1,-1 0 1,0-1-1,0 1 1,1 0 0,-1 0-1,1-1 1,-1 1-1,1 0 1,-1-1-1,1 1 1,-1 0 0,1-1-1,0 1 1,-1-1-1,1 1 1,0-1 0,-1 1-1,1-1 1,0 1-1,0-1 1,-1 0-1,1 1 1,0-1 0,0 0-1,0 0 1,0 0-1,-1 0 1,1 0-1,0 0 1,0 0 0,0 0-1,1 0 1,8 1 21,54 6 66,0-3-1,66-4 1,-52 0-17,88 0-39,388-3 147,-2-28-71,189-13-150,-637 44 31,435 18-33,-286 1 42,-79-8 0,40-1-210,-475-10 178,228 2 15,0 1 1,1 2-1,-40 10 1,7-1 12,-28 4 19,-55 12-1,-187 12 0,251-37-27,-232 7 34,171-12 120,144-1-144,-1 1-1,0 0 1,0 0-1,1 0 0,-1 1 1,0-1-1,0 0 0,0 0 1,1 1-1,-4 1 1,5-2 2,0 1 0,0-1 1,0 0-1,1 1 0,-1-1 0,0 0 1,0 1-1,1-1 0,-1 0 1,0 1-1,1-1 0,-1 0 0,0 1 1,1-1-1,-1 0 0,0 0 1,1 1-1,-1-1 0,0 0 1,1 0-1,-1 0 0,1 0 0,-1 0 1,1 0-1,-1 1 0,0-1 1,1 0-1,10 3 13,1 0 0,20 3-1,87-3 46,-68-4-47,345-24 119,0-28-84,-231 29-7,362-56-31,-502 75 3,12-1 328,1 0 0,41 1 0,-78 5-210,-4 1-247,-1-1 0,1 1 0,0 0 0,-1 1 0,1-1-1,0 0 1,0 1 0,0 0 0,0-1 0,0 1-1,0 1 1,1-1 0,-1 0 0,0 1 0,1-1 0,0 1-1,-3 4 1,-12 11-676,-22 15-867,-6-1-344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5-18T06:45:46.192"/>
    </inkml:context>
    <inkml:brush xml:id="br0">
      <inkml:brushProperty name="width" value="0.05" units="cm"/>
      <inkml:brushProperty name="height" value="0.05" units="cm"/>
    </inkml:brush>
  </inkml:definitions>
  <inkml:trace contextRef="#ctx0" brushRef="#br0">324 151 256,'-9'0'224,"1"-1"0,-1 0 0,1 0 0,-1-1 0,1 0 0,-1-1 0,1 0 0,0 0 0,0-1 0,-8-4 0,-3-2-23,-5-2 192,13 6-144,0 1 1,0 0-1,-24-7 0,-1 1 313,-13-3 253,48 14-734,-1-1-1,0 1 1,1 0 0,-1-1 0,1 1 0,-1-1-1,0 1 1,1-1 0,-1 0 0,1 1-1,0-1 1,-1 0 0,1 0 0,0 0 0,-1 0-1,1-1 1,-1 0 0,2 0 951,324 4 1564,524-10-1433,555-7-1015,-939 17-93,111-2 1301,-688 1-1324,-119 17 0,-583 46-270,-227-30 187,948-32 22,-431 22 32,430-21 7,71-3-68,597-34 117,-337 14-52,1602-73 7,-1694 87-6,246 1 336,-355 5-163,-73 0-163,-373 12 92,334-4-112,-293 21-12,159-15-18,152-12-22,-5 0-38,40 8 49,24-10 42,0 0 1,-1 0-1,1 0 1,0 0-1,0 0 0,-1 0 1,1 0-1,0 0 1,0 0-1,-1 0 1,1 0-1,0 1 0,0-1 1,-1 0-1,1 0 1,0 0-1,0 0 0,-1 1 1,1-1-1,0 0 1,0 0-1,0 1 0,0-1 1,-1 0-1,1 0 1,0 1-1,0-1 0,0 0 1,0 0-1,0 1 1,0-1-1,0 0 1,0 0-1,0 1 0,0-1 1,0 0-1,0 1 1,0-1-1,0 0 0,0 0 1,0 1-1,0-1 1,0 0-1,0 1 0,0-1 1,0 0-1,0 0 1,1 1-1,-1-1 1,0 0-1,0 0 0,0 0 1,0 1-1,1-1 1,-1 0-1,0 0 0,0 0 1,1 1-1,-1-1 1,0 0-1,0 0 0,1 0 1,-1 0-1,0 0 1,0 0-1,1 0 0,-1 1 1,10 1 11,-1-1 1,1 0-1,-1 0 0,1-1 1,0 0-1,11-1 0,20-1 17,11 2-6,491-19 102,92-48-105,-458 61 155,-144 6 74,-30 0-158,-20 0-538,-104 0-5203,68 0 2735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C73D7-7640-40F9-8434-A0F03C5760E6}" type="datetimeFigureOut">
              <a:rPr lang="en-IN" smtClean="0"/>
              <a:t>18-05-2021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2B883-0CBF-46F6-B001-F5F9F89E9899}" type="slidenum">
              <a:rPr lang="en-IN" smtClean="0"/>
              <a:t>‹#›</a:t>
            </a:fld>
            <a:endParaRPr lang="en-IN"/>
          </a:p>
        </p:txBody>
      </p:sp>
    </p:spTree>
    <p:extLst>
      <p:ext uri="{BB962C8B-B14F-4D97-AF65-F5344CB8AC3E}">
        <p14:creationId xmlns:p14="http://schemas.microsoft.com/office/powerpoint/2010/main" val="317026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793FC6-7D19-42F4-A915-A22E318BB010}" type="datetime1">
              <a:rPr lang="en-IN" smtClean="0"/>
              <a:t>18-05-2021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316533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B98C-9C5A-4162-993F-316E4E6C62BB}" type="datetime1">
              <a:rPr lang="en-IN" smtClean="0"/>
              <a:t>18-05-2021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185834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9ED1CE-D0E4-49F6-AA4E-0C3DE4D5CA9F}" type="datetime1">
              <a:rPr lang="en-IN" smtClean="0"/>
              <a:t>18-05-2021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311375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6DC15E-93BC-4995-B67D-673FA7BA3E92}" type="datetime1">
              <a:rPr lang="en-IN" smtClean="0"/>
              <a:t>18-05-2021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2948977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90AC8C-1DD9-4769-A93E-CB9191A82FBE}" type="datetime1">
              <a:rPr lang="en-IN" smtClean="0"/>
              <a:t>18-05-2021</a:t>
            </a:fld>
            <a:endParaRPr lang="en-IN"/>
          </a:p>
        </p:txBody>
      </p:sp>
      <p:sp>
        <p:nvSpPr>
          <p:cNvPr id="8" name="Footer Placeholder 7"/>
          <p:cNvSpPr>
            <a:spLocks noGrp="1"/>
          </p:cNvSpPr>
          <p:nvPr>
            <p:ph type="ftr" sz="quarter" idx="11"/>
          </p:nvPr>
        </p:nvSpPr>
        <p:spPr/>
        <p:txBody>
          <a:bodyPr/>
          <a:lstStyle/>
          <a:p>
            <a:r>
              <a:rPr lang="en-IN"/>
              <a:t>Rohit Lorenzo , VIT-AP</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94879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9D4AB-23A7-43B1-AC37-7A69E1B162CB}" type="datetime1">
              <a:rPr lang="en-IN" smtClean="0"/>
              <a:t>18-05-2021</a:t>
            </a:fld>
            <a:endParaRPr lang="en-IN"/>
          </a:p>
        </p:txBody>
      </p:sp>
      <p:sp>
        <p:nvSpPr>
          <p:cNvPr id="4" name="Footer Placeholder 3"/>
          <p:cNvSpPr>
            <a:spLocks noGrp="1"/>
          </p:cNvSpPr>
          <p:nvPr>
            <p:ph type="ftr" sz="quarter" idx="11"/>
          </p:nvPr>
        </p:nvSpPr>
        <p:spPr/>
        <p:txBody>
          <a:bodyPr/>
          <a:lstStyle/>
          <a:p>
            <a:r>
              <a:rPr lang="en-IN"/>
              <a:t>Rohit Lorenzo , VIT-AP</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688461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FFC48-1A3A-47F9-AB3E-F0A947B0BE83}" type="datetime1">
              <a:rPr lang="en-IN" smtClean="0"/>
              <a:t>18-05-2021</a:t>
            </a:fld>
            <a:endParaRPr lang="en-IN"/>
          </a:p>
        </p:txBody>
      </p:sp>
      <p:sp>
        <p:nvSpPr>
          <p:cNvPr id="3" name="Footer Placeholder 2"/>
          <p:cNvSpPr>
            <a:spLocks noGrp="1"/>
          </p:cNvSpPr>
          <p:nvPr>
            <p:ph type="ftr" sz="quarter" idx="11"/>
          </p:nvPr>
        </p:nvSpPr>
        <p:spPr/>
        <p:txBody>
          <a:bodyPr/>
          <a:lstStyle/>
          <a:p>
            <a:r>
              <a:rPr lang="en-IN"/>
              <a:t>Rohit Lorenzo , VIT-AP</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19122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0B7AB3-5AA6-4B2A-A848-6B9056B8F888}" type="datetime1">
              <a:rPr lang="en-IN" smtClean="0"/>
              <a:t>18-05-2021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178783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62A0A8-2993-4F46-873E-B317420EEF1D}" type="datetime1">
              <a:rPr lang="en-IN" smtClean="0"/>
              <a:t>18-05-2021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3005223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4AF5B2-9161-484D-941E-09E7D7D8822D}" type="datetime1">
              <a:rPr lang="en-IN" smtClean="0"/>
              <a:t>18-05-2021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392765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02EE73-49A5-4032-8312-39A4654D8975}" type="datetime1">
              <a:rPr lang="en-IN" smtClean="0"/>
              <a:t>18-05-2021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7853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13B1249-61C8-4A7F-8E7B-53A384F44D16}" type="datetime1">
              <a:rPr lang="en-IN" smtClean="0"/>
              <a:t>18-05-2021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408125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33059DD-5442-4AC6-B4D8-568940477A5F}" type="datetime1">
              <a:rPr lang="en-IN" smtClean="0"/>
              <a:t>18-05-2021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374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A093278-5D43-45AE-BD96-13E9B97C202A}" type="datetime1">
              <a:rPr lang="en-IN" smtClean="0"/>
              <a:t>18-05-2021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117826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0D21C-79F6-4EA2-9761-2BBE3077020C}" type="datetime1">
              <a:rPr lang="en-IN" smtClean="0"/>
              <a:t>18-05-2021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2784775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44E18-DFA2-43E5-8F6D-0DBE05038609}" type="datetime1">
              <a:rPr lang="en-IN" smtClean="0"/>
              <a:t>18-05-2021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36869373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173883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102815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0051816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0682416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997766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473560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5533354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564703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578662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871681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31185458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965240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4511089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7741119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6599335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1794458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2194792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4803575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693407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5357018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045402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341165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924694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68962415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5172300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8283021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247128318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3740698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24756689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2184845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2267700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68294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5736040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7671631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4658491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22483757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4139618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8776456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2673571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27912086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78508526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54195094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124240768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3710040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421924744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34416300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29603566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83684522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4948095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0778025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51606383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0720105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2795123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85801093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28523797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818220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33009234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5222182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13038200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32848926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55904946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62991003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45314535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0180252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08296446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78949540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70306918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15001773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5505420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38495486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54184504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4606675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88900463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46469197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114484936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80610864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425130622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351089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5700540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63495327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1448254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4184953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85267468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09089557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53630987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687901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4833112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16720246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4557487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47230600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372592083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24976507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67008004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54023436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792672996"/>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120520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03329349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30588710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6205668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6219544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9102030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69383918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89171714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0439944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51503348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2276772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263399910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49920910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371445547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12252369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20440310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0634206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20944097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26932210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592407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66063151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8473090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8050044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42472439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21703450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7243400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3519854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146415512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238311242"/>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246581469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74579286"/>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7261512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33331603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38079754"/>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2044244"/>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88296951"/>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59254615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722758444"/>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50384606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78039940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8903302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81659545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30165168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297100076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61153244"/>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3214954033"/>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7681081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0621641"/>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00616020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22790713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89882109"/>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211506318"/>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24237244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200932154"/>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038704870"/>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85267754"/>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55975737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78752408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456121552"/>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70969223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24548041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1464698825"/>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144600303"/>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87682852"/>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641380719"/>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665501640"/>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21611908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16984870"/>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128262704"/>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054098139"/>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95815712"/>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56638300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1690922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548302244"/>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668767677"/>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4066846524"/>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527924521"/>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143424332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77596352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94813062"/>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48807232"/>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70809125"/>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492274303"/>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34160267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486304691"/>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849665623"/>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248814981"/>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27164292"/>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005004023"/>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234840173"/>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24124562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2535587957"/>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68740070"/>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1468134752"/>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111361638"/>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500128586"/>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893984569"/>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94906224"/>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98022309"/>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689367090"/>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889352550"/>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58375002"/>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84196545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67484750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444594716"/>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59643249"/>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1718370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3710191488"/>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797087444"/>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104327363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389754875"/>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59380940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2708746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28205454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324256588"/>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28383560"/>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7857931"/>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274600741"/>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362040002"/>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4664389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380255884"/>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24652853"/>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85251206"/>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4139033487"/>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279875520"/>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2443532325"/>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64491701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09097694"/>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562626102"/>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4964695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93426967"/>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2011179"/>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55051432"/>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77405566"/>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664177314"/>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648082460"/>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29474436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896668928"/>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95076648"/>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3170779226"/>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3830398"/>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2867448566"/>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74515780"/>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8464854"/>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700608576"/>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46175713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498641407"/>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453307158"/>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201673428"/>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539987199"/>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595772617"/>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676759248"/>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383266139"/>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172691462"/>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97749308"/>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3227602692"/>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2985180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3322347828"/>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26389480"/>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429352539"/>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53617190"/>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128073908"/>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2288920"/>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24807291"/>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788574486"/>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768542573"/>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91247359"/>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575618668"/>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56788054"/>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29480052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597400978"/>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401614001"/>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7197670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3015371229"/>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21766361"/>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237087778"/>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31238616"/>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10986826"/>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06411419"/>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59229497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05081115"/>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898281325"/>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432174001"/>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42589747"/>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56063088"/>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112665870"/>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131156320"/>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2538297744"/>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43726312"/>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r>
              <a:rPr lang="en-US" sz="8000" dirty="0">
                <a:ln w="3175" cmpd="sng">
                  <a:noFill/>
                </a:ln>
                <a:solidFill>
                  <a:srgbClr val="E78712"/>
                </a:solidFill>
                <a:latin typeface="Arial"/>
              </a:rPr>
              <a:t>”</a:t>
            </a:r>
          </a:p>
        </p:txBody>
      </p:sp>
    </p:spTree>
    <p:extLst>
      <p:ext uri="{BB962C8B-B14F-4D97-AF65-F5344CB8AC3E}">
        <p14:creationId xmlns:p14="http://schemas.microsoft.com/office/powerpoint/2010/main" val="923198114"/>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868157751"/>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206271236"/>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05748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theme" Target="../theme/theme3.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theme" Target="../theme/theme4.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theme" Target="../theme/theme5.xml"/><Relationship Id="rId2" Type="http://schemas.openxmlformats.org/officeDocument/2006/relationships/slideLayout" Target="../slideLayouts/slideLayout66.xml"/><Relationship Id="rId16" Type="http://schemas.openxmlformats.org/officeDocument/2006/relationships/slideLayout" Target="../slideLayouts/slideLayout80.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slideLayout" Target="../slideLayouts/slideLayout7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theme" Target="../theme/theme6.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slideLayout" Target="../slideLayouts/slideLayout109.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17" Type="http://schemas.openxmlformats.org/officeDocument/2006/relationships/theme" Target="../theme/theme7.xml"/><Relationship Id="rId2" Type="http://schemas.openxmlformats.org/officeDocument/2006/relationships/slideLayout" Target="../slideLayouts/slideLayout98.xml"/><Relationship Id="rId16" Type="http://schemas.openxmlformats.org/officeDocument/2006/relationships/slideLayout" Target="../slideLayouts/slideLayout112.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5" Type="http://schemas.openxmlformats.org/officeDocument/2006/relationships/slideLayout" Target="../slideLayouts/slideLayout11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 Id="rId14" Type="http://schemas.openxmlformats.org/officeDocument/2006/relationships/slideLayout" Target="../slideLayouts/slideLayout11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slideLayout" Target="../slideLayouts/slideLayout125.xml"/><Relationship Id="rId3" Type="http://schemas.openxmlformats.org/officeDocument/2006/relationships/slideLayout" Target="../slideLayouts/slideLayout115.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17" Type="http://schemas.openxmlformats.org/officeDocument/2006/relationships/theme" Target="../theme/theme8.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5" Type="http://schemas.openxmlformats.org/officeDocument/2006/relationships/slideLayout" Target="../slideLayouts/slideLayout117.xml"/><Relationship Id="rId15" Type="http://schemas.openxmlformats.org/officeDocument/2006/relationships/slideLayout" Target="../slideLayouts/slideLayout127.xml"/><Relationship Id="rId10" Type="http://schemas.openxmlformats.org/officeDocument/2006/relationships/slideLayout" Target="../slideLayouts/slideLayout122.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36.xml"/><Relationship Id="rId13" Type="http://schemas.openxmlformats.org/officeDocument/2006/relationships/slideLayout" Target="../slideLayouts/slideLayout141.xml"/><Relationship Id="rId3" Type="http://schemas.openxmlformats.org/officeDocument/2006/relationships/slideLayout" Target="../slideLayouts/slideLayout131.xml"/><Relationship Id="rId7" Type="http://schemas.openxmlformats.org/officeDocument/2006/relationships/slideLayout" Target="../slideLayouts/slideLayout135.xml"/><Relationship Id="rId12" Type="http://schemas.openxmlformats.org/officeDocument/2006/relationships/slideLayout" Target="../slideLayouts/slideLayout140.xml"/><Relationship Id="rId17" Type="http://schemas.openxmlformats.org/officeDocument/2006/relationships/theme" Target="../theme/theme9.xml"/><Relationship Id="rId2" Type="http://schemas.openxmlformats.org/officeDocument/2006/relationships/slideLayout" Target="../slideLayouts/slideLayout130.xml"/><Relationship Id="rId16" Type="http://schemas.openxmlformats.org/officeDocument/2006/relationships/slideLayout" Target="../slideLayouts/slideLayout144.xml"/><Relationship Id="rId1" Type="http://schemas.openxmlformats.org/officeDocument/2006/relationships/slideLayout" Target="../slideLayouts/slideLayout129.xml"/><Relationship Id="rId6" Type="http://schemas.openxmlformats.org/officeDocument/2006/relationships/slideLayout" Target="../slideLayouts/slideLayout134.xml"/><Relationship Id="rId11" Type="http://schemas.openxmlformats.org/officeDocument/2006/relationships/slideLayout" Target="../slideLayouts/slideLayout139.xml"/><Relationship Id="rId5" Type="http://schemas.openxmlformats.org/officeDocument/2006/relationships/slideLayout" Target="../slideLayouts/slideLayout133.xml"/><Relationship Id="rId15" Type="http://schemas.openxmlformats.org/officeDocument/2006/relationships/slideLayout" Target="../slideLayouts/slideLayout143.xml"/><Relationship Id="rId10" Type="http://schemas.openxmlformats.org/officeDocument/2006/relationships/slideLayout" Target="../slideLayouts/slideLayout138.xml"/><Relationship Id="rId4" Type="http://schemas.openxmlformats.org/officeDocument/2006/relationships/slideLayout" Target="../slideLayouts/slideLayout132.xml"/><Relationship Id="rId9" Type="http://schemas.openxmlformats.org/officeDocument/2006/relationships/slideLayout" Target="../slideLayouts/slideLayout137.xml"/><Relationship Id="rId14" Type="http://schemas.openxmlformats.org/officeDocument/2006/relationships/slideLayout" Target="../slideLayouts/slideLayout142.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theme" Target="../theme/theme10.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68.xml"/><Relationship Id="rId13" Type="http://schemas.openxmlformats.org/officeDocument/2006/relationships/slideLayout" Target="../slideLayouts/slideLayout173.xml"/><Relationship Id="rId3" Type="http://schemas.openxmlformats.org/officeDocument/2006/relationships/slideLayout" Target="../slideLayouts/slideLayout163.xml"/><Relationship Id="rId7" Type="http://schemas.openxmlformats.org/officeDocument/2006/relationships/slideLayout" Target="../slideLayouts/slideLayout167.xml"/><Relationship Id="rId12" Type="http://schemas.openxmlformats.org/officeDocument/2006/relationships/slideLayout" Target="../slideLayouts/slideLayout172.xml"/><Relationship Id="rId17" Type="http://schemas.openxmlformats.org/officeDocument/2006/relationships/theme" Target="../theme/theme11.xml"/><Relationship Id="rId2" Type="http://schemas.openxmlformats.org/officeDocument/2006/relationships/slideLayout" Target="../slideLayouts/slideLayout162.xml"/><Relationship Id="rId16" Type="http://schemas.openxmlformats.org/officeDocument/2006/relationships/slideLayout" Target="../slideLayouts/slideLayout176.xml"/><Relationship Id="rId1" Type="http://schemas.openxmlformats.org/officeDocument/2006/relationships/slideLayout" Target="../slideLayouts/slideLayout161.xml"/><Relationship Id="rId6" Type="http://schemas.openxmlformats.org/officeDocument/2006/relationships/slideLayout" Target="../slideLayouts/slideLayout166.xml"/><Relationship Id="rId11" Type="http://schemas.openxmlformats.org/officeDocument/2006/relationships/slideLayout" Target="../slideLayouts/slideLayout171.xml"/><Relationship Id="rId5" Type="http://schemas.openxmlformats.org/officeDocument/2006/relationships/slideLayout" Target="../slideLayouts/slideLayout165.xml"/><Relationship Id="rId15" Type="http://schemas.openxmlformats.org/officeDocument/2006/relationships/slideLayout" Target="../slideLayouts/slideLayout175.xml"/><Relationship Id="rId10" Type="http://schemas.openxmlformats.org/officeDocument/2006/relationships/slideLayout" Target="../slideLayouts/slideLayout170.xml"/><Relationship Id="rId4" Type="http://schemas.openxmlformats.org/officeDocument/2006/relationships/slideLayout" Target="../slideLayouts/slideLayout164.xml"/><Relationship Id="rId9" Type="http://schemas.openxmlformats.org/officeDocument/2006/relationships/slideLayout" Target="../slideLayouts/slideLayout169.xml"/><Relationship Id="rId14" Type="http://schemas.openxmlformats.org/officeDocument/2006/relationships/slideLayout" Target="../slideLayouts/slideLayout174.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84.xml"/><Relationship Id="rId13" Type="http://schemas.openxmlformats.org/officeDocument/2006/relationships/slideLayout" Target="../slideLayouts/slideLayout189.xml"/><Relationship Id="rId3" Type="http://schemas.openxmlformats.org/officeDocument/2006/relationships/slideLayout" Target="../slideLayouts/slideLayout179.xml"/><Relationship Id="rId7" Type="http://schemas.openxmlformats.org/officeDocument/2006/relationships/slideLayout" Target="../slideLayouts/slideLayout183.xml"/><Relationship Id="rId12" Type="http://schemas.openxmlformats.org/officeDocument/2006/relationships/slideLayout" Target="../slideLayouts/slideLayout188.xml"/><Relationship Id="rId17" Type="http://schemas.openxmlformats.org/officeDocument/2006/relationships/theme" Target="../theme/theme12.xml"/><Relationship Id="rId2" Type="http://schemas.openxmlformats.org/officeDocument/2006/relationships/slideLayout" Target="../slideLayouts/slideLayout178.xml"/><Relationship Id="rId16" Type="http://schemas.openxmlformats.org/officeDocument/2006/relationships/slideLayout" Target="../slideLayouts/slideLayout192.xml"/><Relationship Id="rId1" Type="http://schemas.openxmlformats.org/officeDocument/2006/relationships/slideLayout" Target="../slideLayouts/slideLayout177.xml"/><Relationship Id="rId6" Type="http://schemas.openxmlformats.org/officeDocument/2006/relationships/slideLayout" Target="../slideLayouts/slideLayout182.xml"/><Relationship Id="rId11" Type="http://schemas.openxmlformats.org/officeDocument/2006/relationships/slideLayout" Target="../slideLayouts/slideLayout187.xml"/><Relationship Id="rId5" Type="http://schemas.openxmlformats.org/officeDocument/2006/relationships/slideLayout" Target="../slideLayouts/slideLayout181.xml"/><Relationship Id="rId15" Type="http://schemas.openxmlformats.org/officeDocument/2006/relationships/slideLayout" Target="../slideLayouts/slideLayout191.xml"/><Relationship Id="rId10" Type="http://schemas.openxmlformats.org/officeDocument/2006/relationships/slideLayout" Target="../slideLayouts/slideLayout186.xml"/><Relationship Id="rId4" Type="http://schemas.openxmlformats.org/officeDocument/2006/relationships/slideLayout" Target="../slideLayouts/slideLayout180.xml"/><Relationship Id="rId9" Type="http://schemas.openxmlformats.org/officeDocument/2006/relationships/slideLayout" Target="../slideLayouts/slideLayout185.xml"/><Relationship Id="rId14" Type="http://schemas.openxmlformats.org/officeDocument/2006/relationships/slideLayout" Target="../slideLayouts/slideLayout19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200.xml"/><Relationship Id="rId13" Type="http://schemas.openxmlformats.org/officeDocument/2006/relationships/slideLayout" Target="../slideLayouts/slideLayout205.xml"/><Relationship Id="rId3" Type="http://schemas.openxmlformats.org/officeDocument/2006/relationships/slideLayout" Target="../slideLayouts/slideLayout195.xml"/><Relationship Id="rId7" Type="http://schemas.openxmlformats.org/officeDocument/2006/relationships/slideLayout" Target="../slideLayouts/slideLayout199.xml"/><Relationship Id="rId12" Type="http://schemas.openxmlformats.org/officeDocument/2006/relationships/slideLayout" Target="../slideLayouts/slideLayout204.xml"/><Relationship Id="rId17" Type="http://schemas.openxmlformats.org/officeDocument/2006/relationships/theme" Target="../theme/theme13.xml"/><Relationship Id="rId2" Type="http://schemas.openxmlformats.org/officeDocument/2006/relationships/slideLayout" Target="../slideLayouts/slideLayout194.xml"/><Relationship Id="rId16" Type="http://schemas.openxmlformats.org/officeDocument/2006/relationships/slideLayout" Target="../slideLayouts/slideLayout208.xml"/><Relationship Id="rId1" Type="http://schemas.openxmlformats.org/officeDocument/2006/relationships/slideLayout" Target="../slideLayouts/slideLayout193.xml"/><Relationship Id="rId6" Type="http://schemas.openxmlformats.org/officeDocument/2006/relationships/slideLayout" Target="../slideLayouts/slideLayout198.xml"/><Relationship Id="rId11" Type="http://schemas.openxmlformats.org/officeDocument/2006/relationships/slideLayout" Target="../slideLayouts/slideLayout203.xml"/><Relationship Id="rId5" Type="http://schemas.openxmlformats.org/officeDocument/2006/relationships/slideLayout" Target="../slideLayouts/slideLayout197.xml"/><Relationship Id="rId15" Type="http://schemas.openxmlformats.org/officeDocument/2006/relationships/slideLayout" Target="../slideLayouts/slideLayout207.xml"/><Relationship Id="rId10" Type="http://schemas.openxmlformats.org/officeDocument/2006/relationships/slideLayout" Target="../slideLayouts/slideLayout202.xml"/><Relationship Id="rId4" Type="http://schemas.openxmlformats.org/officeDocument/2006/relationships/slideLayout" Target="../slideLayouts/slideLayout196.xml"/><Relationship Id="rId9" Type="http://schemas.openxmlformats.org/officeDocument/2006/relationships/slideLayout" Target="../slideLayouts/slideLayout201.xml"/><Relationship Id="rId14" Type="http://schemas.openxmlformats.org/officeDocument/2006/relationships/slideLayout" Target="../slideLayouts/slideLayout206.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216.xml"/><Relationship Id="rId13" Type="http://schemas.openxmlformats.org/officeDocument/2006/relationships/slideLayout" Target="../slideLayouts/slideLayout221.xml"/><Relationship Id="rId3" Type="http://schemas.openxmlformats.org/officeDocument/2006/relationships/slideLayout" Target="../slideLayouts/slideLayout211.xml"/><Relationship Id="rId7" Type="http://schemas.openxmlformats.org/officeDocument/2006/relationships/slideLayout" Target="../slideLayouts/slideLayout215.xml"/><Relationship Id="rId12" Type="http://schemas.openxmlformats.org/officeDocument/2006/relationships/slideLayout" Target="../slideLayouts/slideLayout220.xml"/><Relationship Id="rId17" Type="http://schemas.openxmlformats.org/officeDocument/2006/relationships/theme" Target="../theme/theme14.xml"/><Relationship Id="rId2" Type="http://schemas.openxmlformats.org/officeDocument/2006/relationships/slideLayout" Target="../slideLayouts/slideLayout210.xml"/><Relationship Id="rId16" Type="http://schemas.openxmlformats.org/officeDocument/2006/relationships/slideLayout" Target="../slideLayouts/slideLayout224.xml"/><Relationship Id="rId1" Type="http://schemas.openxmlformats.org/officeDocument/2006/relationships/slideLayout" Target="../slideLayouts/slideLayout209.xml"/><Relationship Id="rId6" Type="http://schemas.openxmlformats.org/officeDocument/2006/relationships/slideLayout" Target="../slideLayouts/slideLayout214.xml"/><Relationship Id="rId11" Type="http://schemas.openxmlformats.org/officeDocument/2006/relationships/slideLayout" Target="../slideLayouts/slideLayout219.xml"/><Relationship Id="rId5" Type="http://schemas.openxmlformats.org/officeDocument/2006/relationships/slideLayout" Target="../slideLayouts/slideLayout213.xml"/><Relationship Id="rId15" Type="http://schemas.openxmlformats.org/officeDocument/2006/relationships/slideLayout" Target="../slideLayouts/slideLayout223.xml"/><Relationship Id="rId10" Type="http://schemas.openxmlformats.org/officeDocument/2006/relationships/slideLayout" Target="../slideLayouts/slideLayout218.xml"/><Relationship Id="rId4" Type="http://schemas.openxmlformats.org/officeDocument/2006/relationships/slideLayout" Target="../slideLayouts/slideLayout212.xml"/><Relationship Id="rId9" Type="http://schemas.openxmlformats.org/officeDocument/2006/relationships/slideLayout" Target="../slideLayouts/slideLayout217.xml"/><Relationship Id="rId14" Type="http://schemas.openxmlformats.org/officeDocument/2006/relationships/slideLayout" Target="../slideLayouts/slideLayout222.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232.xml"/><Relationship Id="rId13" Type="http://schemas.openxmlformats.org/officeDocument/2006/relationships/slideLayout" Target="../slideLayouts/slideLayout237.xml"/><Relationship Id="rId3" Type="http://schemas.openxmlformats.org/officeDocument/2006/relationships/slideLayout" Target="../slideLayouts/slideLayout227.xml"/><Relationship Id="rId7" Type="http://schemas.openxmlformats.org/officeDocument/2006/relationships/slideLayout" Target="../slideLayouts/slideLayout231.xml"/><Relationship Id="rId12" Type="http://schemas.openxmlformats.org/officeDocument/2006/relationships/slideLayout" Target="../slideLayouts/slideLayout236.xml"/><Relationship Id="rId17" Type="http://schemas.openxmlformats.org/officeDocument/2006/relationships/theme" Target="../theme/theme15.xml"/><Relationship Id="rId2" Type="http://schemas.openxmlformats.org/officeDocument/2006/relationships/slideLayout" Target="../slideLayouts/slideLayout226.xml"/><Relationship Id="rId16" Type="http://schemas.openxmlformats.org/officeDocument/2006/relationships/slideLayout" Target="../slideLayouts/slideLayout240.xml"/><Relationship Id="rId1" Type="http://schemas.openxmlformats.org/officeDocument/2006/relationships/slideLayout" Target="../slideLayouts/slideLayout225.xml"/><Relationship Id="rId6" Type="http://schemas.openxmlformats.org/officeDocument/2006/relationships/slideLayout" Target="../slideLayouts/slideLayout230.xml"/><Relationship Id="rId11" Type="http://schemas.openxmlformats.org/officeDocument/2006/relationships/slideLayout" Target="../slideLayouts/slideLayout235.xml"/><Relationship Id="rId5" Type="http://schemas.openxmlformats.org/officeDocument/2006/relationships/slideLayout" Target="../slideLayouts/slideLayout229.xml"/><Relationship Id="rId15" Type="http://schemas.openxmlformats.org/officeDocument/2006/relationships/slideLayout" Target="../slideLayouts/slideLayout239.xml"/><Relationship Id="rId10" Type="http://schemas.openxmlformats.org/officeDocument/2006/relationships/slideLayout" Target="../slideLayouts/slideLayout234.xml"/><Relationship Id="rId4" Type="http://schemas.openxmlformats.org/officeDocument/2006/relationships/slideLayout" Target="../slideLayouts/slideLayout228.xml"/><Relationship Id="rId9" Type="http://schemas.openxmlformats.org/officeDocument/2006/relationships/slideLayout" Target="../slideLayouts/slideLayout233.xml"/><Relationship Id="rId14" Type="http://schemas.openxmlformats.org/officeDocument/2006/relationships/slideLayout" Target="../slideLayouts/slideLayout238.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248.xml"/><Relationship Id="rId13" Type="http://schemas.openxmlformats.org/officeDocument/2006/relationships/slideLayout" Target="../slideLayouts/slideLayout253.xml"/><Relationship Id="rId3" Type="http://schemas.openxmlformats.org/officeDocument/2006/relationships/slideLayout" Target="../slideLayouts/slideLayout243.xml"/><Relationship Id="rId7" Type="http://schemas.openxmlformats.org/officeDocument/2006/relationships/slideLayout" Target="../slideLayouts/slideLayout247.xml"/><Relationship Id="rId12" Type="http://schemas.openxmlformats.org/officeDocument/2006/relationships/slideLayout" Target="../slideLayouts/slideLayout252.xml"/><Relationship Id="rId17" Type="http://schemas.openxmlformats.org/officeDocument/2006/relationships/theme" Target="../theme/theme16.xml"/><Relationship Id="rId2" Type="http://schemas.openxmlformats.org/officeDocument/2006/relationships/slideLayout" Target="../slideLayouts/slideLayout242.xml"/><Relationship Id="rId16" Type="http://schemas.openxmlformats.org/officeDocument/2006/relationships/slideLayout" Target="../slideLayouts/slideLayout256.xml"/><Relationship Id="rId1" Type="http://schemas.openxmlformats.org/officeDocument/2006/relationships/slideLayout" Target="../slideLayouts/slideLayout241.xml"/><Relationship Id="rId6" Type="http://schemas.openxmlformats.org/officeDocument/2006/relationships/slideLayout" Target="../slideLayouts/slideLayout246.xml"/><Relationship Id="rId11" Type="http://schemas.openxmlformats.org/officeDocument/2006/relationships/slideLayout" Target="../slideLayouts/slideLayout251.xml"/><Relationship Id="rId5" Type="http://schemas.openxmlformats.org/officeDocument/2006/relationships/slideLayout" Target="../slideLayouts/slideLayout245.xml"/><Relationship Id="rId15" Type="http://schemas.openxmlformats.org/officeDocument/2006/relationships/slideLayout" Target="../slideLayouts/slideLayout255.xml"/><Relationship Id="rId10" Type="http://schemas.openxmlformats.org/officeDocument/2006/relationships/slideLayout" Target="../slideLayouts/slideLayout250.xml"/><Relationship Id="rId4" Type="http://schemas.openxmlformats.org/officeDocument/2006/relationships/slideLayout" Target="../slideLayouts/slideLayout244.xml"/><Relationship Id="rId9" Type="http://schemas.openxmlformats.org/officeDocument/2006/relationships/slideLayout" Target="../slideLayouts/slideLayout249.xml"/><Relationship Id="rId14" Type="http://schemas.openxmlformats.org/officeDocument/2006/relationships/slideLayout" Target="../slideLayouts/slideLayout254.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64.xml"/><Relationship Id="rId13" Type="http://schemas.openxmlformats.org/officeDocument/2006/relationships/slideLayout" Target="../slideLayouts/slideLayout269.xml"/><Relationship Id="rId3" Type="http://schemas.openxmlformats.org/officeDocument/2006/relationships/slideLayout" Target="../slideLayouts/slideLayout259.xml"/><Relationship Id="rId7" Type="http://schemas.openxmlformats.org/officeDocument/2006/relationships/slideLayout" Target="../slideLayouts/slideLayout263.xml"/><Relationship Id="rId12" Type="http://schemas.openxmlformats.org/officeDocument/2006/relationships/slideLayout" Target="../slideLayouts/slideLayout268.xml"/><Relationship Id="rId17" Type="http://schemas.openxmlformats.org/officeDocument/2006/relationships/theme" Target="../theme/theme17.xml"/><Relationship Id="rId2" Type="http://schemas.openxmlformats.org/officeDocument/2006/relationships/slideLayout" Target="../slideLayouts/slideLayout258.xml"/><Relationship Id="rId16" Type="http://schemas.openxmlformats.org/officeDocument/2006/relationships/slideLayout" Target="../slideLayouts/slideLayout272.xml"/><Relationship Id="rId1" Type="http://schemas.openxmlformats.org/officeDocument/2006/relationships/slideLayout" Target="../slideLayouts/slideLayout257.xml"/><Relationship Id="rId6" Type="http://schemas.openxmlformats.org/officeDocument/2006/relationships/slideLayout" Target="../slideLayouts/slideLayout262.xml"/><Relationship Id="rId11" Type="http://schemas.openxmlformats.org/officeDocument/2006/relationships/slideLayout" Target="../slideLayouts/slideLayout267.xml"/><Relationship Id="rId5" Type="http://schemas.openxmlformats.org/officeDocument/2006/relationships/slideLayout" Target="../slideLayouts/slideLayout261.xml"/><Relationship Id="rId15" Type="http://schemas.openxmlformats.org/officeDocument/2006/relationships/slideLayout" Target="../slideLayouts/slideLayout271.xml"/><Relationship Id="rId10" Type="http://schemas.openxmlformats.org/officeDocument/2006/relationships/slideLayout" Target="../slideLayouts/slideLayout266.xml"/><Relationship Id="rId4" Type="http://schemas.openxmlformats.org/officeDocument/2006/relationships/slideLayout" Target="../slideLayouts/slideLayout260.xml"/><Relationship Id="rId9" Type="http://schemas.openxmlformats.org/officeDocument/2006/relationships/slideLayout" Target="../slideLayouts/slideLayout265.xml"/><Relationship Id="rId14" Type="http://schemas.openxmlformats.org/officeDocument/2006/relationships/slideLayout" Target="../slideLayouts/slideLayout270.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80.xml"/><Relationship Id="rId13" Type="http://schemas.openxmlformats.org/officeDocument/2006/relationships/slideLayout" Target="../slideLayouts/slideLayout285.xml"/><Relationship Id="rId3" Type="http://schemas.openxmlformats.org/officeDocument/2006/relationships/slideLayout" Target="../slideLayouts/slideLayout275.xml"/><Relationship Id="rId7" Type="http://schemas.openxmlformats.org/officeDocument/2006/relationships/slideLayout" Target="../slideLayouts/slideLayout279.xml"/><Relationship Id="rId12" Type="http://schemas.openxmlformats.org/officeDocument/2006/relationships/slideLayout" Target="../slideLayouts/slideLayout284.xml"/><Relationship Id="rId17" Type="http://schemas.openxmlformats.org/officeDocument/2006/relationships/theme" Target="../theme/theme18.xml"/><Relationship Id="rId2" Type="http://schemas.openxmlformats.org/officeDocument/2006/relationships/slideLayout" Target="../slideLayouts/slideLayout274.xml"/><Relationship Id="rId16" Type="http://schemas.openxmlformats.org/officeDocument/2006/relationships/slideLayout" Target="../slideLayouts/slideLayout288.xml"/><Relationship Id="rId1" Type="http://schemas.openxmlformats.org/officeDocument/2006/relationships/slideLayout" Target="../slideLayouts/slideLayout273.xml"/><Relationship Id="rId6" Type="http://schemas.openxmlformats.org/officeDocument/2006/relationships/slideLayout" Target="../slideLayouts/slideLayout278.xml"/><Relationship Id="rId11" Type="http://schemas.openxmlformats.org/officeDocument/2006/relationships/slideLayout" Target="../slideLayouts/slideLayout283.xml"/><Relationship Id="rId5" Type="http://schemas.openxmlformats.org/officeDocument/2006/relationships/slideLayout" Target="../slideLayouts/slideLayout277.xml"/><Relationship Id="rId15" Type="http://schemas.openxmlformats.org/officeDocument/2006/relationships/slideLayout" Target="../slideLayouts/slideLayout287.xml"/><Relationship Id="rId10" Type="http://schemas.openxmlformats.org/officeDocument/2006/relationships/slideLayout" Target="../slideLayouts/slideLayout282.xml"/><Relationship Id="rId4" Type="http://schemas.openxmlformats.org/officeDocument/2006/relationships/slideLayout" Target="../slideLayouts/slideLayout276.xml"/><Relationship Id="rId9" Type="http://schemas.openxmlformats.org/officeDocument/2006/relationships/slideLayout" Target="../slideLayouts/slideLayout281.xml"/><Relationship Id="rId14" Type="http://schemas.openxmlformats.org/officeDocument/2006/relationships/slideLayout" Target="../slideLayouts/slideLayout286.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96.xml"/><Relationship Id="rId13" Type="http://schemas.openxmlformats.org/officeDocument/2006/relationships/slideLayout" Target="../slideLayouts/slideLayout301.xml"/><Relationship Id="rId3" Type="http://schemas.openxmlformats.org/officeDocument/2006/relationships/slideLayout" Target="../slideLayouts/slideLayout291.xml"/><Relationship Id="rId7" Type="http://schemas.openxmlformats.org/officeDocument/2006/relationships/slideLayout" Target="../slideLayouts/slideLayout295.xml"/><Relationship Id="rId12" Type="http://schemas.openxmlformats.org/officeDocument/2006/relationships/slideLayout" Target="../slideLayouts/slideLayout300.xml"/><Relationship Id="rId17" Type="http://schemas.openxmlformats.org/officeDocument/2006/relationships/theme" Target="../theme/theme19.xml"/><Relationship Id="rId2" Type="http://schemas.openxmlformats.org/officeDocument/2006/relationships/slideLayout" Target="../slideLayouts/slideLayout290.xml"/><Relationship Id="rId16" Type="http://schemas.openxmlformats.org/officeDocument/2006/relationships/slideLayout" Target="../slideLayouts/slideLayout304.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1" Type="http://schemas.openxmlformats.org/officeDocument/2006/relationships/slideLayout" Target="../slideLayouts/slideLayout299.xml"/><Relationship Id="rId5" Type="http://schemas.openxmlformats.org/officeDocument/2006/relationships/slideLayout" Target="../slideLayouts/slideLayout293.xml"/><Relationship Id="rId15" Type="http://schemas.openxmlformats.org/officeDocument/2006/relationships/slideLayout" Target="../slideLayouts/slideLayout303.xml"/><Relationship Id="rId10" Type="http://schemas.openxmlformats.org/officeDocument/2006/relationships/slideLayout" Target="../slideLayouts/slideLayout298.xml"/><Relationship Id="rId4" Type="http://schemas.openxmlformats.org/officeDocument/2006/relationships/slideLayout" Target="../slideLayouts/slideLayout292.xml"/><Relationship Id="rId9" Type="http://schemas.openxmlformats.org/officeDocument/2006/relationships/slideLayout" Target="../slideLayouts/slideLayout297.xml"/><Relationship Id="rId14" Type="http://schemas.openxmlformats.org/officeDocument/2006/relationships/slideLayout" Target="../slideLayouts/slideLayout30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31D4EE5-909F-48DF-A25F-F957D1B95CC9}" type="datetime1">
              <a:rPr lang="en-IN" smtClean="0"/>
              <a:t>18-05-2021</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Rohit Lorenzo , VIT-AP</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t>‹#›</a:t>
            </a:fld>
            <a:endParaRPr lang="en-IN"/>
          </a:p>
        </p:txBody>
      </p:sp>
    </p:spTree>
    <p:extLst>
      <p:ext uri="{BB962C8B-B14F-4D97-AF65-F5344CB8AC3E}">
        <p14:creationId xmlns:p14="http://schemas.microsoft.com/office/powerpoint/2010/main" val="366094531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2231765770"/>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 id="2147483919" r:id="rId11"/>
    <p:sldLayoutId id="2147483920" r:id="rId12"/>
    <p:sldLayoutId id="2147483921" r:id="rId13"/>
    <p:sldLayoutId id="2147483922" r:id="rId14"/>
    <p:sldLayoutId id="2147483923" r:id="rId15"/>
    <p:sldLayoutId id="214748392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805200350"/>
      </p:ext>
    </p:extLst>
  </p:cSld>
  <p:clrMap bg1="lt1" tx1="dk1" bg2="lt2" tx2="dk2" accent1="accent1" accent2="accent2" accent3="accent3" accent4="accent4" accent5="accent5" accent6="accent6" hlink="hlink" folHlink="folHlink"/>
  <p:sldLayoutIdLst>
    <p:sldLayoutId id="2147483926" r:id="rId1"/>
    <p:sldLayoutId id="2147483927" r:id="rId2"/>
    <p:sldLayoutId id="2147483928" r:id="rId3"/>
    <p:sldLayoutId id="2147483929" r:id="rId4"/>
    <p:sldLayoutId id="2147483930" r:id="rId5"/>
    <p:sldLayoutId id="2147483931" r:id="rId6"/>
    <p:sldLayoutId id="2147483932" r:id="rId7"/>
    <p:sldLayoutId id="2147483933" r:id="rId8"/>
    <p:sldLayoutId id="2147483934" r:id="rId9"/>
    <p:sldLayoutId id="2147483935" r:id="rId10"/>
    <p:sldLayoutId id="2147483936" r:id="rId11"/>
    <p:sldLayoutId id="2147483937" r:id="rId12"/>
    <p:sldLayoutId id="2147483938" r:id="rId13"/>
    <p:sldLayoutId id="2147483939" r:id="rId14"/>
    <p:sldLayoutId id="2147483940" r:id="rId15"/>
    <p:sldLayoutId id="214748394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331029529"/>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 id="2147483954" r:id="rId12"/>
    <p:sldLayoutId id="2147483955" r:id="rId13"/>
    <p:sldLayoutId id="2147483956" r:id="rId14"/>
    <p:sldLayoutId id="2147483957" r:id="rId15"/>
    <p:sldLayoutId id="214748395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2082691292"/>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 id="2147483972" r:id="rId13"/>
    <p:sldLayoutId id="2147483973" r:id="rId14"/>
    <p:sldLayoutId id="2147483974" r:id="rId15"/>
    <p:sldLayoutId id="214748397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2994875916"/>
      </p:ext>
    </p:extLst>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 id="2147483988" r:id="rId12"/>
    <p:sldLayoutId id="2147483989" r:id="rId13"/>
    <p:sldLayoutId id="2147483990" r:id="rId14"/>
    <p:sldLayoutId id="2147483991" r:id="rId15"/>
    <p:sldLayoutId id="214748399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2382851965"/>
      </p:ext>
    </p:extLst>
  </p:cSld>
  <p:clrMap bg1="lt1" tx1="dk1" bg2="lt2" tx2="dk2" accent1="accent1" accent2="accent2" accent3="accent3" accent4="accent4" accent5="accent5" accent6="accent6" hlink="hlink" folHlink="folHlink"/>
  <p:sldLayoutIdLst>
    <p:sldLayoutId id="2147483994" r:id="rId1"/>
    <p:sldLayoutId id="2147483995" r:id="rId2"/>
    <p:sldLayoutId id="2147483996" r:id="rId3"/>
    <p:sldLayoutId id="2147483997" r:id="rId4"/>
    <p:sldLayoutId id="2147483998" r:id="rId5"/>
    <p:sldLayoutId id="2147483999" r:id="rId6"/>
    <p:sldLayoutId id="2147484000" r:id="rId7"/>
    <p:sldLayoutId id="2147484001" r:id="rId8"/>
    <p:sldLayoutId id="2147484002" r:id="rId9"/>
    <p:sldLayoutId id="2147484003" r:id="rId10"/>
    <p:sldLayoutId id="2147484004" r:id="rId11"/>
    <p:sldLayoutId id="2147484005" r:id="rId12"/>
    <p:sldLayoutId id="2147484006" r:id="rId13"/>
    <p:sldLayoutId id="2147484007" r:id="rId14"/>
    <p:sldLayoutId id="2147484008" r:id="rId15"/>
    <p:sldLayoutId id="214748400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929075267"/>
      </p:ext>
    </p:extLst>
  </p:cSld>
  <p:clrMap bg1="lt1" tx1="dk1" bg2="lt2" tx2="dk2" accent1="accent1" accent2="accent2" accent3="accent3" accent4="accent4" accent5="accent5" accent6="accent6" hlink="hlink" folHlink="folHlink"/>
  <p:sldLayoutIdLst>
    <p:sldLayoutId id="2147484011" r:id="rId1"/>
    <p:sldLayoutId id="2147484012" r:id="rId2"/>
    <p:sldLayoutId id="2147484013" r:id="rId3"/>
    <p:sldLayoutId id="2147484014" r:id="rId4"/>
    <p:sldLayoutId id="2147484015" r:id="rId5"/>
    <p:sldLayoutId id="2147484016" r:id="rId6"/>
    <p:sldLayoutId id="2147484017" r:id="rId7"/>
    <p:sldLayoutId id="2147484018" r:id="rId8"/>
    <p:sldLayoutId id="2147484019" r:id="rId9"/>
    <p:sldLayoutId id="2147484020" r:id="rId10"/>
    <p:sldLayoutId id="2147484021" r:id="rId11"/>
    <p:sldLayoutId id="2147484022" r:id="rId12"/>
    <p:sldLayoutId id="2147484023" r:id="rId13"/>
    <p:sldLayoutId id="2147484024" r:id="rId14"/>
    <p:sldLayoutId id="2147484025" r:id="rId15"/>
    <p:sldLayoutId id="214748402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648175055"/>
      </p:ext>
    </p:extLst>
  </p:cSld>
  <p:clrMap bg1="lt1" tx1="dk1" bg2="lt2" tx2="dk2" accent1="accent1" accent2="accent2" accent3="accent3" accent4="accent4" accent5="accent5" accent6="accent6" hlink="hlink" folHlink="folHlink"/>
  <p:sldLayoutIdLst>
    <p:sldLayoutId id="2147484028"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39" r:id="rId12"/>
    <p:sldLayoutId id="2147484040" r:id="rId13"/>
    <p:sldLayoutId id="2147484041" r:id="rId14"/>
    <p:sldLayoutId id="2147484042" r:id="rId15"/>
    <p:sldLayoutId id="214748404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758378823"/>
      </p:ext>
    </p:extLst>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4006008640"/>
      </p:ext>
    </p:extLst>
  </p:cSld>
  <p:clrMap bg1="lt1" tx1="dk1" bg2="lt2" tx2="dk2" accent1="accent1" accent2="accent2" accent3="accent3" accent4="accent4" accent5="accent5" accent6="accent6" hlink="hlink" folHlink="folHlink"/>
  <p:sldLayoutIdLst>
    <p:sldLayoutId id="2147484062" r:id="rId1"/>
    <p:sldLayoutId id="2147484063" r:id="rId2"/>
    <p:sldLayoutId id="2147484064" r:id="rId3"/>
    <p:sldLayoutId id="2147484065" r:id="rId4"/>
    <p:sldLayoutId id="2147484066" r:id="rId5"/>
    <p:sldLayoutId id="2147484067" r:id="rId6"/>
    <p:sldLayoutId id="2147484068" r:id="rId7"/>
    <p:sldLayoutId id="2147484069" r:id="rId8"/>
    <p:sldLayoutId id="2147484070" r:id="rId9"/>
    <p:sldLayoutId id="2147484071" r:id="rId10"/>
    <p:sldLayoutId id="2147484072" r:id="rId11"/>
    <p:sldLayoutId id="2147484073" r:id="rId12"/>
    <p:sldLayoutId id="2147484074" r:id="rId13"/>
    <p:sldLayoutId id="2147484075" r:id="rId14"/>
    <p:sldLayoutId id="2147484076" r:id="rId15"/>
    <p:sldLayoutId id="214748407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581178824"/>
      </p:ext>
    </p:extLst>
  </p:cSld>
  <p:clrMap bg1="lt1" tx1="dk1" bg2="lt2" tx2="dk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 id="2147484085" r:id="rId7"/>
    <p:sldLayoutId id="2147484086" r:id="rId8"/>
    <p:sldLayoutId id="2147484087" r:id="rId9"/>
    <p:sldLayoutId id="2147484088" r:id="rId10"/>
    <p:sldLayoutId id="2147484089" r:id="rId11"/>
    <p:sldLayoutId id="2147484090" r:id="rId12"/>
    <p:sldLayoutId id="2147484091" r:id="rId13"/>
    <p:sldLayoutId id="2147484092" r:id="rId14"/>
    <p:sldLayoutId id="2147484093" r:id="rId15"/>
    <p:sldLayoutId id="21474840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4182309865"/>
      </p:ext>
    </p:extLst>
  </p:cSld>
  <p:clrMap bg1="lt1" tx1="dk1" bg2="lt2" tx2="dk2" accent1="accent1" accent2="accent2" accent3="accent3" accent4="accent4" accent5="accent5" accent6="accent6" hlink="hlink" folHlink="folHlink"/>
  <p:sldLayoutIdLst>
    <p:sldLayoutId id="2147484096"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 id="2147484107" r:id="rId12"/>
    <p:sldLayoutId id="2147484108" r:id="rId13"/>
    <p:sldLayoutId id="2147484109" r:id="rId14"/>
    <p:sldLayoutId id="2147484110" r:id="rId15"/>
    <p:sldLayoutId id="214748411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680659262"/>
      </p:ext>
    </p:extLst>
  </p:cSld>
  <p:clrMap bg1="lt1" tx1="dk1" bg2="lt2" tx2="dk2" accent1="accent1" accent2="accent2" accent3="accent3" accent4="accent4" accent5="accent5" accent6="accent6" hlink="hlink" folHlink="folHlink"/>
  <p:sldLayoutIdLst>
    <p:sldLayoutId id="2147484113" r:id="rId1"/>
    <p:sldLayoutId id="2147484114" r:id="rId2"/>
    <p:sldLayoutId id="2147484115" r:id="rId3"/>
    <p:sldLayoutId id="2147484116" r:id="rId4"/>
    <p:sldLayoutId id="2147484117" r:id="rId5"/>
    <p:sldLayoutId id="2147484118" r:id="rId6"/>
    <p:sldLayoutId id="2147484119" r:id="rId7"/>
    <p:sldLayoutId id="2147484120" r:id="rId8"/>
    <p:sldLayoutId id="2147484121" r:id="rId9"/>
    <p:sldLayoutId id="2147484122" r:id="rId10"/>
    <p:sldLayoutId id="2147484123" r:id="rId11"/>
    <p:sldLayoutId id="2147484124" r:id="rId12"/>
    <p:sldLayoutId id="2147484125" r:id="rId13"/>
    <p:sldLayoutId id="2147484126" r:id="rId14"/>
    <p:sldLayoutId id="2147484127" r:id="rId15"/>
    <p:sldLayoutId id="214748412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74493844"/>
      </p:ext>
    </p:extLst>
  </p:cSld>
  <p:clrMap bg1="lt1" tx1="dk1" bg2="lt2" tx2="dk2" accent1="accent1" accent2="accent2" accent3="accent3" accent4="accent4" accent5="accent5" accent6="accent6" hlink="hlink" folHlink="folHlink"/>
  <p:sldLayoutIdLst>
    <p:sldLayoutId id="2147484130" r:id="rId1"/>
    <p:sldLayoutId id="2147484131" r:id="rId2"/>
    <p:sldLayoutId id="2147484132" r:id="rId3"/>
    <p:sldLayoutId id="2147484133" r:id="rId4"/>
    <p:sldLayoutId id="2147484134" r:id="rId5"/>
    <p:sldLayoutId id="2147484135" r:id="rId6"/>
    <p:sldLayoutId id="2147484136" r:id="rId7"/>
    <p:sldLayoutId id="2147484137" r:id="rId8"/>
    <p:sldLayoutId id="2147484138" r:id="rId9"/>
    <p:sldLayoutId id="2147484139" r:id="rId10"/>
    <p:sldLayoutId id="2147484140" r:id="rId11"/>
    <p:sldLayoutId id="2147484141" r:id="rId12"/>
    <p:sldLayoutId id="2147484142" r:id="rId13"/>
    <p:sldLayoutId id="2147484143" r:id="rId14"/>
    <p:sldLayoutId id="2147484144" r:id="rId15"/>
    <p:sldLayoutId id="214748414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4097903051"/>
      </p:ext>
    </p:extLst>
  </p:cSld>
  <p:clrMap bg1="lt1" tx1="dk1" bg2="lt2" tx2="dk2" accent1="accent1" accent2="accent2" accent3="accent3" accent4="accent4" accent5="accent5" accent6="accent6" hlink="hlink" folHlink="folHlink"/>
  <p:sldLayoutIdLst>
    <p:sldLayoutId id="2147484147" r:id="rId1"/>
    <p:sldLayoutId id="2147484148" r:id="rId2"/>
    <p:sldLayoutId id="2147484149" r:id="rId3"/>
    <p:sldLayoutId id="2147484150" r:id="rId4"/>
    <p:sldLayoutId id="2147484151" r:id="rId5"/>
    <p:sldLayoutId id="2147484152" r:id="rId6"/>
    <p:sldLayoutId id="2147484153" r:id="rId7"/>
    <p:sldLayoutId id="2147484154" r:id="rId8"/>
    <p:sldLayoutId id="2147484155" r:id="rId9"/>
    <p:sldLayoutId id="2147484156" r:id="rId10"/>
    <p:sldLayoutId id="2147484157" r:id="rId11"/>
    <p:sldLayoutId id="2147484158" r:id="rId12"/>
    <p:sldLayoutId id="2147484159" r:id="rId13"/>
    <p:sldLayoutId id="2147484160" r:id="rId14"/>
    <p:sldLayoutId id="2147484161" r:id="rId15"/>
    <p:sldLayoutId id="214748416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2561193406"/>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719674974"/>
      </p:ext>
    </p:extLst>
  </p:cSld>
  <p:clrMap bg1="lt1" tx1="dk1" bg2="lt2" tx2="dk2" accent1="accent1" accent2="accent2" accent3="accent3" accent4="accent4" accent5="accent5" accent6="accent6" hlink="hlink" folHlink="folHlink"/>
  <p:sldLayoutIdLst>
    <p:sldLayoutId id="2147484181" r:id="rId1"/>
    <p:sldLayoutId id="2147484182" r:id="rId2"/>
    <p:sldLayoutId id="2147484183" r:id="rId3"/>
    <p:sldLayoutId id="2147484184" r:id="rId4"/>
    <p:sldLayoutId id="2147484185" r:id="rId5"/>
    <p:sldLayoutId id="2147484186" r:id="rId6"/>
    <p:sldLayoutId id="2147484187" r:id="rId7"/>
    <p:sldLayoutId id="2147484188" r:id="rId8"/>
    <p:sldLayoutId id="2147484189" r:id="rId9"/>
    <p:sldLayoutId id="2147484190" r:id="rId10"/>
    <p:sldLayoutId id="2147484191" r:id="rId11"/>
    <p:sldLayoutId id="2147484192" r:id="rId12"/>
    <p:sldLayoutId id="2147484193" r:id="rId13"/>
    <p:sldLayoutId id="2147484194" r:id="rId14"/>
    <p:sldLayoutId id="2147484195" r:id="rId15"/>
    <p:sldLayoutId id="214748419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E56CA3-E08A-46E4-BF99-1DCC4B5DC49D}" type="datetimeFigureOut">
              <a:rPr lang="en-IN" smtClean="0">
                <a:solidFill>
                  <a:prstClr val="black">
                    <a:tint val="75000"/>
                  </a:prstClr>
                </a:solidFill>
              </a:rPr>
              <a:pPr/>
              <a:t>18-05-2021</a:t>
            </a:fld>
            <a:endParaRPr lang="en-IN">
              <a:solidFill>
                <a:prstClr val="black">
                  <a:tint val="75000"/>
                </a:prstClr>
              </a:solidFill>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4230341513"/>
      </p:ext>
    </p:extLst>
  </p:cSld>
  <p:clrMap bg1="lt1" tx1="dk1" bg2="lt2" tx2="dk2" accent1="accent1" accent2="accent2" accent3="accent3" accent4="accent4" accent5="accent5" accent6="accent6" hlink="hlink" folHlink="folHlink"/>
  <p:sldLayoutIdLst>
    <p:sldLayoutId id="2147484198" r:id="rId1"/>
    <p:sldLayoutId id="2147484199" r:id="rId2"/>
    <p:sldLayoutId id="2147484200" r:id="rId3"/>
    <p:sldLayoutId id="2147484201" r:id="rId4"/>
    <p:sldLayoutId id="2147484202" r:id="rId5"/>
    <p:sldLayoutId id="2147484203" r:id="rId6"/>
    <p:sldLayoutId id="2147484204" r:id="rId7"/>
    <p:sldLayoutId id="2147484205" r:id="rId8"/>
    <p:sldLayoutId id="2147484206" r:id="rId9"/>
    <p:sldLayoutId id="2147484207" r:id="rId10"/>
    <p:sldLayoutId id="2147484208" r:id="rId11"/>
    <p:sldLayoutId id="2147484209" r:id="rId12"/>
    <p:sldLayoutId id="2147484210" r:id="rId13"/>
    <p:sldLayoutId id="2147484211" r:id="rId14"/>
    <p:sldLayoutId id="2147484212" r:id="rId15"/>
    <p:sldLayoutId id="214748421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6.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0.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6.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8.xml"/></Relationships>
</file>

<file path=ppt/slides/_rels/slide2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bin"/><Relationship Id="rId1" Type="http://schemas.openxmlformats.org/officeDocument/2006/relationships/slideLayout" Target="../slideLayouts/slideLayout194.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10.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26.xml"/></Relationships>
</file>

<file path=ppt/slides/_rels/slide2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26.xml"/></Relationships>
</file>

<file path=ppt/slides/_rels/slide2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4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3.png"/><Relationship Id="rId1" Type="http://schemas.openxmlformats.org/officeDocument/2006/relationships/slideLayout" Target="../slideLayouts/slideLayout258.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74.xml"/><Relationship Id="rId5" Type="http://schemas.openxmlformats.org/officeDocument/2006/relationships/image" Target="../media/image19.png"/><Relationship Id="rId4" Type="http://schemas.openxmlformats.org/officeDocument/2006/relationships/image" Target="../media/image26.emf"/></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7.emf"/><Relationship Id="rId1" Type="http://schemas.openxmlformats.org/officeDocument/2006/relationships/slideLayout" Target="../slideLayouts/slideLayout290.xml"/></Relationships>
</file>

<file path=ppt/slides/_rels/slide2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9.png"/><Relationship Id="rId1" Type="http://schemas.openxmlformats.org/officeDocument/2006/relationships/slideLayout" Target="../slideLayouts/slideLayout290.xml"/><Relationship Id="rId6" Type="http://schemas.openxmlformats.org/officeDocument/2006/relationships/image" Target="../media/image29.png"/><Relationship Id="rId5" Type="http://schemas.openxmlformats.org/officeDocument/2006/relationships/customXml" Target="../ink/ink2.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www.elprocus.com/sum-of-products-and-product-of-sums/" TargetMode="External"/><Relationship Id="rId1" Type="http://schemas.openxmlformats.org/officeDocument/2006/relationships/slideLayout" Target="../slideLayouts/slideLayout290.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1.png"/><Relationship Id="rId1" Type="http://schemas.openxmlformats.org/officeDocument/2006/relationships/slideLayout" Target="../slideLayouts/slideLayout290.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2.png"/><Relationship Id="rId1" Type="http://schemas.openxmlformats.org/officeDocument/2006/relationships/slideLayout" Target="../slideLayouts/slideLayout29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3000" b="1" dirty="0"/>
              <a:t>C</a:t>
            </a:r>
            <a:r>
              <a:rPr lang="en-IN" sz="3000" b="1" dirty="0"/>
              <a:t>MOS VLSI Design</a:t>
            </a:r>
            <a:br>
              <a:rPr lang="en-IN" sz="3000" b="1" dirty="0"/>
            </a:br>
            <a:r>
              <a:rPr lang="en-IN" sz="3000" b="1" dirty="0"/>
              <a:t>Topic </a:t>
            </a:r>
            <a:br>
              <a:rPr lang="en-IN" sz="3000" b="1" dirty="0"/>
            </a:br>
            <a:r>
              <a:rPr lang="en-IN" sz="3000" b="1" u="sng" dirty="0"/>
              <a:t>Memory</a:t>
            </a:r>
          </a:p>
        </p:txBody>
      </p:sp>
      <p:sp>
        <p:nvSpPr>
          <p:cNvPr id="3" name="Content Placeholder 2"/>
          <p:cNvSpPr>
            <a:spLocks noGrp="1"/>
          </p:cNvSpPr>
          <p:nvPr>
            <p:ph idx="1"/>
          </p:nvPr>
        </p:nvSpPr>
        <p:spPr>
          <a:xfrm>
            <a:off x="1450731" y="2133599"/>
            <a:ext cx="10278207" cy="4399085"/>
          </a:xfrm>
        </p:spPr>
        <p:txBody>
          <a:bodyPr/>
          <a:lstStyle/>
          <a:p>
            <a:pPr marL="0" indent="0" algn="ctr">
              <a:buNone/>
            </a:pPr>
            <a:r>
              <a:rPr lang="en-IN" b="1" dirty="0"/>
              <a:t>By</a:t>
            </a:r>
          </a:p>
          <a:p>
            <a:pPr marL="0" indent="0" algn="ctr">
              <a:buNone/>
            </a:pPr>
            <a:endParaRPr lang="en-IN" dirty="0"/>
          </a:p>
          <a:p>
            <a:pPr marL="0" indent="0" algn="ctr">
              <a:buNone/>
            </a:pPr>
            <a:r>
              <a:rPr lang="en-IN" sz="2000" b="1" dirty="0" err="1"/>
              <a:t>Dr.Rohit</a:t>
            </a:r>
            <a:r>
              <a:rPr lang="en-IN" sz="2000" b="1" dirty="0"/>
              <a:t> Lorenzo</a:t>
            </a:r>
          </a:p>
          <a:p>
            <a:pPr marL="0" indent="0" algn="ctr">
              <a:buNone/>
            </a:pPr>
            <a:r>
              <a:rPr lang="en-IN" sz="2000" b="1" dirty="0"/>
              <a:t>Assistant Professor Sr. Grade -1</a:t>
            </a:r>
          </a:p>
          <a:p>
            <a:pPr marL="0" indent="0" algn="ctr">
              <a:buNone/>
            </a:pPr>
            <a:r>
              <a:rPr lang="en-IN" sz="2000" b="1" dirty="0"/>
              <a:t>School of Electronics Engineering (SENSE)</a:t>
            </a:r>
          </a:p>
          <a:p>
            <a:pPr marL="0" indent="0" algn="ctr">
              <a:buNone/>
            </a:pPr>
            <a:endParaRPr lang="en-IN" b="1" dirty="0"/>
          </a:p>
          <a:p>
            <a:pPr marL="0" indent="0" algn="ctr">
              <a:buNone/>
            </a:pPr>
            <a:r>
              <a:rPr lang="en-IN" dirty="0"/>
              <a:t> </a:t>
            </a:r>
          </a:p>
        </p:txBody>
      </p:sp>
      <p:pic>
        <p:nvPicPr>
          <p:cNvPr id="4" name="Picture 3">
            <a:extLst>
              <a:ext uri="{FF2B5EF4-FFF2-40B4-BE49-F238E27FC236}">
                <a16:creationId xmlns:a16="http://schemas.microsoft.com/office/drawing/2014/main" id="{E7D8A5F9-ED45-42EF-B008-2ACDB3324E29}"/>
              </a:ext>
            </a:extLst>
          </p:cNvPr>
          <p:cNvPicPr>
            <a:picLocks noChangeAspect="1"/>
          </p:cNvPicPr>
          <p:nvPr/>
        </p:nvPicPr>
        <p:blipFill>
          <a:blip r:embed="rId2"/>
          <a:stretch>
            <a:fillRect/>
          </a:stretch>
        </p:blipFill>
        <p:spPr>
          <a:xfrm>
            <a:off x="5518271" y="4206557"/>
            <a:ext cx="2143125" cy="2143125"/>
          </a:xfrm>
          <a:prstGeom prst="rect">
            <a:avLst/>
          </a:prstGeom>
        </p:spPr>
      </p:pic>
      <p:sp>
        <p:nvSpPr>
          <p:cNvPr id="6" name="Footer Placeholder 5">
            <a:extLst>
              <a:ext uri="{FF2B5EF4-FFF2-40B4-BE49-F238E27FC236}">
                <a16:creationId xmlns:a16="http://schemas.microsoft.com/office/drawing/2014/main" id="{5E9579B1-487B-4D07-8C3A-2D1E584D45E5}"/>
              </a:ext>
            </a:extLst>
          </p:cNvPr>
          <p:cNvSpPr>
            <a:spLocks noGrp="1"/>
          </p:cNvSpPr>
          <p:nvPr>
            <p:ph type="ftr" sz="quarter" idx="11"/>
          </p:nvPr>
        </p:nvSpPr>
        <p:spPr/>
        <p:txBody>
          <a:bodyPr/>
          <a:lstStyle/>
          <a:p>
            <a:r>
              <a:rPr lang="en-IN"/>
              <a:t>Rohit Lorenzo , VIT-AP</a:t>
            </a:r>
          </a:p>
        </p:txBody>
      </p:sp>
    </p:spTree>
    <p:extLst>
      <p:ext uri="{BB962C8B-B14F-4D97-AF65-F5344CB8AC3E}">
        <p14:creationId xmlns:p14="http://schemas.microsoft.com/office/powerpoint/2010/main" val="1808153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t>Topic – </a:t>
            </a:r>
            <a:r>
              <a:rPr lang="en-IN" sz="3200" b="1" u="sng" dirty="0">
                <a:solidFill>
                  <a:srgbClr val="FF0000"/>
                </a:solidFill>
              </a:rPr>
              <a:t>Semiconductor Memories</a:t>
            </a:r>
            <a:br>
              <a:rPr lang="en-IN" sz="3200" b="1" dirty="0"/>
            </a:br>
            <a:r>
              <a:rPr lang="en-IN" sz="3200" b="1" dirty="0"/>
              <a:t>Talk Outline</a:t>
            </a:r>
            <a:br>
              <a:rPr lang="en-IN" sz="3200" b="1" dirty="0"/>
            </a:br>
            <a:endParaRPr lang="en-IN" sz="3200" b="1" dirty="0"/>
          </a:p>
        </p:txBody>
      </p:sp>
      <p:sp>
        <p:nvSpPr>
          <p:cNvPr id="3" name="Content Placeholder 2"/>
          <p:cNvSpPr>
            <a:spLocks noGrp="1"/>
          </p:cNvSpPr>
          <p:nvPr>
            <p:ph idx="1"/>
          </p:nvPr>
        </p:nvSpPr>
        <p:spPr/>
        <p:txBody>
          <a:bodyPr>
            <a:normAutofit/>
          </a:bodyPr>
          <a:lstStyle/>
          <a:p>
            <a:endParaRPr lang="en-IN" sz="2400" b="1" dirty="0"/>
          </a:p>
          <a:p>
            <a:r>
              <a:rPr lang="en-US" sz="2400" b="1" dirty="0"/>
              <a:t>Introduction</a:t>
            </a:r>
          </a:p>
          <a:p>
            <a:r>
              <a:rPr lang="en-US" sz="2400" b="1" dirty="0"/>
              <a:t>Memory Characteristics</a:t>
            </a:r>
            <a:endParaRPr lang="en-IN" sz="2400" b="1" dirty="0"/>
          </a:p>
          <a:p>
            <a:r>
              <a:rPr lang="en-US" sz="2400" b="1" dirty="0"/>
              <a:t>Memory Classification</a:t>
            </a:r>
          </a:p>
          <a:p>
            <a:r>
              <a:rPr lang="en-US" sz="2400" b="1" dirty="0"/>
              <a:t>Memory Array Organization</a:t>
            </a:r>
            <a:endParaRPr lang="en-IN" sz="2400" b="1" dirty="0"/>
          </a:p>
          <a:p>
            <a:r>
              <a:rPr lang="en-US" sz="2400" b="1" dirty="0"/>
              <a:t>Summary</a:t>
            </a:r>
            <a:endParaRPr lang="en-IN" sz="2400" b="1" dirty="0"/>
          </a:p>
          <a:p>
            <a:pPr marL="0" indent="0">
              <a:buNone/>
            </a:pPr>
            <a:endParaRPr lang="en-IN" sz="2400" b="1" dirty="0"/>
          </a:p>
        </p:txBody>
      </p:sp>
      <p:sp>
        <p:nvSpPr>
          <p:cNvPr id="4" name="Footer Placeholder 3">
            <a:extLst>
              <a:ext uri="{FF2B5EF4-FFF2-40B4-BE49-F238E27FC236}">
                <a16:creationId xmlns:a16="http://schemas.microsoft.com/office/drawing/2014/main" id="{9A6A3AA7-0270-47EF-94A5-59AC9EA7893D}"/>
              </a:ext>
            </a:extLst>
          </p:cNvPr>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140214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2341" y="624110"/>
            <a:ext cx="9802272" cy="1280890"/>
          </a:xfrm>
        </p:spPr>
        <p:txBody>
          <a:bodyPr/>
          <a:lstStyle/>
          <a:p>
            <a:r>
              <a:rPr lang="en-IN" b="1" dirty="0">
                <a:solidFill>
                  <a:prstClr val="black">
                    <a:lumMod val="85000"/>
                    <a:lumOff val="15000"/>
                  </a:prstClr>
                </a:solidFill>
              </a:rPr>
              <a:t>Introduction</a:t>
            </a:r>
            <a:endParaRPr lang="en-IN" dirty="0"/>
          </a:p>
        </p:txBody>
      </p:sp>
      <p:sp>
        <p:nvSpPr>
          <p:cNvPr id="3" name="Content Placeholder 2"/>
          <p:cNvSpPr>
            <a:spLocks noGrp="1"/>
          </p:cNvSpPr>
          <p:nvPr>
            <p:ph idx="1"/>
          </p:nvPr>
        </p:nvSpPr>
        <p:spPr>
          <a:xfrm>
            <a:off x="1108953" y="1575881"/>
            <a:ext cx="10395659" cy="4335341"/>
          </a:xfrm>
        </p:spPr>
        <p:txBody>
          <a:bodyPr/>
          <a:lstStyle/>
          <a:p>
            <a:r>
              <a:rPr lang="en-US" dirty="0">
                <a:latin typeface="Arial" pitchFamily="34" charset="0"/>
                <a:cs typeface="Arial" pitchFamily="34" charset="0"/>
              </a:rPr>
              <a:t>Semiconductor memory arrays capable of storing large quantities of digital information are essential to all digital systems</a:t>
            </a:r>
            <a:r>
              <a:rPr lang="en-US" dirty="0">
                <a:latin typeface="Times New Roman"/>
              </a:rPr>
              <a:t>. </a:t>
            </a:r>
          </a:p>
          <a:p>
            <a:pPr algn="just"/>
            <a:r>
              <a:rPr lang="en-US" dirty="0">
                <a:latin typeface="Arial" pitchFamily="34" charset="0"/>
                <a:cs typeface="Arial" pitchFamily="34" charset="0"/>
              </a:rPr>
              <a:t>The amount of memory required in a particular system depends on the type of application, but, in general, the number of transistors utilized for the information (data) storage function is much larger than the number of transistors used in logic operations and for other purposes. </a:t>
            </a:r>
          </a:p>
          <a:p>
            <a:pPr algn="just"/>
            <a:r>
              <a:rPr lang="en-US" dirty="0">
                <a:latin typeface="Arial" pitchFamily="34" charset="0"/>
                <a:cs typeface="Arial" pitchFamily="34" charset="0"/>
              </a:rPr>
              <a:t>The ever-increasing demand for larger data storage capacity has driven the fabrication technology and memory development towards more compact design rules and, consequently, toward higher data storage densities. </a:t>
            </a:r>
          </a:p>
          <a:p>
            <a:r>
              <a:rPr lang="en-IN" dirty="0">
                <a:latin typeface="Arial" pitchFamily="34" charset="0"/>
                <a:cs typeface="Arial" pitchFamily="34" charset="0"/>
              </a:rPr>
              <a:t>Thus, </a:t>
            </a:r>
            <a:r>
              <a:rPr lang="en-US" dirty="0">
                <a:latin typeface="Arial" pitchFamily="34" charset="0"/>
                <a:cs typeface="Arial" pitchFamily="34" charset="0"/>
              </a:rPr>
              <a:t>the maximum realizable data storage capacity of single-chip semiconductor memory arrays approximately doubles every two years.</a:t>
            </a:r>
            <a:endParaRPr lang="en-IN" dirty="0">
              <a:latin typeface="Arial" pitchFamily="34" charset="0"/>
              <a:cs typeface="Arial" pitchFamily="34" charset="0"/>
            </a:endParaRPr>
          </a:p>
        </p:txBody>
      </p:sp>
      <p:sp>
        <p:nvSpPr>
          <p:cNvPr id="4" name="Footer Placeholder 3"/>
          <p:cNvSpPr>
            <a:spLocks noGrp="1"/>
          </p:cNvSpPr>
          <p:nvPr>
            <p:ph type="ftr" sz="quarter" idx="11"/>
          </p:nvPr>
        </p:nvSpPr>
        <p:spPr>
          <a:xfrm>
            <a:off x="1760706" y="6135808"/>
            <a:ext cx="8448505" cy="365125"/>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212853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3631" y="624110"/>
            <a:ext cx="9710981" cy="1280890"/>
          </a:xfrm>
        </p:spPr>
        <p:txBody>
          <a:bodyPr/>
          <a:lstStyle/>
          <a:p>
            <a:r>
              <a:rPr lang="en-IN" b="1" dirty="0"/>
              <a:t>Memory Characteristics</a:t>
            </a:r>
            <a:endParaRPr lang="en-IN" dirty="0"/>
          </a:p>
        </p:txBody>
      </p:sp>
      <p:sp>
        <p:nvSpPr>
          <p:cNvPr id="3" name="Content Placeholder 2"/>
          <p:cNvSpPr>
            <a:spLocks noGrp="1"/>
          </p:cNvSpPr>
          <p:nvPr>
            <p:ph idx="1"/>
          </p:nvPr>
        </p:nvSpPr>
        <p:spPr>
          <a:xfrm>
            <a:off x="1450731" y="1468315"/>
            <a:ext cx="10053881" cy="5161085"/>
          </a:xfrm>
        </p:spPr>
        <p:txBody>
          <a:bodyPr/>
          <a:lstStyle/>
          <a:p>
            <a:r>
              <a:rPr lang="en-IN" sz="2000" b="1" dirty="0">
                <a:solidFill>
                  <a:schemeClr val="accent2"/>
                </a:solidFill>
                <a:latin typeface="Arial" pitchFamily="34" charset="0"/>
                <a:cs typeface="Arial" pitchFamily="34" charset="0"/>
              </a:rPr>
              <a:t> </a:t>
            </a:r>
            <a:r>
              <a:rPr lang="en-IN" sz="2000" b="1" dirty="0">
                <a:solidFill>
                  <a:schemeClr val="tx1"/>
                </a:solidFill>
                <a:latin typeface="Arial" pitchFamily="34" charset="0"/>
                <a:cs typeface="Arial" pitchFamily="34" charset="0"/>
              </a:rPr>
              <a:t>Area, Speed and Power </a:t>
            </a:r>
          </a:p>
          <a:p>
            <a:endParaRPr lang="en-IN" sz="1600" b="1" dirty="0">
              <a:solidFill>
                <a:schemeClr val="tx1"/>
              </a:solidFill>
            </a:endParaRPr>
          </a:p>
          <a:p>
            <a:r>
              <a:rPr lang="en-IN" sz="2000" b="1" dirty="0">
                <a:solidFill>
                  <a:srgbClr val="B73C26"/>
                </a:solidFill>
                <a:latin typeface="Arial" pitchFamily="34" charset="0"/>
                <a:cs typeface="Arial" pitchFamily="34" charset="0"/>
              </a:rPr>
              <a:t>Area :</a:t>
            </a:r>
            <a:r>
              <a:rPr lang="en-IN" b="1" dirty="0">
                <a:solidFill>
                  <a:srgbClr val="B73C26"/>
                </a:solidFill>
                <a:latin typeface="Arial" pitchFamily="34" charset="0"/>
                <a:cs typeface="Arial" pitchFamily="34" charset="0"/>
              </a:rPr>
              <a:t> </a:t>
            </a:r>
            <a:r>
              <a:rPr lang="en-US" dirty="0">
                <a:latin typeface="Arial" pitchFamily="34" charset="0"/>
                <a:cs typeface="Arial" pitchFamily="34" charset="0"/>
              </a:rPr>
              <a:t>The area efficiency of the memory array, i.e., the number of stored data bits per unit area, is one of the key design criteria that determine the overall storage capacity and, hence, the memory </a:t>
            </a:r>
            <a:r>
              <a:rPr lang="en-US" i="1" dirty="0">
                <a:latin typeface="Arial" pitchFamily="34" charset="0"/>
                <a:cs typeface="Arial" pitchFamily="34" charset="0"/>
              </a:rPr>
              <a:t>cost per bit.</a:t>
            </a:r>
          </a:p>
          <a:p>
            <a:pPr marL="0" indent="0">
              <a:buNone/>
            </a:pPr>
            <a:endParaRPr lang="en-IN" b="1" dirty="0">
              <a:solidFill>
                <a:schemeClr val="tx1"/>
              </a:solidFill>
              <a:latin typeface="Arial" pitchFamily="34" charset="0"/>
              <a:cs typeface="Arial" pitchFamily="34" charset="0"/>
            </a:endParaRPr>
          </a:p>
          <a:p>
            <a:pPr algn="just"/>
            <a:r>
              <a:rPr lang="en-IN" b="1" dirty="0">
                <a:solidFill>
                  <a:srgbClr val="B73C26"/>
                </a:solidFill>
                <a:latin typeface="Arial" pitchFamily="34" charset="0"/>
                <a:cs typeface="Arial" pitchFamily="34" charset="0"/>
              </a:rPr>
              <a:t>Speed : </a:t>
            </a:r>
            <a:r>
              <a:rPr lang="en-US" dirty="0">
                <a:latin typeface="Arial" pitchFamily="34" charset="0"/>
                <a:cs typeface="Arial" pitchFamily="34" charset="0"/>
              </a:rPr>
              <a:t>Another important issue is the memory access time, i.e., the time required to store and/or retrieve a particular data bit in the memory array. The access time determines the memory </a:t>
            </a:r>
            <a:r>
              <a:rPr lang="en-US" i="1" dirty="0">
                <a:latin typeface="Arial" pitchFamily="34" charset="0"/>
                <a:cs typeface="Arial" pitchFamily="34" charset="0"/>
              </a:rPr>
              <a:t>speed, </a:t>
            </a:r>
            <a:r>
              <a:rPr lang="en-US" dirty="0">
                <a:latin typeface="Arial" pitchFamily="34" charset="0"/>
                <a:cs typeface="Arial" pitchFamily="34" charset="0"/>
              </a:rPr>
              <a:t>which is an important performance criterion </a:t>
            </a:r>
            <a:r>
              <a:rPr lang="en-IN" dirty="0">
                <a:latin typeface="Arial" pitchFamily="34" charset="0"/>
                <a:cs typeface="Arial" pitchFamily="34" charset="0"/>
              </a:rPr>
              <a:t>of the memory array. </a:t>
            </a:r>
          </a:p>
          <a:p>
            <a:pPr algn="just"/>
            <a:endParaRPr lang="en-IN" b="1" dirty="0">
              <a:solidFill>
                <a:schemeClr val="tx1"/>
              </a:solidFill>
              <a:latin typeface="Arial" pitchFamily="34" charset="0"/>
              <a:cs typeface="Arial" pitchFamily="34" charset="0"/>
            </a:endParaRPr>
          </a:p>
          <a:p>
            <a:r>
              <a:rPr lang="en-IN" b="1" dirty="0">
                <a:solidFill>
                  <a:srgbClr val="B73C26"/>
                </a:solidFill>
                <a:latin typeface="Arial" pitchFamily="34" charset="0"/>
                <a:cs typeface="Arial" pitchFamily="34" charset="0"/>
              </a:rPr>
              <a:t>Power Consumption : </a:t>
            </a:r>
            <a:r>
              <a:rPr lang="en-US" i="1" dirty="0">
                <a:latin typeface="Arial" pitchFamily="34" charset="0"/>
                <a:cs typeface="Arial" pitchFamily="34" charset="0"/>
              </a:rPr>
              <a:t>power consumption </a:t>
            </a:r>
            <a:r>
              <a:rPr lang="en-US" dirty="0">
                <a:latin typeface="Arial" pitchFamily="34" charset="0"/>
                <a:cs typeface="Arial" pitchFamily="34" charset="0"/>
              </a:rPr>
              <a:t>of the memory array is a significant factor to be considered in the design, because of the increasing </a:t>
            </a:r>
            <a:r>
              <a:rPr lang="en-IN" dirty="0">
                <a:latin typeface="Arial" pitchFamily="34" charset="0"/>
                <a:cs typeface="Arial" pitchFamily="34" charset="0"/>
              </a:rPr>
              <a:t>importance of low-power applications.</a:t>
            </a:r>
            <a:endParaRPr lang="en-IN" b="1"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042775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F71A4-B2AF-434D-AAB4-3FE5FFC26118}"/>
              </a:ext>
            </a:extLst>
          </p:cNvPr>
          <p:cNvSpPr>
            <a:spLocks noGrp="1"/>
          </p:cNvSpPr>
          <p:nvPr>
            <p:ph type="title"/>
          </p:nvPr>
        </p:nvSpPr>
        <p:spPr>
          <a:xfrm>
            <a:off x="1789471" y="613950"/>
            <a:ext cx="9715141" cy="1280890"/>
          </a:xfrm>
        </p:spPr>
        <p:txBody>
          <a:bodyPr>
            <a:normAutofit/>
          </a:bodyPr>
          <a:lstStyle/>
          <a:p>
            <a:r>
              <a:rPr lang="en-US" sz="3200" b="1" dirty="0"/>
              <a:t>Memory Classification </a:t>
            </a:r>
            <a:endParaRPr lang="en-IN" sz="3200" b="1" dirty="0"/>
          </a:p>
        </p:txBody>
      </p:sp>
      <p:sp>
        <p:nvSpPr>
          <p:cNvPr id="3" name="Content Placeholder 2">
            <a:extLst>
              <a:ext uri="{FF2B5EF4-FFF2-40B4-BE49-F238E27FC236}">
                <a16:creationId xmlns:a16="http://schemas.microsoft.com/office/drawing/2014/main" id="{6D5AAD76-C957-42F4-8C63-C5632026DD6C}"/>
              </a:ext>
            </a:extLst>
          </p:cNvPr>
          <p:cNvSpPr>
            <a:spLocks noGrp="1"/>
          </p:cNvSpPr>
          <p:nvPr>
            <p:ph idx="1"/>
          </p:nvPr>
        </p:nvSpPr>
        <p:spPr>
          <a:xfrm>
            <a:off x="687388" y="1238865"/>
            <a:ext cx="11199812" cy="4896943"/>
          </a:xfrm>
        </p:spPr>
        <p:txBody>
          <a:bodyPr>
            <a:normAutofit/>
          </a:bodyPr>
          <a:lstStyle/>
          <a:p>
            <a:r>
              <a:rPr lang="en-IN" b="1" u="sng" dirty="0">
                <a:solidFill>
                  <a:srgbClr val="0070C0"/>
                </a:solidFill>
                <a:latin typeface="Arial" pitchFamily="34" charset="0"/>
                <a:cs typeface="Arial" pitchFamily="34" charset="0"/>
              </a:rPr>
              <a:t>Basic Operation Mode</a:t>
            </a:r>
            <a:r>
              <a:rPr lang="en-IN" b="1" dirty="0">
                <a:solidFill>
                  <a:srgbClr val="0070C0"/>
                </a:solidFill>
                <a:latin typeface="Arial" pitchFamily="34" charset="0"/>
                <a:cs typeface="Arial" pitchFamily="34" charset="0"/>
              </a:rPr>
              <a:t>: </a:t>
            </a:r>
          </a:p>
          <a:p>
            <a:r>
              <a:rPr lang="en-IN" b="1" dirty="0">
                <a:solidFill>
                  <a:schemeClr val="accent3"/>
                </a:solidFill>
                <a:latin typeface="Arial" pitchFamily="34" charset="0"/>
                <a:cs typeface="Arial" pitchFamily="34" charset="0"/>
              </a:rPr>
              <a:t>Read–Write : </a:t>
            </a:r>
            <a:r>
              <a:rPr lang="en-IN" b="1" dirty="0">
                <a:solidFill>
                  <a:schemeClr val="tx1"/>
                </a:solidFill>
                <a:latin typeface="Arial" pitchFamily="34" charset="0"/>
                <a:cs typeface="Arial" pitchFamily="34" charset="0"/>
              </a:rPr>
              <a:t>SRAM, DRAM, EPROM, EEPROM and Flash.</a:t>
            </a:r>
          </a:p>
          <a:p>
            <a:r>
              <a:rPr lang="en-IN" b="1" dirty="0">
                <a:solidFill>
                  <a:schemeClr val="accent3"/>
                </a:solidFill>
                <a:latin typeface="Arial" pitchFamily="34" charset="0"/>
                <a:cs typeface="Arial" pitchFamily="34" charset="0"/>
              </a:rPr>
              <a:t>Read Only : </a:t>
            </a:r>
            <a:r>
              <a:rPr lang="en-IN" b="1" dirty="0">
                <a:solidFill>
                  <a:schemeClr val="tx1"/>
                </a:solidFill>
                <a:latin typeface="Arial" pitchFamily="34" charset="0"/>
                <a:cs typeface="Arial" pitchFamily="34" charset="0"/>
              </a:rPr>
              <a:t>Mask Programmable ROM. </a:t>
            </a:r>
          </a:p>
          <a:p>
            <a:endParaRPr lang="en-IN" b="1" dirty="0">
              <a:solidFill>
                <a:schemeClr val="tx1"/>
              </a:solidFill>
              <a:latin typeface="Arial" pitchFamily="34" charset="0"/>
              <a:cs typeface="Arial" pitchFamily="34" charset="0"/>
            </a:endParaRPr>
          </a:p>
          <a:p>
            <a:r>
              <a:rPr lang="en-IN" b="1" u="sng" dirty="0">
                <a:solidFill>
                  <a:srgbClr val="0070C0"/>
                </a:solidFill>
                <a:latin typeface="Arial" pitchFamily="34" charset="0"/>
                <a:cs typeface="Arial" pitchFamily="34" charset="0"/>
              </a:rPr>
              <a:t>Data Storage Mode</a:t>
            </a:r>
            <a:r>
              <a:rPr lang="en-IN" b="1" dirty="0">
                <a:solidFill>
                  <a:srgbClr val="0070C0"/>
                </a:solidFill>
                <a:latin typeface="Arial" pitchFamily="34" charset="0"/>
                <a:cs typeface="Arial" pitchFamily="34" charset="0"/>
              </a:rPr>
              <a:t>: </a:t>
            </a:r>
          </a:p>
          <a:p>
            <a:r>
              <a:rPr lang="en-IN" b="1" dirty="0">
                <a:solidFill>
                  <a:schemeClr val="accent3"/>
                </a:solidFill>
                <a:latin typeface="Arial" pitchFamily="34" charset="0"/>
                <a:cs typeface="Arial" pitchFamily="34" charset="0"/>
              </a:rPr>
              <a:t>Volatile : </a:t>
            </a:r>
            <a:r>
              <a:rPr lang="en-IN" b="1" dirty="0">
                <a:solidFill>
                  <a:schemeClr val="tx1"/>
                </a:solidFill>
                <a:latin typeface="Arial" pitchFamily="34" charset="0"/>
                <a:cs typeface="Arial" pitchFamily="34" charset="0"/>
              </a:rPr>
              <a:t>SRAM and DRAM.</a:t>
            </a:r>
          </a:p>
          <a:p>
            <a:r>
              <a:rPr lang="en-IN" b="1" dirty="0">
                <a:solidFill>
                  <a:schemeClr val="accent3"/>
                </a:solidFill>
                <a:latin typeface="Arial" pitchFamily="34" charset="0"/>
                <a:cs typeface="Arial" pitchFamily="34" charset="0"/>
              </a:rPr>
              <a:t>Non-Volatile : </a:t>
            </a:r>
            <a:r>
              <a:rPr lang="en-IN" b="1" dirty="0">
                <a:solidFill>
                  <a:schemeClr val="tx2"/>
                </a:solidFill>
                <a:latin typeface="Arial" pitchFamily="34" charset="0"/>
                <a:cs typeface="Arial" pitchFamily="34" charset="0"/>
              </a:rPr>
              <a:t>Read-Write : </a:t>
            </a:r>
            <a:r>
              <a:rPr lang="en-IN" b="1" dirty="0">
                <a:solidFill>
                  <a:prstClr val="black"/>
                </a:solidFill>
                <a:latin typeface="Arial" pitchFamily="34" charset="0"/>
                <a:cs typeface="Arial" pitchFamily="34" charset="0"/>
              </a:rPr>
              <a:t>EPROM, EEPROM and Flash. </a:t>
            </a:r>
          </a:p>
          <a:p>
            <a:r>
              <a:rPr lang="en-IN" b="1" dirty="0">
                <a:solidFill>
                  <a:prstClr val="black"/>
                </a:solidFill>
                <a:latin typeface="Arial" pitchFamily="34" charset="0"/>
                <a:cs typeface="Arial" pitchFamily="34" charset="0"/>
              </a:rPr>
              <a:t>                         </a:t>
            </a:r>
            <a:r>
              <a:rPr lang="en-IN" b="1" dirty="0">
                <a:solidFill>
                  <a:schemeClr val="tx2"/>
                </a:solidFill>
                <a:latin typeface="Arial" pitchFamily="34" charset="0"/>
                <a:cs typeface="Arial" pitchFamily="34" charset="0"/>
              </a:rPr>
              <a:t>Read Only : </a:t>
            </a:r>
            <a:r>
              <a:rPr lang="en-IN" b="1" dirty="0">
                <a:solidFill>
                  <a:schemeClr val="tx1"/>
                </a:solidFill>
                <a:latin typeface="Arial" pitchFamily="34" charset="0"/>
                <a:cs typeface="Arial" pitchFamily="34" charset="0"/>
              </a:rPr>
              <a:t>Mask Programmable ROM. </a:t>
            </a:r>
          </a:p>
          <a:p>
            <a:endParaRPr lang="en-IN" b="1" dirty="0">
              <a:solidFill>
                <a:schemeClr val="tx1"/>
              </a:solidFill>
              <a:latin typeface="Arial" pitchFamily="34" charset="0"/>
              <a:cs typeface="Arial" pitchFamily="34" charset="0"/>
            </a:endParaRPr>
          </a:p>
          <a:p>
            <a:r>
              <a:rPr lang="en-IN" b="1" u="sng" dirty="0">
                <a:solidFill>
                  <a:srgbClr val="0070C0"/>
                </a:solidFill>
                <a:latin typeface="Arial" pitchFamily="34" charset="0"/>
                <a:cs typeface="Arial" pitchFamily="34" charset="0"/>
              </a:rPr>
              <a:t>Access Method</a:t>
            </a:r>
            <a:r>
              <a:rPr lang="en-IN" b="1" dirty="0">
                <a:solidFill>
                  <a:srgbClr val="0070C0"/>
                </a:solidFill>
                <a:latin typeface="Arial" pitchFamily="34" charset="0"/>
                <a:cs typeface="Arial" pitchFamily="34" charset="0"/>
              </a:rPr>
              <a:t>: </a:t>
            </a:r>
          </a:p>
          <a:p>
            <a:r>
              <a:rPr lang="en-IN" b="1" dirty="0">
                <a:solidFill>
                  <a:schemeClr val="accent3"/>
                </a:solidFill>
                <a:latin typeface="Arial" pitchFamily="34" charset="0"/>
                <a:cs typeface="Arial" pitchFamily="34" charset="0"/>
              </a:rPr>
              <a:t>Random : </a:t>
            </a:r>
            <a:r>
              <a:rPr lang="en-IN" b="1" dirty="0">
                <a:solidFill>
                  <a:schemeClr val="tx1"/>
                </a:solidFill>
                <a:latin typeface="Arial" pitchFamily="34" charset="0"/>
                <a:cs typeface="Arial" pitchFamily="34" charset="0"/>
              </a:rPr>
              <a:t> ROM, SRAM, DRAM, EPROM, EEPROM and Flash.</a:t>
            </a:r>
          </a:p>
          <a:p>
            <a:r>
              <a:rPr lang="en-IN" b="1" dirty="0">
                <a:solidFill>
                  <a:schemeClr val="accent3"/>
                </a:solidFill>
                <a:latin typeface="Arial" pitchFamily="34" charset="0"/>
                <a:cs typeface="Arial" pitchFamily="34" charset="0"/>
              </a:rPr>
              <a:t>Non-Random : </a:t>
            </a:r>
            <a:r>
              <a:rPr lang="en-IN" b="1" dirty="0">
                <a:solidFill>
                  <a:schemeClr val="tx1"/>
                </a:solidFill>
                <a:latin typeface="Arial" pitchFamily="34" charset="0"/>
                <a:cs typeface="Arial" pitchFamily="34" charset="0"/>
              </a:rPr>
              <a:t>SAM &amp; CAM </a:t>
            </a:r>
          </a:p>
          <a:p>
            <a:endParaRPr lang="en-US" dirty="0">
              <a:solidFill>
                <a:srgbClr val="231F20"/>
              </a:solidFill>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218624A5-32E4-4ABB-B95B-4506A5BA04DD}"/>
              </a:ext>
            </a:extLst>
          </p:cNvPr>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22127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Effect transition="in" filter="fade">
                                      <p:cBhvr>
                                        <p:cTn id="56" dur="1000"/>
                                        <p:tgtEl>
                                          <p:spTgt spid="3">
                                            <p:txEl>
                                              <p:pRg st="9" end="9"/>
                                            </p:txEl>
                                          </p:spTgt>
                                        </p:tgtEl>
                                      </p:cBhvr>
                                    </p:animEffect>
                                    <p:anim calcmode="lin" valueType="num">
                                      <p:cBhvr>
                                        <p:cTn id="5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Effect transition="in" filter="fade">
                                      <p:cBhvr>
                                        <p:cTn id="63" dur="1000"/>
                                        <p:tgtEl>
                                          <p:spTgt spid="3">
                                            <p:txEl>
                                              <p:pRg st="10" end="10"/>
                                            </p:txEl>
                                          </p:spTgt>
                                        </p:tgtEl>
                                      </p:cBhvr>
                                    </p:animEffect>
                                    <p:anim calcmode="lin" valueType="num">
                                      <p:cBhvr>
                                        <p:cTn id="64"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11" end="11"/>
                                            </p:txEl>
                                          </p:spTgt>
                                        </p:tgtEl>
                                        <p:attrNameLst>
                                          <p:attrName>style.visibility</p:attrName>
                                        </p:attrNameLst>
                                      </p:cBhvr>
                                      <p:to>
                                        <p:strVal val="visible"/>
                                      </p:to>
                                    </p:set>
                                    <p:animEffect transition="in" filter="fade">
                                      <p:cBhvr>
                                        <p:cTn id="70" dur="1000"/>
                                        <p:tgtEl>
                                          <p:spTgt spid="3">
                                            <p:txEl>
                                              <p:pRg st="11" end="11"/>
                                            </p:txEl>
                                          </p:spTgt>
                                        </p:tgtEl>
                                      </p:cBhvr>
                                    </p:animEffect>
                                    <p:anim calcmode="lin" valueType="num">
                                      <p:cBhvr>
                                        <p:cTn id="7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CFB2A-0814-40DA-956A-43B537D77CBF}"/>
              </a:ext>
            </a:extLst>
          </p:cNvPr>
          <p:cNvSpPr>
            <a:spLocks noGrp="1"/>
          </p:cNvSpPr>
          <p:nvPr>
            <p:ph type="title"/>
          </p:nvPr>
        </p:nvSpPr>
        <p:spPr>
          <a:xfrm>
            <a:off x="1741251" y="624110"/>
            <a:ext cx="9763361" cy="1280890"/>
          </a:xfrm>
        </p:spPr>
        <p:txBody>
          <a:bodyPr>
            <a:normAutofit/>
          </a:bodyPr>
          <a:lstStyle/>
          <a:p>
            <a:r>
              <a:rPr lang="en-IN" sz="3200" b="1" dirty="0">
                <a:solidFill>
                  <a:srgbClr val="231F20"/>
                </a:solidFill>
                <a:latin typeface="Arial" pitchFamily="34" charset="0"/>
                <a:cs typeface="Arial" pitchFamily="34" charset="0"/>
              </a:rPr>
              <a:t>Categories of memory arrays</a:t>
            </a:r>
            <a:endParaRPr lang="en-IN" sz="3200" b="1" dirty="0">
              <a:latin typeface="Arial" pitchFamily="34" charset="0"/>
              <a:cs typeface="Arial" pitchFamily="34" charset="0"/>
            </a:endParaRPr>
          </a:p>
        </p:txBody>
      </p:sp>
      <p:sp>
        <p:nvSpPr>
          <p:cNvPr id="3" name="Content Placeholder 2">
            <a:extLst>
              <a:ext uri="{FF2B5EF4-FFF2-40B4-BE49-F238E27FC236}">
                <a16:creationId xmlns:a16="http://schemas.microsoft.com/office/drawing/2014/main" id="{20CCCE38-9501-41BD-A653-793344110BEB}"/>
              </a:ext>
            </a:extLst>
          </p:cNvPr>
          <p:cNvSpPr>
            <a:spLocks noGrp="1"/>
          </p:cNvSpPr>
          <p:nvPr>
            <p:ph idx="1"/>
          </p:nvPr>
        </p:nvSpPr>
        <p:spPr>
          <a:xfrm>
            <a:off x="1692614" y="1459149"/>
            <a:ext cx="9280186" cy="4452073"/>
          </a:xfrm>
        </p:spPr>
        <p:txBody>
          <a:bodyPr>
            <a:normAutofit/>
          </a:bodyPr>
          <a:lstStyle/>
          <a:p>
            <a:endParaRPr lang="en-US"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A239F841-0985-43E5-840F-30D2F9F41ABB}"/>
              </a:ext>
            </a:extLst>
          </p:cNvPr>
          <p:cNvSpPr>
            <a:spLocks noGrp="1"/>
          </p:cNvSpPr>
          <p:nvPr>
            <p:ph type="ftr" sz="quarter" idx="11"/>
          </p:nvPr>
        </p:nvSpPr>
        <p:spPr>
          <a:xfrm>
            <a:off x="1682886" y="6135808"/>
            <a:ext cx="8526326" cy="365125"/>
          </a:xfrm>
        </p:spPr>
        <p:txBody>
          <a:bodyPr>
            <a:normAutofit/>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2885" y="1294721"/>
            <a:ext cx="9309371" cy="472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7312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5785C52-8305-4C72-B1AA-4A7402DC26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8C7D29-077B-4F8D-BB03-2FA6D3A2ACB3}"/>
              </a:ext>
            </a:extLst>
          </p:cNvPr>
          <p:cNvSpPr>
            <a:spLocks noGrp="1"/>
          </p:cNvSpPr>
          <p:nvPr>
            <p:ph type="title"/>
          </p:nvPr>
        </p:nvSpPr>
        <p:spPr>
          <a:xfrm>
            <a:off x="649224" y="645106"/>
            <a:ext cx="6574536" cy="1259894"/>
          </a:xfrm>
        </p:spPr>
        <p:txBody>
          <a:bodyPr>
            <a:normAutofit/>
          </a:bodyPr>
          <a:lstStyle/>
          <a:p>
            <a:r>
              <a:rPr lang="en-IN" sz="3200" b="1" dirty="0"/>
              <a:t>Memory Array Organization</a:t>
            </a:r>
            <a:endParaRPr lang="en-IN" sz="3200" dirty="0"/>
          </a:p>
        </p:txBody>
      </p:sp>
      <p:sp>
        <p:nvSpPr>
          <p:cNvPr id="13" name="Rectangle 12">
            <a:extLst>
              <a:ext uri="{FF2B5EF4-FFF2-40B4-BE49-F238E27FC236}">
                <a16:creationId xmlns:a16="http://schemas.microsoft.com/office/drawing/2014/main" id="{3EBD26A6-67D8-449D-88A7-556B706A5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46C8192F-F76B-4489-A27E-7BA410AA1783}"/>
              </a:ext>
            </a:extLst>
          </p:cNvPr>
          <p:cNvSpPr>
            <a:spLocks noGrp="1"/>
          </p:cNvSpPr>
          <p:nvPr>
            <p:ph idx="1"/>
          </p:nvPr>
        </p:nvSpPr>
        <p:spPr>
          <a:xfrm>
            <a:off x="330740" y="1458930"/>
            <a:ext cx="6893019" cy="4672130"/>
          </a:xfrm>
        </p:spPr>
        <p:txBody>
          <a:bodyPr>
            <a:normAutofit/>
          </a:bodyPr>
          <a:lstStyle/>
          <a:p>
            <a:r>
              <a:rPr lang="en-IN" dirty="0">
                <a:latin typeface="Arial" pitchFamily="34" charset="0"/>
                <a:cs typeface="Arial" pitchFamily="34" charset="0"/>
              </a:rPr>
              <a:t>The data storage </a:t>
            </a:r>
            <a:r>
              <a:rPr lang="en-US" dirty="0">
                <a:latin typeface="Arial" pitchFamily="34" charset="0"/>
                <a:cs typeface="Arial" pitchFamily="34" charset="0"/>
              </a:rPr>
              <a:t>structure, or </a:t>
            </a:r>
            <a:r>
              <a:rPr lang="en-US" i="1" dirty="0">
                <a:latin typeface="Arial" pitchFamily="34" charset="0"/>
                <a:cs typeface="Arial" pitchFamily="34" charset="0"/>
              </a:rPr>
              <a:t>core, </a:t>
            </a:r>
            <a:r>
              <a:rPr lang="en-US" dirty="0">
                <a:latin typeface="Arial" pitchFamily="34" charset="0"/>
                <a:cs typeface="Arial" pitchFamily="34" charset="0"/>
              </a:rPr>
              <a:t>consists of </a:t>
            </a:r>
          </a:p>
          <a:p>
            <a:pPr marL="0" indent="0">
              <a:buNone/>
            </a:pPr>
            <a:r>
              <a:rPr lang="en-US" dirty="0">
                <a:latin typeface="Arial" pitchFamily="34" charset="0"/>
                <a:cs typeface="Arial" pitchFamily="34" charset="0"/>
              </a:rPr>
              <a:t>      individual memory cells arranged in an array of</a:t>
            </a:r>
          </a:p>
          <a:p>
            <a:pPr marL="0" indent="0">
              <a:buNone/>
            </a:pPr>
            <a:r>
              <a:rPr lang="en-US" dirty="0">
                <a:latin typeface="Arial" pitchFamily="34" charset="0"/>
                <a:cs typeface="Arial" pitchFamily="34" charset="0"/>
              </a:rPr>
              <a:t>      horizontal </a:t>
            </a:r>
            <a:r>
              <a:rPr lang="en-IN" dirty="0">
                <a:latin typeface="Arial" pitchFamily="34" charset="0"/>
                <a:cs typeface="Arial" pitchFamily="34" charset="0"/>
              </a:rPr>
              <a:t>rows and vertical columns. </a:t>
            </a:r>
            <a:r>
              <a:rPr lang="en-US" dirty="0">
                <a:latin typeface="Arial" pitchFamily="34" charset="0"/>
                <a:cs typeface="Arial" pitchFamily="34" charset="0"/>
              </a:rPr>
              <a:t>Each </a:t>
            </a:r>
            <a:r>
              <a:rPr lang="en-US" i="1" dirty="0">
                <a:latin typeface="Arial" pitchFamily="34" charset="0"/>
                <a:cs typeface="Arial" pitchFamily="34" charset="0"/>
              </a:rPr>
              <a:t>cell </a:t>
            </a:r>
            <a:r>
              <a:rPr lang="en-US" dirty="0">
                <a:latin typeface="Arial" pitchFamily="34" charset="0"/>
                <a:cs typeface="Arial" pitchFamily="34" charset="0"/>
              </a:rPr>
              <a:t>is </a:t>
            </a:r>
          </a:p>
          <a:p>
            <a:pPr marL="0" indent="0">
              <a:buNone/>
            </a:pPr>
            <a:r>
              <a:rPr lang="en-US" dirty="0">
                <a:latin typeface="Arial" pitchFamily="34" charset="0"/>
                <a:cs typeface="Arial" pitchFamily="34" charset="0"/>
              </a:rPr>
              <a:t>      capable of storing one bit of binary  information.</a:t>
            </a:r>
            <a:endParaRPr lang="en-US" b="1" dirty="0">
              <a:latin typeface="Arial" panose="020B0604020202020204" pitchFamily="34" charset="0"/>
              <a:cs typeface="Arial" panose="020B0604020202020204" pitchFamily="34" charset="0"/>
            </a:endParaRPr>
          </a:p>
          <a:p>
            <a:pPr>
              <a:lnSpc>
                <a:spcPct val="90000"/>
              </a:lnSpc>
            </a:pPr>
            <a:endParaRPr lang="en-US" b="1" baseline="30000" dirty="0">
              <a:latin typeface="Arial" panose="020B0604020202020204" pitchFamily="34" charset="0"/>
              <a:cs typeface="Arial" panose="020B0604020202020204" pitchFamily="34" charset="0"/>
            </a:endParaRPr>
          </a:p>
          <a:p>
            <a:r>
              <a:rPr lang="en-US" dirty="0">
                <a:latin typeface="Arial" pitchFamily="34" charset="0"/>
                <a:cs typeface="Arial" pitchFamily="34" charset="0"/>
              </a:rPr>
              <a:t>Each memory cell shares a common connection </a:t>
            </a:r>
          </a:p>
          <a:p>
            <a:pPr marL="0" indent="0">
              <a:buNone/>
            </a:pPr>
            <a:r>
              <a:rPr lang="en-US" dirty="0">
                <a:latin typeface="Arial" pitchFamily="34" charset="0"/>
                <a:cs typeface="Arial" pitchFamily="34" charset="0"/>
              </a:rPr>
              <a:t>     with the other cells in the same row, and another</a:t>
            </a:r>
          </a:p>
          <a:p>
            <a:pPr marL="0" indent="0">
              <a:buNone/>
            </a:pPr>
            <a:r>
              <a:rPr lang="en-US" dirty="0">
                <a:latin typeface="Arial" pitchFamily="34" charset="0"/>
                <a:cs typeface="Arial" pitchFamily="34" charset="0"/>
              </a:rPr>
              <a:t>     common connection with the other cells in the </a:t>
            </a:r>
          </a:p>
          <a:p>
            <a:pPr marL="0" indent="0">
              <a:buNone/>
            </a:pPr>
            <a:r>
              <a:rPr lang="en-US" dirty="0">
                <a:latin typeface="Arial" pitchFamily="34" charset="0"/>
                <a:cs typeface="Arial" pitchFamily="34" charset="0"/>
              </a:rPr>
              <a:t>      same column.   </a:t>
            </a:r>
          </a:p>
          <a:p>
            <a:pPr marL="0" indent="0">
              <a:buNone/>
            </a:pPr>
            <a:endParaRPr lang="en-US" b="1" baseline="30000" dirty="0">
              <a:latin typeface="Arial" pitchFamily="34" charset="0"/>
              <a:cs typeface="Arial" pitchFamily="34" charset="0"/>
            </a:endParaRPr>
          </a:p>
          <a:p>
            <a:r>
              <a:rPr lang="en-IN" dirty="0">
                <a:latin typeface="Arial" pitchFamily="34" charset="0"/>
                <a:cs typeface="Arial" pitchFamily="34" charset="0"/>
              </a:rPr>
              <a:t>In this structure, </a:t>
            </a:r>
            <a:r>
              <a:rPr lang="en-US" dirty="0">
                <a:latin typeface="Arial" pitchFamily="34" charset="0"/>
                <a:cs typeface="Arial" pitchFamily="34" charset="0"/>
              </a:rPr>
              <a:t>there are </a:t>
            </a:r>
            <a:r>
              <a:rPr lang="en-US" b="1" dirty="0">
                <a:solidFill>
                  <a:prstClr val="black">
                    <a:lumMod val="75000"/>
                    <a:lumOff val="25000"/>
                  </a:prstClr>
                </a:solidFill>
                <a:latin typeface="Arial" pitchFamily="34" charset="0"/>
                <a:cs typeface="Arial" pitchFamily="34" charset="0"/>
              </a:rPr>
              <a:t>2</a:t>
            </a:r>
            <a:r>
              <a:rPr lang="en-US" b="1" baseline="30000" dirty="0">
                <a:solidFill>
                  <a:prstClr val="black">
                    <a:lumMod val="75000"/>
                    <a:lumOff val="25000"/>
                  </a:prstClr>
                </a:solidFill>
                <a:latin typeface="Arial" pitchFamily="34" charset="0"/>
                <a:cs typeface="Arial" pitchFamily="34" charset="0"/>
              </a:rPr>
              <a:t>N</a:t>
            </a:r>
            <a:r>
              <a:rPr lang="en-US" dirty="0">
                <a:latin typeface="Arial" pitchFamily="34" charset="0"/>
                <a:cs typeface="Arial" pitchFamily="34" charset="0"/>
              </a:rPr>
              <a:t> rows, also called</a:t>
            </a:r>
          </a:p>
          <a:p>
            <a:pPr marL="0" indent="0">
              <a:buNone/>
            </a:pPr>
            <a:r>
              <a:rPr lang="en-US" dirty="0">
                <a:latin typeface="Arial" pitchFamily="34" charset="0"/>
                <a:cs typeface="Arial" pitchFamily="34" charset="0"/>
              </a:rPr>
              <a:t>     word lines, and </a:t>
            </a:r>
            <a:r>
              <a:rPr lang="en-US" b="1" dirty="0">
                <a:latin typeface="Arial" pitchFamily="34" charset="0"/>
                <a:cs typeface="Arial" pitchFamily="34" charset="0"/>
              </a:rPr>
              <a:t>2</a:t>
            </a:r>
            <a:r>
              <a:rPr lang="en-US" b="1" baseline="30000" dirty="0">
                <a:latin typeface="Arial" pitchFamily="34" charset="0"/>
                <a:cs typeface="Arial" pitchFamily="34" charset="0"/>
              </a:rPr>
              <a:t>M </a:t>
            </a:r>
            <a:r>
              <a:rPr lang="en-US" dirty="0">
                <a:latin typeface="Arial" pitchFamily="34" charset="0"/>
                <a:cs typeface="Arial" pitchFamily="34" charset="0"/>
              </a:rPr>
              <a:t>columns, also called bit lines.</a:t>
            </a:r>
          </a:p>
          <a:p>
            <a:pPr marL="0" indent="0">
              <a:buNone/>
            </a:pPr>
            <a:endParaRPr lang="en-IN" b="1" baseline="30000" dirty="0">
              <a:latin typeface="Arial" panose="020B0604020202020204" pitchFamily="34" charset="0"/>
              <a:cs typeface="Arial" panose="020B0604020202020204" pitchFamily="34" charset="0"/>
            </a:endParaRPr>
          </a:p>
        </p:txBody>
      </p:sp>
      <p:sp>
        <p:nvSpPr>
          <p:cNvPr id="15" name="Freeform 11">
            <a:extLst>
              <a:ext uri="{FF2B5EF4-FFF2-40B4-BE49-F238E27FC236}">
                <a16:creationId xmlns:a16="http://schemas.microsoft.com/office/drawing/2014/main" id="{7B8C83C0-3F91-4191-A19A-4165F49AD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AF9B74B3-57C1-4BB8-9660-53BFBCF93A6D}"/>
              </a:ext>
            </a:extLst>
          </p:cNvPr>
          <p:cNvSpPr>
            <a:spLocks noGrp="1"/>
          </p:cNvSpPr>
          <p:nvPr>
            <p:ph type="ftr" sz="quarter" idx="11"/>
          </p:nvPr>
        </p:nvSpPr>
        <p:spPr>
          <a:xfrm>
            <a:off x="1220916" y="6135808"/>
            <a:ext cx="7619999" cy="365125"/>
          </a:xfrm>
        </p:spPr>
        <p:txBody>
          <a:bodyPr>
            <a:normAutofit/>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6052" y="1342208"/>
            <a:ext cx="6252048" cy="5392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981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0" name="Rectangle 11">
            <a:extLst>
              <a:ext uri="{FF2B5EF4-FFF2-40B4-BE49-F238E27FC236}">
                <a16:creationId xmlns:a16="http://schemas.microsoft.com/office/drawing/2014/main" id="{85785C52-8305-4C72-B1AA-4A7402DC26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F1A257-E411-4578-8219-677B66F26090}"/>
              </a:ext>
            </a:extLst>
          </p:cNvPr>
          <p:cNvSpPr>
            <a:spLocks noGrp="1"/>
          </p:cNvSpPr>
          <p:nvPr>
            <p:ph type="title"/>
          </p:nvPr>
        </p:nvSpPr>
        <p:spPr>
          <a:xfrm>
            <a:off x="649224" y="645106"/>
            <a:ext cx="6574536" cy="1259894"/>
          </a:xfrm>
        </p:spPr>
        <p:txBody>
          <a:bodyPr>
            <a:normAutofit/>
          </a:bodyPr>
          <a:lstStyle/>
          <a:p>
            <a:r>
              <a:rPr lang="en-IN" b="1"/>
              <a:t>Continue…..</a:t>
            </a:r>
            <a:endParaRPr lang="en-IN" dirty="0"/>
          </a:p>
        </p:txBody>
      </p:sp>
      <p:sp>
        <p:nvSpPr>
          <p:cNvPr id="21" name="Rectangle 13">
            <a:extLst>
              <a:ext uri="{FF2B5EF4-FFF2-40B4-BE49-F238E27FC236}">
                <a16:creationId xmlns:a16="http://schemas.microsoft.com/office/drawing/2014/main" id="{3EBD26A6-67D8-449D-88A7-556B706A5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5" name="Content Placeholder 4">
            <a:extLst>
              <a:ext uri="{FF2B5EF4-FFF2-40B4-BE49-F238E27FC236}">
                <a16:creationId xmlns:a16="http://schemas.microsoft.com/office/drawing/2014/main" id="{173CF99B-89CE-4167-855E-755014B420C4}"/>
              </a:ext>
            </a:extLst>
          </p:cNvPr>
          <p:cNvSpPr>
            <a:spLocks noGrp="1"/>
          </p:cNvSpPr>
          <p:nvPr>
            <p:ph idx="1"/>
          </p:nvPr>
        </p:nvSpPr>
        <p:spPr>
          <a:xfrm>
            <a:off x="649224" y="1541124"/>
            <a:ext cx="11014240" cy="4351729"/>
          </a:xfrm>
        </p:spPr>
        <p:txBody>
          <a:bodyPr>
            <a:normAutofit/>
          </a:bodyPr>
          <a:lstStyle/>
          <a:p>
            <a:pPr algn="just"/>
            <a:r>
              <a:rPr lang="en-IN" dirty="0">
                <a:latin typeface="Arial" pitchFamily="34" charset="0"/>
                <a:cs typeface="Arial" pitchFamily="34" charset="0"/>
              </a:rPr>
              <a:t>Thus, the </a:t>
            </a:r>
            <a:r>
              <a:rPr lang="en-US" dirty="0">
                <a:latin typeface="Arial" pitchFamily="34" charset="0"/>
                <a:cs typeface="Arial" pitchFamily="34" charset="0"/>
              </a:rPr>
              <a:t>total number of memory cells in this array is  </a:t>
            </a:r>
            <a:r>
              <a:rPr lang="en-US" b="1" dirty="0">
                <a:latin typeface="Arial" pitchFamily="34" charset="0"/>
                <a:cs typeface="Arial" pitchFamily="34" charset="0"/>
              </a:rPr>
              <a:t>2</a:t>
            </a:r>
            <a:r>
              <a:rPr lang="en-US" b="1" baseline="30000" dirty="0">
                <a:latin typeface="Arial" pitchFamily="34" charset="0"/>
                <a:cs typeface="Arial" pitchFamily="34" charset="0"/>
              </a:rPr>
              <a:t>M </a:t>
            </a:r>
            <a:r>
              <a:rPr lang="en-US" b="1" dirty="0">
                <a:latin typeface="Arial" pitchFamily="34" charset="0"/>
                <a:cs typeface="Arial" pitchFamily="34" charset="0"/>
              </a:rPr>
              <a:t>× 2</a:t>
            </a:r>
            <a:r>
              <a:rPr lang="en-US" b="1" baseline="30000" dirty="0">
                <a:latin typeface="Arial" pitchFamily="34" charset="0"/>
                <a:cs typeface="Arial" pitchFamily="34" charset="0"/>
              </a:rPr>
              <a:t>N</a:t>
            </a:r>
            <a:r>
              <a:rPr lang="en-US" b="1" dirty="0">
                <a:latin typeface="Arial" pitchFamily="34" charset="0"/>
                <a:cs typeface="Arial" pitchFamily="34" charset="0"/>
              </a:rPr>
              <a:t>  </a:t>
            </a:r>
            <a:r>
              <a:rPr lang="en-US" dirty="0">
                <a:latin typeface="Arial" pitchFamily="34" charset="0"/>
                <a:cs typeface="Arial" pitchFamily="34" charset="0"/>
              </a:rPr>
              <a:t>.To access a particular memory cell, i.e., a particular data bit in this array, the corresponding bit line and the corresponding word line must be activated. </a:t>
            </a:r>
            <a:r>
              <a:rPr lang="en-IN" dirty="0">
                <a:latin typeface="Arial" pitchFamily="34" charset="0"/>
                <a:cs typeface="Arial" pitchFamily="34" charset="0"/>
              </a:rPr>
              <a:t>The </a:t>
            </a:r>
            <a:r>
              <a:rPr lang="en-US" dirty="0">
                <a:latin typeface="Arial" pitchFamily="34" charset="0"/>
                <a:cs typeface="Arial" pitchFamily="34" charset="0"/>
              </a:rPr>
              <a:t>row and column selection operations are accomplished by row and column </a:t>
            </a:r>
            <a:r>
              <a:rPr lang="en-US" i="1" dirty="0">
                <a:latin typeface="Arial" pitchFamily="34" charset="0"/>
                <a:cs typeface="Arial" pitchFamily="34" charset="0"/>
              </a:rPr>
              <a:t>decoders, </a:t>
            </a:r>
            <a:r>
              <a:rPr lang="en-IN" dirty="0">
                <a:latin typeface="Arial" pitchFamily="34" charset="0"/>
                <a:cs typeface="Arial" pitchFamily="34" charset="0"/>
              </a:rPr>
              <a:t>respectively.</a:t>
            </a:r>
            <a:endParaRPr lang="en-US" dirty="0">
              <a:latin typeface="Arial" pitchFamily="34" charset="0"/>
              <a:cs typeface="Arial" pitchFamily="34" charset="0"/>
            </a:endParaRPr>
          </a:p>
          <a:p>
            <a:pPr algn="just"/>
            <a:r>
              <a:rPr lang="en-US" dirty="0">
                <a:latin typeface="Arial" pitchFamily="34" charset="0"/>
                <a:cs typeface="Arial" pitchFamily="34" charset="0"/>
              </a:rPr>
              <a:t>The row decoder circuit selects one out of </a:t>
            </a:r>
            <a:r>
              <a:rPr lang="en-US" b="1" dirty="0">
                <a:latin typeface="Arial" pitchFamily="34" charset="0"/>
                <a:cs typeface="Arial" pitchFamily="34" charset="0"/>
              </a:rPr>
              <a:t>2</a:t>
            </a:r>
            <a:r>
              <a:rPr lang="en-US" b="1" baseline="30000" dirty="0">
                <a:latin typeface="Arial" pitchFamily="34" charset="0"/>
                <a:cs typeface="Arial" pitchFamily="34" charset="0"/>
              </a:rPr>
              <a:t>N</a:t>
            </a:r>
            <a:r>
              <a:rPr lang="en-US" dirty="0">
                <a:latin typeface="Arial" pitchFamily="34" charset="0"/>
                <a:cs typeface="Arial" pitchFamily="34" charset="0"/>
              </a:rPr>
              <a:t> word lines according to an</a:t>
            </a:r>
            <a:r>
              <a:rPr lang="en-US" b="1" dirty="0">
                <a:latin typeface="Arial" pitchFamily="34" charset="0"/>
                <a:cs typeface="Arial" pitchFamily="34" charset="0"/>
              </a:rPr>
              <a:t> </a:t>
            </a:r>
            <a:r>
              <a:rPr lang="en-US" b="1" i="1" dirty="0" err="1">
                <a:latin typeface="Arial" pitchFamily="34" charset="0"/>
                <a:cs typeface="Arial" pitchFamily="34" charset="0"/>
              </a:rPr>
              <a:t>N</a:t>
            </a:r>
            <a:r>
              <a:rPr lang="en-US" b="1" dirty="0" err="1">
                <a:latin typeface="Arial" pitchFamily="34" charset="0"/>
                <a:cs typeface="Arial" pitchFamily="34" charset="0"/>
              </a:rPr>
              <a:t>bit</a:t>
            </a:r>
            <a:r>
              <a:rPr lang="en-US" b="1" dirty="0">
                <a:latin typeface="Arial" pitchFamily="34" charset="0"/>
                <a:cs typeface="Arial" pitchFamily="34" charset="0"/>
              </a:rPr>
              <a:t> </a:t>
            </a:r>
            <a:r>
              <a:rPr lang="en-US" dirty="0">
                <a:latin typeface="Arial" pitchFamily="34" charset="0"/>
                <a:cs typeface="Arial" pitchFamily="34" charset="0"/>
              </a:rPr>
              <a:t>row address, while the column decoder circuit selects one out of </a:t>
            </a:r>
            <a:r>
              <a:rPr lang="en-US" b="1" dirty="0">
                <a:latin typeface="Arial" pitchFamily="34" charset="0"/>
                <a:cs typeface="Arial" pitchFamily="34" charset="0"/>
              </a:rPr>
              <a:t>2</a:t>
            </a:r>
            <a:r>
              <a:rPr lang="en-US" b="1" baseline="30000" dirty="0">
                <a:latin typeface="Arial" pitchFamily="34" charset="0"/>
                <a:cs typeface="Arial" pitchFamily="34" charset="0"/>
              </a:rPr>
              <a:t>M</a:t>
            </a:r>
            <a:r>
              <a:rPr lang="en-US" b="1" dirty="0">
                <a:latin typeface="Arial" pitchFamily="34" charset="0"/>
                <a:cs typeface="Arial" pitchFamily="34" charset="0"/>
              </a:rPr>
              <a:t> </a:t>
            </a:r>
            <a:r>
              <a:rPr lang="en-US" dirty="0">
                <a:latin typeface="Arial" pitchFamily="34" charset="0"/>
                <a:cs typeface="Arial" pitchFamily="34" charset="0"/>
              </a:rPr>
              <a:t>bit lines according to an M-bit column address. </a:t>
            </a:r>
          </a:p>
          <a:p>
            <a:pPr algn="just"/>
            <a:r>
              <a:rPr lang="en-US" dirty="0">
                <a:latin typeface="Arial" pitchFamily="34" charset="0"/>
                <a:cs typeface="Arial" pitchFamily="34" charset="0"/>
              </a:rPr>
              <a:t>Once a memory cell or a group of memory cells are selected in this fashion, a data read and/or a data write operation may be performed on the selected single bit or multiple bits on a particular row. The column decoder circuit serves the double duties of selecting the particular columns and routing the corresponding data content in a selected row to the output.</a:t>
            </a:r>
            <a:endParaRPr lang="en-IN" dirty="0">
              <a:latin typeface="Arial" pitchFamily="34" charset="0"/>
              <a:cs typeface="Arial" pitchFamily="34" charset="0"/>
            </a:endParaRPr>
          </a:p>
        </p:txBody>
      </p:sp>
      <p:sp>
        <p:nvSpPr>
          <p:cNvPr id="22" name="Freeform 11">
            <a:extLst>
              <a:ext uri="{FF2B5EF4-FFF2-40B4-BE49-F238E27FC236}">
                <a16:creationId xmlns:a16="http://schemas.microsoft.com/office/drawing/2014/main" id="{7B8C83C0-3F91-4191-A19A-4165F49AD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D3BC85B-A428-4DC3-A854-61858082CDE0}"/>
              </a:ext>
            </a:extLst>
          </p:cNvPr>
          <p:cNvSpPr>
            <a:spLocks noGrp="1"/>
          </p:cNvSpPr>
          <p:nvPr>
            <p:ph type="ftr" sz="quarter" idx="11"/>
          </p:nvPr>
        </p:nvSpPr>
        <p:spPr>
          <a:xfrm>
            <a:off x="1220916" y="6135808"/>
            <a:ext cx="7619999" cy="365125"/>
          </a:xfrm>
        </p:spPr>
        <p:txBody>
          <a:bodyPr>
            <a:normAutofit/>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830705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7167" y="624110"/>
            <a:ext cx="9617446" cy="1280890"/>
          </a:xfrm>
        </p:spPr>
        <p:txBody>
          <a:bodyPr/>
          <a:lstStyle/>
          <a:p>
            <a:r>
              <a:rPr lang="en-IN" sz="3200" b="1" dirty="0">
                <a:solidFill>
                  <a:prstClr val="black">
                    <a:lumMod val="85000"/>
                    <a:lumOff val="15000"/>
                  </a:prstClr>
                </a:solidFill>
              </a:rPr>
              <a:t>Role and Importance of different memory in System</a:t>
            </a:r>
            <a:endParaRPr lang="en-IN" dirty="0">
              <a:latin typeface="Arial" pitchFamily="34" charset="0"/>
              <a:cs typeface="Arial" pitchFamily="34" charset="0"/>
            </a:endParaRPr>
          </a:p>
        </p:txBody>
      </p:sp>
      <p:sp>
        <p:nvSpPr>
          <p:cNvPr id="3" name="Content Placeholder 2"/>
          <p:cNvSpPr>
            <a:spLocks noGrp="1"/>
          </p:cNvSpPr>
          <p:nvPr>
            <p:ph idx="1"/>
          </p:nvPr>
        </p:nvSpPr>
        <p:spPr>
          <a:xfrm>
            <a:off x="1702340" y="1643974"/>
            <a:ext cx="9802272" cy="4267248"/>
          </a:xfrm>
        </p:spPr>
        <p:txBody>
          <a:bodyPr/>
          <a:lstStyle/>
          <a:p>
            <a:pPr lvl="0">
              <a:buClr>
                <a:srgbClr val="E78712"/>
              </a:buClr>
            </a:pPr>
            <a:r>
              <a:rPr lang="en-IN" b="1" u="sng" dirty="0">
                <a:solidFill>
                  <a:prstClr val="black">
                    <a:lumMod val="75000"/>
                    <a:lumOff val="25000"/>
                  </a:prstClr>
                </a:solidFill>
              </a:rPr>
              <a:t>Hard Disk Drive</a:t>
            </a:r>
            <a:r>
              <a:rPr lang="en-IN" b="1" dirty="0">
                <a:solidFill>
                  <a:prstClr val="black">
                    <a:lumMod val="75000"/>
                    <a:lumOff val="25000"/>
                  </a:prstClr>
                </a:solidFill>
              </a:rPr>
              <a:t> (HDD) - </a:t>
            </a:r>
            <a:r>
              <a:rPr lang="en-US" dirty="0">
                <a:solidFill>
                  <a:prstClr val="black">
                    <a:lumMod val="75000"/>
                    <a:lumOff val="25000"/>
                  </a:prstClr>
                </a:solidFill>
              </a:rPr>
              <a:t>Typical rotation speed 5400 or 7200 rpm</a:t>
            </a:r>
            <a:r>
              <a:rPr lang="en-IN" b="1" dirty="0">
                <a:solidFill>
                  <a:prstClr val="black">
                    <a:lumMod val="75000"/>
                    <a:lumOff val="25000"/>
                  </a:prstClr>
                </a:solidFill>
              </a:rPr>
              <a:t>  </a:t>
            </a:r>
          </a:p>
          <a:p>
            <a:pPr marL="0" indent="0">
              <a:buNone/>
            </a:pPr>
            <a:endParaRPr lang="en-IN" dirty="0"/>
          </a:p>
        </p:txBody>
      </p:sp>
      <p:sp>
        <p:nvSpPr>
          <p:cNvPr id="4" name="Footer Placeholder 3"/>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6" name="Picture 2" descr="Image result for hard disk driv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98905" y="2089706"/>
            <a:ext cx="3778250" cy="377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377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Continued…</a:t>
            </a:r>
            <a:endParaRPr lang="en-IN" dirty="0"/>
          </a:p>
        </p:txBody>
      </p:sp>
      <p:pic>
        <p:nvPicPr>
          <p:cNvPr id="4" name="Content Placeholder 3"/>
          <p:cNvPicPr>
            <a:picLocks noGrp="1" noChangeAspect="1"/>
          </p:cNvPicPr>
          <p:nvPr>
            <p:ph idx="1"/>
          </p:nvPr>
        </p:nvPicPr>
        <p:blipFill>
          <a:blip r:embed="rId2"/>
          <a:stretch>
            <a:fillRect/>
          </a:stretch>
        </p:blipFill>
        <p:spPr>
          <a:xfrm>
            <a:off x="2589213" y="2314253"/>
            <a:ext cx="8915400" cy="3416943"/>
          </a:xfrm>
          <a:prstGeom prst="rect">
            <a:avLst/>
          </a:prstGeom>
        </p:spPr>
      </p:pic>
      <p:sp>
        <p:nvSpPr>
          <p:cNvPr id="3" name="Rectangle 2"/>
          <p:cNvSpPr/>
          <p:nvPr/>
        </p:nvSpPr>
        <p:spPr>
          <a:xfrm>
            <a:off x="2540701" y="6094538"/>
            <a:ext cx="2480231" cy="369332"/>
          </a:xfrm>
          <a:prstGeom prst="rect">
            <a:avLst/>
          </a:prstGeom>
        </p:spPr>
        <p:txBody>
          <a:bodyPr wrap="none">
            <a:spAutoFit/>
          </a:bodyPr>
          <a:lstStyle/>
          <a:p>
            <a:r>
              <a:rPr lang="en-IN"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4160295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Continued…</a:t>
            </a:r>
            <a:endParaRPr lang="en-IN" dirty="0"/>
          </a:p>
        </p:txBody>
      </p:sp>
      <p:pic>
        <p:nvPicPr>
          <p:cNvPr id="6" name="Content Placeholder 5"/>
          <p:cNvPicPr>
            <a:picLocks noGrp="1" noChangeAspect="1"/>
          </p:cNvPicPr>
          <p:nvPr>
            <p:ph idx="1"/>
          </p:nvPr>
        </p:nvPicPr>
        <p:blipFill>
          <a:blip r:embed="rId2"/>
          <a:stretch>
            <a:fillRect/>
          </a:stretch>
        </p:blipFill>
        <p:spPr>
          <a:xfrm>
            <a:off x="2589213" y="2333839"/>
            <a:ext cx="8915400" cy="3377772"/>
          </a:xfrm>
          <a:prstGeom prst="rect">
            <a:avLst/>
          </a:prstGeom>
        </p:spPr>
      </p:pic>
      <p:sp>
        <p:nvSpPr>
          <p:cNvPr id="5" name="Rectangle 4"/>
          <p:cNvSpPr/>
          <p:nvPr/>
        </p:nvSpPr>
        <p:spPr>
          <a:xfrm>
            <a:off x="2599067" y="5899985"/>
            <a:ext cx="2480231" cy="369332"/>
          </a:xfrm>
          <a:prstGeom prst="rect">
            <a:avLst/>
          </a:prstGeom>
        </p:spPr>
        <p:txBody>
          <a:bodyPr wrap="none">
            <a:spAutoFit/>
          </a:bodyPr>
          <a:lstStyle/>
          <a:p>
            <a:r>
              <a:rPr lang="en-IN"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894290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t>Continued…</a:t>
            </a:r>
            <a:endParaRPr lang="en-IN"/>
          </a:p>
        </p:txBody>
      </p:sp>
      <p:pic>
        <p:nvPicPr>
          <p:cNvPr id="4" name="Content Placeholder 3"/>
          <p:cNvPicPr>
            <a:picLocks noGrp="1" noChangeAspect="1"/>
          </p:cNvPicPr>
          <p:nvPr>
            <p:ph idx="1"/>
          </p:nvPr>
        </p:nvPicPr>
        <p:blipFill>
          <a:blip r:embed="rId2"/>
          <a:stretch>
            <a:fillRect/>
          </a:stretch>
        </p:blipFill>
        <p:spPr>
          <a:xfrm>
            <a:off x="2589213" y="2761016"/>
            <a:ext cx="8915400" cy="2523417"/>
          </a:xfrm>
          <a:prstGeom prst="rect">
            <a:avLst/>
          </a:prstGeom>
        </p:spPr>
      </p:pic>
      <p:sp>
        <p:nvSpPr>
          <p:cNvPr id="3" name="Rectangle 2"/>
          <p:cNvSpPr/>
          <p:nvPr/>
        </p:nvSpPr>
        <p:spPr>
          <a:xfrm>
            <a:off x="2589339" y="5510878"/>
            <a:ext cx="2480231" cy="369332"/>
          </a:xfrm>
          <a:prstGeom prst="rect">
            <a:avLst/>
          </a:prstGeom>
        </p:spPr>
        <p:txBody>
          <a:bodyPr wrap="none">
            <a:spAutoFit/>
          </a:bodyPr>
          <a:lstStyle/>
          <a:p>
            <a:r>
              <a:rPr lang="en-IN"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697335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HDD Vs SSD</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1795730"/>
            <a:ext cx="8418829" cy="4209415"/>
          </a:xfrm>
        </p:spPr>
      </p:pic>
      <p:sp>
        <p:nvSpPr>
          <p:cNvPr id="4" name="Rectangle 3"/>
          <p:cNvSpPr/>
          <p:nvPr/>
        </p:nvSpPr>
        <p:spPr>
          <a:xfrm>
            <a:off x="2599067" y="6172359"/>
            <a:ext cx="2480231" cy="369332"/>
          </a:xfrm>
          <a:prstGeom prst="rect">
            <a:avLst/>
          </a:prstGeom>
        </p:spPr>
        <p:txBody>
          <a:bodyPr wrap="none">
            <a:spAutoFit/>
          </a:bodyPr>
          <a:lstStyle/>
          <a:p>
            <a:r>
              <a:rPr lang="en-IN"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2434398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HDD and SSD Comparison</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243682892"/>
              </p:ext>
            </p:extLst>
          </p:nvPr>
        </p:nvGraphicFramePr>
        <p:xfrm>
          <a:off x="2589213" y="2133600"/>
          <a:ext cx="8915400" cy="2458720"/>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1571064383"/>
                    </a:ext>
                  </a:extLst>
                </a:gridCol>
                <a:gridCol w="4457700">
                  <a:extLst>
                    <a:ext uri="{9D8B030D-6E8A-4147-A177-3AD203B41FA5}">
                      <a16:colId xmlns:a16="http://schemas.microsoft.com/office/drawing/2014/main" val="2777376431"/>
                    </a:ext>
                  </a:extLst>
                </a:gridCol>
              </a:tblGrid>
              <a:tr h="370840">
                <a:tc>
                  <a:txBody>
                    <a:bodyPr/>
                    <a:lstStyle/>
                    <a:p>
                      <a:pPr algn="ctr"/>
                      <a:r>
                        <a:rPr lang="en-IN" sz="2000" dirty="0"/>
                        <a:t>HDD</a:t>
                      </a:r>
                    </a:p>
                  </a:txBody>
                  <a:tcPr/>
                </a:tc>
                <a:tc>
                  <a:txBody>
                    <a:bodyPr/>
                    <a:lstStyle/>
                    <a:p>
                      <a:pPr algn="ctr"/>
                      <a:r>
                        <a:rPr lang="en-IN" sz="2000" dirty="0"/>
                        <a:t>SSD</a:t>
                      </a:r>
                    </a:p>
                  </a:txBody>
                  <a:tcPr/>
                </a:tc>
                <a:extLst>
                  <a:ext uri="{0D108BD9-81ED-4DB2-BD59-A6C34878D82A}">
                    <a16:rowId xmlns:a16="http://schemas.microsoft.com/office/drawing/2014/main" val="1203442776"/>
                  </a:ext>
                </a:extLst>
              </a:tr>
              <a:tr h="370840">
                <a:tc>
                  <a:txBody>
                    <a:bodyPr/>
                    <a:lstStyle/>
                    <a:p>
                      <a:r>
                        <a:rPr lang="en-IN" sz="1600" dirty="0"/>
                        <a:t>Average power Consumed 6 to 7 Watt</a:t>
                      </a:r>
                    </a:p>
                  </a:txBody>
                  <a:tcPr/>
                </a:tc>
                <a:tc>
                  <a:txBody>
                    <a:bodyPr/>
                    <a:lstStyle/>
                    <a:p>
                      <a:r>
                        <a:rPr lang="en-IN" sz="1600" dirty="0"/>
                        <a:t>Average power consumed 2 to 3 Watt</a:t>
                      </a:r>
                    </a:p>
                  </a:txBody>
                  <a:tcPr/>
                </a:tc>
                <a:extLst>
                  <a:ext uri="{0D108BD9-81ED-4DB2-BD59-A6C34878D82A}">
                    <a16:rowId xmlns:a16="http://schemas.microsoft.com/office/drawing/2014/main" val="3242542265"/>
                  </a:ext>
                </a:extLst>
              </a:tr>
              <a:tr h="370840">
                <a:tc>
                  <a:txBody>
                    <a:bodyPr/>
                    <a:lstStyle/>
                    <a:p>
                      <a:r>
                        <a:rPr lang="en-IN" sz="1600" dirty="0"/>
                        <a:t>Less cost</a:t>
                      </a:r>
                    </a:p>
                  </a:txBody>
                  <a:tcPr/>
                </a:tc>
                <a:tc>
                  <a:txBody>
                    <a:bodyPr/>
                    <a:lstStyle/>
                    <a:p>
                      <a:r>
                        <a:rPr lang="en-IN" sz="1600" dirty="0"/>
                        <a:t>More cost</a:t>
                      </a:r>
                    </a:p>
                  </a:txBody>
                  <a:tcPr/>
                </a:tc>
                <a:extLst>
                  <a:ext uri="{0D108BD9-81ED-4DB2-BD59-A6C34878D82A}">
                    <a16:rowId xmlns:a16="http://schemas.microsoft.com/office/drawing/2014/main" val="318244128"/>
                  </a:ext>
                </a:extLst>
              </a:tr>
              <a:tr h="370840">
                <a:tc>
                  <a:txBody>
                    <a:bodyPr/>
                    <a:lstStyle/>
                    <a:p>
                      <a:r>
                        <a:rPr lang="en-IN" sz="1600" dirty="0"/>
                        <a:t>Average boot up-time</a:t>
                      </a:r>
                      <a:r>
                        <a:rPr lang="en-IN" sz="1600" baseline="0" dirty="0"/>
                        <a:t> 30-40 seconds</a:t>
                      </a:r>
                      <a:endParaRPr lang="en-IN" sz="1600" dirty="0"/>
                    </a:p>
                  </a:txBody>
                  <a:tcPr/>
                </a:tc>
                <a:tc>
                  <a:txBody>
                    <a:bodyPr/>
                    <a:lstStyle/>
                    <a:p>
                      <a:r>
                        <a:rPr lang="en-IN" sz="1600" dirty="0"/>
                        <a:t>Boot-up time 10-13 sec</a:t>
                      </a:r>
                    </a:p>
                  </a:txBody>
                  <a:tcPr/>
                </a:tc>
                <a:extLst>
                  <a:ext uri="{0D108BD9-81ED-4DB2-BD59-A6C34878D82A}">
                    <a16:rowId xmlns:a16="http://schemas.microsoft.com/office/drawing/2014/main" val="816186285"/>
                  </a:ext>
                </a:extLst>
              </a:tr>
              <a:tr h="370840">
                <a:tc>
                  <a:txBody>
                    <a:bodyPr/>
                    <a:lstStyle/>
                    <a:p>
                      <a:r>
                        <a:rPr lang="en-IN" sz="1600" dirty="0"/>
                        <a:t>It produce more heat because of more power consumption and moving part. </a:t>
                      </a:r>
                    </a:p>
                  </a:txBody>
                  <a:tcPr/>
                </a:tc>
                <a:tc>
                  <a:txBody>
                    <a:bodyPr/>
                    <a:lstStyle/>
                    <a:p>
                      <a:r>
                        <a:rPr lang="en-IN" sz="1600" dirty="0"/>
                        <a:t>It produce less heat</a:t>
                      </a:r>
                    </a:p>
                  </a:txBody>
                  <a:tcPr/>
                </a:tc>
                <a:extLst>
                  <a:ext uri="{0D108BD9-81ED-4DB2-BD59-A6C34878D82A}">
                    <a16:rowId xmlns:a16="http://schemas.microsoft.com/office/drawing/2014/main" val="364869733"/>
                  </a:ext>
                </a:extLst>
              </a:tr>
              <a:tr h="370840">
                <a:tc>
                  <a:txBody>
                    <a:bodyPr/>
                    <a:lstStyle/>
                    <a:p>
                      <a:r>
                        <a:rPr lang="en-IN" sz="1600" dirty="0"/>
                        <a:t>50 MB/s to 120 MB/s Speed </a:t>
                      </a:r>
                    </a:p>
                  </a:txBody>
                  <a:tcPr/>
                </a:tc>
                <a:tc>
                  <a:txBody>
                    <a:bodyPr/>
                    <a:lstStyle/>
                    <a:p>
                      <a:r>
                        <a:rPr lang="en-IN" sz="1600" dirty="0"/>
                        <a:t>Speed 200 MB/s</a:t>
                      </a:r>
                      <a:r>
                        <a:rPr lang="en-IN" sz="1600" baseline="0" dirty="0"/>
                        <a:t> to 550 MB/s </a:t>
                      </a:r>
                      <a:endParaRPr lang="en-IN" sz="1600" dirty="0"/>
                    </a:p>
                  </a:txBody>
                  <a:tcPr/>
                </a:tc>
                <a:extLst>
                  <a:ext uri="{0D108BD9-81ED-4DB2-BD59-A6C34878D82A}">
                    <a16:rowId xmlns:a16="http://schemas.microsoft.com/office/drawing/2014/main" val="4244149837"/>
                  </a:ext>
                </a:extLst>
              </a:tr>
            </a:tbl>
          </a:graphicData>
        </a:graphic>
      </p:graphicFrame>
      <p:sp>
        <p:nvSpPr>
          <p:cNvPr id="3" name="Rectangle 2"/>
          <p:cNvSpPr/>
          <p:nvPr/>
        </p:nvSpPr>
        <p:spPr>
          <a:xfrm>
            <a:off x="2647705" y="5394146"/>
            <a:ext cx="2480231" cy="369332"/>
          </a:xfrm>
          <a:prstGeom prst="rect">
            <a:avLst/>
          </a:prstGeom>
        </p:spPr>
        <p:txBody>
          <a:bodyPr wrap="none">
            <a:spAutoFit/>
          </a:bodyPr>
          <a:lstStyle/>
          <a:p>
            <a:r>
              <a:rPr lang="en-IN"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939105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4853" y="624110"/>
            <a:ext cx="9889759" cy="1280890"/>
          </a:xfrm>
        </p:spPr>
        <p:txBody>
          <a:bodyPr/>
          <a:lstStyle/>
          <a:p>
            <a:r>
              <a:rPr lang="en-IN" b="1" dirty="0"/>
              <a:t>SRAM – Bi-stable Element</a:t>
            </a:r>
          </a:p>
        </p:txBody>
      </p:sp>
      <p:sp>
        <p:nvSpPr>
          <p:cNvPr id="3" name="Content Placeholder 2"/>
          <p:cNvSpPr>
            <a:spLocks noGrp="1"/>
          </p:cNvSpPr>
          <p:nvPr>
            <p:ph idx="1"/>
          </p:nvPr>
        </p:nvSpPr>
        <p:spPr>
          <a:xfrm>
            <a:off x="1512277" y="1292469"/>
            <a:ext cx="10462846" cy="5389685"/>
          </a:xfrm>
        </p:spPr>
        <p:txBody>
          <a:bodyPr/>
          <a:lstStyle/>
          <a:p>
            <a:r>
              <a:rPr lang="en-US" sz="1700" dirty="0"/>
              <a:t>The basic structure of SRAM consist of two inverters are connected back-to-back to store information in SRAM Cell. </a:t>
            </a:r>
          </a:p>
          <a:p>
            <a:r>
              <a:rPr lang="en-US" sz="1700" dirty="0"/>
              <a:t>Whatever the input is given it will retain as long as the power supply is given. So this is the perfectly stable configuration</a:t>
            </a:r>
            <a:r>
              <a:rPr lang="en-US" dirty="0"/>
              <a:t>.  </a:t>
            </a:r>
          </a:p>
          <a:p>
            <a:endParaRPr lang="en-IN" dirty="0"/>
          </a:p>
        </p:txBody>
      </p:sp>
      <p:pic>
        <p:nvPicPr>
          <p:cNvPr id="4" name="Picture 2"/>
          <p:cNvPicPr>
            <a:picLocks noChangeAspect="1" noChangeArrowheads="1"/>
          </p:cNvPicPr>
          <p:nvPr/>
        </p:nvPicPr>
        <p:blipFill>
          <a:blip r:embed="rId2"/>
          <a:srcRect/>
          <a:stretch>
            <a:fillRect/>
          </a:stretch>
        </p:blipFill>
        <p:spPr bwMode="auto">
          <a:xfrm>
            <a:off x="1614853" y="2919046"/>
            <a:ext cx="4419600" cy="3362325"/>
          </a:xfrm>
          <a:prstGeom prst="rect">
            <a:avLst/>
          </a:prstGeom>
          <a:noFill/>
          <a:ln w="9525">
            <a:noFill/>
            <a:miter lim="800000"/>
            <a:headEnd/>
            <a:tailEnd/>
          </a:ln>
          <a:effectLst/>
        </p:spPr>
      </p:pic>
      <p:pic>
        <p:nvPicPr>
          <p:cNvPr id="5" name="Picture 3"/>
          <p:cNvPicPr>
            <a:picLocks noChangeAspect="1" noChangeArrowheads="1"/>
          </p:cNvPicPr>
          <p:nvPr/>
        </p:nvPicPr>
        <p:blipFill>
          <a:blip r:embed="rId3"/>
          <a:srcRect/>
          <a:stretch>
            <a:fillRect/>
          </a:stretch>
        </p:blipFill>
        <p:spPr bwMode="auto">
          <a:xfrm>
            <a:off x="6951785" y="2702169"/>
            <a:ext cx="4267200" cy="3452813"/>
          </a:xfrm>
          <a:prstGeom prst="rect">
            <a:avLst/>
          </a:prstGeom>
          <a:noFill/>
          <a:ln w="9525">
            <a:noFill/>
            <a:miter lim="800000"/>
            <a:headEnd/>
            <a:tailEnd/>
          </a:ln>
          <a:effectLst/>
        </p:spPr>
      </p:pic>
      <p:sp>
        <p:nvSpPr>
          <p:cNvPr id="6" name="Rectangle 5"/>
          <p:cNvSpPr/>
          <p:nvPr/>
        </p:nvSpPr>
        <p:spPr>
          <a:xfrm>
            <a:off x="1614853" y="6386368"/>
            <a:ext cx="2480231" cy="369332"/>
          </a:xfrm>
          <a:prstGeom prst="rect">
            <a:avLst/>
          </a:prstGeom>
        </p:spPr>
        <p:txBody>
          <a:bodyPr wrap="none">
            <a:spAutoFit/>
          </a:bodyPr>
          <a:lstStyle/>
          <a:p>
            <a:r>
              <a:rPr lang="en-IN"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687540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1747" y="624110"/>
            <a:ext cx="9842866" cy="1280890"/>
          </a:xfrm>
        </p:spPr>
        <p:txBody>
          <a:bodyPr/>
          <a:lstStyle/>
          <a:p>
            <a:r>
              <a:rPr lang="en-IN" b="1" dirty="0"/>
              <a:t>Continued…</a:t>
            </a:r>
          </a:p>
        </p:txBody>
      </p:sp>
      <p:sp>
        <p:nvSpPr>
          <p:cNvPr id="3" name="Content Placeholder 2"/>
          <p:cNvSpPr>
            <a:spLocks noGrp="1"/>
          </p:cNvSpPr>
          <p:nvPr>
            <p:ph idx="1"/>
          </p:nvPr>
        </p:nvSpPr>
        <p:spPr>
          <a:xfrm>
            <a:off x="1485900" y="1213338"/>
            <a:ext cx="10018712" cy="5574323"/>
          </a:xfrm>
        </p:spPr>
        <p:txBody>
          <a:bodyPr/>
          <a:lstStyle/>
          <a:p>
            <a:r>
              <a:rPr lang="en-US" sz="1700" dirty="0"/>
              <a:t>In order to access the cell two switches are required. </a:t>
            </a:r>
          </a:p>
          <a:p>
            <a:r>
              <a:rPr lang="en-US" sz="1700" dirty="0"/>
              <a:t>These switches are called access transistors and activated by word line. </a:t>
            </a:r>
          </a:p>
          <a:p>
            <a:r>
              <a:rPr lang="en-US" sz="1700" dirty="0"/>
              <a:t>If the word line is high, the information available on Bit and Bit-bar line. </a:t>
            </a:r>
          </a:p>
          <a:p>
            <a:r>
              <a:rPr lang="en-US" sz="1600" dirty="0"/>
              <a:t>For Read and Write operation , one particular column is energize.</a:t>
            </a:r>
          </a:p>
          <a:p>
            <a:r>
              <a:rPr lang="en-US" dirty="0"/>
              <a:t>Sense amplifier is needed to sense the bit and bit bar lines.</a:t>
            </a:r>
          </a:p>
          <a:p>
            <a:endParaRPr lang="en-US" sz="1700" dirty="0"/>
          </a:p>
          <a:p>
            <a:endParaRPr lang="en-US" sz="1700" dirty="0"/>
          </a:p>
          <a:p>
            <a:endParaRPr lang="en-US" sz="1600" dirty="0"/>
          </a:p>
          <a:p>
            <a:endParaRPr lang="en-US" sz="1600" dirty="0"/>
          </a:p>
          <a:p>
            <a:endParaRPr lang="en-US" sz="1700" dirty="0"/>
          </a:p>
          <a:p>
            <a:endParaRPr lang="en-IN" dirty="0"/>
          </a:p>
        </p:txBody>
      </p:sp>
      <p:pic>
        <p:nvPicPr>
          <p:cNvPr id="4" name="Picture 2"/>
          <p:cNvPicPr>
            <a:picLocks noChangeAspect="1" noChangeArrowheads="1"/>
          </p:cNvPicPr>
          <p:nvPr/>
        </p:nvPicPr>
        <p:blipFill>
          <a:blip r:embed="rId2"/>
          <a:srcRect/>
          <a:stretch>
            <a:fillRect/>
          </a:stretch>
        </p:blipFill>
        <p:spPr bwMode="auto">
          <a:xfrm>
            <a:off x="885903" y="3375808"/>
            <a:ext cx="4757738" cy="3015264"/>
          </a:xfrm>
          <a:prstGeom prst="rect">
            <a:avLst/>
          </a:prstGeom>
          <a:noFill/>
          <a:ln w="9525">
            <a:noFill/>
            <a:miter lim="800000"/>
            <a:headEnd/>
            <a:tailEnd/>
          </a:ln>
          <a:effectLst/>
        </p:spPr>
      </p:pic>
      <p:pic>
        <p:nvPicPr>
          <p:cNvPr id="5" name="Picture 2"/>
          <p:cNvPicPr>
            <a:picLocks noChangeAspect="1" noChangeArrowheads="1"/>
          </p:cNvPicPr>
          <p:nvPr/>
        </p:nvPicPr>
        <p:blipFill>
          <a:blip r:embed="rId3"/>
          <a:srcRect/>
          <a:stretch>
            <a:fillRect/>
          </a:stretch>
        </p:blipFill>
        <p:spPr bwMode="auto">
          <a:xfrm>
            <a:off x="6964608" y="3271236"/>
            <a:ext cx="5105400" cy="3586764"/>
          </a:xfrm>
          <a:prstGeom prst="rect">
            <a:avLst/>
          </a:prstGeom>
          <a:noFill/>
          <a:ln w="9525">
            <a:noFill/>
            <a:miter lim="800000"/>
            <a:headEnd/>
            <a:tailEnd/>
          </a:ln>
          <a:effectLst/>
        </p:spPr>
      </p:pic>
      <p:sp>
        <p:nvSpPr>
          <p:cNvPr id="6" name="Rectangle 5"/>
          <p:cNvSpPr/>
          <p:nvPr/>
        </p:nvSpPr>
        <p:spPr>
          <a:xfrm>
            <a:off x="885903" y="6396095"/>
            <a:ext cx="2480231" cy="369332"/>
          </a:xfrm>
          <a:prstGeom prst="rect">
            <a:avLst/>
          </a:prstGeom>
        </p:spPr>
        <p:txBody>
          <a:bodyPr wrap="none">
            <a:spAutoFit/>
          </a:bodyPr>
          <a:lstStyle/>
          <a:p>
            <a:r>
              <a:rPr lang="en-IN"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83242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1" y="624110"/>
            <a:ext cx="9828212" cy="1280890"/>
          </a:xfrm>
        </p:spPr>
        <p:txBody>
          <a:bodyPr/>
          <a:lstStyle/>
          <a:p>
            <a:r>
              <a:rPr lang="en-US" b="1" dirty="0"/>
              <a:t>SRAM Array</a:t>
            </a:r>
          </a:p>
        </p:txBody>
      </p:sp>
      <p:sp>
        <p:nvSpPr>
          <p:cNvPr id="6" name="Slide Number Placeholder 5"/>
          <p:cNvSpPr>
            <a:spLocks noGrp="1"/>
          </p:cNvSpPr>
          <p:nvPr>
            <p:ph type="sldNum" sz="quarter" idx="12"/>
          </p:nvPr>
        </p:nvSpPr>
        <p:spPr/>
        <p:txBody>
          <a:bodyPr/>
          <a:lstStyle/>
          <a:p>
            <a:fld id="{F472F8CB-BF92-4406-ACFD-F257DB02B10E}" type="slidenum">
              <a:rPr lang="en-US" smtClean="0"/>
              <a:pPr/>
              <a:t>17</a:t>
            </a:fld>
            <a:endParaRPr lang="en-US"/>
          </a:p>
        </p:txBody>
      </p:sp>
      <p:pic>
        <p:nvPicPr>
          <p:cNvPr id="7" name="Picture 2"/>
          <p:cNvPicPr>
            <a:picLocks noGrp="1" noChangeAspect="1" noChangeArrowheads="1"/>
          </p:cNvPicPr>
          <p:nvPr>
            <p:ph idx="1"/>
          </p:nvPr>
        </p:nvPicPr>
        <p:blipFill>
          <a:blip r:embed="rId2"/>
          <a:srcRect/>
          <a:stretch>
            <a:fillRect/>
          </a:stretch>
        </p:blipFill>
        <p:spPr bwMode="auto">
          <a:xfrm>
            <a:off x="4648200" y="1828801"/>
            <a:ext cx="5838096" cy="3962953"/>
          </a:xfrm>
          <a:prstGeom prst="rect">
            <a:avLst/>
          </a:prstGeom>
          <a:noFill/>
          <a:ln w="9525">
            <a:noFill/>
            <a:miter lim="800000"/>
            <a:headEnd/>
            <a:tailEnd/>
          </a:ln>
          <a:effectLst/>
        </p:spPr>
      </p:pic>
      <p:sp>
        <p:nvSpPr>
          <p:cNvPr id="9" name="Text Box 3"/>
          <p:cNvSpPr txBox="1">
            <a:spLocks noChangeArrowheads="1"/>
          </p:cNvSpPr>
          <p:nvPr/>
        </p:nvSpPr>
        <p:spPr bwMode="auto">
          <a:xfrm>
            <a:off x="1676400" y="2590800"/>
            <a:ext cx="3265638" cy="738664"/>
          </a:xfrm>
          <a:prstGeom prst="rect">
            <a:avLst/>
          </a:prstGeom>
          <a:noFill/>
          <a:ln w="9525">
            <a:noFill/>
            <a:miter lim="800000"/>
            <a:headEnd/>
            <a:tailEnd/>
          </a:ln>
          <a:effectLst/>
        </p:spPr>
        <p:txBody>
          <a:bodyPr wrap="none">
            <a:spAutoFit/>
          </a:bodyPr>
          <a:lstStyle/>
          <a:p>
            <a:pPr>
              <a:spcBef>
                <a:spcPct val="0"/>
              </a:spcBef>
            </a:pPr>
            <a:r>
              <a:rPr lang="en-US" sz="1400" dirty="0">
                <a:solidFill>
                  <a:srgbClr val="FF0000"/>
                </a:solidFill>
              </a:rPr>
              <a:t>Array Organization</a:t>
            </a:r>
          </a:p>
          <a:p>
            <a:pPr lvl="1">
              <a:spcBef>
                <a:spcPct val="0"/>
              </a:spcBef>
              <a:buFontTx/>
              <a:buChar char="•"/>
            </a:pPr>
            <a:r>
              <a:rPr lang="en-US" sz="1400" dirty="0">
                <a:solidFill>
                  <a:prstClr val="black"/>
                </a:solidFill>
              </a:rPr>
              <a:t> common bit precharge lines</a:t>
            </a:r>
          </a:p>
          <a:p>
            <a:pPr lvl="1">
              <a:spcBef>
                <a:spcPct val="0"/>
              </a:spcBef>
              <a:buFontTx/>
              <a:buChar char="•"/>
            </a:pPr>
            <a:r>
              <a:rPr lang="en-US" sz="1400" dirty="0">
                <a:solidFill>
                  <a:prstClr val="black"/>
                </a:solidFill>
              </a:rPr>
              <a:t> need sense amplifier</a:t>
            </a:r>
          </a:p>
        </p:txBody>
      </p:sp>
      <p:sp>
        <p:nvSpPr>
          <p:cNvPr id="10" name="Freeform 4"/>
          <p:cNvSpPr>
            <a:spLocks/>
          </p:cNvSpPr>
          <p:nvPr/>
        </p:nvSpPr>
        <p:spPr bwMode="auto">
          <a:xfrm>
            <a:off x="2819400" y="1371600"/>
            <a:ext cx="3505200" cy="1181100"/>
          </a:xfrm>
          <a:custGeom>
            <a:avLst/>
            <a:gdLst/>
            <a:ahLst/>
            <a:cxnLst>
              <a:cxn ang="0">
                <a:pos x="0" y="360"/>
              </a:cxn>
              <a:cxn ang="0">
                <a:pos x="288" y="168"/>
              </a:cxn>
              <a:cxn ang="0">
                <a:pos x="672" y="24"/>
              </a:cxn>
              <a:cxn ang="0">
                <a:pos x="1056" y="24"/>
              </a:cxn>
              <a:cxn ang="0">
                <a:pos x="1440" y="120"/>
              </a:cxn>
            </a:cxnLst>
            <a:rect l="0" t="0" r="r" b="b"/>
            <a:pathLst>
              <a:path w="1440" h="360">
                <a:moveTo>
                  <a:pt x="0" y="360"/>
                </a:moveTo>
                <a:cubicBezTo>
                  <a:pt x="88" y="292"/>
                  <a:pt x="176" y="224"/>
                  <a:pt x="288" y="168"/>
                </a:cubicBezTo>
                <a:cubicBezTo>
                  <a:pt x="400" y="112"/>
                  <a:pt x="544" y="48"/>
                  <a:pt x="672" y="24"/>
                </a:cubicBezTo>
                <a:cubicBezTo>
                  <a:pt x="800" y="0"/>
                  <a:pt x="928" y="8"/>
                  <a:pt x="1056" y="24"/>
                </a:cubicBezTo>
                <a:cubicBezTo>
                  <a:pt x="1184" y="40"/>
                  <a:pt x="1376" y="104"/>
                  <a:pt x="1440" y="120"/>
                </a:cubicBezTo>
              </a:path>
            </a:pathLst>
          </a:custGeom>
          <a:noFill/>
          <a:ln w="19050" cmpd="sng">
            <a:solidFill>
              <a:srgbClr val="CC0000"/>
            </a:solidFill>
            <a:round/>
            <a:headEnd type="none" w="med" len="med"/>
            <a:tailEnd type="triangle" w="med" len="med"/>
          </a:ln>
          <a:effectLst/>
        </p:spPr>
        <p:txBody>
          <a:bodyPr/>
          <a:lstStyle/>
          <a:p>
            <a:endParaRPr lang="en-US">
              <a:solidFill>
                <a:prstClr val="black"/>
              </a:solidFill>
            </a:endParaRPr>
          </a:p>
        </p:txBody>
      </p:sp>
      <p:sp>
        <p:nvSpPr>
          <p:cNvPr id="11" name="Freeform 5"/>
          <p:cNvSpPr>
            <a:spLocks/>
          </p:cNvSpPr>
          <p:nvPr/>
        </p:nvSpPr>
        <p:spPr bwMode="auto">
          <a:xfrm>
            <a:off x="2971800" y="3429000"/>
            <a:ext cx="3124200" cy="1447800"/>
          </a:xfrm>
          <a:custGeom>
            <a:avLst/>
            <a:gdLst/>
            <a:ahLst/>
            <a:cxnLst>
              <a:cxn ang="0">
                <a:pos x="0" y="0"/>
              </a:cxn>
              <a:cxn ang="0">
                <a:pos x="336" y="288"/>
              </a:cxn>
              <a:cxn ang="0">
                <a:pos x="720" y="480"/>
              </a:cxn>
              <a:cxn ang="0">
                <a:pos x="1200" y="576"/>
              </a:cxn>
            </a:cxnLst>
            <a:rect l="0" t="0" r="r" b="b"/>
            <a:pathLst>
              <a:path w="1200" h="576">
                <a:moveTo>
                  <a:pt x="0" y="0"/>
                </a:moveTo>
                <a:cubicBezTo>
                  <a:pt x="108" y="104"/>
                  <a:pt x="216" y="208"/>
                  <a:pt x="336" y="288"/>
                </a:cubicBezTo>
                <a:cubicBezTo>
                  <a:pt x="456" y="368"/>
                  <a:pt x="576" y="432"/>
                  <a:pt x="720" y="480"/>
                </a:cubicBezTo>
                <a:cubicBezTo>
                  <a:pt x="864" y="528"/>
                  <a:pt x="1032" y="552"/>
                  <a:pt x="1200" y="576"/>
                </a:cubicBezTo>
              </a:path>
            </a:pathLst>
          </a:custGeom>
          <a:noFill/>
          <a:ln w="19050" cmpd="sng">
            <a:solidFill>
              <a:srgbClr val="CC0000"/>
            </a:solidFill>
            <a:round/>
            <a:headEnd type="none" w="med" len="med"/>
            <a:tailEnd type="triangle" w="med" len="med"/>
          </a:ln>
          <a:effectLst/>
        </p:spPr>
        <p:txBody>
          <a:bodyPr/>
          <a:lstStyle/>
          <a:p>
            <a:endParaRPr lang="en-US">
              <a:solidFill>
                <a:prstClr val="black"/>
              </a:solidFill>
            </a:endParaRPr>
          </a:p>
        </p:txBody>
      </p:sp>
      <p:sp>
        <p:nvSpPr>
          <p:cNvPr id="3" name="Rectangle 2"/>
          <p:cNvSpPr/>
          <p:nvPr/>
        </p:nvSpPr>
        <p:spPr>
          <a:xfrm>
            <a:off x="1820854" y="6084811"/>
            <a:ext cx="2480231" cy="369332"/>
          </a:xfrm>
          <a:prstGeom prst="rect">
            <a:avLst/>
          </a:prstGeom>
        </p:spPr>
        <p:txBody>
          <a:bodyPr wrap="none">
            <a:spAutoFit/>
          </a:bodyPr>
          <a:lstStyle/>
          <a:p>
            <a:r>
              <a:rPr lang="en-IN"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2893462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1747" y="624110"/>
            <a:ext cx="9842866" cy="1280890"/>
          </a:xfrm>
        </p:spPr>
        <p:txBody>
          <a:bodyPr/>
          <a:lstStyle/>
          <a:p>
            <a:r>
              <a:rPr lang="en-IN" b="1" dirty="0"/>
              <a:t>How the device Works</a:t>
            </a:r>
          </a:p>
        </p:txBody>
      </p:sp>
      <p:sp>
        <p:nvSpPr>
          <p:cNvPr id="3" name="Content Placeholder 2"/>
          <p:cNvSpPr>
            <a:spLocks noGrp="1"/>
          </p:cNvSpPr>
          <p:nvPr>
            <p:ph idx="1"/>
          </p:nvPr>
        </p:nvSpPr>
        <p:spPr>
          <a:xfrm>
            <a:off x="1661747" y="1644161"/>
            <a:ext cx="9842865" cy="5020407"/>
          </a:xfrm>
        </p:spPr>
        <p:txBody>
          <a:bodyPr/>
          <a:lstStyle/>
          <a:p>
            <a:pPr algn="just">
              <a:buClr>
                <a:schemeClr val="tx1"/>
              </a:buClr>
              <a:buFont typeface="Wingdings" pitchFamily="2" charset="2"/>
              <a:buChar char="Ø"/>
            </a:pPr>
            <a:r>
              <a:rPr lang="en-US" sz="1700" dirty="0"/>
              <a:t>An SRAM cell has three different states. </a:t>
            </a:r>
          </a:p>
          <a:p>
            <a:pPr algn="just">
              <a:buClr>
                <a:schemeClr val="tx1"/>
              </a:buClr>
              <a:buNone/>
            </a:pPr>
            <a:r>
              <a:rPr lang="en-US" sz="1700" dirty="0"/>
              <a:t>     1) </a:t>
            </a:r>
            <a:r>
              <a:rPr lang="en-US" sz="1700" dirty="0">
                <a:solidFill>
                  <a:srgbClr val="FF0000"/>
                </a:solidFill>
              </a:rPr>
              <a:t>Standby  </a:t>
            </a:r>
            <a:r>
              <a:rPr lang="en-US" sz="1700" dirty="0"/>
              <a:t>(the circuit is idle) </a:t>
            </a:r>
          </a:p>
          <a:p>
            <a:pPr algn="just">
              <a:buClr>
                <a:schemeClr val="tx1"/>
              </a:buClr>
              <a:buNone/>
            </a:pPr>
            <a:r>
              <a:rPr lang="en-US" sz="1700" dirty="0"/>
              <a:t>     2) </a:t>
            </a:r>
            <a:r>
              <a:rPr lang="en-US" sz="1700" dirty="0">
                <a:solidFill>
                  <a:srgbClr val="FF0000"/>
                </a:solidFill>
              </a:rPr>
              <a:t>Reading</a:t>
            </a:r>
            <a:r>
              <a:rPr lang="en-US" sz="1700" dirty="0"/>
              <a:t> (the data has been requested)  </a:t>
            </a:r>
          </a:p>
          <a:p>
            <a:pPr algn="just">
              <a:buClr>
                <a:schemeClr val="tx1"/>
              </a:buClr>
              <a:buNone/>
            </a:pPr>
            <a:r>
              <a:rPr lang="en-US" sz="1700" dirty="0"/>
              <a:t>     3) </a:t>
            </a:r>
            <a:r>
              <a:rPr lang="en-US" sz="1700" dirty="0">
                <a:solidFill>
                  <a:srgbClr val="FF0000"/>
                </a:solidFill>
              </a:rPr>
              <a:t>Writing </a:t>
            </a:r>
            <a:r>
              <a:rPr lang="en-US" sz="1700" dirty="0"/>
              <a:t>(updating the contents)</a:t>
            </a:r>
          </a:p>
          <a:p>
            <a:endParaRPr lang="en-IN" dirty="0"/>
          </a:p>
        </p:txBody>
      </p:sp>
      <p:pic>
        <p:nvPicPr>
          <p:cNvPr id="4" name="Picture 2"/>
          <p:cNvPicPr>
            <a:picLocks noChangeAspect="1" noChangeArrowheads="1"/>
          </p:cNvPicPr>
          <p:nvPr/>
        </p:nvPicPr>
        <p:blipFill>
          <a:blip r:embed="rId2"/>
          <a:srcRect/>
          <a:stretch>
            <a:fillRect/>
          </a:stretch>
        </p:blipFill>
        <p:spPr bwMode="auto">
          <a:xfrm>
            <a:off x="6970040" y="1644161"/>
            <a:ext cx="4253771" cy="4495800"/>
          </a:xfrm>
          <a:prstGeom prst="rect">
            <a:avLst/>
          </a:prstGeom>
          <a:noFill/>
          <a:ln w="9525">
            <a:noFill/>
            <a:miter lim="800000"/>
            <a:headEnd/>
            <a:tailEnd/>
          </a:ln>
          <a:effectLst/>
        </p:spPr>
      </p:pic>
      <p:sp>
        <p:nvSpPr>
          <p:cNvPr id="5" name="Rectangle 4"/>
          <p:cNvSpPr/>
          <p:nvPr/>
        </p:nvSpPr>
        <p:spPr>
          <a:xfrm>
            <a:off x="2025135" y="5955295"/>
            <a:ext cx="2480231" cy="369332"/>
          </a:xfrm>
          <a:prstGeom prst="rect">
            <a:avLst/>
          </a:prstGeom>
        </p:spPr>
        <p:txBody>
          <a:bodyPr wrap="none">
            <a:spAutoFit/>
          </a:bodyPr>
          <a:lstStyle/>
          <a:p>
            <a:r>
              <a:rPr lang="en-IN"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254386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6577" y="624110"/>
            <a:ext cx="9878035" cy="1280890"/>
          </a:xfrm>
        </p:spPr>
        <p:txBody>
          <a:bodyPr/>
          <a:lstStyle/>
          <a:p>
            <a:r>
              <a:rPr lang="en-IN" b="1" dirty="0"/>
              <a:t>SRAM Read </a:t>
            </a:r>
          </a:p>
        </p:txBody>
      </p:sp>
      <p:sp>
        <p:nvSpPr>
          <p:cNvPr id="3" name="Content Placeholder 2"/>
          <p:cNvSpPr>
            <a:spLocks noGrp="1"/>
          </p:cNvSpPr>
          <p:nvPr>
            <p:ph idx="1"/>
          </p:nvPr>
        </p:nvSpPr>
        <p:spPr>
          <a:xfrm>
            <a:off x="1626577" y="1424354"/>
            <a:ext cx="9878035" cy="5152292"/>
          </a:xfrm>
        </p:spPr>
        <p:txBody>
          <a:bodyPr/>
          <a:lstStyle/>
          <a:p>
            <a:r>
              <a:rPr lang="en-IN" sz="1700" dirty="0"/>
              <a:t>Pre-charge both the Bit-lines.</a:t>
            </a:r>
          </a:p>
          <a:p>
            <a:r>
              <a:rPr lang="en-IN" sz="1700" dirty="0"/>
              <a:t>Then turn-on word lines.  </a:t>
            </a:r>
          </a:p>
          <a:p>
            <a:r>
              <a:rPr lang="en-IN" sz="1700" dirty="0"/>
              <a:t>One of the bit-line will be pulled down</a:t>
            </a:r>
          </a:p>
          <a:p>
            <a:pPr marL="0" indent="0">
              <a:buNone/>
            </a:pPr>
            <a:r>
              <a:rPr lang="en-IN" sz="1700" dirty="0"/>
              <a:t>       by the cell. </a:t>
            </a:r>
          </a:p>
        </p:txBody>
      </p:sp>
      <p:pic>
        <p:nvPicPr>
          <p:cNvPr id="5" name="Picture 4"/>
          <p:cNvPicPr>
            <a:picLocks noChangeAspect="1"/>
          </p:cNvPicPr>
          <p:nvPr/>
        </p:nvPicPr>
        <p:blipFill>
          <a:blip r:embed="rId2"/>
          <a:stretch>
            <a:fillRect/>
          </a:stretch>
        </p:blipFill>
        <p:spPr>
          <a:xfrm>
            <a:off x="6148754" y="1424354"/>
            <a:ext cx="5257800" cy="4514850"/>
          </a:xfrm>
          <a:prstGeom prst="rect">
            <a:avLst/>
          </a:prstGeom>
        </p:spPr>
      </p:pic>
      <p:sp>
        <p:nvSpPr>
          <p:cNvPr id="4" name="Rectangle 3"/>
          <p:cNvSpPr/>
          <p:nvPr/>
        </p:nvSpPr>
        <p:spPr>
          <a:xfrm>
            <a:off x="1879220" y="5841619"/>
            <a:ext cx="2480231" cy="369332"/>
          </a:xfrm>
          <a:prstGeom prst="rect">
            <a:avLst/>
          </a:prstGeom>
        </p:spPr>
        <p:txBody>
          <a:bodyPr wrap="none">
            <a:spAutoFit/>
          </a:bodyPr>
          <a:lstStyle/>
          <a:p>
            <a:r>
              <a:rPr lang="en-IN"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2344135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785" y="624110"/>
            <a:ext cx="9886827" cy="1280890"/>
          </a:xfrm>
        </p:spPr>
        <p:txBody>
          <a:bodyPr/>
          <a:lstStyle/>
          <a:p>
            <a:r>
              <a:rPr lang="en-IN" b="1" dirty="0"/>
              <a:t>SRAM Write</a:t>
            </a:r>
            <a:endParaRPr lang="en-IN" dirty="0"/>
          </a:p>
        </p:txBody>
      </p:sp>
      <p:sp>
        <p:nvSpPr>
          <p:cNvPr id="3" name="Content Placeholder 2"/>
          <p:cNvSpPr>
            <a:spLocks noGrp="1"/>
          </p:cNvSpPr>
          <p:nvPr>
            <p:ph idx="1"/>
          </p:nvPr>
        </p:nvSpPr>
        <p:spPr>
          <a:xfrm>
            <a:off x="1002323" y="1345223"/>
            <a:ext cx="10502289" cy="5169877"/>
          </a:xfrm>
        </p:spPr>
        <p:txBody>
          <a:bodyPr/>
          <a:lstStyle/>
          <a:p>
            <a:r>
              <a:rPr lang="en-US" dirty="0"/>
              <a:t>Drive one </a:t>
            </a:r>
            <a:r>
              <a:rPr lang="en-US" dirty="0" err="1"/>
              <a:t>bitline</a:t>
            </a:r>
            <a:r>
              <a:rPr lang="en-US" dirty="0"/>
              <a:t> high, the other low. </a:t>
            </a:r>
          </a:p>
          <a:p>
            <a:r>
              <a:rPr lang="en-US" dirty="0"/>
              <a:t> Then turn on </a:t>
            </a:r>
            <a:r>
              <a:rPr lang="en-US" dirty="0" err="1"/>
              <a:t>wordline</a:t>
            </a:r>
            <a:r>
              <a:rPr lang="en-US" dirty="0"/>
              <a:t>. </a:t>
            </a:r>
          </a:p>
          <a:p>
            <a:r>
              <a:rPr lang="en-US" dirty="0" err="1"/>
              <a:t>Bitlines</a:t>
            </a:r>
            <a:r>
              <a:rPr lang="en-US" dirty="0"/>
              <a:t> overpower cell with new value. </a:t>
            </a:r>
          </a:p>
          <a:p>
            <a:endParaRPr lang="en-US" dirty="0"/>
          </a:p>
          <a:p>
            <a:endParaRPr lang="en-IN" dirty="0"/>
          </a:p>
        </p:txBody>
      </p:sp>
      <p:graphicFrame>
        <p:nvGraphicFramePr>
          <p:cNvPr id="4" name="Object 4"/>
          <p:cNvGraphicFramePr>
            <a:graphicFrameLocks noChangeAspect="1"/>
          </p:cNvGraphicFramePr>
          <p:nvPr>
            <p:extLst>
              <p:ext uri="{D42A27DB-BD31-4B8C-83A1-F6EECF244321}">
                <p14:modId xmlns:p14="http://schemas.microsoft.com/office/powerpoint/2010/main" val="2751878983"/>
              </p:ext>
            </p:extLst>
          </p:nvPr>
        </p:nvGraphicFramePr>
        <p:xfrm>
          <a:off x="5961185" y="1644162"/>
          <a:ext cx="5776545" cy="4070838"/>
        </p:xfrm>
        <a:graphic>
          <a:graphicData uri="http://schemas.openxmlformats.org/presentationml/2006/ole">
            <mc:AlternateContent xmlns:mc="http://schemas.openxmlformats.org/markup-compatibility/2006">
              <mc:Choice xmlns:v="urn:schemas-microsoft-com:vml" Requires="v">
                <p:oleObj name="Visio" r:id="rId2" imgW="2100153" imgH="1200015" progId="Visio.Drawing.11">
                  <p:embed/>
                </p:oleObj>
              </mc:Choice>
              <mc:Fallback>
                <p:oleObj name="Visio" r:id="rId2" imgW="2100153" imgH="1200015"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1185" y="1644162"/>
                        <a:ext cx="5776545" cy="4070838"/>
                      </a:xfrm>
                      <a:prstGeom prst="rect">
                        <a:avLst/>
                      </a:prstGeom>
                      <a:noFill/>
                      <a:ln>
                        <a:noFill/>
                      </a:ln>
                      <a:effectLst/>
                    </p:spPr>
                  </p:pic>
                </p:oleObj>
              </mc:Fallback>
            </mc:AlternateContent>
          </a:graphicData>
        </a:graphic>
      </p:graphicFrame>
      <p:sp>
        <p:nvSpPr>
          <p:cNvPr id="5" name="Rectangle 4"/>
          <p:cNvSpPr/>
          <p:nvPr/>
        </p:nvSpPr>
        <p:spPr>
          <a:xfrm>
            <a:off x="1412292" y="5841619"/>
            <a:ext cx="2480231" cy="369332"/>
          </a:xfrm>
          <a:prstGeom prst="rect">
            <a:avLst/>
          </a:prstGeom>
        </p:spPr>
        <p:txBody>
          <a:bodyPr wrap="none">
            <a:spAutoFit/>
          </a:bodyPr>
          <a:lstStyle/>
          <a:p>
            <a:r>
              <a:rPr lang="en-IN"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128998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0539" y="624110"/>
            <a:ext cx="9834074" cy="1280890"/>
          </a:xfrm>
        </p:spPr>
        <p:txBody>
          <a:bodyPr/>
          <a:lstStyle/>
          <a:p>
            <a:r>
              <a:rPr lang="en-IN" b="1" dirty="0"/>
              <a:t>SRAM Standby Mode (Hold Mode)</a:t>
            </a:r>
            <a:endParaRPr lang="en-IN" dirty="0"/>
          </a:p>
        </p:txBody>
      </p:sp>
      <p:sp>
        <p:nvSpPr>
          <p:cNvPr id="3" name="Content Placeholder 2"/>
          <p:cNvSpPr>
            <a:spLocks noGrp="1"/>
          </p:cNvSpPr>
          <p:nvPr>
            <p:ph idx="1"/>
          </p:nvPr>
        </p:nvSpPr>
        <p:spPr>
          <a:xfrm>
            <a:off x="1134208" y="1468315"/>
            <a:ext cx="10370405" cy="5249008"/>
          </a:xfrm>
        </p:spPr>
        <p:txBody>
          <a:bodyPr/>
          <a:lstStyle/>
          <a:p>
            <a:pPr marL="0" indent="0" algn="just">
              <a:buClr>
                <a:schemeClr val="tx1"/>
              </a:buClr>
              <a:buNone/>
            </a:pPr>
            <a:r>
              <a:rPr lang="en-US" dirty="0"/>
              <a:t>The hold state of the cell occurs with the Word line is connected to ‘0’ , Which</a:t>
            </a:r>
          </a:p>
          <a:p>
            <a:pPr algn="just">
              <a:buClr>
                <a:schemeClr val="tx1"/>
              </a:buClr>
              <a:buNone/>
            </a:pPr>
            <a:r>
              <a:rPr lang="en-US" dirty="0"/>
              <a:t> means N2 and N4 being driven low.  </a:t>
            </a:r>
          </a:p>
          <a:p>
            <a:pPr algn="just">
              <a:buClr>
                <a:schemeClr val="tx1"/>
              </a:buClr>
              <a:buNone/>
            </a:pPr>
            <a:endParaRPr lang="en-US" dirty="0"/>
          </a:p>
          <a:p>
            <a:pPr algn="just">
              <a:buClr>
                <a:schemeClr val="tx1"/>
              </a:buClr>
              <a:buNone/>
            </a:pPr>
            <a:r>
              <a:rPr lang="en-US" dirty="0"/>
              <a:t>The cell is disconnected in this mode.</a:t>
            </a:r>
          </a:p>
          <a:p>
            <a:pPr algn="just">
              <a:buClr>
                <a:schemeClr val="tx1"/>
              </a:buClr>
              <a:buNone/>
            </a:pPr>
            <a:endParaRPr lang="en-US" dirty="0"/>
          </a:p>
          <a:p>
            <a:pPr>
              <a:buClr>
                <a:schemeClr val="tx1"/>
              </a:buClr>
              <a:buNone/>
            </a:pPr>
            <a:endParaRPr lang="en-US" dirty="0"/>
          </a:p>
          <a:p>
            <a:endParaRPr lang="en-IN" dirty="0">
              <a:solidFill>
                <a:srgbClr val="C00000"/>
              </a:solidFill>
              <a:latin typeface="Arial" panose="020B0604020202020204" pitchFamily="34" charset="0"/>
              <a:cs typeface="Arial" panose="020B0604020202020204" pitchFamily="34" charset="0"/>
            </a:endParaRPr>
          </a:p>
          <a:p>
            <a:endParaRPr lang="en-IN" dirty="0">
              <a:solidFill>
                <a:srgbClr val="C00000"/>
              </a:solidFill>
              <a:latin typeface="Arial" panose="020B0604020202020204" pitchFamily="34" charset="0"/>
              <a:cs typeface="Arial" panose="020B0604020202020204" pitchFamily="34" charset="0"/>
            </a:endParaRPr>
          </a:p>
          <a:p>
            <a:endParaRPr lang="en-IN" dirty="0">
              <a:solidFill>
                <a:srgbClr val="C00000"/>
              </a:solidFill>
              <a:latin typeface="Arial" panose="020B0604020202020204" pitchFamily="34" charset="0"/>
              <a:cs typeface="Arial" panose="020B0604020202020204" pitchFamily="34" charset="0"/>
            </a:endParaRPr>
          </a:p>
          <a:p>
            <a:endParaRPr lang="en-IN" dirty="0">
              <a:solidFill>
                <a:srgbClr val="C00000"/>
              </a:solidFill>
              <a:latin typeface="Arial" panose="020B0604020202020204" pitchFamily="34" charset="0"/>
              <a:cs typeface="Arial" panose="020B0604020202020204" pitchFamily="34" charset="0"/>
            </a:endParaRPr>
          </a:p>
          <a:p>
            <a:endParaRPr lang="en-IN" dirty="0">
              <a:solidFill>
                <a:srgbClr val="C00000"/>
              </a:solidFill>
              <a:latin typeface="Arial" panose="020B0604020202020204" pitchFamily="34" charset="0"/>
              <a:cs typeface="Arial" panose="020B0604020202020204" pitchFamily="34" charset="0"/>
            </a:endParaRPr>
          </a:p>
          <a:p>
            <a:endParaRPr lang="en-IN" dirty="0">
              <a:solidFill>
                <a:srgbClr val="C00000"/>
              </a:solidFill>
              <a:latin typeface="Arial" panose="020B0604020202020204" pitchFamily="34" charset="0"/>
              <a:cs typeface="Arial" panose="020B0604020202020204" pitchFamily="34" charset="0"/>
            </a:endParaRPr>
          </a:p>
          <a:p>
            <a:r>
              <a:rPr lang="en-IN" dirty="0">
                <a:solidFill>
                  <a:srgbClr val="C00000"/>
                </a:solidFill>
                <a:latin typeface="Arial" panose="020B0604020202020204" pitchFamily="34" charset="0"/>
                <a:cs typeface="Arial" panose="020B0604020202020204" pitchFamily="34" charset="0"/>
              </a:rPr>
              <a:t>Rohit Lorenzo, VIT-AP</a:t>
            </a:r>
          </a:p>
          <a:p>
            <a:endParaRPr lang="en-IN" dirty="0"/>
          </a:p>
        </p:txBody>
      </p:sp>
      <p:pic>
        <p:nvPicPr>
          <p:cNvPr id="4" name="Picture 3"/>
          <p:cNvPicPr>
            <a:picLocks noChangeAspect="1"/>
          </p:cNvPicPr>
          <p:nvPr/>
        </p:nvPicPr>
        <p:blipFill>
          <a:blip r:embed="rId2"/>
          <a:stretch>
            <a:fillRect/>
          </a:stretch>
        </p:blipFill>
        <p:spPr>
          <a:xfrm>
            <a:off x="6453555" y="2521926"/>
            <a:ext cx="4864552" cy="3578470"/>
          </a:xfrm>
          <a:prstGeom prst="rect">
            <a:avLst/>
          </a:prstGeom>
        </p:spPr>
      </p:pic>
    </p:spTree>
    <p:extLst>
      <p:ext uri="{BB962C8B-B14F-4D97-AF65-F5344CB8AC3E}">
        <p14:creationId xmlns:p14="http://schemas.microsoft.com/office/powerpoint/2010/main" val="3823404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3823" y="624110"/>
            <a:ext cx="9930790" cy="1280890"/>
          </a:xfrm>
        </p:spPr>
        <p:txBody>
          <a:bodyPr/>
          <a:lstStyle/>
          <a:p>
            <a:r>
              <a:rPr lang="en-IN" b="1" dirty="0"/>
              <a:t>DRAM (Dynamic RAM)</a:t>
            </a:r>
            <a:endParaRPr lang="en-IN" dirty="0"/>
          </a:p>
        </p:txBody>
      </p:sp>
      <p:sp>
        <p:nvSpPr>
          <p:cNvPr id="3" name="Content Placeholder 2"/>
          <p:cNvSpPr>
            <a:spLocks noGrp="1"/>
          </p:cNvSpPr>
          <p:nvPr>
            <p:ph idx="1"/>
          </p:nvPr>
        </p:nvSpPr>
        <p:spPr>
          <a:xfrm>
            <a:off x="870439" y="1565031"/>
            <a:ext cx="11016762" cy="5011615"/>
          </a:xfrm>
        </p:spPr>
        <p:txBody>
          <a:bodyPr/>
          <a:lstStyle/>
          <a:p>
            <a:r>
              <a:rPr lang="en-US" altLang="en-US" sz="1700" dirty="0"/>
              <a:t>Store their contents as charge on a capacitor rather than in a feedback loop.</a:t>
            </a:r>
          </a:p>
          <a:p>
            <a:r>
              <a:rPr lang="en-US" altLang="en-US" sz="1700" dirty="0"/>
              <a:t>In the quest of smaller chips area, four transistors DRAM chips emerged. </a:t>
            </a:r>
          </a:p>
          <a:p>
            <a:r>
              <a:rPr lang="en-US" altLang="en-US" sz="1700" dirty="0"/>
              <a:t>Moreover, dynamic RAMs lose information even when power is not turned OFF. </a:t>
            </a:r>
          </a:p>
          <a:p>
            <a:r>
              <a:rPr lang="en-US" altLang="en-US" sz="1700" dirty="0"/>
              <a:t>Gate capacitances store information. </a:t>
            </a:r>
          </a:p>
          <a:p>
            <a:r>
              <a:rPr lang="en-US" altLang="en-US" sz="1700" dirty="0"/>
              <a:t>To retain information the cells must be refreshed </a:t>
            </a:r>
          </a:p>
          <a:p>
            <a:pPr marL="0" indent="0">
              <a:buNone/>
            </a:pPr>
            <a:r>
              <a:rPr lang="en-US" altLang="en-US" sz="1700" dirty="0"/>
              <a:t>      periodically.  </a:t>
            </a:r>
          </a:p>
          <a:p>
            <a:r>
              <a:rPr lang="en-US" altLang="en-US" sz="1700" dirty="0"/>
              <a:t>There is marginal area advantage over six transistor </a:t>
            </a:r>
          </a:p>
          <a:p>
            <a:pPr marL="0" indent="0">
              <a:buNone/>
            </a:pPr>
            <a:r>
              <a:rPr lang="en-US" altLang="en-US" sz="1700" dirty="0"/>
              <a:t>      static RAM.  </a:t>
            </a:r>
          </a:p>
          <a:p>
            <a:pPr marL="0" indent="0">
              <a:buNone/>
            </a:pPr>
            <a:endParaRPr lang="en-US" altLang="en-US" sz="1700" dirty="0"/>
          </a:p>
          <a:p>
            <a:pPr marL="0" indent="0">
              <a:buNone/>
            </a:pPr>
            <a:endParaRPr lang="en-US" altLang="en-US" sz="1700" dirty="0"/>
          </a:p>
          <a:p>
            <a:pPr marL="0" indent="0">
              <a:buNone/>
            </a:pPr>
            <a:r>
              <a:rPr lang="en-US" altLang="en-US" sz="1700" dirty="0"/>
              <a:t>         </a:t>
            </a:r>
          </a:p>
          <a:p>
            <a:endParaRPr lang="en-IN" dirty="0"/>
          </a:p>
        </p:txBody>
      </p:sp>
      <p:pic>
        <p:nvPicPr>
          <p:cNvPr id="5" name="Picture 4"/>
          <p:cNvPicPr>
            <a:picLocks noChangeAspect="1"/>
          </p:cNvPicPr>
          <p:nvPr/>
        </p:nvPicPr>
        <p:blipFill>
          <a:blip r:embed="rId2"/>
          <a:stretch>
            <a:fillRect/>
          </a:stretch>
        </p:blipFill>
        <p:spPr>
          <a:xfrm>
            <a:off x="7055827" y="2961908"/>
            <a:ext cx="4991100" cy="3343275"/>
          </a:xfrm>
          <a:prstGeom prst="rect">
            <a:avLst/>
          </a:prstGeom>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9750" y="6006527"/>
            <a:ext cx="226218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81200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C7F41-EACE-4892-A137-E8C3ED882A0C}"/>
              </a:ext>
            </a:extLst>
          </p:cNvPr>
          <p:cNvSpPr>
            <a:spLocks noGrp="1"/>
          </p:cNvSpPr>
          <p:nvPr>
            <p:ph type="title"/>
          </p:nvPr>
        </p:nvSpPr>
        <p:spPr>
          <a:xfrm>
            <a:off x="1687669" y="624110"/>
            <a:ext cx="4137059" cy="1280890"/>
          </a:xfrm>
        </p:spPr>
        <p:txBody>
          <a:bodyPr>
            <a:normAutofit/>
          </a:bodyPr>
          <a:lstStyle/>
          <a:p>
            <a:r>
              <a:rPr lang="en-US" sz="3200"/>
              <a:t>3T – DRAM </a:t>
            </a:r>
            <a:endParaRPr lang="en-IN" sz="3200"/>
          </a:p>
        </p:txBody>
      </p:sp>
      <p:sp>
        <p:nvSpPr>
          <p:cNvPr id="3" name="Content Placeholder 2">
            <a:extLst>
              <a:ext uri="{FF2B5EF4-FFF2-40B4-BE49-F238E27FC236}">
                <a16:creationId xmlns:a16="http://schemas.microsoft.com/office/drawing/2014/main" id="{5023F17A-843B-492D-B0DC-D29D73DE3D4B}"/>
              </a:ext>
            </a:extLst>
          </p:cNvPr>
          <p:cNvSpPr>
            <a:spLocks noGrp="1"/>
          </p:cNvSpPr>
          <p:nvPr>
            <p:ph idx="1"/>
          </p:nvPr>
        </p:nvSpPr>
        <p:spPr>
          <a:xfrm>
            <a:off x="493160" y="1458929"/>
            <a:ext cx="6462444" cy="4318728"/>
          </a:xfrm>
        </p:spPr>
        <p:txBody>
          <a:bodyPr>
            <a:noAutofit/>
          </a:bodyPr>
          <a:lstStyle/>
          <a:p>
            <a:pPr>
              <a:lnSpc>
                <a:spcPct val="90000"/>
              </a:lnSpc>
            </a:pPr>
            <a:r>
              <a:rPr lang="en-US" dirty="0">
                <a:solidFill>
                  <a:srgbClr val="000000"/>
                </a:solidFill>
                <a:latin typeface="Arial" panose="020B0604020202020204" pitchFamily="34" charset="0"/>
                <a:cs typeface="Arial" panose="020B0604020202020204" pitchFamily="34" charset="0"/>
              </a:rPr>
              <a:t>The three-transistor DRAM cell was the first widely used dynamic</a:t>
            </a:r>
          </a:p>
          <a:p>
            <a:pPr>
              <a:lnSpc>
                <a:spcPct val="90000"/>
              </a:lnSpc>
            </a:pPr>
            <a:r>
              <a:rPr lang="en-US" dirty="0">
                <a:solidFill>
                  <a:srgbClr val="000000"/>
                </a:solidFill>
                <a:latin typeface="Arial" panose="020B0604020202020204" pitchFamily="34" charset="0"/>
                <a:cs typeface="Arial" panose="020B0604020202020204" pitchFamily="34" charset="0"/>
              </a:rPr>
              <a:t> memory cell.</a:t>
            </a:r>
          </a:p>
          <a:p>
            <a:pPr marL="0" indent="0">
              <a:lnSpc>
                <a:spcPct val="90000"/>
              </a:lnSpc>
              <a:buNone/>
            </a:pPr>
            <a:endParaRPr lang="en-US" dirty="0">
              <a:solidFill>
                <a:srgbClr val="000000"/>
              </a:solidFill>
              <a:latin typeface="Arial" panose="020B0604020202020204" pitchFamily="34" charset="0"/>
              <a:cs typeface="Arial" panose="020B0604020202020204" pitchFamily="34" charset="0"/>
            </a:endParaRPr>
          </a:p>
          <a:p>
            <a:pPr>
              <a:lnSpc>
                <a:spcPct val="90000"/>
              </a:lnSpc>
            </a:pPr>
            <a:r>
              <a:rPr lang="en-US" b="0" i="0" u="none" strike="noStrike" baseline="0" dirty="0">
                <a:solidFill>
                  <a:srgbClr val="000000"/>
                </a:solidFill>
                <a:latin typeface="Arial" panose="020B0604020202020204" pitchFamily="34" charset="0"/>
                <a:cs typeface="Arial" panose="020B0604020202020204" pitchFamily="34" charset="0"/>
              </a:rPr>
              <a:t>It utilizes a single transistor as the storage device (where the transistor is </a:t>
            </a:r>
          </a:p>
          <a:p>
            <a:pPr>
              <a:lnSpc>
                <a:spcPct val="90000"/>
              </a:lnSpc>
            </a:pPr>
            <a:r>
              <a:rPr lang="en-US" b="0" i="0" u="none" strike="noStrike" baseline="0" dirty="0">
                <a:solidFill>
                  <a:srgbClr val="000000"/>
                </a:solidFill>
                <a:latin typeface="Arial" panose="020B0604020202020204" pitchFamily="34" charset="0"/>
                <a:cs typeface="Arial" panose="020B0604020202020204" pitchFamily="34" charset="0"/>
              </a:rPr>
              <a:t>Turned</a:t>
            </a:r>
            <a:r>
              <a:rPr lang="en-US" dirty="0">
                <a:solidFill>
                  <a:srgbClr val="000000"/>
                </a:solidFill>
                <a:latin typeface="Arial" panose="020B0604020202020204" pitchFamily="34" charset="0"/>
                <a:cs typeface="Arial" panose="020B0604020202020204" pitchFamily="34" charset="0"/>
              </a:rPr>
              <a:t> </a:t>
            </a:r>
            <a:r>
              <a:rPr lang="en-US" b="0" i="0" u="none" strike="noStrike" baseline="0" dirty="0">
                <a:solidFill>
                  <a:srgbClr val="000000"/>
                </a:solidFill>
                <a:latin typeface="Arial" panose="020B0604020202020204" pitchFamily="34" charset="0"/>
                <a:cs typeface="Arial" panose="020B0604020202020204" pitchFamily="34" charset="0"/>
              </a:rPr>
              <a:t> on or off  depending on the charge stored on its gate capacitance),</a:t>
            </a:r>
          </a:p>
          <a:p>
            <a:pPr>
              <a:lnSpc>
                <a:spcPct val="90000"/>
              </a:lnSpc>
            </a:pPr>
            <a:r>
              <a:rPr lang="en-US" b="0" i="0" u="none" strike="noStrike" baseline="0" dirty="0">
                <a:solidFill>
                  <a:srgbClr val="000000"/>
                </a:solidFill>
                <a:latin typeface="Arial" panose="020B0604020202020204" pitchFamily="34" charset="0"/>
                <a:cs typeface="Arial" panose="020B0604020202020204" pitchFamily="34" charset="0"/>
              </a:rPr>
              <a:t> and  one transistor  each for the "read"  and "write" access switches.</a:t>
            </a:r>
          </a:p>
          <a:p>
            <a:pPr>
              <a:lnSpc>
                <a:spcPct val="90000"/>
              </a:lnSpc>
            </a:pPr>
            <a:endParaRPr lang="en-US" b="0" i="0" u="none" strike="noStrike" baseline="0" dirty="0">
              <a:solidFill>
                <a:srgbClr val="000000"/>
              </a:solidFill>
              <a:latin typeface="Arial" panose="020B0604020202020204" pitchFamily="34" charset="0"/>
              <a:cs typeface="Arial" panose="020B0604020202020204" pitchFamily="34" charset="0"/>
            </a:endParaRPr>
          </a:p>
          <a:p>
            <a:pPr>
              <a:lnSpc>
                <a:spcPct val="90000"/>
              </a:lnSpc>
            </a:pPr>
            <a:r>
              <a:rPr lang="en-US" b="0" i="0" u="none" strike="noStrike" baseline="0" dirty="0">
                <a:solidFill>
                  <a:srgbClr val="000000"/>
                </a:solidFill>
                <a:latin typeface="Arial" panose="020B0604020202020204" pitchFamily="34" charset="0"/>
                <a:cs typeface="Arial" panose="020B0604020202020204" pitchFamily="34" charset="0"/>
              </a:rPr>
              <a:t>The cell has two control and two I/O lines. Its separate read and write select</a:t>
            </a:r>
          </a:p>
          <a:p>
            <a:pPr>
              <a:lnSpc>
                <a:spcPct val="90000"/>
              </a:lnSpc>
            </a:pPr>
            <a:r>
              <a:rPr lang="en-US" dirty="0">
                <a:solidFill>
                  <a:srgbClr val="000000"/>
                </a:solidFill>
                <a:latin typeface="Arial" panose="020B0604020202020204" pitchFamily="34" charset="0"/>
                <a:cs typeface="Arial" panose="020B0604020202020204" pitchFamily="34" charset="0"/>
              </a:rPr>
              <a:t>l</a:t>
            </a:r>
            <a:r>
              <a:rPr lang="en-US" b="0" i="0" u="none" strike="noStrike" baseline="0" dirty="0">
                <a:solidFill>
                  <a:srgbClr val="000000"/>
                </a:solidFill>
                <a:latin typeface="Arial" panose="020B0604020202020204" pitchFamily="34" charset="0"/>
                <a:cs typeface="Arial" panose="020B0604020202020204" pitchFamily="34" charset="0"/>
              </a:rPr>
              <a:t>ines  make it relatively fast, but the four lines with their additional  contacts tend to increase  the cell area.</a:t>
            </a:r>
            <a:endParaRPr lang="en-IN" dirty="0">
              <a:solidFill>
                <a:srgbClr val="00000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50055A82-8239-4EC6-B9EE-B3229ECAED13}"/>
              </a:ext>
            </a:extLst>
          </p:cNvPr>
          <p:cNvPicPr>
            <a:picLocks noChangeAspect="1"/>
          </p:cNvPicPr>
          <p:nvPr/>
        </p:nvPicPr>
        <p:blipFill>
          <a:blip r:embed="rId2"/>
          <a:stretch>
            <a:fillRect/>
          </a:stretch>
        </p:blipFill>
        <p:spPr>
          <a:xfrm>
            <a:off x="7465919" y="1905000"/>
            <a:ext cx="4622154" cy="3124234"/>
          </a:xfrm>
          <a:prstGeom prst="rect">
            <a:avLst/>
          </a:prstGeom>
        </p:spPr>
      </p:pic>
    </p:spTree>
    <p:extLst>
      <p:ext uri="{BB962C8B-B14F-4D97-AF65-F5344CB8AC3E}">
        <p14:creationId xmlns:p14="http://schemas.microsoft.com/office/powerpoint/2010/main" val="2194897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6915" y="624110"/>
            <a:ext cx="9807697" cy="1280890"/>
          </a:xfrm>
        </p:spPr>
        <p:txBody>
          <a:bodyPr/>
          <a:lstStyle/>
          <a:p>
            <a:r>
              <a:rPr lang="en-IN" b="1" dirty="0"/>
              <a:t>2T and 1T DRAM Cell</a:t>
            </a:r>
          </a:p>
        </p:txBody>
      </p:sp>
      <p:sp>
        <p:nvSpPr>
          <p:cNvPr id="3" name="Content Placeholder 2"/>
          <p:cNvSpPr>
            <a:spLocks noGrp="1"/>
          </p:cNvSpPr>
          <p:nvPr>
            <p:ph idx="1"/>
          </p:nvPr>
        </p:nvSpPr>
        <p:spPr>
          <a:xfrm>
            <a:off x="1072661" y="1345223"/>
            <a:ext cx="10893669" cy="5328139"/>
          </a:xfrm>
        </p:spPr>
        <p:txBody>
          <a:bodyPr/>
          <a:lstStyle/>
          <a:p>
            <a:r>
              <a:rPr lang="en-IN" sz="1600" dirty="0"/>
              <a:t>Two transistor SRAM cell is essentially a extension of </a:t>
            </a:r>
          </a:p>
          <a:p>
            <a:pPr marL="0" indent="0">
              <a:buNone/>
            </a:pPr>
            <a:r>
              <a:rPr lang="en-IN" sz="1600" dirty="0"/>
              <a:t>      4T SRAM cell. </a:t>
            </a:r>
          </a:p>
          <a:p>
            <a:r>
              <a:rPr lang="en-IN" sz="1600" dirty="0"/>
              <a:t>As the capacitors are to be fabricated explicitly,  </a:t>
            </a:r>
          </a:p>
          <a:p>
            <a:pPr marL="0" indent="0">
              <a:buNone/>
            </a:pPr>
            <a:r>
              <a:rPr lang="en-IN" sz="1600" dirty="0"/>
              <a:t>      there is no significant area advantage over 3T or 4T. </a:t>
            </a:r>
          </a:p>
          <a:p>
            <a:r>
              <a:rPr lang="en-IN" sz="1600" dirty="0"/>
              <a:t> A significant improvement in the DRAM evolution was to </a:t>
            </a:r>
          </a:p>
          <a:p>
            <a:pPr marL="0" indent="0">
              <a:buNone/>
            </a:pPr>
            <a:r>
              <a:rPr lang="en-IN" sz="1600" dirty="0"/>
              <a:t>       switch to 1-T DRAM. </a:t>
            </a:r>
          </a:p>
          <a:p>
            <a:r>
              <a:rPr lang="en-IN" sz="1600" dirty="0"/>
              <a:t>One storage capacitor is explicitly fabricated for storage purpose. </a:t>
            </a:r>
          </a:p>
          <a:p>
            <a:r>
              <a:rPr lang="en-IN" sz="1600" dirty="0"/>
              <a:t>To store ‘1’ it is charged to </a:t>
            </a:r>
            <a:r>
              <a:rPr lang="en-IN" sz="1600" dirty="0" err="1"/>
              <a:t>Vdd-Vt</a:t>
            </a:r>
            <a:r>
              <a:rPr lang="en-IN" sz="1600" dirty="0"/>
              <a:t> and to store ‘0’ it is discharged 0V. </a:t>
            </a:r>
          </a:p>
          <a:p>
            <a:r>
              <a:rPr lang="en-IN" sz="1600" dirty="0"/>
              <a:t>Read operation is destructive.</a:t>
            </a:r>
          </a:p>
          <a:p>
            <a:r>
              <a:rPr lang="en-IN" sz="1600" dirty="0"/>
              <a:t>Read operation followed by restoration operation operation. </a:t>
            </a:r>
          </a:p>
          <a:p>
            <a:r>
              <a:rPr lang="en-IN" sz="1600" dirty="0"/>
              <a:t>Occupy small chip area (capacity is more).</a:t>
            </a:r>
          </a:p>
          <a:p>
            <a:r>
              <a:rPr lang="en-IN" sz="1600" dirty="0"/>
              <a:t>Process technology not compatible with CMOS (OFF chip). </a:t>
            </a:r>
          </a:p>
          <a:p>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pic>
        <p:nvPicPr>
          <p:cNvPr id="5" name="Picture 4"/>
          <p:cNvPicPr>
            <a:picLocks noChangeAspect="1"/>
          </p:cNvPicPr>
          <p:nvPr/>
        </p:nvPicPr>
        <p:blipFill>
          <a:blip r:embed="rId2"/>
          <a:stretch>
            <a:fillRect/>
          </a:stretch>
        </p:blipFill>
        <p:spPr>
          <a:xfrm>
            <a:off x="7862021" y="1055079"/>
            <a:ext cx="3873450" cy="2411900"/>
          </a:xfrm>
          <a:prstGeom prst="rect">
            <a:avLst/>
          </a:prstGeom>
        </p:spPr>
      </p:pic>
      <p:pic>
        <p:nvPicPr>
          <p:cNvPr id="8" name="Picture 7"/>
          <p:cNvPicPr>
            <a:picLocks noChangeAspect="1"/>
          </p:cNvPicPr>
          <p:nvPr/>
        </p:nvPicPr>
        <p:blipFill>
          <a:blip r:embed="rId3"/>
          <a:stretch>
            <a:fillRect/>
          </a:stretch>
        </p:blipFill>
        <p:spPr>
          <a:xfrm>
            <a:off x="9014537" y="3897948"/>
            <a:ext cx="2490075" cy="2634400"/>
          </a:xfrm>
          <a:prstGeom prst="rect">
            <a:avLst/>
          </a:prstGeom>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6832" y="6105311"/>
            <a:ext cx="226218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0676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Difference between DRAM and SRAM</a:t>
            </a:r>
            <a:endParaRPr lang="en-IN" dirty="0"/>
          </a:p>
        </p:txBody>
      </p:sp>
      <p:sp>
        <p:nvSpPr>
          <p:cNvPr id="4" name="Content Placeholder 3"/>
          <p:cNvSpPr>
            <a:spLocks noGrp="1"/>
          </p:cNvSpPr>
          <p:nvPr>
            <p:ph idx="1"/>
          </p:nvPr>
        </p:nvSpPr>
        <p:spPr/>
        <p:txBody>
          <a:bodyPr/>
          <a:lstStyle/>
          <a:p>
            <a:endParaRPr lang="en-IN"/>
          </a:p>
        </p:txBody>
      </p:sp>
      <p:pic>
        <p:nvPicPr>
          <p:cNvPr id="2052" name="Picture 4" descr="Image result for sram and dram comparis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9677" y="1485900"/>
            <a:ext cx="6242538" cy="5196254"/>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815" y="6255117"/>
            <a:ext cx="226218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2237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1409" y="624110"/>
            <a:ext cx="9913204" cy="1280890"/>
          </a:xfrm>
        </p:spPr>
        <p:txBody>
          <a:bodyPr/>
          <a:lstStyle/>
          <a:p>
            <a:r>
              <a:rPr lang="en-IN" dirty="0"/>
              <a:t>EPROM(Erasable Programmable ROM)</a:t>
            </a:r>
          </a:p>
        </p:txBody>
      </p:sp>
      <p:sp>
        <p:nvSpPr>
          <p:cNvPr id="3" name="Content Placeholder 2"/>
          <p:cNvSpPr>
            <a:spLocks noGrp="1"/>
          </p:cNvSpPr>
          <p:nvPr>
            <p:ph idx="1"/>
          </p:nvPr>
        </p:nvSpPr>
        <p:spPr>
          <a:xfrm>
            <a:off x="1222131" y="1450731"/>
            <a:ext cx="10282481" cy="5196254"/>
          </a:xfrm>
        </p:spPr>
        <p:txBody>
          <a:bodyPr>
            <a:normAutofit/>
          </a:bodyPr>
          <a:lstStyle/>
          <a:p>
            <a:r>
              <a:rPr lang="en-IN" sz="1600" dirty="0"/>
              <a:t>EPROMS combines the non-volatile property of mask programmable </a:t>
            </a:r>
          </a:p>
          <a:p>
            <a:pPr marL="0" indent="0">
              <a:buNone/>
            </a:pPr>
            <a:r>
              <a:rPr lang="en-IN" sz="1600" dirty="0"/>
              <a:t>      ROM and read/write property of RAM. </a:t>
            </a:r>
          </a:p>
          <a:p>
            <a:r>
              <a:rPr lang="en-IN" sz="1600" dirty="0"/>
              <a:t>A special type of transistor known as floating gate avalanche </a:t>
            </a:r>
          </a:p>
          <a:p>
            <a:pPr marL="0" indent="0">
              <a:buNone/>
            </a:pPr>
            <a:r>
              <a:rPr lang="en-IN" sz="1600" dirty="0"/>
              <a:t>       injection MOS (FAMOS) is used.</a:t>
            </a:r>
          </a:p>
          <a:p>
            <a:r>
              <a:rPr lang="en-IN" sz="1600" dirty="0"/>
              <a:t>This transistor  has an adjustable threshold voltage that can </a:t>
            </a:r>
          </a:p>
          <a:p>
            <a:pPr marL="0" indent="0">
              <a:buNone/>
            </a:pPr>
            <a:r>
              <a:rPr lang="en-IN" sz="1600" dirty="0"/>
              <a:t>      be electrically changed.  </a:t>
            </a:r>
          </a:p>
          <a:p>
            <a:r>
              <a:rPr lang="en-IN" sz="1600" dirty="0"/>
              <a:t>Floating   gate realized using  a double poly process , is used to</a:t>
            </a:r>
          </a:p>
          <a:p>
            <a:pPr marL="0" indent="0">
              <a:buNone/>
            </a:pPr>
            <a:r>
              <a:rPr lang="en-IN" sz="1600" dirty="0"/>
              <a:t>       store information.  </a:t>
            </a:r>
          </a:p>
          <a:p>
            <a:r>
              <a:rPr lang="en-IN" sz="1600" dirty="0"/>
              <a:t>Programming is done using hot electron injection.  </a:t>
            </a:r>
          </a:p>
          <a:p>
            <a:r>
              <a:rPr lang="en-IN" sz="1600" dirty="0"/>
              <a:t>Erasing is done by exposing to UV lights. </a:t>
            </a:r>
          </a:p>
          <a:p>
            <a:pPr marL="0" indent="0">
              <a:buNone/>
            </a:pPr>
            <a:endParaRPr lang="en-IN" sz="1600" dirty="0"/>
          </a:p>
          <a:p>
            <a:pPr marL="0" indent="0">
              <a:buNone/>
            </a:pPr>
            <a:endParaRPr lang="en-IN" sz="1600" dirty="0"/>
          </a:p>
          <a:p>
            <a:pPr marL="0" indent="0">
              <a:buNone/>
            </a:pPr>
            <a:r>
              <a:rPr lang="en-IN" sz="1600" dirty="0"/>
              <a:t>       </a:t>
            </a:r>
          </a:p>
          <a:p>
            <a:pPr marL="0" indent="0">
              <a:buNone/>
            </a:pPr>
            <a:endParaRPr lang="en-IN" sz="1600" dirty="0"/>
          </a:p>
        </p:txBody>
      </p:sp>
      <p:pic>
        <p:nvPicPr>
          <p:cNvPr id="4" name="Picture 3"/>
          <p:cNvPicPr>
            <a:picLocks noChangeAspect="1"/>
          </p:cNvPicPr>
          <p:nvPr/>
        </p:nvPicPr>
        <p:blipFill>
          <a:blip r:embed="rId2"/>
          <a:stretch>
            <a:fillRect/>
          </a:stretch>
        </p:blipFill>
        <p:spPr>
          <a:xfrm>
            <a:off x="10181492" y="4048858"/>
            <a:ext cx="1630241" cy="1609724"/>
          </a:xfrm>
          <a:prstGeom prst="rect">
            <a:avLst/>
          </a:prstGeom>
        </p:spPr>
      </p:pic>
      <p:pic>
        <p:nvPicPr>
          <p:cNvPr id="5" name="Picture 4"/>
          <p:cNvPicPr>
            <a:picLocks noChangeAspect="1"/>
          </p:cNvPicPr>
          <p:nvPr/>
        </p:nvPicPr>
        <p:blipFill>
          <a:blip r:embed="rId3"/>
          <a:stretch>
            <a:fillRect/>
          </a:stretch>
        </p:blipFill>
        <p:spPr>
          <a:xfrm>
            <a:off x="7669700" y="1912256"/>
            <a:ext cx="4248150" cy="1587082"/>
          </a:xfrm>
          <a:prstGeom prst="rect">
            <a:avLst/>
          </a:prstGeom>
        </p:spPr>
      </p:pic>
      <p:pic>
        <p:nvPicPr>
          <p:cNvPr id="6" name="Picture 5"/>
          <p:cNvPicPr>
            <a:picLocks noChangeAspect="1"/>
          </p:cNvPicPr>
          <p:nvPr/>
        </p:nvPicPr>
        <p:blipFill>
          <a:blip r:embed="rId4"/>
          <a:stretch>
            <a:fillRect/>
          </a:stretch>
        </p:blipFill>
        <p:spPr>
          <a:xfrm>
            <a:off x="8421799" y="4123735"/>
            <a:ext cx="1151325" cy="1628700"/>
          </a:xfrm>
          <a:prstGeom prst="rect">
            <a:avLst/>
          </a:prstGeom>
        </p:spPr>
      </p:pic>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4108" y="6025982"/>
            <a:ext cx="226218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1346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3631" y="624110"/>
            <a:ext cx="9710981" cy="1280890"/>
          </a:xfrm>
        </p:spPr>
        <p:txBody>
          <a:bodyPr>
            <a:normAutofit/>
          </a:bodyPr>
          <a:lstStyle/>
          <a:p>
            <a:r>
              <a:rPr lang="en-IN" sz="2800" dirty="0"/>
              <a:t>EEPROM(Electrically Erasable Programmable ROM)</a:t>
            </a:r>
          </a:p>
        </p:txBody>
      </p:sp>
      <p:sp>
        <p:nvSpPr>
          <p:cNvPr id="3" name="Content Placeholder 2"/>
          <p:cNvSpPr>
            <a:spLocks noGrp="1"/>
          </p:cNvSpPr>
          <p:nvPr>
            <p:ph idx="1"/>
          </p:nvPr>
        </p:nvSpPr>
        <p:spPr>
          <a:xfrm>
            <a:off x="1608993" y="1714500"/>
            <a:ext cx="9895620" cy="5143499"/>
          </a:xfrm>
        </p:spPr>
        <p:txBody>
          <a:bodyPr>
            <a:normAutofit fontScale="92500" lnSpcReduction="20000"/>
          </a:bodyPr>
          <a:lstStyle/>
          <a:p>
            <a:r>
              <a:rPr lang="en-IN" dirty="0"/>
              <a:t>Programming can be done using one of the two techniques:</a:t>
            </a:r>
          </a:p>
          <a:p>
            <a:pPr marL="0" indent="0">
              <a:buNone/>
            </a:pPr>
            <a:r>
              <a:rPr lang="en-IN" dirty="0"/>
              <a:t>      1) Hot electron injection</a:t>
            </a:r>
          </a:p>
          <a:p>
            <a:pPr marL="0" indent="0">
              <a:buNone/>
            </a:pPr>
            <a:r>
              <a:rPr lang="en-IN" dirty="0"/>
              <a:t>      2)  Fowler Nordheim tunnelling  </a:t>
            </a:r>
          </a:p>
          <a:p>
            <a:pPr lvl="0">
              <a:buClr>
                <a:srgbClr val="E78712"/>
              </a:buClr>
            </a:pPr>
            <a:r>
              <a:rPr lang="en-IN" dirty="0">
                <a:solidFill>
                  <a:prstClr val="black">
                    <a:lumMod val="75000"/>
                    <a:lumOff val="25000"/>
                  </a:prstClr>
                </a:solidFill>
              </a:rPr>
              <a:t>Erasing is done using fowler </a:t>
            </a:r>
            <a:r>
              <a:rPr lang="en-IN" dirty="0" err="1">
                <a:solidFill>
                  <a:prstClr val="black">
                    <a:lumMod val="75000"/>
                    <a:lumOff val="25000"/>
                  </a:prstClr>
                </a:solidFill>
              </a:rPr>
              <a:t>nordheim</a:t>
            </a:r>
            <a:r>
              <a:rPr lang="en-IN" dirty="0">
                <a:solidFill>
                  <a:prstClr val="black">
                    <a:lumMod val="75000"/>
                    <a:lumOff val="25000"/>
                  </a:prstClr>
                </a:solidFill>
              </a:rPr>
              <a:t> tunnelling.</a:t>
            </a:r>
          </a:p>
          <a:p>
            <a:pPr lvl="0">
              <a:buClr>
                <a:srgbClr val="E78712"/>
              </a:buClr>
            </a:pPr>
            <a:endParaRPr lang="en-IN" dirty="0">
              <a:solidFill>
                <a:prstClr val="black">
                  <a:lumMod val="75000"/>
                  <a:lumOff val="25000"/>
                </a:prstClr>
              </a:solidFill>
            </a:endParaRPr>
          </a:p>
          <a:p>
            <a:pPr lvl="0">
              <a:buClr>
                <a:srgbClr val="E78712"/>
              </a:buClr>
            </a:pPr>
            <a:endParaRPr lang="en-IN" dirty="0">
              <a:solidFill>
                <a:prstClr val="black">
                  <a:lumMod val="75000"/>
                  <a:lumOff val="25000"/>
                </a:prstClr>
              </a:solidFill>
            </a:endParaRPr>
          </a:p>
          <a:p>
            <a:pPr lvl="0">
              <a:buClr>
                <a:srgbClr val="E78712"/>
              </a:buClr>
            </a:pPr>
            <a:endParaRPr lang="en-IN" dirty="0">
              <a:solidFill>
                <a:prstClr val="black">
                  <a:lumMod val="75000"/>
                  <a:lumOff val="25000"/>
                </a:prstClr>
              </a:solidFill>
            </a:endParaRPr>
          </a:p>
          <a:p>
            <a:pPr lvl="0">
              <a:buClr>
                <a:srgbClr val="E78712"/>
              </a:buClr>
            </a:pPr>
            <a:endParaRPr lang="en-IN" dirty="0">
              <a:solidFill>
                <a:prstClr val="black">
                  <a:lumMod val="75000"/>
                  <a:lumOff val="25000"/>
                </a:prstClr>
              </a:solidFill>
            </a:endParaRPr>
          </a:p>
          <a:p>
            <a:pPr lvl="0">
              <a:buClr>
                <a:srgbClr val="E78712"/>
              </a:buClr>
            </a:pPr>
            <a:endParaRPr lang="en-IN" dirty="0">
              <a:solidFill>
                <a:prstClr val="black">
                  <a:lumMod val="75000"/>
                  <a:lumOff val="25000"/>
                </a:prstClr>
              </a:solidFill>
            </a:endParaRPr>
          </a:p>
          <a:p>
            <a:pPr lvl="0">
              <a:buClr>
                <a:srgbClr val="E78712"/>
              </a:buClr>
            </a:pPr>
            <a:endParaRPr lang="en-IN" dirty="0">
              <a:solidFill>
                <a:prstClr val="black">
                  <a:lumMod val="75000"/>
                  <a:lumOff val="25000"/>
                </a:prstClr>
              </a:solidFill>
            </a:endParaRPr>
          </a:p>
          <a:p>
            <a:pPr lvl="0">
              <a:buClr>
                <a:srgbClr val="E78712"/>
              </a:buClr>
            </a:pPr>
            <a:endParaRPr lang="en-IN" dirty="0">
              <a:solidFill>
                <a:prstClr val="black">
                  <a:lumMod val="75000"/>
                  <a:lumOff val="25000"/>
                </a:prstClr>
              </a:solidFill>
            </a:endParaRPr>
          </a:p>
          <a:p>
            <a:pPr marL="0" lvl="0" indent="0" algn="ctr">
              <a:buClr>
                <a:srgbClr val="E78712"/>
              </a:buClr>
              <a:buNone/>
            </a:pPr>
            <a:r>
              <a:rPr lang="en-IN" sz="2600" b="1" u="sng" dirty="0">
                <a:solidFill>
                  <a:prstClr val="black">
                    <a:lumMod val="75000"/>
                    <a:lumOff val="25000"/>
                  </a:prstClr>
                </a:solidFill>
              </a:rPr>
              <a:t> </a:t>
            </a:r>
          </a:p>
          <a:p>
            <a:pPr marL="0" lvl="0" indent="0" algn="ctr">
              <a:buClr>
                <a:srgbClr val="E78712"/>
              </a:buClr>
              <a:buNone/>
            </a:pPr>
            <a:endParaRPr lang="en-IN" sz="2600" b="1" u="sng" dirty="0">
              <a:solidFill>
                <a:prstClr val="black">
                  <a:lumMod val="75000"/>
                  <a:lumOff val="25000"/>
                </a:prstClr>
              </a:solidFill>
            </a:endParaRPr>
          </a:p>
          <a:p>
            <a:pPr marL="0" lvl="0" indent="0" algn="ctr">
              <a:buClr>
                <a:srgbClr val="E78712"/>
              </a:buClr>
              <a:buNone/>
            </a:pPr>
            <a:r>
              <a:rPr lang="en-IN" sz="2200" b="1" u="sng" dirty="0">
                <a:solidFill>
                  <a:prstClr val="black">
                    <a:lumMod val="75000"/>
                    <a:lumOff val="25000"/>
                  </a:prstClr>
                </a:solidFill>
              </a:rPr>
              <a:t>Floating gate tunnelling oxide transistor</a:t>
            </a:r>
            <a:r>
              <a:rPr lang="en-IN" sz="2200" b="1" dirty="0">
                <a:solidFill>
                  <a:prstClr val="black">
                    <a:lumMod val="75000"/>
                    <a:lumOff val="25000"/>
                  </a:prstClr>
                </a:solidFill>
              </a:rPr>
              <a:t> (FLOTOX)</a:t>
            </a:r>
          </a:p>
          <a:p>
            <a:pPr marL="0" indent="0">
              <a:buNone/>
            </a:pPr>
            <a:endParaRPr lang="en-IN" dirty="0"/>
          </a:p>
        </p:txBody>
      </p:sp>
      <p:pic>
        <p:nvPicPr>
          <p:cNvPr id="4" name="Picture 3"/>
          <p:cNvPicPr>
            <a:picLocks noChangeAspect="1"/>
          </p:cNvPicPr>
          <p:nvPr/>
        </p:nvPicPr>
        <p:blipFill>
          <a:blip r:embed="rId2"/>
          <a:stretch>
            <a:fillRect/>
          </a:stretch>
        </p:blipFill>
        <p:spPr>
          <a:xfrm>
            <a:off x="3720782" y="3209192"/>
            <a:ext cx="5856678" cy="2778369"/>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457" y="6142713"/>
            <a:ext cx="226218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5444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8255" y="624110"/>
            <a:ext cx="9656357" cy="1280890"/>
          </a:xfrm>
        </p:spPr>
        <p:txBody>
          <a:bodyPr/>
          <a:lstStyle/>
          <a:p>
            <a:r>
              <a:rPr lang="en-IN" b="1" dirty="0">
                <a:solidFill>
                  <a:srgbClr val="231F20"/>
                </a:solidFill>
                <a:latin typeface="TradeGothic-Bold"/>
              </a:rPr>
              <a:t>Programmable Logic Device</a:t>
            </a:r>
            <a:endParaRPr lang="en-IN" dirty="0"/>
          </a:p>
        </p:txBody>
      </p:sp>
      <p:sp>
        <p:nvSpPr>
          <p:cNvPr id="3" name="Content Placeholder 2"/>
          <p:cNvSpPr>
            <a:spLocks noGrp="1"/>
          </p:cNvSpPr>
          <p:nvPr>
            <p:ph idx="1"/>
          </p:nvPr>
        </p:nvSpPr>
        <p:spPr>
          <a:xfrm>
            <a:off x="1857983" y="1634247"/>
            <a:ext cx="9646629" cy="4276975"/>
          </a:xfrm>
        </p:spPr>
        <p:txBody>
          <a:bodyPr/>
          <a:lstStyle/>
          <a:p>
            <a:pPr algn="just"/>
            <a:r>
              <a:rPr lang="en-US" dirty="0">
                <a:solidFill>
                  <a:srgbClr val="333333"/>
                </a:solidFill>
                <a:latin typeface="Arial" pitchFamily="34" charset="0"/>
                <a:cs typeface="Arial" pitchFamily="34" charset="0"/>
              </a:rPr>
              <a:t>The </a:t>
            </a:r>
            <a:r>
              <a:rPr lang="en-US" b="1" dirty="0">
                <a:solidFill>
                  <a:srgbClr val="333333"/>
                </a:solidFill>
                <a:latin typeface="Arial" pitchFamily="34" charset="0"/>
                <a:cs typeface="Arial" pitchFamily="34" charset="0"/>
              </a:rPr>
              <a:t>programmable logic device or PLD</a:t>
            </a:r>
            <a:r>
              <a:rPr lang="en-US" dirty="0">
                <a:solidFill>
                  <a:srgbClr val="333333"/>
                </a:solidFill>
                <a:latin typeface="Arial" pitchFamily="34" charset="0"/>
                <a:cs typeface="Arial" pitchFamily="34" charset="0"/>
              </a:rPr>
              <a:t> is one kind of chip used to implement the logic circuit. It includes a set of logic circuit elements that can be modified in several ways. </a:t>
            </a:r>
          </a:p>
          <a:p>
            <a:pPr algn="just"/>
            <a:r>
              <a:rPr lang="en-US" dirty="0">
                <a:latin typeface="Arial" pitchFamily="34" charset="0"/>
                <a:cs typeface="Arial" pitchFamily="34" charset="0"/>
              </a:rPr>
              <a:t>A PLD is looked like a black box that consists of programmable switches as well as logic gates. </a:t>
            </a:r>
          </a:p>
          <a:p>
            <a:endParaRPr lang="en-US" dirty="0">
              <a:latin typeface="Arial" pitchFamily="34" charset="0"/>
              <a:cs typeface="Arial" pitchFamily="34" charset="0"/>
            </a:endParaRPr>
          </a:p>
          <a:p>
            <a:r>
              <a:rPr lang="en-US" b="1" u="sng" dirty="0">
                <a:latin typeface="Arial" pitchFamily="34" charset="0"/>
                <a:cs typeface="Arial" pitchFamily="34" charset="0"/>
              </a:rPr>
              <a:t>Types of PLD  </a:t>
            </a:r>
          </a:p>
          <a:p>
            <a:pPr algn="just"/>
            <a:r>
              <a:rPr lang="en-US" b="1" dirty="0">
                <a:latin typeface="Arial" pitchFamily="34" charset="0"/>
                <a:cs typeface="Arial" pitchFamily="34" charset="0"/>
              </a:rPr>
              <a:t>Programmable Array Logic(PAL)</a:t>
            </a:r>
            <a:r>
              <a:rPr lang="en-US" dirty="0">
                <a:latin typeface="Arial" pitchFamily="34" charset="0"/>
                <a:cs typeface="Arial" pitchFamily="34" charset="0"/>
              </a:rPr>
              <a:t> and </a:t>
            </a:r>
            <a:r>
              <a:rPr lang="en-US" b="1" dirty="0">
                <a:latin typeface="Arial" pitchFamily="34" charset="0"/>
                <a:cs typeface="Arial" pitchFamily="34" charset="0"/>
              </a:rPr>
              <a:t>Programmable Logic Array(PLA)</a:t>
            </a:r>
            <a:r>
              <a:rPr lang="en-US" dirty="0">
                <a:latin typeface="Arial" pitchFamily="34" charset="0"/>
                <a:cs typeface="Arial" pitchFamily="34" charset="0"/>
              </a:rPr>
              <a:t> are types of PLDs </a:t>
            </a:r>
            <a:endParaRPr lang="en-IN" b="1" u="sng" dirty="0">
              <a:latin typeface="Arial" pitchFamily="34" charset="0"/>
              <a:cs typeface="Arial" pitchFamily="34"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6" y="6142712"/>
            <a:ext cx="226218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F322755C-44D0-4629-9937-5FFEB22376B1}"/>
                  </a:ext>
                </a:extLst>
              </p14:cNvPr>
              <p14:cNvContentPartPr/>
              <p14:nvPr/>
            </p14:nvContentPartPr>
            <p14:xfrm>
              <a:off x="4250374" y="4206402"/>
              <a:ext cx="1576800" cy="168120"/>
            </p14:xfrm>
          </p:contentPart>
        </mc:Choice>
        <mc:Fallback>
          <p:pic>
            <p:nvPicPr>
              <p:cNvPr id="5" name="Ink 4">
                <a:extLst>
                  <a:ext uri="{FF2B5EF4-FFF2-40B4-BE49-F238E27FC236}">
                    <a16:creationId xmlns:a16="http://schemas.microsoft.com/office/drawing/2014/main" id="{F322755C-44D0-4629-9937-5FFEB22376B1}"/>
                  </a:ext>
                </a:extLst>
              </p:cNvPr>
              <p:cNvPicPr/>
              <p:nvPr/>
            </p:nvPicPr>
            <p:blipFill>
              <a:blip r:embed="rId4"/>
              <a:stretch>
                <a:fillRect/>
              </a:stretch>
            </p:blipFill>
            <p:spPr>
              <a:xfrm>
                <a:off x="4241374" y="4197402"/>
                <a:ext cx="159444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41E34C19-A610-469C-B376-D4509B2928B2}"/>
                  </a:ext>
                </a:extLst>
              </p14:cNvPr>
              <p14:cNvContentPartPr/>
              <p14:nvPr/>
            </p14:nvContentPartPr>
            <p14:xfrm>
              <a:off x="8253574" y="4199202"/>
              <a:ext cx="1511640" cy="57240"/>
            </p14:xfrm>
          </p:contentPart>
        </mc:Choice>
        <mc:Fallback>
          <p:pic>
            <p:nvPicPr>
              <p:cNvPr id="6" name="Ink 5">
                <a:extLst>
                  <a:ext uri="{FF2B5EF4-FFF2-40B4-BE49-F238E27FC236}">
                    <a16:creationId xmlns:a16="http://schemas.microsoft.com/office/drawing/2014/main" id="{41E34C19-A610-469C-B376-D4509B2928B2}"/>
                  </a:ext>
                </a:extLst>
              </p:cNvPr>
              <p:cNvPicPr/>
              <p:nvPr/>
            </p:nvPicPr>
            <p:blipFill>
              <a:blip r:embed="rId6"/>
              <a:stretch>
                <a:fillRect/>
              </a:stretch>
            </p:blipFill>
            <p:spPr>
              <a:xfrm>
                <a:off x="8244934" y="4190562"/>
                <a:ext cx="1529280" cy="74880"/>
              </a:xfrm>
              <a:prstGeom prst="rect">
                <a:avLst/>
              </a:prstGeom>
            </p:spPr>
          </p:pic>
        </mc:Fallback>
      </mc:AlternateContent>
    </p:spTree>
    <p:extLst>
      <p:ext uri="{BB962C8B-B14F-4D97-AF65-F5344CB8AC3E}">
        <p14:creationId xmlns:p14="http://schemas.microsoft.com/office/powerpoint/2010/main" val="2573691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9617" y="624110"/>
            <a:ext cx="9704995" cy="1280890"/>
          </a:xfrm>
        </p:spPr>
        <p:txBody>
          <a:bodyPr/>
          <a:lstStyle/>
          <a:p>
            <a:r>
              <a:rPr lang="en-IN" b="1" dirty="0"/>
              <a:t>Programmable  Logic Array(PLA)</a:t>
            </a:r>
          </a:p>
        </p:txBody>
      </p:sp>
      <p:sp>
        <p:nvSpPr>
          <p:cNvPr id="3" name="Content Placeholder 2"/>
          <p:cNvSpPr>
            <a:spLocks noGrp="1"/>
          </p:cNvSpPr>
          <p:nvPr>
            <p:ph idx="1"/>
          </p:nvPr>
        </p:nvSpPr>
        <p:spPr>
          <a:xfrm>
            <a:off x="1079770" y="1682885"/>
            <a:ext cx="10856067" cy="4805464"/>
          </a:xfrm>
        </p:spPr>
        <p:txBody>
          <a:bodyPr/>
          <a:lstStyle/>
          <a:p>
            <a:pPr algn="just"/>
            <a:r>
              <a:rPr lang="en-US" dirty="0">
                <a:solidFill>
                  <a:srgbClr val="333333"/>
                </a:solidFill>
                <a:latin typeface="Source Sans Pro"/>
              </a:rPr>
              <a:t>The designing of the programmable  logic array can be done with programmable OR gates as well as programmable AND gates. By using this we can implement two easy functions wherever the associates AND gates with each OR gate denote the highest number of product conditions that can be produced in the form of </a:t>
            </a:r>
            <a:r>
              <a:rPr lang="en-US" b="1" dirty="0">
                <a:solidFill>
                  <a:srgbClr val="E03800"/>
                </a:solidFill>
                <a:latin typeface="inherit"/>
                <a:hlinkClick r:id="rId2"/>
              </a:rPr>
              <a:t>SOP (sum of product)</a:t>
            </a:r>
            <a:r>
              <a:rPr lang="en-US" dirty="0">
                <a:solidFill>
                  <a:srgbClr val="333333"/>
                </a:solidFill>
                <a:latin typeface="Source Sans Pro"/>
              </a:rPr>
              <a:t> of an exact function</a:t>
            </a:r>
            <a:endParaRPr lang="en-IN" dirty="0"/>
          </a:p>
        </p:txBody>
      </p:sp>
      <p:pic>
        <p:nvPicPr>
          <p:cNvPr id="4" name="Picture 2" descr="Image result for programmable logic arr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2764" y="3278222"/>
            <a:ext cx="8538934" cy="22470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2125" y="6166238"/>
            <a:ext cx="226218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4460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1797" y="624110"/>
            <a:ext cx="9782816" cy="1280890"/>
          </a:xfrm>
        </p:spPr>
        <p:txBody>
          <a:bodyPr/>
          <a:lstStyle/>
          <a:p>
            <a:r>
              <a:rPr lang="en-IN" b="1" dirty="0"/>
              <a:t>Problem</a:t>
            </a:r>
          </a:p>
        </p:txBody>
      </p:sp>
      <p:sp>
        <p:nvSpPr>
          <p:cNvPr id="3" name="Content Placeholder 2"/>
          <p:cNvSpPr>
            <a:spLocks noGrp="1"/>
          </p:cNvSpPr>
          <p:nvPr>
            <p:ph idx="1"/>
          </p:nvPr>
        </p:nvSpPr>
        <p:spPr>
          <a:xfrm>
            <a:off x="1673157" y="1556426"/>
            <a:ext cx="9831455" cy="4354796"/>
          </a:xfrm>
        </p:spPr>
        <p:txBody>
          <a:bodyPr/>
          <a:lstStyle/>
          <a:p>
            <a:r>
              <a:rPr lang="en-IN" i="1" dirty="0">
                <a:solidFill>
                  <a:srgbClr val="292929"/>
                </a:solidFill>
                <a:latin typeface="Lato"/>
              </a:rPr>
              <a:t>Implement  following Boolean expression using  PLA.  </a:t>
            </a:r>
          </a:p>
          <a:p>
            <a:pPr marL="0" indent="0">
              <a:buNone/>
            </a:pPr>
            <a:r>
              <a:rPr lang="en-IN" b="1" i="1" dirty="0">
                <a:solidFill>
                  <a:srgbClr val="292929"/>
                </a:solidFill>
                <a:latin typeface="Lato"/>
              </a:rPr>
              <a:t>      X = A'BC + ABC + A'B'C'</a:t>
            </a:r>
            <a:r>
              <a:rPr lang="en-IN" b="1" dirty="0">
                <a:solidFill>
                  <a:srgbClr val="292929"/>
                </a:solidFill>
                <a:latin typeface="Lato"/>
              </a:rPr>
              <a:t> </a:t>
            </a:r>
          </a:p>
          <a:p>
            <a:pPr marL="0" indent="0">
              <a:buNone/>
            </a:pPr>
            <a:r>
              <a:rPr lang="en-IN" b="1" dirty="0">
                <a:solidFill>
                  <a:srgbClr val="292929"/>
                </a:solidFill>
                <a:latin typeface="Lato"/>
              </a:rPr>
              <a:t>      </a:t>
            </a:r>
            <a:r>
              <a:rPr lang="en-IN" b="1" i="1" dirty="0">
                <a:solidFill>
                  <a:srgbClr val="292929"/>
                </a:solidFill>
                <a:latin typeface="Lato"/>
              </a:rPr>
              <a:t>Y = ABC + AB'C</a:t>
            </a:r>
            <a:endParaRPr lang="en-IN" b="1"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5081" y="2042405"/>
            <a:ext cx="4804755" cy="4203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5393" y="6032044"/>
            <a:ext cx="226218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0888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1000"/>
                                        <p:tgtEl>
                                          <p:spTgt spid="4098"/>
                                        </p:tgtEl>
                                      </p:cBhvr>
                                    </p:animEffect>
                                    <p:anim calcmode="lin" valueType="num">
                                      <p:cBhvr>
                                        <p:cTn id="8" dur="1000" fill="hold"/>
                                        <p:tgtEl>
                                          <p:spTgt spid="4098"/>
                                        </p:tgtEl>
                                        <p:attrNameLst>
                                          <p:attrName>ppt_x</p:attrName>
                                        </p:attrNameLst>
                                      </p:cBhvr>
                                      <p:tavLst>
                                        <p:tav tm="0">
                                          <p:val>
                                            <p:strVal val="#ppt_x"/>
                                          </p:val>
                                        </p:tav>
                                        <p:tav tm="100000">
                                          <p:val>
                                            <p:strVal val="#ppt_x"/>
                                          </p:val>
                                        </p:tav>
                                      </p:tavLst>
                                    </p:anim>
                                    <p:anim calcmode="lin" valueType="num">
                                      <p:cBhvr>
                                        <p:cTn id="9" dur="1000" fill="hold"/>
                                        <p:tgtEl>
                                          <p:spTgt spid="40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9617" y="624110"/>
            <a:ext cx="9704995" cy="1280890"/>
          </a:xfrm>
        </p:spPr>
        <p:txBody>
          <a:bodyPr/>
          <a:lstStyle/>
          <a:p>
            <a:r>
              <a:rPr lang="en-IN" b="1" dirty="0">
                <a:solidFill>
                  <a:prstClr val="black">
                    <a:lumMod val="85000"/>
                    <a:lumOff val="15000"/>
                  </a:prstClr>
                </a:solidFill>
              </a:rPr>
              <a:t>Programmable  Array Logic  (PAL)</a:t>
            </a:r>
            <a:endParaRPr lang="en-IN" dirty="0"/>
          </a:p>
        </p:txBody>
      </p:sp>
      <p:sp>
        <p:nvSpPr>
          <p:cNvPr id="3" name="Content Placeholder 2"/>
          <p:cNvSpPr>
            <a:spLocks noGrp="1"/>
          </p:cNvSpPr>
          <p:nvPr>
            <p:ph idx="1"/>
          </p:nvPr>
        </p:nvSpPr>
        <p:spPr>
          <a:xfrm>
            <a:off x="1712068" y="2133600"/>
            <a:ext cx="9792544" cy="3777622"/>
          </a:xfrm>
        </p:spPr>
        <p:txBody>
          <a:bodyPr/>
          <a:lstStyle/>
          <a:p>
            <a:r>
              <a:rPr lang="en-US" dirty="0">
                <a:solidFill>
                  <a:srgbClr val="333333"/>
                </a:solidFill>
                <a:latin typeface="Source Sans Pro"/>
              </a:rPr>
              <a:t>The designing of the programmable  </a:t>
            </a:r>
            <a:r>
              <a:rPr lang="en-US">
                <a:solidFill>
                  <a:srgbClr val="333333"/>
                </a:solidFill>
                <a:latin typeface="Source Sans Pro"/>
              </a:rPr>
              <a:t>array logic </a:t>
            </a:r>
            <a:r>
              <a:rPr lang="en-US" dirty="0">
                <a:solidFill>
                  <a:srgbClr val="333333"/>
                </a:solidFill>
                <a:latin typeface="Source Sans Pro"/>
              </a:rPr>
              <a:t>can be done with fixed OR gates as well as programmable AND gates</a:t>
            </a: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9480" y="3073940"/>
            <a:ext cx="6671370" cy="2562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6133" y="6142713"/>
            <a:ext cx="226218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67720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4641" y="624110"/>
            <a:ext cx="9939972" cy="1280890"/>
          </a:xfrm>
        </p:spPr>
        <p:txBody>
          <a:bodyPr/>
          <a:lstStyle/>
          <a:p>
            <a:endParaRPr lang="en-IN" dirty="0">
              <a:solidFill>
                <a:schemeClr val="tx1"/>
              </a:solidFill>
            </a:endParaRPr>
          </a:p>
        </p:txBody>
      </p:sp>
      <p:sp>
        <p:nvSpPr>
          <p:cNvPr id="3" name="Content Placeholder 2"/>
          <p:cNvSpPr>
            <a:spLocks noGrp="1"/>
          </p:cNvSpPr>
          <p:nvPr>
            <p:ph idx="1"/>
          </p:nvPr>
        </p:nvSpPr>
        <p:spPr>
          <a:xfrm>
            <a:off x="1564640" y="2133600"/>
            <a:ext cx="9939972" cy="3777622"/>
          </a:xfrm>
        </p:spPr>
        <p:txBody>
          <a:bodyPr/>
          <a:lstStyle/>
          <a:p>
            <a:endParaRPr lang="en-IN" dirty="0">
              <a:solidFill>
                <a:srgbClr val="FF0000"/>
              </a:solidFill>
            </a:endParaRPr>
          </a:p>
        </p:txBody>
      </p:sp>
      <p:sp>
        <p:nvSpPr>
          <p:cNvPr id="4" name="Rectangle 3"/>
          <p:cNvSpPr/>
          <p:nvPr/>
        </p:nvSpPr>
        <p:spPr>
          <a:xfrm>
            <a:off x="4285251" y="2967335"/>
            <a:ext cx="4999426" cy="1200329"/>
          </a:xfrm>
          <a:prstGeom prst="rect">
            <a:avLst/>
          </a:prstGeom>
          <a:noFill/>
          <a:scene3d>
            <a:camera prst="obliqueBottomLeft"/>
            <a:lightRig rig="threePt" dir="t"/>
          </a:scene3d>
        </p:spPr>
        <p:txBody>
          <a:bodyPr wrap="square" lIns="91440" tIns="45720" rIns="91440" bIns="45720">
            <a:spAutoFit/>
          </a:bodyPr>
          <a:lstStyle/>
          <a:p>
            <a:pPr algn="ctr"/>
            <a:r>
              <a:rPr lang="en-US"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
        <p:nvSpPr>
          <p:cNvPr id="5" name="Footer Placeholder 4">
            <a:extLst>
              <a:ext uri="{FF2B5EF4-FFF2-40B4-BE49-F238E27FC236}">
                <a16:creationId xmlns:a16="http://schemas.microsoft.com/office/drawing/2014/main" id="{5CB9775A-DA40-435C-881E-2A72176C381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6605803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2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3.xml><?xml version="1.0" encoding="utf-8"?>
<a:theme xmlns:a="http://schemas.openxmlformats.org/drawingml/2006/main" name="3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4.xml><?xml version="1.0" encoding="utf-8"?>
<a:theme xmlns:a="http://schemas.openxmlformats.org/drawingml/2006/main" name="4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5.xml><?xml version="1.0" encoding="utf-8"?>
<a:theme xmlns:a="http://schemas.openxmlformats.org/drawingml/2006/main" name="5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6.xml><?xml version="1.0" encoding="utf-8"?>
<a:theme xmlns:a="http://schemas.openxmlformats.org/drawingml/2006/main" name="6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7.xml><?xml version="1.0" encoding="utf-8"?>
<a:theme xmlns:a="http://schemas.openxmlformats.org/drawingml/2006/main" name="7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8.xml><?xml version="1.0" encoding="utf-8"?>
<a:theme xmlns:a="http://schemas.openxmlformats.org/drawingml/2006/main" name="8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9.xml><?xml version="1.0" encoding="utf-8"?>
<a:theme xmlns:a="http://schemas.openxmlformats.org/drawingml/2006/main" name="9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10.xml><?xml version="1.0" encoding="utf-8"?>
<a:theme xmlns:a="http://schemas.openxmlformats.org/drawingml/2006/main" name="10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11.xml><?xml version="1.0" encoding="utf-8"?>
<a:theme xmlns:a="http://schemas.openxmlformats.org/drawingml/2006/main" name="11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12.xml><?xml version="1.0" encoding="utf-8"?>
<a:theme xmlns:a="http://schemas.openxmlformats.org/drawingml/2006/main" name="12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13.xml><?xml version="1.0" encoding="utf-8"?>
<a:theme xmlns:a="http://schemas.openxmlformats.org/drawingml/2006/main" name="13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14.xml><?xml version="1.0" encoding="utf-8"?>
<a:theme xmlns:a="http://schemas.openxmlformats.org/drawingml/2006/main" name="14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15.xml><?xml version="1.0" encoding="utf-8"?>
<a:theme xmlns:a="http://schemas.openxmlformats.org/drawingml/2006/main" name="15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16.xml><?xml version="1.0" encoding="utf-8"?>
<a:theme xmlns:a="http://schemas.openxmlformats.org/drawingml/2006/main" name="16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17.xml><?xml version="1.0" encoding="utf-8"?>
<a:theme xmlns:a="http://schemas.openxmlformats.org/drawingml/2006/main" name="17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18.xml><?xml version="1.0" encoding="utf-8"?>
<a:theme xmlns:a="http://schemas.openxmlformats.org/drawingml/2006/main" name="18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19.xml><?xml version="1.0" encoding="utf-8"?>
<a:theme xmlns:a="http://schemas.openxmlformats.org/drawingml/2006/main" name="19_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1736</Words>
  <Application>Microsoft Office PowerPoint</Application>
  <PresentationFormat>Widescreen</PresentationFormat>
  <Paragraphs>227</Paragraphs>
  <Slides>32</Slides>
  <Notes>0</Notes>
  <HiddenSlides>0</HiddenSlides>
  <MMClips>0</MMClips>
  <ScaleCrop>false</ScaleCrop>
  <HeadingPairs>
    <vt:vector size="8" baseType="variant">
      <vt:variant>
        <vt:lpstr>Fonts Used</vt:lpstr>
      </vt:variant>
      <vt:variant>
        <vt:i4>10</vt:i4>
      </vt:variant>
      <vt:variant>
        <vt:lpstr>Theme</vt:lpstr>
      </vt:variant>
      <vt:variant>
        <vt:i4>19</vt:i4>
      </vt:variant>
      <vt:variant>
        <vt:lpstr>Embedded OLE Servers</vt:lpstr>
      </vt:variant>
      <vt:variant>
        <vt:i4>1</vt:i4>
      </vt:variant>
      <vt:variant>
        <vt:lpstr>Slide Titles</vt:lpstr>
      </vt:variant>
      <vt:variant>
        <vt:i4>32</vt:i4>
      </vt:variant>
    </vt:vector>
  </HeadingPairs>
  <TitlesOfParts>
    <vt:vector size="62" baseType="lpstr">
      <vt:lpstr>Arial</vt:lpstr>
      <vt:lpstr>Calibri</vt:lpstr>
      <vt:lpstr>Century Gothic</vt:lpstr>
      <vt:lpstr>inherit</vt:lpstr>
      <vt:lpstr>Lato</vt:lpstr>
      <vt:lpstr>Source Sans Pro</vt:lpstr>
      <vt:lpstr>Times New Roman</vt:lpstr>
      <vt:lpstr>TradeGothic-Bold</vt:lpstr>
      <vt:lpstr>Wingdings</vt:lpstr>
      <vt:lpstr>Wingdings 3</vt:lpstr>
      <vt:lpstr>Wisp</vt:lpstr>
      <vt:lpstr>2_Wisp</vt:lpstr>
      <vt:lpstr>3_Wisp</vt:lpstr>
      <vt:lpstr>4_Wisp</vt:lpstr>
      <vt:lpstr>5_Wisp</vt:lpstr>
      <vt:lpstr>6_Wisp</vt:lpstr>
      <vt:lpstr>7_Wisp</vt:lpstr>
      <vt:lpstr>8_Wisp</vt:lpstr>
      <vt:lpstr>9_Wisp</vt:lpstr>
      <vt:lpstr>10_Wisp</vt:lpstr>
      <vt:lpstr>11_Wisp</vt:lpstr>
      <vt:lpstr>12_Wisp</vt:lpstr>
      <vt:lpstr>13_Wisp</vt:lpstr>
      <vt:lpstr>14_Wisp</vt:lpstr>
      <vt:lpstr>15_Wisp</vt:lpstr>
      <vt:lpstr>16_Wisp</vt:lpstr>
      <vt:lpstr>17_Wisp</vt:lpstr>
      <vt:lpstr>18_Wisp</vt:lpstr>
      <vt:lpstr>19_Wisp</vt:lpstr>
      <vt:lpstr>Visio</vt:lpstr>
      <vt:lpstr>CMOS VLSI Design Topic  Memory</vt:lpstr>
      <vt:lpstr>Topic – Semiconductor Memories Talk Outline </vt:lpstr>
      <vt:lpstr>Introduction</vt:lpstr>
      <vt:lpstr>Memory Characteristics</vt:lpstr>
      <vt:lpstr>Memory Classification </vt:lpstr>
      <vt:lpstr>Categories of memory arrays</vt:lpstr>
      <vt:lpstr>Memory Array Organization</vt:lpstr>
      <vt:lpstr>Continue…..</vt:lpstr>
      <vt:lpstr>Role and Importance of different memory in System</vt:lpstr>
      <vt:lpstr>Continued…</vt:lpstr>
      <vt:lpstr>Continued…</vt:lpstr>
      <vt:lpstr>Continued…</vt:lpstr>
      <vt:lpstr>HDD Vs SSD</vt:lpstr>
      <vt:lpstr>HDD and SSD Comparison</vt:lpstr>
      <vt:lpstr>SRAM – Bi-stable Element</vt:lpstr>
      <vt:lpstr>Continued…</vt:lpstr>
      <vt:lpstr>SRAM Array</vt:lpstr>
      <vt:lpstr>How the device Works</vt:lpstr>
      <vt:lpstr>SRAM Read </vt:lpstr>
      <vt:lpstr>SRAM Write</vt:lpstr>
      <vt:lpstr>SRAM Standby Mode (Hold Mode)</vt:lpstr>
      <vt:lpstr>DRAM (Dynamic RAM)</vt:lpstr>
      <vt:lpstr>3T – DRAM </vt:lpstr>
      <vt:lpstr>2T and 1T DRAM Cell</vt:lpstr>
      <vt:lpstr>Difference between DRAM and SRAM</vt:lpstr>
      <vt:lpstr>EPROM(Erasable Programmable ROM)</vt:lpstr>
      <vt:lpstr>EEPROM(Electrically Erasable Programmable ROM)</vt:lpstr>
      <vt:lpstr>Programmable Logic Device</vt:lpstr>
      <vt:lpstr>Programmable  Logic Array(PLA)</vt:lpstr>
      <vt:lpstr>Problem</vt:lpstr>
      <vt:lpstr>Programmable  Array Logic  (PAL)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CMOS VLSI Design Topic  Memory</dc:title>
  <dc:creator>Dr. Rohit Lorenzo</dc:creator>
  <cp:lastModifiedBy>Dr. Rohit Lorenzo</cp:lastModifiedBy>
  <cp:revision>4</cp:revision>
  <dcterms:created xsi:type="dcterms:W3CDTF">2020-11-22T14:01:50Z</dcterms:created>
  <dcterms:modified xsi:type="dcterms:W3CDTF">2021-05-18T07:21:04Z</dcterms:modified>
</cp:coreProperties>
</file>