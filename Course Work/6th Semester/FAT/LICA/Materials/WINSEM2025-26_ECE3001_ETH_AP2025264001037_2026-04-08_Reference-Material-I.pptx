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680" r:id="rId2"/>
    <p:sldId id="681" r:id="rId3"/>
    <p:sldId id="773" r:id="rId4"/>
    <p:sldId id="774" r:id="rId5"/>
    <p:sldId id="776" r:id="rId6"/>
    <p:sldId id="778" r:id="rId7"/>
    <p:sldId id="777" r:id="rId8"/>
    <p:sldId id="779" r:id="rId9"/>
    <p:sldId id="775" r:id="rId10"/>
    <p:sldId id="781" r:id="rId11"/>
    <p:sldId id="782" r:id="rId12"/>
    <p:sldId id="783" r:id="rId13"/>
    <p:sldId id="784" r:id="rId14"/>
    <p:sldId id="785" r:id="rId15"/>
    <p:sldId id="786" r:id="rId16"/>
    <p:sldId id="787" r:id="rId17"/>
    <p:sldId id="788" r:id="rId18"/>
    <p:sldId id="789" r:id="rId19"/>
    <p:sldId id="790" r:id="rId20"/>
    <p:sldId id="792" r:id="rId21"/>
    <p:sldId id="791" r:id="rId22"/>
    <p:sldId id="793" r:id="rId23"/>
    <p:sldId id="794" r:id="rId24"/>
    <p:sldId id="795" r:id="rId25"/>
    <p:sldId id="796" r:id="rId26"/>
    <p:sldId id="797" r:id="rId27"/>
    <p:sldId id="798" r:id="rId28"/>
    <p:sldId id="799" r:id="rId29"/>
    <p:sldId id="80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72" d="100"/>
          <a:sy n="72" d="100"/>
        </p:scale>
        <p:origin x="63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8C7D34-3959-44CD-B271-AC4B20E0CCA3}" type="datetimeFigureOut">
              <a:rPr lang="en-IN" smtClean="0"/>
              <a:t>29-04-2026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BD0F69-0C55-497B-8643-A10F02F6CB5D}" type="slidenum">
              <a:rPr lang="en-IN" smtClean="0"/>
              <a:t>‹#›</a:t>
            </a:fld>
            <a:endParaRPr lang="en-IN"/>
          </a:p>
        </p:txBody>
      </p:sp>
    </p:spTree>
    <p:extLst>
      <p:ext uri="{BB962C8B-B14F-4D97-AF65-F5344CB8AC3E}">
        <p14:creationId xmlns:p14="http://schemas.microsoft.com/office/powerpoint/2010/main" val="3451629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A02F7-8672-5B0E-A5B4-8B34C99EE2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CC99B6E-2821-AB26-9E40-C7EACB7DD9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E13F904-4CE2-BB9D-D3B6-BE6972B4E700}"/>
              </a:ext>
            </a:extLst>
          </p:cNvPr>
          <p:cNvSpPr>
            <a:spLocks noGrp="1"/>
          </p:cNvSpPr>
          <p:nvPr>
            <p:ph type="dt" sz="half" idx="10"/>
          </p:nvPr>
        </p:nvSpPr>
        <p:spPr/>
        <p:txBody>
          <a:bodyPr/>
          <a:lstStyle/>
          <a:p>
            <a:fld id="{E645C6C4-792A-45FA-8D09-E89EB5A08A8E}" type="datetimeFigureOut">
              <a:rPr lang="en-IN" smtClean="0"/>
              <a:t>29-04-2026</a:t>
            </a:fld>
            <a:endParaRPr lang="en-IN"/>
          </a:p>
        </p:txBody>
      </p:sp>
      <p:sp>
        <p:nvSpPr>
          <p:cNvPr id="5" name="Footer Placeholder 4">
            <a:extLst>
              <a:ext uri="{FF2B5EF4-FFF2-40B4-BE49-F238E27FC236}">
                <a16:creationId xmlns:a16="http://schemas.microsoft.com/office/drawing/2014/main" id="{248ED9A5-0133-30B3-DFCA-0F81C3212F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12E07C-E439-6186-42D3-5379C2D672F1}"/>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2712742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EFD4C-2E55-C5C3-9CD7-CCA2B5F0E7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F999525-B408-8939-6F4C-CF369326B4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C6150E-818E-E14B-B243-84509331EBB6}"/>
              </a:ext>
            </a:extLst>
          </p:cNvPr>
          <p:cNvSpPr>
            <a:spLocks noGrp="1"/>
          </p:cNvSpPr>
          <p:nvPr>
            <p:ph type="dt" sz="half" idx="10"/>
          </p:nvPr>
        </p:nvSpPr>
        <p:spPr/>
        <p:txBody>
          <a:bodyPr/>
          <a:lstStyle/>
          <a:p>
            <a:fld id="{E645C6C4-792A-45FA-8D09-E89EB5A08A8E}" type="datetimeFigureOut">
              <a:rPr lang="en-IN" smtClean="0"/>
              <a:t>29-04-2026</a:t>
            </a:fld>
            <a:endParaRPr lang="en-IN"/>
          </a:p>
        </p:txBody>
      </p:sp>
      <p:sp>
        <p:nvSpPr>
          <p:cNvPr id="5" name="Footer Placeholder 4">
            <a:extLst>
              <a:ext uri="{FF2B5EF4-FFF2-40B4-BE49-F238E27FC236}">
                <a16:creationId xmlns:a16="http://schemas.microsoft.com/office/drawing/2014/main" id="{CF1DA880-72C0-B5CF-6470-1DAD552F71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8EE6B3-756B-F98F-D5A9-10C64B37C57D}"/>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3255765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E0B5E-F10C-1235-7DD9-654F7C95D7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EBC27AF-BD75-7D5C-6C88-A851B7A187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7A950E-9E32-C70F-20DB-B97027885DC0}"/>
              </a:ext>
            </a:extLst>
          </p:cNvPr>
          <p:cNvSpPr>
            <a:spLocks noGrp="1"/>
          </p:cNvSpPr>
          <p:nvPr>
            <p:ph type="dt" sz="half" idx="10"/>
          </p:nvPr>
        </p:nvSpPr>
        <p:spPr/>
        <p:txBody>
          <a:bodyPr/>
          <a:lstStyle/>
          <a:p>
            <a:fld id="{E645C6C4-792A-45FA-8D09-E89EB5A08A8E}" type="datetimeFigureOut">
              <a:rPr lang="en-IN" smtClean="0"/>
              <a:t>29-04-2026</a:t>
            </a:fld>
            <a:endParaRPr lang="en-IN"/>
          </a:p>
        </p:txBody>
      </p:sp>
      <p:sp>
        <p:nvSpPr>
          <p:cNvPr id="5" name="Footer Placeholder 4">
            <a:extLst>
              <a:ext uri="{FF2B5EF4-FFF2-40B4-BE49-F238E27FC236}">
                <a16:creationId xmlns:a16="http://schemas.microsoft.com/office/drawing/2014/main" id="{B7B64EFF-6F25-2FE4-B52F-A95E8D3126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5DAE5FC-9230-76B1-C63B-6BB849AC9B11}"/>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842654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1549-CD18-AD34-9572-2845A4CF4D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CFF3E5-00EF-C320-AB84-B0A6939A42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C3EB3F-E5A5-0B2A-8B75-448480321D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F89B8EF-1E91-C041-662E-A27A7D4CF17D}"/>
              </a:ext>
            </a:extLst>
          </p:cNvPr>
          <p:cNvSpPr>
            <a:spLocks noGrp="1"/>
          </p:cNvSpPr>
          <p:nvPr>
            <p:ph type="dt" sz="half" idx="10"/>
          </p:nvPr>
        </p:nvSpPr>
        <p:spPr/>
        <p:txBody>
          <a:bodyPr/>
          <a:lstStyle/>
          <a:p>
            <a:fld id="{E645C6C4-792A-45FA-8D09-E89EB5A08A8E}" type="datetimeFigureOut">
              <a:rPr lang="en-IN" smtClean="0"/>
              <a:t>29-04-2026</a:t>
            </a:fld>
            <a:endParaRPr lang="en-IN"/>
          </a:p>
        </p:txBody>
      </p:sp>
      <p:sp>
        <p:nvSpPr>
          <p:cNvPr id="6" name="Footer Placeholder 5">
            <a:extLst>
              <a:ext uri="{FF2B5EF4-FFF2-40B4-BE49-F238E27FC236}">
                <a16:creationId xmlns:a16="http://schemas.microsoft.com/office/drawing/2014/main" id="{A5EE7ADD-975C-3D80-8714-90154B93D8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854D3E-FC56-F043-E657-56964977CF4F}"/>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4277604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8C76-4B85-C97D-7212-803412FFAD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D4BB80-916C-DA52-643A-2D34D243BC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A7D96-68D0-00CE-F587-D64A4DF928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938895-254C-E3C6-5435-0F45585095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B88805-1D67-10F7-95D0-3A3C8FFFFB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F66E2C-332E-E682-70E0-82610E8F1FD5}"/>
              </a:ext>
            </a:extLst>
          </p:cNvPr>
          <p:cNvSpPr>
            <a:spLocks noGrp="1"/>
          </p:cNvSpPr>
          <p:nvPr>
            <p:ph type="dt" sz="half" idx="10"/>
          </p:nvPr>
        </p:nvSpPr>
        <p:spPr/>
        <p:txBody>
          <a:bodyPr/>
          <a:lstStyle/>
          <a:p>
            <a:fld id="{E645C6C4-792A-45FA-8D09-E89EB5A08A8E}" type="datetimeFigureOut">
              <a:rPr lang="en-IN" smtClean="0"/>
              <a:t>29-04-2026</a:t>
            </a:fld>
            <a:endParaRPr lang="en-IN"/>
          </a:p>
        </p:txBody>
      </p:sp>
      <p:sp>
        <p:nvSpPr>
          <p:cNvPr id="8" name="Footer Placeholder 7">
            <a:extLst>
              <a:ext uri="{FF2B5EF4-FFF2-40B4-BE49-F238E27FC236}">
                <a16:creationId xmlns:a16="http://schemas.microsoft.com/office/drawing/2014/main" id="{4FD65446-3D94-7C0D-4934-81DE1764418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F013A5D-9C8B-0648-0990-07BFD6B4AB38}"/>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3885307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DF282-8468-0FD0-92E3-C7CEDA127AA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77FBBC-2BCB-7011-9CDB-98C4FE8FA89A}"/>
              </a:ext>
            </a:extLst>
          </p:cNvPr>
          <p:cNvSpPr>
            <a:spLocks noGrp="1"/>
          </p:cNvSpPr>
          <p:nvPr>
            <p:ph type="dt" sz="half" idx="10"/>
          </p:nvPr>
        </p:nvSpPr>
        <p:spPr/>
        <p:txBody>
          <a:bodyPr/>
          <a:lstStyle/>
          <a:p>
            <a:fld id="{E645C6C4-792A-45FA-8D09-E89EB5A08A8E}" type="datetimeFigureOut">
              <a:rPr lang="en-IN" smtClean="0"/>
              <a:t>29-04-2026</a:t>
            </a:fld>
            <a:endParaRPr lang="en-IN"/>
          </a:p>
        </p:txBody>
      </p:sp>
      <p:sp>
        <p:nvSpPr>
          <p:cNvPr id="4" name="Footer Placeholder 3">
            <a:extLst>
              <a:ext uri="{FF2B5EF4-FFF2-40B4-BE49-F238E27FC236}">
                <a16:creationId xmlns:a16="http://schemas.microsoft.com/office/drawing/2014/main" id="{78B5EDFB-71F0-3CC5-8A0C-6495C43C10D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8EB03F2-2A8F-DC03-067B-5C84617130F0}"/>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1702862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E52602-B362-7CD2-227D-43055946771A}"/>
              </a:ext>
            </a:extLst>
          </p:cNvPr>
          <p:cNvSpPr>
            <a:spLocks noGrp="1"/>
          </p:cNvSpPr>
          <p:nvPr>
            <p:ph type="dt" sz="half" idx="10"/>
          </p:nvPr>
        </p:nvSpPr>
        <p:spPr/>
        <p:txBody>
          <a:bodyPr/>
          <a:lstStyle/>
          <a:p>
            <a:fld id="{E645C6C4-792A-45FA-8D09-E89EB5A08A8E}" type="datetimeFigureOut">
              <a:rPr lang="en-IN" smtClean="0"/>
              <a:t>29-04-2026</a:t>
            </a:fld>
            <a:endParaRPr lang="en-IN"/>
          </a:p>
        </p:txBody>
      </p:sp>
      <p:sp>
        <p:nvSpPr>
          <p:cNvPr id="3" name="Footer Placeholder 2">
            <a:extLst>
              <a:ext uri="{FF2B5EF4-FFF2-40B4-BE49-F238E27FC236}">
                <a16:creationId xmlns:a16="http://schemas.microsoft.com/office/drawing/2014/main" id="{EE39BD08-128D-0F6A-2F8F-050616CA6F4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BC61CA-792C-6390-636D-D29AD0CB580C}"/>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2015595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9A165-338F-FF2A-FED3-40043D46A4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708A43E-6F04-8391-B16B-93A087A646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FE8942-D366-BC32-9880-7477D19E27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134FC9-3270-D311-DEA5-88751850B5D3}"/>
              </a:ext>
            </a:extLst>
          </p:cNvPr>
          <p:cNvSpPr>
            <a:spLocks noGrp="1"/>
          </p:cNvSpPr>
          <p:nvPr>
            <p:ph type="dt" sz="half" idx="10"/>
          </p:nvPr>
        </p:nvSpPr>
        <p:spPr/>
        <p:txBody>
          <a:bodyPr/>
          <a:lstStyle/>
          <a:p>
            <a:fld id="{E645C6C4-792A-45FA-8D09-E89EB5A08A8E}" type="datetimeFigureOut">
              <a:rPr lang="en-IN" smtClean="0"/>
              <a:t>29-04-2026</a:t>
            </a:fld>
            <a:endParaRPr lang="en-IN"/>
          </a:p>
        </p:txBody>
      </p:sp>
      <p:sp>
        <p:nvSpPr>
          <p:cNvPr id="6" name="Footer Placeholder 5">
            <a:extLst>
              <a:ext uri="{FF2B5EF4-FFF2-40B4-BE49-F238E27FC236}">
                <a16:creationId xmlns:a16="http://schemas.microsoft.com/office/drawing/2014/main" id="{2AE4C366-5BB8-4E2F-AA21-2EB3F55F9C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5E3CDC-500D-58F0-AF5A-0FE0D14D1683}"/>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346035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2ED05-7371-E2E3-738D-DCDD9718A4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33EE5A3-E5B7-DC7D-1E76-290DF61CC9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334AB0E-D801-AA28-919D-4347925AF3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CB0DD2-3FC4-96CB-0E25-2E045E48002E}"/>
              </a:ext>
            </a:extLst>
          </p:cNvPr>
          <p:cNvSpPr>
            <a:spLocks noGrp="1"/>
          </p:cNvSpPr>
          <p:nvPr>
            <p:ph type="dt" sz="half" idx="10"/>
          </p:nvPr>
        </p:nvSpPr>
        <p:spPr/>
        <p:txBody>
          <a:bodyPr/>
          <a:lstStyle/>
          <a:p>
            <a:fld id="{E645C6C4-792A-45FA-8D09-E89EB5A08A8E}" type="datetimeFigureOut">
              <a:rPr lang="en-IN" smtClean="0"/>
              <a:t>29-04-2026</a:t>
            </a:fld>
            <a:endParaRPr lang="en-IN"/>
          </a:p>
        </p:txBody>
      </p:sp>
      <p:sp>
        <p:nvSpPr>
          <p:cNvPr id="6" name="Footer Placeholder 5">
            <a:extLst>
              <a:ext uri="{FF2B5EF4-FFF2-40B4-BE49-F238E27FC236}">
                <a16:creationId xmlns:a16="http://schemas.microsoft.com/office/drawing/2014/main" id="{A03A1A73-2AC8-6DCA-E4FB-3BE608D8AD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EB97E21-0120-A692-161F-E0ADCA7A64B2}"/>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1409213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353D0-ABB4-1024-BBEF-EBB0C1032E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529043-A2E4-44F8-2AA8-AE4830A08D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15025C-3598-B7C3-BC2B-E0AE59ED5DDE}"/>
              </a:ext>
            </a:extLst>
          </p:cNvPr>
          <p:cNvSpPr>
            <a:spLocks noGrp="1"/>
          </p:cNvSpPr>
          <p:nvPr>
            <p:ph type="dt" sz="half" idx="10"/>
          </p:nvPr>
        </p:nvSpPr>
        <p:spPr/>
        <p:txBody>
          <a:bodyPr/>
          <a:lstStyle/>
          <a:p>
            <a:fld id="{E645C6C4-792A-45FA-8D09-E89EB5A08A8E}" type="datetimeFigureOut">
              <a:rPr lang="en-IN" smtClean="0"/>
              <a:t>29-04-2026</a:t>
            </a:fld>
            <a:endParaRPr lang="en-IN"/>
          </a:p>
        </p:txBody>
      </p:sp>
      <p:sp>
        <p:nvSpPr>
          <p:cNvPr id="5" name="Footer Placeholder 4">
            <a:extLst>
              <a:ext uri="{FF2B5EF4-FFF2-40B4-BE49-F238E27FC236}">
                <a16:creationId xmlns:a16="http://schemas.microsoft.com/office/drawing/2014/main" id="{6C898212-50A8-9589-4C92-A02BA0856E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3C1A80-DD9B-1598-B20B-BD66AD74805C}"/>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2387472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3085A-AE19-7AA9-DC79-57AE296FAC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335E74-A104-F62D-4C70-A9D5FE5D02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53F883-B38B-8EFF-28A2-976F768A81AB}"/>
              </a:ext>
            </a:extLst>
          </p:cNvPr>
          <p:cNvSpPr>
            <a:spLocks noGrp="1"/>
          </p:cNvSpPr>
          <p:nvPr>
            <p:ph type="dt" sz="half" idx="10"/>
          </p:nvPr>
        </p:nvSpPr>
        <p:spPr/>
        <p:txBody>
          <a:bodyPr/>
          <a:lstStyle/>
          <a:p>
            <a:fld id="{E645C6C4-792A-45FA-8D09-E89EB5A08A8E}" type="datetimeFigureOut">
              <a:rPr lang="en-IN" smtClean="0"/>
              <a:t>29-04-2026</a:t>
            </a:fld>
            <a:endParaRPr lang="en-IN"/>
          </a:p>
        </p:txBody>
      </p:sp>
      <p:sp>
        <p:nvSpPr>
          <p:cNvPr id="5" name="Footer Placeholder 4">
            <a:extLst>
              <a:ext uri="{FF2B5EF4-FFF2-40B4-BE49-F238E27FC236}">
                <a16:creationId xmlns:a16="http://schemas.microsoft.com/office/drawing/2014/main" id="{406DA437-E3A0-08C0-54A7-9D60B9822C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50AAF1-00C3-F5EA-4459-59E0A18A9CEE}"/>
              </a:ext>
            </a:extLst>
          </p:cNvPr>
          <p:cNvSpPr>
            <a:spLocks noGrp="1"/>
          </p:cNvSpPr>
          <p:nvPr>
            <p:ph type="sldNum" sz="quarter" idx="12"/>
          </p:nvPr>
        </p:nvSpPr>
        <p:spPr/>
        <p:txBody>
          <a:bodyPr/>
          <a:lstStyle/>
          <a:p>
            <a:fld id="{3265A2A2-AC36-4532-83EC-44770C379092}" type="slidenum">
              <a:rPr lang="en-IN" smtClean="0"/>
              <a:t>‹#›</a:t>
            </a:fld>
            <a:endParaRPr lang="en-IN"/>
          </a:p>
        </p:txBody>
      </p:sp>
    </p:spTree>
    <p:extLst>
      <p:ext uri="{BB962C8B-B14F-4D97-AF65-F5344CB8AC3E}">
        <p14:creationId xmlns:p14="http://schemas.microsoft.com/office/powerpoint/2010/main" val="1088711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1CCF01-76F7-D2D8-E5EB-8527E4C175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827A1B-7B37-C0F4-F6E5-A95316AB52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3BD1DC-0CE2-81E5-3A56-8FCF3D4E30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45C6C4-792A-45FA-8D09-E89EB5A08A8E}" type="datetimeFigureOut">
              <a:rPr lang="en-IN" smtClean="0"/>
              <a:t>29-04-2026</a:t>
            </a:fld>
            <a:endParaRPr lang="en-IN"/>
          </a:p>
        </p:txBody>
      </p:sp>
      <p:sp>
        <p:nvSpPr>
          <p:cNvPr id="5" name="Footer Placeholder 4">
            <a:extLst>
              <a:ext uri="{FF2B5EF4-FFF2-40B4-BE49-F238E27FC236}">
                <a16:creationId xmlns:a16="http://schemas.microsoft.com/office/drawing/2014/main" id="{E9AD760D-422B-1897-80EE-13672A87A8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26CF3C8-E617-5418-CE43-FC7E58F0E6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65A2A2-AC36-4532-83EC-44770C379092}" type="slidenum">
              <a:rPr lang="en-IN" smtClean="0"/>
              <a:t>‹#›</a:t>
            </a:fld>
            <a:endParaRPr lang="en-IN"/>
          </a:p>
        </p:txBody>
      </p:sp>
    </p:spTree>
    <p:extLst>
      <p:ext uri="{BB962C8B-B14F-4D97-AF65-F5344CB8AC3E}">
        <p14:creationId xmlns:p14="http://schemas.microsoft.com/office/powerpoint/2010/main" val="1123088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70B79A6-2E20-C2F7-1391-CDA67341A6FB}"/>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1: </a:t>
            </a:r>
            <a:r>
              <a:rPr lang="en-US" sz="3200" b="1" dirty="0">
                <a:solidFill>
                  <a:srgbClr val="0070C0"/>
                </a:solidFill>
                <a:latin typeface="Times New Roman" panose="02020603050405020304" pitchFamily="18" charset="0"/>
                <a:cs typeface="Times New Roman" panose="02020603050405020304" pitchFamily="18" charset="0"/>
              </a:rPr>
              <a:t>Analog to Digital or Digital to Analog Converters</a:t>
            </a:r>
          </a:p>
        </p:txBody>
      </p:sp>
      <p:sp>
        <p:nvSpPr>
          <p:cNvPr id="8" name="Content Placeholder 2">
            <a:extLst>
              <a:ext uri="{FF2B5EF4-FFF2-40B4-BE49-F238E27FC236}">
                <a16:creationId xmlns:a16="http://schemas.microsoft.com/office/drawing/2014/main" id="{6CEAB7F7-FC8E-1905-FC44-A5E437ED6329}"/>
              </a:ext>
            </a:extLst>
          </p:cNvPr>
          <p:cNvSpPr txBox="1">
            <a:spLocks noGrp="1"/>
          </p:cNvSpPr>
          <p:nvPr>
            <p:ph type="subTitle" idx="1"/>
          </p:nvPr>
        </p:nvSpPr>
        <p:spPr>
          <a:xfrm>
            <a:off x="768811" y="2276178"/>
            <a:ext cx="10319141" cy="907749"/>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spcBef>
                <a:spcPts val="0"/>
              </a:spcBef>
              <a:buClr>
                <a:srgbClr val="002060"/>
              </a:buClr>
              <a:buSzPct val="100000"/>
            </a:pPr>
            <a:r>
              <a:rPr lang="en-US" sz="3600" b="1" dirty="0">
                <a:solidFill>
                  <a:srgbClr val="0070C0"/>
                </a:solidFill>
                <a:latin typeface="Times New Roman" panose="02020603050405020304" pitchFamily="18" charset="0"/>
                <a:cs typeface="Times New Roman" panose="02020603050405020304" pitchFamily="18" charset="0"/>
              </a:rPr>
              <a:t>Analog to Digital or Digital to Analog Converters</a:t>
            </a:r>
          </a:p>
        </p:txBody>
      </p:sp>
      <p:sp>
        <p:nvSpPr>
          <p:cNvPr id="3" name="TextBox 2">
            <a:extLst>
              <a:ext uri="{FF2B5EF4-FFF2-40B4-BE49-F238E27FC236}">
                <a16:creationId xmlns:a16="http://schemas.microsoft.com/office/drawing/2014/main" id="{28B8E333-90D1-5384-F938-F8E576E6DA3E}"/>
              </a:ext>
            </a:extLst>
          </p:cNvPr>
          <p:cNvSpPr txBox="1"/>
          <p:nvPr/>
        </p:nvSpPr>
        <p:spPr>
          <a:xfrm>
            <a:off x="532793" y="5374053"/>
            <a:ext cx="11125200" cy="907749"/>
          </a:xfrm>
          <a:prstGeom prst="rect">
            <a:avLst/>
          </a:prstGeom>
          <a:noFill/>
        </p:spPr>
        <p:txBody>
          <a:bodyPr wrap="square">
            <a:spAutoFit/>
          </a:bodyPr>
          <a:lstStyle/>
          <a:p>
            <a:pPr marL="0" indent="0" algn="just">
              <a:lnSpc>
                <a:spcPct val="115000"/>
              </a:lnSpc>
              <a:spcAft>
                <a:spcPts val="800"/>
              </a:spcAft>
              <a:buFont typeface="Arial" panose="020B0604020202020204" pitchFamily="34" charset="0"/>
              <a:buNone/>
            </a:pPr>
            <a:r>
              <a:rPr lang="en-IN" sz="2400" b="1" dirty="0">
                <a:solidFill>
                  <a:schemeClr val="accent2"/>
                </a:solidFill>
                <a:latin typeface="Times New Roman" panose="02020603050405020304" pitchFamily="18" charset="0"/>
                <a:ea typeface="Calibri" panose="020F0502020204030204" pitchFamily="34" charset="0"/>
                <a:cs typeface="Times New Roman" panose="02020603050405020304" pitchFamily="18" charset="0"/>
              </a:rPr>
              <a:t>Pre – preparation: </a:t>
            </a:r>
            <a:r>
              <a:rPr lang="en-IN" sz="2400" dirty="0">
                <a:latin typeface="Times New Roman" panose="02020603050405020304" pitchFamily="18" charset="0"/>
                <a:ea typeface="Calibri" panose="020F0502020204030204" pitchFamily="34" charset="0"/>
                <a:cs typeface="Times New Roman" panose="02020603050405020304" pitchFamily="18" charset="0"/>
              </a:rPr>
              <a:t>Lecture Materials and LIC Text book by ROY Choudhury, sixth edition, 2022.</a:t>
            </a:r>
          </a:p>
        </p:txBody>
      </p:sp>
      <p:pic>
        <p:nvPicPr>
          <p:cNvPr id="1026" name="Picture 2" descr="VIT-AP University - Wikipedia">
            <a:extLst>
              <a:ext uri="{FF2B5EF4-FFF2-40B4-BE49-F238E27FC236}">
                <a16:creationId xmlns:a16="http://schemas.microsoft.com/office/drawing/2014/main" id="{7A0C0248-CACC-9B28-EF4D-C496B3EDC2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06409" y="230367"/>
            <a:ext cx="1358900" cy="1129872"/>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3">
            <a:extLst>
              <a:ext uri="{FF2B5EF4-FFF2-40B4-BE49-F238E27FC236}">
                <a16:creationId xmlns:a16="http://schemas.microsoft.com/office/drawing/2014/main" id="{5CAE8A77-77BA-729D-C5D7-3215573EDB39}"/>
              </a:ext>
            </a:extLst>
          </p:cNvPr>
          <p:cNvSpPr>
            <a:spLocks noGrp="1"/>
          </p:cNvSpPr>
          <p:nvPr>
            <p:ph type="dt" sz="half" idx="10"/>
          </p:nvPr>
        </p:nvSpPr>
        <p:spPr>
          <a:xfrm>
            <a:off x="30685" y="6480301"/>
            <a:ext cx="12129416" cy="365126"/>
          </a:xfrm>
          <a:solidFill>
            <a:schemeClr val="accent6">
              <a:lumMod val="20000"/>
              <a:lumOff val="80000"/>
            </a:schemeClr>
          </a:solidFill>
          <a:ln>
            <a:solidFill>
              <a:schemeClr val="accent5"/>
            </a:solidFill>
          </a:ln>
        </p:spPr>
        <p:txBody>
          <a:bodyPr/>
          <a:lstStyle/>
          <a:p>
            <a:r>
              <a:rPr lang="en-US" sz="1800" b="1" dirty="0">
                <a:solidFill>
                  <a:schemeClr val="accent5"/>
                </a:solidFill>
                <a:latin typeface="Times New Roman" panose="02020603050405020304" pitchFamily="18" charset="0"/>
                <a:cs typeface="Times New Roman" panose="02020603050405020304" pitchFamily="18" charset="0"/>
              </a:rPr>
              <a:t>    VIT-AP University                                              Linear Integrated Circuits                                      Dr. M. Sankush Krishna</a:t>
            </a:r>
          </a:p>
        </p:txBody>
      </p:sp>
    </p:spTree>
    <p:extLst>
      <p:ext uri="{BB962C8B-B14F-4D97-AF65-F5344CB8AC3E}">
        <p14:creationId xmlns:p14="http://schemas.microsoft.com/office/powerpoint/2010/main" val="1643373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Analog to Digital or Digital to Analog Converters</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5565947"/>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 continuous-time signal whose amplitude can take any value; this is the natural form of real-world signals like sound or temperature.</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Sampling is a process of taking values of an analog signal at discrete time instants; it converts a continuous-time signal into a discrete-time signal..</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After sampling, amplitudes are rounded to a finite set of levels; this introduces </a:t>
            </a:r>
            <a:r>
              <a:rPr lang="en-US" sz="2400"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quantisation</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error (noise).</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 signal whose amplitude can take only discrete values; it is no longer continuous in magnitude.</a:t>
            </a:r>
          </a:p>
          <a:p>
            <a:pPr marL="342900" lvl="0" indent="-342900" algn="just">
              <a:lnSpc>
                <a:spcPct val="150000"/>
              </a:lnSpc>
              <a:buFont typeface="Symbol" panose="05050102010706020507" pitchFamily="18" charset="2"/>
              <a:buChar char=""/>
            </a:pPr>
            <a:r>
              <a:rPr lang="en-US" sz="2400" dirty="0">
                <a:solidFill>
                  <a:schemeClr val="tx2">
                    <a:lumMod val="75000"/>
                    <a:lumOff val="25000"/>
                  </a:schemeClr>
                </a:solidFill>
                <a:latin typeface="Times New Roman" panose="02020603050405020304" pitchFamily="18" charset="0"/>
                <a:ea typeface="Calibri" panose="020F0502020204030204" pitchFamily="34" charset="0"/>
                <a:cs typeface="Times New Roman" panose="02020603050405020304" pitchFamily="18" charset="0"/>
              </a:rPr>
              <a:t>Discrete time </a:t>
            </a:r>
            <a:r>
              <a:rPr lang="en-US" sz="2400" dirty="0" err="1">
                <a:solidFill>
                  <a:schemeClr val="tx2">
                    <a:lumMod val="75000"/>
                    <a:lumOff val="25000"/>
                  </a:schemeClr>
                </a:solidFill>
                <a:latin typeface="Times New Roman" panose="02020603050405020304" pitchFamily="18" charset="0"/>
                <a:ea typeface="Calibri" panose="020F0502020204030204" pitchFamily="34" charset="0"/>
                <a:cs typeface="Times New Roman" panose="02020603050405020304" pitchFamily="18" charset="0"/>
              </a:rPr>
              <a:t>dignal</a:t>
            </a:r>
            <a:r>
              <a:rPr lang="en-US" sz="2400" dirty="0">
                <a:solidFill>
                  <a:schemeClr val="tx2">
                    <a:lumMod val="75000"/>
                    <a:lumOff val="25000"/>
                  </a:schemeClr>
                </a:solidFill>
                <a:latin typeface="Times New Roman" panose="02020603050405020304" pitchFamily="18" charset="0"/>
                <a:ea typeface="Calibri" panose="020F0502020204030204" pitchFamily="34" charset="0"/>
                <a:cs typeface="Times New Roman" panose="02020603050405020304" pitchFamily="18" charset="0"/>
              </a:rPr>
              <a:t> is defined only at specific time instants; amplitude may still be continuous unless </a:t>
            </a:r>
            <a:r>
              <a:rPr lang="en-US" sz="2400" dirty="0" err="1">
                <a:solidFill>
                  <a:schemeClr val="tx2">
                    <a:lumMod val="75000"/>
                    <a:lumOff val="25000"/>
                  </a:schemeClr>
                </a:solidFill>
                <a:latin typeface="Times New Roman" panose="02020603050405020304" pitchFamily="18" charset="0"/>
                <a:ea typeface="Calibri" panose="020F0502020204030204" pitchFamily="34" charset="0"/>
                <a:cs typeface="Times New Roman" panose="02020603050405020304" pitchFamily="18" charset="0"/>
              </a:rPr>
              <a:t>quantised</a:t>
            </a:r>
            <a:r>
              <a:rPr lang="en-US" sz="2400" dirty="0">
                <a:solidFill>
                  <a:schemeClr val="tx2">
                    <a:lumMod val="75000"/>
                    <a:lumOff val="25000"/>
                  </a:schemeClr>
                </a:solidFill>
                <a:latin typeface="Times New Roman" panose="02020603050405020304" pitchFamily="18" charset="0"/>
                <a:ea typeface="Calibri" panose="020F0502020204030204" pitchFamily="34" charset="0"/>
                <a:cs typeface="Times New Roman" panose="02020603050405020304" pitchFamily="18" charset="0"/>
              </a:rPr>
              <a:t> (sampled-data signal case).</a:t>
            </a:r>
            <a:endPar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942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Analog to Digital or Digital to Analog Converters</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3903954"/>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 continuous-time signal from the output of a transducer is provided to the anti-aliasing filter.</a:t>
            </a:r>
          </a:p>
          <a:p>
            <a:pPr marL="342900" lvl="0" indent="-342900" algn="just">
              <a:lnSpc>
                <a:spcPct val="150000"/>
              </a:lnSpc>
              <a:buFont typeface="Symbol" panose="05050102010706020507" pitchFamily="18" charset="2"/>
              <a:buChar char=""/>
            </a:pPr>
            <a:r>
              <a:rPr lang="en-US" sz="24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The anti-aliasing filter is low pass filter which makes sure the </a:t>
            </a:r>
            <a:r>
              <a:rPr lang="en-US" sz="24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inout</a:t>
            </a:r>
            <a:r>
              <a:rPr lang="en-US" sz="24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signal frequency is below the half of sampling frequency.</a:t>
            </a:r>
          </a:p>
          <a:p>
            <a:pPr marL="342900" lvl="0" indent="-342900" algn="just">
              <a:lnSpc>
                <a:spcPct val="150000"/>
              </a:lnSpc>
              <a:buFont typeface="Symbol" panose="05050102010706020507" pitchFamily="18" charset="2"/>
              <a:buChar char=""/>
            </a:pPr>
            <a:r>
              <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rPr>
              <a:t>The sample and hold circuit helps in holding the fixed value of continuously changing signal at sampling intervals.</a:t>
            </a:r>
          </a:p>
          <a:p>
            <a:pPr marL="342900" lvl="0" indent="-342900" algn="just">
              <a:lnSpc>
                <a:spcPct val="150000"/>
              </a:lnSpc>
              <a:buFont typeface="Symbol" panose="05050102010706020507" pitchFamily="18" charset="2"/>
              <a:buChar char=""/>
            </a:pPr>
            <a:endPar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13277A7-D790-4AF2-A513-C24105ACB3B1}"/>
              </a:ext>
            </a:extLst>
          </p:cNvPr>
          <p:cNvPicPr>
            <a:picLocks noChangeAspect="1"/>
          </p:cNvPicPr>
          <p:nvPr/>
        </p:nvPicPr>
        <p:blipFill>
          <a:blip r:embed="rId3"/>
          <a:stretch>
            <a:fillRect/>
          </a:stretch>
        </p:blipFill>
        <p:spPr>
          <a:xfrm>
            <a:off x="1994249" y="4118406"/>
            <a:ext cx="7953375" cy="2609850"/>
          </a:xfrm>
          <a:prstGeom prst="rect">
            <a:avLst/>
          </a:prstGeom>
        </p:spPr>
      </p:pic>
    </p:spTree>
    <p:extLst>
      <p:ext uri="{BB962C8B-B14F-4D97-AF65-F5344CB8AC3E}">
        <p14:creationId xmlns:p14="http://schemas.microsoft.com/office/powerpoint/2010/main" val="1224140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Analog to Digital or Digital to Analog Converters</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5011949"/>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IN"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The ADC converts the fixed </a:t>
            </a:r>
            <a:r>
              <a:rPr lang="en-IN" sz="2400"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analog</a:t>
            </a:r>
            <a:r>
              <a:rPr lang="en-IN"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signal amplitude into the digital form. The output is a digital sequence with discrete values.</a:t>
            </a:r>
          </a:p>
          <a:p>
            <a:pPr marL="342900" lvl="0" indent="-342900" algn="just">
              <a:lnSpc>
                <a:spcPct val="150000"/>
              </a:lnSpc>
              <a:buFont typeface="Symbol" panose="05050102010706020507" pitchFamily="18" charset="2"/>
              <a:buChar char=""/>
            </a:pPr>
            <a:r>
              <a:rPr lang="en-IN" sz="24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DSP block works for the digital signal processing like compression, filtering etc.</a:t>
            </a:r>
          </a:p>
          <a:p>
            <a:pPr marL="342900" lvl="0" indent="-342900" algn="just">
              <a:lnSpc>
                <a:spcPct val="150000"/>
              </a:lnSpc>
              <a:buFont typeface="Symbol" panose="05050102010706020507" pitchFamily="18" charset="2"/>
              <a:buChar char=""/>
            </a:pPr>
            <a:r>
              <a:rPr lang="en-IN"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The DAC block converts the digital data back to </a:t>
            </a:r>
            <a:r>
              <a:rPr lang="en-IN" sz="2400"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analog</a:t>
            </a:r>
            <a:r>
              <a:rPr lang="en-IN"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form with same sampling frequency.</a:t>
            </a:r>
          </a:p>
          <a:p>
            <a:pPr marL="342900" lvl="0" indent="-342900" algn="just">
              <a:lnSpc>
                <a:spcPct val="150000"/>
              </a:lnSpc>
              <a:buFont typeface="Symbol" panose="05050102010706020507" pitchFamily="18" charset="2"/>
              <a:buChar char=""/>
            </a:pPr>
            <a:r>
              <a:rPr lang="en-IN" sz="24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The </a:t>
            </a:r>
            <a:r>
              <a:rPr lang="en-IN" sz="24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deglitecher</a:t>
            </a:r>
            <a:r>
              <a:rPr lang="en-IN" sz="24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avoids the unwanted spikes in transition of digital data.</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 low-pass filter that smooths the staircase waveform into a continuous analog signal and reduces </a:t>
            </a:r>
            <a:r>
              <a:rPr lang="en-US" sz="2400"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quantisation</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noise.</a:t>
            </a:r>
            <a:endPar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80187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Specifications of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6119945"/>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IN"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Accuracy: </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How far the actual DAC output deviates from the ideal expected value for a given digital input.</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In a data acquisition system, if DAC is used to generate reference signals, poor accuracy means wrong calibration → entire system becomes unreliable.</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For example: If VFS of 3-bit DAC is 8V and the output voltage for 101 is 5.9 V. Find the error.</a:t>
            </a:r>
          </a:p>
          <a:p>
            <a:pPr marL="342900" lvl="0" indent="-342900" algn="just">
              <a:lnSpc>
                <a:spcPct val="150000"/>
              </a:lnSpc>
              <a:buFont typeface="Symbol" panose="05050102010706020507" pitchFamily="18" charset="2"/>
              <a:buChar char=""/>
            </a:pPr>
            <a:r>
              <a:rPr lang="en-US" sz="2400"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Stepsize</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8/7=1.14</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For 101=5, so analog voltage V0=5*1.14=5.7V</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Error =(5.9-5.7)/1.14 = 0.175 V.</a:t>
            </a:r>
          </a:p>
          <a:p>
            <a:pPr marL="342900" lvl="0" indent="-342900" algn="just">
              <a:lnSpc>
                <a:spcPct val="150000"/>
              </a:lnSpc>
              <a:buFont typeface="Symbol" panose="05050102010706020507" pitchFamily="18" charset="2"/>
              <a:buChar char=""/>
            </a:pPr>
            <a:endPar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019534D-9FD2-412E-9E1C-A81F3E5208D7}"/>
              </a:ext>
            </a:extLst>
          </p:cNvPr>
          <p:cNvPicPr>
            <a:picLocks noChangeAspect="1"/>
          </p:cNvPicPr>
          <p:nvPr/>
        </p:nvPicPr>
        <p:blipFill>
          <a:blip r:embed="rId3"/>
          <a:stretch>
            <a:fillRect/>
          </a:stretch>
        </p:blipFill>
        <p:spPr>
          <a:xfrm>
            <a:off x="3336234" y="1854615"/>
            <a:ext cx="3444905" cy="747907"/>
          </a:xfrm>
          <a:prstGeom prst="rect">
            <a:avLst/>
          </a:prstGeom>
        </p:spPr>
      </p:pic>
    </p:spTree>
    <p:extLst>
      <p:ext uri="{BB962C8B-B14F-4D97-AF65-F5344CB8AC3E}">
        <p14:creationId xmlns:p14="http://schemas.microsoft.com/office/powerpoint/2010/main" val="2492432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Specifications of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5011949"/>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IN"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Offset error: </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Ideally, the output of a D/A converter is 0V when all the bits of binary input word are 0s. In practice, however, there is a very small output voltage called offset voltage or offset error.</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The offset error is nullified by translating the actual A/D converter characteristics up or down so that it goes through the origin.</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73F1264-5AFA-4E9B-9490-15F2BD69EC67}"/>
              </a:ext>
            </a:extLst>
          </p:cNvPr>
          <p:cNvPicPr>
            <a:picLocks noChangeAspect="1"/>
          </p:cNvPicPr>
          <p:nvPr/>
        </p:nvPicPr>
        <p:blipFill>
          <a:blip r:embed="rId3"/>
          <a:stretch>
            <a:fillRect/>
          </a:stretch>
        </p:blipFill>
        <p:spPr>
          <a:xfrm>
            <a:off x="4797083" y="3524250"/>
            <a:ext cx="7394917" cy="3333750"/>
          </a:xfrm>
          <a:prstGeom prst="rect">
            <a:avLst/>
          </a:prstGeom>
        </p:spPr>
      </p:pic>
      <p:sp>
        <p:nvSpPr>
          <p:cNvPr id="6" name="TextBox 5">
            <a:extLst>
              <a:ext uri="{FF2B5EF4-FFF2-40B4-BE49-F238E27FC236}">
                <a16:creationId xmlns:a16="http://schemas.microsoft.com/office/drawing/2014/main" id="{D97F55D1-CEB1-4AEA-8EE4-EC63078EAA57}"/>
              </a:ext>
            </a:extLst>
          </p:cNvPr>
          <p:cNvSpPr txBox="1"/>
          <p:nvPr/>
        </p:nvSpPr>
        <p:spPr>
          <a:xfrm>
            <a:off x="247715" y="3119449"/>
            <a:ext cx="5238685" cy="6119945"/>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Gain error: Gain error is the deviation in the slope of the DAC transfer characteristic from the ideal slope, after removing offset error.</a:t>
            </a:r>
          </a:p>
          <a:p>
            <a:pPr marL="342900" lvl="0" indent="-342900" algn="just">
              <a:lnSpc>
                <a:spcPct val="150000"/>
              </a:lnSpc>
              <a:buFont typeface="Symbol" panose="05050102010706020507" pitchFamily="18" charset="2"/>
              <a:buChar char=""/>
            </a:pPr>
            <a:r>
              <a:rPr lang="en-US" sz="2400"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Gain_error</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t>
            </a:r>
            <a:r>
              <a:rPr lang="en-US" sz="2400"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Fullscale_error</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offset error.</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80725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Specifications of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2795958"/>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IN"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Linearity: </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The most common dynamic errors are full-scale error and linearity error. Full-scale error is the maximum deviation of the output value from its expected or ideal value, expressed in percentage of full-scale. Linearity error is the maximum deviation in step size from the ideal step size.</a:t>
            </a:r>
          </a:p>
          <a:p>
            <a:pPr marL="342900" lvl="0" indent="-342900" algn="just">
              <a:lnSpc>
                <a:spcPct val="150000"/>
              </a:lnSpc>
              <a:buFont typeface="Symbol" panose="05050102010706020507" pitchFamily="18" charset="2"/>
              <a:buChar char=""/>
            </a:pPr>
            <a:endPar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3E0CD64-F7E9-4C28-9EDA-F41E0FE009FB}"/>
              </a:ext>
            </a:extLst>
          </p:cNvPr>
          <p:cNvSpPr txBox="1"/>
          <p:nvPr/>
        </p:nvSpPr>
        <p:spPr>
          <a:xfrm>
            <a:off x="247716" y="2978426"/>
            <a:ext cx="5848284" cy="5011949"/>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Linearity means how evenly the analog output increases for each equal step in digital input (ideal DAC gives perfectly equal steps).</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In real DACs, resistor imperfections cause gain and offset errors, so the output deviates from a straight line (non-linear).</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F434136F-25D5-4184-8E41-C245A4442A58}"/>
              </a:ext>
            </a:extLst>
          </p:cNvPr>
          <p:cNvPicPr>
            <a:picLocks noChangeAspect="1"/>
          </p:cNvPicPr>
          <p:nvPr/>
        </p:nvPicPr>
        <p:blipFill>
          <a:blip r:embed="rId3"/>
          <a:stretch>
            <a:fillRect/>
          </a:stretch>
        </p:blipFill>
        <p:spPr>
          <a:xfrm>
            <a:off x="6255026" y="2864333"/>
            <a:ext cx="5689258" cy="3514725"/>
          </a:xfrm>
          <a:prstGeom prst="rect">
            <a:avLst/>
          </a:prstGeom>
        </p:spPr>
      </p:pic>
    </p:spTree>
    <p:extLst>
      <p:ext uri="{BB962C8B-B14F-4D97-AF65-F5344CB8AC3E}">
        <p14:creationId xmlns:p14="http://schemas.microsoft.com/office/powerpoint/2010/main" val="2181128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Specifications of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4457952"/>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Integral Non linearity error is the maximum deviation of actual DAC output from an ideal straight line, after correcting offset and gain errors.</a:t>
            </a:r>
          </a:p>
          <a:p>
            <a:pPr marL="342900" lvl="0" indent="-342900" algn="just">
              <a:lnSpc>
                <a:spcPct val="150000"/>
              </a:lnSpc>
              <a:buFont typeface="Symbol" panose="05050102010706020507" pitchFamily="18" charset="2"/>
              <a:buChar char=""/>
            </a:pPr>
            <a:r>
              <a:rPr lang="en-US" sz="2400" dirty="0">
                <a:solidFill>
                  <a:schemeClr val="tx2">
                    <a:lumMod val="75000"/>
                    <a:lumOff val="25000"/>
                  </a:schemeClr>
                </a:solidFill>
                <a:latin typeface="Times New Roman" panose="02020603050405020304" pitchFamily="18" charset="0"/>
                <a:ea typeface="Calibri" panose="020F0502020204030204" pitchFamily="34" charset="0"/>
                <a:cs typeface="Times New Roman" panose="02020603050405020304" pitchFamily="18" charset="0"/>
              </a:rPr>
              <a:t>Differential non linearity error is the difference between actual step size and ideal 1 LSB step size.</a:t>
            </a:r>
          </a:p>
          <a:p>
            <a:pPr marL="342900" lvl="0" indent="-342900" algn="just">
              <a:lnSpc>
                <a:spcPct val="150000"/>
              </a:lnSpc>
              <a:buFont typeface="Symbol" panose="05050102010706020507" pitchFamily="18" charset="2"/>
              <a:buChar char=""/>
            </a:pPr>
            <a:endParaRPr lang="en-US"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IN" sz="2400" dirty="0" err="1">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rPr>
              <a:t>Monotonocity</a:t>
            </a:r>
            <a:r>
              <a:rPr lang="en-IN" sz="2400" dirty="0">
                <a:solidFill>
                  <a:schemeClr val="tx2">
                    <a:lumMod val="75000"/>
                    <a:lumOff val="25000"/>
                  </a:schemeClr>
                </a:solidFill>
                <a:latin typeface="Times New Roman" panose="02020603050405020304" pitchFamily="18" charset="0"/>
                <a:ea typeface="Calibri" panose="020F0502020204030204" pitchFamily="34" charset="0"/>
                <a:cs typeface="Times New Roman" panose="02020603050405020304" pitchFamily="18" charset="0"/>
              </a:rPr>
              <a:t>: A monotonic DAC has increasing values of </a:t>
            </a:r>
            <a:r>
              <a:rPr lang="en-IN" sz="2400" dirty="0" err="1">
                <a:solidFill>
                  <a:schemeClr val="tx2">
                    <a:lumMod val="75000"/>
                    <a:lumOff val="25000"/>
                  </a:schemeClr>
                </a:solidFill>
                <a:latin typeface="Times New Roman" panose="02020603050405020304" pitchFamily="18" charset="0"/>
                <a:ea typeface="Calibri" panose="020F0502020204030204" pitchFamily="34" charset="0"/>
                <a:cs typeface="Times New Roman" panose="02020603050405020304" pitchFamily="18" charset="0"/>
              </a:rPr>
              <a:t>analog</a:t>
            </a:r>
            <a:r>
              <a:rPr lang="en-IN" sz="2400" dirty="0">
                <a:solidFill>
                  <a:schemeClr val="tx2">
                    <a:lumMod val="75000"/>
                    <a:lumOff val="25000"/>
                  </a:schemeClr>
                </a:solidFill>
                <a:latin typeface="Times New Roman" panose="02020603050405020304" pitchFamily="18" charset="0"/>
                <a:ea typeface="Calibri" panose="020F0502020204030204" pitchFamily="34" charset="0"/>
                <a:cs typeface="Times New Roman" panose="02020603050405020304" pitchFamily="18" charset="0"/>
              </a:rPr>
              <a:t> outputs with increase in digital input data. It means as digital data is incremented the output </a:t>
            </a:r>
            <a:r>
              <a:rPr lang="en-IN" sz="2400" dirty="0" err="1">
                <a:solidFill>
                  <a:schemeClr val="tx2">
                    <a:lumMod val="75000"/>
                    <a:lumOff val="25000"/>
                  </a:schemeClr>
                </a:solidFill>
                <a:latin typeface="Times New Roman" panose="02020603050405020304" pitchFamily="18" charset="0"/>
                <a:ea typeface="Calibri" panose="020F0502020204030204" pitchFamily="34" charset="0"/>
                <a:cs typeface="Times New Roman" panose="02020603050405020304" pitchFamily="18" charset="0"/>
              </a:rPr>
              <a:t>analog</a:t>
            </a:r>
            <a:r>
              <a:rPr lang="en-IN" sz="2400" dirty="0">
                <a:solidFill>
                  <a:schemeClr val="tx2">
                    <a:lumMod val="75000"/>
                    <a:lumOff val="25000"/>
                  </a:schemeClr>
                </a:solidFill>
                <a:latin typeface="Times New Roman" panose="02020603050405020304" pitchFamily="18" charset="0"/>
                <a:ea typeface="Calibri" panose="020F0502020204030204" pitchFamily="34" charset="0"/>
                <a:cs typeface="Times New Roman" panose="02020603050405020304" pitchFamily="18" charset="0"/>
              </a:rPr>
              <a:t> data also increments with respect to increase in step size.</a:t>
            </a:r>
            <a:endPar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FE59536B-4794-411B-9DD4-DFC60A488FDE}"/>
              </a:ext>
            </a:extLst>
          </p:cNvPr>
          <p:cNvPicPr>
            <a:picLocks noChangeAspect="1"/>
          </p:cNvPicPr>
          <p:nvPr/>
        </p:nvPicPr>
        <p:blipFill>
          <a:blip r:embed="rId3"/>
          <a:stretch>
            <a:fillRect/>
          </a:stretch>
        </p:blipFill>
        <p:spPr>
          <a:xfrm>
            <a:off x="3533775" y="2861050"/>
            <a:ext cx="4129150" cy="567950"/>
          </a:xfrm>
          <a:prstGeom prst="rect">
            <a:avLst/>
          </a:prstGeom>
        </p:spPr>
      </p:pic>
    </p:spTree>
    <p:extLst>
      <p:ext uri="{BB962C8B-B14F-4D97-AF65-F5344CB8AC3E}">
        <p14:creationId xmlns:p14="http://schemas.microsoft.com/office/powerpoint/2010/main" val="3354559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Analog to Digital or Digital to Analog Converters</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3508359" cy="579967"/>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IN"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Non-monotonic</a:t>
            </a:r>
            <a:endPar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023C91A-0D0A-46AF-B448-49CEE92D807B}"/>
              </a:ext>
            </a:extLst>
          </p:cNvPr>
          <p:cNvPicPr>
            <a:picLocks noChangeAspect="1"/>
          </p:cNvPicPr>
          <p:nvPr/>
        </p:nvPicPr>
        <p:blipFill>
          <a:blip r:embed="rId3"/>
          <a:stretch>
            <a:fillRect/>
          </a:stretch>
        </p:blipFill>
        <p:spPr>
          <a:xfrm>
            <a:off x="6143625" y="1318700"/>
            <a:ext cx="6048375" cy="4962525"/>
          </a:xfrm>
          <a:prstGeom prst="rect">
            <a:avLst/>
          </a:prstGeom>
        </p:spPr>
      </p:pic>
      <p:pic>
        <p:nvPicPr>
          <p:cNvPr id="6" name="Picture 5">
            <a:extLst>
              <a:ext uri="{FF2B5EF4-FFF2-40B4-BE49-F238E27FC236}">
                <a16:creationId xmlns:a16="http://schemas.microsoft.com/office/drawing/2014/main" id="{BC9C16C4-CF25-4C3A-B8CC-0915B5D74675}"/>
              </a:ext>
            </a:extLst>
          </p:cNvPr>
          <p:cNvPicPr>
            <a:picLocks noChangeAspect="1"/>
          </p:cNvPicPr>
          <p:nvPr/>
        </p:nvPicPr>
        <p:blipFill>
          <a:blip r:embed="rId4"/>
          <a:stretch>
            <a:fillRect/>
          </a:stretch>
        </p:blipFill>
        <p:spPr>
          <a:xfrm>
            <a:off x="0" y="1873907"/>
            <a:ext cx="6353175" cy="4320960"/>
          </a:xfrm>
          <a:prstGeom prst="rect">
            <a:avLst/>
          </a:prstGeom>
        </p:spPr>
      </p:pic>
      <p:sp>
        <p:nvSpPr>
          <p:cNvPr id="8" name="TextBox 7">
            <a:extLst>
              <a:ext uri="{FF2B5EF4-FFF2-40B4-BE49-F238E27FC236}">
                <a16:creationId xmlns:a16="http://schemas.microsoft.com/office/drawing/2014/main" id="{379FB5B7-B63A-4921-AAFF-D0ADED45A495}"/>
              </a:ext>
            </a:extLst>
          </p:cNvPr>
          <p:cNvSpPr txBox="1"/>
          <p:nvPr/>
        </p:nvSpPr>
        <p:spPr>
          <a:xfrm>
            <a:off x="7757518" y="767018"/>
            <a:ext cx="3508359" cy="579967"/>
          </a:xfrm>
          <a:prstGeom prst="rect">
            <a:avLst/>
          </a:prstGeom>
          <a:noFill/>
        </p:spPr>
        <p:txBody>
          <a:bodyPr wrap="square">
            <a:spAutoFit/>
          </a:bodyPr>
          <a:lstStyle/>
          <a:p>
            <a:pPr lvl="0" algn="just">
              <a:lnSpc>
                <a:spcPct val="150000"/>
              </a:lnSpc>
            </a:pPr>
            <a:r>
              <a:rPr lang="en-IN"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Monotonic</a:t>
            </a:r>
            <a:endParaRPr lang="en-IN" sz="2400" dirty="0">
              <a:solidFill>
                <a:schemeClr val="tx2">
                  <a:lumMod val="75000"/>
                  <a:lumOff val="25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50699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Specifications of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6119945"/>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IN"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Resolution: </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Resolution is the smallest change in output corresponding to a 1-bit change (1 LSB).</a:t>
            </a:r>
          </a:p>
          <a:p>
            <a:pPr marL="342900" lvl="0" indent="-342900" algn="just">
              <a:lnSpc>
                <a:spcPct val="150000"/>
              </a:lnSpc>
              <a:buFont typeface="Symbol" panose="05050102010706020507" pitchFamily="18" charset="2"/>
              <a:buChar char=""/>
            </a:pPr>
            <a:endParaRPr lang="en-US" sz="24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Settling Time: The time required for the output of a D/A converter to settle down to within ±(1/2) LSB of the final value for a given digital input is known as settling time. It depends on the switching time of the logic circuits, which in turn depends on the inevitable stray capacitances and inductances present in the converter circuit.</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Temperature sensitivity: Temperature sensitivity means the analog output changes slightly with temperature even if the digital input is fixed, due to components like reference voltage, resistors, and op-amp. </a:t>
            </a: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B6A32C4-8447-42E6-B85C-F017B191FC47}"/>
              </a:ext>
            </a:extLst>
          </p:cNvPr>
          <p:cNvPicPr>
            <a:picLocks noChangeAspect="1"/>
          </p:cNvPicPr>
          <p:nvPr/>
        </p:nvPicPr>
        <p:blipFill>
          <a:blip r:embed="rId3"/>
          <a:stretch>
            <a:fillRect/>
          </a:stretch>
        </p:blipFill>
        <p:spPr>
          <a:xfrm>
            <a:off x="2441089" y="1559391"/>
            <a:ext cx="4088319" cy="804036"/>
          </a:xfrm>
          <a:prstGeom prst="rect">
            <a:avLst/>
          </a:prstGeom>
        </p:spPr>
      </p:pic>
      <p:pic>
        <p:nvPicPr>
          <p:cNvPr id="7" name="Picture 6">
            <a:extLst>
              <a:ext uri="{FF2B5EF4-FFF2-40B4-BE49-F238E27FC236}">
                <a16:creationId xmlns:a16="http://schemas.microsoft.com/office/drawing/2014/main" id="{0397DF12-1105-4C32-B49B-2E6289808B30}"/>
              </a:ext>
            </a:extLst>
          </p:cNvPr>
          <p:cNvPicPr>
            <a:picLocks noChangeAspect="1"/>
          </p:cNvPicPr>
          <p:nvPr/>
        </p:nvPicPr>
        <p:blipFill>
          <a:blip r:embed="rId4"/>
          <a:stretch>
            <a:fillRect/>
          </a:stretch>
        </p:blipFill>
        <p:spPr>
          <a:xfrm>
            <a:off x="7007982" y="1523158"/>
            <a:ext cx="3015762" cy="763993"/>
          </a:xfrm>
          <a:prstGeom prst="rect">
            <a:avLst/>
          </a:prstGeom>
        </p:spPr>
      </p:pic>
      <p:pic>
        <p:nvPicPr>
          <p:cNvPr id="8" name="Picture 7">
            <a:extLst>
              <a:ext uri="{FF2B5EF4-FFF2-40B4-BE49-F238E27FC236}">
                <a16:creationId xmlns:a16="http://schemas.microsoft.com/office/drawing/2014/main" id="{6250CE70-116A-4B2C-B556-B3899B02C438}"/>
              </a:ext>
            </a:extLst>
          </p:cNvPr>
          <p:cNvPicPr>
            <a:picLocks noChangeAspect="1"/>
          </p:cNvPicPr>
          <p:nvPr/>
        </p:nvPicPr>
        <p:blipFill>
          <a:blip r:embed="rId5"/>
          <a:stretch>
            <a:fillRect/>
          </a:stretch>
        </p:blipFill>
        <p:spPr>
          <a:xfrm>
            <a:off x="2836629" y="2363427"/>
            <a:ext cx="3932066" cy="804036"/>
          </a:xfrm>
          <a:prstGeom prst="rect">
            <a:avLst/>
          </a:prstGeom>
        </p:spPr>
      </p:pic>
    </p:spTree>
    <p:extLst>
      <p:ext uri="{BB962C8B-B14F-4D97-AF65-F5344CB8AC3E}">
        <p14:creationId xmlns:p14="http://schemas.microsoft.com/office/powerpoint/2010/main" val="196034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5011949"/>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 DAC converts an n-bit binary number into a proportional analog voltage or current using a reference voltage. </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The binary input D is made of bits b1	​ (MSB) to bn	​ (LSB), each having decreasing weights 2</a:t>
            </a:r>
            <a:r>
              <a:rPr lang="en-US" sz="2400" baseline="300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−1</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,2</a:t>
            </a:r>
            <a:r>
              <a:rPr lang="en-US" sz="2400" baseline="300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−2</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,…,2</a:t>
            </a:r>
            <a:r>
              <a:rPr lang="en-US" sz="2400" baseline="300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−n</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50000"/>
              </a:lnSpc>
              <a:buFont typeface="Symbol" panose="05050102010706020507" pitchFamily="18" charset="2"/>
              <a:buChar char=""/>
            </a:pPr>
            <a:endParaRPr lang="en-US" sz="24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24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Each bit carries either 0 or 1. Adding together you can get binary fractional number.</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For example: 101=1⋅2</a:t>
            </a:r>
            <a:r>
              <a:rPr lang="en-US" sz="2400" baseline="300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−1</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+0⋅2</a:t>
            </a:r>
            <a:r>
              <a:rPr lang="en-US" sz="2400" baseline="300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−2</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+1⋅2</a:t>
            </a:r>
            <a:r>
              <a:rPr lang="en-US" sz="2400" baseline="300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−3</a:t>
            </a: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=(1/2)+0+(1/8)​=0.625</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DAC converts this fractional number D into a scaled analog value using a reference voltage VR (VFS)​:</a:t>
            </a: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194E18A-105D-49E8-8BB8-F9F1CC982FEA}"/>
              </a:ext>
            </a:extLst>
          </p:cNvPr>
          <p:cNvPicPr>
            <a:picLocks noChangeAspect="1"/>
          </p:cNvPicPr>
          <p:nvPr/>
        </p:nvPicPr>
        <p:blipFill>
          <a:blip r:embed="rId3"/>
          <a:stretch>
            <a:fillRect/>
          </a:stretch>
        </p:blipFill>
        <p:spPr>
          <a:xfrm>
            <a:off x="3359690" y="2953263"/>
            <a:ext cx="6217390" cy="475737"/>
          </a:xfrm>
          <a:prstGeom prst="rect">
            <a:avLst/>
          </a:prstGeom>
        </p:spPr>
      </p:pic>
      <p:pic>
        <p:nvPicPr>
          <p:cNvPr id="5" name="Picture 4">
            <a:extLst>
              <a:ext uri="{FF2B5EF4-FFF2-40B4-BE49-F238E27FC236}">
                <a16:creationId xmlns:a16="http://schemas.microsoft.com/office/drawing/2014/main" id="{82E39529-C66E-490F-ADD2-90F480748930}"/>
              </a:ext>
            </a:extLst>
          </p:cNvPr>
          <p:cNvPicPr>
            <a:picLocks noChangeAspect="1"/>
          </p:cNvPicPr>
          <p:nvPr/>
        </p:nvPicPr>
        <p:blipFill>
          <a:blip r:embed="rId4"/>
          <a:stretch>
            <a:fillRect/>
          </a:stretch>
        </p:blipFill>
        <p:spPr>
          <a:xfrm>
            <a:off x="3045928" y="5724426"/>
            <a:ext cx="6010531" cy="475737"/>
          </a:xfrm>
          <a:prstGeom prst="rect">
            <a:avLst/>
          </a:prstGeom>
        </p:spPr>
      </p:pic>
    </p:spTree>
    <p:extLst>
      <p:ext uri="{BB962C8B-B14F-4D97-AF65-F5344CB8AC3E}">
        <p14:creationId xmlns:p14="http://schemas.microsoft.com/office/powerpoint/2010/main" val="2186866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2241960"/>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The MSB contributes the largest portion (VFS/2), while the LSB contributes the smallest (VFS​/2</a:t>
            </a:r>
            <a:r>
              <a:rPr lang="en-US" sz="2400" baseline="30000">
                <a:solidFill>
                  <a:srgbClr val="0070C0"/>
                </a:solidFill>
                <a:latin typeface="Times New Roman" panose="02020603050405020304" pitchFamily="18" charset="0"/>
                <a:ea typeface="Calibri" panose="020F0502020204030204" pitchFamily="34" charset="0"/>
                <a:cs typeface="Times New Roman" panose="02020603050405020304" pitchFamily="18" charset="0"/>
              </a:rPr>
              <a:t>n</a:t>
            </a:r>
            <a:r>
              <a:rPr lang="en-US" sz="240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t>
            </a:r>
          </a:p>
          <a:p>
            <a:pPr marL="342900" lvl="0" indent="-342900" algn="just">
              <a:lnSpc>
                <a:spcPct val="150000"/>
              </a:lnSpc>
              <a:buFont typeface="Symbol" panose="05050102010706020507" pitchFamily="18" charset="2"/>
              <a:buChar char=""/>
            </a:pPr>
            <a:r>
              <a:rPr lang="en-US" sz="240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The output voltage is the sum of all bit contributions, scaled by a factor K (usually 1).</a:t>
            </a:r>
          </a:p>
          <a:p>
            <a:pPr marL="342900" lvl="0" indent="-342900" algn="just">
              <a:lnSpc>
                <a:spcPct val="150000"/>
              </a:lnSpc>
              <a:buFont typeface="Symbol" panose="05050102010706020507" pitchFamily="18" charset="2"/>
              <a:buChar char=""/>
            </a:pPr>
            <a:r>
              <a:rPr lang="en-US" sz="240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So, the analog output is directly proportional to the digital input value.</a:t>
            </a: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A0F3086-6E73-4020-8A26-0603E86F456C}"/>
              </a:ext>
            </a:extLst>
          </p:cNvPr>
          <p:cNvPicPr>
            <a:picLocks noChangeAspect="1"/>
          </p:cNvPicPr>
          <p:nvPr/>
        </p:nvPicPr>
        <p:blipFill>
          <a:blip r:embed="rId3"/>
          <a:stretch>
            <a:fillRect/>
          </a:stretch>
        </p:blipFill>
        <p:spPr>
          <a:xfrm>
            <a:off x="2483648" y="3357596"/>
            <a:ext cx="6714818" cy="3188977"/>
          </a:xfrm>
          <a:prstGeom prst="rect">
            <a:avLst/>
          </a:prstGeom>
        </p:spPr>
      </p:pic>
    </p:spTree>
    <p:extLst>
      <p:ext uri="{BB962C8B-B14F-4D97-AF65-F5344CB8AC3E}">
        <p14:creationId xmlns:p14="http://schemas.microsoft.com/office/powerpoint/2010/main" val="4126267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DC62D615-00BD-732C-A8A3-8D36ECE2402D}"/>
              </a:ext>
            </a:extLst>
          </p:cNvPr>
          <p:cNvSpPr txBox="1"/>
          <p:nvPr/>
        </p:nvSpPr>
        <p:spPr>
          <a:xfrm>
            <a:off x="312710" y="129744"/>
            <a:ext cx="11446444" cy="5565947"/>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For a full scale output voltage of 8 V find the analog output voltage of the binary data 101. Assume scaling factor of 1.</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For a full scale output voltage of 16 V find the analog output voltage of the binary data 1101.</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514BC882-8566-4C28-84E3-72D6554926EA}"/>
              </a:ext>
            </a:extLst>
          </p:cNvPr>
          <p:cNvPicPr>
            <a:picLocks noChangeAspect="1"/>
          </p:cNvPicPr>
          <p:nvPr/>
        </p:nvPicPr>
        <p:blipFill>
          <a:blip r:embed="rId3"/>
          <a:stretch>
            <a:fillRect/>
          </a:stretch>
        </p:blipFill>
        <p:spPr>
          <a:xfrm>
            <a:off x="3118475" y="1269145"/>
            <a:ext cx="6480561" cy="2515064"/>
          </a:xfrm>
          <a:prstGeom prst="rect">
            <a:avLst/>
          </a:prstGeom>
        </p:spPr>
      </p:pic>
      <p:pic>
        <p:nvPicPr>
          <p:cNvPr id="5" name="Picture 4">
            <a:extLst>
              <a:ext uri="{FF2B5EF4-FFF2-40B4-BE49-F238E27FC236}">
                <a16:creationId xmlns:a16="http://schemas.microsoft.com/office/drawing/2014/main" id="{B4F0990C-83E4-4E24-8B8E-024C3ED350D3}"/>
              </a:ext>
            </a:extLst>
          </p:cNvPr>
          <p:cNvPicPr>
            <a:picLocks noChangeAspect="1"/>
          </p:cNvPicPr>
          <p:nvPr/>
        </p:nvPicPr>
        <p:blipFill>
          <a:blip r:embed="rId4"/>
          <a:stretch>
            <a:fillRect/>
          </a:stretch>
        </p:blipFill>
        <p:spPr>
          <a:xfrm>
            <a:off x="3520304" y="4779645"/>
            <a:ext cx="3889429" cy="809210"/>
          </a:xfrm>
          <a:prstGeom prst="rect">
            <a:avLst/>
          </a:prstGeom>
        </p:spPr>
      </p:pic>
      <p:pic>
        <p:nvPicPr>
          <p:cNvPr id="7" name="Picture 6">
            <a:extLst>
              <a:ext uri="{FF2B5EF4-FFF2-40B4-BE49-F238E27FC236}">
                <a16:creationId xmlns:a16="http://schemas.microsoft.com/office/drawing/2014/main" id="{C8167CA3-3249-4D49-A9A0-7DAE5A7B7590}"/>
              </a:ext>
            </a:extLst>
          </p:cNvPr>
          <p:cNvPicPr>
            <a:picLocks noChangeAspect="1"/>
          </p:cNvPicPr>
          <p:nvPr/>
        </p:nvPicPr>
        <p:blipFill>
          <a:blip r:embed="rId5"/>
          <a:stretch>
            <a:fillRect/>
          </a:stretch>
        </p:blipFill>
        <p:spPr>
          <a:xfrm>
            <a:off x="3673499" y="5736209"/>
            <a:ext cx="3274252" cy="453576"/>
          </a:xfrm>
          <a:prstGeom prst="rect">
            <a:avLst/>
          </a:prstGeom>
        </p:spPr>
      </p:pic>
    </p:spTree>
    <p:extLst>
      <p:ext uri="{BB962C8B-B14F-4D97-AF65-F5344CB8AC3E}">
        <p14:creationId xmlns:p14="http://schemas.microsoft.com/office/powerpoint/2010/main" val="334232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Weighted resistor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6119945"/>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 binary-weighted resistor DAC is one of the simplest ways to convert digital data into an analog signal.</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It converts each bit of a digital input into a proportional analog contribution, and then adds all contributions together to form the final output.</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Instead of doing digital multiplication, the circuit uses resistors since I=V/R</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The circuit assigns different resistor values to different bits so that each bit creates a different current contribution.</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LSB gets the largest resistor. Each more significant bit gets half the resistor. therefore, each more significant bit contributes twice the effect of the next lower bit.</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1414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err="1">
                <a:solidFill>
                  <a:srgbClr val="0070C0"/>
                </a:solidFill>
                <a:latin typeface="Times New Roman" panose="02020603050405020304" pitchFamily="18" charset="0"/>
                <a:cs typeface="Times New Roman" panose="02020603050405020304" pitchFamily="18" charset="0"/>
              </a:rPr>
              <a:t>Weihted</a:t>
            </a:r>
            <a:r>
              <a:rPr lang="en-US" sz="3200" b="1" dirty="0">
                <a:solidFill>
                  <a:srgbClr val="0070C0"/>
                </a:solidFill>
                <a:latin typeface="Times New Roman" panose="02020603050405020304" pitchFamily="18" charset="0"/>
                <a:cs typeface="Times New Roman" panose="02020603050405020304" pitchFamily="18" charset="0"/>
              </a:rPr>
              <a:t> resistor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5565947"/>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Each bit controls a switch. The switch has two positions: If the bit is 1, it connects to the reference voltage −VR else it connects to ground. </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So each bit either contributes a weighted current from the reference, or no contribution at all.</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The Op-amp is used as the summing amplifier. The currents are all added at the inverting terminal of Op-amp.</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The Op-amp converts this </a:t>
            </a:r>
          </a:p>
          <a:p>
            <a:pPr lvl="0" algn="just">
              <a:lnSpc>
                <a:spcPct val="150000"/>
              </a:lnSpc>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Current into voltage as the </a:t>
            </a:r>
          </a:p>
          <a:p>
            <a:pPr lvl="0" algn="just">
              <a:lnSpc>
                <a:spcPct val="150000"/>
              </a:lnSpc>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Drop across the resistor Rf.</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54E0752-5BBF-46AC-9534-CD881DA23AFE}"/>
              </a:ext>
            </a:extLst>
          </p:cNvPr>
          <p:cNvPicPr>
            <a:picLocks noChangeAspect="1"/>
          </p:cNvPicPr>
          <p:nvPr/>
        </p:nvPicPr>
        <p:blipFill>
          <a:blip r:embed="rId3"/>
          <a:stretch>
            <a:fillRect/>
          </a:stretch>
        </p:blipFill>
        <p:spPr>
          <a:xfrm>
            <a:off x="4230715" y="3508806"/>
            <a:ext cx="7648575" cy="3219450"/>
          </a:xfrm>
          <a:prstGeom prst="rect">
            <a:avLst/>
          </a:prstGeom>
        </p:spPr>
      </p:pic>
    </p:spTree>
    <p:extLst>
      <p:ext uri="{BB962C8B-B14F-4D97-AF65-F5344CB8AC3E}">
        <p14:creationId xmlns:p14="http://schemas.microsoft.com/office/powerpoint/2010/main" val="1284885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err="1">
                <a:solidFill>
                  <a:srgbClr val="0070C0"/>
                </a:solidFill>
                <a:latin typeface="Times New Roman" panose="02020603050405020304" pitchFamily="18" charset="0"/>
                <a:cs typeface="Times New Roman" panose="02020603050405020304" pitchFamily="18" charset="0"/>
              </a:rPr>
              <a:t>Weihted</a:t>
            </a:r>
            <a:r>
              <a:rPr lang="en-US" sz="3200" b="1" dirty="0">
                <a:solidFill>
                  <a:srgbClr val="0070C0"/>
                </a:solidFill>
                <a:latin typeface="Times New Roman" panose="02020603050405020304" pitchFamily="18" charset="0"/>
                <a:cs typeface="Times New Roman" panose="02020603050405020304" pitchFamily="18" charset="0"/>
              </a:rPr>
              <a:t> resistor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2795958"/>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Considering an ideal Op-amp the current I0 is given as: </a:t>
            </a: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54E0752-5BBF-46AC-9534-CD881DA23AFE}"/>
              </a:ext>
            </a:extLst>
          </p:cNvPr>
          <p:cNvPicPr>
            <a:picLocks noChangeAspect="1"/>
          </p:cNvPicPr>
          <p:nvPr/>
        </p:nvPicPr>
        <p:blipFill>
          <a:blip r:embed="rId3"/>
          <a:stretch>
            <a:fillRect/>
          </a:stretch>
        </p:blipFill>
        <p:spPr>
          <a:xfrm>
            <a:off x="6096000" y="946988"/>
            <a:ext cx="5417539" cy="2280359"/>
          </a:xfrm>
          <a:prstGeom prst="rect">
            <a:avLst/>
          </a:prstGeom>
        </p:spPr>
      </p:pic>
      <p:pic>
        <p:nvPicPr>
          <p:cNvPr id="5" name="Picture 4">
            <a:extLst>
              <a:ext uri="{FF2B5EF4-FFF2-40B4-BE49-F238E27FC236}">
                <a16:creationId xmlns:a16="http://schemas.microsoft.com/office/drawing/2014/main" id="{290D286A-A6E0-4B1C-AEDB-383BBE266517}"/>
              </a:ext>
            </a:extLst>
          </p:cNvPr>
          <p:cNvPicPr>
            <a:picLocks noChangeAspect="1"/>
          </p:cNvPicPr>
          <p:nvPr/>
        </p:nvPicPr>
        <p:blipFill>
          <a:blip r:embed="rId4"/>
          <a:stretch>
            <a:fillRect/>
          </a:stretch>
        </p:blipFill>
        <p:spPr>
          <a:xfrm>
            <a:off x="830290" y="1085286"/>
            <a:ext cx="3945835" cy="1657914"/>
          </a:xfrm>
          <a:prstGeom prst="rect">
            <a:avLst/>
          </a:prstGeom>
        </p:spPr>
      </p:pic>
      <p:pic>
        <p:nvPicPr>
          <p:cNvPr id="6" name="Picture 5">
            <a:extLst>
              <a:ext uri="{FF2B5EF4-FFF2-40B4-BE49-F238E27FC236}">
                <a16:creationId xmlns:a16="http://schemas.microsoft.com/office/drawing/2014/main" id="{3CE59017-CBE3-4DFC-BB77-5B1B21657EE0}"/>
              </a:ext>
            </a:extLst>
          </p:cNvPr>
          <p:cNvPicPr>
            <a:picLocks noChangeAspect="1"/>
          </p:cNvPicPr>
          <p:nvPr/>
        </p:nvPicPr>
        <p:blipFill>
          <a:blip r:embed="rId5"/>
          <a:stretch>
            <a:fillRect/>
          </a:stretch>
        </p:blipFill>
        <p:spPr>
          <a:xfrm>
            <a:off x="1586717" y="3591260"/>
            <a:ext cx="4774633" cy="2319751"/>
          </a:xfrm>
          <a:prstGeom prst="rect">
            <a:avLst/>
          </a:prstGeom>
        </p:spPr>
      </p:pic>
      <p:pic>
        <p:nvPicPr>
          <p:cNvPr id="7" name="Picture 6">
            <a:extLst>
              <a:ext uri="{FF2B5EF4-FFF2-40B4-BE49-F238E27FC236}">
                <a16:creationId xmlns:a16="http://schemas.microsoft.com/office/drawing/2014/main" id="{A1AC23E2-64B0-4A0B-8DDE-8D4D6517BB5F}"/>
              </a:ext>
            </a:extLst>
          </p:cNvPr>
          <p:cNvPicPr>
            <a:picLocks noChangeAspect="1"/>
          </p:cNvPicPr>
          <p:nvPr/>
        </p:nvPicPr>
        <p:blipFill>
          <a:blip r:embed="rId6"/>
          <a:stretch>
            <a:fillRect/>
          </a:stretch>
        </p:blipFill>
        <p:spPr>
          <a:xfrm>
            <a:off x="1798279" y="5898310"/>
            <a:ext cx="5251156" cy="705689"/>
          </a:xfrm>
          <a:prstGeom prst="rect">
            <a:avLst/>
          </a:prstGeom>
        </p:spPr>
      </p:pic>
      <p:pic>
        <p:nvPicPr>
          <p:cNvPr id="8" name="Picture 7">
            <a:extLst>
              <a:ext uri="{FF2B5EF4-FFF2-40B4-BE49-F238E27FC236}">
                <a16:creationId xmlns:a16="http://schemas.microsoft.com/office/drawing/2014/main" id="{23A39512-6FD6-49B1-90B4-04B230457FDA}"/>
              </a:ext>
            </a:extLst>
          </p:cNvPr>
          <p:cNvPicPr>
            <a:picLocks noChangeAspect="1"/>
          </p:cNvPicPr>
          <p:nvPr/>
        </p:nvPicPr>
        <p:blipFill>
          <a:blip r:embed="rId7"/>
          <a:stretch>
            <a:fillRect/>
          </a:stretch>
        </p:blipFill>
        <p:spPr>
          <a:xfrm>
            <a:off x="7920111" y="3351270"/>
            <a:ext cx="4118091" cy="3546134"/>
          </a:xfrm>
          <a:prstGeom prst="rect">
            <a:avLst/>
          </a:prstGeom>
        </p:spPr>
      </p:pic>
    </p:spTree>
    <p:extLst>
      <p:ext uri="{BB962C8B-B14F-4D97-AF65-F5344CB8AC3E}">
        <p14:creationId xmlns:p14="http://schemas.microsoft.com/office/powerpoint/2010/main" val="1618645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Drawbacks of </a:t>
            </a:r>
            <a:r>
              <a:rPr lang="en-US" sz="3200" b="1" dirty="0">
                <a:solidFill>
                  <a:srgbClr val="0070C0"/>
                </a:solidFill>
                <a:latin typeface="Times New Roman" panose="02020603050405020304" pitchFamily="18" charset="0"/>
                <a:cs typeface="Times New Roman" panose="02020603050405020304" pitchFamily="18" charset="0"/>
              </a:rPr>
              <a:t>Weighted resistor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3903954"/>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Binary weighted DAC needs a wide range of resistor values; as bit count increases, resistor ratios become very large (e.g., 128:1 for 8-bit).</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Such large resistors are hard to fabricate accurately and cause errors due to bias currents, reducing accuracy.</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Because of this, weighted DACs are usually limited to low resolutions (below 8-bit).</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R-2R ladder DAC avoids this by using only two resistor values, making it more practical and accurate.</a:t>
            </a: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918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R-2R Ladder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3903954"/>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Simple two values of resistances are used as a ladder network.</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The resistance remains same no matter how many bit system is designed.</a:t>
            </a:r>
          </a:p>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Simpler to fabricate as the range of resistances is tremendously reduced for higher order bits.</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E812D1A2-068E-4DAD-B399-E8F7FEA7955C}"/>
              </a:ext>
            </a:extLst>
          </p:cNvPr>
          <p:cNvPicPr>
            <a:picLocks noChangeAspect="1"/>
          </p:cNvPicPr>
          <p:nvPr/>
        </p:nvPicPr>
        <p:blipFill>
          <a:blip r:embed="rId3"/>
          <a:stretch>
            <a:fillRect/>
          </a:stretch>
        </p:blipFill>
        <p:spPr>
          <a:xfrm>
            <a:off x="6454433" y="3429000"/>
            <a:ext cx="5657850" cy="3209925"/>
          </a:xfrm>
          <a:prstGeom prst="rect">
            <a:avLst/>
          </a:prstGeom>
        </p:spPr>
      </p:pic>
      <p:pic>
        <p:nvPicPr>
          <p:cNvPr id="5" name="Picture 4">
            <a:extLst>
              <a:ext uri="{FF2B5EF4-FFF2-40B4-BE49-F238E27FC236}">
                <a16:creationId xmlns:a16="http://schemas.microsoft.com/office/drawing/2014/main" id="{8FF086B7-A6E7-4412-9AF4-763DE0369880}"/>
              </a:ext>
            </a:extLst>
          </p:cNvPr>
          <p:cNvPicPr>
            <a:picLocks noChangeAspect="1"/>
          </p:cNvPicPr>
          <p:nvPr/>
        </p:nvPicPr>
        <p:blipFill rotWithShape="1">
          <a:blip r:embed="rId4"/>
          <a:srcRect r="50583"/>
          <a:stretch/>
        </p:blipFill>
        <p:spPr>
          <a:xfrm>
            <a:off x="741914" y="3942684"/>
            <a:ext cx="4702283" cy="923925"/>
          </a:xfrm>
          <a:prstGeom prst="rect">
            <a:avLst/>
          </a:prstGeom>
        </p:spPr>
      </p:pic>
      <p:pic>
        <p:nvPicPr>
          <p:cNvPr id="8" name="Picture 7">
            <a:extLst>
              <a:ext uri="{FF2B5EF4-FFF2-40B4-BE49-F238E27FC236}">
                <a16:creationId xmlns:a16="http://schemas.microsoft.com/office/drawing/2014/main" id="{ECF7AF59-9FD6-4E7A-9653-F9F3D146521A}"/>
              </a:ext>
            </a:extLst>
          </p:cNvPr>
          <p:cNvPicPr>
            <a:picLocks noChangeAspect="1"/>
          </p:cNvPicPr>
          <p:nvPr/>
        </p:nvPicPr>
        <p:blipFill rotWithShape="1">
          <a:blip r:embed="rId4"/>
          <a:srcRect l="51982"/>
          <a:stretch/>
        </p:blipFill>
        <p:spPr>
          <a:xfrm>
            <a:off x="741914" y="5033962"/>
            <a:ext cx="4569119" cy="923925"/>
          </a:xfrm>
          <a:prstGeom prst="rect">
            <a:avLst/>
          </a:prstGeom>
        </p:spPr>
      </p:pic>
    </p:spTree>
    <p:extLst>
      <p:ext uri="{BB962C8B-B14F-4D97-AF65-F5344CB8AC3E}">
        <p14:creationId xmlns:p14="http://schemas.microsoft.com/office/powerpoint/2010/main" val="1498667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R-2R Ladder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2241960"/>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Simple two values of resistances are used as a ladder network.</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442E71C6-B71B-4846-9EB3-21DBE59A5B1A}"/>
              </a:ext>
            </a:extLst>
          </p:cNvPr>
          <p:cNvPicPr>
            <a:picLocks noChangeAspect="1"/>
          </p:cNvPicPr>
          <p:nvPr/>
        </p:nvPicPr>
        <p:blipFill>
          <a:blip r:embed="rId3"/>
          <a:stretch>
            <a:fillRect/>
          </a:stretch>
        </p:blipFill>
        <p:spPr>
          <a:xfrm>
            <a:off x="247715" y="1343286"/>
            <a:ext cx="8835115" cy="2477452"/>
          </a:xfrm>
          <a:prstGeom prst="rect">
            <a:avLst/>
          </a:prstGeom>
        </p:spPr>
      </p:pic>
      <p:pic>
        <p:nvPicPr>
          <p:cNvPr id="18" name="Picture 17">
            <a:extLst>
              <a:ext uri="{FF2B5EF4-FFF2-40B4-BE49-F238E27FC236}">
                <a16:creationId xmlns:a16="http://schemas.microsoft.com/office/drawing/2014/main" id="{89BA2670-3C0B-47E5-9F93-3756AB93EF89}"/>
              </a:ext>
            </a:extLst>
          </p:cNvPr>
          <p:cNvPicPr>
            <a:picLocks noChangeAspect="1"/>
          </p:cNvPicPr>
          <p:nvPr/>
        </p:nvPicPr>
        <p:blipFill>
          <a:blip r:embed="rId4"/>
          <a:stretch>
            <a:fillRect/>
          </a:stretch>
        </p:blipFill>
        <p:spPr>
          <a:xfrm>
            <a:off x="6856137" y="3820738"/>
            <a:ext cx="3877512" cy="3079922"/>
          </a:xfrm>
          <a:prstGeom prst="rect">
            <a:avLst/>
          </a:prstGeom>
        </p:spPr>
      </p:pic>
      <p:pic>
        <p:nvPicPr>
          <p:cNvPr id="19" name="Picture 18">
            <a:extLst>
              <a:ext uri="{FF2B5EF4-FFF2-40B4-BE49-F238E27FC236}">
                <a16:creationId xmlns:a16="http://schemas.microsoft.com/office/drawing/2014/main" id="{010A1F8C-F963-484B-A178-E4D4061B5610}"/>
              </a:ext>
            </a:extLst>
          </p:cNvPr>
          <p:cNvPicPr>
            <a:picLocks noChangeAspect="1"/>
          </p:cNvPicPr>
          <p:nvPr/>
        </p:nvPicPr>
        <p:blipFill>
          <a:blip r:embed="rId5"/>
          <a:stretch>
            <a:fillRect/>
          </a:stretch>
        </p:blipFill>
        <p:spPr>
          <a:xfrm>
            <a:off x="615244" y="3955872"/>
            <a:ext cx="4412220" cy="2772384"/>
          </a:xfrm>
          <a:prstGeom prst="rect">
            <a:avLst/>
          </a:prstGeom>
        </p:spPr>
      </p:pic>
    </p:spTree>
    <p:extLst>
      <p:ext uri="{BB962C8B-B14F-4D97-AF65-F5344CB8AC3E}">
        <p14:creationId xmlns:p14="http://schemas.microsoft.com/office/powerpoint/2010/main" val="2160102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R-2R Ladder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2241960"/>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Simple two values of resistances are used as a ladder network.</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B87539A-E900-496F-ACC8-0A6353A77D3A}"/>
              </a:ext>
            </a:extLst>
          </p:cNvPr>
          <p:cNvPicPr>
            <a:picLocks noChangeAspect="1"/>
          </p:cNvPicPr>
          <p:nvPr/>
        </p:nvPicPr>
        <p:blipFill>
          <a:blip r:embed="rId3"/>
          <a:stretch>
            <a:fillRect/>
          </a:stretch>
        </p:blipFill>
        <p:spPr>
          <a:xfrm>
            <a:off x="62584" y="1405028"/>
            <a:ext cx="8724229" cy="2688669"/>
          </a:xfrm>
          <a:prstGeom prst="rect">
            <a:avLst/>
          </a:prstGeom>
        </p:spPr>
      </p:pic>
      <p:pic>
        <p:nvPicPr>
          <p:cNvPr id="5" name="Picture 4">
            <a:extLst>
              <a:ext uri="{FF2B5EF4-FFF2-40B4-BE49-F238E27FC236}">
                <a16:creationId xmlns:a16="http://schemas.microsoft.com/office/drawing/2014/main" id="{9E062686-B416-4141-B619-804D232EE2F9}"/>
              </a:ext>
            </a:extLst>
          </p:cNvPr>
          <p:cNvPicPr>
            <a:picLocks noChangeAspect="1"/>
          </p:cNvPicPr>
          <p:nvPr/>
        </p:nvPicPr>
        <p:blipFill>
          <a:blip r:embed="rId4"/>
          <a:stretch>
            <a:fillRect/>
          </a:stretch>
        </p:blipFill>
        <p:spPr>
          <a:xfrm>
            <a:off x="62584" y="4093697"/>
            <a:ext cx="4226506" cy="2634559"/>
          </a:xfrm>
          <a:prstGeom prst="rect">
            <a:avLst/>
          </a:prstGeom>
        </p:spPr>
      </p:pic>
      <p:pic>
        <p:nvPicPr>
          <p:cNvPr id="6" name="Picture 5">
            <a:extLst>
              <a:ext uri="{FF2B5EF4-FFF2-40B4-BE49-F238E27FC236}">
                <a16:creationId xmlns:a16="http://schemas.microsoft.com/office/drawing/2014/main" id="{CBC6AFCE-A518-4D07-B11A-5D7CA92D2AE1}"/>
              </a:ext>
            </a:extLst>
          </p:cNvPr>
          <p:cNvPicPr>
            <a:picLocks noChangeAspect="1"/>
          </p:cNvPicPr>
          <p:nvPr/>
        </p:nvPicPr>
        <p:blipFill>
          <a:blip r:embed="rId5"/>
          <a:stretch>
            <a:fillRect/>
          </a:stretch>
        </p:blipFill>
        <p:spPr>
          <a:xfrm>
            <a:off x="7211915" y="3783711"/>
            <a:ext cx="4056307" cy="3074120"/>
          </a:xfrm>
          <a:prstGeom prst="rect">
            <a:avLst/>
          </a:prstGeom>
        </p:spPr>
      </p:pic>
    </p:spTree>
    <p:extLst>
      <p:ext uri="{BB962C8B-B14F-4D97-AF65-F5344CB8AC3E}">
        <p14:creationId xmlns:p14="http://schemas.microsoft.com/office/powerpoint/2010/main" val="1605619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R-2R Ladder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2241960"/>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Simple two values of resistances are used as a ladder network.</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8523D69-501F-4D3A-9DC2-16CED0583EF1}"/>
              </a:ext>
            </a:extLst>
          </p:cNvPr>
          <p:cNvPicPr>
            <a:picLocks noChangeAspect="1"/>
          </p:cNvPicPr>
          <p:nvPr/>
        </p:nvPicPr>
        <p:blipFill>
          <a:blip r:embed="rId3"/>
          <a:stretch>
            <a:fillRect/>
          </a:stretch>
        </p:blipFill>
        <p:spPr>
          <a:xfrm>
            <a:off x="346189" y="1588370"/>
            <a:ext cx="8087163" cy="2774901"/>
          </a:xfrm>
          <a:prstGeom prst="rect">
            <a:avLst/>
          </a:prstGeom>
        </p:spPr>
      </p:pic>
      <p:pic>
        <p:nvPicPr>
          <p:cNvPr id="12" name="Picture 11">
            <a:extLst>
              <a:ext uri="{FF2B5EF4-FFF2-40B4-BE49-F238E27FC236}">
                <a16:creationId xmlns:a16="http://schemas.microsoft.com/office/drawing/2014/main" id="{B6D5332C-7DDD-4BC1-B369-F4D2CA178A4A}"/>
              </a:ext>
            </a:extLst>
          </p:cNvPr>
          <p:cNvPicPr>
            <a:picLocks noChangeAspect="1"/>
          </p:cNvPicPr>
          <p:nvPr/>
        </p:nvPicPr>
        <p:blipFill>
          <a:blip r:embed="rId4"/>
          <a:stretch>
            <a:fillRect/>
          </a:stretch>
        </p:blipFill>
        <p:spPr>
          <a:xfrm>
            <a:off x="346189" y="4363271"/>
            <a:ext cx="3723809" cy="2333333"/>
          </a:xfrm>
          <a:prstGeom prst="rect">
            <a:avLst/>
          </a:prstGeom>
        </p:spPr>
      </p:pic>
      <p:pic>
        <p:nvPicPr>
          <p:cNvPr id="14" name="Picture 13">
            <a:extLst>
              <a:ext uri="{FF2B5EF4-FFF2-40B4-BE49-F238E27FC236}">
                <a16:creationId xmlns:a16="http://schemas.microsoft.com/office/drawing/2014/main" id="{9346CE3E-5345-42B2-89CB-2D69EAC10C0D}"/>
              </a:ext>
            </a:extLst>
          </p:cNvPr>
          <p:cNvPicPr>
            <a:picLocks noChangeAspect="1"/>
          </p:cNvPicPr>
          <p:nvPr/>
        </p:nvPicPr>
        <p:blipFill>
          <a:blip r:embed="rId5"/>
          <a:stretch>
            <a:fillRect/>
          </a:stretch>
        </p:blipFill>
        <p:spPr>
          <a:xfrm>
            <a:off x="8068596" y="3590396"/>
            <a:ext cx="4123404" cy="3267604"/>
          </a:xfrm>
          <a:prstGeom prst="rect">
            <a:avLst/>
          </a:prstGeom>
        </p:spPr>
      </p:pic>
    </p:spTree>
    <p:extLst>
      <p:ext uri="{BB962C8B-B14F-4D97-AF65-F5344CB8AC3E}">
        <p14:creationId xmlns:p14="http://schemas.microsoft.com/office/powerpoint/2010/main" val="128363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R-2R Ladder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2241960"/>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Simple two values of resistances are used as a ladder network.</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6837E69-0349-4743-BF84-12156DE8FE37}"/>
              </a:ext>
            </a:extLst>
          </p:cNvPr>
          <p:cNvPicPr>
            <a:picLocks noChangeAspect="1"/>
          </p:cNvPicPr>
          <p:nvPr/>
        </p:nvPicPr>
        <p:blipFill>
          <a:blip r:embed="rId3"/>
          <a:stretch>
            <a:fillRect/>
          </a:stretch>
        </p:blipFill>
        <p:spPr>
          <a:xfrm>
            <a:off x="497841" y="1460862"/>
            <a:ext cx="5961042" cy="1296406"/>
          </a:xfrm>
          <a:prstGeom prst="rect">
            <a:avLst/>
          </a:prstGeom>
        </p:spPr>
      </p:pic>
      <p:pic>
        <p:nvPicPr>
          <p:cNvPr id="6" name="Picture 5">
            <a:extLst>
              <a:ext uri="{FF2B5EF4-FFF2-40B4-BE49-F238E27FC236}">
                <a16:creationId xmlns:a16="http://schemas.microsoft.com/office/drawing/2014/main" id="{D9B80594-2772-4BC0-9A50-89AC46B210E8}"/>
              </a:ext>
            </a:extLst>
          </p:cNvPr>
          <p:cNvPicPr>
            <a:picLocks noChangeAspect="1"/>
          </p:cNvPicPr>
          <p:nvPr/>
        </p:nvPicPr>
        <p:blipFill>
          <a:blip r:embed="rId4"/>
          <a:stretch>
            <a:fillRect/>
          </a:stretch>
        </p:blipFill>
        <p:spPr>
          <a:xfrm>
            <a:off x="713063" y="2642024"/>
            <a:ext cx="4895004" cy="1060797"/>
          </a:xfrm>
          <a:prstGeom prst="rect">
            <a:avLst/>
          </a:prstGeom>
        </p:spPr>
      </p:pic>
      <p:pic>
        <p:nvPicPr>
          <p:cNvPr id="7" name="Picture 6">
            <a:extLst>
              <a:ext uri="{FF2B5EF4-FFF2-40B4-BE49-F238E27FC236}">
                <a16:creationId xmlns:a16="http://schemas.microsoft.com/office/drawing/2014/main" id="{D8EAB520-1A95-486F-946C-9834932EC2CD}"/>
              </a:ext>
            </a:extLst>
          </p:cNvPr>
          <p:cNvPicPr>
            <a:picLocks noChangeAspect="1"/>
          </p:cNvPicPr>
          <p:nvPr/>
        </p:nvPicPr>
        <p:blipFill>
          <a:blip r:embed="rId5"/>
          <a:stretch>
            <a:fillRect/>
          </a:stretch>
        </p:blipFill>
        <p:spPr>
          <a:xfrm>
            <a:off x="750324" y="3985010"/>
            <a:ext cx="6600246" cy="783937"/>
          </a:xfrm>
          <a:prstGeom prst="rect">
            <a:avLst/>
          </a:prstGeom>
        </p:spPr>
      </p:pic>
    </p:spTree>
    <p:extLst>
      <p:ext uri="{BB962C8B-B14F-4D97-AF65-F5344CB8AC3E}">
        <p14:creationId xmlns:p14="http://schemas.microsoft.com/office/powerpoint/2010/main" val="730940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R-2R Ladder DAC</a:t>
            </a:r>
          </a:p>
        </p:txBody>
      </p:sp>
      <p:sp>
        <p:nvSpPr>
          <p:cNvPr id="11" name="TextBox 10">
            <a:extLst>
              <a:ext uri="{FF2B5EF4-FFF2-40B4-BE49-F238E27FC236}">
                <a16:creationId xmlns:a16="http://schemas.microsoft.com/office/drawing/2014/main" id="{DC62D615-00BD-732C-A8A3-8D36ECE2402D}"/>
              </a:ext>
            </a:extLst>
          </p:cNvPr>
          <p:cNvSpPr txBox="1"/>
          <p:nvPr/>
        </p:nvSpPr>
        <p:spPr>
          <a:xfrm>
            <a:off x="247715" y="795303"/>
            <a:ext cx="11446444" cy="2241960"/>
          </a:xfrm>
          <a:prstGeom prst="rect">
            <a:avLst/>
          </a:prstGeom>
          <a:noFill/>
        </p:spPr>
        <p:txBody>
          <a:bodyPr wrap="square">
            <a:spAutoFit/>
          </a:bodyPr>
          <a:lstStyle/>
          <a:p>
            <a:pPr marL="342900" lvl="0" indent="-342900" algn="just">
              <a:lnSpc>
                <a:spcPct val="150000"/>
              </a:lnSpc>
              <a:buFont typeface="Symbol" panose="05050102010706020507" pitchFamily="18" charset="2"/>
              <a:buChar char=""/>
            </a:pPr>
            <a:r>
              <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Simple two values of resistances are used as a ladder network.</a:t>
            </a: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endParaRPr lang="en-US"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AF127EB0-5DBA-4D5C-9607-429841EF2A8B}"/>
              </a:ext>
            </a:extLst>
          </p:cNvPr>
          <p:cNvPicPr>
            <a:picLocks noChangeAspect="1"/>
          </p:cNvPicPr>
          <p:nvPr/>
        </p:nvPicPr>
        <p:blipFill>
          <a:blip r:embed="rId3"/>
          <a:stretch>
            <a:fillRect/>
          </a:stretch>
        </p:blipFill>
        <p:spPr>
          <a:xfrm>
            <a:off x="237691" y="1521479"/>
            <a:ext cx="8659416" cy="2599947"/>
          </a:xfrm>
          <a:prstGeom prst="rect">
            <a:avLst/>
          </a:prstGeom>
        </p:spPr>
      </p:pic>
      <p:pic>
        <p:nvPicPr>
          <p:cNvPr id="5" name="Picture 4">
            <a:extLst>
              <a:ext uri="{FF2B5EF4-FFF2-40B4-BE49-F238E27FC236}">
                <a16:creationId xmlns:a16="http://schemas.microsoft.com/office/drawing/2014/main" id="{3F132199-579A-4DB5-BC6A-94DFF9DCAB44}"/>
              </a:ext>
            </a:extLst>
          </p:cNvPr>
          <p:cNvPicPr>
            <a:picLocks noChangeAspect="1"/>
          </p:cNvPicPr>
          <p:nvPr/>
        </p:nvPicPr>
        <p:blipFill>
          <a:blip r:embed="rId4"/>
          <a:stretch>
            <a:fillRect/>
          </a:stretch>
        </p:blipFill>
        <p:spPr>
          <a:xfrm>
            <a:off x="515548" y="4196625"/>
            <a:ext cx="3071714" cy="2531632"/>
          </a:xfrm>
          <a:prstGeom prst="rect">
            <a:avLst/>
          </a:prstGeom>
        </p:spPr>
      </p:pic>
      <p:pic>
        <p:nvPicPr>
          <p:cNvPr id="6" name="Picture 5">
            <a:extLst>
              <a:ext uri="{FF2B5EF4-FFF2-40B4-BE49-F238E27FC236}">
                <a16:creationId xmlns:a16="http://schemas.microsoft.com/office/drawing/2014/main" id="{9D66A0D1-04FA-4852-B7E4-005B7567D38A}"/>
              </a:ext>
            </a:extLst>
          </p:cNvPr>
          <p:cNvPicPr>
            <a:picLocks noChangeAspect="1"/>
          </p:cNvPicPr>
          <p:nvPr/>
        </p:nvPicPr>
        <p:blipFill>
          <a:blip r:embed="rId5"/>
          <a:stretch>
            <a:fillRect/>
          </a:stretch>
        </p:blipFill>
        <p:spPr>
          <a:xfrm>
            <a:off x="7562567" y="3717719"/>
            <a:ext cx="4113885" cy="3211152"/>
          </a:xfrm>
          <a:prstGeom prst="rect">
            <a:avLst/>
          </a:prstGeom>
        </p:spPr>
      </p:pic>
    </p:spTree>
    <p:extLst>
      <p:ext uri="{BB962C8B-B14F-4D97-AF65-F5344CB8AC3E}">
        <p14:creationId xmlns:p14="http://schemas.microsoft.com/office/powerpoint/2010/main" val="456897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4.3 WEIGHTED BINARY RESISTOR DAC Figure 4.3.1 Weighted Binary resistor DAC  Weighted Binary resistor DAC is shown in figure 4.3.1">
            <a:extLst>
              <a:ext uri="{FF2B5EF4-FFF2-40B4-BE49-F238E27FC236}">
                <a16:creationId xmlns:a16="http://schemas.microsoft.com/office/drawing/2014/main" id="{4275145B-E6EB-43E0-8DB8-EAF238DC4B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270" y="1027905"/>
            <a:ext cx="11158318" cy="4796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04623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a:t>
            </a:r>
            <a:r>
              <a:rPr lang="en-US" sz="3200" b="1" dirty="0">
                <a:solidFill>
                  <a:srgbClr val="0070C0"/>
                </a:solidFill>
                <a:latin typeface="Times New Roman" panose="02020603050405020304" pitchFamily="18" charset="0"/>
                <a:cs typeface="Times New Roman" panose="02020603050405020304" pitchFamily="18" charset="0"/>
              </a:rPr>
              <a:t>Flash Type ADC</a:t>
            </a: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3939ABA-DFD4-45CD-A28A-4F81CD05588F}"/>
              </a:ext>
            </a:extLst>
          </p:cNvPr>
          <p:cNvPicPr>
            <a:picLocks noChangeAspect="1"/>
          </p:cNvPicPr>
          <p:nvPr/>
        </p:nvPicPr>
        <p:blipFill>
          <a:blip r:embed="rId3"/>
          <a:stretch>
            <a:fillRect/>
          </a:stretch>
        </p:blipFill>
        <p:spPr>
          <a:xfrm>
            <a:off x="62584" y="852401"/>
            <a:ext cx="6638925" cy="4400550"/>
          </a:xfrm>
          <a:prstGeom prst="rect">
            <a:avLst/>
          </a:prstGeom>
        </p:spPr>
      </p:pic>
      <p:pic>
        <p:nvPicPr>
          <p:cNvPr id="8" name="Picture 7">
            <a:extLst>
              <a:ext uri="{FF2B5EF4-FFF2-40B4-BE49-F238E27FC236}">
                <a16:creationId xmlns:a16="http://schemas.microsoft.com/office/drawing/2014/main" id="{7B4ECDA5-FC9E-4D84-B728-E1CDBB926BDC}"/>
              </a:ext>
            </a:extLst>
          </p:cNvPr>
          <p:cNvPicPr>
            <a:picLocks noChangeAspect="1"/>
          </p:cNvPicPr>
          <p:nvPr/>
        </p:nvPicPr>
        <p:blipFill rotWithShape="1">
          <a:blip r:embed="rId4"/>
          <a:srcRect t="14606"/>
          <a:stretch/>
        </p:blipFill>
        <p:spPr>
          <a:xfrm>
            <a:off x="4995191" y="4881489"/>
            <a:ext cx="7134225" cy="1976511"/>
          </a:xfrm>
          <a:prstGeom prst="rect">
            <a:avLst/>
          </a:prstGeom>
        </p:spPr>
      </p:pic>
    </p:spTree>
    <p:extLst>
      <p:ext uri="{BB962C8B-B14F-4D97-AF65-F5344CB8AC3E}">
        <p14:creationId xmlns:p14="http://schemas.microsoft.com/office/powerpoint/2010/main" val="3003642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Successive Approximation Type </a:t>
            </a:r>
            <a:r>
              <a:rPr lang="en-US" sz="3200" b="1" dirty="0">
                <a:solidFill>
                  <a:srgbClr val="0070C0"/>
                </a:solidFill>
                <a:latin typeface="Times New Roman" panose="02020603050405020304" pitchFamily="18" charset="0"/>
                <a:cs typeface="Times New Roman" panose="02020603050405020304" pitchFamily="18" charset="0"/>
              </a:rPr>
              <a:t>ADC</a:t>
            </a: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A0612A83-8BAE-4D2F-82E0-726626860F99}"/>
              </a:ext>
            </a:extLst>
          </p:cNvPr>
          <p:cNvPicPr>
            <a:picLocks noChangeAspect="1"/>
          </p:cNvPicPr>
          <p:nvPr/>
        </p:nvPicPr>
        <p:blipFill>
          <a:blip r:embed="rId3"/>
          <a:stretch>
            <a:fillRect/>
          </a:stretch>
        </p:blipFill>
        <p:spPr>
          <a:xfrm>
            <a:off x="62584" y="795302"/>
            <a:ext cx="6471654" cy="5310075"/>
          </a:xfrm>
          <a:prstGeom prst="rect">
            <a:avLst/>
          </a:prstGeom>
        </p:spPr>
      </p:pic>
      <p:pic>
        <p:nvPicPr>
          <p:cNvPr id="5" name="Picture 2">
            <a:extLst>
              <a:ext uri="{FF2B5EF4-FFF2-40B4-BE49-F238E27FC236}">
                <a16:creationId xmlns:a16="http://schemas.microsoft.com/office/drawing/2014/main" id="{2FD6FB7C-4B1E-436A-B49A-0271C2661F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9757" y="792286"/>
            <a:ext cx="3917740" cy="59359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65870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Single slope Type </a:t>
            </a:r>
            <a:r>
              <a:rPr lang="en-US" sz="3200" b="1" dirty="0">
                <a:solidFill>
                  <a:srgbClr val="0070C0"/>
                </a:solidFill>
                <a:latin typeface="Times New Roman" panose="02020603050405020304" pitchFamily="18" charset="0"/>
                <a:cs typeface="Times New Roman" panose="02020603050405020304" pitchFamily="18" charset="0"/>
              </a:rPr>
              <a:t>ADC</a:t>
            </a: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EF702722-1163-43B0-8A13-8796209168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493" y="1486144"/>
            <a:ext cx="10787014" cy="327007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625F729-0A81-4D06-9576-F20E4404BD70}"/>
              </a:ext>
            </a:extLst>
          </p:cNvPr>
          <p:cNvPicPr>
            <a:picLocks noChangeAspect="1"/>
          </p:cNvPicPr>
          <p:nvPr/>
        </p:nvPicPr>
        <p:blipFill>
          <a:blip r:embed="rId4"/>
          <a:stretch>
            <a:fillRect/>
          </a:stretch>
        </p:blipFill>
        <p:spPr>
          <a:xfrm>
            <a:off x="961732" y="4823044"/>
            <a:ext cx="3189964" cy="548811"/>
          </a:xfrm>
          <a:prstGeom prst="rect">
            <a:avLst/>
          </a:prstGeom>
        </p:spPr>
      </p:pic>
      <p:pic>
        <p:nvPicPr>
          <p:cNvPr id="8" name="Picture 7">
            <a:extLst>
              <a:ext uri="{FF2B5EF4-FFF2-40B4-BE49-F238E27FC236}">
                <a16:creationId xmlns:a16="http://schemas.microsoft.com/office/drawing/2014/main" id="{BB192E25-8924-4E4F-AB23-862374538C7D}"/>
              </a:ext>
            </a:extLst>
          </p:cNvPr>
          <p:cNvPicPr>
            <a:picLocks noChangeAspect="1"/>
          </p:cNvPicPr>
          <p:nvPr/>
        </p:nvPicPr>
        <p:blipFill>
          <a:blip r:embed="rId5"/>
          <a:stretch>
            <a:fillRect/>
          </a:stretch>
        </p:blipFill>
        <p:spPr>
          <a:xfrm>
            <a:off x="1112593" y="5447063"/>
            <a:ext cx="2667831" cy="548811"/>
          </a:xfrm>
          <a:prstGeom prst="rect">
            <a:avLst/>
          </a:prstGeom>
        </p:spPr>
      </p:pic>
    </p:spTree>
    <p:extLst>
      <p:ext uri="{BB962C8B-B14F-4D97-AF65-F5344CB8AC3E}">
        <p14:creationId xmlns:p14="http://schemas.microsoft.com/office/powerpoint/2010/main" val="1638992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Single slope Type </a:t>
            </a:r>
            <a:r>
              <a:rPr lang="en-US" sz="3200" b="1" dirty="0">
                <a:solidFill>
                  <a:srgbClr val="0070C0"/>
                </a:solidFill>
                <a:latin typeface="Times New Roman" panose="02020603050405020304" pitchFamily="18" charset="0"/>
                <a:cs typeface="Times New Roman" panose="02020603050405020304" pitchFamily="18" charset="0"/>
              </a:rPr>
              <a:t>ADC</a:t>
            </a: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D625F729-0A81-4D06-9576-F20E4404BD70}"/>
              </a:ext>
            </a:extLst>
          </p:cNvPr>
          <p:cNvPicPr>
            <a:picLocks noChangeAspect="1"/>
          </p:cNvPicPr>
          <p:nvPr/>
        </p:nvPicPr>
        <p:blipFill>
          <a:blip r:embed="rId3"/>
          <a:stretch>
            <a:fillRect/>
          </a:stretch>
        </p:blipFill>
        <p:spPr>
          <a:xfrm>
            <a:off x="961732" y="4823044"/>
            <a:ext cx="3189964" cy="548811"/>
          </a:xfrm>
          <a:prstGeom prst="rect">
            <a:avLst/>
          </a:prstGeom>
        </p:spPr>
      </p:pic>
      <p:pic>
        <p:nvPicPr>
          <p:cNvPr id="8" name="Picture 7">
            <a:extLst>
              <a:ext uri="{FF2B5EF4-FFF2-40B4-BE49-F238E27FC236}">
                <a16:creationId xmlns:a16="http://schemas.microsoft.com/office/drawing/2014/main" id="{BB192E25-8924-4E4F-AB23-862374538C7D}"/>
              </a:ext>
            </a:extLst>
          </p:cNvPr>
          <p:cNvPicPr>
            <a:picLocks noChangeAspect="1"/>
          </p:cNvPicPr>
          <p:nvPr/>
        </p:nvPicPr>
        <p:blipFill>
          <a:blip r:embed="rId4"/>
          <a:stretch>
            <a:fillRect/>
          </a:stretch>
        </p:blipFill>
        <p:spPr>
          <a:xfrm>
            <a:off x="1112593" y="5447063"/>
            <a:ext cx="2667831" cy="548811"/>
          </a:xfrm>
          <a:prstGeom prst="rect">
            <a:avLst/>
          </a:prstGeom>
        </p:spPr>
      </p:pic>
      <p:pic>
        <p:nvPicPr>
          <p:cNvPr id="5" name="Picture 4">
            <a:extLst>
              <a:ext uri="{FF2B5EF4-FFF2-40B4-BE49-F238E27FC236}">
                <a16:creationId xmlns:a16="http://schemas.microsoft.com/office/drawing/2014/main" id="{24314FD4-505B-4EB2-AB85-F77CA55BB7CB}"/>
              </a:ext>
            </a:extLst>
          </p:cNvPr>
          <p:cNvPicPr>
            <a:picLocks noChangeAspect="1"/>
          </p:cNvPicPr>
          <p:nvPr/>
        </p:nvPicPr>
        <p:blipFill>
          <a:blip r:embed="rId5"/>
          <a:stretch>
            <a:fillRect/>
          </a:stretch>
        </p:blipFill>
        <p:spPr>
          <a:xfrm>
            <a:off x="398845" y="972463"/>
            <a:ext cx="11225633" cy="3347746"/>
          </a:xfrm>
          <a:prstGeom prst="rect">
            <a:avLst/>
          </a:prstGeom>
        </p:spPr>
      </p:pic>
    </p:spTree>
    <p:extLst>
      <p:ext uri="{BB962C8B-B14F-4D97-AF65-F5344CB8AC3E}">
        <p14:creationId xmlns:p14="http://schemas.microsoft.com/office/powerpoint/2010/main" val="40372978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367DD-E0C3-A674-E06A-AD2FE53844E7}"/>
              </a:ext>
            </a:extLst>
          </p:cNvPr>
          <p:cNvSpPr txBox="1">
            <a:spLocks/>
          </p:cNvSpPr>
          <p:nvPr/>
        </p:nvSpPr>
        <p:spPr>
          <a:xfrm>
            <a:off x="62584" y="129744"/>
            <a:ext cx="10538078" cy="665559"/>
          </a:xfrm>
          <a:prstGeom prst="rect">
            <a:avLst/>
          </a:prstGeom>
          <a:solidFill>
            <a:schemeClr val="accent6">
              <a:lumMod val="20000"/>
              <a:lumOff val="80000"/>
            </a:schemeClr>
          </a:solidFill>
          <a:ln>
            <a:solidFill>
              <a:schemeClr val="accent5"/>
            </a:solid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accent5"/>
                </a:solidFill>
                <a:latin typeface="Times New Roman" panose="02020603050405020304" pitchFamily="18" charset="0"/>
                <a:cs typeface="Times New Roman" panose="02020603050405020304" pitchFamily="18" charset="0"/>
              </a:rPr>
              <a:t>Unit 6: Single slope Type </a:t>
            </a:r>
            <a:r>
              <a:rPr lang="en-US" sz="3200" b="1" dirty="0">
                <a:solidFill>
                  <a:srgbClr val="0070C0"/>
                </a:solidFill>
                <a:latin typeface="Times New Roman" panose="02020603050405020304" pitchFamily="18" charset="0"/>
                <a:cs typeface="Times New Roman" panose="02020603050405020304" pitchFamily="18" charset="0"/>
              </a:rPr>
              <a:t>ADC</a:t>
            </a:r>
          </a:p>
        </p:txBody>
      </p:sp>
      <p:pic>
        <p:nvPicPr>
          <p:cNvPr id="3" name="Picture 2" descr="VIT-AP University - Wikipedia">
            <a:extLst>
              <a:ext uri="{FF2B5EF4-FFF2-40B4-BE49-F238E27FC236}">
                <a16:creationId xmlns:a16="http://schemas.microsoft.com/office/drawing/2014/main" id="{A6A823AC-4EA3-C696-3116-B45E733B9F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5750" y="129744"/>
            <a:ext cx="1013540" cy="84271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8BAE5F6-70DD-4288-B735-6701475BC8D1}"/>
              </a:ext>
            </a:extLst>
          </p:cNvPr>
          <p:cNvPicPr>
            <a:picLocks noChangeAspect="1"/>
          </p:cNvPicPr>
          <p:nvPr/>
        </p:nvPicPr>
        <p:blipFill>
          <a:blip r:embed="rId3"/>
          <a:stretch>
            <a:fillRect/>
          </a:stretch>
        </p:blipFill>
        <p:spPr>
          <a:xfrm>
            <a:off x="843791" y="972463"/>
            <a:ext cx="8605009" cy="4591440"/>
          </a:xfrm>
          <a:prstGeom prst="rect">
            <a:avLst/>
          </a:prstGeom>
        </p:spPr>
      </p:pic>
      <p:pic>
        <p:nvPicPr>
          <p:cNvPr id="6" name="Picture 5">
            <a:extLst>
              <a:ext uri="{FF2B5EF4-FFF2-40B4-BE49-F238E27FC236}">
                <a16:creationId xmlns:a16="http://schemas.microsoft.com/office/drawing/2014/main" id="{BE0F9D3B-2711-4086-9DBD-C9133DC31CC8}"/>
              </a:ext>
            </a:extLst>
          </p:cNvPr>
          <p:cNvPicPr>
            <a:picLocks noChangeAspect="1"/>
          </p:cNvPicPr>
          <p:nvPr/>
        </p:nvPicPr>
        <p:blipFill>
          <a:blip r:embed="rId4"/>
          <a:stretch>
            <a:fillRect/>
          </a:stretch>
        </p:blipFill>
        <p:spPr>
          <a:xfrm>
            <a:off x="8938755" y="2954509"/>
            <a:ext cx="2657147" cy="948981"/>
          </a:xfrm>
          <a:prstGeom prst="rect">
            <a:avLst/>
          </a:prstGeom>
        </p:spPr>
      </p:pic>
    </p:spTree>
    <p:extLst>
      <p:ext uri="{BB962C8B-B14F-4D97-AF65-F5344CB8AC3E}">
        <p14:creationId xmlns:p14="http://schemas.microsoft.com/office/powerpoint/2010/main" val="34578875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7271</TotalTime>
  <Words>1587</Words>
  <Application>Microsoft Office PowerPoint</Application>
  <PresentationFormat>Widescreen</PresentationFormat>
  <Paragraphs>123</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Aptos Display</vt:lpstr>
      <vt:lpstr>Arial</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Allam Akshayakranth</dc:creator>
  <cp:lastModifiedBy>M S Krishna</cp:lastModifiedBy>
  <cp:revision>486</cp:revision>
  <dcterms:created xsi:type="dcterms:W3CDTF">2024-12-18T15:58:50Z</dcterms:created>
  <dcterms:modified xsi:type="dcterms:W3CDTF">2026-04-29T06:08:23Z</dcterms:modified>
</cp:coreProperties>
</file>