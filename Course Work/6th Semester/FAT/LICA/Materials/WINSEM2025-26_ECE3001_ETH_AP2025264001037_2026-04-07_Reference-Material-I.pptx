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680" r:id="rId2"/>
    <p:sldId id="681" r:id="rId3"/>
    <p:sldId id="682" r:id="rId4"/>
    <p:sldId id="724" r:id="rId5"/>
    <p:sldId id="725" r:id="rId6"/>
    <p:sldId id="726" r:id="rId7"/>
    <p:sldId id="728" r:id="rId8"/>
    <p:sldId id="683" r:id="rId9"/>
    <p:sldId id="729" r:id="rId10"/>
    <p:sldId id="730" r:id="rId11"/>
    <p:sldId id="684" r:id="rId12"/>
    <p:sldId id="748" r:id="rId13"/>
    <p:sldId id="731" r:id="rId14"/>
    <p:sldId id="749" r:id="rId15"/>
    <p:sldId id="733" r:id="rId16"/>
    <p:sldId id="734" r:id="rId17"/>
    <p:sldId id="735" r:id="rId18"/>
    <p:sldId id="736" r:id="rId19"/>
    <p:sldId id="738" r:id="rId20"/>
    <p:sldId id="740" r:id="rId21"/>
    <p:sldId id="741" r:id="rId22"/>
    <p:sldId id="742" r:id="rId23"/>
    <p:sldId id="743" r:id="rId24"/>
    <p:sldId id="745" r:id="rId25"/>
    <p:sldId id="744" r:id="rId26"/>
    <p:sldId id="746" r:id="rId27"/>
    <p:sldId id="747" r:id="rId28"/>
    <p:sldId id="750" r:id="rId29"/>
    <p:sldId id="751" r:id="rId30"/>
    <p:sldId id="752" r:id="rId31"/>
    <p:sldId id="753" r:id="rId32"/>
    <p:sldId id="754" r:id="rId33"/>
    <p:sldId id="755" r:id="rId34"/>
    <p:sldId id="756" r:id="rId35"/>
    <p:sldId id="757" r:id="rId36"/>
    <p:sldId id="758" r:id="rId37"/>
    <p:sldId id="759" r:id="rId38"/>
    <p:sldId id="760" r:id="rId39"/>
    <p:sldId id="761" r:id="rId40"/>
    <p:sldId id="762" r:id="rId41"/>
    <p:sldId id="763" r:id="rId42"/>
    <p:sldId id="764" r:id="rId43"/>
    <p:sldId id="765" r:id="rId44"/>
    <p:sldId id="766" r:id="rId45"/>
    <p:sldId id="767" r:id="rId46"/>
    <p:sldId id="768" r:id="rId47"/>
    <p:sldId id="737" r:id="rId48"/>
    <p:sldId id="771" r:id="rId49"/>
    <p:sldId id="772" r:id="rId50"/>
    <p:sldId id="77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72" d="100"/>
          <a:sy n="72"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8C7D34-3959-44CD-B271-AC4B20E0CCA3}" type="datetimeFigureOut">
              <a:rPr lang="en-IN" smtClean="0"/>
              <a:t>15-04-2026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BD0F69-0C55-497B-8643-A10F02F6CB5D}" type="slidenum">
              <a:rPr lang="en-IN" smtClean="0"/>
              <a:t>‹#›</a:t>
            </a:fld>
            <a:endParaRPr lang="en-IN"/>
          </a:p>
        </p:txBody>
      </p:sp>
    </p:spTree>
    <p:extLst>
      <p:ext uri="{BB962C8B-B14F-4D97-AF65-F5344CB8AC3E}">
        <p14:creationId xmlns:p14="http://schemas.microsoft.com/office/powerpoint/2010/main" val="3451629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02F7-8672-5B0E-A5B4-8B34C99EE2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C99B6E-2821-AB26-9E40-C7EACB7DD9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E13F904-4CE2-BB9D-D3B6-BE6972B4E700}"/>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5" name="Footer Placeholder 4">
            <a:extLst>
              <a:ext uri="{FF2B5EF4-FFF2-40B4-BE49-F238E27FC236}">
                <a16:creationId xmlns:a16="http://schemas.microsoft.com/office/drawing/2014/main" id="{248ED9A5-0133-30B3-DFCA-0F81C3212F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2E07C-E439-6186-42D3-5379C2D672F1}"/>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2712742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EFD4C-2E55-C5C3-9CD7-CCA2B5F0E7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999525-B408-8939-6F4C-CF369326B4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C6150E-818E-E14B-B243-84509331EBB6}"/>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5" name="Footer Placeholder 4">
            <a:extLst>
              <a:ext uri="{FF2B5EF4-FFF2-40B4-BE49-F238E27FC236}">
                <a16:creationId xmlns:a16="http://schemas.microsoft.com/office/drawing/2014/main" id="{CF1DA880-72C0-B5CF-6470-1DAD552F71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8EE6B3-756B-F98F-D5A9-10C64B37C57D}"/>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3255765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0B5E-F10C-1235-7DD9-654F7C95D7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BC27AF-BD75-7D5C-6C88-A851B7A187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7A950E-9E32-C70F-20DB-B97027885DC0}"/>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5" name="Footer Placeholder 4">
            <a:extLst>
              <a:ext uri="{FF2B5EF4-FFF2-40B4-BE49-F238E27FC236}">
                <a16:creationId xmlns:a16="http://schemas.microsoft.com/office/drawing/2014/main" id="{B7B64EFF-6F25-2FE4-B52F-A95E8D3126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DAE5FC-9230-76B1-C63B-6BB849AC9B11}"/>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842654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549-CD18-AD34-9572-2845A4CF4D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CFF3E5-00EF-C320-AB84-B0A6939A4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C3EB3F-E5A5-0B2A-8B75-448480321D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F89B8EF-1E91-C041-662E-A27A7D4CF17D}"/>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6" name="Footer Placeholder 5">
            <a:extLst>
              <a:ext uri="{FF2B5EF4-FFF2-40B4-BE49-F238E27FC236}">
                <a16:creationId xmlns:a16="http://schemas.microsoft.com/office/drawing/2014/main" id="{A5EE7ADD-975C-3D80-8714-90154B93D8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854D3E-FC56-F043-E657-56964977CF4F}"/>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4277604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8C76-4B85-C97D-7212-803412FFAD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D4BB80-916C-DA52-643A-2D34D243BC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A7D96-68D0-00CE-F587-D64A4DF928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938895-254C-E3C6-5435-0F4558509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88805-1D67-10F7-95D0-3A3C8FFFFB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F66E2C-332E-E682-70E0-82610E8F1FD5}"/>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8" name="Footer Placeholder 7">
            <a:extLst>
              <a:ext uri="{FF2B5EF4-FFF2-40B4-BE49-F238E27FC236}">
                <a16:creationId xmlns:a16="http://schemas.microsoft.com/office/drawing/2014/main" id="{4FD65446-3D94-7C0D-4934-81DE176441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013A5D-9C8B-0648-0990-07BFD6B4AB38}"/>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3885307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F282-8468-0FD0-92E3-C7CEDA127A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77FBBC-2BCB-7011-9CDB-98C4FE8FA89A}"/>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4" name="Footer Placeholder 3">
            <a:extLst>
              <a:ext uri="{FF2B5EF4-FFF2-40B4-BE49-F238E27FC236}">
                <a16:creationId xmlns:a16="http://schemas.microsoft.com/office/drawing/2014/main" id="{78B5EDFB-71F0-3CC5-8A0C-6495C43C10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EB03F2-2A8F-DC03-067B-5C84617130F0}"/>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1702862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E52602-B362-7CD2-227D-43055946771A}"/>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3" name="Footer Placeholder 2">
            <a:extLst>
              <a:ext uri="{FF2B5EF4-FFF2-40B4-BE49-F238E27FC236}">
                <a16:creationId xmlns:a16="http://schemas.microsoft.com/office/drawing/2014/main" id="{EE39BD08-128D-0F6A-2F8F-050616CA6F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BC61CA-792C-6390-636D-D29AD0CB580C}"/>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2015595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A165-338F-FF2A-FED3-40043D46A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08A43E-6F04-8391-B16B-93A087A646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FE8942-D366-BC32-9880-7477D19E2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34FC9-3270-D311-DEA5-88751850B5D3}"/>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6" name="Footer Placeholder 5">
            <a:extLst>
              <a:ext uri="{FF2B5EF4-FFF2-40B4-BE49-F238E27FC236}">
                <a16:creationId xmlns:a16="http://schemas.microsoft.com/office/drawing/2014/main" id="{2AE4C366-5BB8-4E2F-AA21-2EB3F55F9C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5E3CDC-500D-58F0-AF5A-0FE0D14D1683}"/>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346035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ED05-7371-E2E3-738D-DCDD9718A4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3EE5A3-E5B7-DC7D-1E76-290DF61CC9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34AB0E-D801-AA28-919D-4347925AF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CB0DD2-3FC4-96CB-0E25-2E045E48002E}"/>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6" name="Footer Placeholder 5">
            <a:extLst>
              <a:ext uri="{FF2B5EF4-FFF2-40B4-BE49-F238E27FC236}">
                <a16:creationId xmlns:a16="http://schemas.microsoft.com/office/drawing/2014/main" id="{A03A1A73-2AC8-6DCA-E4FB-3BE608D8A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B97E21-0120-A692-161F-E0ADCA7A64B2}"/>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1409213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53D0-ABB4-1024-BBEF-EBB0C1032E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529043-A2E4-44F8-2AA8-AE4830A08D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15025C-3598-B7C3-BC2B-E0AE59ED5DDE}"/>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5" name="Footer Placeholder 4">
            <a:extLst>
              <a:ext uri="{FF2B5EF4-FFF2-40B4-BE49-F238E27FC236}">
                <a16:creationId xmlns:a16="http://schemas.microsoft.com/office/drawing/2014/main" id="{6C898212-50A8-9589-4C92-A02BA0856E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C1A80-DD9B-1598-B20B-BD66AD74805C}"/>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238747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3085A-AE19-7AA9-DC79-57AE296FAC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335E74-A104-F62D-4C70-A9D5FE5D02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3F883-B38B-8EFF-28A2-976F768A81AB}"/>
              </a:ext>
            </a:extLst>
          </p:cNvPr>
          <p:cNvSpPr>
            <a:spLocks noGrp="1"/>
          </p:cNvSpPr>
          <p:nvPr>
            <p:ph type="dt" sz="half" idx="10"/>
          </p:nvPr>
        </p:nvSpPr>
        <p:spPr/>
        <p:txBody>
          <a:bodyPr/>
          <a:lstStyle/>
          <a:p>
            <a:fld id="{E645C6C4-792A-45FA-8D09-E89EB5A08A8E}" type="datetimeFigureOut">
              <a:rPr lang="en-IN" smtClean="0"/>
              <a:t>15-04-2026</a:t>
            </a:fld>
            <a:endParaRPr lang="en-IN"/>
          </a:p>
        </p:txBody>
      </p:sp>
      <p:sp>
        <p:nvSpPr>
          <p:cNvPr id="5" name="Footer Placeholder 4">
            <a:extLst>
              <a:ext uri="{FF2B5EF4-FFF2-40B4-BE49-F238E27FC236}">
                <a16:creationId xmlns:a16="http://schemas.microsoft.com/office/drawing/2014/main" id="{406DA437-E3A0-08C0-54A7-9D60B9822C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50AAF1-00C3-F5EA-4459-59E0A18A9CEE}"/>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1088711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1CCF01-76F7-D2D8-E5EB-8527E4C175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827A1B-7B37-C0F4-F6E5-A95316AB52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3BD1DC-0CE2-81E5-3A56-8FCF3D4E3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45C6C4-792A-45FA-8D09-E89EB5A08A8E}" type="datetimeFigureOut">
              <a:rPr lang="en-IN" smtClean="0"/>
              <a:t>15-04-2026</a:t>
            </a:fld>
            <a:endParaRPr lang="en-IN"/>
          </a:p>
        </p:txBody>
      </p:sp>
      <p:sp>
        <p:nvSpPr>
          <p:cNvPr id="5" name="Footer Placeholder 4">
            <a:extLst>
              <a:ext uri="{FF2B5EF4-FFF2-40B4-BE49-F238E27FC236}">
                <a16:creationId xmlns:a16="http://schemas.microsoft.com/office/drawing/2014/main" id="{E9AD760D-422B-1897-80EE-13672A87A8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26CF3C8-E617-5418-CE43-FC7E58F0E6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65A2A2-AC36-4532-83EC-44770C379092}" type="slidenum">
              <a:rPr lang="en-IN" smtClean="0"/>
              <a:t>‹#›</a:t>
            </a:fld>
            <a:endParaRPr lang="en-IN"/>
          </a:p>
        </p:txBody>
      </p:sp>
    </p:spTree>
    <p:extLst>
      <p:ext uri="{BB962C8B-B14F-4D97-AF65-F5344CB8AC3E}">
        <p14:creationId xmlns:p14="http://schemas.microsoft.com/office/powerpoint/2010/main" val="1123088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3.png"/></Relationships>
</file>

<file path=ppt/slides/_rels/slide23.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5.png"/><Relationship Id="rId7"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8.png"/><Relationship Id="rId7" Type="http://schemas.openxmlformats.org/officeDocument/2006/relationships/image" Target="../media/image6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2.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96.png"/><Relationship Id="rId7" Type="http://schemas.openxmlformats.org/officeDocument/2006/relationships/image" Target="../media/image10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9" Type="http://schemas.openxmlformats.org/officeDocument/2006/relationships/image" Target="../media/image106.png"/></Relationships>
</file>

<file path=ppt/slides/_rels/slide43.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96.png"/><Relationship Id="rId7" Type="http://schemas.openxmlformats.org/officeDocument/2006/relationships/image" Target="../media/image11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4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47.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4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0B79A6-2E20-C2F7-1391-CDA67341A6FB}"/>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1: Operational Amplifier Characteristics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8" name="Content Placeholder 2">
            <a:extLst>
              <a:ext uri="{FF2B5EF4-FFF2-40B4-BE49-F238E27FC236}">
                <a16:creationId xmlns:a16="http://schemas.microsoft.com/office/drawing/2014/main" id="{6CEAB7F7-FC8E-1905-FC44-A5E437ED6329}"/>
              </a:ext>
            </a:extLst>
          </p:cNvPr>
          <p:cNvSpPr txBox="1">
            <a:spLocks noGrp="1"/>
          </p:cNvSpPr>
          <p:nvPr>
            <p:ph type="subTitle" idx="1"/>
          </p:nvPr>
        </p:nvSpPr>
        <p:spPr>
          <a:xfrm>
            <a:off x="768811" y="2276178"/>
            <a:ext cx="10319141" cy="907749"/>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buClr>
                <a:srgbClr val="002060"/>
              </a:buClr>
              <a:buSzPct val="100000"/>
            </a:pPr>
            <a:r>
              <a:rPr lang="en-US" sz="3600" b="1" dirty="0">
                <a:solidFill>
                  <a:srgbClr val="0070C0"/>
                </a:solidFill>
                <a:latin typeface="Times New Roman" panose="02020603050405020304" pitchFamily="18" charset="0"/>
                <a:cs typeface="Times New Roman" panose="02020603050405020304" pitchFamily="18" charset="0"/>
              </a:rPr>
              <a:t>Active Filters</a:t>
            </a:r>
          </a:p>
        </p:txBody>
      </p:sp>
      <p:sp>
        <p:nvSpPr>
          <p:cNvPr id="3" name="TextBox 2">
            <a:extLst>
              <a:ext uri="{FF2B5EF4-FFF2-40B4-BE49-F238E27FC236}">
                <a16:creationId xmlns:a16="http://schemas.microsoft.com/office/drawing/2014/main" id="{28B8E333-90D1-5384-F938-F8E576E6DA3E}"/>
              </a:ext>
            </a:extLst>
          </p:cNvPr>
          <p:cNvSpPr txBox="1"/>
          <p:nvPr/>
        </p:nvSpPr>
        <p:spPr>
          <a:xfrm>
            <a:off x="532793" y="5374053"/>
            <a:ext cx="11125200" cy="907749"/>
          </a:xfrm>
          <a:prstGeom prst="rect">
            <a:avLst/>
          </a:prstGeom>
          <a:noFill/>
        </p:spPr>
        <p:txBody>
          <a:bodyPr wrap="square">
            <a:spAutoFit/>
          </a:bodyPr>
          <a:lstStyle/>
          <a:p>
            <a:pPr marL="0" indent="0" algn="just">
              <a:lnSpc>
                <a:spcPct val="115000"/>
              </a:lnSpc>
              <a:spcAft>
                <a:spcPts val="800"/>
              </a:spcAft>
              <a:buFont typeface="Arial" panose="020B0604020202020204" pitchFamily="34" charset="0"/>
              <a:buNone/>
            </a:pPr>
            <a:r>
              <a:rPr lang="en-IN" sz="2400"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Pre – preparation: </a:t>
            </a:r>
            <a:r>
              <a:rPr lang="en-IN" sz="2400" dirty="0">
                <a:latin typeface="Times New Roman" panose="02020603050405020304" pitchFamily="18" charset="0"/>
                <a:ea typeface="Calibri" panose="020F0502020204030204" pitchFamily="34" charset="0"/>
                <a:cs typeface="Times New Roman" panose="02020603050405020304" pitchFamily="18" charset="0"/>
              </a:rPr>
              <a:t>Lecture Materials and LIC Text book by ROY Choudhury, sixth edition, 2022.</a:t>
            </a:r>
          </a:p>
        </p:txBody>
      </p:sp>
      <p:pic>
        <p:nvPicPr>
          <p:cNvPr id="1026" name="Picture 2" descr="VIT-AP University - Wikipedia">
            <a:extLst>
              <a:ext uri="{FF2B5EF4-FFF2-40B4-BE49-F238E27FC236}">
                <a16:creationId xmlns:a16="http://schemas.microsoft.com/office/drawing/2014/main" id="{7A0C0248-CACC-9B28-EF4D-C496B3EDC2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6409" y="230367"/>
            <a:ext cx="1358900" cy="1129872"/>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3">
            <a:extLst>
              <a:ext uri="{FF2B5EF4-FFF2-40B4-BE49-F238E27FC236}">
                <a16:creationId xmlns:a16="http://schemas.microsoft.com/office/drawing/2014/main" id="{5CAE8A77-77BA-729D-C5D7-3215573EDB39}"/>
              </a:ext>
            </a:extLst>
          </p:cNvPr>
          <p:cNvSpPr>
            <a:spLocks noGrp="1"/>
          </p:cNvSpPr>
          <p:nvPr>
            <p:ph type="dt" sz="half" idx="10"/>
          </p:nvPr>
        </p:nvSpPr>
        <p:spPr>
          <a:xfrm>
            <a:off x="30685" y="6480301"/>
            <a:ext cx="12129416" cy="365126"/>
          </a:xfrm>
          <a:solidFill>
            <a:schemeClr val="accent6">
              <a:lumMod val="20000"/>
              <a:lumOff val="80000"/>
            </a:schemeClr>
          </a:solidFill>
          <a:ln>
            <a:solidFill>
              <a:schemeClr val="accent5"/>
            </a:solidFill>
          </a:ln>
        </p:spPr>
        <p:txBody>
          <a:bodyPr/>
          <a:lstStyle/>
          <a:p>
            <a:r>
              <a:rPr lang="en-US" sz="1800" b="1" dirty="0">
                <a:solidFill>
                  <a:schemeClr val="accent5"/>
                </a:solidFill>
                <a:latin typeface="Times New Roman" panose="02020603050405020304" pitchFamily="18" charset="0"/>
                <a:cs typeface="Times New Roman" panose="02020603050405020304" pitchFamily="18" charset="0"/>
              </a:rPr>
              <a:t>    VIT-AP University                                              Linear Integrated Circuits                                      Dr. M. Sankush Krishna</a:t>
            </a:r>
          </a:p>
        </p:txBody>
      </p:sp>
    </p:spTree>
    <p:extLst>
      <p:ext uri="{BB962C8B-B14F-4D97-AF65-F5344CB8AC3E}">
        <p14:creationId xmlns:p14="http://schemas.microsoft.com/office/powerpoint/2010/main" val="1643373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Introduction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4457952"/>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filter is a circuit that allows desired frequencies to pass and attenuates unwanted frequencies.</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Filters are of two types: analog and digital; analog filters are further classified as passive and active.</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Passive filters use R, L, C components, while active filters use op-amps with resistors and capacitors, reducing loading effects.</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Filters are widely used in communication and signal processing for noise reduction, interference suppression, bandwidth control, and signal shaping.</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4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F8207-9C6C-EEFA-65FB-F5B230DDF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E189D-7641-3379-778A-90EF1A57DBDD}"/>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Limitations of Passive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88ED15B2-A483-AF66-3F1B-C145783B997C}"/>
              </a:ext>
            </a:extLst>
          </p:cNvPr>
          <p:cNvSpPr txBox="1"/>
          <p:nvPr/>
        </p:nvSpPr>
        <p:spPr>
          <a:xfrm>
            <a:off x="185531" y="972463"/>
            <a:ext cx="11449878" cy="6020238"/>
          </a:xfrm>
          <a:prstGeom prst="rect">
            <a:avLst/>
          </a:prstGeom>
          <a:noFill/>
        </p:spPr>
        <p:txBody>
          <a:bodyPr wrap="square">
            <a:spAutoFit/>
          </a:bodyPr>
          <a:lstStyle/>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In RLC networks, the practical inductors tend to deviate from the inductance </a:t>
            </a:r>
            <a:r>
              <a:rPr lang="en-US" sz="2200" dirty="0" err="1">
                <a:latin typeface="Times New Roman" panose="02020603050405020304" pitchFamily="18" charset="0"/>
                <a:ea typeface="Calibri" panose="020F0502020204030204" pitchFamily="34" charset="0"/>
                <a:cs typeface="Times New Roman" panose="02020603050405020304" pitchFamily="18" charset="0"/>
              </a:rPr>
              <a:t>realised</a:t>
            </a:r>
            <a:r>
              <a:rPr lang="en-US" sz="2200" dirty="0">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There is a power loss because of the dissipation in resistive and inductive elements of the passive network.</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For most practical inductors, the total dissipative losses tend to increase with frequency, since Q does not increase linearly with frequency.</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At low frequency (less than 1 kHz) applications such as control systems and analog computers, practical inductors of reasonable Q tend to become bulky and expensive.</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magnetic coupling creates additional problem in the form of unwanted and stray field which is harmful for applications such as satellite instrumentation.</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dissipative losses start increasing when an inductor is </a:t>
            </a:r>
            <a:r>
              <a:rPr lang="en-US" sz="2200" dirty="0" err="1">
                <a:latin typeface="Times New Roman" panose="02020603050405020304" pitchFamily="18" charset="0"/>
                <a:ea typeface="Calibri" panose="020F0502020204030204" pitchFamily="34" charset="0"/>
                <a:cs typeface="Times New Roman" panose="02020603050405020304" pitchFamily="18" charset="0"/>
              </a:rPr>
              <a:t>miniaturised</a:t>
            </a:r>
            <a:r>
              <a:rPr lang="en-US" sz="2200" dirty="0">
                <a:latin typeface="Times New Roman" panose="02020603050405020304" pitchFamily="18" charset="0"/>
                <a:ea typeface="Calibri" panose="020F0502020204030204" pitchFamily="34" charset="0"/>
                <a:cs typeface="Times New Roman" panose="02020603050405020304" pitchFamily="18" charset="0"/>
              </a:rPr>
              <a:t>. The Q of a </a:t>
            </a:r>
            <a:r>
              <a:rPr lang="en-US" sz="2200" dirty="0" err="1">
                <a:latin typeface="Times New Roman" panose="02020603050405020304" pitchFamily="18" charset="0"/>
                <a:ea typeface="Calibri" panose="020F0502020204030204" pitchFamily="34" charset="0"/>
                <a:cs typeface="Times New Roman" panose="02020603050405020304" pitchFamily="18" charset="0"/>
              </a:rPr>
              <a:t>lowfrequency</a:t>
            </a:r>
            <a:r>
              <a:rPr lang="en-US" sz="2200" dirty="0">
                <a:latin typeface="Times New Roman" panose="02020603050405020304" pitchFamily="18" charset="0"/>
                <a:ea typeface="Calibri" panose="020F0502020204030204" pitchFamily="34" charset="0"/>
                <a:cs typeface="Times New Roman" panose="02020603050405020304" pitchFamily="18" charset="0"/>
              </a:rPr>
              <a:t> inductor is roughly proportional to the square of the scaling factor.</a:t>
            </a:r>
          </a:p>
          <a:p>
            <a:pPr marL="342900" lvl="0" indent="-342900">
              <a:lnSpc>
                <a:spcPct val="115000"/>
              </a:lnSpc>
              <a:spcAft>
                <a:spcPts val="1000"/>
              </a:spcAft>
              <a:buFont typeface="Symbol" panose="05050102010706020507" pitchFamily="18" charset="2"/>
              <a:buChar char=""/>
            </a:pP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VIT-AP University - Wikipedia">
            <a:extLst>
              <a:ext uri="{FF2B5EF4-FFF2-40B4-BE49-F238E27FC236}">
                <a16:creationId xmlns:a16="http://schemas.microsoft.com/office/drawing/2014/main" id="{5977A7BA-AEE1-46DF-2AAF-6405D7ED8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93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F8207-9C6C-EEFA-65FB-F5B230DDF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E189D-7641-3379-778A-90EF1A57DBDD}"/>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Advantages of Active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88ED15B2-A483-AF66-3F1B-C145783B997C}"/>
              </a:ext>
            </a:extLst>
          </p:cNvPr>
          <p:cNvSpPr txBox="1"/>
          <p:nvPr/>
        </p:nvSpPr>
        <p:spPr>
          <a:xfrm>
            <a:off x="185531" y="972463"/>
            <a:ext cx="11900452" cy="5630900"/>
          </a:xfrm>
          <a:prstGeom prst="rect">
            <a:avLst/>
          </a:prstGeom>
          <a:noFill/>
        </p:spPr>
        <p:txBody>
          <a:bodyPr wrap="square">
            <a:spAutoFit/>
          </a:bodyPr>
          <a:lstStyle/>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maximum value of the transfer function or gain may be greater than unity (passive&lt;=1).</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loading effect is minimal, which means that the output response of the filter is essentially independent of the load driven by the filter.</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active filters do not exhibit insertion loss. Hence, the passband gain is equal to 0dB or higher.</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Active filters replace inductors with op-amps + RC networks.</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Inductors become impractical at low frequencies. Passive networks can only be practically realized for high frequencies. Active filters solve this.</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active filters are easily tunable due to flexibility in gain and frequency adjustments.</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op-amp has high input impedance and low output impedance. Hence, the active filters using op-amp do not cause loading effect on the source and load. Therefore, cascading of networks does not need buffer amplifier.</a:t>
            </a:r>
          </a:p>
          <a:p>
            <a:pPr marL="342900" lvl="0" indent="-342900">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Active filters can be made tunable using control voltage or variable components.</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VIT-AP University - Wikipedia">
            <a:extLst>
              <a:ext uri="{FF2B5EF4-FFF2-40B4-BE49-F238E27FC236}">
                <a16:creationId xmlns:a16="http://schemas.microsoft.com/office/drawing/2014/main" id="{5977A7BA-AEE1-46DF-2AAF-6405D7ED8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810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F8207-9C6C-EEFA-65FB-F5B230DDF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DE189D-7641-3379-778A-90EF1A57DBDD}"/>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Limitations of Active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88ED15B2-A483-AF66-3F1B-C145783B997C}"/>
              </a:ext>
            </a:extLst>
          </p:cNvPr>
          <p:cNvSpPr txBox="1"/>
          <p:nvPr/>
        </p:nvSpPr>
        <p:spPr>
          <a:xfrm>
            <a:off x="185531" y="972463"/>
            <a:ext cx="9859617" cy="5246180"/>
          </a:xfrm>
          <a:prstGeom prst="rect">
            <a:avLst/>
          </a:prstGeom>
          <a:noFill/>
        </p:spPr>
        <p:txBody>
          <a:bodyPr wrap="square">
            <a:spAutoFit/>
          </a:bodyPr>
          <a:lstStyle/>
          <a:p>
            <a:pPr marL="342900" lvl="0" indent="-342900" algn="just">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high frequency response is limited by the gain-bandwidth product and slew rate of the practical op-amps, leading to comparatively lower bandwidth than the designed bandwidth.</a:t>
            </a:r>
          </a:p>
          <a:p>
            <a:pPr marL="342900" lvl="0" indent="-342900" algn="just">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design of active filters becomes costly for high frequencies. Require high slew rate Op-amps.</a:t>
            </a:r>
          </a:p>
          <a:p>
            <a:pPr marL="342900" lvl="0" indent="-342900" algn="just">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Active filters require dual polarity dc power supply whereas passive filters do not. Passive filter works purely on input signal. Whereas, Op-amp needs external power supply to work.</a:t>
            </a:r>
          </a:p>
          <a:p>
            <a:pPr marL="342900" lvl="0" indent="-342900" algn="just">
              <a:lnSpc>
                <a:spcPct val="115000"/>
              </a:lnSpc>
              <a:spcAft>
                <a:spcPts val="1000"/>
              </a:spcAft>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active element is prone to the process parameter variations and they are sensitive to ambient conditions like temperature. Hence, the performance of the active filter deviates from the ideal response.</a:t>
            </a:r>
          </a:p>
          <a:p>
            <a:pPr marL="342900" lvl="0" indent="-342900">
              <a:lnSpc>
                <a:spcPct val="115000"/>
              </a:lnSpc>
              <a:spcAft>
                <a:spcPts val="1000"/>
              </a:spcAft>
              <a:buFont typeface="Symbol" panose="05050102010706020507" pitchFamily="18" charset="2"/>
              <a:buChar char=""/>
            </a:pPr>
            <a:endParaRPr lang="en-US"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descr="VIT-AP University - Wikipedia">
            <a:extLst>
              <a:ext uri="{FF2B5EF4-FFF2-40B4-BE49-F238E27FC236}">
                <a16:creationId xmlns:a16="http://schemas.microsoft.com/office/drawing/2014/main" id="{5977A7BA-AEE1-46DF-2AAF-6405D7ED8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203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Comparison of Active and Passive Networks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graphicFrame>
        <p:nvGraphicFramePr>
          <p:cNvPr id="4" name="Table 4">
            <a:extLst>
              <a:ext uri="{FF2B5EF4-FFF2-40B4-BE49-F238E27FC236}">
                <a16:creationId xmlns:a16="http://schemas.microsoft.com/office/drawing/2014/main" id="{106D0C7F-6613-42A5-9086-555E4F403F83}"/>
              </a:ext>
            </a:extLst>
          </p:cNvPr>
          <p:cNvGraphicFramePr>
            <a:graphicFrameLocks noGrp="1"/>
          </p:cNvGraphicFramePr>
          <p:nvPr>
            <p:extLst>
              <p:ext uri="{D42A27DB-BD31-4B8C-83A1-F6EECF244321}">
                <p14:modId xmlns:p14="http://schemas.microsoft.com/office/powerpoint/2010/main" val="2459779615"/>
              </p:ext>
            </p:extLst>
          </p:nvPr>
        </p:nvGraphicFramePr>
        <p:xfrm>
          <a:off x="106390" y="972463"/>
          <a:ext cx="11772900" cy="5679440"/>
        </p:xfrm>
        <a:graphic>
          <a:graphicData uri="http://schemas.openxmlformats.org/drawingml/2006/table">
            <a:tbl>
              <a:tblPr firstRow="1" bandRow="1">
                <a:tableStyleId>{5C22544A-7EE6-4342-B048-85BDC9FD1C3A}</a:tableStyleId>
              </a:tblPr>
              <a:tblGrid>
                <a:gridCol w="1963710">
                  <a:extLst>
                    <a:ext uri="{9D8B030D-6E8A-4147-A177-3AD203B41FA5}">
                      <a16:colId xmlns:a16="http://schemas.microsoft.com/office/drawing/2014/main" val="1155655755"/>
                    </a:ext>
                  </a:extLst>
                </a:gridCol>
                <a:gridCol w="4787900">
                  <a:extLst>
                    <a:ext uri="{9D8B030D-6E8A-4147-A177-3AD203B41FA5}">
                      <a16:colId xmlns:a16="http://schemas.microsoft.com/office/drawing/2014/main" val="2853319509"/>
                    </a:ext>
                  </a:extLst>
                </a:gridCol>
                <a:gridCol w="5021290">
                  <a:extLst>
                    <a:ext uri="{9D8B030D-6E8A-4147-A177-3AD203B41FA5}">
                      <a16:colId xmlns:a16="http://schemas.microsoft.com/office/drawing/2014/main" val="517919777"/>
                    </a:ext>
                  </a:extLst>
                </a:gridCol>
              </a:tblGrid>
              <a:tr h="370840">
                <a:tc>
                  <a:txBody>
                    <a:bodyPr/>
                    <a:lstStyle/>
                    <a:p>
                      <a:pPr algn="ctr"/>
                      <a:r>
                        <a:rPr lang="en-US" b="1" dirty="0"/>
                        <a:t>Feature Passive</a:t>
                      </a:r>
                      <a:endParaRPr lang="en-IN" b="1" dirty="0"/>
                    </a:p>
                  </a:txBody>
                  <a:tcPr/>
                </a:tc>
                <a:tc>
                  <a:txBody>
                    <a:bodyPr/>
                    <a:lstStyle/>
                    <a:p>
                      <a:pPr algn="ctr"/>
                      <a:r>
                        <a:rPr lang="en-US" b="1" dirty="0"/>
                        <a:t>RLC Network </a:t>
                      </a:r>
                      <a:endParaRPr lang="en-IN" b="1" dirty="0"/>
                    </a:p>
                  </a:txBody>
                  <a:tcPr/>
                </a:tc>
                <a:tc>
                  <a:txBody>
                    <a:bodyPr/>
                    <a:lstStyle/>
                    <a:p>
                      <a:pPr algn="ctr"/>
                      <a:r>
                        <a:rPr lang="en-US" b="1" dirty="0"/>
                        <a:t>Active RC network</a:t>
                      </a:r>
                      <a:endParaRPr lang="en-IN" b="1" dirty="0"/>
                    </a:p>
                  </a:txBody>
                  <a:tcPr/>
                </a:tc>
                <a:extLst>
                  <a:ext uri="{0D108BD9-81ED-4DB2-BD59-A6C34878D82A}">
                    <a16:rowId xmlns:a16="http://schemas.microsoft.com/office/drawing/2014/main" val="1690275269"/>
                  </a:ext>
                </a:extLst>
              </a:tr>
              <a:tr h="370840">
                <a:tc>
                  <a:txBody>
                    <a:bodyPr/>
                    <a:lstStyle/>
                    <a:p>
                      <a:r>
                        <a:rPr lang="en-IN" b="1" dirty="0" err="1"/>
                        <a:t>Realisability</a:t>
                      </a:r>
                      <a:endParaRPr lang="en-IN" b="1" dirty="0"/>
                    </a:p>
                  </a:txBody>
                  <a:tcPr/>
                </a:tc>
                <a:tc>
                  <a:txBody>
                    <a:bodyPr/>
                    <a:lstStyle/>
                    <a:p>
                      <a:r>
                        <a:rPr lang="en-US" b="1" dirty="0"/>
                        <a:t>Can </a:t>
                      </a:r>
                      <a:r>
                        <a:rPr lang="en-US" b="1" dirty="0" err="1"/>
                        <a:t>realise</a:t>
                      </a:r>
                      <a:r>
                        <a:rPr lang="en-US" b="1" dirty="0"/>
                        <a:t> only a class of real rational functions which are analytic in the right half of rational s-plane</a:t>
                      </a:r>
                      <a:endParaRPr lang="en-IN" b="1" dirty="0"/>
                    </a:p>
                  </a:txBody>
                  <a:tcPr/>
                </a:tc>
                <a:tc>
                  <a:txBody>
                    <a:bodyPr/>
                    <a:lstStyle/>
                    <a:p>
                      <a:r>
                        <a:rPr lang="en-US" b="1" dirty="0"/>
                        <a:t>No restrictions. Can realize any real function </a:t>
                      </a:r>
                      <a:endParaRPr lang="en-IN" b="1" dirty="0"/>
                    </a:p>
                  </a:txBody>
                  <a:tcPr/>
                </a:tc>
                <a:extLst>
                  <a:ext uri="{0D108BD9-81ED-4DB2-BD59-A6C34878D82A}">
                    <a16:rowId xmlns:a16="http://schemas.microsoft.com/office/drawing/2014/main" val="4229278020"/>
                  </a:ext>
                </a:extLst>
              </a:tr>
              <a:tr h="370840">
                <a:tc>
                  <a:txBody>
                    <a:bodyPr/>
                    <a:lstStyle/>
                    <a:p>
                      <a:r>
                        <a:rPr lang="en-IN" b="1" dirty="0"/>
                        <a:t>Requirement of inductors</a:t>
                      </a:r>
                    </a:p>
                  </a:txBody>
                  <a:tcPr/>
                </a:tc>
                <a:tc>
                  <a:txBody>
                    <a:bodyPr/>
                    <a:lstStyle/>
                    <a:p>
                      <a:r>
                        <a:rPr lang="en-US" b="1" dirty="0"/>
                        <a:t>Inductors are required in almost all cases</a:t>
                      </a:r>
                      <a:endParaRPr lang="en-IN" b="1" dirty="0"/>
                    </a:p>
                  </a:txBody>
                  <a:tcPr/>
                </a:tc>
                <a:tc>
                  <a:txBody>
                    <a:bodyPr/>
                    <a:lstStyle/>
                    <a:p>
                      <a:r>
                        <a:rPr lang="en-IN" b="1" dirty="0"/>
                        <a:t>Inductors are not required </a:t>
                      </a:r>
                    </a:p>
                  </a:txBody>
                  <a:tcPr/>
                </a:tc>
                <a:extLst>
                  <a:ext uri="{0D108BD9-81ED-4DB2-BD59-A6C34878D82A}">
                    <a16:rowId xmlns:a16="http://schemas.microsoft.com/office/drawing/2014/main" val="1040930401"/>
                  </a:ext>
                </a:extLst>
              </a:tr>
              <a:tr h="370840">
                <a:tc>
                  <a:txBody>
                    <a:bodyPr/>
                    <a:lstStyle/>
                    <a:p>
                      <a:r>
                        <a:rPr lang="en-IN" b="1" dirty="0"/>
                        <a:t>Applicability</a:t>
                      </a:r>
                    </a:p>
                  </a:txBody>
                  <a:tcPr/>
                </a:tc>
                <a:tc>
                  <a:txBody>
                    <a:bodyPr/>
                    <a:lstStyle/>
                    <a:p>
                      <a:r>
                        <a:rPr lang="en-US" b="1" dirty="0"/>
                        <a:t>Used for applications frequency response</a:t>
                      </a:r>
                      <a:endParaRPr lang="en-IN" b="1" dirty="0"/>
                    </a:p>
                  </a:txBody>
                  <a:tcPr/>
                </a:tc>
                <a:tc>
                  <a:txBody>
                    <a:bodyPr/>
                    <a:lstStyle/>
                    <a:p>
                      <a:r>
                        <a:rPr lang="en-US" b="1" dirty="0"/>
                        <a:t>Can be used both for fixed and variable frequency response type applications</a:t>
                      </a:r>
                      <a:endParaRPr lang="en-IN" b="1" dirty="0"/>
                    </a:p>
                  </a:txBody>
                  <a:tcPr/>
                </a:tc>
                <a:extLst>
                  <a:ext uri="{0D108BD9-81ED-4DB2-BD59-A6C34878D82A}">
                    <a16:rowId xmlns:a16="http://schemas.microsoft.com/office/drawing/2014/main" val="1873121426"/>
                  </a:ext>
                </a:extLst>
              </a:tr>
              <a:tr h="370840">
                <a:tc>
                  <a:txBody>
                    <a:bodyPr/>
                    <a:lstStyle/>
                    <a:p>
                      <a:r>
                        <a:rPr lang="en-IN" b="1" dirty="0"/>
                        <a:t>Frequency range</a:t>
                      </a:r>
                    </a:p>
                  </a:txBody>
                  <a:tcPr/>
                </a:tc>
                <a:tc>
                  <a:txBody>
                    <a:bodyPr/>
                    <a:lstStyle/>
                    <a:p>
                      <a:r>
                        <a:rPr lang="en-IN" b="1" dirty="0"/>
                        <a:t>Above 200 Hz</a:t>
                      </a:r>
                    </a:p>
                  </a:txBody>
                  <a:tcPr/>
                </a:tc>
                <a:tc>
                  <a:txBody>
                    <a:bodyPr/>
                    <a:lstStyle/>
                    <a:p>
                      <a:r>
                        <a:rPr lang="en-IN" b="1" dirty="0"/>
                        <a:t>Below 100 kHz</a:t>
                      </a:r>
                    </a:p>
                  </a:txBody>
                  <a:tcPr/>
                </a:tc>
                <a:extLst>
                  <a:ext uri="{0D108BD9-81ED-4DB2-BD59-A6C34878D82A}">
                    <a16:rowId xmlns:a16="http://schemas.microsoft.com/office/drawing/2014/main" val="1799261236"/>
                  </a:ext>
                </a:extLst>
              </a:tr>
              <a:tr h="370840">
                <a:tc>
                  <a:txBody>
                    <a:bodyPr/>
                    <a:lstStyle/>
                    <a:p>
                      <a:r>
                        <a:rPr lang="en-IN" b="1" dirty="0"/>
                        <a:t>Signal source</a:t>
                      </a:r>
                    </a:p>
                  </a:txBody>
                  <a:tcPr/>
                </a:tc>
                <a:tc>
                  <a:txBody>
                    <a:bodyPr/>
                    <a:lstStyle/>
                    <a:p>
                      <a:r>
                        <a:rPr lang="en-US" b="1" dirty="0"/>
                        <a:t>Suitable only for resistive source impedances. The low impedance source must be capable of supplying enough signal power.</a:t>
                      </a:r>
                      <a:endParaRPr lang="en-IN" b="1" dirty="0"/>
                    </a:p>
                  </a:txBody>
                  <a:tcPr/>
                </a:tc>
                <a:tc>
                  <a:txBody>
                    <a:bodyPr/>
                    <a:lstStyle/>
                    <a:p>
                      <a:r>
                        <a:rPr lang="en-US" b="1" dirty="0"/>
                        <a:t>High input impedance can be achieved with the use of op-amps. Hence, filter is independent of source impedance. Operates with lower signal power.</a:t>
                      </a:r>
                      <a:endParaRPr lang="en-IN" b="1" dirty="0"/>
                    </a:p>
                  </a:txBody>
                  <a:tcPr/>
                </a:tc>
                <a:extLst>
                  <a:ext uri="{0D108BD9-81ED-4DB2-BD59-A6C34878D82A}">
                    <a16:rowId xmlns:a16="http://schemas.microsoft.com/office/drawing/2014/main" val="292763517"/>
                  </a:ext>
                </a:extLst>
              </a:tr>
              <a:tr h="370840">
                <a:tc>
                  <a:txBody>
                    <a:bodyPr/>
                    <a:lstStyle/>
                    <a:p>
                      <a:r>
                        <a:rPr lang="en-IN" b="1" dirty="0"/>
                        <a:t>Load impedance</a:t>
                      </a:r>
                    </a:p>
                  </a:txBody>
                  <a:tcPr/>
                </a:tc>
                <a:tc>
                  <a:txBody>
                    <a:bodyPr/>
                    <a:lstStyle/>
                    <a:p>
                      <a:r>
                        <a:rPr lang="en-US" b="1" dirty="0"/>
                        <a:t>Suitable only for resistive load impedances. Filter operation depends mainly on load impedance. </a:t>
                      </a:r>
                      <a:endParaRPr lang="en-IN" b="1" dirty="0"/>
                    </a:p>
                  </a:txBody>
                  <a:tcPr/>
                </a:tc>
                <a:tc>
                  <a:txBody>
                    <a:bodyPr/>
                    <a:lstStyle/>
                    <a:p>
                      <a:r>
                        <a:rPr lang="en-US" b="1" dirty="0"/>
                        <a:t>Very low output impedance can be achieved. Hence, filter operation is independent of load impedance.</a:t>
                      </a:r>
                      <a:endParaRPr lang="en-IN" b="1" dirty="0"/>
                    </a:p>
                  </a:txBody>
                  <a:tcPr/>
                </a:tc>
                <a:extLst>
                  <a:ext uri="{0D108BD9-81ED-4DB2-BD59-A6C34878D82A}">
                    <a16:rowId xmlns:a16="http://schemas.microsoft.com/office/drawing/2014/main" val="1156617176"/>
                  </a:ext>
                </a:extLst>
              </a:tr>
              <a:tr h="370840">
                <a:tc>
                  <a:txBody>
                    <a:bodyPr/>
                    <a:lstStyle/>
                    <a:p>
                      <a:r>
                        <a:rPr lang="en-IN" b="1" dirty="0"/>
                        <a:t>Buffer amplifiers</a:t>
                      </a:r>
                    </a:p>
                  </a:txBody>
                  <a:tcPr/>
                </a:tc>
                <a:tc>
                  <a:txBody>
                    <a:bodyPr/>
                    <a:lstStyle/>
                    <a:p>
                      <a:r>
                        <a:rPr lang="en-US" b="1" dirty="0"/>
                        <a:t>Buffer amplifier is required, resulting in increased number of stages.</a:t>
                      </a:r>
                      <a:endParaRPr lang="en-IN" b="1" dirty="0"/>
                    </a:p>
                  </a:txBody>
                  <a:tcPr/>
                </a:tc>
                <a:tc>
                  <a:txBody>
                    <a:bodyPr/>
                    <a:lstStyle/>
                    <a:p>
                      <a:r>
                        <a:rPr lang="en-US" b="1" dirty="0"/>
                        <a:t>Additional buffers are not required due to good impedance matching characteristics.</a:t>
                      </a:r>
                      <a:endParaRPr lang="en-IN" b="1" dirty="0"/>
                    </a:p>
                  </a:txBody>
                  <a:tcPr/>
                </a:tc>
                <a:extLst>
                  <a:ext uri="{0D108BD9-81ED-4DB2-BD59-A6C34878D82A}">
                    <a16:rowId xmlns:a16="http://schemas.microsoft.com/office/drawing/2014/main" val="1406029988"/>
                  </a:ext>
                </a:extLst>
              </a:tr>
            </a:tbl>
          </a:graphicData>
        </a:graphic>
      </p:graphicFrame>
      <p:pic>
        <p:nvPicPr>
          <p:cNvPr id="7" name="Picture 6" descr="VIT-AP University - Wikipedia">
            <a:extLst>
              <a:ext uri="{FF2B5EF4-FFF2-40B4-BE49-F238E27FC236}">
                <a16:creationId xmlns:a16="http://schemas.microsoft.com/office/drawing/2014/main" id="{0B40D5E4-50BF-48D1-AB7D-966277348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610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Comparison of Active and Passive Networks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graphicFrame>
        <p:nvGraphicFramePr>
          <p:cNvPr id="4" name="Table 4">
            <a:extLst>
              <a:ext uri="{FF2B5EF4-FFF2-40B4-BE49-F238E27FC236}">
                <a16:creationId xmlns:a16="http://schemas.microsoft.com/office/drawing/2014/main" id="{106D0C7F-6613-42A5-9086-555E4F403F83}"/>
              </a:ext>
            </a:extLst>
          </p:cNvPr>
          <p:cNvGraphicFramePr>
            <a:graphicFrameLocks noGrp="1"/>
          </p:cNvGraphicFramePr>
          <p:nvPr>
            <p:extLst>
              <p:ext uri="{D42A27DB-BD31-4B8C-83A1-F6EECF244321}">
                <p14:modId xmlns:p14="http://schemas.microsoft.com/office/powerpoint/2010/main" val="4120216603"/>
              </p:ext>
            </p:extLst>
          </p:nvPr>
        </p:nvGraphicFramePr>
        <p:xfrm>
          <a:off x="101600" y="972463"/>
          <a:ext cx="11777690" cy="385064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1155655755"/>
                    </a:ext>
                  </a:extLst>
                </a:gridCol>
                <a:gridCol w="4787900">
                  <a:extLst>
                    <a:ext uri="{9D8B030D-6E8A-4147-A177-3AD203B41FA5}">
                      <a16:colId xmlns:a16="http://schemas.microsoft.com/office/drawing/2014/main" val="2853319509"/>
                    </a:ext>
                  </a:extLst>
                </a:gridCol>
                <a:gridCol w="5021290">
                  <a:extLst>
                    <a:ext uri="{9D8B030D-6E8A-4147-A177-3AD203B41FA5}">
                      <a16:colId xmlns:a16="http://schemas.microsoft.com/office/drawing/2014/main" val="517919777"/>
                    </a:ext>
                  </a:extLst>
                </a:gridCol>
              </a:tblGrid>
              <a:tr h="370840">
                <a:tc>
                  <a:txBody>
                    <a:bodyPr/>
                    <a:lstStyle/>
                    <a:p>
                      <a:pPr algn="ctr"/>
                      <a:r>
                        <a:rPr lang="en-US" b="1" dirty="0"/>
                        <a:t>Feature Passive</a:t>
                      </a:r>
                      <a:endParaRPr lang="en-IN" b="1" dirty="0"/>
                    </a:p>
                  </a:txBody>
                  <a:tcPr/>
                </a:tc>
                <a:tc>
                  <a:txBody>
                    <a:bodyPr/>
                    <a:lstStyle/>
                    <a:p>
                      <a:pPr algn="ctr"/>
                      <a:r>
                        <a:rPr lang="en-US" b="1" dirty="0"/>
                        <a:t>RLC Network </a:t>
                      </a:r>
                      <a:endParaRPr lang="en-IN" b="1" dirty="0"/>
                    </a:p>
                  </a:txBody>
                  <a:tcPr/>
                </a:tc>
                <a:tc>
                  <a:txBody>
                    <a:bodyPr/>
                    <a:lstStyle/>
                    <a:p>
                      <a:pPr algn="ctr"/>
                      <a:r>
                        <a:rPr lang="en-US" b="1" dirty="0"/>
                        <a:t>Active RC network</a:t>
                      </a:r>
                      <a:endParaRPr lang="en-IN" b="1" dirty="0"/>
                    </a:p>
                  </a:txBody>
                  <a:tcPr/>
                </a:tc>
                <a:extLst>
                  <a:ext uri="{0D108BD9-81ED-4DB2-BD59-A6C34878D82A}">
                    <a16:rowId xmlns:a16="http://schemas.microsoft.com/office/drawing/2014/main" val="1690275269"/>
                  </a:ext>
                </a:extLst>
              </a:tr>
              <a:tr h="370840">
                <a:tc>
                  <a:txBody>
                    <a:bodyPr/>
                    <a:lstStyle/>
                    <a:p>
                      <a:r>
                        <a:rPr lang="en-IN" b="1" dirty="0"/>
                        <a:t>Insertion loss</a:t>
                      </a:r>
                    </a:p>
                  </a:txBody>
                  <a:tcPr/>
                </a:tc>
                <a:tc>
                  <a:txBody>
                    <a:bodyPr/>
                    <a:lstStyle/>
                    <a:p>
                      <a:r>
                        <a:rPr lang="en-US" b="1" dirty="0"/>
                        <a:t>Insertion loss is significantly high. Hence, additional amplification is required.</a:t>
                      </a:r>
                      <a:endParaRPr lang="en-IN" b="1" dirty="0"/>
                    </a:p>
                  </a:txBody>
                  <a:tcPr/>
                </a:tc>
                <a:tc>
                  <a:txBody>
                    <a:bodyPr/>
                    <a:lstStyle/>
                    <a:p>
                      <a:r>
                        <a:rPr lang="en-US" b="1" dirty="0"/>
                        <a:t>Insertion gain control can be made. Hence, additional amplifiers are not required.</a:t>
                      </a:r>
                      <a:endParaRPr lang="en-IN" b="1" dirty="0"/>
                    </a:p>
                  </a:txBody>
                  <a:tcPr/>
                </a:tc>
                <a:extLst>
                  <a:ext uri="{0D108BD9-81ED-4DB2-BD59-A6C34878D82A}">
                    <a16:rowId xmlns:a16="http://schemas.microsoft.com/office/drawing/2014/main" val="4229278020"/>
                  </a:ext>
                </a:extLst>
              </a:tr>
              <a:tr h="370840">
                <a:tc>
                  <a:txBody>
                    <a:bodyPr/>
                    <a:lstStyle/>
                    <a:p>
                      <a:r>
                        <a:rPr lang="en-IN" b="1" dirty="0"/>
                        <a:t>Micro-miniaturisation</a:t>
                      </a:r>
                    </a:p>
                  </a:txBody>
                  <a:tcPr/>
                </a:tc>
                <a:tc>
                  <a:txBody>
                    <a:bodyPr/>
                    <a:lstStyle/>
                    <a:p>
                      <a:r>
                        <a:rPr lang="en-US" b="1" dirty="0"/>
                        <a:t>Since inductors play a role, </a:t>
                      </a:r>
                      <a:r>
                        <a:rPr lang="en-US" b="1" dirty="0" err="1"/>
                        <a:t>miniaturisation</a:t>
                      </a:r>
                      <a:r>
                        <a:rPr lang="en-US" b="1" dirty="0"/>
                        <a:t> and integration are not possible.</a:t>
                      </a:r>
                      <a:endParaRPr lang="en-IN" b="1" dirty="0"/>
                    </a:p>
                  </a:txBody>
                  <a:tcPr/>
                </a:tc>
                <a:tc>
                  <a:txBody>
                    <a:bodyPr/>
                    <a:lstStyle/>
                    <a:p>
                      <a:r>
                        <a:rPr lang="en-US" b="1" dirty="0"/>
                        <a:t>Resistors and capacitors being replaced by MOS devices result in </a:t>
                      </a:r>
                      <a:r>
                        <a:rPr lang="en-US" b="1" dirty="0" err="1"/>
                        <a:t>miniaturisation</a:t>
                      </a:r>
                      <a:r>
                        <a:rPr lang="en-US" b="1" dirty="0"/>
                        <a:t> to the order of 65 nm feature sized devices</a:t>
                      </a:r>
                      <a:endParaRPr lang="en-IN" b="1" dirty="0"/>
                    </a:p>
                  </a:txBody>
                  <a:tcPr/>
                </a:tc>
                <a:extLst>
                  <a:ext uri="{0D108BD9-81ED-4DB2-BD59-A6C34878D82A}">
                    <a16:rowId xmlns:a16="http://schemas.microsoft.com/office/drawing/2014/main" val="1040930401"/>
                  </a:ext>
                </a:extLst>
              </a:tr>
              <a:tr h="370840">
                <a:tc>
                  <a:txBody>
                    <a:bodyPr/>
                    <a:lstStyle/>
                    <a:p>
                      <a:r>
                        <a:rPr lang="en-IN" b="1" dirty="0"/>
                        <a:t>Stability</a:t>
                      </a:r>
                    </a:p>
                  </a:txBody>
                  <a:tcPr/>
                </a:tc>
                <a:tc>
                  <a:txBody>
                    <a:bodyPr/>
                    <a:lstStyle/>
                    <a:p>
                      <a:r>
                        <a:rPr lang="en-US" b="1" dirty="0"/>
                        <a:t> Absolutely stable</a:t>
                      </a:r>
                      <a:endParaRPr lang="en-IN" b="1" dirty="0"/>
                    </a:p>
                  </a:txBody>
                  <a:tcPr/>
                </a:tc>
                <a:tc>
                  <a:txBody>
                    <a:bodyPr/>
                    <a:lstStyle/>
                    <a:p>
                      <a:r>
                        <a:rPr lang="en-US" b="1" dirty="0"/>
                        <a:t>Instability may arise due to varying process conditions in fabrication. Stability margin can be improved by more accurate process conditions.</a:t>
                      </a:r>
                      <a:endParaRPr lang="en-IN" b="1" dirty="0"/>
                    </a:p>
                  </a:txBody>
                  <a:tcPr/>
                </a:tc>
                <a:extLst>
                  <a:ext uri="{0D108BD9-81ED-4DB2-BD59-A6C34878D82A}">
                    <a16:rowId xmlns:a16="http://schemas.microsoft.com/office/drawing/2014/main" val="1873121426"/>
                  </a:ext>
                </a:extLst>
              </a:tr>
              <a:tr h="370840">
                <a:tc>
                  <a:txBody>
                    <a:bodyPr/>
                    <a:lstStyle/>
                    <a:p>
                      <a:r>
                        <a:rPr lang="en-IN" b="1" dirty="0"/>
                        <a:t>Sensitivity</a:t>
                      </a:r>
                    </a:p>
                  </a:txBody>
                  <a:tcPr/>
                </a:tc>
                <a:tc>
                  <a:txBody>
                    <a:bodyPr/>
                    <a:lstStyle/>
                    <a:p>
                      <a:r>
                        <a:rPr lang="en-US" b="1" dirty="0"/>
                        <a:t>The ladder type filter is less sensitive.</a:t>
                      </a:r>
                      <a:endParaRPr lang="en-IN" b="1" dirty="0"/>
                    </a:p>
                  </a:txBody>
                  <a:tcPr/>
                </a:tc>
                <a:tc>
                  <a:txBody>
                    <a:bodyPr/>
                    <a:lstStyle/>
                    <a:p>
                      <a:r>
                        <a:rPr lang="en-IN" b="1" dirty="0"/>
                        <a:t>More sensitive</a:t>
                      </a:r>
                    </a:p>
                  </a:txBody>
                  <a:tcPr/>
                </a:tc>
                <a:extLst>
                  <a:ext uri="{0D108BD9-81ED-4DB2-BD59-A6C34878D82A}">
                    <a16:rowId xmlns:a16="http://schemas.microsoft.com/office/drawing/2014/main" val="1799261236"/>
                  </a:ext>
                </a:extLst>
              </a:tr>
              <a:tr h="370840">
                <a:tc>
                  <a:txBody>
                    <a:bodyPr/>
                    <a:lstStyle/>
                    <a:p>
                      <a:r>
                        <a:rPr lang="en-IN" b="1" dirty="0"/>
                        <a:t>Power supplies</a:t>
                      </a:r>
                    </a:p>
                  </a:txBody>
                  <a:tcPr/>
                </a:tc>
                <a:tc>
                  <a:txBody>
                    <a:bodyPr/>
                    <a:lstStyle/>
                    <a:p>
                      <a:r>
                        <a:rPr lang="en-US" b="1" dirty="0"/>
                        <a:t>Does not require any power supplies</a:t>
                      </a:r>
                      <a:endParaRPr lang="en-IN" b="1" dirty="0"/>
                    </a:p>
                  </a:txBody>
                  <a:tcPr/>
                </a:tc>
                <a:tc>
                  <a:txBody>
                    <a:bodyPr/>
                    <a:lstStyle/>
                    <a:p>
                      <a:r>
                        <a:rPr lang="en-US" b="1" dirty="0"/>
                        <a:t> Dual power supplies are required to</a:t>
                      </a:r>
                    </a:p>
                    <a:p>
                      <a:r>
                        <a:rPr lang="en-US" b="1" dirty="0"/>
                        <a:t>bias the active elements.</a:t>
                      </a:r>
                      <a:endParaRPr lang="en-IN" b="1" dirty="0"/>
                    </a:p>
                  </a:txBody>
                  <a:tcPr/>
                </a:tc>
                <a:extLst>
                  <a:ext uri="{0D108BD9-81ED-4DB2-BD59-A6C34878D82A}">
                    <a16:rowId xmlns:a16="http://schemas.microsoft.com/office/drawing/2014/main" val="292763517"/>
                  </a:ext>
                </a:extLst>
              </a:tr>
            </a:tbl>
          </a:graphicData>
        </a:graphic>
      </p:graphicFrame>
      <p:pic>
        <p:nvPicPr>
          <p:cNvPr id="7" name="Picture 6" descr="VIT-AP University - Wikipedia">
            <a:extLst>
              <a:ext uri="{FF2B5EF4-FFF2-40B4-BE49-F238E27FC236}">
                <a16:creationId xmlns:a16="http://schemas.microsoft.com/office/drawing/2014/main" id="{0B40D5E4-50BF-48D1-AB7D-9662773487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53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77A2-BB3E-2245-3275-B5E0F38E4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95613-B387-67EA-5C45-A0CCE41B7B48}"/>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Active Filter Design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7" name="TextBox 6">
            <a:extLst>
              <a:ext uri="{FF2B5EF4-FFF2-40B4-BE49-F238E27FC236}">
                <a16:creationId xmlns:a16="http://schemas.microsoft.com/office/drawing/2014/main" id="{D75DF5E7-0D86-3BAB-0755-D8E54AB2BCF5}"/>
              </a:ext>
            </a:extLst>
          </p:cNvPr>
          <p:cNvSpPr txBox="1"/>
          <p:nvPr/>
        </p:nvSpPr>
        <p:spPr>
          <a:xfrm>
            <a:off x="312710" y="732477"/>
            <a:ext cx="10761690" cy="6125523"/>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200" dirty="0">
                <a:latin typeface="Times New Roman" panose="02020603050405020304" pitchFamily="18" charset="0"/>
                <a:ea typeface="Calibri" panose="020F0502020204030204" pitchFamily="34" charset="0"/>
                <a:cs typeface="Times New Roman" panose="02020603050405020304" pitchFamily="18" charset="0"/>
              </a:rPr>
              <a:t>The manner in which the </a:t>
            </a:r>
            <a:r>
              <a:rPr lang="en-US" sz="2200" dirty="0" err="1">
                <a:latin typeface="Times New Roman" panose="02020603050405020304" pitchFamily="18" charset="0"/>
                <a:ea typeface="Calibri" panose="020F0502020204030204" pitchFamily="34" charset="0"/>
                <a:cs typeface="Times New Roman" panose="02020603050405020304" pitchFamily="18" charset="0"/>
              </a:rPr>
              <a:t>behaviour</a:t>
            </a:r>
            <a:r>
              <a:rPr lang="en-US" sz="2200" dirty="0">
                <a:latin typeface="Times New Roman" panose="02020603050405020304" pitchFamily="18" charset="0"/>
                <a:ea typeface="Calibri" panose="020F0502020204030204" pitchFamily="34" charset="0"/>
                <a:cs typeface="Times New Roman" panose="02020603050405020304" pitchFamily="18" charset="0"/>
              </a:rPr>
              <a:t> of the filter varies with frequency is called its frequency response and it is expressed in terms of the transfer function H(</a:t>
            </a:r>
            <a:r>
              <a:rPr lang="en-US" sz="2200" dirty="0" err="1">
                <a:latin typeface="Times New Roman" panose="02020603050405020304" pitchFamily="18" charset="0"/>
                <a:ea typeface="Calibri" panose="020F0502020204030204" pitchFamily="34" charset="0"/>
                <a:cs typeface="Times New Roman" panose="02020603050405020304" pitchFamily="18" charset="0"/>
              </a:rPr>
              <a:t>jw</a:t>
            </a:r>
            <a:r>
              <a:rPr lang="en-US" sz="2200" dirty="0">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buFont typeface="Symbol" panose="05050102010706020507" pitchFamily="18" charset="2"/>
              <a:buChar char=""/>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Low Pass Filter</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a:latin typeface="Times New Roman" panose="02020603050405020304" pitchFamily="18" charset="0"/>
                <a:ea typeface="Calibri" panose="020F0502020204030204" pitchFamily="34" charset="0"/>
                <a:cs typeface="Times New Roman" panose="02020603050405020304" pitchFamily="18" charset="0"/>
              </a:rPr>
              <a:t>A low-pass filter allows only low frequency signals up to a certain break-point </a:t>
            </a:r>
            <a:r>
              <a:rPr lang="en-US" sz="2200" dirty="0" err="1">
                <a:latin typeface="Times New Roman" panose="02020603050405020304" pitchFamily="18" charset="0"/>
                <a:ea typeface="Calibri" panose="020F0502020204030204" pitchFamily="34" charset="0"/>
                <a:cs typeface="Times New Roman" panose="02020603050405020304" pitchFamily="18" charset="0"/>
              </a:rPr>
              <a:t>f</a:t>
            </a:r>
            <a:r>
              <a:rPr lang="en-US" sz="2200" baseline="-25000" dirty="0" err="1">
                <a:latin typeface="Times New Roman" panose="02020603050405020304" pitchFamily="18" charset="0"/>
                <a:ea typeface="Calibri" panose="020F0502020204030204" pitchFamily="34" charset="0"/>
                <a:cs typeface="Times New Roman" panose="02020603050405020304" pitchFamily="18" charset="0"/>
              </a:rPr>
              <a:t>H</a:t>
            </a:r>
            <a:r>
              <a:rPr lang="en-US" sz="2200" dirty="0">
                <a:latin typeface="Times New Roman" panose="02020603050405020304" pitchFamily="18" charset="0"/>
                <a:ea typeface="Calibri" panose="020F0502020204030204" pitchFamily="34" charset="0"/>
                <a:cs typeface="Times New Roman" panose="02020603050405020304" pitchFamily="18" charset="0"/>
              </a:rPr>
              <a:t> to pass through, while suppressing high frequency components. Frequencies from 0 to </a:t>
            </a:r>
            <a:r>
              <a:rPr lang="en-US" sz="2200" dirty="0" err="1">
                <a:latin typeface="Times New Roman" panose="02020603050405020304" pitchFamily="18" charset="0"/>
                <a:ea typeface="Calibri" panose="020F0502020204030204" pitchFamily="34" charset="0"/>
                <a:cs typeface="Times New Roman" panose="02020603050405020304" pitchFamily="18" charset="0"/>
              </a:rPr>
              <a:t>f</a:t>
            </a:r>
            <a:r>
              <a:rPr lang="en-US" sz="2200" baseline="-25000" dirty="0" err="1">
                <a:latin typeface="Times New Roman" panose="02020603050405020304" pitchFamily="18" charset="0"/>
                <a:ea typeface="Calibri" panose="020F0502020204030204" pitchFamily="34" charset="0"/>
                <a:cs typeface="Times New Roman" panose="02020603050405020304" pitchFamily="18" charset="0"/>
              </a:rPr>
              <a:t>H</a:t>
            </a:r>
            <a:r>
              <a:rPr lang="en-US" sz="2200" dirty="0">
                <a:latin typeface="Times New Roman" panose="02020603050405020304" pitchFamily="18" charset="0"/>
                <a:ea typeface="Calibri" panose="020F0502020204030204" pitchFamily="34" charset="0"/>
                <a:cs typeface="Times New Roman" panose="02020603050405020304" pitchFamily="18" charset="0"/>
              </a:rPr>
              <a:t> is called passband and else is called stopband</a:t>
            </a:r>
          </a:p>
          <a:p>
            <a:pPr marL="342900" lvl="0" indent="-342900" algn="just">
              <a:lnSpc>
                <a:spcPct val="150000"/>
              </a:lnSpc>
              <a:buFont typeface="Symbol" panose="05050102010706020507" pitchFamily="18" charset="2"/>
              <a:buChar char=""/>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High Pass Filter</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a:latin typeface="Times New Roman" panose="02020603050405020304" pitchFamily="18" charset="0"/>
                <a:ea typeface="Calibri" panose="020F0502020204030204" pitchFamily="34" charset="0"/>
                <a:cs typeface="Times New Roman" panose="02020603050405020304" pitchFamily="18" charset="0"/>
              </a:rPr>
              <a:t>A high-pass filter allows only frequencies above a certain break-point </a:t>
            </a:r>
            <a:r>
              <a:rPr lang="en-US" sz="2200" dirty="0" err="1">
                <a:latin typeface="Times New Roman" panose="02020603050405020304" pitchFamily="18" charset="0"/>
                <a:ea typeface="Calibri" panose="020F0502020204030204" pitchFamily="34" charset="0"/>
                <a:cs typeface="Times New Roman" panose="02020603050405020304" pitchFamily="18" charset="0"/>
              </a:rPr>
              <a:t>f</a:t>
            </a:r>
            <a:r>
              <a:rPr lang="en-US" sz="2200" baseline="-25000" dirty="0" err="1">
                <a:latin typeface="Times New Roman" panose="02020603050405020304" pitchFamily="18" charset="0"/>
                <a:ea typeface="Calibri" panose="020F0502020204030204" pitchFamily="34" charset="0"/>
                <a:cs typeface="Times New Roman" panose="02020603050405020304" pitchFamily="18" charset="0"/>
              </a:rPr>
              <a:t>L</a:t>
            </a:r>
            <a:r>
              <a:rPr lang="en-US" sz="2200" dirty="0">
                <a:latin typeface="Times New Roman" panose="02020603050405020304" pitchFamily="18" charset="0"/>
                <a:ea typeface="Calibri" panose="020F0502020204030204" pitchFamily="34" charset="0"/>
                <a:cs typeface="Times New Roman" panose="02020603050405020304" pitchFamily="18" charset="0"/>
              </a:rPr>
              <a:t> to pass through and attenuates the low frequency components. Frequencies from 0 to </a:t>
            </a:r>
            <a:r>
              <a:rPr lang="en-US" sz="2200" dirty="0" err="1">
                <a:latin typeface="Times New Roman" panose="02020603050405020304" pitchFamily="18" charset="0"/>
                <a:ea typeface="Calibri" panose="020F0502020204030204" pitchFamily="34" charset="0"/>
                <a:cs typeface="Times New Roman" panose="02020603050405020304" pitchFamily="18" charset="0"/>
              </a:rPr>
              <a:t>f</a:t>
            </a:r>
            <a:r>
              <a:rPr lang="en-US" sz="2200" baseline="-25000" dirty="0" err="1">
                <a:latin typeface="Times New Roman" panose="02020603050405020304" pitchFamily="18" charset="0"/>
                <a:ea typeface="Calibri" panose="020F0502020204030204" pitchFamily="34" charset="0"/>
                <a:cs typeface="Times New Roman" panose="02020603050405020304" pitchFamily="18" charset="0"/>
              </a:rPr>
              <a:t>L</a:t>
            </a:r>
            <a:r>
              <a:rPr lang="en-US" sz="2200" dirty="0">
                <a:latin typeface="Times New Roman" panose="02020603050405020304" pitchFamily="18" charset="0"/>
                <a:ea typeface="Calibri" panose="020F0502020204030204" pitchFamily="34" charset="0"/>
                <a:cs typeface="Times New Roman" panose="02020603050405020304" pitchFamily="18" charset="0"/>
              </a:rPr>
              <a:t> is called stopband and else is called passband</a:t>
            </a:r>
          </a:p>
          <a:p>
            <a:pPr marL="342900" lvl="0" indent="-342900" algn="just">
              <a:lnSpc>
                <a:spcPct val="150000"/>
              </a:lnSpc>
              <a:buFont typeface="Symbol" panose="05050102010706020507" pitchFamily="18" charset="2"/>
              <a:buChar char=""/>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Bandpass Filter</a:t>
            </a: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dirty="0">
                <a:latin typeface="Times New Roman" panose="02020603050405020304" pitchFamily="18" charset="0"/>
                <a:ea typeface="Calibri" panose="020F0502020204030204" pitchFamily="34" charset="0"/>
                <a:cs typeface="Times New Roman" panose="02020603050405020304" pitchFamily="18" charset="0"/>
              </a:rPr>
              <a:t>The bandpass filter is the combination of high and low-pass filters, and this allows a specified range of frequencies to pass through.</a:t>
            </a:r>
          </a:p>
          <a:p>
            <a:pPr marL="342900" lvl="0" indent="-342900" algn="just">
              <a:lnSpc>
                <a:spcPct val="150000"/>
              </a:lnSpc>
              <a:buFont typeface="Symbol" panose="05050102010706020507" pitchFamily="18" charset="2"/>
              <a:buChar char=""/>
            </a:pPr>
            <a:r>
              <a:rPr lang="en-US" sz="2200" b="1" dirty="0">
                <a:effectLst/>
                <a:latin typeface="Times New Roman" panose="02020603050405020304" pitchFamily="18" charset="0"/>
                <a:ea typeface="Calibri" panose="020F0502020204030204" pitchFamily="34" charset="0"/>
                <a:cs typeface="Times New Roman" panose="02020603050405020304" pitchFamily="18" charset="0"/>
              </a:rPr>
              <a:t>Band </a:t>
            </a:r>
            <a:r>
              <a:rPr lang="en-US" sz="2200" b="1" dirty="0">
                <a:latin typeface="Times New Roman" panose="02020603050405020304" pitchFamily="18" charset="0"/>
                <a:ea typeface="Calibri" panose="020F0502020204030204" pitchFamily="34" charset="0"/>
                <a:cs typeface="Times New Roman" panose="02020603050405020304" pitchFamily="18" charset="0"/>
              </a:rPr>
              <a:t>Reject Filter</a:t>
            </a:r>
            <a:r>
              <a:rPr lang="en-US" sz="2200" dirty="0">
                <a:latin typeface="Times New Roman" panose="02020603050405020304" pitchFamily="18" charset="0"/>
                <a:ea typeface="Calibri" panose="020F0502020204030204" pitchFamily="34" charset="0"/>
                <a:cs typeface="Times New Roman" panose="02020603050405020304" pitchFamily="18" charset="0"/>
              </a:rPr>
              <a:t>: The band-reject filter is the logical inverse of bandpass filter, which does not allow a specified range of frequencies to pass through.</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4C2B9AE2-2C9E-F0D2-75E0-A7F40F6695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211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77A2-BB3E-2245-3275-B5E0F38E4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95613-B387-67EA-5C45-A0CCE41B7B48}"/>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Active Filter Design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4C2B9AE2-2C9E-F0D2-75E0-A7F40F6695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AA14113-BA74-4820-95DF-3061BFB2341C}"/>
              </a:ext>
            </a:extLst>
          </p:cNvPr>
          <p:cNvPicPr>
            <a:picLocks noChangeAspect="1"/>
          </p:cNvPicPr>
          <p:nvPr/>
        </p:nvPicPr>
        <p:blipFill>
          <a:blip r:embed="rId3"/>
          <a:stretch>
            <a:fillRect/>
          </a:stretch>
        </p:blipFill>
        <p:spPr>
          <a:xfrm>
            <a:off x="1297785" y="838200"/>
            <a:ext cx="8887615" cy="5708220"/>
          </a:xfrm>
          <a:prstGeom prst="rect">
            <a:avLst/>
          </a:prstGeom>
        </p:spPr>
      </p:pic>
    </p:spTree>
    <p:extLst>
      <p:ext uri="{BB962C8B-B14F-4D97-AF65-F5344CB8AC3E}">
        <p14:creationId xmlns:p14="http://schemas.microsoft.com/office/powerpoint/2010/main" val="1927697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277A2-BB3E-2245-3275-B5E0F38E4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95613-B387-67EA-5C45-A0CCE41B7B48}"/>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Active Filter Design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4C2B9AE2-2C9E-F0D2-75E0-A7F40F6695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8AE1DEC-82A5-4CCC-98B6-70429FDC96F4}"/>
              </a:ext>
            </a:extLst>
          </p:cNvPr>
          <p:cNvPicPr>
            <a:picLocks noChangeAspect="1"/>
          </p:cNvPicPr>
          <p:nvPr/>
        </p:nvPicPr>
        <p:blipFill>
          <a:blip r:embed="rId3"/>
          <a:stretch>
            <a:fillRect/>
          </a:stretch>
        </p:blipFill>
        <p:spPr>
          <a:xfrm>
            <a:off x="890281" y="901735"/>
            <a:ext cx="9296360" cy="5826521"/>
          </a:xfrm>
          <a:prstGeom prst="rect">
            <a:avLst/>
          </a:prstGeom>
        </p:spPr>
      </p:pic>
    </p:spTree>
    <p:extLst>
      <p:ext uri="{BB962C8B-B14F-4D97-AF65-F5344CB8AC3E}">
        <p14:creationId xmlns:p14="http://schemas.microsoft.com/office/powerpoint/2010/main" val="1589412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Low Pass Filters with Unity Gain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AA0E60E-8E83-4168-92E3-FA93EEAE1672}"/>
              </a:ext>
            </a:extLst>
          </p:cNvPr>
          <p:cNvPicPr>
            <a:picLocks noChangeAspect="1"/>
          </p:cNvPicPr>
          <p:nvPr/>
        </p:nvPicPr>
        <p:blipFill rotWithShape="1">
          <a:blip r:embed="rId3"/>
          <a:srcRect r="51287"/>
          <a:stretch/>
        </p:blipFill>
        <p:spPr>
          <a:xfrm>
            <a:off x="7926026" y="1178565"/>
            <a:ext cx="3953264" cy="2781300"/>
          </a:xfrm>
          <a:prstGeom prst="rect">
            <a:avLst/>
          </a:prstGeom>
        </p:spPr>
      </p:pic>
      <p:pic>
        <p:nvPicPr>
          <p:cNvPr id="7" name="Picture 6">
            <a:extLst>
              <a:ext uri="{FF2B5EF4-FFF2-40B4-BE49-F238E27FC236}">
                <a16:creationId xmlns:a16="http://schemas.microsoft.com/office/drawing/2014/main" id="{7FF7A7F7-8820-4A53-AA52-A5E1992B0FE6}"/>
              </a:ext>
            </a:extLst>
          </p:cNvPr>
          <p:cNvPicPr>
            <a:picLocks noChangeAspect="1"/>
          </p:cNvPicPr>
          <p:nvPr/>
        </p:nvPicPr>
        <p:blipFill rotWithShape="1">
          <a:blip r:embed="rId3"/>
          <a:srcRect l="50447"/>
          <a:stretch/>
        </p:blipFill>
        <p:spPr>
          <a:xfrm>
            <a:off x="7809354" y="3975338"/>
            <a:ext cx="4021359" cy="2781300"/>
          </a:xfrm>
          <a:prstGeom prst="rect">
            <a:avLst/>
          </a:prstGeom>
        </p:spPr>
      </p:pic>
      <p:pic>
        <p:nvPicPr>
          <p:cNvPr id="5" name="Picture 4">
            <a:extLst>
              <a:ext uri="{FF2B5EF4-FFF2-40B4-BE49-F238E27FC236}">
                <a16:creationId xmlns:a16="http://schemas.microsoft.com/office/drawing/2014/main" id="{D93D355A-C669-489F-827E-AB3AC51F9331}"/>
              </a:ext>
            </a:extLst>
          </p:cNvPr>
          <p:cNvPicPr>
            <a:picLocks noChangeAspect="1"/>
          </p:cNvPicPr>
          <p:nvPr/>
        </p:nvPicPr>
        <p:blipFill>
          <a:blip r:embed="rId4"/>
          <a:stretch>
            <a:fillRect/>
          </a:stretch>
        </p:blipFill>
        <p:spPr>
          <a:xfrm>
            <a:off x="687485" y="972463"/>
            <a:ext cx="3895725" cy="1247775"/>
          </a:xfrm>
          <a:prstGeom prst="rect">
            <a:avLst/>
          </a:prstGeom>
        </p:spPr>
      </p:pic>
      <p:pic>
        <p:nvPicPr>
          <p:cNvPr id="6" name="Picture 5">
            <a:extLst>
              <a:ext uri="{FF2B5EF4-FFF2-40B4-BE49-F238E27FC236}">
                <a16:creationId xmlns:a16="http://schemas.microsoft.com/office/drawing/2014/main" id="{B3CDE07A-FB4B-431F-8F87-A301ACB641F9}"/>
              </a:ext>
            </a:extLst>
          </p:cNvPr>
          <p:cNvPicPr>
            <a:picLocks noChangeAspect="1"/>
          </p:cNvPicPr>
          <p:nvPr/>
        </p:nvPicPr>
        <p:blipFill>
          <a:blip r:embed="rId5"/>
          <a:stretch>
            <a:fillRect/>
          </a:stretch>
        </p:blipFill>
        <p:spPr>
          <a:xfrm>
            <a:off x="687485" y="2301127"/>
            <a:ext cx="2286000" cy="1028700"/>
          </a:xfrm>
          <a:prstGeom prst="rect">
            <a:avLst/>
          </a:prstGeom>
        </p:spPr>
      </p:pic>
      <p:pic>
        <p:nvPicPr>
          <p:cNvPr id="8" name="Picture 7">
            <a:extLst>
              <a:ext uri="{FF2B5EF4-FFF2-40B4-BE49-F238E27FC236}">
                <a16:creationId xmlns:a16="http://schemas.microsoft.com/office/drawing/2014/main" id="{88BF0EB9-6C19-4AA5-9B5B-20B52EB9D0CF}"/>
              </a:ext>
            </a:extLst>
          </p:cNvPr>
          <p:cNvPicPr>
            <a:picLocks noChangeAspect="1"/>
          </p:cNvPicPr>
          <p:nvPr/>
        </p:nvPicPr>
        <p:blipFill>
          <a:blip r:embed="rId6"/>
          <a:stretch>
            <a:fillRect/>
          </a:stretch>
        </p:blipFill>
        <p:spPr>
          <a:xfrm>
            <a:off x="3796215" y="2301127"/>
            <a:ext cx="1143000" cy="666750"/>
          </a:xfrm>
          <a:prstGeom prst="rect">
            <a:avLst/>
          </a:prstGeom>
        </p:spPr>
      </p:pic>
      <p:pic>
        <p:nvPicPr>
          <p:cNvPr id="10" name="Picture 9">
            <a:extLst>
              <a:ext uri="{FF2B5EF4-FFF2-40B4-BE49-F238E27FC236}">
                <a16:creationId xmlns:a16="http://schemas.microsoft.com/office/drawing/2014/main" id="{65943606-CABC-4A0D-AA17-C5C51F502D87}"/>
              </a:ext>
            </a:extLst>
          </p:cNvPr>
          <p:cNvPicPr>
            <a:picLocks noChangeAspect="1"/>
          </p:cNvPicPr>
          <p:nvPr/>
        </p:nvPicPr>
        <p:blipFill>
          <a:blip r:embed="rId7"/>
          <a:stretch>
            <a:fillRect/>
          </a:stretch>
        </p:blipFill>
        <p:spPr>
          <a:xfrm>
            <a:off x="544610" y="3528174"/>
            <a:ext cx="6010275" cy="1295400"/>
          </a:xfrm>
          <a:prstGeom prst="rect">
            <a:avLst/>
          </a:prstGeom>
        </p:spPr>
      </p:pic>
      <p:sp>
        <p:nvSpPr>
          <p:cNvPr id="12" name="TextBox 11">
            <a:extLst>
              <a:ext uri="{FF2B5EF4-FFF2-40B4-BE49-F238E27FC236}">
                <a16:creationId xmlns:a16="http://schemas.microsoft.com/office/drawing/2014/main" id="{37556CDD-EA88-4FBD-B57B-E319685B4DC0}"/>
              </a:ext>
            </a:extLst>
          </p:cNvPr>
          <p:cNvSpPr txBox="1"/>
          <p:nvPr/>
        </p:nvSpPr>
        <p:spPr>
          <a:xfrm>
            <a:off x="251387" y="5028118"/>
            <a:ext cx="7992282" cy="1569660"/>
          </a:xfrm>
          <a:prstGeom prst="rect">
            <a:avLst/>
          </a:prstGeom>
          <a:noFill/>
        </p:spPr>
        <p:txBody>
          <a:bodyPr wrap="square" rtlCol="0">
            <a:spAutoFit/>
          </a:bodyPr>
          <a:lstStyle/>
          <a:p>
            <a:pPr algn="just"/>
            <a:r>
              <a:rPr lang="en-US" sz="2400" dirty="0"/>
              <a:t>The slope of the voltage gain magnitude curve outside the passband is 6 dB/octave or 20 dB/decade. This characteristic is called the roll-off. The roll-off becomes sharper or steeper with higher-order filters.</a:t>
            </a:r>
            <a:endParaRPr lang="en-IN" sz="2400" dirty="0"/>
          </a:p>
        </p:txBody>
      </p:sp>
    </p:spTree>
    <p:extLst>
      <p:ext uri="{BB962C8B-B14F-4D97-AF65-F5344CB8AC3E}">
        <p14:creationId xmlns:p14="http://schemas.microsoft.com/office/powerpoint/2010/main" val="3615094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Low Pass Filters with Variable Gain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5B3A53A5-A29F-4162-96B8-87E2BDE73B0D}"/>
              </a:ext>
            </a:extLst>
          </p:cNvPr>
          <p:cNvPicPr>
            <a:picLocks noChangeAspect="1"/>
          </p:cNvPicPr>
          <p:nvPr/>
        </p:nvPicPr>
        <p:blipFill>
          <a:blip r:embed="rId3"/>
          <a:stretch>
            <a:fillRect/>
          </a:stretch>
        </p:blipFill>
        <p:spPr>
          <a:xfrm>
            <a:off x="7886700" y="1172741"/>
            <a:ext cx="4305300" cy="2625437"/>
          </a:xfrm>
          <a:prstGeom prst="rect">
            <a:avLst/>
          </a:prstGeom>
        </p:spPr>
      </p:pic>
      <p:pic>
        <p:nvPicPr>
          <p:cNvPr id="11" name="Picture 10">
            <a:extLst>
              <a:ext uri="{FF2B5EF4-FFF2-40B4-BE49-F238E27FC236}">
                <a16:creationId xmlns:a16="http://schemas.microsoft.com/office/drawing/2014/main" id="{C84896EB-E6B0-42EA-BF56-D55F177A7CE0}"/>
              </a:ext>
            </a:extLst>
          </p:cNvPr>
          <p:cNvPicPr>
            <a:picLocks noChangeAspect="1"/>
          </p:cNvPicPr>
          <p:nvPr/>
        </p:nvPicPr>
        <p:blipFill>
          <a:blip r:embed="rId4"/>
          <a:stretch>
            <a:fillRect/>
          </a:stretch>
        </p:blipFill>
        <p:spPr>
          <a:xfrm>
            <a:off x="7468014" y="3968952"/>
            <a:ext cx="4723986" cy="2472652"/>
          </a:xfrm>
          <a:prstGeom prst="rect">
            <a:avLst/>
          </a:prstGeom>
        </p:spPr>
      </p:pic>
      <p:pic>
        <p:nvPicPr>
          <p:cNvPr id="14" name="Picture 13">
            <a:extLst>
              <a:ext uri="{FF2B5EF4-FFF2-40B4-BE49-F238E27FC236}">
                <a16:creationId xmlns:a16="http://schemas.microsoft.com/office/drawing/2014/main" id="{F8087BE5-BC93-46C2-871E-6C53CF7C4D47}"/>
              </a:ext>
            </a:extLst>
          </p:cNvPr>
          <p:cNvPicPr>
            <a:picLocks noChangeAspect="1"/>
          </p:cNvPicPr>
          <p:nvPr/>
        </p:nvPicPr>
        <p:blipFill>
          <a:blip r:embed="rId5"/>
          <a:stretch>
            <a:fillRect/>
          </a:stretch>
        </p:blipFill>
        <p:spPr>
          <a:xfrm>
            <a:off x="939605" y="918320"/>
            <a:ext cx="2209800" cy="828675"/>
          </a:xfrm>
          <a:prstGeom prst="rect">
            <a:avLst/>
          </a:prstGeom>
        </p:spPr>
      </p:pic>
      <p:pic>
        <p:nvPicPr>
          <p:cNvPr id="15" name="Picture 14">
            <a:extLst>
              <a:ext uri="{FF2B5EF4-FFF2-40B4-BE49-F238E27FC236}">
                <a16:creationId xmlns:a16="http://schemas.microsoft.com/office/drawing/2014/main" id="{E75C9469-EEC8-44C2-B86C-66ACD0DBC332}"/>
              </a:ext>
            </a:extLst>
          </p:cNvPr>
          <p:cNvPicPr>
            <a:picLocks noChangeAspect="1"/>
          </p:cNvPicPr>
          <p:nvPr/>
        </p:nvPicPr>
        <p:blipFill>
          <a:blip r:embed="rId6"/>
          <a:stretch>
            <a:fillRect/>
          </a:stretch>
        </p:blipFill>
        <p:spPr>
          <a:xfrm>
            <a:off x="939605" y="1951539"/>
            <a:ext cx="1857375" cy="828675"/>
          </a:xfrm>
          <a:prstGeom prst="rect">
            <a:avLst/>
          </a:prstGeom>
        </p:spPr>
      </p:pic>
      <p:pic>
        <p:nvPicPr>
          <p:cNvPr id="16" name="Picture 15">
            <a:extLst>
              <a:ext uri="{FF2B5EF4-FFF2-40B4-BE49-F238E27FC236}">
                <a16:creationId xmlns:a16="http://schemas.microsoft.com/office/drawing/2014/main" id="{D3522C7C-8453-49AF-B161-6D1D194440A0}"/>
              </a:ext>
            </a:extLst>
          </p:cNvPr>
          <p:cNvPicPr>
            <a:picLocks noChangeAspect="1"/>
          </p:cNvPicPr>
          <p:nvPr/>
        </p:nvPicPr>
        <p:blipFill>
          <a:blip r:embed="rId7"/>
          <a:stretch>
            <a:fillRect/>
          </a:stretch>
        </p:blipFill>
        <p:spPr>
          <a:xfrm>
            <a:off x="717453" y="2902828"/>
            <a:ext cx="3200400" cy="895350"/>
          </a:xfrm>
          <a:prstGeom prst="rect">
            <a:avLst/>
          </a:prstGeom>
        </p:spPr>
      </p:pic>
      <p:pic>
        <p:nvPicPr>
          <p:cNvPr id="17" name="Picture 16">
            <a:extLst>
              <a:ext uri="{FF2B5EF4-FFF2-40B4-BE49-F238E27FC236}">
                <a16:creationId xmlns:a16="http://schemas.microsoft.com/office/drawing/2014/main" id="{4FCBF9FB-B1FE-4174-A0F8-B872D08A7222}"/>
              </a:ext>
            </a:extLst>
          </p:cNvPr>
          <p:cNvPicPr>
            <a:picLocks noChangeAspect="1"/>
          </p:cNvPicPr>
          <p:nvPr/>
        </p:nvPicPr>
        <p:blipFill>
          <a:blip r:embed="rId8"/>
          <a:stretch>
            <a:fillRect/>
          </a:stretch>
        </p:blipFill>
        <p:spPr>
          <a:xfrm>
            <a:off x="749104" y="3968952"/>
            <a:ext cx="2238375" cy="1181100"/>
          </a:xfrm>
          <a:prstGeom prst="rect">
            <a:avLst/>
          </a:prstGeom>
        </p:spPr>
      </p:pic>
      <p:pic>
        <p:nvPicPr>
          <p:cNvPr id="18" name="Picture 17">
            <a:extLst>
              <a:ext uri="{FF2B5EF4-FFF2-40B4-BE49-F238E27FC236}">
                <a16:creationId xmlns:a16="http://schemas.microsoft.com/office/drawing/2014/main" id="{0BC11162-F807-4778-8C36-9D8F2B4F26B2}"/>
              </a:ext>
            </a:extLst>
          </p:cNvPr>
          <p:cNvPicPr>
            <a:picLocks noChangeAspect="1"/>
          </p:cNvPicPr>
          <p:nvPr/>
        </p:nvPicPr>
        <p:blipFill>
          <a:blip r:embed="rId9"/>
          <a:stretch>
            <a:fillRect/>
          </a:stretch>
        </p:blipFill>
        <p:spPr>
          <a:xfrm>
            <a:off x="717453" y="5191328"/>
            <a:ext cx="2390775" cy="1428750"/>
          </a:xfrm>
          <a:prstGeom prst="rect">
            <a:avLst/>
          </a:prstGeom>
        </p:spPr>
      </p:pic>
    </p:spTree>
    <p:extLst>
      <p:ext uri="{BB962C8B-B14F-4D97-AF65-F5344CB8AC3E}">
        <p14:creationId xmlns:p14="http://schemas.microsoft.com/office/powerpoint/2010/main" val="4949627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Low Pass Filters with Variable gain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sp>
        <p:nvSpPr>
          <p:cNvPr id="9" name="TextBox 8">
            <a:extLst>
              <a:ext uri="{FF2B5EF4-FFF2-40B4-BE49-F238E27FC236}">
                <a16:creationId xmlns:a16="http://schemas.microsoft.com/office/drawing/2014/main" id="{724F9557-B380-4BF9-D5FA-BB40B88B67CB}"/>
              </a:ext>
            </a:extLst>
          </p:cNvPr>
          <p:cNvSpPr txBox="1"/>
          <p:nvPr/>
        </p:nvSpPr>
        <p:spPr>
          <a:xfrm>
            <a:off x="360073" y="1001405"/>
            <a:ext cx="11470640" cy="5919569"/>
          </a:xfrm>
          <a:prstGeom prst="rect">
            <a:avLst/>
          </a:prstGeom>
          <a:noFill/>
        </p:spPr>
        <p:txBody>
          <a:bodyPr wrap="square">
            <a:spAutoFit/>
          </a:bodyPr>
          <a:lstStyle/>
          <a:p>
            <a:pPr marL="342900" lvl="0" indent="-342900" algn="just">
              <a:spcAft>
                <a:spcPts val="1000"/>
              </a:spcAft>
              <a:buFont typeface="Symbol" panose="05050102010706020507" pitchFamily="18" charset="2"/>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At very low frequencies, i.e. f &lt;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f</a:t>
            </a:r>
            <a:r>
              <a:rPr lang="en-US" sz="2400" baseline="-25000" dirty="0" err="1">
                <a:latin typeface="Times New Roman" panose="02020603050405020304" pitchFamily="18" charset="0"/>
                <a:ea typeface="Calibri" panose="020F0502020204030204" pitchFamily="34" charset="0"/>
                <a:cs typeface="Times New Roman" panose="02020603050405020304" pitchFamily="18" charset="0"/>
              </a:rPr>
              <a:t>H</a:t>
            </a:r>
            <a:r>
              <a:rPr lang="en-US" sz="2400" dirty="0">
                <a:latin typeface="Times New Roman" panose="02020603050405020304" pitchFamily="18" charset="0"/>
                <a:ea typeface="Calibri" panose="020F0502020204030204" pitchFamily="34" charset="0"/>
                <a:cs typeface="Times New Roman" panose="02020603050405020304" pitchFamily="18" charset="0"/>
              </a:rPr>
              <a:t>, the gain is nearly A. When the frequency reaches the cut-off frequency, i.e. f = </a:t>
            </a:r>
            <a:r>
              <a:rPr lang="en-US" sz="2400" dirty="0" err="1">
                <a:latin typeface="Times New Roman" panose="02020603050405020304" pitchFamily="18" charset="0"/>
                <a:ea typeface="Calibri" panose="020F0502020204030204" pitchFamily="34" charset="0"/>
                <a:cs typeface="Times New Roman" panose="02020603050405020304" pitchFamily="18" charset="0"/>
              </a:rPr>
              <a:t>f</a:t>
            </a:r>
            <a:r>
              <a:rPr lang="en-US" sz="2400" baseline="-25000" dirty="0" err="1">
                <a:latin typeface="Times New Roman" panose="02020603050405020304" pitchFamily="18" charset="0"/>
                <a:ea typeface="Calibri" panose="020F0502020204030204" pitchFamily="34" charset="0"/>
                <a:cs typeface="Times New Roman" panose="02020603050405020304" pitchFamily="18" charset="0"/>
              </a:rPr>
              <a:t>H</a:t>
            </a:r>
            <a:r>
              <a:rPr lang="en-US" sz="2400" dirty="0">
                <a:latin typeface="Times New Roman" panose="02020603050405020304" pitchFamily="18" charset="0"/>
                <a:ea typeface="Calibri" panose="020F0502020204030204" pitchFamily="34" charset="0"/>
                <a:cs typeface="Times New Roman" panose="02020603050405020304" pitchFamily="18" charset="0"/>
              </a:rPr>
              <a:t>, the gain falls to 0.707 times the maximum gain A.</a:t>
            </a:r>
          </a:p>
          <a:p>
            <a:pPr marL="342900" lvl="0" indent="-342900" algn="just">
              <a:spcAft>
                <a:spcPts val="1000"/>
              </a:spcAft>
              <a:buFont typeface="Symbol" panose="05050102010706020507" pitchFamily="18" charset="2"/>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At high frequencies, i.e. f &gt;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f</a:t>
            </a:r>
            <a:r>
              <a:rPr lang="en-US" sz="2400" baseline="-25000" dirty="0" err="1">
                <a:latin typeface="Times New Roman" panose="02020603050405020304" pitchFamily="18" charset="0"/>
                <a:ea typeface="Calibri" panose="020F0502020204030204" pitchFamily="34" charset="0"/>
                <a:cs typeface="Times New Roman" panose="02020603050405020304" pitchFamily="18" charset="0"/>
              </a:rPr>
              <a:t>H</a:t>
            </a:r>
            <a:r>
              <a:rPr lang="en-US" sz="2400" dirty="0">
                <a:latin typeface="Times New Roman" panose="02020603050405020304" pitchFamily="18" charset="0"/>
                <a:ea typeface="Calibri" panose="020F0502020204030204" pitchFamily="34" charset="0"/>
                <a:cs typeface="Times New Roman" panose="02020603050405020304" pitchFamily="18" charset="0"/>
              </a:rPr>
              <a:t>, the gain decreases at a constant rate of –20 dB/decade. The frequency range beyond </a:t>
            </a:r>
            <a:r>
              <a:rPr lang="en-US" sz="2400" dirty="0" err="1">
                <a:latin typeface="Times New Roman" panose="02020603050405020304" pitchFamily="18" charset="0"/>
                <a:ea typeface="Calibri" panose="020F0502020204030204" pitchFamily="34" charset="0"/>
                <a:cs typeface="Times New Roman" panose="02020603050405020304" pitchFamily="18" charset="0"/>
              </a:rPr>
              <a:t>f</a:t>
            </a:r>
            <a:r>
              <a:rPr lang="en-US" sz="2400" baseline="-25000" dirty="0" err="1">
                <a:latin typeface="Times New Roman" panose="02020603050405020304" pitchFamily="18" charset="0"/>
                <a:ea typeface="Calibri" panose="020F0502020204030204" pitchFamily="34" charset="0"/>
                <a:cs typeface="Times New Roman" panose="02020603050405020304" pitchFamily="18" charset="0"/>
              </a:rPr>
              <a:t>H</a:t>
            </a:r>
            <a:r>
              <a:rPr lang="en-US" sz="2400" dirty="0">
                <a:latin typeface="Times New Roman" panose="02020603050405020304" pitchFamily="18" charset="0"/>
                <a:ea typeface="Calibri" panose="020F0502020204030204" pitchFamily="34" charset="0"/>
                <a:cs typeface="Times New Roman" panose="02020603050405020304" pitchFamily="18" charset="0"/>
              </a:rPr>
              <a:t> is called stopband.</a:t>
            </a:r>
          </a:p>
          <a:p>
            <a:pPr marL="342900" lvl="0" indent="-342900" algn="just">
              <a:spcAft>
                <a:spcPts val="1000"/>
              </a:spcAft>
              <a:buFont typeface="Symbol" panose="05050102010706020507" pitchFamily="18" charset="2"/>
              <a:buChar char=""/>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Low pass filter Design</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t>
            </a:r>
          </a:p>
          <a:p>
            <a:pPr marL="800100" lvl="1" indent="-342900" algn="just">
              <a:spcAft>
                <a:spcPts val="1000"/>
              </a:spcAft>
              <a:buFont typeface="Symbol" panose="05050102010706020507" pitchFamily="18" charset="2"/>
              <a:buChar char=""/>
            </a:pPr>
            <a:r>
              <a:rPr lang="en-US" sz="2400" dirty="0">
                <a:latin typeface="Times New Roman" panose="02020603050405020304" pitchFamily="18" charset="0"/>
                <a:cs typeface="Times New Roman" panose="02020603050405020304" pitchFamily="18" charset="0"/>
              </a:rPr>
              <a:t>Choose the value of high cut-off frequency </a:t>
            </a:r>
            <a:r>
              <a:rPr lang="en-US" sz="2400" dirty="0" err="1">
                <a:latin typeface="Times New Roman" panose="02020603050405020304" pitchFamily="18" charset="0"/>
                <a:cs typeface="Times New Roman" panose="02020603050405020304" pitchFamily="18" charset="0"/>
              </a:rPr>
              <a:t>f</a:t>
            </a:r>
            <a:r>
              <a:rPr lang="en-US" sz="2400" baseline="-25000" dirty="0" err="1">
                <a:latin typeface="Times New Roman" panose="02020603050405020304" pitchFamily="18" charset="0"/>
                <a:cs typeface="Times New Roman" panose="02020603050405020304" pitchFamily="18" charset="0"/>
              </a:rPr>
              <a:t>H</a:t>
            </a:r>
            <a:endParaRPr lang="en-US" sz="2400" baseline="-25000" dirty="0">
              <a:latin typeface="Times New Roman" panose="02020603050405020304" pitchFamily="18" charset="0"/>
              <a:cs typeface="Times New Roman" panose="02020603050405020304" pitchFamily="18" charset="0"/>
            </a:endParaRPr>
          </a:p>
          <a:p>
            <a:pPr marL="800100" lvl="1" indent="-342900" algn="just">
              <a:spcAft>
                <a:spcPts val="1000"/>
              </a:spcAft>
              <a:buFont typeface="Symbol" panose="05050102010706020507" pitchFamily="18" charset="2"/>
              <a:buChar char=""/>
            </a:pPr>
            <a:r>
              <a:rPr lang="en-US" sz="2400" dirty="0">
                <a:latin typeface="Times New Roman" panose="02020603050405020304" pitchFamily="18" charset="0"/>
                <a:cs typeface="Times New Roman" panose="02020603050405020304" pitchFamily="18" charset="0"/>
              </a:rPr>
              <a:t>Select the value of capacitor C such that its value is &lt;1 </a:t>
            </a:r>
            <a:r>
              <a:rPr lang="en-US" sz="2400" dirty="0" err="1">
                <a:latin typeface="Times New Roman" panose="02020603050405020304" pitchFamily="18" charset="0"/>
                <a:cs typeface="Times New Roman" panose="02020603050405020304" pitchFamily="18" charset="0"/>
              </a:rPr>
              <a:t>uF</a:t>
            </a:r>
            <a:r>
              <a:rPr lang="en-US" sz="2400" dirty="0">
                <a:latin typeface="Times New Roman" panose="02020603050405020304" pitchFamily="18" charset="0"/>
                <a:cs typeface="Times New Roman" panose="02020603050405020304" pitchFamily="18" charset="0"/>
              </a:rPr>
              <a:t>.</a:t>
            </a:r>
          </a:p>
          <a:p>
            <a:pPr marL="800100" lvl="1" indent="-342900" algn="just">
              <a:spcAft>
                <a:spcPts val="1000"/>
              </a:spcAft>
              <a:buFont typeface="Symbol" panose="05050102010706020507" pitchFamily="18" charset="2"/>
              <a:buChar char=""/>
            </a:pPr>
            <a:r>
              <a:rPr lang="en-US" sz="2400" dirty="0">
                <a:latin typeface="Times New Roman" panose="02020603050405020304" pitchFamily="18" charset="0"/>
                <a:cs typeface="Times New Roman" panose="02020603050405020304" pitchFamily="18" charset="0"/>
              </a:rPr>
              <a:t>When the values </a:t>
            </a:r>
            <a:r>
              <a:rPr lang="en-US" sz="2400" dirty="0" err="1">
                <a:latin typeface="Times New Roman" panose="02020603050405020304" pitchFamily="18" charset="0"/>
                <a:cs typeface="Times New Roman" panose="02020603050405020304" pitchFamily="18" charset="0"/>
              </a:rPr>
              <a:t>f</a:t>
            </a:r>
            <a:r>
              <a:rPr lang="en-US" sz="2400" baseline="-25000" dirty="0" err="1">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and C are known, the value of R can be calculated by using </a:t>
            </a:r>
            <a:r>
              <a:rPr lang="en-US" sz="2400" dirty="0" err="1">
                <a:latin typeface="Times New Roman" panose="02020603050405020304" pitchFamily="18" charset="0"/>
                <a:cs typeface="Times New Roman" panose="02020603050405020304" pitchFamily="18" charset="0"/>
              </a:rPr>
              <a:t>f</a:t>
            </a:r>
            <a:r>
              <a:rPr lang="en-US" sz="2400" baseline="-25000" dirty="0" err="1">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 1/(2*pi*R*C).</a:t>
            </a:r>
          </a:p>
          <a:p>
            <a:pPr marL="800100" lvl="1" indent="-342900" algn="just">
              <a:spcAft>
                <a:spcPts val="1000"/>
              </a:spcAft>
              <a:buFont typeface="Symbol" panose="05050102010706020507" pitchFamily="18" charset="2"/>
              <a:buChar char=""/>
            </a:pPr>
            <a:r>
              <a:rPr lang="en-US" sz="2400" dirty="0">
                <a:latin typeface="Times New Roman" panose="02020603050405020304" pitchFamily="18" charset="0"/>
                <a:cs typeface="Times New Roman" panose="02020603050405020304" pitchFamily="18" charset="0"/>
              </a:rPr>
              <a:t>Finally, select the values of R</a:t>
            </a:r>
            <a:r>
              <a:rPr lang="en-US" sz="2400" baseline="-25000" dirty="0">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 and R</a:t>
            </a:r>
            <a:r>
              <a:rPr lang="en-US" sz="2400" baseline="-25000" dirty="0">
                <a:latin typeface="Times New Roman" panose="02020603050405020304" pitchFamily="18" charset="0"/>
                <a:cs typeface="Times New Roman" panose="02020603050405020304" pitchFamily="18" charset="0"/>
              </a:rPr>
              <a:t>f</a:t>
            </a:r>
            <a:r>
              <a:rPr lang="en-US" sz="2400" dirty="0">
                <a:latin typeface="Times New Roman" panose="02020603050405020304" pitchFamily="18" charset="0"/>
                <a:cs typeface="Times New Roman" panose="02020603050405020304" pitchFamily="18" charset="0"/>
              </a:rPr>
              <a:t> depending on the desired passband gain by using</a:t>
            </a:r>
          </a:p>
          <a:p>
            <a:pPr marL="800100" lvl="1" indent="-342900" algn="just">
              <a:spcAft>
                <a:spcPts val="1000"/>
              </a:spcAft>
              <a:buFont typeface="Symbol" panose="05050102010706020507" pitchFamily="18" charset="2"/>
              <a:buChar char=""/>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800100" lvl="1" indent="-342900" algn="just">
              <a:spcAft>
                <a:spcPts val="1000"/>
              </a:spcAft>
              <a:buFont typeface="Symbol" panose="05050102010706020507" pitchFamily="18" charset="2"/>
              <a:buChar char=""/>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3FFCBC4-4464-4730-82C2-0A7C8E83C054}"/>
              </a:ext>
            </a:extLst>
          </p:cNvPr>
          <p:cNvPicPr>
            <a:picLocks noChangeAspect="1"/>
          </p:cNvPicPr>
          <p:nvPr/>
        </p:nvPicPr>
        <p:blipFill>
          <a:blip r:embed="rId3"/>
          <a:stretch>
            <a:fillRect/>
          </a:stretch>
        </p:blipFill>
        <p:spPr>
          <a:xfrm>
            <a:off x="3563593" y="5691601"/>
            <a:ext cx="2025648" cy="1036655"/>
          </a:xfrm>
          <a:prstGeom prst="rect">
            <a:avLst/>
          </a:prstGeom>
        </p:spPr>
      </p:pic>
    </p:spTree>
    <p:extLst>
      <p:ext uri="{BB962C8B-B14F-4D97-AF65-F5344CB8AC3E}">
        <p14:creationId xmlns:p14="http://schemas.microsoft.com/office/powerpoint/2010/main" val="1034807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High Pass Filters with Unity Gain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A1AFACE-7F9A-4758-A7EB-16B9E60BEB08}"/>
              </a:ext>
            </a:extLst>
          </p:cNvPr>
          <p:cNvPicPr>
            <a:picLocks noChangeAspect="1"/>
          </p:cNvPicPr>
          <p:nvPr/>
        </p:nvPicPr>
        <p:blipFill>
          <a:blip r:embed="rId3"/>
          <a:stretch>
            <a:fillRect/>
          </a:stretch>
        </p:blipFill>
        <p:spPr>
          <a:xfrm>
            <a:off x="7762580" y="1148531"/>
            <a:ext cx="3867150" cy="2419350"/>
          </a:xfrm>
          <a:prstGeom prst="rect">
            <a:avLst/>
          </a:prstGeom>
        </p:spPr>
      </p:pic>
      <p:pic>
        <p:nvPicPr>
          <p:cNvPr id="11" name="Picture 10">
            <a:extLst>
              <a:ext uri="{FF2B5EF4-FFF2-40B4-BE49-F238E27FC236}">
                <a16:creationId xmlns:a16="http://schemas.microsoft.com/office/drawing/2014/main" id="{F6FF0ED9-5360-4D56-BB3B-AC0D85BBD446}"/>
              </a:ext>
            </a:extLst>
          </p:cNvPr>
          <p:cNvPicPr>
            <a:picLocks noChangeAspect="1"/>
          </p:cNvPicPr>
          <p:nvPr/>
        </p:nvPicPr>
        <p:blipFill>
          <a:blip r:embed="rId4"/>
          <a:stretch>
            <a:fillRect/>
          </a:stretch>
        </p:blipFill>
        <p:spPr>
          <a:xfrm>
            <a:off x="7955940" y="3787474"/>
            <a:ext cx="3724275" cy="2590800"/>
          </a:xfrm>
          <a:prstGeom prst="rect">
            <a:avLst/>
          </a:prstGeom>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76678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High Pass Filters with Unity Gain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A1AFACE-7F9A-4758-A7EB-16B9E60BEB08}"/>
              </a:ext>
            </a:extLst>
          </p:cNvPr>
          <p:cNvPicPr>
            <a:picLocks noChangeAspect="1"/>
          </p:cNvPicPr>
          <p:nvPr/>
        </p:nvPicPr>
        <p:blipFill>
          <a:blip r:embed="rId3"/>
          <a:stretch>
            <a:fillRect/>
          </a:stretch>
        </p:blipFill>
        <p:spPr>
          <a:xfrm>
            <a:off x="7762580" y="1148531"/>
            <a:ext cx="3867150" cy="2419350"/>
          </a:xfrm>
          <a:prstGeom prst="rect">
            <a:avLst/>
          </a:prstGeom>
        </p:spPr>
      </p:pic>
      <p:pic>
        <p:nvPicPr>
          <p:cNvPr id="11" name="Picture 10">
            <a:extLst>
              <a:ext uri="{FF2B5EF4-FFF2-40B4-BE49-F238E27FC236}">
                <a16:creationId xmlns:a16="http://schemas.microsoft.com/office/drawing/2014/main" id="{F6FF0ED9-5360-4D56-BB3B-AC0D85BBD446}"/>
              </a:ext>
            </a:extLst>
          </p:cNvPr>
          <p:cNvPicPr>
            <a:picLocks noChangeAspect="1"/>
          </p:cNvPicPr>
          <p:nvPr/>
        </p:nvPicPr>
        <p:blipFill>
          <a:blip r:embed="rId4"/>
          <a:stretch>
            <a:fillRect/>
          </a:stretch>
        </p:blipFill>
        <p:spPr>
          <a:xfrm>
            <a:off x="7955940" y="3787474"/>
            <a:ext cx="3724275" cy="2590800"/>
          </a:xfrm>
          <a:prstGeom prst="rect">
            <a:avLst/>
          </a:prstGeom>
        </p:spPr>
      </p:pic>
      <p:pic>
        <p:nvPicPr>
          <p:cNvPr id="13" name="Picture 12">
            <a:extLst>
              <a:ext uri="{FF2B5EF4-FFF2-40B4-BE49-F238E27FC236}">
                <a16:creationId xmlns:a16="http://schemas.microsoft.com/office/drawing/2014/main" id="{357E4253-4D9F-4A74-ACA4-6060D5ACDCC5}"/>
              </a:ext>
            </a:extLst>
          </p:cNvPr>
          <p:cNvPicPr>
            <a:picLocks noChangeAspect="1"/>
          </p:cNvPicPr>
          <p:nvPr/>
        </p:nvPicPr>
        <p:blipFill>
          <a:blip r:embed="rId5"/>
          <a:stretch>
            <a:fillRect/>
          </a:stretch>
        </p:blipFill>
        <p:spPr>
          <a:xfrm>
            <a:off x="687485" y="898222"/>
            <a:ext cx="3838575" cy="1076325"/>
          </a:xfrm>
          <a:prstGeom prst="rect">
            <a:avLst/>
          </a:prstGeom>
        </p:spPr>
      </p:pic>
      <p:pic>
        <p:nvPicPr>
          <p:cNvPr id="14" name="Picture 13">
            <a:extLst>
              <a:ext uri="{FF2B5EF4-FFF2-40B4-BE49-F238E27FC236}">
                <a16:creationId xmlns:a16="http://schemas.microsoft.com/office/drawing/2014/main" id="{99A8F0FD-4EE2-42DB-A7C7-48445C0A1F07}"/>
              </a:ext>
            </a:extLst>
          </p:cNvPr>
          <p:cNvPicPr>
            <a:picLocks noChangeAspect="1"/>
          </p:cNvPicPr>
          <p:nvPr/>
        </p:nvPicPr>
        <p:blipFill>
          <a:blip r:embed="rId6"/>
          <a:stretch>
            <a:fillRect/>
          </a:stretch>
        </p:blipFill>
        <p:spPr>
          <a:xfrm>
            <a:off x="687485" y="2223888"/>
            <a:ext cx="4191000" cy="1114425"/>
          </a:xfrm>
          <a:prstGeom prst="rect">
            <a:avLst/>
          </a:prstGeom>
        </p:spPr>
      </p:pic>
      <p:pic>
        <p:nvPicPr>
          <p:cNvPr id="15" name="Picture 14">
            <a:extLst>
              <a:ext uri="{FF2B5EF4-FFF2-40B4-BE49-F238E27FC236}">
                <a16:creationId xmlns:a16="http://schemas.microsoft.com/office/drawing/2014/main" id="{5A6FA0D6-81D6-4976-AAEA-74F464AD23E9}"/>
              </a:ext>
            </a:extLst>
          </p:cNvPr>
          <p:cNvPicPr>
            <a:picLocks noChangeAspect="1"/>
          </p:cNvPicPr>
          <p:nvPr/>
        </p:nvPicPr>
        <p:blipFill>
          <a:blip r:embed="rId7"/>
          <a:stretch>
            <a:fillRect/>
          </a:stretch>
        </p:blipFill>
        <p:spPr>
          <a:xfrm>
            <a:off x="511785" y="3380486"/>
            <a:ext cx="5762625" cy="1247775"/>
          </a:xfrm>
          <a:prstGeom prst="rect">
            <a:avLst/>
          </a:prstGeom>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41670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Low Pass Filters with Variable Gain</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BF78B3C-0FA7-4660-B76A-38AD6491EA94}"/>
              </a:ext>
            </a:extLst>
          </p:cNvPr>
          <p:cNvPicPr>
            <a:picLocks noChangeAspect="1"/>
          </p:cNvPicPr>
          <p:nvPr/>
        </p:nvPicPr>
        <p:blipFill>
          <a:blip r:embed="rId3"/>
          <a:stretch>
            <a:fillRect/>
          </a:stretch>
        </p:blipFill>
        <p:spPr>
          <a:xfrm>
            <a:off x="7845079" y="1108632"/>
            <a:ext cx="3638550" cy="2724150"/>
          </a:xfrm>
          <a:prstGeom prst="rect">
            <a:avLst/>
          </a:prstGeom>
        </p:spPr>
      </p:pic>
      <p:pic>
        <p:nvPicPr>
          <p:cNvPr id="5" name="Picture 4">
            <a:extLst>
              <a:ext uri="{FF2B5EF4-FFF2-40B4-BE49-F238E27FC236}">
                <a16:creationId xmlns:a16="http://schemas.microsoft.com/office/drawing/2014/main" id="{7002BB71-90C7-4F10-8334-7215FD157B6D}"/>
              </a:ext>
            </a:extLst>
          </p:cNvPr>
          <p:cNvPicPr>
            <a:picLocks noChangeAspect="1"/>
          </p:cNvPicPr>
          <p:nvPr/>
        </p:nvPicPr>
        <p:blipFill>
          <a:blip r:embed="rId4"/>
          <a:stretch>
            <a:fillRect/>
          </a:stretch>
        </p:blipFill>
        <p:spPr>
          <a:xfrm>
            <a:off x="7350222" y="3968951"/>
            <a:ext cx="4124325" cy="2838450"/>
          </a:xfrm>
          <a:prstGeom prst="rect">
            <a:avLst/>
          </a:prstGeom>
        </p:spPr>
      </p:pic>
      <p:pic>
        <p:nvPicPr>
          <p:cNvPr id="6" name="Picture 5">
            <a:extLst>
              <a:ext uri="{FF2B5EF4-FFF2-40B4-BE49-F238E27FC236}">
                <a16:creationId xmlns:a16="http://schemas.microsoft.com/office/drawing/2014/main" id="{AC1A5802-153F-4347-8E50-770E79436971}"/>
              </a:ext>
            </a:extLst>
          </p:cNvPr>
          <p:cNvPicPr>
            <a:picLocks noChangeAspect="1"/>
          </p:cNvPicPr>
          <p:nvPr/>
        </p:nvPicPr>
        <p:blipFill>
          <a:blip r:embed="rId5"/>
          <a:stretch>
            <a:fillRect/>
          </a:stretch>
        </p:blipFill>
        <p:spPr>
          <a:xfrm>
            <a:off x="508342" y="972463"/>
            <a:ext cx="3409950" cy="866775"/>
          </a:xfrm>
          <a:prstGeom prst="rect">
            <a:avLst/>
          </a:prstGeom>
        </p:spPr>
      </p:pic>
      <p:pic>
        <p:nvPicPr>
          <p:cNvPr id="7" name="Picture 6">
            <a:extLst>
              <a:ext uri="{FF2B5EF4-FFF2-40B4-BE49-F238E27FC236}">
                <a16:creationId xmlns:a16="http://schemas.microsoft.com/office/drawing/2014/main" id="{8FE1DA21-488F-4FB0-9FFF-4CAEAECA2E52}"/>
              </a:ext>
            </a:extLst>
          </p:cNvPr>
          <p:cNvPicPr>
            <a:picLocks noChangeAspect="1"/>
          </p:cNvPicPr>
          <p:nvPr/>
        </p:nvPicPr>
        <p:blipFill>
          <a:blip r:embed="rId6"/>
          <a:stretch>
            <a:fillRect/>
          </a:stretch>
        </p:blipFill>
        <p:spPr>
          <a:xfrm>
            <a:off x="508342" y="2016398"/>
            <a:ext cx="2505075" cy="1600200"/>
          </a:xfrm>
          <a:prstGeom prst="rect">
            <a:avLst/>
          </a:prstGeom>
        </p:spPr>
      </p:pic>
      <p:pic>
        <p:nvPicPr>
          <p:cNvPr id="8" name="Picture 7">
            <a:extLst>
              <a:ext uri="{FF2B5EF4-FFF2-40B4-BE49-F238E27FC236}">
                <a16:creationId xmlns:a16="http://schemas.microsoft.com/office/drawing/2014/main" id="{93DC571E-A6B2-42A3-A177-2531B8A03244}"/>
              </a:ext>
            </a:extLst>
          </p:cNvPr>
          <p:cNvPicPr>
            <a:picLocks noChangeAspect="1"/>
          </p:cNvPicPr>
          <p:nvPr/>
        </p:nvPicPr>
        <p:blipFill>
          <a:blip r:embed="rId7"/>
          <a:stretch>
            <a:fillRect/>
          </a:stretch>
        </p:blipFill>
        <p:spPr>
          <a:xfrm>
            <a:off x="62584" y="3793758"/>
            <a:ext cx="5162550" cy="1752600"/>
          </a:xfrm>
          <a:prstGeom prst="rect">
            <a:avLst/>
          </a:prstGeom>
        </p:spPr>
      </p:pic>
    </p:spTree>
    <p:extLst>
      <p:ext uri="{BB962C8B-B14F-4D97-AF65-F5344CB8AC3E}">
        <p14:creationId xmlns:p14="http://schemas.microsoft.com/office/powerpoint/2010/main" val="3922426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Band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76B9BD55-95F6-4653-B2BE-614115CA76E0}"/>
              </a:ext>
            </a:extLst>
          </p:cNvPr>
          <p:cNvPicPr>
            <a:picLocks noChangeAspect="1"/>
          </p:cNvPicPr>
          <p:nvPr/>
        </p:nvPicPr>
        <p:blipFill>
          <a:blip r:embed="rId3"/>
          <a:stretch>
            <a:fillRect/>
          </a:stretch>
        </p:blipFill>
        <p:spPr>
          <a:xfrm>
            <a:off x="6096000" y="1076325"/>
            <a:ext cx="5943600" cy="2352675"/>
          </a:xfrm>
          <a:prstGeom prst="rect">
            <a:avLst/>
          </a:prstGeom>
        </p:spPr>
      </p:pic>
      <p:sp>
        <p:nvSpPr>
          <p:cNvPr id="5" name="TextBox 4">
            <a:extLst>
              <a:ext uri="{FF2B5EF4-FFF2-40B4-BE49-F238E27FC236}">
                <a16:creationId xmlns:a16="http://schemas.microsoft.com/office/drawing/2014/main" id="{CB0F5602-5AAE-4138-9A6D-74EE64D41D7D}"/>
              </a:ext>
            </a:extLst>
          </p:cNvPr>
          <p:cNvSpPr txBox="1"/>
          <p:nvPr/>
        </p:nvSpPr>
        <p:spPr>
          <a:xfrm>
            <a:off x="457199" y="972463"/>
            <a:ext cx="5782236" cy="5509200"/>
          </a:xfrm>
          <a:prstGeom prst="rect">
            <a:avLst/>
          </a:prstGeom>
          <a:noFill/>
        </p:spPr>
        <p:txBody>
          <a:bodyPr wrap="square" rtlCol="0">
            <a:spAutoFit/>
          </a:bodyPr>
          <a:lstStyle/>
          <a:p>
            <a:pPr marL="285750" indent="-285750" algn="just">
              <a:buFont typeface="Arial" panose="020B0604020202020204" pitchFamily="34" charset="0"/>
              <a:buChar char="•"/>
            </a:pPr>
            <a:r>
              <a:rPr lang="en-IN" sz="2200" dirty="0"/>
              <a:t> </a:t>
            </a:r>
            <a:r>
              <a:rPr lang="en-US" sz="2200" dirty="0"/>
              <a:t>A band-pass filter is formed by cascading a low-pass and a high-pass filter.</a:t>
            </a:r>
          </a:p>
          <a:p>
            <a:pPr marL="285750" indent="-285750" algn="just">
              <a:buFont typeface="Arial" panose="020B0604020202020204" pitchFamily="34" charset="0"/>
              <a:buChar char="•"/>
            </a:pPr>
            <a:r>
              <a:rPr lang="en-US" sz="2200" dirty="0"/>
              <a:t>The low-pass section passes frequencies up to </a:t>
            </a:r>
            <a:r>
              <a:rPr lang="en-US" sz="2200" dirty="0" err="1"/>
              <a:t>fH</a:t>
            </a:r>
            <a:r>
              <a:rPr lang="en-US" sz="2200" dirty="0"/>
              <a:t>​, while the high-pass blocks below </a:t>
            </a:r>
            <a:r>
              <a:rPr lang="en-US" sz="2200" dirty="0" err="1"/>
              <a:t>fL</a:t>
            </a:r>
            <a:r>
              <a:rPr lang="en-US" sz="2200" dirty="0"/>
              <a:t>​</a:t>
            </a:r>
          </a:p>
          <a:p>
            <a:pPr marL="285750" indent="-285750" algn="just">
              <a:buFont typeface="Arial" panose="020B0604020202020204" pitchFamily="34" charset="0"/>
              <a:buChar char="•"/>
            </a:pPr>
            <a:r>
              <a:rPr lang="en-IN" sz="2200" dirty="0"/>
              <a:t>Proper operation requires </a:t>
            </a:r>
            <a:r>
              <a:rPr lang="en-IN" sz="2200" dirty="0" err="1"/>
              <a:t>fH</a:t>
            </a:r>
            <a:r>
              <a:rPr lang="en-IN" sz="2200" dirty="0"/>
              <a:t>&gt;</a:t>
            </a:r>
            <a:r>
              <a:rPr lang="en-IN" sz="2200" dirty="0" err="1"/>
              <a:t>fL</a:t>
            </a:r>
            <a:r>
              <a:rPr lang="en-IN" sz="2200" dirty="0"/>
              <a:t>​, typically fH≥10*</a:t>
            </a:r>
            <a:r>
              <a:rPr lang="en-IN" sz="2200" dirty="0" err="1"/>
              <a:t>fL</a:t>
            </a:r>
            <a:r>
              <a:rPr lang="en-IN" sz="2200" dirty="0"/>
              <a:t> for a clear passband.</a:t>
            </a:r>
          </a:p>
          <a:p>
            <a:pPr marL="285750" indent="-285750" algn="just">
              <a:buFont typeface="Arial" panose="020B0604020202020204" pitchFamily="34" charset="0"/>
              <a:buChar char="•"/>
            </a:pPr>
            <a:r>
              <a:rPr lang="en-US" sz="2200" dirty="0"/>
              <a:t>Both sections must have equal passband gain to ensure uniform response in the band </a:t>
            </a:r>
            <a:r>
              <a:rPr lang="en-US" sz="2200" dirty="0" err="1"/>
              <a:t>fL</a:t>
            </a:r>
            <a:r>
              <a:rPr lang="en-US" sz="2200" dirty="0"/>
              <a:t>​ to </a:t>
            </a:r>
            <a:r>
              <a:rPr lang="en-US" sz="2200" dirty="0" err="1"/>
              <a:t>fH</a:t>
            </a:r>
            <a:r>
              <a:rPr lang="en-US" sz="2200" dirty="0"/>
              <a:t>​.</a:t>
            </a:r>
          </a:p>
          <a:p>
            <a:pPr marL="285750" indent="-285750" algn="just">
              <a:buFont typeface="Arial" panose="020B0604020202020204" pitchFamily="34" charset="0"/>
              <a:buChar char="•"/>
            </a:pPr>
            <a:r>
              <a:rPr lang="en-US" sz="2200" dirty="0"/>
              <a:t>A ±20 dB/decade band-pass filter is realized using first-order high-pass and low-pass sections with op-amps.</a:t>
            </a:r>
          </a:p>
          <a:p>
            <a:pPr marL="285750" indent="-285750" algn="just">
              <a:buFont typeface="Arial" panose="020B0604020202020204" pitchFamily="34" charset="0"/>
              <a:buChar char="•"/>
            </a:pPr>
            <a:r>
              <a:rPr lang="en-US" sz="2200" dirty="0"/>
              <a:t>Higher roll-off (±40 dB/decade) is achieved by cascading second-order filter sections for sharper selectivity.</a:t>
            </a:r>
          </a:p>
          <a:p>
            <a:pPr algn="just"/>
            <a:endParaRPr lang="en-IN" sz="2200" dirty="0"/>
          </a:p>
        </p:txBody>
      </p:sp>
      <p:pic>
        <p:nvPicPr>
          <p:cNvPr id="6" name="Picture 5">
            <a:extLst>
              <a:ext uri="{FF2B5EF4-FFF2-40B4-BE49-F238E27FC236}">
                <a16:creationId xmlns:a16="http://schemas.microsoft.com/office/drawing/2014/main" id="{2B183AB2-3713-4A8E-82CA-BFFAD6D7D719}"/>
              </a:ext>
            </a:extLst>
          </p:cNvPr>
          <p:cNvPicPr>
            <a:picLocks noChangeAspect="1"/>
          </p:cNvPicPr>
          <p:nvPr/>
        </p:nvPicPr>
        <p:blipFill>
          <a:blip r:embed="rId4"/>
          <a:stretch>
            <a:fillRect/>
          </a:stretch>
        </p:blipFill>
        <p:spPr>
          <a:xfrm>
            <a:off x="6533820" y="3722103"/>
            <a:ext cx="4838700" cy="2162175"/>
          </a:xfrm>
          <a:prstGeom prst="rect">
            <a:avLst/>
          </a:prstGeom>
        </p:spPr>
      </p:pic>
    </p:spTree>
    <p:extLst>
      <p:ext uri="{BB962C8B-B14F-4D97-AF65-F5344CB8AC3E}">
        <p14:creationId xmlns:p14="http://schemas.microsoft.com/office/powerpoint/2010/main" val="2466604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Band Reject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Content Placeholder 3">
            <a:extLst>
              <a:ext uri="{FF2B5EF4-FFF2-40B4-BE49-F238E27FC236}">
                <a16:creationId xmlns:a16="http://schemas.microsoft.com/office/drawing/2014/main" id="{20E2DBE0-1A18-45C5-A22D-F35B87B1258A}"/>
              </a:ext>
            </a:extLst>
          </p:cNvPr>
          <p:cNvPicPr>
            <a:picLocks noGrp="1" noChangeAspect="1"/>
          </p:cNvPicPr>
          <p:nvPr>
            <p:ph idx="1"/>
          </p:nvPr>
        </p:nvPicPr>
        <p:blipFill>
          <a:blip r:embed="rId3"/>
          <a:stretch>
            <a:fillRect/>
          </a:stretch>
        </p:blipFill>
        <p:spPr>
          <a:xfrm>
            <a:off x="532279" y="1086298"/>
            <a:ext cx="5868521" cy="3941115"/>
          </a:xfrm>
          <a:prstGeom prst="rect">
            <a:avLst/>
          </a:prstGeom>
        </p:spPr>
      </p:pic>
      <p:pic>
        <p:nvPicPr>
          <p:cNvPr id="10" name="Picture 9">
            <a:extLst>
              <a:ext uri="{FF2B5EF4-FFF2-40B4-BE49-F238E27FC236}">
                <a16:creationId xmlns:a16="http://schemas.microsoft.com/office/drawing/2014/main" id="{AC002C2B-5EF6-4C85-B6A1-4868CE48BD22}"/>
              </a:ext>
            </a:extLst>
          </p:cNvPr>
          <p:cNvPicPr>
            <a:picLocks noChangeAspect="1"/>
          </p:cNvPicPr>
          <p:nvPr/>
        </p:nvPicPr>
        <p:blipFill>
          <a:blip r:embed="rId4"/>
          <a:stretch>
            <a:fillRect/>
          </a:stretch>
        </p:blipFill>
        <p:spPr>
          <a:xfrm>
            <a:off x="6365357" y="1401049"/>
            <a:ext cx="5609809" cy="2907986"/>
          </a:xfrm>
          <a:prstGeom prst="rect">
            <a:avLst/>
          </a:prstGeom>
        </p:spPr>
      </p:pic>
    </p:spTree>
    <p:extLst>
      <p:ext uri="{BB962C8B-B14F-4D97-AF65-F5344CB8AC3E}">
        <p14:creationId xmlns:p14="http://schemas.microsoft.com/office/powerpoint/2010/main" val="2919946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First Order Band Reject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0713350" cy="4939814"/>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A band-reject (band-stop) filter is formed by connecting a low-pass and high-pass filter in parallel.</a:t>
            </a:r>
          </a:p>
          <a:p>
            <a:pPr marL="285750" indent="-285750" algn="just">
              <a:buFont typeface="Arial" panose="020B0604020202020204" pitchFamily="34" charset="0"/>
              <a:buChar char="•"/>
            </a:pPr>
            <a:r>
              <a:rPr lang="en-US" sz="2100" dirty="0"/>
              <a:t>The inputs are applied in parallel, and outputs are combined using a summing circuit to prevent loading.​</a:t>
            </a:r>
          </a:p>
          <a:p>
            <a:pPr marL="285750" indent="-285750" algn="just">
              <a:buFont typeface="Arial" panose="020B0604020202020204" pitchFamily="34" charset="0"/>
              <a:buChar char="•"/>
            </a:pPr>
            <a:r>
              <a:rPr lang="en-US" sz="2100" dirty="0"/>
              <a:t>The low-pass section blocks frequencies above </a:t>
            </a:r>
            <a:r>
              <a:rPr lang="en-US" sz="2100" dirty="0" err="1"/>
              <a:t>f</a:t>
            </a:r>
            <a:r>
              <a:rPr lang="en-US" sz="2100" baseline="-25000" dirty="0" err="1"/>
              <a:t>H</a:t>
            </a:r>
            <a:r>
              <a:rPr lang="en-US" sz="2100" dirty="0"/>
              <a:t>, while the high-pass blocks below </a:t>
            </a:r>
            <a:r>
              <a:rPr lang="en-US" sz="2100" dirty="0" err="1"/>
              <a:t>f</a:t>
            </a:r>
            <a:r>
              <a:rPr lang="en-US" sz="2100" baseline="-25000" dirty="0" err="1"/>
              <a:t>L</a:t>
            </a:r>
            <a:r>
              <a:rPr lang="en-US" sz="2100" dirty="0"/>
              <a:t>​.</a:t>
            </a:r>
          </a:p>
          <a:p>
            <a:pPr marL="285750" indent="-285750" algn="just">
              <a:buFont typeface="Arial" panose="020B0604020202020204" pitchFamily="34" charset="0"/>
              <a:buChar char="•"/>
            </a:pPr>
            <a:r>
              <a:rPr lang="en-US" sz="2100" dirty="0"/>
              <a:t>Proper operation requires </a:t>
            </a:r>
            <a:r>
              <a:rPr lang="en-US" sz="2100" dirty="0" err="1"/>
              <a:t>f</a:t>
            </a:r>
            <a:r>
              <a:rPr lang="en-US" sz="2100" baseline="-25000" dirty="0" err="1"/>
              <a:t>L</a:t>
            </a:r>
            <a:r>
              <a:rPr lang="en-US" sz="2100" dirty="0"/>
              <a:t>​&gt;</a:t>
            </a:r>
            <a:r>
              <a:rPr lang="en-US" sz="2100" dirty="0" err="1"/>
              <a:t>f</a:t>
            </a:r>
            <a:r>
              <a:rPr lang="en-US" sz="2100" baseline="-25000" dirty="0" err="1"/>
              <a:t>H</a:t>
            </a:r>
            <a:r>
              <a:rPr lang="en-US" sz="2100" dirty="0"/>
              <a:t>​, creating a stopband​.</a:t>
            </a:r>
          </a:p>
          <a:p>
            <a:pPr marL="285750" indent="-285750" algn="just">
              <a:buFont typeface="Arial" panose="020B0604020202020204" pitchFamily="34" charset="0"/>
              <a:buChar char="•"/>
            </a:pPr>
            <a:r>
              <a:rPr lang="en-US" sz="2100" dirty="0"/>
              <a:t>The resulting output passes frequencies outside this range and rejects those within the stopband.</a:t>
            </a:r>
          </a:p>
          <a:p>
            <a:pPr marL="285750" indent="-285750" algn="just">
              <a:buFont typeface="Arial" panose="020B0604020202020204" pitchFamily="34" charset="0"/>
              <a:buChar char="•"/>
            </a:pPr>
            <a:r>
              <a:rPr lang="en-US" sz="2100" dirty="0"/>
              <a:t>A wideband band-reject filter is realized by paralleling HPF (</a:t>
            </a:r>
            <a:r>
              <a:rPr lang="en-US" sz="2100" dirty="0" err="1"/>
              <a:t>fL</a:t>
            </a:r>
            <a:r>
              <a:rPr lang="en-US" sz="2100" dirty="0"/>
              <a:t>​) and LPF (</a:t>
            </a:r>
            <a:r>
              <a:rPr lang="en-US" sz="2100" dirty="0" err="1"/>
              <a:t>fH</a:t>
            </a:r>
            <a:r>
              <a:rPr lang="en-US" sz="2100" dirty="0"/>
              <a:t>​) with a summing amplifier.</a:t>
            </a:r>
          </a:p>
          <a:p>
            <a:pPr marL="285750" indent="-285750" algn="just">
              <a:buFont typeface="Arial" panose="020B0604020202020204" pitchFamily="34" charset="0"/>
              <a:buChar char="•"/>
            </a:pPr>
            <a:r>
              <a:rPr lang="en-US" sz="2100" dirty="0"/>
              <a:t>The summing amplifier adds outputs of both sections to produce the final band-reject response.</a:t>
            </a:r>
          </a:p>
          <a:p>
            <a:pPr marL="285750" indent="-285750" algn="just">
              <a:buFont typeface="Arial" panose="020B0604020202020204" pitchFamily="34" charset="0"/>
              <a:buChar char="•"/>
            </a:pPr>
            <a:r>
              <a:rPr lang="en-US" sz="2100" dirty="0"/>
              <a:t>Equal passband gain in both HPF and LPF sections is necessary for proper filter performance.</a:t>
            </a:r>
          </a:p>
          <a:p>
            <a:pPr marL="285750" indent="-285750" algn="just">
              <a:buFont typeface="Arial" panose="020B0604020202020204" pitchFamily="34" charset="0"/>
              <a:buChar char="•"/>
            </a:pPr>
            <a:r>
              <a:rPr lang="en-US" sz="2100" dirty="0"/>
              <a:t>The frequency response shows attenuation in the band </a:t>
            </a:r>
            <a:r>
              <a:rPr lang="en-US" sz="2100" dirty="0" err="1"/>
              <a:t>fH</a:t>
            </a:r>
            <a:r>
              <a:rPr lang="en-US" sz="2100" dirty="0"/>
              <a:t>​ to </a:t>
            </a:r>
            <a:r>
              <a:rPr lang="en-US" sz="2100" dirty="0" err="1"/>
              <a:t>fL</a:t>
            </a:r>
            <a:r>
              <a:rPr lang="en-US" sz="2100" dirty="0"/>
              <a:t>​ and passbands on either side.</a:t>
            </a:r>
          </a:p>
          <a:p>
            <a:pPr marL="285750" indent="-285750" algn="just">
              <a:buFont typeface="Arial" panose="020B0604020202020204" pitchFamily="34" charset="0"/>
              <a:buChar char="•"/>
            </a:pPr>
            <a:r>
              <a:rPr lang="en-IN" sz="2100" dirty="0"/>
              <a:t>For unity gain design, resistors satisfy 𝑅2=𝑅3=𝑅4	​.</a:t>
            </a:r>
          </a:p>
        </p:txBody>
      </p:sp>
    </p:spTree>
    <p:extLst>
      <p:ext uri="{BB962C8B-B14F-4D97-AF65-F5344CB8AC3E}">
        <p14:creationId xmlns:p14="http://schemas.microsoft.com/office/powerpoint/2010/main" val="3086461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Higher Order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399" y="972463"/>
            <a:ext cx="7515225" cy="2354491"/>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A second-order active (</a:t>
            </a:r>
            <a:r>
              <a:rPr lang="en-US" sz="2100" dirty="0" err="1"/>
              <a:t>Sallen</a:t>
            </a:r>
            <a:r>
              <a:rPr lang="en-US" sz="2100" dirty="0"/>
              <a:t>-Key) filter uses admittances 𝑌1-Y4	​ with a voltage follower to eliminate loading due to high input and low output impedance.</a:t>
            </a:r>
          </a:p>
          <a:p>
            <a:pPr marL="285750" indent="-285750" algn="just">
              <a:buFont typeface="Arial" panose="020B0604020202020204" pitchFamily="34" charset="0"/>
              <a:buChar char="•"/>
            </a:pPr>
            <a:r>
              <a:rPr lang="en-US" sz="2100" dirty="0"/>
              <a:t>A non-inverting amplifier configuration can be added to increase gain while maintaining isolation between stages.</a:t>
            </a:r>
          </a:p>
          <a:p>
            <a:pPr marL="285750" indent="-285750" algn="just">
              <a:buFont typeface="Arial" panose="020B0604020202020204" pitchFamily="34" charset="0"/>
              <a:buChar char="•"/>
            </a:pPr>
            <a:r>
              <a:rPr lang="en-IN" sz="2100" dirty="0"/>
              <a:t>KCL at node </a:t>
            </a:r>
            <a:r>
              <a:rPr lang="en-IN" sz="2100" dirty="0" err="1"/>
              <a:t>Va</a:t>
            </a:r>
            <a:endParaRPr lang="en-IN" sz="2100" dirty="0"/>
          </a:p>
          <a:p>
            <a:pPr marL="285750" indent="-285750" algn="just">
              <a:buFont typeface="Arial" panose="020B0604020202020204" pitchFamily="34" charset="0"/>
              <a:buChar char="•"/>
            </a:pPr>
            <a:r>
              <a:rPr lang="en-IN" sz="2100" dirty="0"/>
              <a:t> ​.</a:t>
            </a:r>
          </a:p>
        </p:txBody>
      </p:sp>
      <p:pic>
        <p:nvPicPr>
          <p:cNvPr id="4" name="Picture 3">
            <a:extLst>
              <a:ext uri="{FF2B5EF4-FFF2-40B4-BE49-F238E27FC236}">
                <a16:creationId xmlns:a16="http://schemas.microsoft.com/office/drawing/2014/main" id="{A98210FC-40CC-4C86-9EEC-A94ADD2DC2F5}"/>
              </a:ext>
            </a:extLst>
          </p:cNvPr>
          <p:cNvPicPr>
            <a:picLocks noChangeAspect="1"/>
          </p:cNvPicPr>
          <p:nvPr/>
        </p:nvPicPr>
        <p:blipFill>
          <a:blip r:embed="rId3"/>
          <a:stretch>
            <a:fillRect/>
          </a:stretch>
        </p:blipFill>
        <p:spPr>
          <a:xfrm>
            <a:off x="800286" y="3206110"/>
            <a:ext cx="3502435" cy="455519"/>
          </a:xfrm>
          <a:prstGeom prst="rect">
            <a:avLst/>
          </a:prstGeom>
        </p:spPr>
      </p:pic>
      <p:pic>
        <p:nvPicPr>
          <p:cNvPr id="6" name="Picture 5">
            <a:extLst>
              <a:ext uri="{FF2B5EF4-FFF2-40B4-BE49-F238E27FC236}">
                <a16:creationId xmlns:a16="http://schemas.microsoft.com/office/drawing/2014/main" id="{5D3F1BE8-685F-44F4-B745-4613F5E90BB4}"/>
              </a:ext>
            </a:extLst>
          </p:cNvPr>
          <p:cNvPicPr>
            <a:picLocks noChangeAspect="1"/>
          </p:cNvPicPr>
          <p:nvPr/>
        </p:nvPicPr>
        <p:blipFill rotWithShape="1">
          <a:blip r:embed="rId4"/>
          <a:srcRect r="5872"/>
          <a:stretch/>
        </p:blipFill>
        <p:spPr>
          <a:xfrm>
            <a:off x="7667625" y="1090384"/>
            <a:ext cx="4524375" cy="2948216"/>
          </a:xfrm>
          <a:prstGeom prst="rect">
            <a:avLst/>
          </a:prstGeom>
        </p:spPr>
      </p:pic>
      <p:sp>
        <p:nvSpPr>
          <p:cNvPr id="9" name="TextBox 8">
            <a:extLst>
              <a:ext uri="{FF2B5EF4-FFF2-40B4-BE49-F238E27FC236}">
                <a16:creationId xmlns:a16="http://schemas.microsoft.com/office/drawing/2014/main" id="{CCFD4CAE-3113-42AE-A12C-F7FF0B470E80}"/>
              </a:ext>
            </a:extLst>
          </p:cNvPr>
          <p:cNvSpPr txBox="1"/>
          <p:nvPr/>
        </p:nvSpPr>
        <p:spPr>
          <a:xfrm>
            <a:off x="152399" y="3692292"/>
            <a:ext cx="10713351" cy="1384995"/>
          </a:xfrm>
          <a:prstGeom prst="rect">
            <a:avLst/>
          </a:prstGeom>
          <a:noFill/>
        </p:spPr>
        <p:txBody>
          <a:bodyPr wrap="square" rtlCol="0">
            <a:spAutoFit/>
          </a:bodyPr>
          <a:lstStyle/>
          <a:p>
            <a:pPr marL="285750" indent="-285750" algn="just">
              <a:buFont typeface="Arial" panose="020B0604020202020204" pitchFamily="34" charset="0"/>
              <a:buChar char="•"/>
            </a:pPr>
            <a:r>
              <a:rPr lang="en-IN" sz="2100" dirty="0"/>
              <a:t>Applying KCL at node</a:t>
            </a:r>
          </a:p>
          <a:p>
            <a:pPr marL="285750" indent="-285750" algn="just">
              <a:buFont typeface="Arial" panose="020B0604020202020204" pitchFamily="34" charset="0"/>
              <a:buChar char="•"/>
            </a:pPr>
            <a:endParaRPr lang="en-IN" sz="2100" dirty="0"/>
          </a:p>
          <a:p>
            <a:pPr marL="285750" indent="-285750" algn="just">
              <a:buFont typeface="Arial" panose="020B0604020202020204" pitchFamily="34" charset="0"/>
              <a:buChar char="•"/>
            </a:pPr>
            <a:endParaRPr lang="en-IN" sz="2100" dirty="0"/>
          </a:p>
          <a:p>
            <a:pPr marL="285750" indent="-285750" algn="just">
              <a:buFont typeface="Arial" panose="020B0604020202020204" pitchFamily="34" charset="0"/>
              <a:buChar char="•"/>
            </a:pPr>
            <a:endParaRPr lang="en-IN" sz="2100" dirty="0"/>
          </a:p>
        </p:txBody>
      </p:sp>
      <p:pic>
        <p:nvPicPr>
          <p:cNvPr id="7" name="Picture 6">
            <a:extLst>
              <a:ext uri="{FF2B5EF4-FFF2-40B4-BE49-F238E27FC236}">
                <a16:creationId xmlns:a16="http://schemas.microsoft.com/office/drawing/2014/main" id="{FF9592E8-2524-477C-9842-B3E65A3B1DD0}"/>
              </a:ext>
            </a:extLst>
          </p:cNvPr>
          <p:cNvPicPr>
            <a:picLocks noChangeAspect="1"/>
          </p:cNvPicPr>
          <p:nvPr/>
        </p:nvPicPr>
        <p:blipFill>
          <a:blip r:embed="rId5"/>
          <a:stretch>
            <a:fillRect/>
          </a:stretch>
        </p:blipFill>
        <p:spPr>
          <a:xfrm>
            <a:off x="800286" y="4302708"/>
            <a:ext cx="2792371" cy="599492"/>
          </a:xfrm>
          <a:prstGeom prst="rect">
            <a:avLst/>
          </a:prstGeom>
        </p:spPr>
      </p:pic>
      <p:pic>
        <p:nvPicPr>
          <p:cNvPr id="8" name="Picture 7">
            <a:extLst>
              <a:ext uri="{FF2B5EF4-FFF2-40B4-BE49-F238E27FC236}">
                <a16:creationId xmlns:a16="http://schemas.microsoft.com/office/drawing/2014/main" id="{5EBADAF9-D4A4-47D6-BD15-F1945A59D6DA}"/>
              </a:ext>
            </a:extLst>
          </p:cNvPr>
          <p:cNvPicPr>
            <a:picLocks noChangeAspect="1"/>
          </p:cNvPicPr>
          <p:nvPr/>
        </p:nvPicPr>
        <p:blipFill>
          <a:blip r:embed="rId6"/>
          <a:stretch>
            <a:fillRect/>
          </a:stretch>
        </p:blipFill>
        <p:spPr>
          <a:xfrm>
            <a:off x="501650" y="5207865"/>
            <a:ext cx="4536532" cy="1055671"/>
          </a:xfrm>
          <a:prstGeom prst="rect">
            <a:avLst/>
          </a:prstGeom>
        </p:spPr>
      </p:pic>
      <p:pic>
        <p:nvPicPr>
          <p:cNvPr id="10" name="Picture 9">
            <a:extLst>
              <a:ext uri="{FF2B5EF4-FFF2-40B4-BE49-F238E27FC236}">
                <a16:creationId xmlns:a16="http://schemas.microsoft.com/office/drawing/2014/main" id="{6CFC2652-33C6-4470-B6C6-092BCD8DFF1C}"/>
              </a:ext>
            </a:extLst>
          </p:cNvPr>
          <p:cNvPicPr>
            <a:picLocks noChangeAspect="1"/>
          </p:cNvPicPr>
          <p:nvPr/>
        </p:nvPicPr>
        <p:blipFill>
          <a:blip r:embed="rId7"/>
          <a:stretch>
            <a:fillRect/>
          </a:stretch>
        </p:blipFill>
        <p:spPr>
          <a:xfrm>
            <a:off x="5765799" y="3804314"/>
            <a:ext cx="3696011" cy="1315145"/>
          </a:xfrm>
          <a:prstGeom prst="rect">
            <a:avLst/>
          </a:prstGeom>
        </p:spPr>
      </p:pic>
      <p:pic>
        <p:nvPicPr>
          <p:cNvPr id="11" name="Picture 10">
            <a:extLst>
              <a:ext uri="{FF2B5EF4-FFF2-40B4-BE49-F238E27FC236}">
                <a16:creationId xmlns:a16="http://schemas.microsoft.com/office/drawing/2014/main" id="{A1287F00-2115-4DDB-92A5-CD461154C6B8}"/>
              </a:ext>
            </a:extLst>
          </p:cNvPr>
          <p:cNvPicPr>
            <a:picLocks noChangeAspect="1"/>
          </p:cNvPicPr>
          <p:nvPr/>
        </p:nvPicPr>
        <p:blipFill>
          <a:blip r:embed="rId8"/>
          <a:stretch>
            <a:fillRect/>
          </a:stretch>
        </p:blipFill>
        <p:spPr>
          <a:xfrm>
            <a:off x="5765799" y="5360506"/>
            <a:ext cx="4424842" cy="903029"/>
          </a:xfrm>
          <a:prstGeom prst="rect">
            <a:avLst/>
          </a:prstGeom>
        </p:spPr>
      </p:pic>
    </p:spTree>
    <p:extLst>
      <p:ext uri="{BB962C8B-B14F-4D97-AF65-F5344CB8AC3E}">
        <p14:creationId xmlns:p14="http://schemas.microsoft.com/office/powerpoint/2010/main" val="4200988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Higher Order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CFD4CAE-3113-42AE-A12C-F7FF0B470E80}"/>
              </a:ext>
            </a:extLst>
          </p:cNvPr>
          <p:cNvSpPr txBox="1"/>
          <p:nvPr/>
        </p:nvSpPr>
        <p:spPr>
          <a:xfrm>
            <a:off x="152399" y="2240761"/>
            <a:ext cx="10713351" cy="415498"/>
          </a:xfrm>
          <a:prstGeom prst="rect">
            <a:avLst/>
          </a:prstGeom>
          <a:noFill/>
        </p:spPr>
        <p:txBody>
          <a:bodyPr wrap="square" rtlCol="0">
            <a:spAutoFit/>
          </a:bodyPr>
          <a:lstStyle/>
          <a:p>
            <a:pPr marL="285750" indent="-285750" algn="just">
              <a:buFont typeface="Arial" panose="020B0604020202020204" pitchFamily="34" charset="0"/>
              <a:buChar char="•"/>
            </a:pPr>
            <a:r>
              <a:rPr lang="en-IN" sz="2100" dirty="0"/>
              <a:t>Applying KCL at node </a:t>
            </a:r>
            <a:r>
              <a:rPr lang="en-IN" sz="2100" dirty="0" err="1"/>
              <a:t>Va</a:t>
            </a:r>
            <a:endParaRPr lang="en-IN" sz="2100" dirty="0"/>
          </a:p>
        </p:txBody>
      </p:sp>
      <p:pic>
        <p:nvPicPr>
          <p:cNvPr id="12" name="Picture 11">
            <a:extLst>
              <a:ext uri="{FF2B5EF4-FFF2-40B4-BE49-F238E27FC236}">
                <a16:creationId xmlns:a16="http://schemas.microsoft.com/office/drawing/2014/main" id="{43A92205-5432-44E5-8EF4-CB3B385F3456}"/>
              </a:ext>
            </a:extLst>
          </p:cNvPr>
          <p:cNvPicPr>
            <a:picLocks noChangeAspect="1"/>
          </p:cNvPicPr>
          <p:nvPr/>
        </p:nvPicPr>
        <p:blipFill>
          <a:blip r:embed="rId3"/>
          <a:stretch>
            <a:fillRect/>
          </a:stretch>
        </p:blipFill>
        <p:spPr>
          <a:xfrm>
            <a:off x="6900722" y="907325"/>
            <a:ext cx="5291278" cy="2557082"/>
          </a:xfrm>
          <a:prstGeom prst="rect">
            <a:avLst/>
          </a:prstGeom>
        </p:spPr>
      </p:pic>
      <p:pic>
        <p:nvPicPr>
          <p:cNvPr id="13" name="Picture 12">
            <a:extLst>
              <a:ext uri="{FF2B5EF4-FFF2-40B4-BE49-F238E27FC236}">
                <a16:creationId xmlns:a16="http://schemas.microsoft.com/office/drawing/2014/main" id="{160C9E35-8484-4CBC-869E-189154595B6F}"/>
              </a:ext>
            </a:extLst>
          </p:cNvPr>
          <p:cNvPicPr>
            <a:picLocks noChangeAspect="1"/>
          </p:cNvPicPr>
          <p:nvPr/>
        </p:nvPicPr>
        <p:blipFill>
          <a:blip r:embed="rId4"/>
          <a:stretch>
            <a:fillRect/>
          </a:stretch>
        </p:blipFill>
        <p:spPr>
          <a:xfrm>
            <a:off x="760598" y="1479396"/>
            <a:ext cx="2317198" cy="761365"/>
          </a:xfrm>
          <a:prstGeom prst="rect">
            <a:avLst/>
          </a:prstGeom>
        </p:spPr>
      </p:pic>
      <p:pic>
        <p:nvPicPr>
          <p:cNvPr id="14" name="Picture 13">
            <a:extLst>
              <a:ext uri="{FF2B5EF4-FFF2-40B4-BE49-F238E27FC236}">
                <a16:creationId xmlns:a16="http://schemas.microsoft.com/office/drawing/2014/main" id="{EC1A7F67-D76C-4F6F-A24D-378DF18DBAA8}"/>
              </a:ext>
            </a:extLst>
          </p:cNvPr>
          <p:cNvPicPr>
            <a:picLocks noChangeAspect="1"/>
          </p:cNvPicPr>
          <p:nvPr/>
        </p:nvPicPr>
        <p:blipFill>
          <a:blip r:embed="rId5"/>
          <a:stretch>
            <a:fillRect/>
          </a:stretch>
        </p:blipFill>
        <p:spPr>
          <a:xfrm>
            <a:off x="287337" y="2833075"/>
            <a:ext cx="4740536" cy="540232"/>
          </a:xfrm>
          <a:prstGeom prst="rect">
            <a:avLst/>
          </a:prstGeom>
        </p:spPr>
      </p:pic>
      <p:pic>
        <p:nvPicPr>
          <p:cNvPr id="15" name="Picture 14">
            <a:extLst>
              <a:ext uri="{FF2B5EF4-FFF2-40B4-BE49-F238E27FC236}">
                <a16:creationId xmlns:a16="http://schemas.microsoft.com/office/drawing/2014/main" id="{297A8E76-6C5C-4E30-BAC4-093CF46FCDE3}"/>
              </a:ext>
            </a:extLst>
          </p:cNvPr>
          <p:cNvPicPr>
            <a:picLocks noChangeAspect="1"/>
          </p:cNvPicPr>
          <p:nvPr/>
        </p:nvPicPr>
        <p:blipFill>
          <a:blip r:embed="rId6"/>
          <a:stretch>
            <a:fillRect/>
          </a:stretch>
        </p:blipFill>
        <p:spPr>
          <a:xfrm>
            <a:off x="1233617" y="3404919"/>
            <a:ext cx="3788047" cy="696798"/>
          </a:xfrm>
          <a:prstGeom prst="rect">
            <a:avLst/>
          </a:prstGeom>
        </p:spPr>
      </p:pic>
      <p:pic>
        <p:nvPicPr>
          <p:cNvPr id="16" name="Picture 15">
            <a:extLst>
              <a:ext uri="{FF2B5EF4-FFF2-40B4-BE49-F238E27FC236}">
                <a16:creationId xmlns:a16="http://schemas.microsoft.com/office/drawing/2014/main" id="{21F1E008-D069-4733-A7F9-0A6FCF83DF56}"/>
              </a:ext>
            </a:extLst>
          </p:cNvPr>
          <p:cNvPicPr>
            <a:picLocks noChangeAspect="1"/>
          </p:cNvPicPr>
          <p:nvPr/>
        </p:nvPicPr>
        <p:blipFill>
          <a:blip r:embed="rId7"/>
          <a:stretch>
            <a:fillRect/>
          </a:stretch>
        </p:blipFill>
        <p:spPr>
          <a:xfrm>
            <a:off x="415925" y="4660269"/>
            <a:ext cx="4224266" cy="823599"/>
          </a:xfrm>
          <a:prstGeom prst="rect">
            <a:avLst/>
          </a:prstGeom>
        </p:spPr>
      </p:pic>
      <p:sp>
        <p:nvSpPr>
          <p:cNvPr id="19" name="TextBox 18">
            <a:extLst>
              <a:ext uri="{FF2B5EF4-FFF2-40B4-BE49-F238E27FC236}">
                <a16:creationId xmlns:a16="http://schemas.microsoft.com/office/drawing/2014/main" id="{F87E07A2-FC75-4793-BCC9-8EF0CB8DFAC9}"/>
              </a:ext>
            </a:extLst>
          </p:cNvPr>
          <p:cNvSpPr txBox="1"/>
          <p:nvPr/>
        </p:nvSpPr>
        <p:spPr>
          <a:xfrm>
            <a:off x="152399" y="4201742"/>
            <a:ext cx="10713351" cy="415498"/>
          </a:xfrm>
          <a:prstGeom prst="rect">
            <a:avLst/>
          </a:prstGeom>
          <a:noFill/>
        </p:spPr>
        <p:txBody>
          <a:bodyPr wrap="square" rtlCol="0">
            <a:spAutoFit/>
          </a:bodyPr>
          <a:lstStyle/>
          <a:p>
            <a:pPr marL="285750" indent="-285750" algn="just">
              <a:buFont typeface="Arial" panose="020B0604020202020204" pitchFamily="34" charset="0"/>
              <a:buChar char="•"/>
            </a:pPr>
            <a:r>
              <a:rPr lang="en-IN" sz="2100" dirty="0"/>
              <a:t>Applying KCL at node </a:t>
            </a:r>
            <a:r>
              <a:rPr lang="en-IN" sz="2100" dirty="0" err="1"/>
              <a:t>Vb</a:t>
            </a:r>
            <a:endParaRPr lang="en-IN" sz="2100" dirty="0"/>
          </a:p>
        </p:txBody>
      </p:sp>
      <p:pic>
        <p:nvPicPr>
          <p:cNvPr id="20" name="Picture 19">
            <a:extLst>
              <a:ext uri="{FF2B5EF4-FFF2-40B4-BE49-F238E27FC236}">
                <a16:creationId xmlns:a16="http://schemas.microsoft.com/office/drawing/2014/main" id="{0C82AED9-8F47-4DC5-9E1E-9495ACD458EB}"/>
              </a:ext>
            </a:extLst>
          </p:cNvPr>
          <p:cNvPicPr>
            <a:picLocks noChangeAspect="1"/>
          </p:cNvPicPr>
          <p:nvPr/>
        </p:nvPicPr>
        <p:blipFill>
          <a:blip r:embed="rId8"/>
          <a:stretch>
            <a:fillRect/>
          </a:stretch>
        </p:blipFill>
        <p:spPr>
          <a:xfrm>
            <a:off x="1017587" y="5526897"/>
            <a:ext cx="2414960" cy="823599"/>
          </a:xfrm>
          <a:prstGeom prst="rect">
            <a:avLst/>
          </a:prstGeom>
        </p:spPr>
      </p:pic>
      <p:pic>
        <p:nvPicPr>
          <p:cNvPr id="21" name="Picture 20">
            <a:extLst>
              <a:ext uri="{FF2B5EF4-FFF2-40B4-BE49-F238E27FC236}">
                <a16:creationId xmlns:a16="http://schemas.microsoft.com/office/drawing/2014/main" id="{511BEE0D-772F-46A9-8619-6153A6C65DF2}"/>
              </a:ext>
            </a:extLst>
          </p:cNvPr>
          <p:cNvPicPr>
            <a:picLocks noChangeAspect="1"/>
          </p:cNvPicPr>
          <p:nvPr/>
        </p:nvPicPr>
        <p:blipFill>
          <a:blip r:embed="rId9"/>
          <a:stretch>
            <a:fillRect/>
          </a:stretch>
        </p:blipFill>
        <p:spPr>
          <a:xfrm>
            <a:off x="5900053" y="4530976"/>
            <a:ext cx="5658937" cy="914699"/>
          </a:xfrm>
          <a:prstGeom prst="rect">
            <a:avLst/>
          </a:prstGeom>
        </p:spPr>
      </p:pic>
    </p:spTree>
    <p:extLst>
      <p:ext uri="{BB962C8B-B14F-4D97-AF65-F5344CB8AC3E}">
        <p14:creationId xmlns:p14="http://schemas.microsoft.com/office/powerpoint/2010/main" val="813198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Higher Order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CCFD4CAE-3113-42AE-A12C-F7FF0B470E80}"/>
              </a:ext>
            </a:extLst>
          </p:cNvPr>
          <p:cNvSpPr txBox="1"/>
          <p:nvPr/>
        </p:nvSpPr>
        <p:spPr>
          <a:xfrm>
            <a:off x="152399" y="2240761"/>
            <a:ext cx="10713351" cy="415498"/>
          </a:xfrm>
          <a:prstGeom prst="rect">
            <a:avLst/>
          </a:prstGeom>
          <a:noFill/>
        </p:spPr>
        <p:txBody>
          <a:bodyPr wrap="square" rtlCol="0">
            <a:spAutoFit/>
          </a:bodyPr>
          <a:lstStyle/>
          <a:p>
            <a:pPr marL="285750" indent="-285750" algn="just">
              <a:buFont typeface="Arial" panose="020B0604020202020204" pitchFamily="34" charset="0"/>
              <a:buChar char="•"/>
            </a:pPr>
            <a:r>
              <a:rPr lang="en-IN" sz="2100" dirty="0"/>
              <a:t>Applying KCL at node </a:t>
            </a:r>
            <a:r>
              <a:rPr lang="en-IN" sz="2100" dirty="0" err="1"/>
              <a:t>Va</a:t>
            </a:r>
            <a:endParaRPr lang="en-IN" sz="2100" dirty="0"/>
          </a:p>
        </p:txBody>
      </p:sp>
      <p:pic>
        <p:nvPicPr>
          <p:cNvPr id="12" name="Picture 11">
            <a:extLst>
              <a:ext uri="{FF2B5EF4-FFF2-40B4-BE49-F238E27FC236}">
                <a16:creationId xmlns:a16="http://schemas.microsoft.com/office/drawing/2014/main" id="{43A92205-5432-44E5-8EF4-CB3B385F3456}"/>
              </a:ext>
            </a:extLst>
          </p:cNvPr>
          <p:cNvPicPr>
            <a:picLocks noChangeAspect="1"/>
          </p:cNvPicPr>
          <p:nvPr/>
        </p:nvPicPr>
        <p:blipFill>
          <a:blip r:embed="rId3"/>
          <a:stretch>
            <a:fillRect/>
          </a:stretch>
        </p:blipFill>
        <p:spPr>
          <a:xfrm>
            <a:off x="6900722" y="907325"/>
            <a:ext cx="5291278" cy="2557082"/>
          </a:xfrm>
          <a:prstGeom prst="rect">
            <a:avLst/>
          </a:prstGeom>
        </p:spPr>
      </p:pic>
      <p:pic>
        <p:nvPicPr>
          <p:cNvPr id="13" name="Picture 12">
            <a:extLst>
              <a:ext uri="{FF2B5EF4-FFF2-40B4-BE49-F238E27FC236}">
                <a16:creationId xmlns:a16="http://schemas.microsoft.com/office/drawing/2014/main" id="{160C9E35-8484-4CBC-869E-189154595B6F}"/>
              </a:ext>
            </a:extLst>
          </p:cNvPr>
          <p:cNvPicPr>
            <a:picLocks noChangeAspect="1"/>
          </p:cNvPicPr>
          <p:nvPr/>
        </p:nvPicPr>
        <p:blipFill>
          <a:blip r:embed="rId4"/>
          <a:stretch>
            <a:fillRect/>
          </a:stretch>
        </p:blipFill>
        <p:spPr>
          <a:xfrm>
            <a:off x="760598" y="1479396"/>
            <a:ext cx="2317198" cy="761365"/>
          </a:xfrm>
          <a:prstGeom prst="rect">
            <a:avLst/>
          </a:prstGeom>
        </p:spPr>
      </p:pic>
      <p:pic>
        <p:nvPicPr>
          <p:cNvPr id="14" name="Picture 13">
            <a:extLst>
              <a:ext uri="{FF2B5EF4-FFF2-40B4-BE49-F238E27FC236}">
                <a16:creationId xmlns:a16="http://schemas.microsoft.com/office/drawing/2014/main" id="{EC1A7F67-D76C-4F6F-A24D-378DF18DBAA8}"/>
              </a:ext>
            </a:extLst>
          </p:cNvPr>
          <p:cNvPicPr>
            <a:picLocks noChangeAspect="1"/>
          </p:cNvPicPr>
          <p:nvPr/>
        </p:nvPicPr>
        <p:blipFill>
          <a:blip r:embed="rId5"/>
          <a:stretch>
            <a:fillRect/>
          </a:stretch>
        </p:blipFill>
        <p:spPr>
          <a:xfrm>
            <a:off x="287337" y="2833075"/>
            <a:ext cx="4740536" cy="540232"/>
          </a:xfrm>
          <a:prstGeom prst="rect">
            <a:avLst/>
          </a:prstGeom>
        </p:spPr>
      </p:pic>
      <p:pic>
        <p:nvPicPr>
          <p:cNvPr id="15" name="Picture 14">
            <a:extLst>
              <a:ext uri="{FF2B5EF4-FFF2-40B4-BE49-F238E27FC236}">
                <a16:creationId xmlns:a16="http://schemas.microsoft.com/office/drawing/2014/main" id="{297A8E76-6C5C-4E30-BAC4-093CF46FCDE3}"/>
              </a:ext>
            </a:extLst>
          </p:cNvPr>
          <p:cNvPicPr>
            <a:picLocks noChangeAspect="1"/>
          </p:cNvPicPr>
          <p:nvPr/>
        </p:nvPicPr>
        <p:blipFill>
          <a:blip r:embed="rId6"/>
          <a:stretch>
            <a:fillRect/>
          </a:stretch>
        </p:blipFill>
        <p:spPr>
          <a:xfrm>
            <a:off x="1233617" y="3404919"/>
            <a:ext cx="3788047" cy="696798"/>
          </a:xfrm>
          <a:prstGeom prst="rect">
            <a:avLst/>
          </a:prstGeom>
        </p:spPr>
      </p:pic>
      <p:pic>
        <p:nvPicPr>
          <p:cNvPr id="16" name="Picture 15">
            <a:extLst>
              <a:ext uri="{FF2B5EF4-FFF2-40B4-BE49-F238E27FC236}">
                <a16:creationId xmlns:a16="http://schemas.microsoft.com/office/drawing/2014/main" id="{21F1E008-D069-4733-A7F9-0A6FCF83DF56}"/>
              </a:ext>
            </a:extLst>
          </p:cNvPr>
          <p:cNvPicPr>
            <a:picLocks noChangeAspect="1"/>
          </p:cNvPicPr>
          <p:nvPr/>
        </p:nvPicPr>
        <p:blipFill>
          <a:blip r:embed="rId7"/>
          <a:stretch>
            <a:fillRect/>
          </a:stretch>
        </p:blipFill>
        <p:spPr>
          <a:xfrm>
            <a:off x="415925" y="4660269"/>
            <a:ext cx="4224266" cy="823599"/>
          </a:xfrm>
          <a:prstGeom prst="rect">
            <a:avLst/>
          </a:prstGeom>
        </p:spPr>
      </p:pic>
      <p:sp>
        <p:nvSpPr>
          <p:cNvPr id="19" name="TextBox 18">
            <a:extLst>
              <a:ext uri="{FF2B5EF4-FFF2-40B4-BE49-F238E27FC236}">
                <a16:creationId xmlns:a16="http://schemas.microsoft.com/office/drawing/2014/main" id="{F87E07A2-FC75-4793-BCC9-8EF0CB8DFAC9}"/>
              </a:ext>
            </a:extLst>
          </p:cNvPr>
          <p:cNvSpPr txBox="1"/>
          <p:nvPr/>
        </p:nvSpPr>
        <p:spPr>
          <a:xfrm>
            <a:off x="152399" y="4201742"/>
            <a:ext cx="10713351" cy="415498"/>
          </a:xfrm>
          <a:prstGeom prst="rect">
            <a:avLst/>
          </a:prstGeom>
          <a:noFill/>
        </p:spPr>
        <p:txBody>
          <a:bodyPr wrap="square" rtlCol="0">
            <a:spAutoFit/>
          </a:bodyPr>
          <a:lstStyle/>
          <a:p>
            <a:pPr marL="285750" indent="-285750" algn="just">
              <a:buFont typeface="Arial" panose="020B0604020202020204" pitchFamily="34" charset="0"/>
              <a:buChar char="•"/>
            </a:pPr>
            <a:r>
              <a:rPr lang="en-IN" sz="2100" dirty="0"/>
              <a:t>Applying KCL at node </a:t>
            </a:r>
            <a:r>
              <a:rPr lang="en-IN" sz="2100" dirty="0" err="1"/>
              <a:t>Vb</a:t>
            </a:r>
            <a:endParaRPr lang="en-IN" sz="2100" dirty="0"/>
          </a:p>
        </p:txBody>
      </p:sp>
      <p:pic>
        <p:nvPicPr>
          <p:cNvPr id="20" name="Picture 19">
            <a:extLst>
              <a:ext uri="{FF2B5EF4-FFF2-40B4-BE49-F238E27FC236}">
                <a16:creationId xmlns:a16="http://schemas.microsoft.com/office/drawing/2014/main" id="{0C82AED9-8F47-4DC5-9E1E-9495ACD458EB}"/>
              </a:ext>
            </a:extLst>
          </p:cNvPr>
          <p:cNvPicPr>
            <a:picLocks noChangeAspect="1"/>
          </p:cNvPicPr>
          <p:nvPr/>
        </p:nvPicPr>
        <p:blipFill>
          <a:blip r:embed="rId8"/>
          <a:stretch>
            <a:fillRect/>
          </a:stretch>
        </p:blipFill>
        <p:spPr>
          <a:xfrm>
            <a:off x="1017587" y="5526897"/>
            <a:ext cx="2414960" cy="823599"/>
          </a:xfrm>
          <a:prstGeom prst="rect">
            <a:avLst/>
          </a:prstGeom>
        </p:spPr>
      </p:pic>
      <p:pic>
        <p:nvPicPr>
          <p:cNvPr id="21" name="Picture 20">
            <a:extLst>
              <a:ext uri="{FF2B5EF4-FFF2-40B4-BE49-F238E27FC236}">
                <a16:creationId xmlns:a16="http://schemas.microsoft.com/office/drawing/2014/main" id="{511BEE0D-772F-46A9-8619-6153A6C65DF2}"/>
              </a:ext>
            </a:extLst>
          </p:cNvPr>
          <p:cNvPicPr>
            <a:picLocks noChangeAspect="1"/>
          </p:cNvPicPr>
          <p:nvPr/>
        </p:nvPicPr>
        <p:blipFill>
          <a:blip r:embed="rId9"/>
          <a:stretch>
            <a:fillRect/>
          </a:stretch>
        </p:blipFill>
        <p:spPr>
          <a:xfrm>
            <a:off x="5900053" y="4530976"/>
            <a:ext cx="5658937" cy="914699"/>
          </a:xfrm>
          <a:prstGeom prst="rect">
            <a:avLst/>
          </a:prstGeom>
        </p:spPr>
      </p:pic>
    </p:spTree>
    <p:extLst>
      <p:ext uri="{BB962C8B-B14F-4D97-AF65-F5344CB8AC3E}">
        <p14:creationId xmlns:p14="http://schemas.microsoft.com/office/powerpoint/2010/main" val="1796664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Second Order Low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DD7D6826-9DC0-442F-999F-91D3EA1E758C}"/>
              </a:ext>
            </a:extLst>
          </p:cNvPr>
          <p:cNvPicPr>
            <a:picLocks noChangeAspect="1"/>
          </p:cNvPicPr>
          <p:nvPr/>
        </p:nvPicPr>
        <p:blipFill>
          <a:blip r:embed="rId3"/>
          <a:stretch>
            <a:fillRect/>
          </a:stretch>
        </p:blipFill>
        <p:spPr>
          <a:xfrm>
            <a:off x="7545361" y="4382596"/>
            <a:ext cx="4646639" cy="2345659"/>
          </a:xfrm>
          <a:prstGeom prst="rect">
            <a:avLst/>
          </a:prstGeom>
        </p:spPr>
      </p:pic>
      <p:pic>
        <p:nvPicPr>
          <p:cNvPr id="11" name="Picture 10">
            <a:extLst>
              <a:ext uri="{FF2B5EF4-FFF2-40B4-BE49-F238E27FC236}">
                <a16:creationId xmlns:a16="http://schemas.microsoft.com/office/drawing/2014/main" id="{2B60E795-8978-4D32-92BF-871B1626D951}"/>
              </a:ext>
            </a:extLst>
          </p:cNvPr>
          <p:cNvPicPr>
            <a:picLocks noChangeAspect="1"/>
          </p:cNvPicPr>
          <p:nvPr/>
        </p:nvPicPr>
        <p:blipFill>
          <a:blip r:embed="rId4"/>
          <a:stretch>
            <a:fillRect/>
          </a:stretch>
        </p:blipFill>
        <p:spPr>
          <a:xfrm>
            <a:off x="6733616" y="1294997"/>
            <a:ext cx="5238750" cy="2286000"/>
          </a:xfrm>
          <a:prstGeom prst="rect">
            <a:avLst/>
          </a:prstGeom>
        </p:spPr>
      </p:pic>
      <p:pic>
        <p:nvPicPr>
          <p:cNvPr id="25" name="Picture 24">
            <a:extLst>
              <a:ext uri="{FF2B5EF4-FFF2-40B4-BE49-F238E27FC236}">
                <a16:creationId xmlns:a16="http://schemas.microsoft.com/office/drawing/2014/main" id="{01C3CA14-51D2-4F94-97DA-07BE56B04D17}"/>
              </a:ext>
            </a:extLst>
          </p:cNvPr>
          <p:cNvPicPr>
            <a:picLocks noChangeAspect="1"/>
          </p:cNvPicPr>
          <p:nvPr/>
        </p:nvPicPr>
        <p:blipFill>
          <a:blip r:embed="rId4"/>
          <a:stretch>
            <a:fillRect/>
          </a:stretch>
        </p:blipFill>
        <p:spPr>
          <a:xfrm>
            <a:off x="6733616" y="1296807"/>
            <a:ext cx="5238750" cy="2286000"/>
          </a:xfrm>
          <a:prstGeom prst="rect">
            <a:avLst/>
          </a:prstGeom>
        </p:spPr>
      </p:pic>
      <p:pic>
        <p:nvPicPr>
          <p:cNvPr id="26" name="Picture 25">
            <a:extLst>
              <a:ext uri="{FF2B5EF4-FFF2-40B4-BE49-F238E27FC236}">
                <a16:creationId xmlns:a16="http://schemas.microsoft.com/office/drawing/2014/main" id="{600C4FF6-4AAB-4516-A99E-AA8D565F5D30}"/>
              </a:ext>
            </a:extLst>
          </p:cNvPr>
          <p:cNvPicPr>
            <a:picLocks noChangeAspect="1"/>
          </p:cNvPicPr>
          <p:nvPr/>
        </p:nvPicPr>
        <p:blipFill>
          <a:blip r:embed="rId5"/>
          <a:stretch>
            <a:fillRect/>
          </a:stretch>
        </p:blipFill>
        <p:spPr>
          <a:xfrm>
            <a:off x="431938" y="972463"/>
            <a:ext cx="5391150" cy="1314450"/>
          </a:xfrm>
          <a:prstGeom prst="rect">
            <a:avLst/>
          </a:prstGeom>
        </p:spPr>
      </p:pic>
      <p:pic>
        <p:nvPicPr>
          <p:cNvPr id="27" name="Picture 26">
            <a:extLst>
              <a:ext uri="{FF2B5EF4-FFF2-40B4-BE49-F238E27FC236}">
                <a16:creationId xmlns:a16="http://schemas.microsoft.com/office/drawing/2014/main" id="{06A68F74-A54D-412D-A4F8-2AB10AE9A5C8}"/>
              </a:ext>
            </a:extLst>
          </p:cNvPr>
          <p:cNvPicPr>
            <a:picLocks noChangeAspect="1"/>
          </p:cNvPicPr>
          <p:nvPr/>
        </p:nvPicPr>
        <p:blipFill>
          <a:blip r:embed="rId6"/>
          <a:stretch>
            <a:fillRect/>
          </a:stretch>
        </p:blipFill>
        <p:spPr>
          <a:xfrm>
            <a:off x="1096203" y="2604489"/>
            <a:ext cx="3638550" cy="1019175"/>
          </a:xfrm>
          <a:prstGeom prst="rect">
            <a:avLst/>
          </a:prstGeom>
        </p:spPr>
      </p:pic>
      <p:pic>
        <p:nvPicPr>
          <p:cNvPr id="28" name="Picture 27">
            <a:extLst>
              <a:ext uri="{FF2B5EF4-FFF2-40B4-BE49-F238E27FC236}">
                <a16:creationId xmlns:a16="http://schemas.microsoft.com/office/drawing/2014/main" id="{8B239521-366C-4116-8FA7-D923B924CEB4}"/>
              </a:ext>
            </a:extLst>
          </p:cNvPr>
          <p:cNvPicPr>
            <a:picLocks noChangeAspect="1"/>
          </p:cNvPicPr>
          <p:nvPr/>
        </p:nvPicPr>
        <p:blipFill>
          <a:blip r:embed="rId7"/>
          <a:stretch>
            <a:fillRect/>
          </a:stretch>
        </p:blipFill>
        <p:spPr>
          <a:xfrm>
            <a:off x="1096203" y="3692835"/>
            <a:ext cx="2990850" cy="781050"/>
          </a:xfrm>
          <a:prstGeom prst="rect">
            <a:avLst/>
          </a:prstGeom>
        </p:spPr>
      </p:pic>
      <p:pic>
        <p:nvPicPr>
          <p:cNvPr id="29" name="Picture 28">
            <a:extLst>
              <a:ext uri="{FF2B5EF4-FFF2-40B4-BE49-F238E27FC236}">
                <a16:creationId xmlns:a16="http://schemas.microsoft.com/office/drawing/2014/main" id="{817B42CF-DC04-4B98-A6A2-443C7710EDDC}"/>
              </a:ext>
            </a:extLst>
          </p:cNvPr>
          <p:cNvPicPr>
            <a:picLocks noChangeAspect="1"/>
          </p:cNvPicPr>
          <p:nvPr/>
        </p:nvPicPr>
        <p:blipFill>
          <a:blip r:embed="rId8"/>
          <a:stretch>
            <a:fillRect/>
          </a:stretch>
        </p:blipFill>
        <p:spPr>
          <a:xfrm>
            <a:off x="571184" y="4554523"/>
            <a:ext cx="3495675" cy="733425"/>
          </a:xfrm>
          <a:prstGeom prst="rect">
            <a:avLst/>
          </a:prstGeom>
        </p:spPr>
      </p:pic>
      <p:sp>
        <p:nvSpPr>
          <p:cNvPr id="30" name="TextBox 29">
            <a:extLst>
              <a:ext uri="{FF2B5EF4-FFF2-40B4-BE49-F238E27FC236}">
                <a16:creationId xmlns:a16="http://schemas.microsoft.com/office/drawing/2014/main" id="{0E1ECF16-3D25-4981-A82E-C1DF20F5CE7A}"/>
              </a:ext>
            </a:extLst>
          </p:cNvPr>
          <p:cNvSpPr txBox="1"/>
          <p:nvPr/>
        </p:nvSpPr>
        <p:spPr>
          <a:xfrm>
            <a:off x="940905" y="5685183"/>
            <a:ext cx="5645426" cy="923330"/>
          </a:xfrm>
          <a:prstGeom prst="rect">
            <a:avLst/>
          </a:prstGeom>
          <a:noFill/>
        </p:spPr>
        <p:txBody>
          <a:bodyPr wrap="square" rtlCol="0">
            <a:spAutoFit/>
          </a:bodyPr>
          <a:lstStyle/>
          <a:p>
            <a:r>
              <a:rPr lang="en-US" dirty="0"/>
              <a:t>When s = 0, H(0) = A ; when s = ∞, H(∞) = 0, which indicates that this configuration is for low-pass active filters.</a:t>
            </a:r>
            <a:endParaRPr lang="en-IN" dirty="0"/>
          </a:p>
        </p:txBody>
      </p:sp>
    </p:spTree>
    <p:extLst>
      <p:ext uri="{BB962C8B-B14F-4D97-AF65-F5344CB8AC3E}">
        <p14:creationId xmlns:p14="http://schemas.microsoft.com/office/powerpoint/2010/main" val="1351811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Second Order Low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01C3CA14-51D2-4F94-97DA-07BE56B04D17}"/>
              </a:ext>
            </a:extLst>
          </p:cNvPr>
          <p:cNvPicPr>
            <a:picLocks noChangeAspect="1"/>
          </p:cNvPicPr>
          <p:nvPr/>
        </p:nvPicPr>
        <p:blipFill>
          <a:blip r:embed="rId3"/>
          <a:stretch>
            <a:fillRect/>
          </a:stretch>
        </p:blipFill>
        <p:spPr>
          <a:xfrm>
            <a:off x="6550733" y="1143000"/>
            <a:ext cx="5238750" cy="2286000"/>
          </a:xfrm>
          <a:prstGeom prst="rect">
            <a:avLst/>
          </a:prstGeom>
        </p:spPr>
      </p:pic>
      <p:sp>
        <p:nvSpPr>
          <p:cNvPr id="30" name="TextBox 29">
            <a:extLst>
              <a:ext uri="{FF2B5EF4-FFF2-40B4-BE49-F238E27FC236}">
                <a16:creationId xmlns:a16="http://schemas.microsoft.com/office/drawing/2014/main" id="{0E1ECF16-3D25-4981-A82E-C1DF20F5CE7A}"/>
              </a:ext>
            </a:extLst>
          </p:cNvPr>
          <p:cNvSpPr txBox="1"/>
          <p:nvPr/>
        </p:nvSpPr>
        <p:spPr>
          <a:xfrm>
            <a:off x="62584" y="881897"/>
            <a:ext cx="8069233" cy="646331"/>
          </a:xfrm>
          <a:prstGeom prst="rect">
            <a:avLst/>
          </a:prstGeom>
          <a:noFill/>
        </p:spPr>
        <p:txBody>
          <a:bodyPr wrap="square" rtlCol="0">
            <a:spAutoFit/>
          </a:bodyPr>
          <a:lstStyle/>
          <a:p>
            <a:r>
              <a:rPr lang="en-US" dirty="0"/>
              <a:t>For second order physical systems such as electrical, mechanical, chemical and hydraulic, the transfer function can be expressed as</a:t>
            </a:r>
            <a:endParaRPr lang="en-IN" dirty="0"/>
          </a:p>
        </p:txBody>
      </p:sp>
      <p:pic>
        <p:nvPicPr>
          <p:cNvPr id="4" name="Picture 3">
            <a:extLst>
              <a:ext uri="{FF2B5EF4-FFF2-40B4-BE49-F238E27FC236}">
                <a16:creationId xmlns:a16="http://schemas.microsoft.com/office/drawing/2014/main" id="{291FD5D4-FC92-4C90-8C19-EFB13650EED0}"/>
              </a:ext>
            </a:extLst>
          </p:cNvPr>
          <p:cNvPicPr>
            <a:picLocks noChangeAspect="1"/>
          </p:cNvPicPr>
          <p:nvPr/>
        </p:nvPicPr>
        <p:blipFill>
          <a:blip r:embed="rId4"/>
          <a:stretch>
            <a:fillRect/>
          </a:stretch>
        </p:blipFill>
        <p:spPr>
          <a:xfrm>
            <a:off x="740625" y="1614822"/>
            <a:ext cx="2657475" cy="742950"/>
          </a:xfrm>
          <a:prstGeom prst="rect">
            <a:avLst/>
          </a:prstGeom>
        </p:spPr>
      </p:pic>
      <p:pic>
        <p:nvPicPr>
          <p:cNvPr id="6" name="Picture 5">
            <a:extLst>
              <a:ext uri="{FF2B5EF4-FFF2-40B4-BE49-F238E27FC236}">
                <a16:creationId xmlns:a16="http://schemas.microsoft.com/office/drawing/2014/main" id="{DAD5790F-D9B1-488C-9635-9018EAFE9590}"/>
              </a:ext>
            </a:extLst>
          </p:cNvPr>
          <p:cNvPicPr>
            <a:picLocks noChangeAspect="1"/>
          </p:cNvPicPr>
          <p:nvPr/>
        </p:nvPicPr>
        <p:blipFill>
          <a:blip r:embed="rId5"/>
          <a:stretch>
            <a:fillRect/>
          </a:stretch>
        </p:blipFill>
        <p:spPr>
          <a:xfrm>
            <a:off x="740625" y="2525712"/>
            <a:ext cx="3714750" cy="809625"/>
          </a:xfrm>
          <a:prstGeom prst="rect">
            <a:avLst/>
          </a:prstGeom>
        </p:spPr>
      </p:pic>
      <p:sp>
        <p:nvSpPr>
          <p:cNvPr id="16" name="TextBox 15">
            <a:extLst>
              <a:ext uri="{FF2B5EF4-FFF2-40B4-BE49-F238E27FC236}">
                <a16:creationId xmlns:a16="http://schemas.microsoft.com/office/drawing/2014/main" id="{41E352B2-93AB-4D94-A986-8EA8ED087A83}"/>
              </a:ext>
            </a:extLst>
          </p:cNvPr>
          <p:cNvSpPr txBox="1"/>
          <p:nvPr/>
        </p:nvSpPr>
        <p:spPr>
          <a:xfrm>
            <a:off x="0" y="3377510"/>
            <a:ext cx="8069233" cy="369332"/>
          </a:xfrm>
          <a:prstGeom prst="rect">
            <a:avLst/>
          </a:prstGeom>
          <a:noFill/>
        </p:spPr>
        <p:txBody>
          <a:bodyPr wrap="square" rtlCol="0">
            <a:spAutoFit/>
          </a:bodyPr>
          <a:lstStyle/>
          <a:p>
            <a:r>
              <a:rPr lang="en-US" dirty="0"/>
              <a:t>The </a:t>
            </a:r>
            <a:r>
              <a:rPr lang="en-US" dirty="0" err="1"/>
              <a:t>normalised</a:t>
            </a:r>
            <a:r>
              <a:rPr lang="en-US" dirty="0"/>
              <a:t> expression for low-pass filter is given by</a:t>
            </a:r>
            <a:endParaRPr lang="en-IN" dirty="0"/>
          </a:p>
        </p:txBody>
      </p:sp>
      <p:pic>
        <p:nvPicPr>
          <p:cNvPr id="7" name="Picture 6">
            <a:extLst>
              <a:ext uri="{FF2B5EF4-FFF2-40B4-BE49-F238E27FC236}">
                <a16:creationId xmlns:a16="http://schemas.microsoft.com/office/drawing/2014/main" id="{645B8F7F-99F1-4DC6-BD76-D3F0A49AECB6}"/>
              </a:ext>
            </a:extLst>
          </p:cNvPr>
          <p:cNvPicPr>
            <a:picLocks noChangeAspect="1"/>
          </p:cNvPicPr>
          <p:nvPr/>
        </p:nvPicPr>
        <p:blipFill>
          <a:blip r:embed="rId6"/>
          <a:stretch>
            <a:fillRect/>
          </a:stretch>
        </p:blipFill>
        <p:spPr>
          <a:xfrm>
            <a:off x="740625" y="3864154"/>
            <a:ext cx="2143125" cy="685800"/>
          </a:xfrm>
          <a:prstGeom prst="rect">
            <a:avLst/>
          </a:prstGeom>
        </p:spPr>
      </p:pic>
      <p:sp>
        <p:nvSpPr>
          <p:cNvPr id="19" name="TextBox 18">
            <a:extLst>
              <a:ext uri="{FF2B5EF4-FFF2-40B4-BE49-F238E27FC236}">
                <a16:creationId xmlns:a16="http://schemas.microsoft.com/office/drawing/2014/main" id="{1942683E-C925-46E4-B1D3-618F08F8374D}"/>
              </a:ext>
            </a:extLst>
          </p:cNvPr>
          <p:cNvSpPr txBox="1"/>
          <p:nvPr/>
        </p:nvSpPr>
        <p:spPr>
          <a:xfrm>
            <a:off x="-1" y="4605808"/>
            <a:ext cx="8069233" cy="369332"/>
          </a:xfrm>
          <a:prstGeom prst="rect">
            <a:avLst/>
          </a:prstGeom>
          <a:noFill/>
        </p:spPr>
        <p:txBody>
          <a:bodyPr wrap="square" rtlCol="0">
            <a:spAutoFit/>
          </a:bodyPr>
          <a:lstStyle/>
          <a:p>
            <a:r>
              <a:rPr lang="en-US" dirty="0"/>
              <a:t>Magnitude response is given by</a:t>
            </a:r>
            <a:endParaRPr lang="en-IN" dirty="0"/>
          </a:p>
        </p:txBody>
      </p:sp>
      <p:pic>
        <p:nvPicPr>
          <p:cNvPr id="8" name="Picture 7">
            <a:extLst>
              <a:ext uri="{FF2B5EF4-FFF2-40B4-BE49-F238E27FC236}">
                <a16:creationId xmlns:a16="http://schemas.microsoft.com/office/drawing/2014/main" id="{423323D2-756E-4140-BD78-1F340DFC70F9}"/>
              </a:ext>
            </a:extLst>
          </p:cNvPr>
          <p:cNvPicPr>
            <a:picLocks noChangeAspect="1"/>
          </p:cNvPicPr>
          <p:nvPr/>
        </p:nvPicPr>
        <p:blipFill>
          <a:blip r:embed="rId7"/>
          <a:stretch>
            <a:fillRect/>
          </a:stretch>
        </p:blipFill>
        <p:spPr>
          <a:xfrm>
            <a:off x="454875" y="4956535"/>
            <a:ext cx="5886450" cy="866775"/>
          </a:xfrm>
          <a:prstGeom prst="rect">
            <a:avLst/>
          </a:prstGeom>
        </p:spPr>
      </p:pic>
      <p:pic>
        <p:nvPicPr>
          <p:cNvPr id="9" name="Picture 8">
            <a:extLst>
              <a:ext uri="{FF2B5EF4-FFF2-40B4-BE49-F238E27FC236}">
                <a16:creationId xmlns:a16="http://schemas.microsoft.com/office/drawing/2014/main" id="{7200A672-3782-46AA-9301-B1C68B1F2CE6}"/>
              </a:ext>
            </a:extLst>
          </p:cNvPr>
          <p:cNvPicPr>
            <a:picLocks noChangeAspect="1"/>
          </p:cNvPicPr>
          <p:nvPr/>
        </p:nvPicPr>
        <p:blipFill>
          <a:blip r:embed="rId8"/>
          <a:stretch>
            <a:fillRect/>
          </a:stretch>
        </p:blipFill>
        <p:spPr>
          <a:xfrm>
            <a:off x="7303350" y="4043049"/>
            <a:ext cx="4276725" cy="2190750"/>
          </a:xfrm>
          <a:prstGeom prst="rect">
            <a:avLst/>
          </a:prstGeom>
        </p:spPr>
      </p:pic>
    </p:spTree>
    <p:extLst>
      <p:ext uri="{BB962C8B-B14F-4D97-AF65-F5344CB8AC3E}">
        <p14:creationId xmlns:p14="http://schemas.microsoft.com/office/powerpoint/2010/main" val="22253301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Second Order Low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C36F351-63A3-4BEF-9492-974376AA931A}"/>
              </a:ext>
            </a:extLst>
          </p:cNvPr>
          <p:cNvSpPr txBox="1"/>
          <p:nvPr/>
        </p:nvSpPr>
        <p:spPr>
          <a:xfrm>
            <a:off x="312710" y="972463"/>
            <a:ext cx="9560160" cy="923330"/>
          </a:xfrm>
          <a:prstGeom prst="rect">
            <a:avLst/>
          </a:prstGeom>
          <a:noFill/>
        </p:spPr>
        <p:txBody>
          <a:bodyPr wrap="square" rtlCol="0">
            <a:spAutoFit/>
          </a:bodyPr>
          <a:lstStyle/>
          <a:p>
            <a:pPr algn="just"/>
            <a:r>
              <a:rPr lang="en-US" dirty="0"/>
              <a:t>Higher order filters can be designed by adding additional RC networks, that is, by cascading a required number of first and second order filters. The transfer function of higher order filters will be of the type, as given by</a:t>
            </a:r>
            <a:endParaRPr lang="en-IN" dirty="0"/>
          </a:p>
        </p:txBody>
      </p:sp>
      <p:pic>
        <p:nvPicPr>
          <p:cNvPr id="11" name="Picture 10">
            <a:extLst>
              <a:ext uri="{FF2B5EF4-FFF2-40B4-BE49-F238E27FC236}">
                <a16:creationId xmlns:a16="http://schemas.microsoft.com/office/drawing/2014/main" id="{3F9F3BA2-537C-4E14-B88E-66148517680D}"/>
              </a:ext>
            </a:extLst>
          </p:cNvPr>
          <p:cNvPicPr>
            <a:picLocks noChangeAspect="1"/>
          </p:cNvPicPr>
          <p:nvPr/>
        </p:nvPicPr>
        <p:blipFill>
          <a:blip r:embed="rId3"/>
          <a:stretch>
            <a:fillRect/>
          </a:stretch>
        </p:blipFill>
        <p:spPr>
          <a:xfrm>
            <a:off x="2424734" y="1895793"/>
            <a:ext cx="4400550" cy="857250"/>
          </a:xfrm>
          <a:prstGeom prst="rect">
            <a:avLst/>
          </a:prstGeom>
        </p:spPr>
      </p:pic>
      <p:pic>
        <p:nvPicPr>
          <p:cNvPr id="12" name="Picture 11">
            <a:extLst>
              <a:ext uri="{FF2B5EF4-FFF2-40B4-BE49-F238E27FC236}">
                <a16:creationId xmlns:a16="http://schemas.microsoft.com/office/drawing/2014/main" id="{2C542D5F-4699-41EB-BF1D-68EECB15BA6F}"/>
              </a:ext>
            </a:extLst>
          </p:cNvPr>
          <p:cNvPicPr>
            <a:picLocks noChangeAspect="1"/>
          </p:cNvPicPr>
          <p:nvPr/>
        </p:nvPicPr>
        <p:blipFill>
          <a:blip r:embed="rId4"/>
          <a:stretch>
            <a:fillRect/>
          </a:stretch>
        </p:blipFill>
        <p:spPr>
          <a:xfrm>
            <a:off x="853110" y="2930525"/>
            <a:ext cx="4686300" cy="3162300"/>
          </a:xfrm>
          <a:prstGeom prst="rect">
            <a:avLst/>
          </a:prstGeom>
        </p:spPr>
      </p:pic>
      <p:pic>
        <p:nvPicPr>
          <p:cNvPr id="13" name="Picture 12">
            <a:extLst>
              <a:ext uri="{FF2B5EF4-FFF2-40B4-BE49-F238E27FC236}">
                <a16:creationId xmlns:a16="http://schemas.microsoft.com/office/drawing/2014/main" id="{90B778AF-8BC3-4F05-AB7D-709A4E803868}"/>
              </a:ext>
            </a:extLst>
          </p:cNvPr>
          <p:cNvPicPr>
            <a:picLocks noChangeAspect="1"/>
          </p:cNvPicPr>
          <p:nvPr/>
        </p:nvPicPr>
        <p:blipFill>
          <a:blip r:embed="rId5"/>
          <a:stretch>
            <a:fillRect/>
          </a:stretch>
        </p:blipFill>
        <p:spPr>
          <a:xfrm>
            <a:off x="5331623" y="2879725"/>
            <a:ext cx="6293180" cy="3295650"/>
          </a:xfrm>
          <a:prstGeom prst="rect">
            <a:avLst/>
          </a:prstGeom>
        </p:spPr>
      </p:pic>
    </p:spTree>
    <p:extLst>
      <p:ext uri="{BB962C8B-B14F-4D97-AF65-F5344CB8AC3E}">
        <p14:creationId xmlns:p14="http://schemas.microsoft.com/office/powerpoint/2010/main" val="3124663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Second Order Low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E1ECF16-3D25-4981-A82E-C1DF20F5CE7A}"/>
              </a:ext>
            </a:extLst>
          </p:cNvPr>
          <p:cNvSpPr txBox="1"/>
          <p:nvPr/>
        </p:nvSpPr>
        <p:spPr>
          <a:xfrm>
            <a:off x="62584" y="881897"/>
            <a:ext cx="8069233" cy="369332"/>
          </a:xfrm>
          <a:prstGeom prst="rect">
            <a:avLst/>
          </a:prstGeom>
          <a:noFill/>
        </p:spPr>
        <p:txBody>
          <a:bodyPr wrap="square" rtlCol="0">
            <a:spAutoFit/>
          </a:bodyPr>
          <a:lstStyle/>
          <a:p>
            <a:r>
              <a:rPr lang="en-US" dirty="0"/>
              <a:t>Substituting the admittance values in generalized expression we get</a:t>
            </a:r>
            <a:endParaRPr lang="en-IN" dirty="0"/>
          </a:p>
        </p:txBody>
      </p:sp>
      <p:pic>
        <p:nvPicPr>
          <p:cNvPr id="5" name="Picture 4">
            <a:extLst>
              <a:ext uri="{FF2B5EF4-FFF2-40B4-BE49-F238E27FC236}">
                <a16:creationId xmlns:a16="http://schemas.microsoft.com/office/drawing/2014/main" id="{37E5F25C-909A-40CB-A1E4-D83635AEC3E9}"/>
              </a:ext>
            </a:extLst>
          </p:cNvPr>
          <p:cNvPicPr>
            <a:picLocks noChangeAspect="1"/>
          </p:cNvPicPr>
          <p:nvPr/>
        </p:nvPicPr>
        <p:blipFill>
          <a:blip r:embed="rId3"/>
          <a:stretch>
            <a:fillRect/>
          </a:stretch>
        </p:blipFill>
        <p:spPr>
          <a:xfrm>
            <a:off x="7222309" y="936141"/>
            <a:ext cx="4552950" cy="2990850"/>
          </a:xfrm>
          <a:prstGeom prst="rect">
            <a:avLst/>
          </a:prstGeom>
        </p:spPr>
      </p:pic>
      <p:pic>
        <p:nvPicPr>
          <p:cNvPr id="10" name="Picture 9">
            <a:extLst>
              <a:ext uri="{FF2B5EF4-FFF2-40B4-BE49-F238E27FC236}">
                <a16:creationId xmlns:a16="http://schemas.microsoft.com/office/drawing/2014/main" id="{840ACEB0-8B37-46CF-9CCA-74118192267E}"/>
              </a:ext>
            </a:extLst>
          </p:cNvPr>
          <p:cNvPicPr>
            <a:picLocks noChangeAspect="1"/>
          </p:cNvPicPr>
          <p:nvPr/>
        </p:nvPicPr>
        <p:blipFill>
          <a:blip r:embed="rId4"/>
          <a:stretch>
            <a:fillRect/>
          </a:stretch>
        </p:blipFill>
        <p:spPr>
          <a:xfrm>
            <a:off x="513755" y="1229999"/>
            <a:ext cx="4314825" cy="1143000"/>
          </a:xfrm>
          <a:prstGeom prst="rect">
            <a:avLst/>
          </a:prstGeom>
        </p:spPr>
      </p:pic>
      <p:pic>
        <p:nvPicPr>
          <p:cNvPr id="11" name="Picture 10">
            <a:extLst>
              <a:ext uri="{FF2B5EF4-FFF2-40B4-BE49-F238E27FC236}">
                <a16:creationId xmlns:a16="http://schemas.microsoft.com/office/drawing/2014/main" id="{60366D12-C616-4228-AFDC-F69818D39F3C}"/>
              </a:ext>
            </a:extLst>
          </p:cNvPr>
          <p:cNvPicPr>
            <a:picLocks noChangeAspect="1"/>
          </p:cNvPicPr>
          <p:nvPr/>
        </p:nvPicPr>
        <p:blipFill>
          <a:blip r:embed="rId5"/>
          <a:stretch>
            <a:fillRect/>
          </a:stretch>
        </p:blipFill>
        <p:spPr>
          <a:xfrm>
            <a:off x="1053395" y="2208142"/>
            <a:ext cx="3314700" cy="1085850"/>
          </a:xfrm>
          <a:prstGeom prst="rect">
            <a:avLst/>
          </a:prstGeom>
        </p:spPr>
      </p:pic>
      <p:pic>
        <p:nvPicPr>
          <p:cNvPr id="12" name="Picture 11">
            <a:extLst>
              <a:ext uri="{FF2B5EF4-FFF2-40B4-BE49-F238E27FC236}">
                <a16:creationId xmlns:a16="http://schemas.microsoft.com/office/drawing/2014/main" id="{CD4AB5F0-19FB-49C4-8948-2973FD47E8BE}"/>
              </a:ext>
            </a:extLst>
          </p:cNvPr>
          <p:cNvPicPr>
            <a:picLocks noChangeAspect="1"/>
          </p:cNvPicPr>
          <p:nvPr/>
        </p:nvPicPr>
        <p:blipFill>
          <a:blip r:embed="rId6"/>
          <a:stretch>
            <a:fillRect/>
          </a:stretch>
        </p:blipFill>
        <p:spPr>
          <a:xfrm>
            <a:off x="1053395" y="3293992"/>
            <a:ext cx="2867025" cy="981075"/>
          </a:xfrm>
          <a:prstGeom prst="rect">
            <a:avLst/>
          </a:prstGeom>
        </p:spPr>
      </p:pic>
      <p:pic>
        <p:nvPicPr>
          <p:cNvPr id="13" name="Picture 12">
            <a:extLst>
              <a:ext uri="{FF2B5EF4-FFF2-40B4-BE49-F238E27FC236}">
                <a16:creationId xmlns:a16="http://schemas.microsoft.com/office/drawing/2014/main" id="{C52552D0-B087-48B4-8862-59B6241FF723}"/>
              </a:ext>
            </a:extLst>
          </p:cNvPr>
          <p:cNvPicPr>
            <a:picLocks noChangeAspect="1"/>
          </p:cNvPicPr>
          <p:nvPr/>
        </p:nvPicPr>
        <p:blipFill>
          <a:blip r:embed="rId7"/>
          <a:stretch>
            <a:fillRect/>
          </a:stretch>
        </p:blipFill>
        <p:spPr>
          <a:xfrm>
            <a:off x="570656" y="4648473"/>
            <a:ext cx="3248025" cy="800100"/>
          </a:xfrm>
          <a:prstGeom prst="rect">
            <a:avLst/>
          </a:prstGeom>
        </p:spPr>
      </p:pic>
    </p:spTree>
    <p:extLst>
      <p:ext uri="{BB962C8B-B14F-4D97-AF65-F5344CB8AC3E}">
        <p14:creationId xmlns:p14="http://schemas.microsoft.com/office/powerpoint/2010/main" val="602056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Second Order Low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0E1ECF16-3D25-4981-A82E-C1DF20F5CE7A}"/>
              </a:ext>
            </a:extLst>
          </p:cNvPr>
          <p:cNvSpPr txBox="1"/>
          <p:nvPr/>
        </p:nvSpPr>
        <p:spPr>
          <a:xfrm>
            <a:off x="62584" y="881897"/>
            <a:ext cx="8069233" cy="369332"/>
          </a:xfrm>
          <a:prstGeom prst="rect">
            <a:avLst/>
          </a:prstGeom>
          <a:noFill/>
        </p:spPr>
        <p:txBody>
          <a:bodyPr wrap="square" rtlCol="0">
            <a:spAutoFit/>
          </a:bodyPr>
          <a:lstStyle/>
          <a:p>
            <a:r>
              <a:rPr lang="en-US" dirty="0"/>
              <a:t>Substituting the admittance values in generalized expression we get</a:t>
            </a:r>
            <a:endParaRPr lang="en-IN" dirty="0"/>
          </a:p>
        </p:txBody>
      </p:sp>
      <p:pic>
        <p:nvPicPr>
          <p:cNvPr id="5" name="Picture 4">
            <a:extLst>
              <a:ext uri="{FF2B5EF4-FFF2-40B4-BE49-F238E27FC236}">
                <a16:creationId xmlns:a16="http://schemas.microsoft.com/office/drawing/2014/main" id="{37E5F25C-909A-40CB-A1E4-D83635AEC3E9}"/>
              </a:ext>
            </a:extLst>
          </p:cNvPr>
          <p:cNvPicPr>
            <a:picLocks noChangeAspect="1"/>
          </p:cNvPicPr>
          <p:nvPr/>
        </p:nvPicPr>
        <p:blipFill>
          <a:blip r:embed="rId3"/>
          <a:stretch>
            <a:fillRect/>
          </a:stretch>
        </p:blipFill>
        <p:spPr>
          <a:xfrm>
            <a:off x="7222309" y="936141"/>
            <a:ext cx="4552950" cy="2990850"/>
          </a:xfrm>
          <a:prstGeom prst="rect">
            <a:avLst/>
          </a:prstGeom>
        </p:spPr>
      </p:pic>
      <p:pic>
        <p:nvPicPr>
          <p:cNvPr id="4" name="Picture 3">
            <a:extLst>
              <a:ext uri="{FF2B5EF4-FFF2-40B4-BE49-F238E27FC236}">
                <a16:creationId xmlns:a16="http://schemas.microsoft.com/office/drawing/2014/main" id="{D10923D9-1629-4328-BF88-8379DBD68576}"/>
              </a:ext>
            </a:extLst>
          </p:cNvPr>
          <p:cNvPicPr>
            <a:picLocks noChangeAspect="1"/>
          </p:cNvPicPr>
          <p:nvPr/>
        </p:nvPicPr>
        <p:blipFill>
          <a:blip r:embed="rId4"/>
          <a:stretch>
            <a:fillRect/>
          </a:stretch>
        </p:blipFill>
        <p:spPr>
          <a:xfrm>
            <a:off x="647493" y="1251229"/>
            <a:ext cx="3343275" cy="1114425"/>
          </a:xfrm>
          <a:prstGeom prst="rect">
            <a:avLst/>
          </a:prstGeom>
        </p:spPr>
      </p:pic>
      <p:pic>
        <p:nvPicPr>
          <p:cNvPr id="6" name="Picture 5">
            <a:extLst>
              <a:ext uri="{FF2B5EF4-FFF2-40B4-BE49-F238E27FC236}">
                <a16:creationId xmlns:a16="http://schemas.microsoft.com/office/drawing/2014/main" id="{34A19954-FB71-4281-9455-E173E6B93265}"/>
              </a:ext>
            </a:extLst>
          </p:cNvPr>
          <p:cNvPicPr>
            <a:picLocks noChangeAspect="1"/>
          </p:cNvPicPr>
          <p:nvPr/>
        </p:nvPicPr>
        <p:blipFill>
          <a:blip r:embed="rId5"/>
          <a:stretch>
            <a:fillRect/>
          </a:stretch>
        </p:blipFill>
        <p:spPr>
          <a:xfrm>
            <a:off x="647493" y="2648848"/>
            <a:ext cx="2095500" cy="647700"/>
          </a:xfrm>
          <a:prstGeom prst="rect">
            <a:avLst/>
          </a:prstGeom>
        </p:spPr>
      </p:pic>
      <p:pic>
        <p:nvPicPr>
          <p:cNvPr id="7" name="Picture 6">
            <a:extLst>
              <a:ext uri="{FF2B5EF4-FFF2-40B4-BE49-F238E27FC236}">
                <a16:creationId xmlns:a16="http://schemas.microsoft.com/office/drawing/2014/main" id="{21B6F587-0EC4-4528-924A-B4A10C2DF2EE}"/>
              </a:ext>
            </a:extLst>
          </p:cNvPr>
          <p:cNvPicPr>
            <a:picLocks noChangeAspect="1"/>
          </p:cNvPicPr>
          <p:nvPr/>
        </p:nvPicPr>
        <p:blipFill>
          <a:blip r:embed="rId6"/>
          <a:stretch>
            <a:fillRect/>
          </a:stretch>
        </p:blipFill>
        <p:spPr>
          <a:xfrm>
            <a:off x="613497" y="3361912"/>
            <a:ext cx="3028950" cy="1276350"/>
          </a:xfrm>
          <a:prstGeom prst="rect">
            <a:avLst/>
          </a:prstGeom>
        </p:spPr>
      </p:pic>
      <p:pic>
        <p:nvPicPr>
          <p:cNvPr id="8" name="Picture 7">
            <a:extLst>
              <a:ext uri="{FF2B5EF4-FFF2-40B4-BE49-F238E27FC236}">
                <a16:creationId xmlns:a16="http://schemas.microsoft.com/office/drawing/2014/main" id="{3EC21E65-297E-44BD-A31F-269AFEF34917}"/>
              </a:ext>
            </a:extLst>
          </p:cNvPr>
          <p:cNvPicPr>
            <a:picLocks noChangeAspect="1"/>
          </p:cNvPicPr>
          <p:nvPr/>
        </p:nvPicPr>
        <p:blipFill>
          <a:blip r:embed="rId7"/>
          <a:stretch>
            <a:fillRect/>
          </a:stretch>
        </p:blipFill>
        <p:spPr>
          <a:xfrm>
            <a:off x="632547" y="4861891"/>
            <a:ext cx="2990850" cy="1295400"/>
          </a:xfrm>
          <a:prstGeom prst="rect">
            <a:avLst/>
          </a:prstGeom>
        </p:spPr>
      </p:pic>
      <p:sp>
        <p:nvSpPr>
          <p:cNvPr id="19" name="TextBox 18">
            <a:extLst>
              <a:ext uri="{FF2B5EF4-FFF2-40B4-BE49-F238E27FC236}">
                <a16:creationId xmlns:a16="http://schemas.microsoft.com/office/drawing/2014/main" id="{802AB37C-F293-4AD6-8C7E-2B3C8A7498E8}"/>
              </a:ext>
            </a:extLst>
          </p:cNvPr>
          <p:cNvSpPr txBox="1"/>
          <p:nvPr/>
        </p:nvSpPr>
        <p:spPr>
          <a:xfrm>
            <a:off x="5464167" y="4483417"/>
            <a:ext cx="8069233" cy="369332"/>
          </a:xfrm>
          <a:prstGeom prst="rect">
            <a:avLst/>
          </a:prstGeom>
          <a:noFill/>
        </p:spPr>
        <p:txBody>
          <a:bodyPr wrap="square" rtlCol="0">
            <a:spAutoFit/>
          </a:bodyPr>
          <a:lstStyle/>
          <a:p>
            <a:r>
              <a:rPr lang="en-US" dirty="0"/>
              <a:t>For unity gain system</a:t>
            </a:r>
            <a:endParaRPr lang="en-IN" dirty="0"/>
          </a:p>
        </p:txBody>
      </p:sp>
      <p:pic>
        <p:nvPicPr>
          <p:cNvPr id="14" name="Picture 13">
            <a:extLst>
              <a:ext uri="{FF2B5EF4-FFF2-40B4-BE49-F238E27FC236}">
                <a16:creationId xmlns:a16="http://schemas.microsoft.com/office/drawing/2014/main" id="{96FC2D16-F030-4915-A95F-C96E5E172028}"/>
              </a:ext>
            </a:extLst>
          </p:cNvPr>
          <p:cNvPicPr>
            <a:picLocks noChangeAspect="1"/>
          </p:cNvPicPr>
          <p:nvPr/>
        </p:nvPicPr>
        <p:blipFill>
          <a:blip r:embed="rId8"/>
          <a:stretch>
            <a:fillRect/>
          </a:stretch>
        </p:blipFill>
        <p:spPr>
          <a:xfrm>
            <a:off x="5603059" y="4947616"/>
            <a:ext cx="3238500" cy="1209675"/>
          </a:xfrm>
          <a:prstGeom prst="rect">
            <a:avLst/>
          </a:prstGeom>
        </p:spPr>
      </p:pic>
    </p:spTree>
    <p:extLst>
      <p:ext uri="{BB962C8B-B14F-4D97-AF65-F5344CB8AC3E}">
        <p14:creationId xmlns:p14="http://schemas.microsoft.com/office/powerpoint/2010/main" val="2975202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Frequency Transformations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0713350" cy="1708160"/>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A low-pass filter is usually designed first and used as a prototype.</a:t>
            </a:r>
          </a:p>
          <a:p>
            <a:pPr marL="285750" indent="-285750" algn="just">
              <a:buFont typeface="Arial" panose="020B0604020202020204" pitchFamily="34" charset="0"/>
              <a:buChar char="•"/>
            </a:pPr>
            <a:r>
              <a:rPr lang="en-US" sz="2100" dirty="0"/>
              <a:t>Instead of designing every filter from scratch, frequency transformation is used. It helps convert the low-pass filter into other types easily.</a:t>
            </a:r>
          </a:p>
          <a:p>
            <a:pPr marL="285750" indent="-285750" algn="just">
              <a:buFont typeface="Arial" panose="020B0604020202020204" pitchFamily="34" charset="0"/>
              <a:buChar char="•"/>
            </a:pPr>
            <a:r>
              <a:rPr lang="en-US" sz="2100" dirty="0"/>
              <a:t>In analog frequency transformation, the prototype function 𝐻𝑝(𝑠) is modified. This gives a new function 𝐻(𝑠) for the required filter.</a:t>
            </a:r>
            <a:endParaRPr lang="en-IN" sz="2100" dirty="0"/>
          </a:p>
        </p:txBody>
      </p:sp>
      <p:pic>
        <p:nvPicPr>
          <p:cNvPr id="6" name="Picture 5">
            <a:extLst>
              <a:ext uri="{FF2B5EF4-FFF2-40B4-BE49-F238E27FC236}">
                <a16:creationId xmlns:a16="http://schemas.microsoft.com/office/drawing/2014/main" id="{A4933673-EF63-44EC-99F9-1B95CB5B64B1}"/>
              </a:ext>
            </a:extLst>
          </p:cNvPr>
          <p:cNvPicPr>
            <a:picLocks noChangeAspect="1"/>
          </p:cNvPicPr>
          <p:nvPr/>
        </p:nvPicPr>
        <p:blipFill>
          <a:blip r:embed="rId3"/>
          <a:stretch>
            <a:fillRect/>
          </a:stretch>
        </p:blipFill>
        <p:spPr>
          <a:xfrm>
            <a:off x="1439104" y="2727050"/>
            <a:ext cx="8439150" cy="4057650"/>
          </a:xfrm>
          <a:prstGeom prst="rect">
            <a:avLst/>
          </a:prstGeom>
        </p:spPr>
      </p:pic>
    </p:spTree>
    <p:extLst>
      <p:ext uri="{BB962C8B-B14F-4D97-AF65-F5344CB8AC3E}">
        <p14:creationId xmlns:p14="http://schemas.microsoft.com/office/powerpoint/2010/main" val="17983775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Butterworth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0713350" cy="3046988"/>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The magnitude response of </a:t>
            </a:r>
            <a:r>
              <a:rPr lang="en-US" sz="2400" dirty="0" err="1"/>
              <a:t>butterworth</a:t>
            </a:r>
            <a:r>
              <a:rPr lang="en-US" sz="2400" dirty="0"/>
              <a:t> filter is given as</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The specifications for the filter response are as follows </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IN" sz="2400" dirty="0"/>
          </a:p>
        </p:txBody>
      </p:sp>
      <p:pic>
        <p:nvPicPr>
          <p:cNvPr id="4" name="Picture 3">
            <a:extLst>
              <a:ext uri="{FF2B5EF4-FFF2-40B4-BE49-F238E27FC236}">
                <a16:creationId xmlns:a16="http://schemas.microsoft.com/office/drawing/2014/main" id="{D82390F3-AA7B-4F45-B88A-DD6450ECF63F}"/>
              </a:ext>
            </a:extLst>
          </p:cNvPr>
          <p:cNvPicPr>
            <a:picLocks noChangeAspect="1"/>
          </p:cNvPicPr>
          <p:nvPr/>
        </p:nvPicPr>
        <p:blipFill>
          <a:blip r:embed="rId3"/>
          <a:stretch>
            <a:fillRect/>
          </a:stretch>
        </p:blipFill>
        <p:spPr>
          <a:xfrm>
            <a:off x="3737113" y="1370772"/>
            <a:ext cx="2649399" cy="1170082"/>
          </a:xfrm>
          <a:prstGeom prst="rect">
            <a:avLst/>
          </a:prstGeom>
        </p:spPr>
      </p:pic>
      <p:pic>
        <p:nvPicPr>
          <p:cNvPr id="7" name="Picture 6">
            <a:extLst>
              <a:ext uri="{FF2B5EF4-FFF2-40B4-BE49-F238E27FC236}">
                <a16:creationId xmlns:a16="http://schemas.microsoft.com/office/drawing/2014/main" id="{E74E0B35-B7F4-482F-8BB6-F5E76A8DC5D4}"/>
              </a:ext>
            </a:extLst>
          </p:cNvPr>
          <p:cNvPicPr>
            <a:picLocks noChangeAspect="1"/>
          </p:cNvPicPr>
          <p:nvPr/>
        </p:nvPicPr>
        <p:blipFill>
          <a:blip r:embed="rId4"/>
          <a:stretch>
            <a:fillRect/>
          </a:stretch>
        </p:blipFill>
        <p:spPr>
          <a:xfrm>
            <a:off x="3737113" y="2875089"/>
            <a:ext cx="3476625" cy="1019175"/>
          </a:xfrm>
          <a:prstGeom prst="rect">
            <a:avLst/>
          </a:prstGeom>
        </p:spPr>
      </p:pic>
      <p:pic>
        <p:nvPicPr>
          <p:cNvPr id="8" name="Picture 7">
            <a:extLst>
              <a:ext uri="{FF2B5EF4-FFF2-40B4-BE49-F238E27FC236}">
                <a16:creationId xmlns:a16="http://schemas.microsoft.com/office/drawing/2014/main" id="{0B44B18E-4F24-461E-B764-484A27945253}"/>
              </a:ext>
            </a:extLst>
          </p:cNvPr>
          <p:cNvPicPr>
            <a:picLocks noChangeAspect="1"/>
          </p:cNvPicPr>
          <p:nvPr/>
        </p:nvPicPr>
        <p:blipFill>
          <a:blip r:embed="rId5"/>
          <a:stretch>
            <a:fillRect/>
          </a:stretch>
        </p:blipFill>
        <p:spPr>
          <a:xfrm>
            <a:off x="3833812" y="4228499"/>
            <a:ext cx="2552700" cy="1609725"/>
          </a:xfrm>
          <a:prstGeom prst="rect">
            <a:avLst/>
          </a:prstGeom>
        </p:spPr>
      </p:pic>
      <p:pic>
        <p:nvPicPr>
          <p:cNvPr id="9" name="Picture 8">
            <a:extLst>
              <a:ext uri="{FF2B5EF4-FFF2-40B4-BE49-F238E27FC236}">
                <a16:creationId xmlns:a16="http://schemas.microsoft.com/office/drawing/2014/main" id="{758CF82C-800B-4827-8DD0-2EC27E0A1F8C}"/>
              </a:ext>
            </a:extLst>
          </p:cNvPr>
          <p:cNvPicPr>
            <a:picLocks noChangeAspect="1"/>
          </p:cNvPicPr>
          <p:nvPr/>
        </p:nvPicPr>
        <p:blipFill>
          <a:blip r:embed="rId6"/>
          <a:stretch>
            <a:fillRect/>
          </a:stretch>
        </p:blipFill>
        <p:spPr>
          <a:xfrm>
            <a:off x="7582728" y="4233261"/>
            <a:ext cx="2247900" cy="1600200"/>
          </a:xfrm>
          <a:prstGeom prst="rect">
            <a:avLst/>
          </a:prstGeom>
        </p:spPr>
      </p:pic>
      <p:sp>
        <p:nvSpPr>
          <p:cNvPr id="10" name="Arrow: Right 9">
            <a:extLst>
              <a:ext uri="{FF2B5EF4-FFF2-40B4-BE49-F238E27FC236}">
                <a16:creationId xmlns:a16="http://schemas.microsoft.com/office/drawing/2014/main" id="{8B726DD9-A748-4E7E-9B2A-99B0ECF60C6E}"/>
              </a:ext>
            </a:extLst>
          </p:cNvPr>
          <p:cNvSpPr/>
          <p:nvPr/>
        </p:nvSpPr>
        <p:spPr>
          <a:xfrm>
            <a:off x="6573078" y="4823791"/>
            <a:ext cx="768626" cy="27829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63357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Frequency Transformations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87267BDD-B923-4219-9554-7C9837EE15EE}"/>
              </a:ext>
            </a:extLst>
          </p:cNvPr>
          <p:cNvPicPr>
            <a:picLocks noChangeAspect="1"/>
          </p:cNvPicPr>
          <p:nvPr/>
        </p:nvPicPr>
        <p:blipFill>
          <a:blip r:embed="rId3"/>
          <a:stretch>
            <a:fillRect/>
          </a:stretch>
        </p:blipFill>
        <p:spPr>
          <a:xfrm>
            <a:off x="1034290" y="1026301"/>
            <a:ext cx="3762375" cy="523875"/>
          </a:xfrm>
          <a:prstGeom prst="rect">
            <a:avLst/>
          </a:prstGeom>
        </p:spPr>
      </p:pic>
      <p:pic>
        <p:nvPicPr>
          <p:cNvPr id="11" name="Picture 10">
            <a:extLst>
              <a:ext uri="{FF2B5EF4-FFF2-40B4-BE49-F238E27FC236}">
                <a16:creationId xmlns:a16="http://schemas.microsoft.com/office/drawing/2014/main" id="{D4A00B9F-5F95-4781-B47C-C1A23AEF4265}"/>
              </a:ext>
            </a:extLst>
          </p:cNvPr>
          <p:cNvPicPr>
            <a:picLocks noChangeAspect="1"/>
          </p:cNvPicPr>
          <p:nvPr/>
        </p:nvPicPr>
        <p:blipFill>
          <a:blip r:embed="rId4"/>
          <a:stretch>
            <a:fillRect/>
          </a:stretch>
        </p:blipFill>
        <p:spPr>
          <a:xfrm>
            <a:off x="1034290" y="1847850"/>
            <a:ext cx="3752850" cy="981075"/>
          </a:xfrm>
          <a:prstGeom prst="rect">
            <a:avLst/>
          </a:prstGeom>
        </p:spPr>
      </p:pic>
      <p:sp>
        <p:nvSpPr>
          <p:cNvPr id="12" name="TextBox 11">
            <a:extLst>
              <a:ext uri="{FF2B5EF4-FFF2-40B4-BE49-F238E27FC236}">
                <a16:creationId xmlns:a16="http://schemas.microsoft.com/office/drawing/2014/main" id="{0B1C2222-41A6-4246-81C6-FA2D3A2A9D78}"/>
              </a:ext>
            </a:extLst>
          </p:cNvPr>
          <p:cNvSpPr txBox="1"/>
          <p:nvPr/>
        </p:nvSpPr>
        <p:spPr>
          <a:xfrm>
            <a:off x="477079" y="3049917"/>
            <a:ext cx="7447552" cy="369332"/>
          </a:xfrm>
          <a:prstGeom prst="rect">
            <a:avLst/>
          </a:prstGeom>
          <a:noFill/>
        </p:spPr>
        <p:txBody>
          <a:bodyPr wrap="none" rtlCol="0">
            <a:spAutoFit/>
          </a:bodyPr>
          <a:lstStyle/>
          <a:p>
            <a:r>
              <a:rPr lang="en-IN" dirty="0"/>
              <a:t>After deciding the order of filter. It is now time to decide the </a:t>
            </a:r>
            <a:r>
              <a:rPr lang="en-IN" dirty="0" err="1"/>
              <a:t>cutoff</a:t>
            </a:r>
            <a:r>
              <a:rPr lang="en-IN" dirty="0"/>
              <a:t> frequency.</a:t>
            </a:r>
          </a:p>
        </p:txBody>
      </p:sp>
      <p:pic>
        <p:nvPicPr>
          <p:cNvPr id="13" name="Picture 12">
            <a:extLst>
              <a:ext uri="{FF2B5EF4-FFF2-40B4-BE49-F238E27FC236}">
                <a16:creationId xmlns:a16="http://schemas.microsoft.com/office/drawing/2014/main" id="{29737206-3765-47A9-82DC-9D5BE5295167}"/>
              </a:ext>
            </a:extLst>
          </p:cNvPr>
          <p:cNvPicPr>
            <a:picLocks noChangeAspect="1"/>
          </p:cNvPicPr>
          <p:nvPr/>
        </p:nvPicPr>
        <p:blipFill>
          <a:blip r:embed="rId5"/>
          <a:stretch>
            <a:fillRect/>
          </a:stretch>
        </p:blipFill>
        <p:spPr>
          <a:xfrm>
            <a:off x="1166192" y="3661916"/>
            <a:ext cx="2438400" cy="952500"/>
          </a:xfrm>
          <a:prstGeom prst="rect">
            <a:avLst/>
          </a:prstGeom>
        </p:spPr>
      </p:pic>
      <p:sp>
        <p:nvSpPr>
          <p:cNvPr id="19" name="TextBox 18">
            <a:extLst>
              <a:ext uri="{FF2B5EF4-FFF2-40B4-BE49-F238E27FC236}">
                <a16:creationId xmlns:a16="http://schemas.microsoft.com/office/drawing/2014/main" id="{CAFEDED0-45FA-462C-AC8D-A618008CDDFF}"/>
              </a:ext>
            </a:extLst>
          </p:cNvPr>
          <p:cNvSpPr txBox="1"/>
          <p:nvPr/>
        </p:nvSpPr>
        <p:spPr>
          <a:xfrm>
            <a:off x="192157" y="4614727"/>
            <a:ext cx="6025752" cy="369332"/>
          </a:xfrm>
          <a:prstGeom prst="rect">
            <a:avLst/>
          </a:prstGeom>
          <a:noFill/>
        </p:spPr>
        <p:txBody>
          <a:bodyPr wrap="none" rtlCol="0">
            <a:spAutoFit/>
          </a:bodyPr>
          <a:lstStyle/>
          <a:p>
            <a:r>
              <a:rPr lang="en-IN" dirty="0"/>
              <a:t>The general transfer function of a </a:t>
            </a:r>
            <a:r>
              <a:rPr lang="en-IN" dirty="0" err="1"/>
              <a:t>butterworth</a:t>
            </a:r>
            <a:r>
              <a:rPr lang="en-IN" dirty="0"/>
              <a:t> filter is given as </a:t>
            </a:r>
          </a:p>
        </p:txBody>
      </p:sp>
      <p:pic>
        <p:nvPicPr>
          <p:cNvPr id="15" name="Picture 14">
            <a:extLst>
              <a:ext uri="{FF2B5EF4-FFF2-40B4-BE49-F238E27FC236}">
                <a16:creationId xmlns:a16="http://schemas.microsoft.com/office/drawing/2014/main" id="{D903BF62-51A4-4D46-8622-B543B34733BA}"/>
              </a:ext>
            </a:extLst>
          </p:cNvPr>
          <p:cNvPicPr>
            <a:picLocks noChangeAspect="1"/>
          </p:cNvPicPr>
          <p:nvPr/>
        </p:nvPicPr>
        <p:blipFill>
          <a:blip r:embed="rId6"/>
          <a:stretch>
            <a:fillRect/>
          </a:stretch>
        </p:blipFill>
        <p:spPr>
          <a:xfrm>
            <a:off x="770697" y="5322719"/>
            <a:ext cx="3600450" cy="923925"/>
          </a:xfrm>
          <a:prstGeom prst="rect">
            <a:avLst/>
          </a:prstGeom>
        </p:spPr>
      </p:pic>
      <p:pic>
        <p:nvPicPr>
          <p:cNvPr id="16" name="Picture 15">
            <a:extLst>
              <a:ext uri="{FF2B5EF4-FFF2-40B4-BE49-F238E27FC236}">
                <a16:creationId xmlns:a16="http://schemas.microsoft.com/office/drawing/2014/main" id="{3EA666E8-D3E3-407E-A5D5-FF084BC3E5D8}"/>
              </a:ext>
            </a:extLst>
          </p:cNvPr>
          <p:cNvPicPr>
            <a:picLocks noChangeAspect="1"/>
          </p:cNvPicPr>
          <p:nvPr/>
        </p:nvPicPr>
        <p:blipFill>
          <a:blip r:embed="rId7"/>
          <a:stretch>
            <a:fillRect/>
          </a:stretch>
        </p:blipFill>
        <p:spPr>
          <a:xfrm>
            <a:off x="6096000" y="5267411"/>
            <a:ext cx="4867275" cy="885825"/>
          </a:xfrm>
          <a:prstGeom prst="rect">
            <a:avLst/>
          </a:prstGeom>
        </p:spPr>
      </p:pic>
      <p:sp>
        <p:nvSpPr>
          <p:cNvPr id="20" name="TextBox 19">
            <a:extLst>
              <a:ext uri="{FF2B5EF4-FFF2-40B4-BE49-F238E27FC236}">
                <a16:creationId xmlns:a16="http://schemas.microsoft.com/office/drawing/2014/main" id="{4DBE4595-3855-4A65-BD5E-286D3F3DE378}"/>
              </a:ext>
            </a:extLst>
          </p:cNvPr>
          <p:cNvSpPr txBox="1"/>
          <p:nvPr/>
        </p:nvSpPr>
        <p:spPr>
          <a:xfrm>
            <a:off x="4892692" y="5673863"/>
            <a:ext cx="1671568" cy="369332"/>
          </a:xfrm>
          <a:prstGeom prst="rect">
            <a:avLst/>
          </a:prstGeom>
          <a:noFill/>
        </p:spPr>
        <p:txBody>
          <a:bodyPr wrap="square" rtlCol="0">
            <a:spAutoFit/>
          </a:bodyPr>
          <a:lstStyle/>
          <a:p>
            <a:r>
              <a:rPr lang="en-IN" dirty="0"/>
              <a:t>or</a:t>
            </a:r>
          </a:p>
        </p:txBody>
      </p:sp>
    </p:spTree>
    <p:extLst>
      <p:ext uri="{BB962C8B-B14F-4D97-AF65-F5344CB8AC3E}">
        <p14:creationId xmlns:p14="http://schemas.microsoft.com/office/powerpoint/2010/main" val="357446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Frequency Transformations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B1C2222-41A6-4246-81C6-FA2D3A2A9D78}"/>
              </a:ext>
            </a:extLst>
          </p:cNvPr>
          <p:cNvSpPr txBox="1"/>
          <p:nvPr/>
        </p:nvSpPr>
        <p:spPr>
          <a:xfrm>
            <a:off x="471358" y="3322342"/>
            <a:ext cx="5725414" cy="369332"/>
          </a:xfrm>
          <a:prstGeom prst="rect">
            <a:avLst/>
          </a:prstGeom>
          <a:noFill/>
        </p:spPr>
        <p:txBody>
          <a:bodyPr wrap="none" rtlCol="0">
            <a:spAutoFit/>
          </a:bodyPr>
          <a:lstStyle/>
          <a:p>
            <a:r>
              <a:rPr lang="en-IN" dirty="0"/>
              <a:t>If pass band and stopband attenuation are given in dB then</a:t>
            </a:r>
          </a:p>
        </p:txBody>
      </p:sp>
      <p:sp>
        <p:nvSpPr>
          <p:cNvPr id="19" name="TextBox 18">
            <a:extLst>
              <a:ext uri="{FF2B5EF4-FFF2-40B4-BE49-F238E27FC236}">
                <a16:creationId xmlns:a16="http://schemas.microsoft.com/office/drawing/2014/main" id="{CAFEDED0-45FA-462C-AC8D-A618008CDDFF}"/>
              </a:ext>
            </a:extLst>
          </p:cNvPr>
          <p:cNvSpPr txBox="1"/>
          <p:nvPr/>
        </p:nvSpPr>
        <p:spPr>
          <a:xfrm>
            <a:off x="471358" y="5943305"/>
            <a:ext cx="6025752" cy="369332"/>
          </a:xfrm>
          <a:prstGeom prst="rect">
            <a:avLst/>
          </a:prstGeom>
          <a:noFill/>
        </p:spPr>
        <p:txBody>
          <a:bodyPr wrap="none" rtlCol="0">
            <a:spAutoFit/>
          </a:bodyPr>
          <a:lstStyle/>
          <a:p>
            <a:r>
              <a:rPr lang="en-IN" dirty="0"/>
              <a:t>The general transfer function of a </a:t>
            </a:r>
            <a:r>
              <a:rPr lang="en-IN" dirty="0" err="1"/>
              <a:t>butterworth</a:t>
            </a:r>
            <a:r>
              <a:rPr lang="en-IN" dirty="0"/>
              <a:t> filter is given as </a:t>
            </a:r>
          </a:p>
        </p:txBody>
      </p:sp>
      <p:pic>
        <p:nvPicPr>
          <p:cNvPr id="4" name="Picture 3">
            <a:extLst>
              <a:ext uri="{FF2B5EF4-FFF2-40B4-BE49-F238E27FC236}">
                <a16:creationId xmlns:a16="http://schemas.microsoft.com/office/drawing/2014/main" id="{8898EB03-7DCE-4AC5-8EAC-F268F38BF456}"/>
              </a:ext>
            </a:extLst>
          </p:cNvPr>
          <p:cNvPicPr>
            <a:picLocks noChangeAspect="1"/>
          </p:cNvPicPr>
          <p:nvPr/>
        </p:nvPicPr>
        <p:blipFill>
          <a:blip r:embed="rId3"/>
          <a:stretch>
            <a:fillRect/>
          </a:stretch>
        </p:blipFill>
        <p:spPr>
          <a:xfrm>
            <a:off x="477079" y="914695"/>
            <a:ext cx="3914775" cy="371475"/>
          </a:xfrm>
          <a:prstGeom prst="rect">
            <a:avLst/>
          </a:prstGeom>
        </p:spPr>
      </p:pic>
      <p:pic>
        <p:nvPicPr>
          <p:cNvPr id="5" name="Picture 4">
            <a:extLst>
              <a:ext uri="{FF2B5EF4-FFF2-40B4-BE49-F238E27FC236}">
                <a16:creationId xmlns:a16="http://schemas.microsoft.com/office/drawing/2014/main" id="{42EC97D7-B328-4386-B422-526A02489EAC}"/>
              </a:ext>
            </a:extLst>
          </p:cNvPr>
          <p:cNvPicPr>
            <a:picLocks noChangeAspect="1"/>
          </p:cNvPicPr>
          <p:nvPr/>
        </p:nvPicPr>
        <p:blipFill>
          <a:blip r:embed="rId4"/>
          <a:stretch>
            <a:fillRect/>
          </a:stretch>
        </p:blipFill>
        <p:spPr>
          <a:xfrm>
            <a:off x="471358" y="1399381"/>
            <a:ext cx="2733675" cy="1809750"/>
          </a:xfrm>
          <a:prstGeom prst="rect">
            <a:avLst/>
          </a:prstGeom>
        </p:spPr>
      </p:pic>
      <p:pic>
        <p:nvPicPr>
          <p:cNvPr id="7" name="Picture 6">
            <a:extLst>
              <a:ext uri="{FF2B5EF4-FFF2-40B4-BE49-F238E27FC236}">
                <a16:creationId xmlns:a16="http://schemas.microsoft.com/office/drawing/2014/main" id="{4E08488E-683A-46D6-84D2-0AF6D7CD5A09}"/>
              </a:ext>
            </a:extLst>
          </p:cNvPr>
          <p:cNvPicPr>
            <a:picLocks noChangeAspect="1"/>
          </p:cNvPicPr>
          <p:nvPr/>
        </p:nvPicPr>
        <p:blipFill>
          <a:blip r:embed="rId5"/>
          <a:stretch>
            <a:fillRect/>
          </a:stretch>
        </p:blipFill>
        <p:spPr>
          <a:xfrm>
            <a:off x="672341" y="3857364"/>
            <a:ext cx="3524250" cy="1600200"/>
          </a:xfrm>
          <a:prstGeom prst="rect">
            <a:avLst/>
          </a:prstGeom>
        </p:spPr>
      </p:pic>
    </p:spTree>
    <p:extLst>
      <p:ext uri="{BB962C8B-B14F-4D97-AF65-F5344CB8AC3E}">
        <p14:creationId xmlns:p14="http://schemas.microsoft.com/office/powerpoint/2010/main" val="1721798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Frequency Transformations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0B1C2222-41A6-4246-81C6-FA2D3A2A9D78}"/>
              </a:ext>
            </a:extLst>
          </p:cNvPr>
          <p:cNvSpPr txBox="1"/>
          <p:nvPr/>
        </p:nvSpPr>
        <p:spPr>
          <a:xfrm>
            <a:off x="206314" y="837476"/>
            <a:ext cx="4063228" cy="369332"/>
          </a:xfrm>
          <a:prstGeom prst="rect">
            <a:avLst/>
          </a:prstGeom>
          <a:noFill/>
        </p:spPr>
        <p:txBody>
          <a:bodyPr wrap="none" rtlCol="0">
            <a:spAutoFit/>
          </a:bodyPr>
          <a:lstStyle/>
          <a:p>
            <a:r>
              <a:rPr lang="en-IN" dirty="0"/>
              <a:t>The </a:t>
            </a:r>
            <a:r>
              <a:rPr lang="en-IN" dirty="0" err="1"/>
              <a:t>butterworth</a:t>
            </a:r>
            <a:r>
              <a:rPr lang="en-IN" dirty="0"/>
              <a:t> polynomial are given as:</a:t>
            </a:r>
          </a:p>
        </p:txBody>
      </p:sp>
      <p:pic>
        <p:nvPicPr>
          <p:cNvPr id="6" name="Picture 5">
            <a:extLst>
              <a:ext uri="{FF2B5EF4-FFF2-40B4-BE49-F238E27FC236}">
                <a16:creationId xmlns:a16="http://schemas.microsoft.com/office/drawing/2014/main" id="{B627478F-6965-4081-8478-6736852D2DAB}"/>
              </a:ext>
            </a:extLst>
          </p:cNvPr>
          <p:cNvPicPr>
            <a:picLocks noChangeAspect="1"/>
          </p:cNvPicPr>
          <p:nvPr/>
        </p:nvPicPr>
        <p:blipFill>
          <a:blip r:embed="rId3"/>
          <a:stretch>
            <a:fillRect/>
          </a:stretch>
        </p:blipFill>
        <p:spPr>
          <a:xfrm>
            <a:off x="1928812" y="1206807"/>
            <a:ext cx="7838040" cy="5640459"/>
          </a:xfrm>
          <a:prstGeom prst="rect">
            <a:avLst/>
          </a:prstGeom>
        </p:spPr>
      </p:pic>
    </p:spTree>
    <p:extLst>
      <p:ext uri="{BB962C8B-B14F-4D97-AF65-F5344CB8AC3E}">
        <p14:creationId xmlns:p14="http://schemas.microsoft.com/office/powerpoint/2010/main" val="1642368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Chebyshev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0713350" cy="2308324"/>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It accepts a controlled amount of ripple (oscillation) in the passband in exchange for a significantly steeper transition from passband to stopband compared to a Butterworth filter of the same order.</a:t>
            </a:r>
          </a:p>
          <a:p>
            <a:pPr marL="285750" indent="-285750" algn="just">
              <a:buFont typeface="Arial" panose="020B0604020202020204" pitchFamily="34" charset="0"/>
              <a:buChar char="•"/>
            </a:pPr>
            <a:r>
              <a:rPr lang="en-US" sz="2400" dirty="0"/>
              <a:t>A Butterworth filter achieves a maximally flat passband (no ripple at all) but requires a higher order to achieve the same stopband attenuation as a Chebyshev.</a:t>
            </a:r>
          </a:p>
          <a:p>
            <a:pPr marL="285750" indent="-285750" algn="just">
              <a:buFont typeface="Arial" panose="020B0604020202020204" pitchFamily="34" charset="0"/>
              <a:buChar char="•"/>
            </a:pPr>
            <a:endParaRPr lang="en-IN" sz="2400" dirty="0"/>
          </a:p>
        </p:txBody>
      </p:sp>
      <p:pic>
        <p:nvPicPr>
          <p:cNvPr id="6" name="Picture 5">
            <a:extLst>
              <a:ext uri="{FF2B5EF4-FFF2-40B4-BE49-F238E27FC236}">
                <a16:creationId xmlns:a16="http://schemas.microsoft.com/office/drawing/2014/main" id="{225650EB-52FD-428F-AFE7-8C0A9F1C5F94}"/>
              </a:ext>
            </a:extLst>
          </p:cNvPr>
          <p:cNvPicPr>
            <a:picLocks noChangeAspect="1"/>
          </p:cNvPicPr>
          <p:nvPr/>
        </p:nvPicPr>
        <p:blipFill>
          <a:blip r:embed="rId3"/>
          <a:stretch>
            <a:fillRect/>
          </a:stretch>
        </p:blipFill>
        <p:spPr>
          <a:xfrm>
            <a:off x="1136872" y="3114675"/>
            <a:ext cx="8931198" cy="3476384"/>
          </a:xfrm>
          <a:prstGeom prst="rect">
            <a:avLst/>
          </a:prstGeom>
        </p:spPr>
      </p:pic>
    </p:spTree>
    <p:extLst>
      <p:ext uri="{BB962C8B-B14F-4D97-AF65-F5344CB8AC3E}">
        <p14:creationId xmlns:p14="http://schemas.microsoft.com/office/powerpoint/2010/main" val="308917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Chebyshev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0713350" cy="461665"/>
          </a:xfrm>
          <a:prstGeom prst="rect">
            <a:avLst/>
          </a:prstGeom>
          <a:noFill/>
        </p:spPr>
        <p:txBody>
          <a:bodyPr wrap="square" rtlCol="0">
            <a:spAutoFit/>
          </a:bodyPr>
          <a:lstStyle/>
          <a:p>
            <a:pPr marL="285750" indent="-285750" algn="just">
              <a:buFont typeface="Arial" panose="020B0604020202020204" pitchFamily="34" charset="0"/>
              <a:buChar char="•"/>
            </a:pPr>
            <a:r>
              <a:rPr lang="en-IN" sz="2400" dirty="0"/>
              <a:t>The Magnitude Response Equation: </a:t>
            </a:r>
          </a:p>
        </p:txBody>
      </p:sp>
      <p:pic>
        <p:nvPicPr>
          <p:cNvPr id="4" name="Picture 3">
            <a:extLst>
              <a:ext uri="{FF2B5EF4-FFF2-40B4-BE49-F238E27FC236}">
                <a16:creationId xmlns:a16="http://schemas.microsoft.com/office/drawing/2014/main" id="{E2F3FA2A-9B3D-4E8D-9186-9151C64B4A99}"/>
              </a:ext>
            </a:extLst>
          </p:cNvPr>
          <p:cNvPicPr>
            <a:picLocks noChangeAspect="1"/>
          </p:cNvPicPr>
          <p:nvPr/>
        </p:nvPicPr>
        <p:blipFill>
          <a:blip r:embed="rId3"/>
          <a:stretch>
            <a:fillRect/>
          </a:stretch>
        </p:blipFill>
        <p:spPr>
          <a:xfrm>
            <a:off x="3837437" y="1434128"/>
            <a:ext cx="3343275" cy="876300"/>
          </a:xfrm>
          <a:prstGeom prst="rect">
            <a:avLst/>
          </a:prstGeom>
        </p:spPr>
      </p:pic>
      <p:pic>
        <p:nvPicPr>
          <p:cNvPr id="7" name="Picture 6">
            <a:extLst>
              <a:ext uri="{FF2B5EF4-FFF2-40B4-BE49-F238E27FC236}">
                <a16:creationId xmlns:a16="http://schemas.microsoft.com/office/drawing/2014/main" id="{88DBF256-B9F5-4671-A16B-6211D52EBFA0}"/>
              </a:ext>
            </a:extLst>
          </p:cNvPr>
          <p:cNvPicPr>
            <a:picLocks noChangeAspect="1"/>
          </p:cNvPicPr>
          <p:nvPr/>
        </p:nvPicPr>
        <p:blipFill>
          <a:blip r:embed="rId4"/>
          <a:stretch>
            <a:fillRect/>
          </a:stretch>
        </p:blipFill>
        <p:spPr>
          <a:xfrm>
            <a:off x="1496046" y="2352060"/>
            <a:ext cx="8509345" cy="4391025"/>
          </a:xfrm>
          <a:prstGeom prst="rect">
            <a:avLst/>
          </a:prstGeom>
        </p:spPr>
      </p:pic>
    </p:spTree>
    <p:extLst>
      <p:ext uri="{BB962C8B-B14F-4D97-AF65-F5344CB8AC3E}">
        <p14:creationId xmlns:p14="http://schemas.microsoft.com/office/powerpoint/2010/main" val="14742101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Chebyshev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1726890" cy="3000821"/>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How the Denominator Controls the Response Shape:</a:t>
            </a:r>
          </a:p>
          <a:p>
            <a:pPr marL="285750" indent="-285750" algn="just">
              <a:buFont typeface="Arial" panose="020B0604020202020204" pitchFamily="34" charset="0"/>
              <a:buChar char="•"/>
            </a:pPr>
            <a:r>
              <a:rPr lang="en-US" sz="2100" dirty="0"/>
              <a:t>Inside the Passband (ω ≤ </a:t>
            </a:r>
            <a:r>
              <a:rPr lang="en-US" sz="2100" dirty="0" err="1"/>
              <a:t>ωc</a:t>
            </a:r>
            <a:r>
              <a:rPr lang="en-US" sz="2100" dirty="0"/>
              <a:t>): C_N oscillates between −1 and +1, so C_N² is between 0 and 1. </a:t>
            </a:r>
          </a:p>
          <a:p>
            <a:pPr marL="285750" indent="-285750" algn="just">
              <a:buFont typeface="Arial" panose="020B0604020202020204" pitchFamily="34" charset="0"/>
              <a:buChar char="•"/>
            </a:pPr>
            <a:r>
              <a:rPr lang="en-US" sz="2100" dirty="0"/>
              <a:t>Denominator oscillates between sqrt(1+0) = 1 and sqrt(1+ε²). Response oscillates between A (maximum) and A/sqrt(1+ε²) (minimum). </a:t>
            </a:r>
          </a:p>
          <a:p>
            <a:pPr marL="285750" indent="-285750" algn="just">
              <a:buFont typeface="Arial" panose="020B0604020202020204" pitchFamily="34" charset="0"/>
              <a:buChar char="•"/>
            </a:pPr>
            <a:r>
              <a:rPr lang="en-US" sz="2100" dirty="0"/>
              <a:t>This bounded oscillation is the </a:t>
            </a:r>
            <a:r>
              <a:rPr lang="en-US" sz="2100" dirty="0" err="1"/>
              <a:t>equiripple</a:t>
            </a:r>
            <a:r>
              <a:rPr lang="en-US" sz="2100" dirty="0"/>
              <a:t> </a:t>
            </a:r>
            <a:r>
              <a:rPr lang="en-US" sz="2100" dirty="0" err="1"/>
              <a:t>behaviour</a:t>
            </a:r>
            <a:r>
              <a:rPr lang="en-US" sz="2100" dirty="0"/>
              <a:t>.</a:t>
            </a:r>
          </a:p>
          <a:p>
            <a:pPr marL="285750" indent="-285750" algn="just">
              <a:buFont typeface="Arial" panose="020B0604020202020204" pitchFamily="34" charset="0"/>
              <a:buChar char="•"/>
            </a:pPr>
            <a:r>
              <a:rPr lang="en-US" sz="2100" dirty="0"/>
              <a:t>Inside the Stopband (ω &gt; </a:t>
            </a:r>
            <a:r>
              <a:rPr lang="en-US" sz="2100" dirty="0" err="1"/>
              <a:t>ωc</a:t>
            </a:r>
            <a:r>
              <a:rPr lang="en-US" sz="2100" dirty="0"/>
              <a:t>): C_N grows without bound (exponentially fast) as ω increases.</a:t>
            </a:r>
          </a:p>
          <a:p>
            <a:pPr marL="285750" indent="-285750" algn="just">
              <a:buFont typeface="Arial" panose="020B0604020202020204" pitchFamily="34" charset="0"/>
              <a:buChar char="•"/>
            </a:pPr>
            <a:r>
              <a:rPr lang="en-US" sz="2100" dirty="0"/>
              <a:t>Denominator becomes very large, driving |H| rapidly toward zero.</a:t>
            </a:r>
          </a:p>
          <a:p>
            <a:pPr marL="285750" indent="-285750" algn="just">
              <a:buFont typeface="Arial" panose="020B0604020202020204" pitchFamily="34" charset="0"/>
              <a:buChar char="•"/>
            </a:pPr>
            <a:r>
              <a:rPr lang="en-US" sz="2100" dirty="0"/>
              <a:t>This explosive growth is what gives Chebyshev its sharp roll-off.</a:t>
            </a:r>
          </a:p>
          <a:p>
            <a:pPr marL="285750" indent="-285750" algn="just">
              <a:buFont typeface="Arial" panose="020B0604020202020204" pitchFamily="34" charset="0"/>
              <a:buChar char="•"/>
            </a:pPr>
            <a:r>
              <a:rPr lang="en-US" sz="2100" dirty="0"/>
              <a:t>The larger N is, the faster C_N grows and the sharper the cut-off frequency roll off.</a:t>
            </a:r>
            <a:endParaRPr lang="en-IN" sz="2100" dirty="0"/>
          </a:p>
        </p:txBody>
      </p:sp>
      <p:pic>
        <p:nvPicPr>
          <p:cNvPr id="8" name="Picture 7">
            <a:extLst>
              <a:ext uri="{FF2B5EF4-FFF2-40B4-BE49-F238E27FC236}">
                <a16:creationId xmlns:a16="http://schemas.microsoft.com/office/drawing/2014/main" id="{8A49C853-84B3-4F76-8792-BBA5EF5D4911}"/>
              </a:ext>
            </a:extLst>
          </p:cNvPr>
          <p:cNvPicPr>
            <a:picLocks noChangeAspect="1"/>
          </p:cNvPicPr>
          <p:nvPr/>
        </p:nvPicPr>
        <p:blipFill>
          <a:blip r:embed="rId3"/>
          <a:stretch>
            <a:fillRect/>
          </a:stretch>
        </p:blipFill>
        <p:spPr>
          <a:xfrm>
            <a:off x="608958" y="4120408"/>
            <a:ext cx="5406887" cy="2737592"/>
          </a:xfrm>
          <a:prstGeom prst="rect">
            <a:avLst/>
          </a:prstGeom>
        </p:spPr>
      </p:pic>
      <p:pic>
        <p:nvPicPr>
          <p:cNvPr id="4" name="Picture 3">
            <a:extLst>
              <a:ext uri="{FF2B5EF4-FFF2-40B4-BE49-F238E27FC236}">
                <a16:creationId xmlns:a16="http://schemas.microsoft.com/office/drawing/2014/main" id="{482A9443-211A-4973-84D4-19D1E6417645}"/>
              </a:ext>
            </a:extLst>
          </p:cNvPr>
          <p:cNvPicPr>
            <a:picLocks noChangeAspect="1"/>
          </p:cNvPicPr>
          <p:nvPr/>
        </p:nvPicPr>
        <p:blipFill>
          <a:blip r:embed="rId4"/>
          <a:stretch>
            <a:fillRect/>
          </a:stretch>
        </p:blipFill>
        <p:spPr>
          <a:xfrm>
            <a:off x="6505989" y="4925546"/>
            <a:ext cx="4533900" cy="952500"/>
          </a:xfrm>
          <a:prstGeom prst="rect">
            <a:avLst/>
          </a:prstGeom>
        </p:spPr>
      </p:pic>
    </p:spTree>
    <p:extLst>
      <p:ext uri="{BB962C8B-B14F-4D97-AF65-F5344CB8AC3E}">
        <p14:creationId xmlns:p14="http://schemas.microsoft.com/office/powerpoint/2010/main" val="157364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Chebyshev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1726890" cy="452431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The design parameters of the Chebyshev filter are obtained by considering the low-pass filter with the desired specifications as given by</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At cut-off frequency w=</a:t>
            </a:r>
            <a:r>
              <a:rPr lang="en-US" sz="2400" dirty="0" err="1"/>
              <a:t>wc</a:t>
            </a:r>
            <a:r>
              <a:rPr lang="en-US" sz="2400" dirty="0"/>
              <a:t>, Cn(1)=1</a:t>
            </a:r>
            <a:endParaRPr lang="en-IN" sz="2100" dirty="0"/>
          </a:p>
        </p:txBody>
      </p:sp>
      <p:pic>
        <p:nvPicPr>
          <p:cNvPr id="4" name="Picture 3">
            <a:extLst>
              <a:ext uri="{FF2B5EF4-FFF2-40B4-BE49-F238E27FC236}">
                <a16:creationId xmlns:a16="http://schemas.microsoft.com/office/drawing/2014/main" id="{43099AF0-7407-42DE-8B28-2882D119E3BE}"/>
              </a:ext>
            </a:extLst>
          </p:cNvPr>
          <p:cNvPicPr>
            <a:picLocks noChangeAspect="1"/>
          </p:cNvPicPr>
          <p:nvPr/>
        </p:nvPicPr>
        <p:blipFill>
          <a:blip r:embed="rId3"/>
          <a:stretch>
            <a:fillRect/>
          </a:stretch>
        </p:blipFill>
        <p:spPr>
          <a:xfrm>
            <a:off x="3308280" y="1853061"/>
            <a:ext cx="3667125" cy="1190625"/>
          </a:xfrm>
          <a:prstGeom prst="rect">
            <a:avLst/>
          </a:prstGeom>
        </p:spPr>
      </p:pic>
      <p:pic>
        <p:nvPicPr>
          <p:cNvPr id="6" name="Picture 5">
            <a:extLst>
              <a:ext uri="{FF2B5EF4-FFF2-40B4-BE49-F238E27FC236}">
                <a16:creationId xmlns:a16="http://schemas.microsoft.com/office/drawing/2014/main" id="{E98C61D9-8838-411C-930D-AA9D414BF40C}"/>
              </a:ext>
            </a:extLst>
          </p:cNvPr>
          <p:cNvPicPr>
            <a:picLocks noChangeAspect="1"/>
          </p:cNvPicPr>
          <p:nvPr/>
        </p:nvPicPr>
        <p:blipFill>
          <a:blip r:embed="rId4"/>
          <a:stretch>
            <a:fillRect/>
          </a:stretch>
        </p:blipFill>
        <p:spPr>
          <a:xfrm>
            <a:off x="3308280" y="3433315"/>
            <a:ext cx="2809875" cy="762000"/>
          </a:xfrm>
          <a:prstGeom prst="rect">
            <a:avLst/>
          </a:prstGeom>
        </p:spPr>
      </p:pic>
      <p:pic>
        <p:nvPicPr>
          <p:cNvPr id="7" name="Picture 6">
            <a:extLst>
              <a:ext uri="{FF2B5EF4-FFF2-40B4-BE49-F238E27FC236}">
                <a16:creationId xmlns:a16="http://schemas.microsoft.com/office/drawing/2014/main" id="{BC7DA041-FD5E-4DD7-904A-5AA121C40DEE}"/>
              </a:ext>
            </a:extLst>
          </p:cNvPr>
          <p:cNvPicPr>
            <a:picLocks noChangeAspect="1"/>
          </p:cNvPicPr>
          <p:nvPr/>
        </p:nvPicPr>
        <p:blipFill>
          <a:blip r:embed="rId5"/>
          <a:stretch>
            <a:fillRect/>
          </a:stretch>
        </p:blipFill>
        <p:spPr>
          <a:xfrm>
            <a:off x="3568355" y="4151556"/>
            <a:ext cx="2828925" cy="866775"/>
          </a:xfrm>
          <a:prstGeom prst="rect">
            <a:avLst/>
          </a:prstGeom>
        </p:spPr>
      </p:pic>
      <p:pic>
        <p:nvPicPr>
          <p:cNvPr id="9" name="Picture 8">
            <a:extLst>
              <a:ext uri="{FF2B5EF4-FFF2-40B4-BE49-F238E27FC236}">
                <a16:creationId xmlns:a16="http://schemas.microsoft.com/office/drawing/2014/main" id="{DDA06997-D456-4139-AF0D-FD71E2F9A8F4}"/>
              </a:ext>
            </a:extLst>
          </p:cNvPr>
          <p:cNvPicPr>
            <a:picLocks noChangeAspect="1"/>
          </p:cNvPicPr>
          <p:nvPr/>
        </p:nvPicPr>
        <p:blipFill>
          <a:blip r:embed="rId6"/>
          <a:stretch>
            <a:fillRect/>
          </a:stretch>
        </p:blipFill>
        <p:spPr>
          <a:xfrm>
            <a:off x="3687209" y="5727808"/>
            <a:ext cx="1238250" cy="695325"/>
          </a:xfrm>
          <a:prstGeom prst="rect">
            <a:avLst/>
          </a:prstGeom>
        </p:spPr>
      </p:pic>
    </p:spTree>
    <p:extLst>
      <p:ext uri="{BB962C8B-B14F-4D97-AF65-F5344CB8AC3E}">
        <p14:creationId xmlns:p14="http://schemas.microsoft.com/office/powerpoint/2010/main" val="1266482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Chebyshev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1726890" cy="415498"/>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The order of the filter N can be obtained by takin </a:t>
            </a:r>
            <a:r>
              <a:rPr lang="en-US" sz="2100" dirty="0" err="1"/>
              <a:t>wc</a:t>
            </a:r>
            <a:r>
              <a:rPr lang="en-US" sz="2100" dirty="0"/>
              <a:t>=w1:</a:t>
            </a:r>
            <a:endParaRPr lang="en-IN" sz="2100" dirty="0"/>
          </a:p>
        </p:txBody>
      </p:sp>
      <p:pic>
        <p:nvPicPr>
          <p:cNvPr id="4" name="Picture 3">
            <a:extLst>
              <a:ext uri="{FF2B5EF4-FFF2-40B4-BE49-F238E27FC236}">
                <a16:creationId xmlns:a16="http://schemas.microsoft.com/office/drawing/2014/main" id="{469931A4-7ED9-4EF5-AE72-0C112885191F}"/>
              </a:ext>
            </a:extLst>
          </p:cNvPr>
          <p:cNvPicPr>
            <a:picLocks noChangeAspect="1"/>
          </p:cNvPicPr>
          <p:nvPr/>
        </p:nvPicPr>
        <p:blipFill>
          <a:blip r:embed="rId3"/>
          <a:stretch>
            <a:fillRect/>
          </a:stretch>
        </p:blipFill>
        <p:spPr>
          <a:xfrm>
            <a:off x="793889" y="1288948"/>
            <a:ext cx="2943225" cy="904875"/>
          </a:xfrm>
          <a:prstGeom prst="rect">
            <a:avLst/>
          </a:prstGeom>
        </p:spPr>
      </p:pic>
      <p:pic>
        <p:nvPicPr>
          <p:cNvPr id="6" name="Picture 5">
            <a:extLst>
              <a:ext uri="{FF2B5EF4-FFF2-40B4-BE49-F238E27FC236}">
                <a16:creationId xmlns:a16="http://schemas.microsoft.com/office/drawing/2014/main" id="{8BADDF06-734B-41F2-88FC-1A16691A89B3}"/>
              </a:ext>
            </a:extLst>
          </p:cNvPr>
          <p:cNvPicPr>
            <a:picLocks noChangeAspect="1"/>
          </p:cNvPicPr>
          <p:nvPr/>
        </p:nvPicPr>
        <p:blipFill>
          <a:blip r:embed="rId4"/>
          <a:stretch>
            <a:fillRect/>
          </a:stretch>
        </p:blipFill>
        <p:spPr>
          <a:xfrm>
            <a:off x="904362" y="2230680"/>
            <a:ext cx="4295775" cy="2505075"/>
          </a:xfrm>
          <a:prstGeom prst="rect">
            <a:avLst/>
          </a:prstGeom>
        </p:spPr>
      </p:pic>
      <p:pic>
        <p:nvPicPr>
          <p:cNvPr id="7" name="Picture 6">
            <a:extLst>
              <a:ext uri="{FF2B5EF4-FFF2-40B4-BE49-F238E27FC236}">
                <a16:creationId xmlns:a16="http://schemas.microsoft.com/office/drawing/2014/main" id="{79F974F1-B151-44C2-AF39-93111B2BA6FE}"/>
              </a:ext>
            </a:extLst>
          </p:cNvPr>
          <p:cNvPicPr>
            <a:picLocks noChangeAspect="1"/>
          </p:cNvPicPr>
          <p:nvPr/>
        </p:nvPicPr>
        <p:blipFill>
          <a:blip r:embed="rId5"/>
          <a:stretch>
            <a:fillRect/>
          </a:stretch>
        </p:blipFill>
        <p:spPr>
          <a:xfrm>
            <a:off x="6250471" y="1565121"/>
            <a:ext cx="5734050" cy="5153025"/>
          </a:xfrm>
          <a:prstGeom prst="rect">
            <a:avLst/>
          </a:prstGeom>
        </p:spPr>
      </p:pic>
    </p:spTree>
    <p:extLst>
      <p:ext uri="{BB962C8B-B14F-4D97-AF65-F5344CB8AC3E}">
        <p14:creationId xmlns:p14="http://schemas.microsoft.com/office/powerpoint/2010/main" val="412651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Elliptic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1726890" cy="3000821"/>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Elliptic (</a:t>
            </a:r>
            <a:r>
              <a:rPr lang="en-US" sz="2100" dirty="0" err="1"/>
              <a:t>Cauer</a:t>
            </a:r>
            <a:r>
              <a:rPr lang="en-US" sz="2100" dirty="0"/>
              <a:t>) filters are filters with </a:t>
            </a:r>
            <a:r>
              <a:rPr lang="en-US" sz="2100" dirty="0" err="1"/>
              <a:t>equiripple</a:t>
            </a:r>
            <a:r>
              <a:rPr lang="en-US" sz="2100" dirty="0"/>
              <a:t> behavior in both passband and stopband, meaning controlled oscillations occur in both regions.</a:t>
            </a:r>
          </a:p>
          <a:p>
            <a:pPr marL="285750" indent="-285750" algn="just">
              <a:buFont typeface="Arial" panose="020B0604020202020204" pitchFamily="34" charset="0"/>
              <a:buChar char="•"/>
            </a:pPr>
            <a:r>
              <a:rPr lang="en-US" sz="2100" dirty="0"/>
              <a:t>The key objective of elliptic filters is to achieve the sharpest transition between passband and stopband.</a:t>
            </a:r>
          </a:p>
          <a:p>
            <a:pPr marL="285750" indent="-285750" algn="just">
              <a:buFont typeface="Arial" panose="020B0604020202020204" pitchFamily="34" charset="0"/>
              <a:buChar char="•"/>
            </a:pPr>
            <a:r>
              <a:rPr lang="en-US" sz="2100" dirty="0"/>
              <a:t>The magnitude response is given by</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The parameter 𝜖 determines the amount of passband ripple. A larger value increases ripple but also sharpens the cutoff.</a:t>
            </a:r>
          </a:p>
        </p:txBody>
      </p:sp>
      <p:pic>
        <p:nvPicPr>
          <p:cNvPr id="4" name="Picture 3">
            <a:extLst>
              <a:ext uri="{FF2B5EF4-FFF2-40B4-BE49-F238E27FC236}">
                <a16:creationId xmlns:a16="http://schemas.microsoft.com/office/drawing/2014/main" id="{FCF22CF7-0A21-48BF-B7A0-3A0F85A76187}"/>
              </a:ext>
            </a:extLst>
          </p:cNvPr>
          <p:cNvPicPr>
            <a:picLocks noChangeAspect="1"/>
          </p:cNvPicPr>
          <p:nvPr/>
        </p:nvPicPr>
        <p:blipFill>
          <a:blip r:embed="rId3"/>
          <a:stretch>
            <a:fillRect/>
          </a:stretch>
        </p:blipFill>
        <p:spPr>
          <a:xfrm>
            <a:off x="3705225" y="2252494"/>
            <a:ext cx="3429000" cy="895350"/>
          </a:xfrm>
          <a:prstGeom prst="rect">
            <a:avLst/>
          </a:prstGeom>
        </p:spPr>
      </p:pic>
      <p:sp>
        <p:nvSpPr>
          <p:cNvPr id="9" name="TextBox 8">
            <a:extLst>
              <a:ext uri="{FF2B5EF4-FFF2-40B4-BE49-F238E27FC236}">
                <a16:creationId xmlns:a16="http://schemas.microsoft.com/office/drawing/2014/main" id="{F7A7A52F-7D08-4C8B-8F4D-41A427A3B7CF}"/>
              </a:ext>
            </a:extLst>
          </p:cNvPr>
          <p:cNvSpPr txBox="1"/>
          <p:nvPr/>
        </p:nvSpPr>
        <p:spPr>
          <a:xfrm>
            <a:off x="62584" y="3920124"/>
            <a:ext cx="7278728" cy="2677656"/>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The function 𝑈</a:t>
            </a:r>
            <a:r>
              <a:rPr lang="en-US" sz="2100" baseline="-25000" dirty="0"/>
              <a:t>𝑁</a:t>
            </a:r>
            <a:r>
              <a:rPr lang="en-US" sz="2100" dirty="0"/>
              <a:t>(⋅) represents a Jacobian elliptic function, elliptic filters are mathematically advanced.</a:t>
            </a:r>
          </a:p>
          <a:p>
            <a:pPr marL="285750" indent="-285750" algn="just">
              <a:buFont typeface="Arial" panose="020B0604020202020204" pitchFamily="34" charset="0"/>
              <a:buChar char="•"/>
            </a:pPr>
            <a:r>
              <a:rPr lang="en-US" sz="2100" dirty="0"/>
              <a:t>Their major advantage is minimum order for given specifications. This reduces hardware complexity in many applications.</a:t>
            </a:r>
          </a:p>
          <a:p>
            <a:pPr marL="285750" indent="-285750" algn="just">
              <a:buFont typeface="Arial" panose="020B0604020202020204" pitchFamily="34" charset="0"/>
              <a:buChar char="•"/>
            </a:pPr>
            <a:r>
              <a:rPr lang="en-US" sz="2100" dirty="0"/>
              <a:t>Unlike Butterworth and Chebyshev filters, elliptic filters have both poles and transmission zeros. These zeros are typically placed on the imaginary axis.</a:t>
            </a:r>
          </a:p>
        </p:txBody>
      </p:sp>
      <p:pic>
        <p:nvPicPr>
          <p:cNvPr id="6" name="Picture 5">
            <a:extLst>
              <a:ext uri="{FF2B5EF4-FFF2-40B4-BE49-F238E27FC236}">
                <a16:creationId xmlns:a16="http://schemas.microsoft.com/office/drawing/2014/main" id="{20B6DCD0-A86F-4BBE-A5F7-7A9D08E36DBB}"/>
              </a:ext>
            </a:extLst>
          </p:cNvPr>
          <p:cNvPicPr>
            <a:picLocks noChangeAspect="1"/>
          </p:cNvPicPr>
          <p:nvPr/>
        </p:nvPicPr>
        <p:blipFill>
          <a:blip r:embed="rId4"/>
          <a:stretch>
            <a:fillRect/>
          </a:stretch>
        </p:blipFill>
        <p:spPr>
          <a:xfrm>
            <a:off x="7474227" y="3658105"/>
            <a:ext cx="4272148" cy="3100358"/>
          </a:xfrm>
          <a:prstGeom prst="rect">
            <a:avLst/>
          </a:prstGeom>
        </p:spPr>
      </p:pic>
    </p:spTree>
    <p:extLst>
      <p:ext uri="{BB962C8B-B14F-4D97-AF65-F5344CB8AC3E}">
        <p14:creationId xmlns:p14="http://schemas.microsoft.com/office/powerpoint/2010/main" val="689288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All Pass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0448262" cy="4616648"/>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An all-pass filter allows all frequency components to pass with unity gain. It modifies only the phase response without affecting amplitude.</a:t>
            </a:r>
          </a:p>
          <a:p>
            <a:pPr marL="285750" indent="-285750" algn="just">
              <a:buFont typeface="Arial" panose="020B0604020202020204" pitchFamily="34" charset="0"/>
              <a:buChar char="•"/>
            </a:pPr>
            <a:r>
              <a:rPr lang="en-US" sz="2100" dirty="0"/>
              <a:t>The primary function is to introduce a controlled phase shift across frequencies. This makes it useful for phase alignment and signal timing correction.</a:t>
            </a:r>
          </a:p>
          <a:p>
            <a:pPr marL="285750" indent="-285750" algn="just">
              <a:buFont typeface="Arial" panose="020B0604020202020204" pitchFamily="34" charset="0"/>
              <a:buChar char="•"/>
            </a:pPr>
            <a:r>
              <a:rPr lang="en-US" sz="2100" dirty="0"/>
              <a:t>All-pass filters are also called delay </a:t>
            </a:r>
            <a:r>
              <a:rPr lang="en-US" sz="2100" dirty="0" err="1"/>
              <a:t>equalisers</a:t>
            </a:r>
            <a:r>
              <a:rPr lang="en-US" sz="2100" dirty="0"/>
              <a:t>, phase correctors, or constant delay </a:t>
            </a:r>
            <a:r>
              <a:rPr lang="en-US" sz="2100" dirty="0" err="1"/>
              <a:t>filters.These</a:t>
            </a:r>
            <a:r>
              <a:rPr lang="en-US" sz="2100" dirty="0"/>
              <a:t> names reflect their role in maintaining amplitude while altering phase.</a:t>
            </a:r>
          </a:p>
          <a:p>
            <a:pPr marL="285750" indent="-285750" algn="just">
              <a:buFont typeface="Arial" panose="020B0604020202020204" pitchFamily="34" charset="0"/>
              <a:buChar char="•"/>
            </a:pPr>
            <a:r>
              <a:rPr lang="en-US" sz="2100" dirty="0"/>
              <a:t>Basic phase lag and phase lead circuits act as simple all-pass filters. This occurs when feedback and input resistances are equal (Rf = R1).</a:t>
            </a:r>
          </a:p>
          <a:p>
            <a:pPr marL="285750" indent="-285750" algn="just">
              <a:buFont typeface="Arial" panose="020B0604020202020204" pitchFamily="34" charset="0"/>
              <a:buChar char="•"/>
            </a:pPr>
            <a:r>
              <a:rPr lang="en-US" sz="2100" dirty="0"/>
              <a:t>Unlike fixed-phase circuits (inverting amplifier, integrator, differentiator </a:t>
            </a:r>
            <a:r>
              <a:rPr lang="en-US" sz="2100" dirty="0" err="1"/>
              <a:t>etc</a:t>
            </a:r>
            <a:r>
              <a:rPr lang="en-US" sz="2100" dirty="0"/>
              <a:t>), all-pass filters provide adjustable phase shift.</a:t>
            </a:r>
          </a:p>
          <a:p>
            <a:pPr marL="285750" indent="-285750" algn="just">
              <a:buFont typeface="Arial" panose="020B0604020202020204" pitchFamily="34" charset="0"/>
              <a:buChar char="•"/>
            </a:pPr>
            <a:r>
              <a:rPr lang="en-US" sz="2100" dirty="0"/>
              <a:t>They are widely used in communication systems for phase equalization. This ensures signal integrity without altering amplitude characteristics.</a:t>
            </a:r>
          </a:p>
          <a:p>
            <a:pPr marL="285750" indent="-285750" algn="just">
              <a:buFont typeface="Arial" panose="020B0604020202020204" pitchFamily="34" charset="0"/>
              <a:buChar char="•"/>
            </a:pPr>
            <a:r>
              <a:rPr lang="en-US" sz="2100" dirty="0"/>
              <a:t>The transfer function typically has zeros that are mirror images of poles. This symmetry ensures constant magnitude response across all frequencies.</a:t>
            </a:r>
          </a:p>
        </p:txBody>
      </p:sp>
    </p:spTree>
    <p:extLst>
      <p:ext uri="{BB962C8B-B14F-4D97-AF65-F5344CB8AC3E}">
        <p14:creationId xmlns:p14="http://schemas.microsoft.com/office/powerpoint/2010/main" val="26218912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State Variable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11726890" cy="5262979"/>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State-variable filter (SVF) is a versatile second-order active filter. From one circuit, you can obtain high-pass, band-pass, low-pass, and notch outputs.</a:t>
            </a:r>
          </a:p>
          <a:p>
            <a:pPr marL="285750" indent="-285750" algn="just">
              <a:buFont typeface="Arial" panose="020B0604020202020204" pitchFamily="34" charset="0"/>
              <a:buChar char="•"/>
            </a:pPr>
            <a:r>
              <a:rPr lang="en-US" sz="2100" dirty="0"/>
              <a:t>It is also called a universal filter because the same topology gives multiple responses. The circuit uses two integrators and one summing amplifier.</a:t>
            </a:r>
          </a:p>
          <a:p>
            <a:pPr marL="285750" indent="-285750" algn="just">
              <a:buFont typeface="Arial" panose="020B0604020202020204" pitchFamily="34" charset="0"/>
              <a:buChar char="•"/>
            </a:pPr>
            <a:r>
              <a:rPr lang="en-US" sz="2100" dirty="0"/>
              <a:t>The resistors R and capacitors C are the timing elements. They mainly set the natural frequency of the filter.</a:t>
            </a:r>
          </a:p>
          <a:p>
            <a:pPr marL="285750" indent="-285750" algn="just">
              <a:buFont typeface="Arial" panose="020B0604020202020204" pitchFamily="34" charset="0"/>
              <a:buChar char="•"/>
            </a:pPr>
            <a:r>
              <a:rPr lang="en-US" sz="2100" dirty="0"/>
              <a:t>The feedback network controls the damping factor 𝑎. Equivalently, it controls Q, so tuning and selectivity can be adjusted separately.</a:t>
            </a:r>
          </a:p>
          <a:p>
            <a:pPr marL="285750" indent="-285750" algn="just">
              <a:buFont typeface="Arial" panose="020B0604020202020204" pitchFamily="34" charset="0"/>
              <a:buChar char="•"/>
            </a:pPr>
            <a:r>
              <a:rPr lang="en-US" sz="2100" dirty="0"/>
              <a:t>A major advantage is electronic tuning over a wide frequency range. You can change frequency without destroying the filter structure.</a:t>
            </a:r>
          </a:p>
          <a:p>
            <a:pPr marL="285750" indent="-285750" algn="just">
              <a:buFont typeface="Arial" panose="020B0604020202020204" pitchFamily="34" charset="0"/>
              <a:buChar char="•"/>
            </a:pPr>
            <a:r>
              <a:rPr lang="en-US" sz="2100" dirty="0"/>
              <a:t>Another advantage is independent adjustment of 𝑄 and 𝜔0​. That is a big practical advantage over many other second-order filters.</a:t>
            </a:r>
          </a:p>
          <a:p>
            <a:pPr marL="285750" indent="-285750" algn="just">
              <a:buFont typeface="Arial" panose="020B0604020202020204" pitchFamily="34" charset="0"/>
              <a:buChar char="•"/>
            </a:pPr>
            <a:r>
              <a:rPr lang="en-US" sz="2100" dirty="0"/>
              <a:t>The band-pass output is taken from the first integrator stage.</a:t>
            </a:r>
          </a:p>
          <a:p>
            <a:pPr marL="285750" indent="-285750" algn="just">
              <a:buFont typeface="Arial" panose="020B0604020202020204" pitchFamily="34" charset="0"/>
              <a:buChar char="•"/>
            </a:pPr>
            <a:r>
              <a:rPr lang="en-US" sz="2100" dirty="0"/>
              <a:t>The low-pass output is obtained after the second integrator.</a:t>
            </a:r>
          </a:p>
          <a:p>
            <a:pPr marL="285750" indent="-285750" algn="just">
              <a:buFont typeface="Arial" panose="020B0604020202020204" pitchFamily="34" charset="0"/>
              <a:buChar char="•"/>
            </a:pPr>
            <a:r>
              <a:rPr lang="en-US" sz="2100" dirty="0"/>
              <a:t>The notch output is formed by summing the high-pass and low-pass signals.</a:t>
            </a:r>
          </a:p>
          <a:p>
            <a:pPr marL="285750" indent="-285750" algn="just">
              <a:buFont typeface="Arial" panose="020B0604020202020204" pitchFamily="34" charset="0"/>
              <a:buChar char="•"/>
            </a:pPr>
            <a:endParaRPr lang="en-US" sz="2100" dirty="0"/>
          </a:p>
        </p:txBody>
      </p:sp>
    </p:spTree>
    <p:extLst>
      <p:ext uri="{BB962C8B-B14F-4D97-AF65-F5344CB8AC3E}">
        <p14:creationId xmlns:p14="http://schemas.microsoft.com/office/powerpoint/2010/main" val="6557995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State Variable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5400261" cy="5262979"/>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A1 → Summing amplifier </a:t>
            </a:r>
          </a:p>
          <a:p>
            <a:pPr marL="285750" indent="-285750" algn="just">
              <a:buFont typeface="Arial" panose="020B0604020202020204" pitchFamily="34" charset="0"/>
              <a:buChar char="•"/>
            </a:pPr>
            <a:r>
              <a:rPr lang="en-US" sz="2100" dirty="0"/>
              <a:t>A2 → First integrator </a:t>
            </a:r>
          </a:p>
          <a:p>
            <a:pPr marL="285750" indent="-285750" algn="just">
              <a:buFont typeface="Arial" panose="020B0604020202020204" pitchFamily="34" charset="0"/>
              <a:buChar char="•"/>
            </a:pPr>
            <a:r>
              <a:rPr lang="en-US" sz="2100" dirty="0"/>
              <a:t>​A3 → Second integrator</a:t>
            </a:r>
          </a:p>
          <a:p>
            <a:pPr marL="285750" indent="-285750" algn="just">
              <a:buFont typeface="Arial" panose="020B0604020202020204" pitchFamily="34" charset="0"/>
              <a:buChar char="•"/>
            </a:pPr>
            <a:r>
              <a:rPr lang="en-US" sz="2100" dirty="0"/>
              <a:t>A4 → Final summer</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Output of first integrator:</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After normalization (RC=1):</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Output of second integrator:</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p:txBody>
      </p:sp>
      <p:pic>
        <p:nvPicPr>
          <p:cNvPr id="4" name="Picture 3">
            <a:extLst>
              <a:ext uri="{FF2B5EF4-FFF2-40B4-BE49-F238E27FC236}">
                <a16:creationId xmlns:a16="http://schemas.microsoft.com/office/drawing/2014/main" id="{E3669A70-97BD-4E5C-A8B6-65143A056F3B}"/>
              </a:ext>
            </a:extLst>
          </p:cNvPr>
          <p:cNvPicPr>
            <a:picLocks noChangeAspect="1"/>
          </p:cNvPicPr>
          <p:nvPr/>
        </p:nvPicPr>
        <p:blipFill>
          <a:blip r:embed="rId3"/>
          <a:stretch>
            <a:fillRect/>
          </a:stretch>
        </p:blipFill>
        <p:spPr>
          <a:xfrm>
            <a:off x="4067176" y="972463"/>
            <a:ext cx="8124824" cy="5653624"/>
          </a:xfrm>
          <a:prstGeom prst="rect">
            <a:avLst/>
          </a:prstGeom>
        </p:spPr>
      </p:pic>
      <p:pic>
        <p:nvPicPr>
          <p:cNvPr id="7" name="Picture 6">
            <a:extLst>
              <a:ext uri="{FF2B5EF4-FFF2-40B4-BE49-F238E27FC236}">
                <a16:creationId xmlns:a16="http://schemas.microsoft.com/office/drawing/2014/main" id="{2D9477D5-67DC-43F3-962D-73B82937CFE6}"/>
              </a:ext>
            </a:extLst>
          </p:cNvPr>
          <p:cNvPicPr>
            <a:picLocks noChangeAspect="1"/>
          </p:cNvPicPr>
          <p:nvPr/>
        </p:nvPicPr>
        <p:blipFill>
          <a:blip r:embed="rId4"/>
          <a:stretch>
            <a:fillRect/>
          </a:stretch>
        </p:blipFill>
        <p:spPr>
          <a:xfrm>
            <a:off x="736599" y="2930525"/>
            <a:ext cx="2859007" cy="727075"/>
          </a:xfrm>
          <a:prstGeom prst="rect">
            <a:avLst/>
          </a:prstGeom>
        </p:spPr>
      </p:pic>
      <p:pic>
        <p:nvPicPr>
          <p:cNvPr id="8" name="Picture 7">
            <a:extLst>
              <a:ext uri="{FF2B5EF4-FFF2-40B4-BE49-F238E27FC236}">
                <a16:creationId xmlns:a16="http://schemas.microsoft.com/office/drawing/2014/main" id="{D0FCC38E-C654-4090-A86B-2F16E211D13F}"/>
              </a:ext>
            </a:extLst>
          </p:cNvPr>
          <p:cNvPicPr>
            <a:picLocks noChangeAspect="1"/>
          </p:cNvPicPr>
          <p:nvPr/>
        </p:nvPicPr>
        <p:blipFill>
          <a:blip r:embed="rId5"/>
          <a:stretch>
            <a:fillRect/>
          </a:stretch>
        </p:blipFill>
        <p:spPr>
          <a:xfrm>
            <a:off x="779179" y="4178055"/>
            <a:ext cx="1899058" cy="710532"/>
          </a:xfrm>
          <a:prstGeom prst="rect">
            <a:avLst/>
          </a:prstGeom>
        </p:spPr>
      </p:pic>
      <p:pic>
        <p:nvPicPr>
          <p:cNvPr id="9" name="Picture 8">
            <a:extLst>
              <a:ext uri="{FF2B5EF4-FFF2-40B4-BE49-F238E27FC236}">
                <a16:creationId xmlns:a16="http://schemas.microsoft.com/office/drawing/2014/main" id="{DC38A51D-E5C3-4C1A-899F-1EDBB07B28F6}"/>
              </a:ext>
            </a:extLst>
          </p:cNvPr>
          <p:cNvPicPr>
            <a:picLocks noChangeAspect="1"/>
          </p:cNvPicPr>
          <p:nvPr/>
        </p:nvPicPr>
        <p:blipFill>
          <a:blip r:embed="rId6"/>
          <a:stretch>
            <a:fillRect/>
          </a:stretch>
        </p:blipFill>
        <p:spPr>
          <a:xfrm>
            <a:off x="858107" y="5300077"/>
            <a:ext cx="2326640" cy="727075"/>
          </a:xfrm>
          <a:prstGeom prst="rect">
            <a:avLst/>
          </a:prstGeom>
        </p:spPr>
      </p:pic>
      <p:pic>
        <p:nvPicPr>
          <p:cNvPr id="10" name="Picture 9">
            <a:extLst>
              <a:ext uri="{FF2B5EF4-FFF2-40B4-BE49-F238E27FC236}">
                <a16:creationId xmlns:a16="http://schemas.microsoft.com/office/drawing/2014/main" id="{E6CD9124-ADDB-4615-96B5-22EA29DB6CCB}"/>
              </a:ext>
            </a:extLst>
          </p:cNvPr>
          <p:cNvPicPr>
            <a:picLocks noChangeAspect="1"/>
          </p:cNvPicPr>
          <p:nvPr/>
        </p:nvPicPr>
        <p:blipFill>
          <a:blip r:embed="rId7"/>
          <a:stretch>
            <a:fillRect/>
          </a:stretch>
        </p:blipFill>
        <p:spPr>
          <a:xfrm>
            <a:off x="880227" y="6034727"/>
            <a:ext cx="2179252" cy="823273"/>
          </a:xfrm>
          <a:prstGeom prst="rect">
            <a:avLst/>
          </a:prstGeom>
        </p:spPr>
      </p:pic>
    </p:spTree>
    <p:extLst>
      <p:ext uri="{BB962C8B-B14F-4D97-AF65-F5344CB8AC3E}">
        <p14:creationId xmlns:p14="http://schemas.microsoft.com/office/powerpoint/2010/main" val="40066569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State Variable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B0F5602-5AAE-4138-9A6D-74EE64D41D7D}"/>
              </a:ext>
            </a:extLst>
          </p:cNvPr>
          <p:cNvSpPr txBox="1"/>
          <p:nvPr/>
        </p:nvSpPr>
        <p:spPr>
          <a:xfrm>
            <a:off x="152400" y="972463"/>
            <a:ext cx="5400261" cy="4293483"/>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Summing amplifier (A3) stage:</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Assuming Rf=R3:</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Replace</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p:txBody>
      </p:sp>
      <p:pic>
        <p:nvPicPr>
          <p:cNvPr id="4" name="Picture 3">
            <a:extLst>
              <a:ext uri="{FF2B5EF4-FFF2-40B4-BE49-F238E27FC236}">
                <a16:creationId xmlns:a16="http://schemas.microsoft.com/office/drawing/2014/main" id="{E3669A70-97BD-4E5C-A8B6-65143A056F3B}"/>
              </a:ext>
            </a:extLst>
          </p:cNvPr>
          <p:cNvPicPr>
            <a:picLocks noChangeAspect="1"/>
          </p:cNvPicPr>
          <p:nvPr/>
        </p:nvPicPr>
        <p:blipFill>
          <a:blip r:embed="rId3"/>
          <a:stretch>
            <a:fillRect/>
          </a:stretch>
        </p:blipFill>
        <p:spPr>
          <a:xfrm>
            <a:off x="6241774" y="972463"/>
            <a:ext cx="5950226" cy="5653624"/>
          </a:xfrm>
          <a:prstGeom prst="rect">
            <a:avLst/>
          </a:prstGeom>
        </p:spPr>
      </p:pic>
      <p:pic>
        <p:nvPicPr>
          <p:cNvPr id="6" name="Picture 5">
            <a:extLst>
              <a:ext uri="{FF2B5EF4-FFF2-40B4-BE49-F238E27FC236}">
                <a16:creationId xmlns:a16="http://schemas.microsoft.com/office/drawing/2014/main" id="{44C82B7A-4226-43C7-A9EE-FA42A2CE5D30}"/>
              </a:ext>
            </a:extLst>
          </p:cNvPr>
          <p:cNvPicPr>
            <a:picLocks noChangeAspect="1"/>
          </p:cNvPicPr>
          <p:nvPr/>
        </p:nvPicPr>
        <p:blipFill>
          <a:blip r:embed="rId4"/>
          <a:stretch>
            <a:fillRect/>
          </a:stretch>
        </p:blipFill>
        <p:spPr>
          <a:xfrm>
            <a:off x="62584" y="1407487"/>
            <a:ext cx="6555537" cy="951400"/>
          </a:xfrm>
          <a:prstGeom prst="rect">
            <a:avLst/>
          </a:prstGeom>
        </p:spPr>
      </p:pic>
      <p:pic>
        <p:nvPicPr>
          <p:cNvPr id="11" name="Picture 10">
            <a:extLst>
              <a:ext uri="{FF2B5EF4-FFF2-40B4-BE49-F238E27FC236}">
                <a16:creationId xmlns:a16="http://schemas.microsoft.com/office/drawing/2014/main" id="{79E9D325-1F25-43F3-B9A1-CE48EADA1B2C}"/>
              </a:ext>
            </a:extLst>
          </p:cNvPr>
          <p:cNvPicPr>
            <a:picLocks noChangeAspect="1"/>
          </p:cNvPicPr>
          <p:nvPr/>
        </p:nvPicPr>
        <p:blipFill>
          <a:blip r:embed="rId5"/>
          <a:stretch>
            <a:fillRect/>
          </a:stretch>
        </p:blipFill>
        <p:spPr>
          <a:xfrm>
            <a:off x="152400" y="2879725"/>
            <a:ext cx="3789841" cy="770394"/>
          </a:xfrm>
          <a:prstGeom prst="rect">
            <a:avLst/>
          </a:prstGeom>
        </p:spPr>
      </p:pic>
      <p:pic>
        <p:nvPicPr>
          <p:cNvPr id="12" name="Picture 11">
            <a:extLst>
              <a:ext uri="{FF2B5EF4-FFF2-40B4-BE49-F238E27FC236}">
                <a16:creationId xmlns:a16="http://schemas.microsoft.com/office/drawing/2014/main" id="{F07542B2-4DF6-40FF-82F0-1FAEC33C4F2D}"/>
              </a:ext>
            </a:extLst>
          </p:cNvPr>
          <p:cNvPicPr>
            <a:picLocks noChangeAspect="1"/>
          </p:cNvPicPr>
          <p:nvPr/>
        </p:nvPicPr>
        <p:blipFill>
          <a:blip r:embed="rId6"/>
          <a:stretch>
            <a:fillRect/>
          </a:stretch>
        </p:blipFill>
        <p:spPr>
          <a:xfrm>
            <a:off x="702582" y="4776116"/>
            <a:ext cx="2689476" cy="452556"/>
          </a:xfrm>
          <a:prstGeom prst="rect">
            <a:avLst/>
          </a:prstGeom>
        </p:spPr>
      </p:pic>
      <p:pic>
        <p:nvPicPr>
          <p:cNvPr id="15" name="Picture 14">
            <a:extLst>
              <a:ext uri="{FF2B5EF4-FFF2-40B4-BE49-F238E27FC236}">
                <a16:creationId xmlns:a16="http://schemas.microsoft.com/office/drawing/2014/main" id="{CD270474-5960-473A-8760-3E1563E14458}"/>
              </a:ext>
            </a:extLst>
          </p:cNvPr>
          <p:cNvPicPr>
            <a:picLocks noChangeAspect="1"/>
          </p:cNvPicPr>
          <p:nvPr/>
        </p:nvPicPr>
        <p:blipFill>
          <a:blip r:embed="rId7"/>
          <a:stretch>
            <a:fillRect/>
          </a:stretch>
        </p:blipFill>
        <p:spPr>
          <a:xfrm>
            <a:off x="1928812" y="3712756"/>
            <a:ext cx="1897152" cy="814802"/>
          </a:xfrm>
          <a:prstGeom prst="rect">
            <a:avLst/>
          </a:prstGeom>
        </p:spPr>
      </p:pic>
      <p:pic>
        <p:nvPicPr>
          <p:cNvPr id="16" name="Picture 15">
            <a:extLst>
              <a:ext uri="{FF2B5EF4-FFF2-40B4-BE49-F238E27FC236}">
                <a16:creationId xmlns:a16="http://schemas.microsoft.com/office/drawing/2014/main" id="{7C0E212F-8D2E-4386-BD7E-84B898E3C117}"/>
              </a:ext>
            </a:extLst>
          </p:cNvPr>
          <p:cNvPicPr>
            <a:picLocks noChangeAspect="1"/>
          </p:cNvPicPr>
          <p:nvPr/>
        </p:nvPicPr>
        <p:blipFill>
          <a:blip r:embed="rId8"/>
          <a:stretch>
            <a:fillRect/>
          </a:stretch>
        </p:blipFill>
        <p:spPr>
          <a:xfrm>
            <a:off x="702582" y="5293677"/>
            <a:ext cx="3028407" cy="719756"/>
          </a:xfrm>
          <a:prstGeom prst="rect">
            <a:avLst/>
          </a:prstGeom>
        </p:spPr>
      </p:pic>
      <p:pic>
        <p:nvPicPr>
          <p:cNvPr id="19" name="Picture 18">
            <a:extLst>
              <a:ext uri="{FF2B5EF4-FFF2-40B4-BE49-F238E27FC236}">
                <a16:creationId xmlns:a16="http://schemas.microsoft.com/office/drawing/2014/main" id="{D4B859D9-301B-436D-9E3A-F042136B7074}"/>
              </a:ext>
            </a:extLst>
          </p:cNvPr>
          <p:cNvPicPr>
            <a:picLocks noChangeAspect="1"/>
          </p:cNvPicPr>
          <p:nvPr/>
        </p:nvPicPr>
        <p:blipFill>
          <a:blip r:embed="rId9"/>
          <a:stretch>
            <a:fillRect/>
          </a:stretch>
        </p:blipFill>
        <p:spPr>
          <a:xfrm>
            <a:off x="702582" y="5874817"/>
            <a:ext cx="2790825" cy="781050"/>
          </a:xfrm>
          <a:prstGeom prst="rect">
            <a:avLst/>
          </a:prstGeom>
        </p:spPr>
      </p:pic>
    </p:spTree>
    <p:extLst>
      <p:ext uri="{BB962C8B-B14F-4D97-AF65-F5344CB8AC3E}">
        <p14:creationId xmlns:p14="http://schemas.microsoft.com/office/powerpoint/2010/main" val="13066984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State Variable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3669A70-97BD-4E5C-A8B6-65143A056F3B}"/>
              </a:ext>
            </a:extLst>
          </p:cNvPr>
          <p:cNvPicPr>
            <a:picLocks noChangeAspect="1"/>
          </p:cNvPicPr>
          <p:nvPr/>
        </p:nvPicPr>
        <p:blipFill>
          <a:blip r:embed="rId3"/>
          <a:stretch>
            <a:fillRect/>
          </a:stretch>
        </p:blipFill>
        <p:spPr>
          <a:xfrm>
            <a:off x="6241774" y="972463"/>
            <a:ext cx="5950226" cy="5653624"/>
          </a:xfrm>
          <a:prstGeom prst="rect">
            <a:avLst/>
          </a:prstGeom>
        </p:spPr>
      </p:pic>
      <p:pic>
        <p:nvPicPr>
          <p:cNvPr id="7" name="Picture 6">
            <a:extLst>
              <a:ext uri="{FF2B5EF4-FFF2-40B4-BE49-F238E27FC236}">
                <a16:creationId xmlns:a16="http://schemas.microsoft.com/office/drawing/2014/main" id="{420914DA-20B5-4CE3-A833-74A973C7522F}"/>
              </a:ext>
            </a:extLst>
          </p:cNvPr>
          <p:cNvPicPr>
            <a:picLocks noChangeAspect="1"/>
          </p:cNvPicPr>
          <p:nvPr/>
        </p:nvPicPr>
        <p:blipFill>
          <a:blip r:embed="rId4"/>
          <a:stretch>
            <a:fillRect/>
          </a:stretch>
        </p:blipFill>
        <p:spPr>
          <a:xfrm>
            <a:off x="1841500" y="1505407"/>
            <a:ext cx="1924050" cy="790575"/>
          </a:xfrm>
          <a:prstGeom prst="rect">
            <a:avLst/>
          </a:prstGeom>
        </p:spPr>
      </p:pic>
      <p:sp>
        <p:nvSpPr>
          <p:cNvPr id="20" name="TextBox 19">
            <a:extLst>
              <a:ext uri="{FF2B5EF4-FFF2-40B4-BE49-F238E27FC236}">
                <a16:creationId xmlns:a16="http://schemas.microsoft.com/office/drawing/2014/main" id="{900889C1-3E09-4857-852F-CED6F6583E99}"/>
              </a:ext>
            </a:extLst>
          </p:cNvPr>
          <p:cNvSpPr txBox="1"/>
          <p:nvPr/>
        </p:nvSpPr>
        <p:spPr>
          <a:xfrm>
            <a:off x="152400" y="972463"/>
            <a:ext cx="6712634" cy="3970318"/>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Standard response of high pass filter is </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r>
              <a:rPr lang="en-US" sz="2100" dirty="0"/>
              <a:t>we get, A = -1 and </a:t>
            </a:r>
            <a:r>
              <a:rPr lang="en-US" sz="2100" dirty="0" err="1"/>
              <a:t>wL</a:t>
            </a:r>
            <a:r>
              <a:rPr lang="en-US" sz="2100" dirty="0"/>
              <a:t> = 1 for the high-pass filter operation of the state-variable filter.</a:t>
            </a:r>
          </a:p>
          <a:p>
            <a:pPr marL="285750" indent="-285750" algn="just">
              <a:buFont typeface="Arial" panose="020B0604020202020204" pitchFamily="34" charset="0"/>
              <a:buChar char="•"/>
            </a:pPr>
            <a:r>
              <a:rPr lang="en-US" sz="2100" dirty="0"/>
              <a:t>Low pass transfer functions can be obtained from high pass response as </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p:txBody>
      </p:sp>
      <p:pic>
        <p:nvPicPr>
          <p:cNvPr id="8" name="Picture 7">
            <a:extLst>
              <a:ext uri="{FF2B5EF4-FFF2-40B4-BE49-F238E27FC236}">
                <a16:creationId xmlns:a16="http://schemas.microsoft.com/office/drawing/2014/main" id="{D36B4BB9-FD6E-487F-A1CE-1BF4DE324D96}"/>
              </a:ext>
            </a:extLst>
          </p:cNvPr>
          <p:cNvPicPr>
            <a:picLocks noChangeAspect="1"/>
          </p:cNvPicPr>
          <p:nvPr/>
        </p:nvPicPr>
        <p:blipFill>
          <a:blip r:embed="rId5"/>
          <a:stretch>
            <a:fillRect/>
          </a:stretch>
        </p:blipFill>
        <p:spPr>
          <a:xfrm>
            <a:off x="1928812" y="3994298"/>
            <a:ext cx="3068675" cy="790574"/>
          </a:xfrm>
          <a:prstGeom prst="rect">
            <a:avLst/>
          </a:prstGeom>
        </p:spPr>
      </p:pic>
      <p:pic>
        <p:nvPicPr>
          <p:cNvPr id="9" name="Picture 8">
            <a:extLst>
              <a:ext uri="{FF2B5EF4-FFF2-40B4-BE49-F238E27FC236}">
                <a16:creationId xmlns:a16="http://schemas.microsoft.com/office/drawing/2014/main" id="{419DB064-604F-477F-B6F0-F8E7CDE033B3}"/>
              </a:ext>
            </a:extLst>
          </p:cNvPr>
          <p:cNvPicPr>
            <a:picLocks noChangeAspect="1"/>
          </p:cNvPicPr>
          <p:nvPr/>
        </p:nvPicPr>
        <p:blipFill>
          <a:blip r:embed="rId6"/>
          <a:stretch>
            <a:fillRect/>
          </a:stretch>
        </p:blipFill>
        <p:spPr>
          <a:xfrm>
            <a:off x="1841500" y="4883444"/>
            <a:ext cx="3435216" cy="938959"/>
          </a:xfrm>
          <a:prstGeom prst="rect">
            <a:avLst/>
          </a:prstGeom>
        </p:spPr>
      </p:pic>
      <p:pic>
        <p:nvPicPr>
          <p:cNvPr id="10" name="Picture 9">
            <a:extLst>
              <a:ext uri="{FF2B5EF4-FFF2-40B4-BE49-F238E27FC236}">
                <a16:creationId xmlns:a16="http://schemas.microsoft.com/office/drawing/2014/main" id="{AC4A31FE-B9E6-4C66-8E5F-2B1BDAB326E4}"/>
              </a:ext>
            </a:extLst>
          </p:cNvPr>
          <p:cNvPicPr>
            <a:picLocks noChangeAspect="1"/>
          </p:cNvPicPr>
          <p:nvPr/>
        </p:nvPicPr>
        <p:blipFill>
          <a:blip r:embed="rId7"/>
          <a:stretch>
            <a:fillRect/>
          </a:stretch>
        </p:blipFill>
        <p:spPr>
          <a:xfrm>
            <a:off x="1768336" y="5726756"/>
            <a:ext cx="3602905" cy="984794"/>
          </a:xfrm>
          <a:prstGeom prst="rect">
            <a:avLst/>
          </a:prstGeom>
        </p:spPr>
      </p:pic>
      <p:pic>
        <p:nvPicPr>
          <p:cNvPr id="13" name="Picture 12">
            <a:extLst>
              <a:ext uri="{FF2B5EF4-FFF2-40B4-BE49-F238E27FC236}">
                <a16:creationId xmlns:a16="http://schemas.microsoft.com/office/drawing/2014/main" id="{FB1176B1-52E0-4CE9-B0D1-13D5D48CE923}"/>
              </a:ext>
            </a:extLst>
          </p:cNvPr>
          <p:cNvPicPr>
            <a:picLocks noChangeAspect="1"/>
          </p:cNvPicPr>
          <p:nvPr/>
        </p:nvPicPr>
        <p:blipFill>
          <a:blip r:embed="rId8"/>
          <a:stretch>
            <a:fillRect/>
          </a:stretch>
        </p:blipFill>
        <p:spPr>
          <a:xfrm>
            <a:off x="6615528" y="5765442"/>
            <a:ext cx="1895475" cy="800100"/>
          </a:xfrm>
          <a:prstGeom prst="rect">
            <a:avLst/>
          </a:prstGeom>
        </p:spPr>
      </p:pic>
    </p:spTree>
    <p:extLst>
      <p:ext uri="{BB962C8B-B14F-4D97-AF65-F5344CB8AC3E}">
        <p14:creationId xmlns:p14="http://schemas.microsoft.com/office/powerpoint/2010/main" val="543799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State Variable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3669A70-97BD-4E5C-A8B6-65143A056F3B}"/>
              </a:ext>
            </a:extLst>
          </p:cNvPr>
          <p:cNvPicPr>
            <a:picLocks noChangeAspect="1"/>
          </p:cNvPicPr>
          <p:nvPr/>
        </p:nvPicPr>
        <p:blipFill>
          <a:blip r:embed="rId3"/>
          <a:stretch>
            <a:fillRect/>
          </a:stretch>
        </p:blipFill>
        <p:spPr>
          <a:xfrm>
            <a:off x="6241774" y="972463"/>
            <a:ext cx="5950226" cy="5653624"/>
          </a:xfrm>
          <a:prstGeom prst="rect">
            <a:avLst/>
          </a:prstGeom>
        </p:spPr>
      </p:pic>
      <p:sp>
        <p:nvSpPr>
          <p:cNvPr id="20" name="TextBox 19">
            <a:extLst>
              <a:ext uri="{FF2B5EF4-FFF2-40B4-BE49-F238E27FC236}">
                <a16:creationId xmlns:a16="http://schemas.microsoft.com/office/drawing/2014/main" id="{900889C1-3E09-4857-852F-CED6F6583E99}"/>
              </a:ext>
            </a:extLst>
          </p:cNvPr>
          <p:cNvSpPr txBox="1"/>
          <p:nvPr/>
        </p:nvSpPr>
        <p:spPr>
          <a:xfrm>
            <a:off x="158316" y="876268"/>
            <a:ext cx="6712634" cy="3000821"/>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Notch filter response is given as:</a:t>
            </a:r>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a:p>
            <a:pPr marL="285750" indent="-285750" algn="just">
              <a:buFont typeface="Arial" panose="020B0604020202020204" pitchFamily="34" charset="0"/>
              <a:buChar char="•"/>
            </a:pPr>
            <a:endParaRPr lang="en-US" sz="2100" dirty="0"/>
          </a:p>
        </p:txBody>
      </p:sp>
      <p:pic>
        <p:nvPicPr>
          <p:cNvPr id="5" name="Picture 4">
            <a:extLst>
              <a:ext uri="{FF2B5EF4-FFF2-40B4-BE49-F238E27FC236}">
                <a16:creationId xmlns:a16="http://schemas.microsoft.com/office/drawing/2014/main" id="{C3FBABC1-D1D1-48CA-9541-1D4C431279E8}"/>
              </a:ext>
            </a:extLst>
          </p:cNvPr>
          <p:cNvPicPr>
            <a:picLocks noChangeAspect="1"/>
          </p:cNvPicPr>
          <p:nvPr/>
        </p:nvPicPr>
        <p:blipFill>
          <a:blip r:embed="rId4"/>
          <a:stretch>
            <a:fillRect/>
          </a:stretch>
        </p:blipFill>
        <p:spPr>
          <a:xfrm>
            <a:off x="483398" y="1312552"/>
            <a:ext cx="4848225" cy="857250"/>
          </a:xfrm>
          <a:prstGeom prst="rect">
            <a:avLst/>
          </a:prstGeom>
        </p:spPr>
      </p:pic>
      <p:pic>
        <p:nvPicPr>
          <p:cNvPr id="6" name="Picture 5">
            <a:extLst>
              <a:ext uri="{FF2B5EF4-FFF2-40B4-BE49-F238E27FC236}">
                <a16:creationId xmlns:a16="http://schemas.microsoft.com/office/drawing/2014/main" id="{8E6FB279-09DE-402B-8D04-7B35F1479435}"/>
              </a:ext>
            </a:extLst>
          </p:cNvPr>
          <p:cNvPicPr>
            <a:picLocks noChangeAspect="1"/>
          </p:cNvPicPr>
          <p:nvPr/>
        </p:nvPicPr>
        <p:blipFill>
          <a:blip r:embed="rId5"/>
          <a:stretch>
            <a:fillRect/>
          </a:stretch>
        </p:blipFill>
        <p:spPr>
          <a:xfrm>
            <a:off x="523520" y="2479675"/>
            <a:ext cx="2676525" cy="800100"/>
          </a:xfrm>
          <a:prstGeom prst="rect">
            <a:avLst/>
          </a:prstGeom>
        </p:spPr>
      </p:pic>
    </p:spTree>
    <p:extLst>
      <p:ext uri="{BB962C8B-B14F-4D97-AF65-F5344CB8AC3E}">
        <p14:creationId xmlns:p14="http://schemas.microsoft.com/office/powerpoint/2010/main" val="6820480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Switched Capacitor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00889C1-3E09-4857-852F-CED6F6583E99}"/>
              </a:ext>
            </a:extLst>
          </p:cNvPr>
          <p:cNvSpPr txBox="1"/>
          <p:nvPr/>
        </p:nvSpPr>
        <p:spPr>
          <a:xfrm>
            <a:off x="158316" y="876268"/>
            <a:ext cx="11720974" cy="3647152"/>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Switched capacitor (SC) filters are discrete-time filters that replace resistors using capacitors and switches.</a:t>
            </a:r>
          </a:p>
          <a:p>
            <a:pPr marL="285750" indent="-285750" algn="just">
              <a:buFont typeface="Arial" panose="020B0604020202020204" pitchFamily="34" charset="0"/>
              <a:buChar char="•"/>
            </a:pPr>
            <a:r>
              <a:rPr lang="en-US" sz="2100" dirty="0"/>
              <a:t>Earlier continuous-time filters relied on R, C, and op-amps. Their performance depended on absolute values of resistors and capacitors, which are inaccurate in CMOS.</a:t>
            </a:r>
          </a:p>
          <a:p>
            <a:pPr marL="285750" indent="-285750" algn="just">
              <a:buFont typeface="Arial" panose="020B0604020202020204" pitchFamily="34" charset="0"/>
              <a:buChar char="•"/>
            </a:pPr>
            <a:r>
              <a:rPr lang="en-US" sz="2100" dirty="0"/>
              <a:t>In CMOS technology, resistors occupy large chip area and have poor tolerance. Capacitors, however, have much better matching accuracy, making them preferable.</a:t>
            </a:r>
          </a:p>
          <a:p>
            <a:pPr marL="285750" indent="-285750" algn="just">
              <a:buFont typeface="Arial" panose="020B0604020202020204" pitchFamily="34" charset="0"/>
              <a:buChar char="•"/>
            </a:pPr>
            <a:r>
              <a:rPr lang="en-US" sz="2100" dirty="0"/>
              <a:t>The fundamental idea is that a switched capacitor behaves like a </a:t>
            </a:r>
            <a:r>
              <a:rPr lang="en-US" sz="2100" dirty="0" err="1"/>
              <a:t>resistor.This</a:t>
            </a:r>
            <a:r>
              <a:rPr lang="en-US" sz="2100" dirty="0"/>
              <a:t> equivalent resistance depends on clock frequency and capacitance.</a:t>
            </a:r>
          </a:p>
          <a:p>
            <a:pPr marL="285750" indent="-285750" algn="just">
              <a:buFont typeface="Arial" panose="020B0604020202020204" pitchFamily="34" charset="0"/>
              <a:buChar char="•"/>
            </a:pPr>
            <a:r>
              <a:rPr lang="en-US" sz="2100" dirty="0"/>
              <a:t>When a capacitor is switched between two nodes, it transfers charge periodically. This creates an average current equivalent to resistive current flow.</a:t>
            </a:r>
          </a:p>
          <a:p>
            <a:pPr marL="285750" indent="-285750" algn="just">
              <a:buFont typeface="Arial" panose="020B0604020202020204" pitchFamily="34" charset="0"/>
              <a:buChar char="•"/>
            </a:pPr>
            <a:r>
              <a:rPr lang="en-US" sz="2100" dirty="0"/>
              <a:t>This is the key principle of SC filters: resistors are replaced by capacitors + MOS switches + clock signals.</a:t>
            </a:r>
          </a:p>
        </p:txBody>
      </p:sp>
    </p:spTree>
    <p:extLst>
      <p:ext uri="{BB962C8B-B14F-4D97-AF65-F5344CB8AC3E}">
        <p14:creationId xmlns:p14="http://schemas.microsoft.com/office/powerpoint/2010/main" val="2839208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0A4A9-49C5-6409-9C31-0F8BB037D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F1A43-8A81-5EE2-C304-8EA5FC68E372}"/>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5: Switched Capacitor Filters</a:t>
            </a:r>
            <a:endParaRPr lang="en-US" sz="3200" b="1" dirty="0">
              <a:solidFill>
                <a:schemeClr val="accent5"/>
              </a:solidFill>
              <a:latin typeface="Times New Roman" panose="02020603050405020304" pitchFamily="18" charset="0"/>
              <a:ea typeface="+mn-ea"/>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8E49C977-52E4-E054-2168-94C4A07A0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3EE9898C-DB50-485F-AD89-53C667C98387}"/>
              </a:ext>
            </a:extLst>
          </p:cNvPr>
          <p:cNvSpPr/>
          <p:nvPr/>
        </p:nvSpPr>
        <p:spPr>
          <a:xfrm>
            <a:off x="1841500" y="2828925"/>
            <a:ext cx="174625" cy="10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064D9724-1192-402E-A60B-46317FDAAE00}"/>
              </a:ext>
            </a:extLst>
          </p:cNvPr>
          <p:cNvSpPr/>
          <p:nvPr/>
        </p:nvSpPr>
        <p:spPr>
          <a:xfrm>
            <a:off x="1841500" y="2972698"/>
            <a:ext cx="174625" cy="1419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900889C1-3E09-4857-852F-CED6F6583E99}"/>
              </a:ext>
            </a:extLst>
          </p:cNvPr>
          <p:cNvSpPr txBox="1"/>
          <p:nvPr/>
        </p:nvSpPr>
        <p:spPr>
          <a:xfrm>
            <a:off x="158316" y="876268"/>
            <a:ext cx="11720974" cy="738664"/>
          </a:xfrm>
          <a:prstGeom prst="rect">
            <a:avLst/>
          </a:prstGeom>
          <a:noFill/>
        </p:spPr>
        <p:txBody>
          <a:bodyPr wrap="square" rtlCol="0">
            <a:spAutoFit/>
          </a:bodyPr>
          <a:lstStyle/>
          <a:p>
            <a:pPr marL="285750" indent="-285750" algn="just">
              <a:buFont typeface="Arial" panose="020B0604020202020204" pitchFamily="34" charset="0"/>
              <a:buChar char="•"/>
            </a:pPr>
            <a:r>
              <a:rPr lang="en-US" sz="2100" dirty="0"/>
              <a:t>In SC-I, a capacitor alternately connects between two nodes. It charges to one voltage and discharges to another.  </a:t>
            </a:r>
          </a:p>
        </p:txBody>
      </p:sp>
      <p:pic>
        <p:nvPicPr>
          <p:cNvPr id="7" name="Picture 6">
            <a:extLst>
              <a:ext uri="{FF2B5EF4-FFF2-40B4-BE49-F238E27FC236}">
                <a16:creationId xmlns:a16="http://schemas.microsoft.com/office/drawing/2014/main" id="{5C25EF3B-4DC1-4CD6-9C2E-7CDF32F777FB}"/>
              </a:ext>
            </a:extLst>
          </p:cNvPr>
          <p:cNvPicPr>
            <a:picLocks noChangeAspect="1"/>
          </p:cNvPicPr>
          <p:nvPr/>
        </p:nvPicPr>
        <p:blipFill>
          <a:blip r:embed="rId3"/>
          <a:stretch>
            <a:fillRect/>
          </a:stretch>
        </p:blipFill>
        <p:spPr>
          <a:xfrm>
            <a:off x="2614612" y="3895725"/>
            <a:ext cx="6962775" cy="2962275"/>
          </a:xfrm>
          <a:prstGeom prst="rect">
            <a:avLst/>
          </a:prstGeom>
        </p:spPr>
      </p:pic>
      <p:pic>
        <p:nvPicPr>
          <p:cNvPr id="4" name="Picture 3">
            <a:extLst>
              <a:ext uri="{FF2B5EF4-FFF2-40B4-BE49-F238E27FC236}">
                <a16:creationId xmlns:a16="http://schemas.microsoft.com/office/drawing/2014/main" id="{B6C352CE-1447-4D0E-98BE-919CD7956C6B}"/>
              </a:ext>
            </a:extLst>
          </p:cNvPr>
          <p:cNvPicPr>
            <a:picLocks noChangeAspect="1"/>
          </p:cNvPicPr>
          <p:nvPr/>
        </p:nvPicPr>
        <p:blipFill>
          <a:blip r:embed="rId4"/>
          <a:stretch>
            <a:fillRect/>
          </a:stretch>
        </p:blipFill>
        <p:spPr>
          <a:xfrm>
            <a:off x="1130300" y="1814033"/>
            <a:ext cx="1771650" cy="390525"/>
          </a:xfrm>
          <a:prstGeom prst="rect">
            <a:avLst/>
          </a:prstGeom>
        </p:spPr>
      </p:pic>
      <p:pic>
        <p:nvPicPr>
          <p:cNvPr id="5" name="Picture 4">
            <a:extLst>
              <a:ext uri="{FF2B5EF4-FFF2-40B4-BE49-F238E27FC236}">
                <a16:creationId xmlns:a16="http://schemas.microsoft.com/office/drawing/2014/main" id="{8CF608CD-864A-4497-8774-CA39A5F441DB}"/>
              </a:ext>
            </a:extLst>
          </p:cNvPr>
          <p:cNvPicPr>
            <a:picLocks noChangeAspect="1"/>
          </p:cNvPicPr>
          <p:nvPr/>
        </p:nvPicPr>
        <p:blipFill>
          <a:blip r:embed="rId5"/>
          <a:stretch>
            <a:fillRect/>
          </a:stretch>
        </p:blipFill>
        <p:spPr>
          <a:xfrm>
            <a:off x="796925" y="2361456"/>
            <a:ext cx="4210050" cy="828675"/>
          </a:xfrm>
          <a:prstGeom prst="rect">
            <a:avLst/>
          </a:prstGeom>
        </p:spPr>
      </p:pic>
      <p:pic>
        <p:nvPicPr>
          <p:cNvPr id="6" name="Picture 5">
            <a:extLst>
              <a:ext uri="{FF2B5EF4-FFF2-40B4-BE49-F238E27FC236}">
                <a16:creationId xmlns:a16="http://schemas.microsoft.com/office/drawing/2014/main" id="{8100E562-39A1-4465-8DB4-ED40A621D7A4}"/>
              </a:ext>
            </a:extLst>
          </p:cNvPr>
          <p:cNvPicPr>
            <a:picLocks noChangeAspect="1"/>
          </p:cNvPicPr>
          <p:nvPr/>
        </p:nvPicPr>
        <p:blipFill>
          <a:blip r:embed="rId6"/>
          <a:stretch>
            <a:fillRect/>
          </a:stretch>
        </p:blipFill>
        <p:spPr>
          <a:xfrm>
            <a:off x="1081087" y="3347029"/>
            <a:ext cx="3067050" cy="876300"/>
          </a:xfrm>
          <a:prstGeom prst="rect">
            <a:avLst/>
          </a:prstGeom>
        </p:spPr>
      </p:pic>
    </p:spTree>
    <p:extLst>
      <p:ext uri="{BB962C8B-B14F-4D97-AF65-F5344CB8AC3E}">
        <p14:creationId xmlns:p14="http://schemas.microsoft.com/office/powerpoint/2010/main" val="12397770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F48352A-BEC7-4E52-BA84-54250E1AC55A}"/>
              </a:ext>
            </a:extLst>
          </p:cNvPr>
          <p:cNvSpPr>
            <a:spLocks noGrp="1"/>
          </p:cNvSpPr>
          <p:nvPr>
            <p:ph idx="1"/>
          </p:nvPr>
        </p:nvSpPr>
        <p:spPr>
          <a:xfrm>
            <a:off x="806652" y="358727"/>
            <a:ext cx="10515600" cy="4351338"/>
          </a:xfrm>
        </p:spPr>
        <p:txBody>
          <a:bodyPr/>
          <a:lstStyle/>
          <a:p>
            <a:r>
              <a:rPr lang="en-IN" dirty="0"/>
              <a:t>The second form of switched capacitor is shown in Fig.</a:t>
            </a:r>
          </a:p>
          <a:p>
            <a:r>
              <a:rPr lang="en-US" dirty="0"/>
              <a:t>In this arrangement, during the ON period of switch S1, the capacitor C is charged with respect to voltage V1. When S1 is OFF and S2 is ON, the effective charge C(V1 - V2) is transferred. This delivery of charge occurs for every sampling interval </a:t>
            </a:r>
            <a:r>
              <a:rPr lang="en-US" dirty="0" err="1"/>
              <a:t>Tck</a:t>
            </a:r>
            <a:r>
              <a:rPr lang="en-US" dirty="0"/>
              <a:t>. Thus, the average current </a:t>
            </a:r>
            <a:r>
              <a:rPr lang="en-US" dirty="0" err="1"/>
              <a:t>i</a:t>
            </a:r>
            <a:r>
              <a:rPr lang="en-US" dirty="0"/>
              <a:t> flowing through the capacitor C is given by,</a:t>
            </a:r>
            <a:endParaRPr lang="en-IN" dirty="0"/>
          </a:p>
        </p:txBody>
      </p:sp>
      <p:pic>
        <p:nvPicPr>
          <p:cNvPr id="3" name="Picture 2">
            <a:extLst>
              <a:ext uri="{FF2B5EF4-FFF2-40B4-BE49-F238E27FC236}">
                <a16:creationId xmlns:a16="http://schemas.microsoft.com/office/drawing/2014/main" id="{8D79E352-D68E-4845-B189-289DB45160B5}"/>
              </a:ext>
            </a:extLst>
          </p:cNvPr>
          <p:cNvPicPr>
            <a:picLocks noChangeAspect="1"/>
          </p:cNvPicPr>
          <p:nvPr/>
        </p:nvPicPr>
        <p:blipFill>
          <a:blip r:embed="rId2"/>
          <a:stretch>
            <a:fillRect/>
          </a:stretch>
        </p:blipFill>
        <p:spPr>
          <a:xfrm>
            <a:off x="1335363" y="4233862"/>
            <a:ext cx="10049985" cy="2265411"/>
          </a:xfrm>
          <a:prstGeom prst="rect">
            <a:avLst/>
          </a:prstGeom>
        </p:spPr>
      </p:pic>
      <p:pic>
        <p:nvPicPr>
          <p:cNvPr id="4" name="Picture 3">
            <a:extLst>
              <a:ext uri="{FF2B5EF4-FFF2-40B4-BE49-F238E27FC236}">
                <a16:creationId xmlns:a16="http://schemas.microsoft.com/office/drawing/2014/main" id="{359DCCCE-3400-47E6-A570-43C830BB007C}"/>
              </a:ext>
            </a:extLst>
          </p:cNvPr>
          <p:cNvPicPr>
            <a:picLocks noChangeAspect="1"/>
          </p:cNvPicPr>
          <p:nvPr/>
        </p:nvPicPr>
        <p:blipFill>
          <a:blip r:embed="rId3"/>
          <a:stretch>
            <a:fillRect/>
          </a:stretch>
        </p:blipFill>
        <p:spPr>
          <a:xfrm>
            <a:off x="2306588" y="3019424"/>
            <a:ext cx="2810151" cy="1214437"/>
          </a:xfrm>
          <a:prstGeom prst="rect">
            <a:avLst/>
          </a:prstGeom>
        </p:spPr>
      </p:pic>
      <p:pic>
        <p:nvPicPr>
          <p:cNvPr id="5" name="Picture 4">
            <a:extLst>
              <a:ext uri="{FF2B5EF4-FFF2-40B4-BE49-F238E27FC236}">
                <a16:creationId xmlns:a16="http://schemas.microsoft.com/office/drawing/2014/main" id="{3EA78D42-D258-4E28-9F45-D073E1FD6E29}"/>
              </a:ext>
            </a:extLst>
          </p:cNvPr>
          <p:cNvPicPr>
            <a:picLocks noChangeAspect="1"/>
          </p:cNvPicPr>
          <p:nvPr/>
        </p:nvPicPr>
        <p:blipFill>
          <a:blip r:embed="rId4"/>
          <a:stretch>
            <a:fillRect/>
          </a:stretch>
        </p:blipFill>
        <p:spPr>
          <a:xfrm>
            <a:off x="5898246" y="3029975"/>
            <a:ext cx="3931664" cy="1021520"/>
          </a:xfrm>
          <a:prstGeom prst="rect">
            <a:avLst/>
          </a:prstGeom>
        </p:spPr>
      </p:pic>
    </p:spTree>
    <p:extLst>
      <p:ext uri="{BB962C8B-B14F-4D97-AF65-F5344CB8AC3E}">
        <p14:creationId xmlns:p14="http://schemas.microsoft.com/office/powerpoint/2010/main" val="23927925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F48352A-BEC7-4E52-BA84-54250E1AC55A}"/>
              </a:ext>
            </a:extLst>
          </p:cNvPr>
          <p:cNvSpPr>
            <a:spLocks noGrp="1"/>
          </p:cNvSpPr>
          <p:nvPr>
            <p:ph idx="1"/>
          </p:nvPr>
        </p:nvSpPr>
        <p:spPr>
          <a:xfrm>
            <a:off x="806652" y="358727"/>
            <a:ext cx="10515600" cy="2665827"/>
          </a:xfrm>
        </p:spPr>
        <p:txBody>
          <a:bodyPr/>
          <a:lstStyle/>
          <a:p>
            <a:r>
              <a:rPr lang="en-IN" dirty="0"/>
              <a:t>The</a:t>
            </a:r>
          </a:p>
        </p:txBody>
      </p:sp>
      <p:pic>
        <p:nvPicPr>
          <p:cNvPr id="2" name="Picture 1">
            <a:extLst>
              <a:ext uri="{FF2B5EF4-FFF2-40B4-BE49-F238E27FC236}">
                <a16:creationId xmlns:a16="http://schemas.microsoft.com/office/drawing/2014/main" id="{4C13B498-0210-455E-81EB-D2A96467D187}"/>
              </a:ext>
            </a:extLst>
          </p:cNvPr>
          <p:cNvPicPr>
            <a:picLocks noChangeAspect="1"/>
          </p:cNvPicPr>
          <p:nvPr/>
        </p:nvPicPr>
        <p:blipFill>
          <a:blip r:embed="rId2"/>
          <a:stretch>
            <a:fillRect/>
          </a:stretch>
        </p:blipFill>
        <p:spPr>
          <a:xfrm>
            <a:off x="1483408" y="4051495"/>
            <a:ext cx="8829675" cy="2867025"/>
          </a:xfrm>
          <a:prstGeom prst="rect">
            <a:avLst/>
          </a:prstGeom>
        </p:spPr>
      </p:pic>
      <p:pic>
        <p:nvPicPr>
          <p:cNvPr id="7" name="Picture 6">
            <a:extLst>
              <a:ext uri="{FF2B5EF4-FFF2-40B4-BE49-F238E27FC236}">
                <a16:creationId xmlns:a16="http://schemas.microsoft.com/office/drawing/2014/main" id="{59A7A7C0-5522-44B1-8258-4A5FDB268D45}"/>
              </a:ext>
            </a:extLst>
          </p:cNvPr>
          <p:cNvPicPr>
            <a:picLocks noChangeAspect="1"/>
          </p:cNvPicPr>
          <p:nvPr/>
        </p:nvPicPr>
        <p:blipFill>
          <a:blip r:embed="rId3"/>
          <a:stretch>
            <a:fillRect/>
          </a:stretch>
        </p:blipFill>
        <p:spPr>
          <a:xfrm>
            <a:off x="806652" y="1005840"/>
            <a:ext cx="4505325" cy="1371600"/>
          </a:xfrm>
          <a:prstGeom prst="rect">
            <a:avLst/>
          </a:prstGeom>
        </p:spPr>
      </p:pic>
      <p:pic>
        <p:nvPicPr>
          <p:cNvPr id="8" name="Picture 7">
            <a:extLst>
              <a:ext uri="{FF2B5EF4-FFF2-40B4-BE49-F238E27FC236}">
                <a16:creationId xmlns:a16="http://schemas.microsoft.com/office/drawing/2014/main" id="{B31FEB5B-AF30-4A5E-B6DE-E53185BC8891}"/>
              </a:ext>
            </a:extLst>
          </p:cNvPr>
          <p:cNvPicPr>
            <a:picLocks noChangeAspect="1"/>
          </p:cNvPicPr>
          <p:nvPr/>
        </p:nvPicPr>
        <p:blipFill>
          <a:blip r:embed="rId4"/>
          <a:stretch>
            <a:fillRect/>
          </a:stretch>
        </p:blipFill>
        <p:spPr>
          <a:xfrm>
            <a:off x="1135380" y="2176535"/>
            <a:ext cx="1143000" cy="714375"/>
          </a:xfrm>
          <a:prstGeom prst="rect">
            <a:avLst/>
          </a:prstGeom>
        </p:spPr>
      </p:pic>
      <p:pic>
        <p:nvPicPr>
          <p:cNvPr id="9" name="Picture 8">
            <a:extLst>
              <a:ext uri="{FF2B5EF4-FFF2-40B4-BE49-F238E27FC236}">
                <a16:creationId xmlns:a16="http://schemas.microsoft.com/office/drawing/2014/main" id="{F134C248-01FE-43FC-9552-086355B14E5C}"/>
              </a:ext>
            </a:extLst>
          </p:cNvPr>
          <p:cNvPicPr>
            <a:picLocks noChangeAspect="1"/>
          </p:cNvPicPr>
          <p:nvPr/>
        </p:nvPicPr>
        <p:blipFill>
          <a:blip r:embed="rId5"/>
          <a:stretch>
            <a:fillRect/>
          </a:stretch>
        </p:blipFill>
        <p:spPr>
          <a:xfrm>
            <a:off x="582930" y="2985574"/>
            <a:ext cx="3390900" cy="1209675"/>
          </a:xfrm>
          <a:prstGeom prst="rect">
            <a:avLst/>
          </a:prstGeom>
        </p:spPr>
      </p:pic>
    </p:spTree>
    <p:extLst>
      <p:ext uri="{BB962C8B-B14F-4D97-AF65-F5344CB8AC3E}">
        <p14:creationId xmlns:p14="http://schemas.microsoft.com/office/powerpoint/2010/main" val="19945745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AF48352A-BEC7-4E52-BA84-54250E1AC55A}"/>
              </a:ext>
            </a:extLst>
          </p:cNvPr>
          <p:cNvSpPr>
            <a:spLocks noGrp="1"/>
          </p:cNvSpPr>
          <p:nvPr>
            <p:ph idx="1"/>
          </p:nvPr>
        </p:nvSpPr>
        <p:spPr>
          <a:xfrm>
            <a:off x="806652" y="358727"/>
            <a:ext cx="10515600" cy="6240856"/>
          </a:xfrm>
        </p:spPr>
        <p:txBody>
          <a:bodyPr>
            <a:normAutofit lnSpcReduction="10000"/>
          </a:bodyPr>
          <a:lstStyle/>
          <a:p>
            <a:r>
              <a:rPr lang="en-US" dirty="0"/>
              <a:t>To </a:t>
            </a:r>
            <a:r>
              <a:rPr lang="en-US" dirty="0" err="1"/>
              <a:t>summarise</a:t>
            </a:r>
            <a:r>
              <a:rPr lang="en-US" dirty="0"/>
              <a:t> the features of SC integrator,</a:t>
            </a:r>
          </a:p>
          <a:p>
            <a:r>
              <a:rPr lang="en-US" dirty="0"/>
              <a:t> (</a:t>
            </a:r>
            <a:r>
              <a:rPr lang="en-US" dirty="0" err="1"/>
              <a:t>i</a:t>
            </a:r>
            <a:r>
              <a:rPr lang="en-US" dirty="0"/>
              <a:t>) there are no resistors involved as necessitated for IC fabrication.</a:t>
            </a:r>
          </a:p>
          <a:p>
            <a:r>
              <a:rPr lang="en-US" dirty="0"/>
              <a:t> (ii) the unity gain frequency </a:t>
            </a:r>
            <a:r>
              <a:rPr lang="en-US" dirty="0" err="1"/>
              <a:t>fo</a:t>
            </a:r>
            <a:r>
              <a:rPr lang="en-US" dirty="0"/>
              <a:t> is determined by capacitance ratios, which are easier to control and maintain in present-day IC technology.</a:t>
            </a:r>
          </a:p>
          <a:p>
            <a:r>
              <a:rPr lang="en-US" dirty="0"/>
              <a:t> (iii) the unity gain frequency </a:t>
            </a:r>
            <a:r>
              <a:rPr lang="en-US" dirty="0" err="1"/>
              <a:t>fo</a:t>
            </a:r>
            <a:r>
              <a:rPr lang="en-US" dirty="0"/>
              <a:t> is proportional to the clock frequency </a:t>
            </a:r>
            <a:r>
              <a:rPr lang="en-US" dirty="0" err="1"/>
              <a:t>fck</a:t>
            </a:r>
            <a:r>
              <a:rPr lang="en-US" dirty="0"/>
              <a:t> , thus proving that the SC filters are of programmable type.</a:t>
            </a:r>
          </a:p>
          <a:p>
            <a:r>
              <a:rPr lang="en-US" dirty="0"/>
              <a:t>The practical limitations of SC filters are as follows:</a:t>
            </a:r>
          </a:p>
          <a:p>
            <a:r>
              <a:rPr lang="en-US" dirty="0"/>
              <a:t> (</a:t>
            </a:r>
            <a:r>
              <a:rPr lang="en-US" dirty="0" err="1"/>
              <a:t>i</a:t>
            </a:r>
            <a:r>
              <a:rPr lang="en-US" dirty="0"/>
              <a:t>) The values of </a:t>
            </a:r>
            <a:r>
              <a:rPr lang="en-US" dirty="0" err="1"/>
              <a:t>fck</a:t>
            </a:r>
            <a:r>
              <a:rPr lang="en-US" dirty="0"/>
              <a:t> are not unlimited, which is controlled by the quality of MOS switches, and the speed of op-amp employed. Practical values of </a:t>
            </a:r>
            <a:r>
              <a:rPr lang="en-US" dirty="0" err="1"/>
              <a:t>fck</a:t>
            </a:r>
            <a:r>
              <a:rPr lang="en-US" dirty="0"/>
              <a:t> are in MHz range.</a:t>
            </a:r>
          </a:p>
          <a:p>
            <a:r>
              <a:rPr lang="en-US" dirty="0"/>
              <a:t> (ii) The lower limit of </a:t>
            </a:r>
            <a:r>
              <a:rPr lang="en-US" dirty="0" err="1"/>
              <a:t>fck</a:t>
            </a:r>
            <a:r>
              <a:rPr lang="en-US" dirty="0"/>
              <a:t> is dictated by the leakage currents in MOS switches and the input bias currents of op-amp. Hence, the minimum possible </a:t>
            </a:r>
            <a:r>
              <a:rPr lang="en-US" dirty="0" err="1"/>
              <a:t>fck</a:t>
            </a:r>
            <a:r>
              <a:rPr lang="en-US" dirty="0"/>
              <a:t> range is typically 100 Hz.</a:t>
            </a:r>
          </a:p>
          <a:p>
            <a:r>
              <a:rPr lang="en-US" dirty="0"/>
              <a:t> (iii) The SC filters are discrete-time operated. </a:t>
            </a:r>
            <a:endParaRPr lang="en-IN" dirty="0"/>
          </a:p>
        </p:txBody>
      </p:sp>
    </p:spTree>
    <p:extLst>
      <p:ext uri="{BB962C8B-B14F-4D97-AF65-F5344CB8AC3E}">
        <p14:creationId xmlns:p14="http://schemas.microsoft.com/office/powerpoint/2010/main" val="1965245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775691A-E999-492A-85DE-5E54363773CF}"/>
              </a:ext>
            </a:extLst>
          </p:cNvPr>
          <p:cNvPicPr>
            <a:picLocks noChangeAspect="1"/>
          </p:cNvPicPr>
          <p:nvPr/>
        </p:nvPicPr>
        <p:blipFill>
          <a:blip r:embed="rId2"/>
          <a:stretch>
            <a:fillRect/>
          </a:stretch>
        </p:blipFill>
        <p:spPr>
          <a:xfrm>
            <a:off x="1108834" y="227564"/>
            <a:ext cx="9020175" cy="4600575"/>
          </a:xfrm>
          <a:prstGeom prst="rect">
            <a:avLst/>
          </a:prstGeom>
        </p:spPr>
      </p:pic>
    </p:spTree>
    <p:extLst>
      <p:ext uri="{BB962C8B-B14F-4D97-AF65-F5344CB8AC3E}">
        <p14:creationId xmlns:p14="http://schemas.microsoft.com/office/powerpoint/2010/main" val="2234070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5788</TotalTime>
  <Words>3414</Words>
  <Application>Microsoft Office PowerPoint</Application>
  <PresentationFormat>Widescreen</PresentationFormat>
  <Paragraphs>283</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Aptos</vt:lpstr>
      <vt:lpstr>Aptos Display</vt:lpstr>
      <vt:lpstr>Arial</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Allam Akshayakranth</dc:creator>
  <cp:lastModifiedBy>M S Krishna</cp:lastModifiedBy>
  <cp:revision>399</cp:revision>
  <dcterms:created xsi:type="dcterms:W3CDTF">2024-12-18T15:58:50Z</dcterms:created>
  <dcterms:modified xsi:type="dcterms:W3CDTF">2026-04-15T06:28:40Z</dcterms:modified>
</cp:coreProperties>
</file>