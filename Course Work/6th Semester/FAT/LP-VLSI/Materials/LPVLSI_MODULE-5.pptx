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Lst>
  <p:notesMasterIdLst>
    <p:notesMasterId r:id="rId85"/>
  </p:notesMasterIdLst>
  <p:sldIdLst>
    <p:sldId id="256" r:id="rId2"/>
    <p:sldId id="555" r:id="rId3"/>
    <p:sldId id="257" r:id="rId4"/>
    <p:sldId id="702" r:id="rId5"/>
    <p:sldId id="558" r:id="rId6"/>
    <p:sldId id="682" r:id="rId7"/>
    <p:sldId id="683" r:id="rId8"/>
    <p:sldId id="684" r:id="rId9"/>
    <p:sldId id="685" r:id="rId10"/>
    <p:sldId id="686" r:id="rId11"/>
    <p:sldId id="687" r:id="rId12"/>
    <p:sldId id="688" r:id="rId13"/>
    <p:sldId id="689" r:id="rId14"/>
    <p:sldId id="690" r:id="rId15"/>
    <p:sldId id="691" r:id="rId16"/>
    <p:sldId id="692" r:id="rId17"/>
    <p:sldId id="693" r:id="rId18"/>
    <p:sldId id="694" r:id="rId19"/>
    <p:sldId id="730" r:id="rId20"/>
    <p:sldId id="731" r:id="rId21"/>
    <p:sldId id="732" r:id="rId22"/>
    <p:sldId id="733" r:id="rId23"/>
    <p:sldId id="722" r:id="rId24"/>
    <p:sldId id="723" r:id="rId25"/>
    <p:sldId id="724" r:id="rId26"/>
    <p:sldId id="725" r:id="rId27"/>
    <p:sldId id="726" r:id="rId28"/>
    <p:sldId id="727" r:id="rId29"/>
    <p:sldId id="728" r:id="rId30"/>
    <p:sldId id="729" r:id="rId31"/>
    <p:sldId id="695" r:id="rId32"/>
    <p:sldId id="278" r:id="rId33"/>
    <p:sldId id="280" r:id="rId34"/>
    <p:sldId id="281" r:id="rId35"/>
    <p:sldId id="282" r:id="rId36"/>
    <p:sldId id="283" r:id="rId37"/>
    <p:sldId id="284" r:id="rId38"/>
    <p:sldId id="696" r:id="rId39"/>
    <p:sldId id="697" r:id="rId40"/>
    <p:sldId id="698" r:id="rId41"/>
    <p:sldId id="699" r:id="rId42"/>
    <p:sldId id="700" r:id="rId43"/>
    <p:sldId id="701" r:id="rId44"/>
    <p:sldId id="740" r:id="rId45"/>
    <p:sldId id="741" r:id="rId46"/>
    <p:sldId id="742" r:id="rId47"/>
    <p:sldId id="734" r:id="rId48"/>
    <p:sldId id="735" r:id="rId49"/>
    <p:sldId id="736" r:id="rId50"/>
    <p:sldId id="737" r:id="rId51"/>
    <p:sldId id="738" r:id="rId52"/>
    <p:sldId id="743" r:id="rId53"/>
    <p:sldId id="739" r:id="rId54"/>
    <p:sldId id="745" r:id="rId55"/>
    <p:sldId id="746" r:id="rId56"/>
    <p:sldId id="747" r:id="rId57"/>
    <p:sldId id="748" r:id="rId58"/>
    <p:sldId id="749" r:id="rId59"/>
    <p:sldId id="750" r:id="rId60"/>
    <p:sldId id="751" r:id="rId61"/>
    <p:sldId id="752" r:id="rId62"/>
    <p:sldId id="744" r:id="rId63"/>
    <p:sldId id="753" r:id="rId64"/>
    <p:sldId id="703" r:id="rId65"/>
    <p:sldId id="704" r:id="rId66"/>
    <p:sldId id="705" r:id="rId67"/>
    <p:sldId id="707" r:id="rId68"/>
    <p:sldId id="706" r:id="rId69"/>
    <p:sldId id="708" r:id="rId70"/>
    <p:sldId id="709" r:id="rId71"/>
    <p:sldId id="710" r:id="rId72"/>
    <p:sldId id="711" r:id="rId73"/>
    <p:sldId id="712" r:id="rId74"/>
    <p:sldId id="713" r:id="rId75"/>
    <p:sldId id="714" r:id="rId76"/>
    <p:sldId id="715" r:id="rId77"/>
    <p:sldId id="716" r:id="rId78"/>
    <p:sldId id="717" r:id="rId79"/>
    <p:sldId id="718" r:id="rId80"/>
    <p:sldId id="719" r:id="rId81"/>
    <p:sldId id="720" r:id="rId82"/>
    <p:sldId id="721" r:id="rId83"/>
    <p:sldId id="270"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94660"/>
  </p:normalViewPr>
  <p:slideViewPr>
    <p:cSldViewPr snapToGrid="0">
      <p:cViewPr varScale="1">
        <p:scale>
          <a:sx n="68" d="100"/>
          <a:sy n="68" d="100"/>
        </p:scale>
        <p:origin x="654"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C73D7-7640-40F9-8434-A0F03C5760E6}" type="datetimeFigureOut">
              <a:rPr lang="en-IN" smtClean="0"/>
              <a:pPr/>
              <a:t>07-05-2026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2B883-0CBF-46F6-B001-F5F9F89E9899}" type="slidenum">
              <a:rPr lang="en-IN" smtClean="0"/>
              <a:pPr/>
              <a:t>‹#›</a:t>
            </a:fld>
            <a:endParaRPr lang="en-IN"/>
          </a:p>
        </p:txBody>
      </p:sp>
    </p:spTree>
    <p:extLst>
      <p:ext uri="{BB962C8B-B14F-4D97-AF65-F5344CB8AC3E}">
        <p14:creationId xmlns:p14="http://schemas.microsoft.com/office/powerpoint/2010/main" val="3170261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793FC6-7D19-42F4-A915-A22E318BB010}" type="datetime1">
              <a:rPr lang="en-IN" smtClean="0"/>
              <a:pPr/>
              <a:t>07-05-2026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65337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11B98C-9C5A-4162-993F-316E4E6C62BB}" type="datetime1">
              <a:rPr lang="en-IN" smtClean="0"/>
              <a:pPr/>
              <a:t>07-05-2026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858345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9ED1CE-D0E4-49F6-AA4E-0C3DE4D5CA9F}" type="datetime1">
              <a:rPr lang="en-IN" smtClean="0"/>
              <a:pPr/>
              <a:t>07-05-2026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13757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6DC15E-93BC-4995-B67D-673FA7BA3E92}" type="datetime1">
              <a:rPr lang="en-IN" smtClean="0"/>
              <a:pPr/>
              <a:t>07-05-2026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48977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90AC8C-1DD9-4769-A93E-CB9191A82FBE}" type="datetime1">
              <a:rPr lang="en-IN" smtClean="0"/>
              <a:pPr/>
              <a:t>07-05-2026</a:t>
            </a:fld>
            <a:endParaRPr lang="en-IN"/>
          </a:p>
        </p:txBody>
      </p:sp>
      <p:sp>
        <p:nvSpPr>
          <p:cNvPr id="8" name="Footer Placeholder 7"/>
          <p:cNvSpPr>
            <a:spLocks noGrp="1"/>
          </p:cNvSpPr>
          <p:nvPr>
            <p:ph type="ftr" sz="quarter" idx="11"/>
          </p:nvPr>
        </p:nvSpPr>
        <p:spPr/>
        <p:txBody>
          <a:bodyPr/>
          <a:lstStyle/>
          <a:p>
            <a:r>
              <a:rPr lang="en-IN" dirty="0"/>
              <a:t>Dr. Aruru Sai Kumar , VIT-AP</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94879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49D4AB-23A7-43B1-AC37-7A69E1B162CB}" type="datetime1">
              <a:rPr lang="en-IN" smtClean="0"/>
              <a:pPr/>
              <a:t>07-05-2026</a:t>
            </a:fld>
            <a:endParaRPr lang="en-IN"/>
          </a:p>
        </p:txBody>
      </p:sp>
      <p:sp>
        <p:nvSpPr>
          <p:cNvPr id="4" name="Footer Placeholder 3"/>
          <p:cNvSpPr>
            <a:spLocks noGrp="1"/>
          </p:cNvSpPr>
          <p:nvPr>
            <p:ph type="ftr" sz="quarter" idx="11"/>
          </p:nvPr>
        </p:nvSpPr>
        <p:spPr/>
        <p:txBody>
          <a:bodyPr/>
          <a:lstStyle/>
          <a:p>
            <a:r>
              <a:rPr lang="en-IN" dirty="0"/>
              <a:t>Dr. Aruru Sai Kumar , VIT-AP</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88461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DFFC48-1A3A-47F9-AB3E-F0A947B0BE83}" type="datetime1">
              <a:rPr lang="en-IN" smtClean="0"/>
              <a:pPr/>
              <a:t>07-05-2026</a:t>
            </a:fld>
            <a:endParaRPr lang="en-IN"/>
          </a:p>
        </p:txBody>
      </p:sp>
      <p:sp>
        <p:nvSpPr>
          <p:cNvPr id="3" name="Footer Placeholder 2"/>
          <p:cNvSpPr>
            <a:spLocks noGrp="1"/>
          </p:cNvSpPr>
          <p:nvPr>
            <p:ph type="ftr" sz="quarter" idx="11"/>
          </p:nvPr>
        </p:nvSpPr>
        <p:spPr/>
        <p:txBody>
          <a:bodyPr/>
          <a:lstStyle/>
          <a:p>
            <a:r>
              <a:rPr lang="en-IN" dirty="0"/>
              <a:t>Dr. Aruru Sai Kumar , VIT-AP</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1223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0B7AB3-5AA6-4B2A-A848-6B9056B8F888}" type="datetime1">
              <a:rPr lang="en-IN" smtClean="0"/>
              <a:pPr/>
              <a:t>07-05-2026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787837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62A0A8-2993-4F46-873E-B317420EEF1D}" type="datetime1">
              <a:rPr lang="en-IN" smtClean="0"/>
              <a:pPr/>
              <a:t>07-05-2026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005223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4AF5B2-9161-484D-941E-09E7D7D8822D}" type="datetime1">
              <a:rPr lang="en-IN" smtClean="0"/>
              <a:pPr/>
              <a:t>07-05-2026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27654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02EE73-49A5-4032-8312-39A4654D8975}" type="datetime1">
              <a:rPr lang="en-IN" smtClean="0"/>
              <a:pPr/>
              <a:t>07-05-2026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77853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13B1249-61C8-4A7F-8E7B-53A384F44D16}" type="datetime1">
              <a:rPr lang="en-IN" smtClean="0"/>
              <a:pPr/>
              <a:t>07-05-2026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8125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433059DD-5442-4AC6-B4D8-568940477A5F}" type="datetime1">
              <a:rPr lang="en-IN" smtClean="0"/>
              <a:pPr/>
              <a:t>07-05-2026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93744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A093278-5D43-45AE-BD96-13E9B97C202A}" type="datetime1">
              <a:rPr lang="en-IN" smtClean="0"/>
              <a:pPr/>
              <a:t>07-05-2026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7826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0D21C-79F6-4EA2-9761-2BBE3077020C}" type="datetime1">
              <a:rPr lang="en-IN" smtClean="0"/>
              <a:pPr/>
              <a:t>07-05-2026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7847754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744E18-DFA2-43E5-8F6D-0DBE05038609}" type="datetime1">
              <a:rPr lang="en-IN" smtClean="0"/>
              <a:pPr/>
              <a:t>07-05-2026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86937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31D4EE5-909F-48DF-A25F-F957D1B95CC9}" type="datetime1">
              <a:rPr lang="en-IN" smtClean="0"/>
              <a:pPr/>
              <a:t>07-05-2026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dirty="0"/>
              <a:t>Dr. Aruru Sai Kumar , VIT-AP</a:t>
            </a: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3660945311"/>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3367" y="997089"/>
            <a:ext cx="8911687" cy="1280890"/>
          </a:xfrm>
        </p:spPr>
        <p:txBody>
          <a:bodyPr>
            <a:normAutofit/>
          </a:bodyPr>
          <a:lstStyle/>
          <a:p>
            <a:pPr algn="ctr"/>
            <a:r>
              <a:rPr lang="en-US" sz="3000" b="1" dirty="0">
                <a:solidFill>
                  <a:srgbClr val="FF0000"/>
                </a:solidFill>
                <a:latin typeface="Times New Roman" panose="02020603050405020304" pitchFamily="18" charset="0"/>
                <a:cs typeface="Times New Roman" panose="02020603050405020304" pitchFamily="18" charset="0"/>
              </a:rPr>
              <a:t>Low Power VLSI Design</a:t>
            </a:r>
            <a:endParaRPr lang="en-IN" sz="30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44299" y="1919285"/>
            <a:ext cx="10278207" cy="4399085"/>
          </a:xfrm>
        </p:spPr>
        <p:txBody>
          <a:bodyPr/>
          <a:lstStyle/>
          <a:p>
            <a:pPr marL="0" indent="0" algn="ctr">
              <a:buNone/>
            </a:pPr>
            <a:r>
              <a:rPr lang="en-IN" b="1" dirty="0"/>
              <a:t>By</a:t>
            </a:r>
          </a:p>
          <a:p>
            <a:pPr marL="0" indent="0" algn="ctr">
              <a:buNone/>
            </a:pPr>
            <a:endParaRPr lang="en-IN" dirty="0"/>
          </a:p>
          <a:p>
            <a:pPr marL="0" indent="0" algn="ctr">
              <a:buNone/>
            </a:pPr>
            <a:r>
              <a:rPr lang="en-IN" sz="2000" b="1" dirty="0"/>
              <a:t>Dr. Aruru Sai Kumar</a:t>
            </a:r>
          </a:p>
          <a:p>
            <a:pPr marL="0" indent="0" algn="ctr">
              <a:buNone/>
            </a:pPr>
            <a:r>
              <a:rPr lang="en-IN" sz="2000" b="1" dirty="0"/>
              <a:t>Assistant Professor Sr. Grade -2</a:t>
            </a:r>
          </a:p>
          <a:p>
            <a:pPr marL="0" indent="0" algn="ctr">
              <a:buNone/>
            </a:pPr>
            <a:r>
              <a:rPr lang="en-IN" sz="2000" b="1" dirty="0"/>
              <a:t>School of Electronics Engineering (SENSE)</a:t>
            </a:r>
          </a:p>
          <a:p>
            <a:pPr marL="0" indent="0" algn="ctr">
              <a:buNone/>
            </a:pPr>
            <a:endParaRPr lang="en-IN" b="1" dirty="0"/>
          </a:p>
          <a:p>
            <a:pPr marL="0" indent="0" algn="ctr">
              <a:buNone/>
            </a:pPr>
            <a:r>
              <a:rPr lang="en-IN" dirty="0"/>
              <a:t> </a:t>
            </a:r>
          </a:p>
        </p:txBody>
      </p:sp>
      <p:pic>
        <p:nvPicPr>
          <p:cNvPr id="4" name="Picture 3">
            <a:extLst>
              <a:ext uri="{FF2B5EF4-FFF2-40B4-BE49-F238E27FC236}">
                <a16:creationId xmlns:a16="http://schemas.microsoft.com/office/drawing/2014/main" id="{E7D8A5F9-ED45-42EF-B008-2ACDB3324E29}"/>
              </a:ext>
            </a:extLst>
          </p:cNvPr>
          <p:cNvPicPr>
            <a:picLocks noChangeAspect="1"/>
          </p:cNvPicPr>
          <p:nvPr/>
        </p:nvPicPr>
        <p:blipFill>
          <a:blip r:embed="rId2" cstate="print"/>
          <a:stretch>
            <a:fillRect/>
          </a:stretch>
        </p:blipFill>
        <p:spPr>
          <a:xfrm>
            <a:off x="4499811" y="4266526"/>
            <a:ext cx="4523874" cy="2143125"/>
          </a:xfrm>
          <a:prstGeom prst="rect">
            <a:avLst/>
          </a:prstGeom>
        </p:spPr>
      </p:pic>
      <p:sp>
        <p:nvSpPr>
          <p:cNvPr id="6" name="Footer Placeholder 5">
            <a:extLst>
              <a:ext uri="{FF2B5EF4-FFF2-40B4-BE49-F238E27FC236}">
                <a16:creationId xmlns:a16="http://schemas.microsoft.com/office/drawing/2014/main" id="{5E9579B1-487B-4D07-8C3A-2D1E584D45E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808153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571C9-C039-148B-CA7E-95AEAE8ACB19}"/>
              </a:ext>
            </a:extLst>
          </p:cNvPr>
          <p:cNvSpPr>
            <a:spLocks noGrp="1"/>
          </p:cNvSpPr>
          <p:nvPr>
            <p:ph type="title"/>
          </p:nvPr>
        </p:nvSpPr>
        <p:spPr>
          <a:xfrm>
            <a:off x="1609455" y="306333"/>
            <a:ext cx="10418422" cy="1280890"/>
          </a:xfrm>
        </p:spPr>
        <p:txBody>
          <a:bodyPr/>
          <a:lstStyle/>
          <a:p>
            <a:r>
              <a:rPr lang="en-US" b="1" dirty="0">
                <a:latin typeface="Times New Roman" panose="02020603050405020304" pitchFamily="18" charset="0"/>
                <a:cs typeface="Times New Roman" panose="02020603050405020304" pitchFamily="18" charset="0"/>
              </a:rPr>
              <a:t>MODULE-5:Low-Voltage Low-Power Memories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2CCD1B-8B74-ED5C-E010-6188A0CEBF43}"/>
              </a:ext>
            </a:extLst>
          </p:cNvPr>
          <p:cNvSpPr>
            <a:spLocks noGrp="1"/>
          </p:cNvSpPr>
          <p:nvPr>
            <p:ph idx="1"/>
          </p:nvPr>
        </p:nvSpPr>
        <p:spPr>
          <a:xfrm>
            <a:off x="493295" y="2133600"/>
            <a:ext cx="11393905" cy="3777622"/>
          </a:xfrm>
        </p:spPr>
        <p:txBody>
          <a:bodyPr>
            <a:normAutofit/>
          </a:bodyPr>
          <a:lstStyle/>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Basics of SRAM, Memory Cell, </a:t>
            </a:r>
            <a:r>
              <a:rPr lang="en-US" sz="2800" dirty="0" err="1">
                <a:latin typeface="Times New Roman" panose="02020603050405020304" pitchFamily="18" charset="0"/>
                <a:cs typeface="Times New Roman" panose="02020603050405020304" pitchFamily="18" charset="0"/>
              </a:rPr>
              <a:t>Precharge</a:t>
            </a:r>
            <a:r>
              <a:rPr lang="en-US" sz="2800" dirty="0">
                <a:latin typeface="Times New Roman" panose="02020603050405020304" pitchFamily="18" charset="0"/>
                <a:cs typeface="Times New Roman" panose="02020603050405020304" pitchFamily="18" charset="0"/>
              </a:rPr>
              <a:t> and Equalization Circuit, Low-</a:t>
            </a:r>
            <a:r>
              <a:rPr lang="en-US" sz="2800" dirty="0" err="1">
                <a:latin typeface="Times New Roman" panose="02020603050405020304" pitchFamily="18" charset="0"/>
                <a:cs typeface="Times New Roman" panose="02020603050405020304" pitchFamily="18" charset="0"/>
              </a:rPr>
              <a:t>PowerSRAM</a:t>
            </a:r>
            <a:r>
              <a:rPr lang="en-US" sz="2800" dirty="0">
                <a:latin typeface="Times New Roman" panose="02020603050405020304" pitchFamily="18" charset="0"/>
                <a:cs typeface="Times New Roman" panose="02020603050405020304" pitchFamily="18" charset="0"/>
              </a:rPr>
              <a:t> Technologies</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Basics of DRAM, Self-Refresh Circuit</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Basics of ROM, Low-Power </a:t>
            </a:r>
            <a:r>
              <a:rPr lang="en-US" sz="2800" dirty="0" err="1">
                <a:latin typeface="Times New Roman" panose="02020603050405020304" pitchFamily="18" charset="0"/>
                <a:cs typeface="Times New Roman" panose="02020603050405020304" pitchFamily="18" charset="0"/>
              </a:rPr>
              <a:t>ROMTechnology</a:t>
            </a:r>
            <a:r>
              <a:rPr lang="en-US" sz="2800" dirty="0">
                <a:latin typeface="Times New Roman" panose="02020603050405020304" pitchFamily="18" charset="0"/>
                <a:cs typeface="Times New Roman" panose="02020603050405020304" pitchFamily="18" charset="0"/>
              </a:rPr>
              <a:t>, Future Trend and Development of ROMs and DRAMs</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Basics of ROM, Low-Power </a:t>
            </a:r>
            <a:r>
              <a:rPr lang="en-US" sz="2800" dirty="0" err="1">
                <a:latin typeface="Times New Roman" panose="02020603050405020304" pitchFamily="18" charset="0"/>
                <a:cs typeface="Times New Roman" panose="02020603050405020304" pitchFamily="18" charset="0"/>
              </a:rPr>
              <a:t>ROMTechnology</a:t>
            </a:r>
            <a:r>
              <a:rPr lang="en-US" sz="2800" dirty="0">
                <a:latin typeface="Times New Roman" panose="02020603050405020304" pitchFamily="18" charset="0"/>
                <a:cs typeface="Times New Roman" panose="02020603050405020304" pitchFamily="18" charset="0"/>
              </a:rPr>
              <a:t>, Future Trend and Development of ROMs and DRAMs</a:t>
            </a:r>
          </a:p>
          <a:p>
            <a:pPr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43C9909-D26C-760D-2ACC-7ED7F3D21ED5}"/>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2159399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Outline</a:t>
            </a:r>
          </a:p>
        </p:txBody>
      </p:sp>
      <p:sp>
        <p:nvSpPr>
          <p:cNvPr id="3" name="Content Placeholder 2"/>
          <p:cNvSpPr>
            <a:spLocks noGrp="1"/>
          </p:cNvSpPr>
          <p:nvPr>
            <p:ph idx="1"/>
          </p:nvPr>
        </p:nvSpPr>
        <p:spPr>
          <a:xfrm>
            <a:off x="1825641" y="1649691"/>
            <a:ext cx="8915400" cy="4157836"/>
          </a:xfrm>
        </p:spPr>
        <p:txBody>
          <a:bodyPr>
            <a:noAutofit/>
          </a:bodyPr>
          <a:lstStyle/>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SRAM</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DRAM</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ROM</a:t>
            </a:r>
          </a:p>
        </p:txBody>
      </p:sp>
    </p:spTree>
    <p:extLst>
      <p:ext uri="{BB962C8B-B14F-4D97-AF65-F5344CB8AC3E}">
        <p14:creationId xmlns:p14="http://schemas.microsoft.com/office/powerpoint/2010/main" val="1140214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A460EE-ADD0-5F76-24F0-E5395512D220}"/>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7120563E-B458-E667-306D-C847E94FCAC1}"/>
              </a:ext>
            </a:extLst>
          </p:cNvPr>
          <p:cNvPicPr>
            <a:picLocks noChangeAspect="1"/>
          </p:cNvPicPr>
          <p:nvPr/>
        </p:nvPicPr>
        <p:blipFill>
          <a:blip r:embed="rId2"/>
          <a:stretch>
            <a:fillRect/>
          </a:stretch>
        </p:blipFill>
        <p:spPr>
          <a:xfrm>
            <a:off x="2131641" y="924750"/>
            <a:ext cx="8535140" cy="4084674"/>
          </a:xfrm>
          <a:prstGeom prst="rect">
            <a:avLst/>
          </a:prstGeom>
        </p:spPr>
      </p:pic>
      <p:sp>
        <p:nvSpPr>
          <p:cNvPr id="6" name="TextBox 5">
            <a:extLst>
              <a:ext uri="{FF2B5EF4-FFF2-40B4-BE49-F238E27FC236}">
                <a16:creationId xmlns:a16="http://schemas.microsoft.com/office/drawing/2014/main" id="{EA7A4D90-8E96-D637-C290-E3DBB4D81F89}"/>
              </a:ext>
            </a:extLst>
          </p:cNvPr>
          <p:cNvSpPr txBox="1"/>
          <p:nvPr/>
        </p:nvSpPr>
        <p:spPr>
          <a:xfrm>
            <a:off x="3697665" y="5018618"/>
            <a:ext cx="6094428"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Overview of the main memory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91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AC18-5ACF-11E8-89CC-F397D5591093}"/>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5.1 Introduction</a:t>
            </a:r>
          </a:p>
        </p:txBody>
      </p:sp>
      <p:sp>
        <p:nvSpPr>
          <p:cNvPr id="3" name="Content Placeholder 2">
            <a:extLst>
              <a:ext uri="{FF2B5EF4-FFF2-40B4-BE49-F238E27FC236}">
                <a16:creationId xmlns:a16="http://schemas.microsoft.com/office/drawing/2014/main" id="{CE255F26-0F37-F6C8-9ADD-0227829368A2}"/>
              </a:ext>
            </a:extLst>
          </p:cNvPr>
          <p:cNvSpPr>
            <a:spLocks noGrp="1"/>
          </p:cNvSpPr>
          <p:nvPr>
            <p:ph idx="1"/>
          </p:nvPr>
        </p:nvSpPr>
        <p:spPr>
          <a:xfrm>
            <a:off x="1055803" y="1253765"/>
            <a:ext cx="10774836" cy="5247168"/>
          </a:xfrm>
        </p:spPr>
        <p:txBody>
          <a:bodyPr>
            <a:no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Over the years, significant progress has been made in reducing the power consumption of Random-Access Memory (RAM).</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Numerous circuit-level techniques have been developed to minimize both active and standby power in static as well as dynamic memory architectures.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This advancement has been driven by the rapid growth of compact, energy-efficient electronic devices such as mobile phones, laptops, and portable systems.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RAM is a read/write memory that allows data stored in its cells to be modified quickly and efficiently.</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A key feature of RAM is that the time required for read or write operations remains constant, irrespective of the physical location of the data within the memory. </a:t>
            </a: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30F6C45-1AD6-F5AC-28B0-097122D60899}"/>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668838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5A47C-9637-1FC9-BD86-D948E7B3A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F288E-B48D-85F1-6650-E03E705495D6}"/>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D519972B-32A5-4A3A-FA2B-A4282498C1BF}"/>
              </a:ext>
            </a:extLst>
          </p:cNvPr>
          <p:cNvSpPr>
            <a:spLocks noGrp="1"/>
          </p:cNvSpPr>
          <p:nvPr>
            <p:ph idx="1"/>
          </p:nvPr>
        </p:nvSpPr>
        <p:spPr>
          <a:xfrm>
            <a:off x="1055803" y="1253765"/>
            <a:ext cx="10774836" cy="5247168"/>
          </a:xfrm>
        </p:spPr>
        <p:txBody>
          <a:bodyPr>
            <a:no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is achieved through an organized addressing mechanism that enables direct access to any memory location.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Additionally, RAM is volatile in nature, meaning that it retains stored data only as long as power is supplied; once power is removed, the stored information is lost.</a:t>
            </a: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4BDCE85-96E3-0C39-D69C-695431B4BB96}"/>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378030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DBC5B9B-C45A-476F-6555-29E19BA7F138}"/>
              </a:ext>
            </a:extLst>
          </p:cNvPr>
          <p:cNvSpPr>
            <a:spLocks noGrp="1"/>
          </p:cNvSpPr>
          <p:nvPr>
            <p:ph type="ftr" sz="quarter" idx="11"/>
          </p:nvPr>
        </p:nvSpPr>
        <p:spPr/>
        <p:txBody>
          <a:bodyPr/>
          <a:lstStyle/>
          <a:p>
            <a:r>
              <a:rPr lang="en-IN"/>
              <a:t>Dr. Aruru Sai Kumar , VIT-AP</a:t>
            </a:r>
            <a:endParaRPr lang="en-IN" dirty="0"/>
          </a:p>
        </p:txBody>
      </p:sp>
      <p:graphicFrame>
        <p:nvGraphicFramePr>
          <p:cNvPr id="3" name="Table 2">
            <a:extLst>
              <a:ext uri="{FF2B5EF4-FFF2-40B4-BE49-F238E27FC236}">
                <a16:creationId xmlns:a16="http://schemas.microsoft.com/office/drawing/2014/main" id="{7DA81C7B-CB84-8D1B-E90F-B19FDA3A5249}"/>
              </a:ext>
            </a:extLst>
          </p:cNvPr>
          <p:cNvGraphicFramePr>
            <a:graphicFrameLocks noGrp="1"/>
          </p:cNvGraphicFramePr>
          <p:nvPr>
            <p:extLst>
              <p:ext uri="{D42A27DB-BD31-4B8C-83A1-F6EECF244321}">
                <p14:modId xmlns:p14="http://schemas.microsoft.com/office/powerpoint/2010/main" val="501983388"/>
              </p:ext>
            </p:extLst>
          </p:nvPr>
        </p:nvGraphicFramePr>
        <p:xfrm>
          <a:off x="2032000" y="719665"/>
          <a:ext cx="8865387" cy="5558094"/>
        </p:xfrm>
        <a:graphic>
          <a:graphicData uri="http://schemas.openxmlformats.org/drawingml/2006/table">
            <a:tbl>
              <a:tblPr firstRow="1" bandRow="1">
                <a:tableStyleId>{5C22544A-7EE6-4342-B048-85BDC9FD1C3A}</a:tableStyleId>
              </a:tblPr>
              <a:tblGrid>
                <a:gridCol w="2955129">
                  <a:extLst>
                    <a:ext uri="{9D8B030D-6E8A-4147-A177-3AD203B41FA5}">
                      <a16:colId xmlns:a16="http://schemas.microsoft.com/office/drawing/2014/main" val="1780749954"/>
                    </a:ext>
                  </a:extLst>
                </a:gridCol>
                <a:gridCol w="2955129">
                  <a:extLst>
                    <a:ext uri="{9D8B030D-6E8A-4147-A177-3AD203B41FA5}">
                      <a16:colId xmlns:a16="http://schemas.microsoft.com/office/drawing/2014/main" val="3862334198"/>
                    </a:ext>
                  </a:extLst>
                </a:gridCol>
                <a:gridCol w="2955129">
                  <a:extLst>
                    <a:ext uri="{9D8B030D-6E8A-4147-A177-3AD203B41FA5}">
                      <a16:colId xmlns:a16="http://schemas.microsoft.com/office/drawing/2014/main" val="2738909205"/>
                    </a:ext>
                  </a:extLst>
                </a:gridCol>
              </a:tblGrid>
              <a:tr h="69976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Feature</a:t>
                      </a:r>
                    </a:p>
                    <a:p>
                      <a:endParaRPr lang="en-IN" sz="2000" dirty="0">
                        <a:latin typeface="Times New Roman" panose="02020603050405020304" pitchFamily="18" charset="0"/>
                        <a:cs typeface="Times New Roman" panose="02020603050405020304" pitchFamily="18" charset="0"/>
                      </a:endParaRPr>
                    </a:p>
                  </a:txBody>
                  <a:tcPr/>
                </a:tc>
                <a:tc>
                  <a:txBody>
                    <a:bodyPr/>
                    <a:lstStyle/>
                    <a:p>
                      <a:pPr>
                        <a:buNone/>
                      </a:pPr>
                      <a:r>
                        <a:rPr lang="en-IN" sz="2000" dirty="0">
                          <a:latin typeface="Times New Roman" panose="02020603050405020304" pitchFamily="18" charset="0"/>
                          <a:cs typeface="Times New Roman" panose="02020603050405020304" pitchFamily="18" charset="0"/>
                        </a:rPr>
                        <a:t>SRAM (Static RAM)</a:t>
                      </a:r>
                    </a:p>
                  </a:txBody>
                  <a:tcPr marL="64770" marR="64770" marT="32385" marB="32385" anchor="ctr"/>
                </a:tc>
                <a:tc>
                  <a:txBody>
                    <a:bodyPr/>
                    <a:lstStyle/>
                    <a:p>
                      <a:pPr>
                        <a:buNone/>
                      </a:pPr>
                      <a:r>
                        <a:rPr lang="en-IN" sz="2000" dirty="0">
                          <a:latin typeface="Times New Roman" panose="02020603050405020304" pitchFamily="18" charset="0"/>
                          <a:cs typeface="Times New Roman" panose="02020603050405020304" pitchFamily="18" charset="0"/>
                        </a:rPr>
                        <a:t>DRAM (Dynamic RAM)</a:t>
                      </a:r>
                    </a:p>
                  </a:txBody>
                  <a:tcPr marL="64770" marR="64770" marT="32385" marB="32385" anchor="ctr"/>
                </a:tc>
                <a:extLst>
                  <a:ext uri="{0D108BD9-81ED-4DB2-BD59-A6C34878D82A}">
                    <a16:rowId xmlns:a16="http://schemas.microsoft.com/office/drawing/2014/main" val="2602994531"/>
                  </a:ext>
                </a:extLst>
              </a:tr>
              <a:tr h="405417">
                <a:tc>
                  <a:txBody>
                    <a:bodyPr/>
                    <a:lstStyle/>
                    <a:p>
                      <a:pPr>
                        <a:buNone/>
                      </a:pPr>
                      <a:r>
                        <a:rPr lang="en-IN" sz="2000" b="1" dirty="0">
                          <a:latin typeface="Times New Roman" panose="02020603050405020304" pitchFamily="18" charset="0"/>
                          <a:cs typeface="Times New Roman" panose="02020603050405020304" pitchFamily="18" charset="0"/>
                        </a:rPr>
                        <a:t>Storage Mechanism</a:t>
                      </a:r>
                      <a:endParaRPr lang="en-IN" sz="2000" dirty="0">
                        <a:latin typeface="Times New Roman" panose="02020603050405020304" pitchFamily="18" charset="0"/>
                        <a:cs typeface="Times New Roman" panose="02020603050405020304" pitchFamily="18" charset="0"/>
                      </a:endParaRPr>
                    </a:p>
                  </a:txBody>
                  <a:tcPr marL="64770" marR="64770" marT="32385" marB="32385" anchor="ctr"/>
                </a:tc>
                <a:tc>
                  <a:txBody>
                    <a:bodyPr/>
                    <a:lstStyle/>
                    <a:p>
                      <a:pPr>
                        <a:buNone/>
                      </a:pPr>
                      <a:r>
                        <a:rPr lang="en-IN" sz="2000" dirty="0">
                          <a:latin typeface="Times New Roman" panose="02020603050405020304" pitchFamily="18" charset="0"/>
                          <a:cs typeface="Times New Roman" panose="02020603050405020304" pitchFamily="18" charset="0"/>
                        </a:rPr>
                        <a:t>Uses flip-flops (static latches)</a:t>
                      </a:r>
                    </a:p>
                  </a:txBody>
                  <a:tcPr marL="64770" marR="64770" marT="32385" marB="32385" anchor="ctr"/>
                </a:tc>
                <a:tc>
                  <a:txBody>
                    <a:bodyPr/>
                    <a:lstStyle/>
                    <a:p>
                      <a:pPr>
                        <a:buNone/>
                      </a:pPr>
                      <a:r>
                        <a:rPr lang="en-US" sz="2000" dirty="0">
                          <a:latin typeface="Times New Roman" panose="02020603050405020304" pitchFamily="18" charset="0"/>
                          <a:cs typeface="Times New Roman" panose="02020603050405020304" pitchFamily="18" charset="0"/>
                        </a:rPr>
                        <a:t>Uses capacitor to store charge</a:t>
                      </a:r>
                    </a:p>
                  </a:txBody>
                  <a:tcPr marL="64770" marR="64770" marT="32385" marB="32385" anchor="ctr"/>
                </a:tc>
                <a:extLst>
                  <a:ext uri="{0D108BD9-81ED-4DB2-BD59-A6C34878D82A}">
                    <a16:rowId xmlns:a16="http://schemas.microsoft.com/office/drawing/2014/main" val="2565344079"/>
                  </a:ext>
                </a:extLst>
              </a:tr>
              <a:tr h="503995">
                <a:tc>
                  <a:txBody>
                    <a:bodyPr/>
                    <a:lstStyle/>
                    <a:p>
                      <a:pPr>
                        <a:buNone/>
                      </a:pPr>
                      <a:r>
                        <a:rPr lang="en-IN" sz="2000" b="1">
                          <a:latin typeface="Times New Roman" panose="02020603050405020304" pitchFamily="18" charset="0"/>
                          <a:cs typeface="Times New Roman" panose="02020603050405020304" pitchFamily="18" charset="0"/>
                        </a:rPr>
                        <a:t>Data Retention</a:t>
                      </a:r>
                      <a:endParaRPr lang="en-IN" sz="2000">
                        <a:latin typeface="Times New Roman" panose="02020603050405020304" pitchFamily="18" charset="0"/>
                        <a:cs typeface="Times New Roman" panose="02020603050405020304" pitchFamily="18" charset="0"/>
                      </a:endParaRPr>
                    </a:p>
                  </a:txBody>
                  <a:tcPr marL="64770" marR="64770" marT="32385" marB="32385" anchor="ctr"/>
                </a:tc>
                <a:tc>
                  <a:txBody>
                    <a:bodyPr/>
                    <a:lstStyle/>
                    <a:p>
                      <a:pPr>
                        <a:buNone/>
                      </a:pPr>
                      <a:r>
                        <a:rPr lang="en-US" sz="2000" dirty="0">
                          <a:latin typeface="Times New Roman" panose="02020603050405020304" pitchFamily="18" charset="0"/>
                          <a:cs typeface="Times New Roman" panose="02020603050405020304" pitchFamily="18" charset="0"/>
                        </a:rPr>
                        <a:t>Retains data as long as power is supplied</a:t>
                      </a:r>
                    </a:p>
                  </a:txBody>
                  <a:tcPr marL="64770" marR="64770" marT="32385" marB="32385" anchor="ctr"/>
                </a:tc>
                <a:tc>
                  <a:txBody>
                    <a:bodyPr/>
                    <a:lstStyle/>
                    <a:p>
                      <a:pPr>
                        <a:buNone/>
                      </a:pPr>
                      <a:r>
                        <a:rPr lang="en-US" sz="2000" dirty="0">
                          <a:latin typeface="Times New Roman" panose="02020603050405020304" pitchFamily="18" charset="0"/>
                          <a:cs typeface="Times New Roman" panose="02020603050405020304" pitchFamily="18" charset="0"/>
                        </a:rPr>
                        <a:t>Data leaks over time due to capacitor discharge</a:t>
                      </a:r>
                    </a:p>
                  </a:txBody>
                  <a:tcPr marL="64770" marR="64770" marT="32385" marB="32385" anchor="ctr"/>
                </a:tc>
                <a:extLst>
                  <a:ext uri="{0D108BD9-81ED-4DB2-BD59-A6C34878D82A}">
                    <a16:rowId xmlns:a16="http://schemas.microsoft.com/office/drawing/2014/main" val="149679269"/>
                  </a:ext>
                </a:extLst>
              </a:tr>
              <a:tr h="405417">
                <a:tc>
                  <a:txBody>
                    <a:bodyPr/>
                    <a:lstStyle/>
                    <a:p>
                      <a:pPr>
                        <a:buNone/>
                      </a:pPr>
                      <a:r>
                        <a:rPr lang="en-IN" sz="2000" b="1">
                          <a:latin typeface="Times New Roman" panose="02020603050405020304" pitchFamily="18" charset="0"/>
                          <a:cs typeface="Times New Roman" panose="02020603050405020304" pitchFamily="18" charset="0"/>
                        </a:rPr>
                        <a:t>Refresh Requirement</a:t>
                      </a:r>
                      <a:endParaRPr lang="en-IN" sz="2000">
                        <a:latin typeface="Times New Roman" panose="02020603050405020304" pitchFamily="18" charset="0"/>
                        <a:cs typeface="Times New Roman" panose="02020603050405020304" pitchFamily="18" charset="0"/>
                      </a:endParaRPr>
                    </a:p>
                  </a:txBody>
                  <a:tcPr marL="64770" marR="64770" marT="32385" marB="32385" anchor="ctr"/>
                </a:tc>
                <a:tc>
                  <a:txBody>
                    <a:bodyPr/>
                    <a:lstStyle/>
                    <a:p>
                      <a:pPr>
                        <a:buNone/>
                      </a:pPr>
                      <a:r>
                        <a:rPr lang="en-IN" sz="2000" dirty="0">
                          <a:latin typeface="Times New Roman" panose="02020603050405020304" pitchFamily="18" charset="0"/>
                          <a:cs typeface="Times New Roman" panose="02020603050405020304" pitchFamily="18" charset="0"/>
                        </a:rPr>
                        <a:t> No refresh needed</a:t>
                      </a:r>
                    </a:p>
                  </a:txBody>
                  <a:tcPr marL="64770" marR="64770" marT="32385" marB="32385" anchor="ctr"/>
                </a:tc>
                <a:tc>
                  <a:txBody>
                    <a:bodyPr/>
                    <a:lstStyle/>
                    <a:p>
                      <a:pPr>
                        <a:buNone/>
                      </a:pPr>
                      <a:r>
                        <a:rPr lang="en-IN" sz="2000" dirty="0">
                          <a:latin typeface="Times New Roman" panose="02020603050405020304" pitchFamily="18" charset="0"/>
                          <a:cs typeface="Times New Roman" panose="02020603050405020304" pitchFamily="18" charset="0"/>
                        </a:rPr>
                        <a:t> Requires periodic refresh</a:t>
                      </a:r>
                    </a:p>
                  </a:txBody>
                  <a:tcPr marL="64770" marR="64770" marT="32385" marB="32385" anchor="ctr"/>
                </a:tc>
                <a:extLst>
                  <a:ext uri="{0D108BD9-81ED-4DB2-BD59-A6C34878D82A}">
                    <a16:rowId xmlns:a16="http://schemas.microsoft.com/office/drawing/2014/main" val="915551332"/>
                  </a:ext>
                </a:extLst>
              </a:tr>
              <a:tr h="405417">
                <a:tc>
                  <a:txBody>
                    <a:bodyPr/>
                    <a:lstStyle/>
                    <a:p>
                      <a:pPr>
                        <a:buNone/>
                      </a:pPr>
                      <a:r>
                        <a:rPr lang="en-IN" sz="2000" b="1">
                          <a:latin typeface="Times New Roman" panose="02020603050405020304" pitchFamily="18" charset="0"/>
                          <a:cs typeface="Times New Roman" panose="02020603050405020304" pitchFamily="18" charset="0"/>
                        </a:rPr>
                        <a:t>Speed</a:t>
                      </a:r>
                      <a:endParaRPr lang="en-IN" sz="2000">
                        <a:latin typeface="Times New Roman" panose="02020603050405020304" pitchFamily="18" charset="0"/>
                        <a:cs typeface="Times New Roman" panose="02020603050405020304" pitchFamily="18" charset="0"/>
                      </a:endParaRPr>
                    </a:p>
                  </a:txBody>
                  <a:tcPr marL="64770" marR="64770" marT="32385" marB="32385" anchor="ctr"/>
                </a:tc>
                <a:tc>
                  <a:txBody>
                    <a:bodyPr/>
                    <a:lstStyle/>
                    <a:p>
                      <a:pPr>
                        <a:buNone/>
                      </a:pPr>
                      <a:r>
                        <a:rPr lang="en-IN" sz="2000">
                          <a:latin typeface="Times New Roman" panose="02020603050405020304" pitchFamily="18" charset="0"/>
                          <a:cs typeface="Times New Roman" panose="02020603050405020304" pitchFamily="18" charset="0"/>
                        </a:rPr>
                        <a:t>Faster (uses differential bit-lines)</a:t>
                      </a:r>
                    </a:p>
                  </a:txBody>
                  <a:tcPr marL="64770" marR="64770" marT="32385" marB="32385" anchor="ctr"/>
                </a:tc>
                <a:tc>
                  <a:txBody>
                    <a:bodyPr/>
                    <a:lstStyle/>
                    <a:p>
                      <a:pPr>
                        <a:buNone/>
                      </a:pPr>
                      <a:r>
                        <a:rPr lang="en-IN" sz="2000" dirty="0">
                          <a:latin typeface="Times New Roman" panose="02020603050405020304" pitchFamily="18" charset="0"/>
                          <a:cs typeface="Times New Roman" panose="02020603050405020304" pitchFamily="18" charset="0"/>
                        </a:rPr>
                        <a:t>Slower compared to SRAM</a:t>
                      </a:r>
                    </a:p>
                  </a:txBody>
                  <a:tcPr marL="64770" marR="64770" marT="32385" marB="32385" anchor="ctr"/>
                </a:tc>
                <a:extLst>
                  <a:ext uri="{0D108BD9-81ED-4DB2-BD59-A6C34878D82A}">
                    <a16:rowId xmlns:a16="http://schemas.microsoft.com/office/drawing/2014/main" val="91376649"/>
                  </a:ext>
                </a:extLst>
              </a:tr>
              <a:tr h="503995">
                <a:tc>
                  <a:txBody>
                    <a:bodyPr/>
                    <a:lstStyle/>
                    <a:p>
                      <a:pPr>
                        <a:buNone/>
                      </a:pPr>
                      <a:r>
                        <a:rPr lang="en-IN" sz="2000" b="1">
                          <a:latin typeface="Times New Roman" panose="02020603050405020304" pitchFamily="18" charset="0"/>
                          <a:cs typeface="Times New Roman" panose="02020603050405020304" pitchFamily="18" charset="0"/>
                        </a:rPr>
                        <a:t>Power Consumption</a:t>
                      </a:r>
                      <a:endParaRPr lang="en-IN" sz="2000">
                        <a:latin typeface="Times New Roman" panose="02020603050405020304" pitchFamily="18" charset="0"/>
                        <a:cs typeface="Times New Roman" panose="02020603050405020304" pitchFamily="18" charset="0"/>
                      </a:endParaRPr>
                    </a:p>
                  </a:txBody>
                  <a:tcPr marL="64770" marR="64770" marT="32385" marB="32385" anchor="ctr"/>
                </a:tc>
                <a:tc>
                  <a:txBody>
                    <a:bodyPr/>
                    <a:lstStyle/>
                    <a:p>
                      <a:pPr>
                        <a:buNone/>
                      </a:pPr>
                      <a:r>
                        <a:rPr lang="en-US" sz="2000" dirty="0">
                          <a:latin typeface="Times New Roman" panose="02020603050405020304" pitchFamily="18" charset="0"/>
                          <a:cs typeface="Times New Roman" panose="02020603050405020304" pitchFamily="18" charset="0"/>
                        </a:rPr>
                        <a:t>Higher (due to continuous feedback)</a:t>
                      </a:r>
                    </a:p>
                  </a:txBody>
                  <a:tcPr marL="64770" marR="64770" marT="32385" marB="32385" anchor="ctr"/>
                </a:tc>
                <a:tc>
                  <a:txBody>
                    <a:bodyPr/>
                    <a:lstStyle/>
                    <a:p>
                      <a:pPr>
                        <a:buNone/>
                      </a:pPr>
                      <a:r>
                        <a:rPr lang="en-US" sz="2000" dirty="0">
                          <a:latin typeface="Times New Roman" panose="02020603050405020304" pitchFamily="18" charset="0"/>
                          <a:cs typeface="Times New Roman" panose="02020603050405020304" pitchFamily="18" charset="0"/>
                        </a:rPr>
                        <a:t>Lower (but includes refresh overhead)</a:t>
                      </a:r>
                    </a:p>
                  </a:txBody>
                  <a:tcPr marL="64770" marR="64770" marT="32385" marB="32385" anchor="ctr"/>
                </a:tc>
                <a:extLst>
                  <a:ext uri="{0D108BD9-81ED-4DB2-BD59-A6C34878D82A}">
                    <a16:rowId xmlns:a16="http://schemas.microsoft.com/office/drawing/2014/main" val="243772034"/>
                  </a:ext>
                </a:extLst>
              </a:tr>
              <a:tr h="405417">
                <a:tc>
                  <a:txBody>
                    <a:bodyPr/>
                    <a:lstStyle/>
                    <a:p>
                      <a:pPr>
                        <a:buNone/>
                      </a:pPr>
                      <a:r>
                        <a:rPr lang="en-IN" sz="2000" b="1">
                          <a:latin typeface="Times New Roman" panose="02020603050405020304" pitchFamily="18" charset="0"/>
                          <a:cs typeface="Times New Roman" panose="02020603050405020304" pitchFamily="18" charset="0"/>
                        </a:rPr>
                        <a:t>Stability</a:t>
                      </a:r>
                      <a:endParaRPr lang="en-IN" sz="2000">
                        <a:latin typeface="Times New Roman" panose="02020603050405020304" pitchFamily="18" charset="0"/>
                        <a:cs typeface="Times New Roman" panose="02020603050405020304" pitchFamily="18" charset="0"/>
                      </a:endParaRPr>
                    </a:p>
                  </a:txBody>
                  <a:tcPr marL="64770" marR="64770" marT="32385" marB="32385" anchor="ctr"/>
                </a:tc>
                <a:tc>
                  <a:txBody>
                    <a:bodyPr/>
                    <a:lstStyle/>
                    <a:p>
                      <a:pPr>
                        <a:buNone/>
                      </a:pPr>
                      <a:r>
                        <a:rPr lang="en-IN" sz="2000" dirty="0">
                          <a:latin typeface="Times New Roman" panose="02020603050405020304" pitchFamily="18" charset="0"/>
                          <a:cs typeface="Times New Roman" panose="02020603050405020304" pitchFamily="18" charset="0"/>
                        </a:rPr>
                        <a:t>More stable</a:t>
                      </a:r>
                    </a:p>
                  </a:txBody>
                  <a:tcPr marL="64770" marR="64770" marT="32385" marB="32385" anchor="ctr"/>
                </a:tc>
                <a:tc>
                  <a:txBody>
                    <a:bodyPr/>
                    <a:lstStyle/>
                    <a:p>
                      <a:pPr>
                        <a:buNone/>
                      </a:pPr>
                      <a:r>
                        <a:rPr lang="en-IN" sz="2000" dirty="0">
                          <a:latin typeface="Times New Roman" panose="02020603050405020304" pitchFamily="18" charset="0"/>
                          <a:cs typeface="Times New Roman" panose="02020603050405020304" pitchFamily="18" charset="0"/>
                        </a:rPr>
                        <a:t>Less stable (charge leakage)</a:t>
                      </a:r>
                    </a:p>
                  </a:txBody>
                  <a:tcPr marL="64770" marR="64770" marT="32385" marB="32385" anchor="ctr"/>
                </a:tc>
                <a:extLst>
                  <a:ext uri="{0D108BD9-81ED-4DB2-BD59-A6C34878D82A}">
                    <a16:rowId xmlns:a16="http://schemas.microsoft.com/office/drawing/2014/main" val="1539549205"/>
                  </a:ext>
                </a:extLst>
              </a:tr>
              <a:tr h="503995">
                <a:tc>
                  <a:txBody>
                    <a:bodyPr/>
                    <a:lstStyle/>
                    <a:p>
                      <a:pPr>
                        <a:buNone/>
                      </a:pPr>
                      <a:r>
                        <a:rPr lang="en-IN" sz="2000" b="1">
                          <a:latin typeface="Times New Roman" panose="02020603050405020304" pitchFamily="18" charset="0"/>
                          <a:cs typeface="Times New Roman" panose="02020603050405020304" pitchFamily="18" charset="0"/>
                        </a:rPr>
                        <a:t>Complexity</a:t>
                      </a:r>
                      <a:endParaRPr lang="en-IN" sz="2000">
                        <a:latin typeface="Times New Roman" panose="02020603050405020304" pitchFamily="18" charset="0"/>
                        <a:cs typeface="Times New Roman" panose="02020603050405020304" pitchFamily="18" charset="0"/>
                      </a:endParaRPr>
                    </a:p>
                  </a:txBody>
                  <a:tcPr marL="64770" marR="64770" marT="32385" marB="32385" anchor="ctr"/>
                </a:tc>
                <a:tc>
                  <a:txBody>
                    <a:bodyPr/>
                    <a:lstStyle/>
                    <a:p>
                      <a:pPr>
                        <a:buNone/>
                      </a:pPr>
                      <a:r>
                        <a:rPr lang="en-US" sz="2000" dirty="0">
                          <a:latin typeface="Times New Roman" panose="02020603050405020304" pitchFamily="18" charset="0"/>
                          <a:cs typeface="Times New Roman" panose="02020603050405020304" pitchFamily="18" charset="0"/>
                        </a:rPr>
                        <a:t>More complex (more transistors per cell)</a:t>
                      </a:r>
                    </a:p>
                  </a:txBody>
                  <a:tcPr marL="64770" marR="64770" marT="32385" marB="32385" anchor="ctr"/>
                </a:tc>
                <a:tc>
                  <a:txBody>
                    <a:bodyPr/>
                    <a:lstStyle/>
                    <a:p>
                      <a:pPr>
                        <a:buNone/>
                      </a:pPr>
                      <a:r>
                        <a:rPr lang="en-US" sz="2000" dirty="0">
                          <a:latin typeface="Times New Roman" panose="02020603050405020304" pitchFamily="18" charset="0"/>
                          <a:cs typeface="Times New Roman" panose="02020603050405020304" pitchFamily="18" charset="0"/>
                        </a:rPr>
                        <a:t>Simpler (fewer components per cell)</a:t>
                      </a:r>
                    </a:p>
                  </a:txBody>
                  <a:tcPr marL="64770" marR="64770" marT="32385" marB="32385" anchor="ctr"/>
                </a:tc>
                <a:extLst>
                  <a:ext uri="{0D108BD9-81ED-4DB2-BD59-A6C34878D82A}">
                    <a16:rowId xmlns:a16="http://schemas.microsoft.com/office/drawing/2014/main" val="110977445"/>
                  </a:ext>
                </a:extLst>
              </a:tr>
              <a:tr h="405417">
                <a:tc>
                  <a:txBody>
                    <a:bodyPr/>
                    <a:lstStyle/>
                    <a:p>
                      <a:pPr>
                        <a:buNone/>
                      </a:pPr>
                      <a:r>
                        <a:rPr lang="en-IN" sz="2000" b="1" dirty="0">
                          <a:latin typeface="Times New Roman" panose="02020603050405020304" pitchFamily="18" charset="0"/>
                          <a:cs typeface="Times New Roman" panose="02020603050405020304" pitchFamily="18" charset="0"/>
                        </a:rPr>
                        <a:t>Typical Usage</a:t>
                      </a:r>
                      <a:endParaRPr lang="en-IN" sz="2000" dirty="0">
                        <a:latin typeface="Times New Roman" panose="02020603050405020304" pitchFamily="18" charset="0"/>
                        <a:cs typeface="Times New Roman" panose="02020603050405020304" pitchFamily="18" charset="0"/>
                      </a:endParaRPr>
                    </a:p>
                  </a:txBody>
                  <a:tcPr marL="64770" marR="64770" marT="32385" marB="32385" anchor="ctr"/>
                </a:tc>
                <a:tc>
                  <a:txBody>
                    <a:bodyPr/>
                    <a:lstStyle/>
                    <a:p>
                      <a:pPr>
                        <a:buNone/>
                      </a:pPr>
                      <a:r>
                        <a:rPr lang="en-IN" sz="2000" dirty="0">
                          <a:latin typeface="Times New Roman" panose="02020603050405020304" pitchFamily="18" charset="0"/>
                          <a:cs typeface="Times New Roman" panose="02020603050405020304" pitchFamily="18" charset="0"/>
                        </a:rPr>
                        <a:t>Cache memory</a:t>
                      </a:r>
                    </a:p>
                  </a:txBody>
                  <a:tcPr marL="64770" marR="64770" marT="32385" marB="32385" anchor="ctr"/>
                </a:tc>
                <a:tc>
                  <a:txBody>
                    <a:bodyPr/>
                    <a:lstStyle/>
                    <a:p>
                      <a:pPr>
                        <a:buNone/>
                      </a:pPr>
                      <a:r>
                        <a:rPr lang="en-IN" sz="2000" dirty="0">
                          <a:latin typeface="Times New Roman" panose="02020603050405020304" pitchFamily="18" charset="0"/>
                          <a:cs typeface="Times New Roman" panose="02020603050405020304" pitchFamily="18" charset="0"/>
                        </a:rPr>
                        <a:t>Main memory</a:t>
                      </a:r>
                    </a:p>
                  </a:txBody>
                  <a:tcPr marL="64770" marR="64770" marT="32385" marB="32385" anchor="ctr"/>
                </a:tc>
                <a:extLst>
                  <a:ext uri="{0D108BD9-81ED-4DB2-BD59-A6C34878D82A}">
                    <a16:rowId xmlns:a16="http://schemas.microsoft.com/office/drawing/2014/main" val="615222970"/>
                  </a:ext>
                </a:extLst>
              </a:tr>
            </a:tbl>
          </a:graphicData>
        </a:graphic>
      </p:graphicFrame>
    </p:spTree>
    <p:extLst>
      <p:ext uri="{BB962C8B-B14F-4D97-AF65-F5344CB8AC3E}">
        <p14:creationId xmlns:p14="http://schemas.microsoft.com/office/powerpoint/2010/main" val="1427810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43EA5-DF4F-E0B2-55D1-301FF707ED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ECDAB-C6ED-8A55-9E19-368FB160EE73}"/>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5.2 Basics of SRAM </a:t>
            </a:r>
          </a:p>
        </p:txBody>
      </p:sp>
      <p:sp>
        <p:nvSpPr>
          <p:cNvPr id="3" name="Content Placeholder 2">
            <a:extLst>
              <a:ext uri="{FF2B5EF4-FFF2-40B4-BE49-F238E27FC236}">
                <a16:creationId xmlns:a16="http://schemas.microsoft.com/office/drawing/2014/main" id="{E3C0F635-985A-3B6C-72DD-1BF3FFB6AFB2}"/>
              </a:ext>
            </a:extLst>
          </p:cNvPr>
          <p:cNvSpPr>
            <a:spLocks noGrp="1"/>
          </p:cNvSpPr>
          <p:nvPr>
            <p:ph idx="1"/>
          </p:nvPr>
        </p:nvSpPr>
        <p:spPr>
          <a:xfrm>
            <a:off x="1055803" y="1253765"/>
            <a:ext cx="10774836" cy="5247168"/>
          </a:xfrm>
        </p:spPr>
        <p:txBody>
          <a:bodyPr>
            <a:no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An SRAM chip consists of several important components, including address buffers, row decoders, column decoders, memory array, sense amplifiers, input/output buffers, and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circuits, all of which work together to perform read and write operations efficiently.</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memory array is the core part of the SRAM, where data bits are stored in individual memory cells, and each cell is connected to a specific word line and a pair of complementary bit lines (BL and BL̅).</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process of cell selection begins when the address is applied to the address buffers, which then drive the row and column decoders to activate a particular word line and bit line corresponding to the given address.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selected memory cell is determined by the intersection of the activated word line and bit line, which uniquely identifies the location of the data within the memory array.</a:t>
            </a:r>
          </a:p>
          <a:p>
            <a:pPr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51E694D-5968-242A-D353-C20BF0846908}"/>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713129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F5AFA-5151-2A9F-CB3D-2043F5ADDA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1D1A77-505B-B120-E68D-5F7B86C194E0}"/>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Basics of SRAM </a:t>
            </a:r>
          </a:p>
        </p:txBody>
      </p:sp>
      <p:sp>
        <p:nvSpPr>
          <p:cNvPr id="3" name="Content Placeholder 2">
            <a:extLst>
              <a:ext uri="{FF2B5EF4-FFF2-40B4-BE49-F238E27FC236}">
                <a16:creationId xmlns:a16="http://schemas.microsoft.com/office/drawing/2014/main" id="{D0E9183B-967B-6A64-C692-7ED11EEA1584}"/>
              </a:ext>
            </a:extLst>
          </p:cNvPr>
          <p:cNvSpPr>
            <a:spLocks noGrp="1"/>
          </p:cNvSpPr>
          <p:nvPr>
            <p:ph idx="1"/>
          </p:nvPr>
        </p:nvSpPr>
        <p:spPr>
          <a:xfrm>
            <a:off x="1055803" y="1253765"/>
            <a:ext cx="10774836" cy="5247168"/>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During a read operation, the selected word line is enabled, allowing the stored data in the cell to create a small voltage difference on the bit lines, which is then detected and amplified by the sense amplifier to produce a full logic-level output.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During a write operation, the input data is applied to the bit lines, and when the word line is activated, the data is forced into the selected memory cell, thereby updating its stored value.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access time of SRAM is defined as the time required for the data to propagate from the address input to the data output, and it is mainly influenced by delays in word-line decoding and bit-line sensing.</a:t>
            </a:r>
          </a:p>
          <a:p>
            <a:pPr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55AC890-144A-FCFD-C55F-2A8C544A438A}"/>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521629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7CFF6-79B6-1085-945D-78389A65A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9751F3-BEF4-2295-DD9A-177213121D1D}"/>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Basics of SRAM </a:t>
            </a:r>
          </a:p>
        </p:txBody>
      </p:sp>
      <p:sp>
        <p:nvSpPr>
          <p:cNvPr id="3" name="Content Placeholder 2">
            <a:extLst>
              <a:ext uri="{FF2B5EF4-FFF2-40B4-BE49-F238E27FC236}">
                <a16:creationId xmlns:a16="http://schemas.microsoft.com/office/drawing/2014/main" id="{73D9F547-07B0-146D-0D1E-5A391990983E}"/>
              </a:ext>
            </a:extLst>
          </p:cNvPr>
          <p:cNvSpPr>
            <a:spLocks noGrp="1"/>
          </p:cNvSpPr>
          <p:nvPr>
            <p:ph idx="1"/>
          </p:nvPr>
        </p:nvSpPr>
        <p:spPr>
          <a:xfrm>
            <a:off x="1055803" y="1253765"/>
            <a:ext cx="10774836" cy="5247168"/>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minimize access time and improve performance, SRAM design typically uses small voltage swings on bit lines and highly sensitive sense amplifiers to enable faster detection of stored data.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SRAM operation is controlled by signals such as Write Enable (WE), Chip Select (CS), and Output Enable (OE), where WE determines whether the operation is read or write, CS selects a specific memory chip from a group of chips, and OE enables the output buffer during read operations. </a:t>
            </a:r>
          </a:p>
          <a:p>
            <a:pPr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BEC0E96-E0B6-F39C-2AAD-83CF9E3116BD}"/>
              </a:ext>
            </a:extLst>
          </p:cNvPr>
          <p:cNvSpPr>
            <a:spLocks noGrp="1"/>
          </p:cNvSpPr>
          <p:nvPr>
            <p:ph type="ftr" sz="quarter" idx="11"/>
          </p:nvPr>
        </p:nvSpPr>
        <p:spPr/>
        <p:txBody>
          <a:bodyPr/>
          <a:lstStyle/>
          <a:p>
            <a:r>
              <a:rPr lang="en-IN" dirty="0"/>
              <a:t>Dr. Aruru Sai Kumar , VIT-AP</a:t>
            </a:r>
          </a:p>
        </p:txBody>
      </p:sp>
      <p:cxnSp>
        <p:nvCxnSpPr>
          <p:cNvPr id="7" name="Straight Connector 6">
            <a:extLst>
              <a:ext uri="{FF2B5EF4-FFF2-40B4-BE49-F238E27FC236}">
                <a16:creationId xmlns:a16="http://schemas.microsoft.com/office/drawing/2014/main" id="{607849E9-86B5-1931-03BA-AF03E6E37729}"/>
              </a:ext>
            </a:extLst>
          </p:cNvPr>
          <p:cNvCxnSpPr/>
          <p:nvPr/>
        </p:nvCxnSpPr>
        <p:spPr>
          <a:xfrm>
            <a:off x="1583703" y="2922309"/>
            <a:ext cx="4036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9D1E471-F696-7B30-E37C-804EFC4B4C95}"/>
              </a:ext>
            </a:extLst>
          </p:cNvPr>
          <p:cNvCxnSpPr/>
          <p:nvPr/>
        </p:nvCxnSpPr>
        <p:spPr>
          <a:xfrm>
            <a:off x="4666268" y="2922309"/>
            <a:ext cx="40535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495E369-D9DA-B6A7-2886-681F728EE101}"/>
              </a:ext>
            </a:extLst>
          </p:cNvPr>
          <p:cNvCxnSpPr/>
          <p:nvPr/>
        </p:nvCxnSpPr>
        <p:spPr>
          <a:xfrm>
            <a:off x="9568206" y="2526384"/>
            <a:ext cx="4147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3459C9C-EDF0-F96E-B20F-C020A5FB2C16}"/>
              </a:ext>
            </a:extLst>
          </p:cNvPr>
          <p:cNvCxnSpPr/>
          <p:nvPr/>
        </p:nvCxnSpPr>
        <p:spPr>
          <a:xfrm>
            <a:off x="6202837" y="2922309"/>
            <a:ext cx="4147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02A2D36-EC0E-91AB-F512-623814296298}"/>
              </a:ext>
            </a:extLst>
          </p:cNvPr>
          <p:cNvCxnSpPr/>
          <p:nvPr/>
        </p:nvCxnSpPr>
        <p:spPr>
          <a:xfrm>
            <a:off x="2589212" y="3299381"/>
            <a:ext cx="3236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A4F01C5-0D61-BF3C-3FE4-899316307946}"/>
              </a:ext>
            </a:extLst>
          </p:cNvPr>
          <p:cNvCxnSpPr/>
          <p:nvPr/>
        </p:nvCxnSpPr>
        <p:spPr>
          <a:xfrm>
            <a:off x="10341204" y="3299381"/>
            <a:ext cx="34879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4337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B2E0E8A-B093-B4E6-FEC9-2C6F7D9CBF68}"/>
              </a:ext>
            </a:extLst>
          </p:cNvPr>
          <p:cNvSpPr>
            <a:spLocks noGrp="1"/>
          </p:cNvSpPr>
          <p:nvPr>
            <p:ph type="ftr" sz="quarter" idx="11"/>
          </p:nvPr>
        </p:nvSpPr>
        <p:spPr>
          <a:xfrm>
            <a:off x="3041699" y="5249688"/>
            <a:ext cx="7619999" cy="365125"/>
          </a:xfrm>
        </p:spPr>
        <p:txBody>
          <a:bodyPr/>
          <a:lstStyle/>
          <a:p>
            <a:pPr algn="ctr"/>
            <a:r>
              <a:rPr lang="en-IN" sz="1800" dirty="0">
                <a:solidFill>
                  <a:schemeClr val="tx1"/>
                </a:solidFill>
                <a:latin typeface="Times New Roman" panose="02020603050405020304" pitchFamily="18" charset="0"/>
                <a:cs typeface="Times New Roman" panose="02020603050405020304" pitchFamily="18" charset="0"/>
              </a:rPr>
              <a:t>Figure 1: Typical SRAM architecture</a:t>
            </a:r>
            <a:r>
              <a:rPr lang="en-IN" dirty="0"/>
              <a:t>. </a:t>
            </a:r>
          </a:p>
        </p:txBody>
      </p:sp>
      <p:pic>
        <p:nvPicPr>
          <p:cNvPr id="4" name="Picture 3">
            <a:extLst>
              <a:ext uri="{FF2B5EF4-FFF2-40B4-BE49-F238E27FC236}">
                <a16:creationId xmlns:a16="http://schemas.microsoft.com/office/drawing/2014/main" id="{D4E548AD-E018-29E3-0E39-5FEC0D7DC52B}"/>
              </a:ext>
            </a:extLst>
          </p:cNvPr>
          <p:cNvPicPr>
            <a:picLocks noChangeAspect="1"/>
          </p:cNvPicPr>
          <p:nvPr/>
        </p:nvPicPr>
        <p:blipFill>
          <a:blip r:embed="rId2"/>
          <a:stretch>
            <a:fillRect/>
          </a:stretch>
        </p:blipFill>
        <p:spPr>
          <a:xfrm>
            <a:off x="2589212" y="839116"/>
            <a:ext cx="6911939" cy="4237087"/>
          </a:xfrm>
          <a:prstGeom prst="rect">
            <a:avLst/>
          </a:prstGeom>
        </p:spPr>
      </p:pic>
    </p:spTree>
    <p:extLst>
      <p:ext uri="{BB962C8B-B14F-4D97-AF65-F5344CB8AC3E}">
        <p14:creationId xmlns:p14="http://schemas.microsoft.com/office/powerpoint/2010/main" val="3188549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F97ED-3732-B918-74C8-4984AD68B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ACB47-C5E9-6AF4-2725-FE7043C7CEB7}"/>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Basics of SRAM : Read Cycle Timing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FC410C-C8AE-947F-E5E4-4B931BB6F22E}"/>
                  </a:ext>
                </a:extLst>
              </p:cNvPr>
              <p:cNvSpPr>
                <a:spLocks noGrp="1"/>
              </p:cNvSpPr>
              <p:nvPr>
                <p:ph idx="1"/>
              </p:nvPr>
            </p:nvSpPr>
            <p:spPr>
              <a:xfrm>
                <a:off x="1055803" y="1253765"/>
                <a:ext cx="10774836" cy="5247168"/>
              </a:xfrm>
            </p:spPr>
            <p:txBody>
              <a:bodyPr>
                <a:no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During the read operation, a valid address is first applied to the address lines, and the chip select (CS) and output enable (OE) signals are activated to enable the memory for reading.</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Once the address becomes stable, the SRAM begins accessing the corresponding memory location, and this delay is defined as the address access time (</a:t>
                </a:r>
                <a14:m>
                  <m:oMath xmlns:m="http://schemas.openxmlformats.org/officeDocument/2006/math">
                    <m:sSub>
                      <m:sSubPr>
                        <m:ctrlPr>
                          <a:rPr lang="en-US" sz="2200" i="1" smtClean="0">
                            <a:latin typeface="Cambria Math" panose="02040503050406030204" pitchFamily="18" charset="0"/>
                            <a:cs typeface="Times New Roman" panose="02020603050405020304" pitchFamily="18" charset="0"/>
                          </a:rPr>
                        </m:ctrlPr>
                      </m:sSubPr>
                      <m:e>
                        <m:r>
                          <a:rPr lang="en-IN" sz="2200" b="0" i="1" smtClean="0">
                            <a:latin typeface="Cambria Math" panose="02040503050406030204" pitchFamily="18" charset="0"/>
                            <a:cs typeface="Times New Roman" panose="02020603050405020304" pitchFamily="18" charset="0"/>
                          </a:rPr>
                          <m:t>𝑡</m:t>
                        </m:r>
                      </m:e>
                      <m:sub>
                        <m:r>
                          <a:rPr lang="en-IN" sz="2200" b="0" i="1" smtClean="0">
                            <a:latin typeface="Cambria Math" panose="02040503050406030204" pitchFamily="18" charset="0"/>
                            <a:cs typeface="Times New Roman" panose="02020603050405020304" pitchFamily="18" charset="0"/>
                          </a:rPr>
                          <m:t>𝑎𝑎</m:t>
                        </m:r>
                      </m:sub>
                    </m:sSub>
                  </m:oMath>
                </a14:m>
                <a:r>
                  <a:rPr lang="en-US" sz="2200" dirty="0">
                    <a:latin typeface="Times New Roman" panose="02020603050405020304" pitchFamily="18" charset="0"/>
                    <a:cs typeface="Times New Roman" panose="02020603050405020304" pitchFamily="18" charset="0"/>
                  </a:rPr>
                  <a:t>) which represents the time taken for the data to appear at the output after the address is applied.</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Initially, the data output remains in a high impedance (High-Z) state, meaning the output is not yet valid and is effectively disconnected from the bus.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After the access time (</a:t>
                </a:r>
                <a14:m>
                  <m:oMath xmlns:m="http://schemas.openxmlformats.org/officeDocument/2006/math">
                    <m:sSub>
                      <m:sSubPr>
                        <m:ctrlPr>
                          <a:rPr lang="en-US" sz="2200" i="1">
                            <a:latin typeface="Cambria Math" panose="02040503050406030204" pitchFamily="18" charset="0"/>
                            <a:cs typeface="Times New Roman" panose="02020603050405020304" pitchFamily="18" charset="0"/>
                          </a:rPr>
                        </m:ctrlPr>
                      </m:sSubPr>
                      <m:e>
                        <m:r>
                          <a:rPr lang="en-IN" sz="2200" i="1">
                            <a:latin typeface="Cambria Math" panose="02040503050406030204" pitchFamily="18" charset="0"/>
                            <a:cs typeface="Times New Roman" panose="02020603050405020304" pitchFamily="18" charset="0"/>
                          </a:rPr>
                          <m:t>𝑡</m:t>
                        </m:r>
                      </m:e>
                      <m:sub>
                        <m:r>
                          <a:rPr lang="en-IN" sz="2200" i="1">
                            <a:latin typeface="Cambria Math" panose="02040503050406030204" pitchFamily="18" charset="0"/>
                            <a:cs typeface="Times New Roman" panose="02020603050405020304" pitchFamily="18" charset="0"/>
                          </a:rPr>
                          <m:t>𝑎𝑎</m:t>
                        </m:r>
                      </m:sub>
                    </m:sSub>
                  </m:oMath>
                </a14:m>
                <a:r>
                  <a:rPr lang="en-US" sz="2200" dirty="0">
                    <a:latin typeface="Times New Roman" panose="02020603050405020304" pitchFamily="18" charset="0"/>
                    <a:cs typeface="Times New Roman" panose="02020603050405020304" pitchFamily="18" charset="0"/>
                  </a:rPr>
                  <a:t>) has elapsed, the correct data stored in the selected memory cell becomes available at the output, and this region is indicated as data valid.</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total duration required to complete one read operation, from one address to the next, is called the read cycle time (</a:t>
                </a:r>
                <a14:m>
                  <m:oMath xmlns:m="http://schemas.openxmlformats.org/officeDocument/2006/math">
                    <m:sSub>
                      <m:sSubPr>
                        <m:ctrlPr>
                          <a:rPr lang="en-US" sz="2200" i="1">
                            <a:latin typeface="Cambria Math" panose="02040503050406030204" pitchFamily="18" charset="0"/>
                            <a:cs typeface="Times New Roman" panose="02020603050405020304" pitchFamily="18" charset="0"/>
                          </a:rPr>
                        </m:ctrlPr>
                      </m:sSubPr>
                      <m:e>
                        <m:r>
                          <a:rPr lang="en-IN" sz="2200" i="1">
                            <a:latin typeface="Cambria Math" panose="02040503050406030204" pitchFamily="18" charset="0"/>
                            <a:cs typeface="Times New Roman" panose="02020603050405020304" pitchFamily="18" charset="0"/>
                          </a:rPr>
                          <m:t>𝑡</m:t>
                        </m:r>
                      </m:e>
                      <m:sub>
                        <m:r>
                          <a:rPr lang="en-IN" sz="2200" b="0" i="1" smtClean="0">
                            <a:latin typeface="Cambria Math" panose="02040503050406030204" pitchFamily="18" charset="0"/>
                            <a:cs typeface="Times New Roman" panose="02020603050405020304" pitchFamily="18" charset="0"/>
                          </a:rPr>
                          <m:t>𝑅𝐶</m:t>
                        </m:r>
                      </m:sub>
                    </m:sSub>
                  </m:oMath>
                </a14:m>
                <a:r>
                  <a:rPr lang="en-US" sz="2200" dirty="0">
                    <a:latin typeface="Times New Roman" panose="02020603050405020304" pitchFamily="18" charset="0"/>
                    <a:cs typeface="Times New Roman" panose="02020603050405020304" pitchFamily="18" charset="0"/>
                  </a:rPr>
                  <a:t>), which determines how fast consecutive read operations can be performed.</a:t>
                </a:r>
              </a:p>
              <a:p>
                <a:pPr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E2FC410C-C8AE-947F-E5E4-4B931BB6F22E}"/>
                  </a:ext>
                </a:extLst>
              </p:cNvPr>
              <p:cNvSpPr>
                <a:spLocks noGrp="1" noRot="1" noChangeAspect="1" noMove="1" noResize="1" noEditPoints="1" noAdjustHandles="1" noChangeArrowheads="1" noChangeShapeType="1" noTextEdit="1"/>
              </p:cNvSpPr>
              <p:nvPr>
                <p:ph idx="1"/>
              </p:nvPr>
            </p:nvSpPr>
            <p:spPr>
              <a:xfrm>
                <a:off x="1055803" y="1253765"/>
                <a:ext cx="10774836" cy="5247168"/>
              </a:xfrm>
              <a:blipFill>
                <a:blip r:embed="rId2"/>
                <a:stretch>
                  <a:fillRect l="-622" t="-814" r="-735"/>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3B02C31C-0B79-E84F-4767-92A9F86A3774}"/>
              </a:ext>
            </a:extLst>
          </p:cNvPr>
          <p:cNvSpPr>
            <a:spLocks noGrp="1"/>
          </p:cNvSpPr>
          <p:nvPr>
            <p:ph type="ftr" sz="quarter" idx="11"/>
          </p:nvPr>
        </p:nvSpPr>
        <p:spPr/>
        <p:txBody>
          <a:bodyPr/>
          <a:lstStyle/>
          <a:p>
            <a:r>
              <a:rPr lang="en-IN" dirty="0"/>
              <a:t>Dr. Aruru Sai Kumar , VIT-AP</a:t>
            </a:r>
          </a:p>
        </p:txBody>
      </p:sp>
      <p:cxnSp>
        <p:nvCxnSpPr>
          <p:cNvPr id="7" name="Straight Connector 6">
            <a:extLst>
              <a:ext uri="{FF2B5EF4-FFF2-40B4-BE49-F238E27FC236}">
                <a16:creationId xmlns:a16="http://schemas.microsoft.com/office/drawing/2014/main" id="{EE131392-7F20-1A29-635F-0946A016E7A1}"/>
              </a:ext>
            </a:extLst>
          </p:cNvPr>
          <p:cNvCxnSpPr/>
          <p:nvPr/>
        </p:nvCxnSpPr>
        <p:spPr>
          <a:xfrm>
            <a:off x="1583703" y="2922309"/>
            <a:ext cx="4036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AF1B459-747C-F12E-8D6B-EE0D73D101B6}"/>
              </a:ext>
            </a:extLst>
          </p:cNvPr>
          <p:cNvCxnSpPr/>
          <p:nvPr/>
        </p:nvCxnSpPr>
        <p:spPr>
          <a:xfrm>
            <a:off x="4666268" y="2922309"/>
            <a:ext cx="40535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1370D8E-A899-3661-9E23-305A6E17081F}"/>
              </a:ext>
            </a:extLst>
          </p:cNvPr>
          <p:cNvCxnSpPr/>
          <p:nvPr/>
        </p:nvCxnSpPr>
        <p:spPr>
          <a:xfrm>
            <a:off x="2174432" y="1668545"/>
            <a:ext cx="4147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053DF7B-A0CA-63E2-D159-782119CC40F4}"/>
              </a:ext>
            </a:extLst>
          </p:cNvPr>
          <p:cNvCxnSpPr/>
          <p:nvPr/>
        </p:nvCxnSpPr>
        <p:spPr>
          <a:xfrm>
            <a:off x="6202837" y="2922309"/>
            <a:ext cx="4147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A0571AB-7FE9-2FCA-41AB-8619B9ED6535}"/>
              </a:ext>
            </a:extLst>
          </p:cNvPr>
          <p:cNvCxnSpPr/>
          <p:nvPr/>
        </p:nvCxnSpPr>
        <p:spPr>
          <a:xfrm>
            <a:off x="4897225" y="1668545"/>
            <a:ext cx="34879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7222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DF54C-B6C2-DAE1-6248-1E2862924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29681-9556-DD5D-7B38-8E8E27A456FA}"/>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Basics of SRAM : 	Write Cycle Timing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1F577D-49E6-396E-DD64-F84492E6DA41}"/>
                  </a:ext>
                </a:extLst>
              </p:cNvPr>
              <p:cNvSpPr>
                <a:spLocks noGrp="1"/>
              </p:cNvSpPr>
              <p:nvPr>
                <p:ph idx="1"/>
              </p:nvPr>
            </p:nvSpPr>
            <p:spPr>
              <a:xfrm>
                <a:off x="1055803" y="1253765"/>
                <a:ext cx="10774836" cy="5247168"/>
              </a:xfrm>
            </p:spPr>
            <p:txBody>
              <a:bodyPr>
                <a:no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During the write operation, a valid address is applied along with the chip select (CS) signal, and the write enable (WE) signal is activated to indicate that data is to be written into the memory.</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input data must be provided on the data lines and should remain stable for a certain duration so that it can be correctly stored in the selected memory cell.</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total time required to complete one write operation is known as the write cycle time (</a:t>
                </a:r>
                <a14:m>
                  <m:oMath xmlns:m="http://schemas.openxmlformats.org/officeDocument/2006/math">
                    <m:sSub>
                      <m:sSubPr>
                        <m:ctrlPr>
                          <a:rPr lang="en-US" sz="2200" i="1" smtClean="0">
                            <a:latin typeface="Cambria Math" panose="02040503050406030204" pitchFamily="18" charset="0"/>
                            <a:cs typeface="Times New Roman" panose="02020603050405020304" pitchFamily="18" charset="0"/>
                          </a:rPr>
                        </m:ctrlPr>
                      </m:sSubPr>
                      <m:e>
                        <m:r>
                          <a:rPr lang="en-IN" sz="2200" b="0" i="1" smtClean="0">
                            <a:latin typeface="Cambria Math" panose="02040503050406030204" pitchFamily="18" charset="0"/>
                            <a:cs typeface="Times New Roman" panose="02020603050405020304" pitchFamily="18" charset="0"/>
                          </a:rPr>
                          <m:t>𝑡</m:t>
                        </m:r>
                      </m:e>
                      <m:sub>
                        <m:r>
                          <a:rPr lang="en-IN" sz="2200" b="0" i="1" smtClean="0">
                            <a:latin typeface="Cambria Math" panose="02040503050406030204" pitchFamily="18" charset="0"/>
                            <a:cs typeface="Times New Roman" panose="02020603050405020304" pitchFamily="18" charset="0"/>
                          </a:rPr>
                          <m:t>𝑊𝐶</m:t>
                        </m:r>
                      </m:sub>
                    </m:sSub>
                  </m:oMath>
                </a14:m>
                <a:r>
                  <a:rPr lang="en-US" sz="2200" dirty="0">
                    <a:latin typeface="Times New Roman" panose="02020603050405020304" pitchFamily="18" charset="0"/>
                    <a:cs typeface="Times New Roman" panose="02020603050405020304" pitchFamily="18" charset="0"/>
                  </a:rPr>
                  <a:t>), which defines how frequently write operations can occur.</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interval during which the write enable (WE) signal is active determines the actual writing process, and the data becomes valid within this period.</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After the write operation is completed, a short delay called the write recovery time (</a:t>
                </a:r>
                <a14:m>
                  <m:oMath xmlns:m="http://schemas.openxmlformats.org/officeDocument/2006/math">
                    <m:sSub>
                      <m:sSubPr>
                        <m:ctrlPr>
                          <a:rPr lang="en-US" sz="2200" i="1">
                            <a:latin typeface="Cambria Math" panose="02040503050406030204" pitchFamily="18" charset="0"/>
                            <a:cs typeface="Times New Roman" panose="02020603050405020304" pitchFamily="18" charset="0"/>
                          </a:rPr>
                        </m:ctrlPr>
                      </m:sSubPr>
                      <m:e>
                        <m:r>
                          <a:rPr lang="en-IN" sz="2200" i="1">
                            <a:latin typeface="Cambria Math" panose="02040503050406030204" pitchFamily="18" charset="0"/>
                            <a:cs typeface="Times New Roman" panose="02020603050405020304" pitchFamily="18" charset="0"/>
                          </a:rPr>
                          <m:t>𝑡</m:t>
                        </m:r>
                      </m:e>
                      <m:sub>
                        <m:r>
                          <a:rPr lang="en-IN" sz="2200" i="1">
                            <a:latin typeface="Cambria Math" panose="02040503050406030204" pitchFamily="18" charset="0"/>
                            <a:cs typeface="Times New Roman" panose="02020603050405020304" pitchFamily="18" charset="0"/>
                          </a:rPr>
                          <m:t>𝑊</m:t>
                        </m:r>
                        <m:r>
                          <a:rPr lang="en-IN" sz="2200" b="0" i="1" smtClean="0">
                            <a:latin typeface="Cambria Math" panose="02040503050406030204" pitchFamily="18" charset="0"/>
                            <a:cs typeface="Times New Roman" panose="02020603050405020304" pitchFamily="18" charset="0"/>
                          </a:rPr>
                          <m:t>𝑅</m:t>
                        </m:r>
                      </m:sub>
                    </m:sSub>
                    <m:r>
                      <a:rPr lang="en-IN" sz="2200" i="1">
                        <a:latin typeface="Cambria Math" panose="02040503050406030204" pitchFamily="18" charset="0"/>
                        <a:cs typeface="Times New Roman" panose="02020603050405020304" pitchFamily="18" charset="0"/>
                      </a:rPr>
                      <m:t> </m:t>
                    </m:r>
                  </m:oMath>
                </a14:m>
                <a:r>
                  <a:rPr lang="en-US" sz="2200" dirty="0">
                    <a:latin typeface="Times New Roman" panose="02020603050405020304" pitchFamily="18" charset="0"/>
                    <a:cs typeface="Times New Roman" panose="02020603050405020304" pitchFamily="18" charset="0"/>
                  </a:rPr>
                  <a:t>) is required before initiating the next operation, ensuring that the memory stabilizes and avoids incorrect data storage.</a:t>
                </a:r>
              </a:p>
              <a:p>
                <a:pPr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511F577D-49E6-396E-DD64-F84492E6DA41}"/>
                  </a:ext>
                </a:extLst>
              </p:cNvPr>
              <p:cNvSpPr>
                <a:spLocks noGrp="1" noRot="1" noChangeAspect="1" noMove="1" noResize="1" noEditPoints="1" noAdjustHandles="1" noChangeArrowheads="1" noChangeShapeType="1" noTextEdit="1"/>
              </p:cNvSpPr>
              <p:nvPr>
                <p:ph idx="1"/>
              </p:nvPr>
            </p:nvSpPr>
            <p:spPr>
              <a:xfrm>
                <a:off x="1055803" y="1253765"/>
                <a:ext cx="10774836" cy="5247168"/>
              </a:xfrm>
              <a:blipFill>
                <a:blip r:embed="rId2"/>
                <a:stretch>
                  <a:fillRect l="-622" t="-814" r="-735"/>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AE1FB350-AD05-2E65-3365-D4F0B69A9CCF}"/>
              </a:ext>
            </a:extLst>
          </p:cNvPr>
          <p:cNvSpPr>
            <a:spLocks noGrp="1"/>
          </p:cNvSpPr>
          <p:nvPr>
            <p:ph type="ftr" sz="quarter" idx="11"/>
          </p:nvPr>
        </p:nvSpPr>
        <p:spPr/>
        <p:txBody>
          <a:bodyPr/>
          <a:lstStyle/>
          <a:p>
            <a:r>
              <a:rPr lang="en-IN" dirty="0"/>
              <a:t>Dr. Aruru Sai Kumar , VIT-AP</a:t>
            </a:r>
          </a:p>
        </p:txBody>
      </p:sp>
      <p:cxnSp>
        <p:nvCxnSpPr>
          <p:cNvPr id="11" name="Straight Connector 10">
            <a:extLst>
              <a:ext uri="{FF2B5EF4-FFF2-40B4-BE49-F238E27FC236}">
                <a16:creationId xmlns:a16="http://schemas.microsoft.com/office/drawing/2014/main" id="{7D7DB8B2-9C01-0CA8-2B1E-C3BDAAA66D29}"/>
              </a:ext>
            </a:extLst>
          </p:cNvPr>
          <p:cNvCxnSpPr/>
          <p:nvPr/>
        </p:nvCxnSpPr>
        <p:spPr>
          <a:xfrm>
            <a:off x="4003231" y="1640265"/>
            <a:ext cx="4147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0EA2926-A218-CB44-85CD-34764FC46577}"/>
              </a:ext>
            </a:extLst>
          </p:cNvPr>
          <p:cNvCxnSpPr/>
          <p:nvPr/>
        </p:nvCxnSpPr>
        <p:spPr>
          <a:xfrm>
            <a:off x="6726026" y="4015818"/>
            <a:ext cx="4147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E907BE4-FED7-86D3-99B2-9AD2F17941B4}"/>
              </a:ext>
            </a:extLst>
          </p:cNvPr>
          <p:cNvCxnSpPr/>
          <p:nvPr/>
        </p:nvCxnSpPr>
        <p:spPr>
          <a:xfrm>
            <a:off x="10459039" y="1319754"/>
            <a:ext cx="34879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9924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1C2049-7480-843D-A274-ED0D53F98872}"/>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5D6F1B0A-C3DB-8C63-1E4A-8E9E2BDEBAF7}"/>
              </a:ext>
            </a:extLst>
          </p:cNvPr>
          <p:cNvPicPr>
            <a:picLocks noChangeAspect="1"/>
          </p:cNvPicPr>
          <p:nvPr/>
        </p:nvPicPr>
        <p:blipFill>
          <a:blip r:embed="rId2"/>
          <a:stretch>
            <a:fillRect/>
          </a:stretch>
        </p:blipFill>
        <p:spPr>
          <a:xfrm>
            <a:off x="1913405" y="1236951"/>
            <a:ext cx="9622256" cy="3580146"/>
          </a:xfrm>
          <a:prstGeom prst="rect">
            <a:avLst/>
          </a:prstGeom>
        </p:spPr>
      </p:pic>
      <p:sp>
        <p:nvSpPr>
          <p:cNvPr id="6" name="TextBox 5">
            <a:extLst>
              <a:ext uri="{FF2B5EF4-FFF2-40B4-BE49-F238E27FC236}">
                <a16:creationId xmlns:a16="http://schemas.microsoft.com/office/drawing/2014/main" id="{610C030F-E3FD-89E4-91D3-066D92B63B3E}"/>
              </a:ext>
            </a:extLst>
          </p:cNvPr>
          <p:cNvSpPr txBox="1"/>
          <p:nvPr/>
        </p:nvSpPr>
        <p:spPr>
          <a:xfrm>
            <a:off x="2498103" y="5153287"/>
            <a:ext cx="761999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2: Typical timing of an SRAM: (a) read cycle; (b) write cycle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0315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192C384-7CB3-DFB6-4425-D3B1E6C6DBC5}"/>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D534A466-C30B-E4BD-23B0-7888A0C5A9E9}"/>
              </a:ext>
            </a:extLst>
          </p:cNvPr>
          <p:cNvPicPr>
            <a:picLocks noChangeAspect="1"/>
          </p:cNvPicPr>
          <p:nvPr/>
        </p:nvPicPr>
        <p:blipFill>
          <a:blip r:embed="rId2"/>
          <a:stretch>
            <a:fillRect/>
          </a:stretch>
        </p:blipFill>
        <p:spPr>
          <a:xfrm>
            <a:off x="1975952" y="622846"/>
            <a:ext cx="9166512" cy="4052849"/>
          </a:xfrm>
          <a:prstGeom prst="rect">
            <a:avLst/>
          </a:prstGeom>
        </p:spPr>
      </p:pic>
      <p:sp>
        <p:nvSpPr>
          <p:cNvPr id="6" name="TextBox 5">
            <a:extLst>
              <a:ext uri="{FF2B5EF4-FFF2-40B4-BE49-F238E27FC236}">
                <a16:creationId xmlns:a16="http://schemas.microsoft.com/office/drawing/2014/main" id="{6BECABF8-23C9-7332-87BB-CA03EF93FB28}"/>
              </a:ext>
            </a:extLst>
          </p:cNvPr>
          <p:cNvSpPr txBox="1"/>
          <p:nvPr/>
        </p:nvSpPr>
        <p:spPr>
          <a:xfrm>
            <a:off x="3188617" y="4952941"/>
            <a:ext cx="6094428"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3:The six-transistor CMOS memory cell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719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81789-D2A2-06DE-339B-008F16C88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AF207-EBC7-B4AE-AAFD-60B3EC4655FB}"/>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Basics of SRAM</a:t>
            </a:r>
          </a:p>
        </p:txBody>
      </p:sp>
      <p:sp>
        <p:nvSpPr>
          <p:cNvPr id="3" name="Content Placeholder 2">
            <a:extLst>
              <a:ext uri="{FF2B5EF4-FFF2-40B4-BE49-F238E27FC236}">
                <a16:creationId xmlns:a16="http://schemas.microsoft.com/office/drawing/2014/main" id="{5DA05ECB-FA89-6B4D-1AB3-CE60341B9400}"/>
              </a:ext>
            </a:extLst>
          </p:cNvPr>
          <p:cNvSpPr>
            <a:spLocks noGrp="1"/>
          </p:cNvSpPr>
          <p:nvPr>
            <p:ph idx="1"/>
          </p:nvPr>
        </p:nvSpPr>
        <p:spPr>
          <a:xfrm>
            <a:off x="1055803" y="1253765"/>
            <a:ext cx="10774836" cy="5247168"/>
          </a:xfrm>
        </p:spPr>
        <p:txBody>
          <a:bodyPr>
            <a:noAutofit/>
          </a:bodyPr>
          <a:lstStyle/>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cell has:</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Two cross-coupled inverters → store data (nodes A and B)</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Two access transistors (MN3, MN4) → connect cell to bit lines</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WL (Word Line) controls access</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BL and BL(bit lines) carry data</a:t>
            </a:r>
          </a:p>
          <a:p>
            <a:pPr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Read Operation:</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Before reading, both bit lines (BL and BL) are </a:t>
            </a:r>
            <a:r>
              <a:rPr lang="en-US" sz="2200" dirty="0" err="1">
                <a:latin typeface="Times New Roman" panose="02020603050405020304" pitchFamily="18" charset="0"/>
                <a:cs typeface="Times New Roman" panose="02020603050405020304" pitchFamily="18" charset="0"/>
              </a:rPr>
              <a:t>precharged</a:t>
            </a:r>
            <a:r>
              <a:rPr lang="en-US" sz="2200" dirty="0">
                <a:latin typeface="Times New Roman" panose="02020603050405020304" pitchFamily="18" charset="0"/>
                <a:cs typeface="Times New Roman" panose="02020603050405020304" pitchFamily="18" charset="0"/>
              </a:rPr>
              <a:t> to same voltage (usually VDD).</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When WL = 1 (enabled):</a:t>
            </a:r>
          </a:p>
          <a:p>
            <a:pPr lvl="1">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cell connects to bit lines</a:t>
            </a:r>
          </a:p>
          <a:p>
            <a:pPr lvl="1">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Suppose:</a:t>
            </a:r>
          </a:p>
          <a:p>
            <a:pPr lvl="2">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 = 1, B = 0</a:t>
            </a:r>
          </a:p>
          <a:p>
            <a:pPr algn="just">
              <a:buFont typeface="Arial" panose="020B0604020202020204" pitchFamily="34" charset="0"/>
              <a:buChar char="•"/>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95B3435-CF8D-1D5C-F697-BBF3C395F6E3}"/>
              </a:ext>
            </a:extLst>
          </p:cNvPr>
          <p:cNvSpPr>
            <a:spLocks noGrp="1"/>
          </p:cNvSpPr>
          <p:nvPr>
            <p:ph type="ftr" sz="quarter" idx="11"/>
          </p:nvPr>
        </p:nvSpPr>
        <p:spPr/>
        <p:txBody>
          <a:bodyPr/>
          <a:lstStyle/>
          <a:p>
            <a:r>
              <a:rPr lang="en-IN" dirty="0"/>
              <a:t>Dr. Aruru Sai Kumar , VIT-AP</a:t>
            </a:r>
          </a:p>
        </p:txBody>
      </p:sp>
      <p:cxnSp>
        <p:nvCxnSpPr>
          <p:cNvPr id="13" name="Straight Connector 12">
            <a:extLst>
              <a:ext uri="{FF2B5EF4-FFF2-40B4-BE49-F238E27FC236}">
                <a16:creationId xmlns:a16="http://schemas.microsoft.com/office/drawing/2014/main" id="{0447A726-5FB3-E428-FD32-499F3A8775B9}"/>
              </a:ext>
            </a:extLst>
          </p:cNvPr>
          <p:cNvCxnSpPr/>
          <p:nvPr/>
        </p:nvCxnSpPr>
        <p:spPr>
          <a:xfrm>
            <a:off x="2719634" y="3148551"/>
            <a:ext cx="4147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9FD958D-3BE2-1813-40B4-A44640974161}"/>
              </a:ext>
            </a:extLst>
          </p:cNvPr>
          <p:cNvCxnSpPr/>
          <p:nvPr/>
        </p:nvCxnSpPr>
        <p:spPr>
          <a:xfrm>
            <a:off x="10459039" y="1319754"/>
            <a:ext cx="3487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3A99CF7-4D22-C5E0-DAE8-519E25A3D93F}"/>
              </a:ext>
            </a:extLst>
          </p:cNvPr>
          <p:cNvCxnSpPr/>
          <p:nvPr/>
        </p:nvCxnSpPr>
        <p:spPr>
          <a:xfrm>
            <a:off x="5775490" y="4130509"/>
            <a:ext cx="41477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5911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274E6-E427-35A8-E2F4-F21F9ECC6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54DEA-3AD1-CE02-C50C-FCE3E83CD006}"/>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Basics of SRAM</a:t>
            </a:r>
          </a:p>
        </p:txBody>
      </p:sp>
      <p:sp>
        <p:nvSpPr>
          <p:cNvPr id="3" name="Content Placeholder 2">
            <a:extLst>
              <a:ext uri="{FF2B5EF4-FFF2-40B4-BE49-F238E27FC236}">
                <a16:creationId xmlns:a16="http://schemas.microsoft.com/office/drawing/2014/main" id="{DA0CBA9E-C2DA-6128-F1C3-E145DC86E154}"/>
              </a:ext>
            </a:extLst>
          </p:cNvPr>
          <p:cNvSpPr>
            <a:spLocks noGrp="1"/>
          </p:cNvSpPr>
          <p:nvPr>
            <p:ph idx="1"/>
          </p:nvPr>
        </p:nvSpPr>
        <p:spPr>
          <a:xfrm>
            <a:off x="1055803" y="1253765"/>
            <a:ext cx="10774836" cy="5247168"/>
          </a:xfrm>
        </p:spPr>
        <p:txBody>
          <a:bodyPr>
            <a:noAutofit/>
          </a:bodyPr>
          <a:lstStyle/>
          <a:p>
            <a:pPr>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Then:</a:t>
            </a:r>
          </a:p>
          <a:p>
            <a:pPr lvl="1">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BL slightly discharges (goes down) through NMOS path</a:t>
            </a:r>
          </a:p>
          <a:p>
            <a:pPr lvl="1">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BL stays high (or slightly higher)</a:t>
            </a:r>
          </a:p>
          <a:p>
            <a:pPr>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This creates a small voltage difference between BL and BL</a:t>
            </a:r>
          </a:p>
          <a:p>
            <a:pPr>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Sense amplifier detects this difference and outputs:</a:t>
            </a:r>
          </a:p>
          <a:p>
            <a:pPr lvl="1">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BL &gt; BL → logic 1</a:t>
            </a:r>
          </a:p>
          <a:p>
            <a:pPr lvl="1">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BL &lt; BL→ logic 0</a:t>
            </a:r>
          </a:p>
          <a:p>
            <a:pPr algn="just">
              <a:buFont typeface="Arial" panose="020B0604020202020204" pitchFamily="34" charset="0"/>
              <a:buChar char="•"/>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72E1B92-CE36-374A-6B9F-AFA627CF57ED}"/>
              </a:ext>
            </a:extLst>
          </p:cNvPr>
          <p:cNvSpPr>
            <a:spLocks noGrp="1"/>
          </p:cNvSpPr>
          <p:nvPr>
            <p:ph type="ftr" sz="quarter" idx="11"/>
          </p:nvPr>
        </p:nvSpPr>
        <p:spPr/>
        <p:txBody>
          <a:bodyPr/>
          <a:lstStyle/>
          <a:p>
            <a:r>
              <a:rPr lang="en-IN" dirty="0"/>
              <a:t>Dr. Aruru Sai Kumar , VIT-AP</a:t>
            </a:r>
          </a:p>
        </p:txBody>
      </p:sp>
      <p:cxnSp>
        <p:nvCxnSpPr>
          <p:cNvPr id="19" name="Straight Connector 18">
            <a:extLst>
              <a:ext uri="{FF2B5EF4-FFF2-40B4-BE49-F238E27FC236}">
                <a16:creationId xmlns:a16="http://schemas.microsoft.com/office/drawing/2014/main" id="{1A6E39CA-9105-1445-F22B-CFBC369342C3}"/>
              </a:ext>
            </a:extLst>
          </p:cNvPr>
          <p:cNvCxnSpPr/>
          <p:nvPr/>
        </p:nvCxnSpPr>
        <p:spPr>
          <a:xfrm>
            <a:off x="10459039" y="1319754"/>
            <a:ext cx="3487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B4D0443-C7C3-4989-066C-1F639B74A73A}"/>
              </a:ext>
            </a:extLst>
          </p:cNvPr>
          <p:cNvCxnSpPr/>
          <p:nvPr/>
        </p:nvCxnSpPr>
        <p:spPr>
          <a:xfrm>
            <a:off x="1779987" y="1776461"/>
            <a:ext cx="4147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EB8A227-BFEB-A6DE-2B20-CC31EB1BC5CB}"/>
              </a:ext>
            </a:extLst>
          </p:cNvPr>
          <p:cNvCxnSpPr/>
          <p:nvPr/>
        </p:nvCxnSpPr>
        <p:spPr>
          <a:xfrm>
            <a:off x="7692164" y="2633218"/>
            <a:ext cx="4147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68BD673-1931-5580-413F-A15E0996CCE8}"/>
              </a:ext>
            </a:extLst>
          </p:cNvPr>
          <p:cNvCxnSpPr/>
          <p:nvPr/>
        </p:nvCxnSpPr>
        <p:spPr>
          <a:xfrm>
            <a:off x="2381822" y="3568043"/>
            <a:ext cx="4147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94CB1FB-0F69-5BBA-B0BA-CFE0A0D8A08F}"/>
              </a:ext>
            </a:extLst>
          </p:cNvPr>
          <p:cNvCxnSpPr/>
          <p:nvPr/>
        </p:nvCxnSpPr>
        <p:spPr>
          <a:xfrm>
            <a:off x="2392712" y="4001676"/>
            <a:ext cx="41477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2995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0B193-884D-D626-FBB0-701158C942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B9880-BCA5-EB0F-152E-5D4FCA8CEA8B}"/>
              </a:ext>
            </a:extLst>
          </p:cNvPr>
          <p:cNvSpPr>
            <a:spLocks noGrp="1"/>
          </p:cNvSpPr>
          <p:nvPr>
            <p:ph type="title"/>
          </p:nvPr>
        </p:nvSpPr>
        <p:spPr>
          <a:xfrm>
            <a:off x="1817694" y="337404"/>
            <a:ext cx="8911687" cy="381122"/>
          </a:xfrm>
        </p:spPr>
        <p:txBody>
          <a:bodyPr>
            <a:normAutofit fontScale="90000"/>
          </a:bodyPr>
          <a:lstStyle/>
          <a:p>
            <a:r>
              <a:rPr lang="en-IN" b="1" dirty="0">
                <a:latin typeface="Times New Roman" panose="02020603050405020304" pitchFamily="18" charset="0"/>
                <a:cs typeface="Times New Roman" panose="02020603050405020304" pitchFamily="18" charset="0"/>
              </a:rPr>
              <a:t>Basics of SRAM</a:t>
            </a:r>
          </a:p>
        </p:txBody>
      </p:sp>
      <p:sp>
        <p:nvSpPr>
          <p:cNvPr id="3" name="Content Placeholder 2">
            <a:extLst>
              <a:ext uri="{FF2B5EF4-FFF2-40B4-BE49-F238E27FC236}">
                <a16:creationId xmlns:a16="http://schemas.microsoft.com/office/drawing/2014/main" id="{2B99E50A-BDDC-E786-C201-65CD36F928CF}"/>
              </a:ext>
            </a:extLst>
          </p:cNvPr>
          <p:cNvSpPr>
            <a:spLocks noGrp="1"/>
          </p:cNvSpPr>
          <p:nvPr>
            <p:ph idx="1"/>
          </p:nvPr>
        </p:nvSpPr>
        <p:spPr>
          <a:xfrm>
            <a:off x="1055803" y="942681"/>
            <a:ext cx="10774836" cy="5193128"/>
          </a:xfrm>
        </p:spPr>
        <p:txBody>
          <a:bodyPr>
            <a:noAutofit/>
          </a:bodyPr>
          <a:lstStyle/>
          <a:p>
            <a:pPr algn="jus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Write Operation:</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 write data, we force values on bit lines:</a:t>
            </a:r>
          </a:p>
          <a:p>
            <a:pPr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Writing ‘1’:</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BL = 1</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BL = 0</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When WL = 1:</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Access transistors turn ON</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These values are forced into nodes: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 → becomes 1</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 → becomes 0</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Due to cross-coupled inverters (positive feedback):</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cell quickly stabilizes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Stores the new value strongly</a:t>
            </a:r>
          </a:p>
          <a:p>
            <a:pPr algn="just">
              <a:buFont typeface="Arial" panose="020B0604020202020204" pitchFamily="34" charset="0"/>
              <a:buChar char="•"/>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E3A1812-3917-AAC4-775D-CD9F2BCAE36E}"/>
              </a:ext>
            </a:extLst>
          </p:cNvPr>
          <p:cNvSpPr>
            <a:spLocks noGrp="1"/>
          </p:cNvSpPr>
          <p:nvPr>
            <p:ph type="ftr" sz="quarter" idx="11"/>
          </p:nvPr>
        </p:nvSpPr>
        <p:spPr/>
        <p:txBody>
          <a:bodyPr/>
          <a:lstStyle/>
          <a:p>
            <a:r>
              <a:rPr lang="en-IN" dirty="0"/>
              <a:t>Dr. Aruru Sai Kumar , VIT-AP</a:t>
            </a:r>
          </a:p>
        </p:txBody>
      </p:sp>
      <p:cxnSp>
        <p:nvCxnSpPr>
          <p:cNvPr id="6" name="Straight Connector 5">
            <a:extLst>
              <a:ext uri="{FF2B5EF4-FFF2-40B4-BE49-F238E27FC236}">
                <a16:creationId xmlns:a16="http://schemas.microsoft.com/office/drawing/2014/main" id="{67632671-2124-9B5C-B607-F25C5E511A9F}"/>
              </a:ext>
            </a:extLst>
          </p:cNvPr>
          <p:cNvCxnSpPr/>
          <p:nvPr/>
        </p:nvCxnSpPr>
        <p:spPr>
          <a:xfrm>
            <a:off x="1468903" y="2848462"/>
            <a:ext cx="41477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9683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CD648-F71B-B6BC-D8FA-481359B4F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B73C32-85F8-85C2-ED26-2D92D1D60F00}"/>
              </a:ext>
            </a:extLst>
          </p:cNvPr>
          <p:cNvSpPr>
            <a:spLocks noGrp="1"/>
          </p:cNvSpPr>
          <p:nvPr>
            <p:ph type="title"/>
          </p:nvPr>
        </p:nvSpPr>
        <p:spPr>
          <a:xfrm>
            <a:off x="1817694" y="337404"/>
            <a:ext cx="8911687" cy="605276"/>
          </a:xfrm>
        </p:spPr>
        <p:txBody>
          <a:bodyPr>
            <a:normAutofit fontScale="90000"/>
          </a:bodyPr>
          <a:lstStyle/>
          <a:p>
            <a:r>
              <a:rPr lang="en-IN" b="1" dirty="0">
                <a:latin typeface="Times New Roman" panose="02020603050405020304" pitchFamily="18" charset="0"/>
                <a:cs typeface="Times New Roman" panose="02020603050405020304" pitchFamily="18" charset="0"/>
              </a:rPr>
              <a:t>SRAM</a:t>
            </a:r>
          </a:p>
        </p:txBody>
      </p:sp>
      <p:sp>
        <p:nvSpPr>
          <p:cNvPr id="3" name="Content Placeholder 2">
            <a:extLst>
              <a:ext uri="{FF2B5EF4-FFF2-40B4-BE49-F238E27FC236}">
                <a16:creationId xmlns:a16="http://schemas.microsoft.com/office/drawing/2014/main" id="{A4E45B82-45D3-AB56-7299-AA62F7BABD1B}"/>
              </a:ext>
            </a:extLst>
          </p:cNvPr>
          <p:cNvSpPr>
            <a:spLocks noGrp="1"/>
          </p:cNvSpPr>
          <p:nvPr>
            <p:ph idx="1"/>
          </p:nvPr>
        </p:nvSpPr>
        <p:spPr>
          <a:xfrm>
            <a:off x="1055803" y="942681"/>
            <a:ext cx="10774836" cy="519312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Advantages of SRAM:</a:t>
            </a:r>
          </a:p>
          <a:p>
            <a:pPr marL="0" indent="0" algn="just">
              <a:buNone/>
            </a:pPr>
            <a:r>
              <a:rPr lang="en-US" sz="2400" b="1" dirty="0">
                <a:latin typeface="Times New Roman" panose="02020603050405020304" pitchFamily="18" charset="0"/>
                <a:cs typeface="Times New Roman" panose="02020603050405020304" pitchFamily="18" charset="0"/>
              </a:rPr>
              <a:t>High Speed</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SRAM is very fast since it does not require refresh operations. Access time is much lower compared to DRAM.</a:t>
            </a:r>
          </a:p>
          <a:p>
            <a:pPr marL="0" indent="0" algn="just">
              <a:buNone/>
            </a:pPr>
            <a:r>
              <a:rPr lang="en-US" sz="2400" b="1" dirty="0">
                <a:latin typeface="Times New Roman" panose="02020603050405020304" pitchFamily="18" charset="0"/>
                <a:cs typeface="Times New Roman" panose="02020603050405020304" pitchFamily="18" charset="0"/>
              </a:rPr>
              <a:t>No Refresh Required</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Data is stored using bistable latches (flip-flops), so it remains stable as long as power is supplied.</a:t>
            </a:r>
          </a:p>
          <a:p>
            <a:pPr marL="0" indent="0" algn="just">
              <a:buNone/>
            </a:pPr>
            <a:r>
              <a:rPr lang="en-US" sz="2400" b="1" dirty="0">
                <a:latin typeface="Times New Roman" panose="02020603050405020304" pitchFamily="18" charset="0"/>
                <a:cs typeface="Times New Roman" panose="02020603050405020304" pitchFamily="18" charset="0"/>
              </a:rPr>
              <a:t>Low Dynamic Power (No Refresh Overhead)</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Absence of refresh cycles reduces unnecessary switching activity.</a:t>
            </a:r>
          </a:p>
          <a:p>
            <a:pPr marL="0" indent="0" algn="just">
              <a:buNone/>
            </a:pPr>
            <a:r>
              <a:rPr lang="en-US" sz="2400" b="1" dirty="0">
                <a:latin typeface="Times New Roman" panose="02020603050405020304" pitchFamily="18" charset="0"/>
                <a:cs typeface="Times New Roman" panose="02020603050405020304" pitchFamily="18" charset="0"/>
              </a:rPr>
              <a:t>Better Noise Margin</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SRAM cells (like 6T) have strong stability and are less susceptible to noise compared to DRAM.</a:t>
            </a: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8BDACD6-1F55-CC16-8DF6-A253F6D69598}"/>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649749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D800A-2BF1-24E8-F7DE-AC8A787BF7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2175F-9578-58D2-5395-2E34B19A29AD}"/>
              </a:ext>
            </a:extLst>
          </p:cNvPr>
          <p:cNvSpPr>
            <a:spLocks noGrp="1"/>
          </p:cNvSpPr>
          <p:nvPr>
            <p:ph type="title"/>
          </p:nvPr>
        </p:nvSpPr>
        <p:spPr>
          <a:xfrm>
            <a:off x="1817694" y="337404"/>
            <a:ext cx="8911687" cy="605276"/>
          </a:xfrm>
        </p:spPr>
        <p:txBody>
          <a:bodyPr>
            <a:normAutofit fontScale="90000"/>
          </a:bodyPr>
          <a:lstStyle/>
          <a:p>
            <a:r>
              <a:rPr lang="en-IN" b="1" dirty="0">
                <a:latin typeface="Times New Roman" panose="02020603050405020304" pitchFamily="18" charset="0"/>
                <a:cs typeface="Times New Roman" panose="02020603050405020304" pitchFamily="18" charset="0"/>
              </a:rPr>
              <a:t>SRAM</a:t>
            </a:r>
          </a:p>
        </p:txBody>
      </p:sp>
      <p:sp>
        <p:nvSpPr>
          <p:cNvPr id="3" name="Content Placeholder 2">
            <a:extLst>
              <a:ext uri="{FF2B5EF4-FFF2-40B4-BE49-F238E27FC236}">
                <a16:creationId xmlns:a16="http://schemas.microsoft.com/office/drawing/2014/main" id="{35B3EFB9-F766-A056-DE6D-B392F62C3F07}"/>
              </a:ext>
            </a:extLst>
          </p:cNvPr>
          <p:cNvSpPr>
            <a:spLocks noGrp="1"/>
          </p:cNvSpPr>
          <p:nvPr>
            <p:ph idx="1"/>
          </p:nvPr>
        </p:nvSpPr>
        <p:spPr>
          <a:xfrm>
            <a:off x="1055803" y="942681"/>
            <a:ext cx="10774836" cy="519312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Advantages of SRAM:</a:t>
            </a:r>
          </a:p>
          <a:p>
            <a:pPr marL="0" indent="0">
              <a:buNone/>
            </a:pPr>
            <a:r>
              <a:rPr lang="en-US" sz="2400" b="1" dirty="0">
                <a:latin typeface="Times New Roman" panose="02020603050405020304" pitchFamily="18" charset="0"/>
                <a:cs typeface="Times New Roman" panose="02020603050405020304" pitchFamily="18" charset="0"/>
              </a:rPr>
              <a:t>Simple Control Logic</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No need for complex refresh control circuitry, simplifying memory controller design.</a:t>
            </a:r>
          </a:p>
          <a:p>
            <a:pPr marL="0" indent="0">
              <a:buNone/>
            </a:pPr>
            <a:r>
              <a:rPr lang="en-US" sz="2400" b="1" dirty="0">
                <a:latin typeface="Times New Roman" panose="02020603050405020304" pitchFamily="18" charset="0"/>
                <a:cs typeface="Times New Roman" panose="02020603050405020304" pitchFamily="18" charset="0"/>
              </a:rPr>
              <a:t>Ideal for Cache Memory</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Due to high speed, SRAM is widely used in CPU caches (L1, L2, L3).</a:t>
            </a: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DE9B9D4-5271-6775-9EEA-9270EDF4134C}"/>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443076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968C3-4D25-C312-E9EC-84706F17C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3D30F-CA3E-566A-D7D7-07BE4D70A905}"/>
              </a:ext>
            </a:extLst>
          </p:cNvPr>
          <p:cNvSpPr>
            <a:spLocks noGrp="1"/>
          </p:cNvSpPr>
          <p:nvPr>
            <p:ph type="title"/>
          </p:nvPr>
        </p:nvSpPr>
        <p:spPr>
          <a:xfrm>
            <a:off x="1817694" y="337404"/>
            <a:ext cx="8911687" cy="605276"/>
          </a:xfrm>
        </p:spPr>
        <p:txBody>
          <a:bodyPr>
            <a:normAutofit fontScale="90000"/>
          </a:bodyPr>
          <a:lstStyle/>
          <a:p>
            <a:r>
              <a:rPr lang="en-IN" b="1" dirty="0">
                <a:latin typeface="Times New Roman" panose="02020603050405020304" pitchFamily="18" charset="0"/>
                <a:cs typeface="Times New Roman" panose="02020603050405020304" pitchFamily="18" charset="0"/>
              </a:rPr>
              <a:t>SRAM</a:t>
            </a:r>
          </a:p>
        </p:txBody>
      </p:sp>
      <p:sp>
        <p:nvSpPr>
          <p:cNvPr id="3" name="Content Placeholder 2">
            <a:extLst>
              <a:ext uri="{FF2B5EF4-FFF2-40B4-BE49-F238E27FC236}">
                <a16:creationId xmlns:a16="http://schemas.microsoft.com/office/drawing/2014/main" id="{FAD95767-D534-FE3C-4536-1A0BDD0E490A}"/>
              </a:ext>
            </a:extLst>
          </p:cNvPr>
          <p:cNvSpPr>
            <a:spLocks noGrp="1"/>
          </p:cNvSpPr>
          <p:nvPr>
            <p:ph idx="1"/>
          </p:nvPr>
        </p:nvSpPr>
        <p:spPr>
          <a:xfrm>
            <a:off x="1055803" y="942681"/>
            <a:ext cx="10774836" cy="519312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Disadvantages of SRAM:</a:t>
            </a:r>
          </a:p>
          <a:p>
            <a:pPr marL="0" indent="0">
              <a:buNone/>
            </a:pPr>
            <a:r>
              <a:rPr lang="en-US" sz="2400" b="1" dirty="0">
                <a:latin typeface="Times New Roman" panose="02020603050405020304" pitchFamily="18" charset="0"/>
                <a:cs typeface="Times New Roman" panose="02020603050405020304" pitchFamily="18" charset="0"/>
              </a:rPr>
              <a:t>Low Density</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SRAM cells require more transistors (typically 6T), leading to larger cell size and lower packing density.</a:t>
            </a:r>
          </a:p>
          <a:p>
            <a:pPr marL="0" indent="0">
              <a:buNone/>
            </a:pPr>
            <a:r>
              <a:rPr lang="en-US" sz="2400" b="1" dirty="0">
                <a:latin typeface="Times New Roman" panose="02020603050405020304" pitchFamily="18" charset="0"/>
                <a:cs typeface="Times New Roman" panose="02020603050405020304" pitchFamily="18" charset="0"/>
              </a:rPr>
              <a:t>High Cost per Bit</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Due to larger area and complex structure, SRAM is more expensive than DRAM and Flash.</a:t>
            </a:r>
          </a:p>
          <a:p>
            <a:pPr marL="0" indent="0">
              <a:buNone/>
            </a:pPr>
            <a:r>
              <a:rPr lang="en-US" sz="2400" b="1" dirty="0">
                <a:latin typeface="Times New Roman" panose="02020603050405020304" pitchFamily="18" charset="0"/>
                <a:cs typeface="Times New Roman" panose="02020603050405020304" pitchFamily="18" charset="0"/>
              </a:rPr>
              <a:t>Higher Static Power Consumption</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Continuous power is required to maintain data, leading to leakage power issues.</a:t>
            </a:r>
          </a:p>
          <a:p>
            <a:pPr marL="0" indent="0">
              <a:buNone/>
            </a:pPr>
            <a:r>
              <a:rPr lang="en-US" sz="2400" b="1" dirty="0">
                <a:latin typeface="Times New Roman" panose="02020603050405020304" pitchFamily="18" charset="0"/>
                <a:cs typeface="Times New Roman" panose="02020603050405020304" pitchFamily="18" charset="0"/>
              </a:rPr>
              <a:t>Volatile Memory</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Data is lost when power is turned off.</a:t>
            </a: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7CF43B0-6AC2-75C1-614A-E74E28FC74BD}"/>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253281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212A9-C852-E2DF-40F8-6EAD3A92E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76437-B4F0-8E6C-45E0-B2238A96F358}"/>
              </a:ext>
            </a:extLst>
          </p:cNvPr>
          <p:cNvSpPr>
            <a:spLocks noGrp="1"/>
          </p:cNvSpPr>
          <p:nvPr>
            <p:ph type="title"/>
          </p:nvPr>
        </p:nvSpPr>
        <p:spPr>
          <a:xfrm>
            <a:off x="1817694" y="337404"/>
            <a:ext cx="8911687" cy="605276"/>
          </a:xfrm>
        </p:spPr>
        <p:txBody>
          <a:bodyPr>
            <a:normAutofit fontScale="90000"/>
          </a:bodyPr>
          <a:lstStyle/>
          <a:p>
            <a:r>
              <a:rPr lang="en-IN" b="1" dirty="0">
                <a:latin typeface="Times New Roman" panose="02020603050405020304" pitchFamily="18" charset="0"/>
                <a:cs typeface="Times New Roman" panose="02020603050405020304" pitchFamily="18" charset="0"/>
              </a:rPr>
              <a:t>SRAM</a:t>
            </a:r>
          </a:p>
        </p:txBody>
      </p:sp>
      <p:sp>
        <p:nvSpPr>
          <p:cNvPr id="3" name="Content Placeholder 2">
            <a:extLst>
              <a:ext uri="{FF2B5EF4-FFF2-40B4-BE49-F238E27FC236}">
                <a16:creationId xmlns:a16="http://schemas.microsoft.com/office/drawing/2014/main" id="{67C2B1BA-E3C2-9A18-25E5-89E873DAE947}"/>
              </a:ext>
            </a:extLst>
          </p:cNvPr>
          <p:cNvSpPr>
            <a:spLocks noGrp="1"/>
          </p:cNvSpPr>
          <p:nvPr>
            <p:ph idx="1"/>
          </p:nvPr>
        </p:nvSpPr>
        <p:spPr>
          <a:xfrm>
            <a:off x="1055803" y="942681"/>
            <a:ext cx="10774836" cy="519312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Disadvantages of SRAM:</a:t>
            </a:r>
          </a:p>
          <a:p>
            <a:pPr marL="0" indent="0">
              <a:buNone/>
            </a:pPr>
            <a:r>
              <a:rPr lang="en-US" sz="2400" b="1" dirty="0">
                <a:latin typeface="Times New Roman" panose="02020603050405020304" pitchFamily="18" charset="0"/>
                <a:cs typeface="Times New Roman" panose="02020603050405020304" pitchFamily="18" charset="0"/>
              </a:rPr>
              <a:t>Complex Cell Design</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Compared to DRAM (1T1C), SRAM cells are more complex and harder to scale.</a:t>
            </a:r>
          </a:p>
          <a:p>
            <a:pPr marL="0" indent="0">
              <a:buNone/>
            </a:pPr>
            <a:r>
              <a:rPr lang="en-US" sz="2400" b="1" dirty="0">
                <a:latin typeface="Times New Roman" panose="02020603050405020304" pitchFamily="18" charset="0"/>
                <a:cs typeface="Times New Roman" panose="02020603050405020304" pitchFamily="18" charset="0"/>
              </a:rPr>
              <a:t>Limited Storage Capacity</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Due to low density, SRAM is not suitable for large memory applications like main memory.</a:t>
            </a: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5E1BB98-09AE-A5B1-B802-D456CD901003}"/>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139614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6BCF6-86ED-D6CC-77BF-AEFD4B8250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AF498-AE74-87C7-F8F8-02ACB22A965F}"/>
              </a:ext>
            </a:extLst>
          </p:cNvPr>
          <p:cNvSpPr>
            <a:spLocks noGrp="1"/>
          </p:cNvSpPr>
          <p:nvPr>
            <p:ph type="title"/>
          </p:nvPr>
        </p:nvSpPr>
        <p:spPr>
          <a:xfrm>
            <a:off x="1817694" y="337404"/>
            <a:ext cx="8911687" cy="605276"/>
          </a:xfrm>
        </p:spPr>
        <p:txBody>
          <a:bodyPr>
            <a:normAutofit fontScale="90000"/>
          </a:bodyPr>
          <a:lstStyle/>
          <a:p>
            <a:r>
              <a:rPr lang="en-IN" b="1" dirty="0" err="1">
                <a:latin typeface="Times New Roman" panose="02020603050405020304" pitchFamily="18" charset="0"/>
                <a:cs typeface="Times New Roman" panose="02020603050405020304" pitchFamily="18" charset="0"/>
              </a:rPr>
              <a:t>Precharge</a:t>
            </a:r>
            <a:r>
              <a:rPr lang="en-IN" b="1" dirty="0">
                <a:latin typeface="Times New Roman" panose="02020603050405020304" pitchFamily="18" charset="0"/>
                <a:cs typeface="Times New Roman" panose="02020603050405020304" pitchFamily="18" charset="0"/>
              </a:rPr>
              <a:t> and Equalization Circuit: </a:t>
            </a:r>
          </a:p>
        </p:txBody>
      </p:sp>
      <p:sp>
        <p:nvSpPr>
          <p:cNvPr id="4" name="Footer Placeholder 3">
            <a:extLst>
              <a:ext uri="{FF2B5EF4-FFF2-40B4-BE49-F238E27FC236}">
                <a16:creationId xmlns:a16="http://schemas.microsoft.com/office/drawing/2014/main" id="{FFB78B23-670D-1EC7-ADE1-9CF34B0B3FE5}"/>
              </a:ext>
            </a:extLst>
          </p:cNvPr>
          <p:cNvSpPr>
            <a:spLocks noGrp="1"/>
          </p:cNvSpPr>
          <p:nvPr>
            <p:ph type="ftr" sz="quarter" idx="11"/>
          </p:nvPr>
        </p:nvSpPr>
        <p:spPr/>
        <p:txBody>
          <a:bodyPr/>
          <a:lstStyle/>
          <a:p>
            <a:r>
              <a:rPr lang="en-IN" dirty="0"/>
              <a:t>Dr. Aruru Sai Kumar , VIT-AP</a:t>
            </a:r>
          </a:p>
        </p:txBody>
      </p:sp>
      <p:pic>
        <p:nvPicPr>
          <p:cNvPr id="7" name="Picture 6">
            <a:extLst>
              <a:ext uri="{FF2B5EF4-FFF2-40B4-BE49-F238E27FC236}">
                <a16:creationId xmlns:a16="http://schemas.microsoft.com/office/drawing/2014/main" id="{28937538-27B3-1981-7239-2C89A2E7BDBA}"/>
              </a:ext>
            </a:extLst>
          </p:cNvPr>
          <p:cNvPicPr>
            <a:picLocks noChangeAspect="1"/>
          </p:cNvPicPr>
          <p:nvPr/>
        </p:nvPicPr>
        <p:blipFill>
          <a:blip r:embed="rId2"/>
          <a:stretch>
            <a:fillRect/>
          </a:stretch>
        </p:blipFill>
        <p:spPr>
          <a:xfrm>
            <a:off x="1462619" y="842158"/>
            <a:ext cx="9114310" cy="4740051"/>
          </a:xfrm>
          <a:prstGeom prst="rect">
            <a:avLst/>
          </a:prstGeom>
        </p:spPr>
      </p:pic>
      <p:sp>
        <p:nvSpPr>
          <p:cNvPr id="9" name="TextBox 8">
            <a:extLst>
              <a:ext uri="{FF2B5EF4-FFF2-40B4-BE49-F238E27FC236}">
                <a16:creationId xmlns:a16="http://schemas.microsoft.com/office/drawing/2014/main" id="{CAFC73AF-C31B-8F3F-1CF8-5EF8B4EDA49C}"/>
              </a:ext>
            </a:extLst>
          </p:cNvPr>
          <p:cNvSpPr txBox="1"/>
          <p:nvPr/>
        </p:nvSpPr>
        <p:spPr>
          <a:xfrm>
            <a:off x="1564849" y="5672039"/>
            <a:ext cx="9398523"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(a) Bit-line </a:t>
            </a:r>
            <a:r>
              <a:rPr lang="en-US" dirty="0" err="1">
                <a:latin typeface="Times New Roman" panose="02020603050405020304" pitchFamily="18" charset="0"/>
                <a:cs typeface="Times New Roman" panose="02020603050405020304" pitchFamily="18" charset="0"/>
              </a:rPr>
              <a:t>precharge</a:t>
            </a:r>
            <a:r>
              <a:rPr lang="en-US" dirty="0">
                <a:latin typeface="Times New Roman" panose="02020603050405020304" pitchFamily="18" charset="0"/>
                <a:cs typeface="Times New Roman" panose="02020603050405020304" pitchFamily="18" charset="0"/>
              </a:rPr>
              <a:t> using </a:t>
            </a:r>
            <a:r>
              <a:rPr lang="en-US" dirty="0" err="1">
                <a:latin typeface="Times New Roman" panose="02020603050405020304" pitchFamily="18" charset="0"/>
                <a:cs typeface="Times New Roman" panose="02020603050405020304" pitchFamily="18" charset="0"/>
              </a:rPr>
              <a:t>nMOS</a:t>
            </a:r>
            <a:r>
              <a:rPr lang="en-US" dirty="0">
                <a:latin typeface="Times New Roman" panose="02020603050405020304" pitchFamily="18" charset="0"/>
                <a:cs typeface="Times New Roman" panose="02020603050405020304" pitchFamily="18" charset="0"/>
              </a:rPr>
              <a:t> loads. (b) Bit-line </a:t>
            </a:r>
            <a:r>
              <a:rPr lang="en-US" dirty="0" err="1">
                <a:latin typeface="Times New Roman" panose="02020603050405020304" pitchFamily="18" charset="0"/>
                <a:cs typeface="Times New Roman" panose="02020603050405020304" pitchFamily="18" charset="0"/>
              </a:rPr>
              <a:t>precharge</a:t>
            </a:r>
            <a:r>
              <a:rPr lang="en-US" dirty="0">
                <a:latin typeface="Times New Roman" panose="02020603050405020304" pitchFamily="18" charset="0"/>
                <a:cs typeface="Times New Roman" panose="02020603050405020304" pitchFamily="18" charset="0"/>
              </a:rPr>
              <a:t> using </a:t>
            </a:r>
            <a:r>
              <a:rPr lang="en-US" dirty="0" err="1">
                <a:latin typeface="Times New Roman" panose="02020603050405020304" pitchFamily="18" charset="0"/>
                <a:cs typeface="Times New Roman" panose="02020603050405020304" pitchFamily="18" charset="0"/>
              </a:rPr>
              <a:t>pMOS</a:t>
            </a:r>
            <a:r>
              <a:rPr lang="en-US" dirty="0">
                <a:latin typeface="Times New Roman" panose="02020603050405020304" pitchFamily="18" charset="0"/>
                <a:cs typeface="Times New Roman" panose="02020603050405020304" pitchFamily="18" charset="0"/>
              </a:rPr>
              <a:t> loads.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92616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A4406-A313-EA8B-2DF6-2696CE6B0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81D9C4-FCFD-5868-903C-BD74FF5802B4}"/>
              </a:ext>
            </a:extLst>
          </p:cNvPr>
          <p:cNvSpPr>
            <a:spLocks noGrp="1"/>
          </p:cNvSpPr>
          <p:nvPr>
            <p:ph type="title"/>
          </p:nvPr>
        </p:nvSpPr>
        <p:spPr>
          <a:xfrm>
            <a:off x="1817694" y="337404"/>
            <a:ext cx="8911687" cy="605276"/>
          </a:xfrm>
        </p:spPr>
        <p:txBody>
          <a:bodyPr>
            <a:normAutofit fontScale="90000"/>
          </a:bodyPr>
          <a:lstStyle/>
          <a:p>
            <a:r>
              <a:rPr lang="en-IN" b="1" dirty="0" err="1">
                <a:latin typeface="Times New Roman" panose="02020603050405020304" pitchFamily="18" charset="0"/>
                <a:cs typeface="Times New Roman" panose="02020603050405020304" pitchFamily="18" charset="0"/>
              </a:rPr>
              <a:t>Precharge</a:t>
            </a:r>
            <a:r>
              <a:rPr lang="en-IN" b="1" dirty="0">
                <a:latin typeface="Times New Roman" panose="02020603050405020304" pitchFamily="18" charset="0"/>
                <a:cs typeface="Times New Roman" panose="02020603050405020304" pitchFamily="18" charset="0"/>
              </a:rPr>
              <a:t> and Equalization Circuit: </a:t>
            </a:r>
          </a:p>
        </p:txBody>
      </p:sp>
      <p:sp>
        <p:nvSpPr>
          <p:cNvPr id="3" name="Content Placeholder 2">
            <a:extLst>
              <a:ext uri="{FF2B5EF4-FFF2-40B4-BE49-F238E27FC236}">
                <a16:creationId xmlns:a16="http://schemas.microsoft.com/office/drawing/2014/main" id="{05228DD0-6E4C-821C-F61C-504F85EE247E}"/>
              </a:ext>
            </a:extLst>
          </p:cNvPr>
          <p:cNvSpPr>
            <a:spLocks noGrp="1"/>
          </p:cNvSpPr>
          <p:nvPr>
            <p:ph idx="1"/>
          </p:nvPr>
        </p:nvSpPr>
        <p:spPr>
          <a:xfrm>
            <a:off x="1055803" y="942681"/>
            <a:ext cx="10774836" cy="5193128"/>
          </a:xfrm>
        </p:spPr>
        <p:txBody>
          <a:bodyPr>
            <a:noAutofit/>
          </a:bodyPr>
          <a:lstStyle/>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Purpose of Bit-Line </a:t>
            </a:r>
            <a:r>
              <a:rPr lang="en-US" sz="2200" b="1" dirty="0" err="1">
                <a:latin typeface="Times New Roman" panose="02020603050405020304" pitchFamily="18" charset="0"/>
                <a:cs typeface="Times New Roman" panose="02020603050405020304" pitchFamily="18" charset="0"/>
              </a:rPr>
              <a:t>Precharge</a:t>
            </a:r>
            <a:endParaRPr lang="en-US" sz="22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Bit-line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is used in SRAM circuits to initialize the bit-lines (BL and BL to a known voltage level before every read operation, ensuring accurate and fast sensing).</a:t>
            </a:r>
          </a:p>
          <a:p>
            <a:pPr marL="0" indent="0" algn="just">
              <a:buNone/>
            </a:pPr>
            <a:r>
              <a:rPr lang="en-US" sz="2200" b="1" dirty="0">
                <a:latin typeface="Times New Roman" panose="02020603050405020304" pitchFamily="18" charset="0"/>
                <a:cs typeface="Times New Roman" panose="02020603050405020304" pitchFamily="18" charset="0"/>
              </a:rPr>
              <a:t>     Equalization Mechanism (</a:t>
            </a:r>
            <a:r>
              <a:rPr lang="en-US" sz="2200" b="1" dirty="0" err="1">
                <a:latin typeface="Times New Roman" panose="02020603050405020304" pitchFamily="18" charset="0"/>
                <a:cs typeface="Times New Roman" panose="02020603050405020304" pitchFamily="18" charset="0"/>
              </a:rPr>
              <a:t>Φ_eq</a:t>
            </a:r>
            <a:r>
              <a:rPr lang="en-US" sz="2200" b="1"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equalization signal (</a:t>
            </a:r>
            <a:r>
              <a:rPr lang="en-US" sz="2200" dirty="0" err="1">
                <a:latin typeface="Times New Roman" panose="02020603050405020304" pitchFamily="18" charset="0"/>
                <a:cs typeface="Times New Roman" panose="02020603050405020304" pitchFamily="18" charset="0"/>
              </a:rPr>
              <a:t>Φ_eq</a:t>
            </a:r>
            <a:r>
              <a:rPr lang="en-US" sz="2200" dirty="0">
                <a:latin typeface="Times New Roman" panose="02020603050405020304" pitchFamily="18" charset="0"/>
                <a:cs typeface="Times New Roman" panose="02020603050405020304" pitchFamily="18" charset="0"/>
              </a:rPr>
              <a:t>) activates a transistor that connects BL and BL, forcing both lines to the same potential and eliminating any voltage difference before read.</a:t>
            </a:r>
          </a:p>
          <a:p>
            <a:pPr marL="0" indent="0" algn="just">
              <a:buNone/>
            </a:pPr>
            <a:r>
              <a:rPr lang="en-US" sz="2200" b="1" dirty="0">
                <a:latin typeface="Times New Roman" panose="02020603050405020304" pitchFamily="18" charset="0"/>
                <a:cs typeface="Times New Roman" panose="02020603050405020304" pitchFamily="18" charset="0"/>
              </a:rPr>
              <a:t>	</a:t>
            </a:r>
            <a:r>
              <a:rPr lang="en-US" sz="2200" b="1" dirty="0" err="1">
                <a:latin typeface="Times New Roman" panose="02020603050405020304" pitchFamily="18" charset="0"/>
                <a:cs typeface="Times New Roman" panose="02020603050405020304" pitchFamily="18" charset="0"/>
              </a:rPr>
              <a:t>nMOS</a:t>
            </a:r>
            <a:r>
              <a:rPr lang="en-US" sz="2200" b="1" dirty="0">
                <a:latin typeface="Times New Roman" panose="02020603050405020304" pitchFamily="18" charset="0"/>
                <a:cs typeface="Times New Roman" panose="02020603050405020304" pitchFamily="18" charset="0"/>
              </a:rPr>
              <a:t> </a:t>
            </a:r>
            <a:r>
              <a:rPr lang="en-US" sz="2200" b="1" dirty="0" err="1">
                <a:latin typeface="Times New Roman" panose="02020603050405020304" pitchFamily="18" charset="0"/>
                <a:cs typeface="Times New Roman" panose="02020603050405020304" pitchFamily="18" charset="0"/>
              </a:rPr>
              <a:t>Precharge</a:t>
            </a:r>
            <a:r>
              <a:rPr lang="en-US" sz="2200" b="1" dirty="0">
                <a:latin typeface="Times New Roman" panose="02020603050405020304" pitchFamily="18" charset="0"/>
                <a:cs typeface="Times New Roman" panose="02020603050405020304" pitchFamily="18" charset="0"/>
              </a:rPr>
              <a:t> Design (Figure a)</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 this configuration, </a:t>
            </a:r>
            <a:r>
              <a:rPr lang="en-US" sz="2200" dirty="0" err="1">
                <a:latin typeface="Times New Roman" panose="02020603050405020304" pitchFamily="18" charset="0"/>
                <a:cs typeface="Times New Roman" panose="02020603050405020304" pitchFamily="18" charset="0"/>
              </a:rPr>
              <a:t>nMOS</a:t>
            </a:r>
            <a:r>
              <a:rPr lang="en-US" sz="2200" dirty="0">
                <a:latin typeface="Times New Roman" panose="02020603050405020304" pitchFamily="18" charset="0"/>
                <a:cs typeface="Times New Roman" panose="02020603050405020304" pitchFamily="18" charset="0"/>
              </a:rPr>
              <a:t> transistors are used as load devices to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the bit-lines, typically pulling them toward a lower voltage level relative to V</a:t>
            </a:r>
            <a:r>
              <a:rPr lang="en-US" sz="2200" baseline="-25000" dirty="0">
                <a:latin typeface="Times New Roman" panose="02020603050405020304" pitchFamily="18" charset="0"/>
                <a:cs typeface="Times New Roman" panose="02020603050405020304" pitchFamily="18" charset="0"/>
              </a:rPr>
              <a:t>DD</a:t>
            </a:r>
            <a:r>
              <a:rPr lang="en-US" sz="2200" dirty="0">
                <a:latin typeface="Times New Roman" panose="02020603050405020304" pitchFamily="18" charset="0"/>
                <a:cs typeface="Times New Roman" panose="02020603050405020304" pitchFamily="18" charset="0"/>
              </a:rPr>
              <a:t>.</a:t>
            </a:r>
          </a:p>
          <a:p>
            <a:pPr marL="400050" lvl="1" indent="0" algn="just">
              <a:buNone/>
            </a:pPr>
            <a:r>
              <a:rPr lang="en-US" sz="2000" b="1" dirty="0">
                <a:latin typeface="Times New Roman" panose="02020603050405020304" pitchFamily="18" charset="0"/>
                <a:cs typeface="Times New Roman" panose="02020603050405020304" pitchFamily="18" charset="0"/>
              </a:rPr>
              <a:t>Limitations of </a:t>
            </a:r>
            <a:r>
              <a:rPr lang="en-US" sz="2000" b="1" dirty="0" err="1">
                <a:latin typeface="Times New Roman" panose="02020603050405020304" pitchFamily="18" charset="0"/>
                <a:cs typeface="Times New Roman" panose="02020603050405020304" pitchFamily="18" charset="0"/>
              </a:rPr>
              <a:t>nMOS</a:t>
            </a:r>
            <a:r>
              <a:rPr lang="en-US" sz="2000" b="1" dirty="0">
                <a:latin typeface="Times New Roman" panose="02020603050405020304" pitchFamily="18" charset="0"/>
                <a:cs typeface="Times New Roman" panose="02020603050405020304" pitchFamily="18" charset="0"/>
              </a:rPr>
              <a:t> Loads</a:t>
            </a:r>
          </a:p>
          <a:p>
            <a:pPr algn="just">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nMOS</a:t>
            </a:r>
            <a:r>
              <a:rPr lang="en-US" sz="2200" dirty="0">
                <a:latin typeface="Times New Roman" panose="02020603050405020304" pitchFamily="18" charset="0"/>
                <a:cs typeface="Times New Roman" panose="02020603050405020304" pitchFamily="18" charset="0"/>
              </a:rPr>
              <a:t>-based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circuits suffer from threshold voltage (V</a:t>
            </a:r>
            <a:r>
              <a:rPr lang="en-US" sz="2200" baseline="-25000" dirty="0">
                <a:latin typeface="Times New Roman" panose="02020603050405020304" pitchFamily="18" charset="0"/>
                <a:cs typeface="Times New Roman" panose="02020603050405020304" pitchFamily="18" charset="0"/>
              </a:rPr>
              <a:t>T</a:t>
            </a:r>
            <a:r>
              <a:rPr lang="en-US" sz="2200" dirty="0">
                <a:latin typeface="Times New Roman" panose="02020603050405020304" pitchFamily="18" charset="0"/>
                <a:cs typeface="Times New Roman" panose="02020603050405020304" pitchFamily="18" charset="0"/>
              </a:rPr>
              <a:t>) drop, which prevents full voltage swing (cannot reach exact V</a:t>
            </a:r>
            <a:r>
              <a:rPr lang="en-US" sz="2200" baseline="-25000" dirty="0">
                <a:latin typeface="Times New Roman" panose="02020603050405020304" pitchFamily="18" charset="0"/>
                <a:cs typeface="Times New Roman" panose="02020603050405020304" pitchFamily="18" charset="0"/>
              </a:rPr>
              <a:t>DD</a:t>
            </a:r>
            <a:r>
              <a:rPr lang="en-US" sz="2200" dirty="0">
                <a:latin typeface="Times New Roman" panose="02020603050405020304" pitchFamily="18" charset="0"/>
                <a:cs typeface="Times New Roman" panose="02020603050405020304" pitchFamily="18" charset="0"/>
              </a:rPr>
              <a:t>), leading to reduced noise margin.</a:t>
            </a:r>
          </a:p>
          <a:p>
            <a:pPr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75D18BC-5D8A-4590-B1AB-08094DA09DEE}"/>
              </a:ext>
            </a:extLst>
          </p:cNvPr>
          <p:cNvSpPr>
            <a:spLocks noGrp="1"/>
          </p:cNvSpPr>
          <p:nvPr>
            <p:ph type="ftr" sz="quarter" idx="11"/>
          </p:nvPr>
        </p:nvSpPr>
        <p:spPr/>
        <p:txBody>
          <a:bodyPr/>
          <a:lstStyle/>
          <a:p>
            <a:r>
              <a:rPr lang="en-IN" dirty="0"/>
              <a:t>Dr. Aruru Sai Kumar , VIT-AP</a:t>
            </a:r>
          </a:p>
        </p:txBody>
      </p:sp>
      <p:cxnSp>
        <p:nvCxnSpPr>
          <p:cNvPr id="6" name="Straight Connector 5">
            <a:extLst>
              <a:ext uri="{FF2B5EF4-FFF2-40B4-BE49-F238E27FC236}">
                <a16:creationId xmlns:a16="http://schemas.microsoft.com/office/drawing/2014/main" id="{FFB226B8-2128-691A-5140-C5E3E7003236}"/>
              </a:ext>
            </a:extLst>
          </p:cNvPr>
          <p:cNvCxnSpPr/>
          <p:nvPr/>
        </p:nvCxnSpPr>
        <p:spPr>
          <a:xfrm>
            <a:off x="9794432" y="2678780"/>
            <a:ext cx="4147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A447781-7E5E-24BB-6444-C6947A8951E4}"/>
              </a:ext>
            </a:extLst>
          </p:cNvPr>
          <p:cNvCxnSpPr/>
          <p:nvPr/>
        </p:nvCxnSpPr>
        <p:spPr>
          <a:xfrm>
            <a:off x="10729381" y="1454867"/>
            <a:ext cx="41477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694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BE2CD-21F0-9036-CB03-8F445B42CA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B9C57-9C57-B95A-0376-DB657A389AE6}"/>
              </a:ext>
            </a:extLst>
          </p:cNvPr>
          <p:cNvSpPr>
            <a:spLocks noGrp="1"/>
          </p:cNvSpPr>
          <p:nvPr>
            <p:ph type="title"/>
          </p:nvPr>
        </p:nvSpPr>
        <p:spPr>
          <a:xfrm>
            <a:off x="1817694" y="337404"/>
            <a:ext cx="8911687" cy="605276"/>
          </a:xfrm>
        </p:spPr>
        <p:txBody>
          <a:bodyPr>
            <a:normAutofit fontScale="90000"/>
          </a:bodyPr>
          <a:lstStyle/>
          <a:p>
            <a:r>
              <a:rPr lang="en-IN" b="1" dirty="0" err="1">
                <a:latin typeface="Times New Roman" panose="02020603050405020304" pitchFamily="18" charset="0"/>
                <a:cs typeface="Times New Roman" panose="02020603050405020304" pitchFamily="18" charset="0"/>
              </a:rPr>
              <a:t>Precharge</a:t>
            </a:r>
            <a:r>
              <a:rPr lang="en-IN" b="1" dirty="0">
                <a:latin typeface="Times New Roman" panose="02020603050405020304" pitchFamily="18" charset="0"/>
                <a:cs typeface="Times New Roman" panose="02020603050405020304" pitchFamily="18" charset="0"/>
              </a:rPr>
              <a:t> and Equalization Circuit: </a:t>
            </a:r>
          </a:p>
        </p:txBody>
      </p:sp>
      <p:sp>
        <p:nvSpPr>
          <p:cNvPr id="3" name="Content Placeholder 2">
            <a:extLst>
              <a:ext uri="{FF2B5EF4-FFF2-40B4-BE49-F238E27FC236}">
                <a16:creationId xmlns:a16="http://schemas.microsoft.com/office/drawing/2014/main" id="{AEF7D015-83EC-500A-460F-6FF04AD60A1E}"/>
              </a:ext>
            </a:extLst>
          </p:cNvPr>
          <p:cNvSpPr>
            <a:spLocks noGrp="1"/>
          </p:cNvSpPr>
          <p:nvPr>
            <p:ph idx="1"/>
          </p:nvPr>
        </p:nvSpPr>
        <p:spPr>
          <a:xfrm>
            <a:off x="1055803" y="942681"/>
            <a:ext cx="10774836" cy="5193128"/>
          </a:xfrm>
        </p:spPr>
        <p:txBody>
          <a:bodyPr>
            <a:noAutofit/>
          </a:bodyPr>
          <a:lstStyle/>
          <a:p>
            <a:pPr marL="0" indent="0" algn="just">
              <a:buNone/>
            </a:pPr>
            <a:r>
              <a:rPr lang="en-US" sz="2400" b="1" dirty="0" err="1">
                <a:latin typeface="Times New Roman" panose="02020603050405020304" pitchFamily="18" charset="0"/>
                <a:cs typeface="Times New Roman" panose="02020603050405020304" pitchFamily="18" charset="0"/>
              </a:rPr>
              <a:t>pMOS</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Precharge</a:t>
            </a:r>
            <a:r>
              <a:rPr lang="en-US" sz="2400" b="1" dirty="0">
                <a:latin typeface="Times New Roman" panose="02020603050405020304" pitchFamily="18" charset="0"/>
                <a:cs typeface="Times New Roman" panose="02020603050405020304" pitchFamily="18" charset="0"/>
              </a:rPr>
              <a:t> Design (Figure b)</a:t>
            </a:r>
          </a:p>
          <a:p>
            <a:pPr lvl="1" algn="just">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pMOS</a:t>
            </a:r>
            <a:r>
              <a:rPr lang="en-US" sz="2200" dirty="0">
                <a:latin typeface="Times New Roman" panose="02020603050405020304" pitchFamily="18" charset="0"/>
                <a:cs typeface="Times New Roman" panose="02020603050405020304" pitchFamily="18" charset="0"/>
              </a:rPr>
              <a:t> transistors are used to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bit-lines directly to V</a:t>
            </a:r>
            <a:r>
              <a:rPr lang="en-US" sz="2200" baseline="-25000" dirty="0">
                <a:latin typeface="Times New Roman" panose="02020603050405020304" pitchFamily="18" charset="0"/>
                <a:cs typeface="Times New Roman" panose="02020603050405020304" pitchFamily="18" charset="0"/>
              </a:rPr>
              <a:t>DD</a:t>
            </a:r>
            <a:r>
              <a:rPr lang="en-US" sz="2200" dirty="0">
                <a:latin typeface="Times New Roman" panose="02020603050405020304" pitchFamily="18" charset="0"/>
                <a:cs typeface="Times New Roman" panose="02020603050405020304" pitchFamily="18" charset="0"/>
              </a:rPr>
              <a:t>, providing a full voltage swing and improving reliability during sensing.</a:t>
            </a:r>
          </a:p>
          <a:p>
            <a:pPr marL="0" indent="0" algn="just">
              <a:buNone/>
            </a:pPr>
            <a:r>
              <a:rPr lang="en-US" sz="2400" b="1" dirty="0">
                <a:latin typeface="Times New Roman" panose="02020603050405020304" pitchFamily="18" charset="0"/>
                <a:cs typeface="Times New Roman" panose="02020603050405020304" pitchFamily="18" charset="0"/>
              </a:rPr>
              <a:t>Advantage of </a:t>
            </a:r>
            <a:r>
              <a:rPr lang="en-US" sz="2400" b="1" dirty="0" err="1">
                <a:latin typeface="Times New Roman" panose="02020603050405020304" pitchFamily="18" charset="0"/>
                <a:cs typeface="Times New Roman" panose="02020603050405020304" pitchFamily="18" charset="0"/>
              </a:rPr>
              <a:t>pMOS</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Precharge</a:t>
            </a:r>
            <a:endParaRPr lang="en-US" sz="2400" b="1"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Since </a:t>
            </a:r>
            <a:r>
              <a:rPr lang="en-US" sz="2200" dirty="0" err="1">
                <a:latin typeface="Times New Roman" panose="02020603050405020304" pitchFamily="18" charset="0"/>
                <a:cs typeface="Times New Roman" panose="02020603050405020304" pitchFamily="18" charset="0"/>
              </a:rPr>
              <a:t>pMOS</a:t>
            </a:r>
            <a:r>
              <a:rPr lang="en-US" sz="2200" dirty="0">
                <a:latin typeface="Times New Roman" panose="02020603050405020304" pitchFamily="18" charset="0"/>
                <a:cs typeface="Times New Roman" panose="02020603050405020304" pitchFamily="18" charset="0"/>
              </a:rPr>
              <a:t> does not suffer from threshold drop when pulling high, it ensures that BL and BL are fully charged to V</a:t>
            </a:r>
            <a:r>
              <a:rPr lang="en-US" sz="2200" baseline="-25000" dirty="0">
                <a:latin typeface="Times New Roman" panose="02020603050405020304" pitchFamily="18" charset="0"/>
                <a:cs typeface="Times New Roman" panose="02020603050405020304" pitchFamily="18" charset="0"/>
              </a:rPr>
              <a:t>DD</a:t>
            </a:r>
            <a:r>
              <a:rPr lang="en-US" sz="2200" dirty="0">
                <a:latin typeface="Times New Roman" panose="02020603050405020304" pitchFamily="18" charset="0"/>
                <a:cs typeface="Times New Roman" panose="02020603050405020304" pitchFamily="18" charset="0"/>
              </a:rPr>
              <a:t>, enhancing read stability.</a:t>
            </a:r>
          </a:p>
          <a:p>
            <a:pPr marL="0" indent="0" algn="just">
              <a:buNone/>
            </a:pPr>
            <a:r>
              <a:rPr lang="en-US" sz="2400" b="1" dirty="0">
                <a:latin typeface="Times New Roman" panose="02020603050405020304" pitchFamily="18" charset="0"/>
                <a:cs typeface="Times New Roman" panose="02020603050405020304" pitchFamily="18" charset="0"/>
              </a:rPr>
              <a:t>Role of Word Line (WL)</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word line controls access to the memory cell. During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WL is kept low to isolate the memory cell from the bit-lines.</a:t>
            </a:r>
          </a:p>
          <a:p>
            <a:pPr marL="0" indent="0" algn="just">
              <a:buNone/>
            </a:pPr>
            <a:r>
              <a:rPr lang="en-US" sz="2400" b="1" dirty="0">
                <a:latin typeface="Times New Roman" panose="02020603050405020304" pitchFamily="18" charset="0"/>
                <a:cs typeface="Times New Roman" panose="02020603050405020304" pitchFamily="18" charset="0"/>
              </a:rPr>
              <a:t>Interaction with Memory Cell</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Once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is complete, WL is activated, and the stored data in the memory cell causes a slight voltage difference between BL and BL for sensing.</a:t>
            </a:r>
          </a:p>
          <a:p>
            <a:pPr marL="0" indent="0" algn="just">
              <a:buNone/>
            </a:pP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71CA279-C430-B1C7-B26F-61DA13423D28}"/>
              </a:ext>
            </a:extLst>
          </p:cNvPr>
          <p:cNvSpPr>
            <a:spLocks noGrp="1"/>
          </p:cNvSpPr>
          <p:nvPr>
            <p:ph type="ftr" sz="quarter" idx="11"/>
          </p:nvPr>
        </p:nvSpPr>
        <p:spPr/>
        <p:txBody>
          <a:bodyPr/>
          <a:lstStyle/>
          <a:p>
            <a:r>
              <a:rPr lang="en-IN" dirty="0"/>
              <a:t>Dr. Aruru Sai Kumar , VIT-AP</a:t>
            </a:r>
          </a:p>
        </p:txBody>
      </p:sp>
      <p:cxnSp>
        <p:nvCxnSpPr>
          <p:cNvPr id="6" name="Straight Connector 5">
            <a:extLst>
              <a:ext uri="{FF2B5EF4-FFF2-40B4-BE49-F238E27FC236}">
                <a16:creationId xmlns:a16="http://schemas.microsoft.com/office/drawing/2014/main" id="{A9CAB282-321F-8F52-3B93-5A039154A4AB}"/>
              </a:ext>
            </a:extLst>
          </p:cNvPr>
          <p:cNvCxnSpPr/>
          <p:nvPr/>
        </p:nvCxnSpPr>
        <p:spPr>
          <a:xfrm>
            <a:off x="2309549" y="3131267"/>
            <a:ext cx="4147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D1302B2-BC71-08D3-7C5F-540A31409415}"/>
              </a:ext>
            </a:extLst>
          </p:cNvPr>
          <p:cNvCxnSpPr/>
          <p:nvPr/>
        </p:nvCxnSpPr>
        <p:spPr>
          <a:xfrm>
            <a:off x="7524267" y="5725210"/>
            <a:ext cx="41477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0090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5E33C-C2E4-5E85-ED07-F025061D6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41F2D-B9A2-C634-0E48-CED2B80B4329}"/>
              </a:ext>
            </a:extLst>
          </p:cNvPr>
          <p:cNvSpPr>
            <a:spLocks noGrp="1"/>
          </p:cNvSpPr>
          <p:nvPr>
            <p:ph type="title"/>
          </p:nvPr>
        </p:nvSpPr>
        <p:spPr>
          <a:xfrm>
            <a:off x="1817694" y="337404"/>
            <a:ext cx="8911687" cy="605276"/>
          </a:xfrm>
        </p:spPr>
        <p:txBody>
          <a:bodyPr>
            <a:normAutofit fontScale="90000"/>
          </a:bodyPr>
          <a:lstStyle/>
          <a:p>
            <a:r>
              <a:rPr lang="en-IN" b="1" dirty="0" err="1">
                <a:latin typeface="Times New Roman" panose="02020603050405020304" pitchFamily="18" charset="0"/>
                <a:cs typeface="Times New Roman" panose="02020603050405020304" pitchFamily="18" charset="0"/>
              </a:rPr>
              <a:t>Precharge</a:t>
            </a:r>
            <a:r>
              <a:rPr lang="en-IN" b="1" dirty="0">
                <a:latin typeface="Times New Roman" panose="02020603050405020304" pitchFamily="18" charset="0"/>
                <a:cs typeface="Times New Roman" panose="02020603050405020304" pitchFamily="18" charset="0"/>
              </a:rPr>
              <a:t> and Equalization Circuit: </a:t>
            </a:r>
          </a:p>
        </p:txBody>
      </p:sp>
      <p:sp>
        <p:nvSpPr>
          <p:cNvPr id="3" name="Content Placeholder 2">
            <a:extLst>
              <a:ext uri="{FF2B5EF4-FFF2-40B4-BE49-F238E27FC236}">
                <a16:creationId xmlns:a16="http://schemas.microsoft.com/office/drawing/2014/main" id="{903D1381-38E0-F148-D87A-6608113C0B8F}"/>
              </a:ext>
            </a:extLst>
          </p:cNvPr>
          <p:cNvSpPr>
            <a:spLocks noGrp="1"/>
          </p:cNvSpPr>
          <p:nvPr>
            <p:ph idx="1"/>
          </p:nvPr>
        </p:nvSpPr>
        <p:spPr>
          <a:xfrm>
            <a:off x="1055803" y="942681"/>
            <a:ext cx="10774836" cy="519312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Power and Speed Considerations</a:t>
            </a:r>
          </a:p>
          <a:p>
            <a:pPr algn="just">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Precharging</a:t>
            </a:r>
            <a:r>
              <a:rPr lang="en-US" sz="2400" dirty="0">
                <a:latin typeface="Times New Roman" panose="02020603050405020304" pitchFamily="18" charset="0"/>
                <a:cs typeface="Times New Roman" panose="02020603050405020304" pitchFamily="18" charset="0"/>
              </a:rPr>
              <a:t> consumes dynamic power due to charging/discharging of large bit-line capacitances, but it significantly improves read speed and accuracy.</a:t>
            </a:r>
          </a:p>
          <a:p>
            <a:pPr marL="0" indent="0" algn="just">
              <a:buNone/>
            </a:pPr>
            <a:r>
              <a:rPr lang="en-US" sz="2400" b="1" dirty="0">
                <a:latin typeface="Times New Roman" panose="02020603050405020304" pitchFamily="18" charset="0"/>
                <a:cs typeface="Times New Roman" panose="02020603050405020304" pitchFamily="18" charset="0"/>
              </a:rPr>
              <a:t>Design Trade-offs</a:t>
            </a:r>
          </a:p>
          <a:p>
            <a:pPr algn="just">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nMOS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is simpler but less efficient, while </a:t>
            </a:r>
            <a:r>
              <a:rPr lang="en-US" sz="2400" dirty="0" err="1">
                <a:latin typeface="Times New Roman" panose="02020603050405020304" pitchFamily="18" charset="0"/>
                <a:cs typeface="Times New Roman" panose="02020603050405020304" pitchFamily="18" charset="0"/>
              </a:rPr>
              <a:t>pMOS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offers better performance at the cost of slightly higher area and design complexity.</a:t>
            </a:r>
          </a:p>
          <a:p>
            <a:pPr marL="0" indent="0" algn="just">
              <a:buNone/>
            </a:pP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4AAFB2B-F833-C284-C853-B627B5E0D4F6}"/>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605021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0A8B0EE-75EB-2621-93E2-F00F7AE8484A}"/>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9245AEC6-DDDC-FA62-8C20-39D7FF06A44B}"/>
              </a:ext>
            </a:extLst>
          </p:cNvPr>
          <p:cNvPicPr>
            <a:picLocks noChangeAspect="1"/>
          </p:cNvPicPr>
          <p:nvPr/>
        </p:nvPicPr>
        <p:blipFill>
          <a:blip r:embed="rId2"/>
          <a:stretch>
            <a:fillRect/>
          </a:stretch>
        </p:blipFill>
        <p:spPr>
          <a:xfrm>
            <a:off x="1723967" y="969214"/>
            <a:ext cx="9045724" cy="3147333"/>
          </a:xfrm>
          <a:prstGeom prst="rect">
            <a:avLst/>
          </a:prstGeom>
        </p:spPr>
      </p:pic>
      <p:sp>
        <p:nvSpPr>
          <p:cNvPr id="6" name="TextBox 5">
            <a:extLst>
              <a:ext uri="{FF2B5EF4-FFF2-40B4-BE49-F238E27FC236}">
                <a16:creationId xmlns:a16="http://schemas.microsoft.com/office/drawing/2014/main" id="{0E8B2732-CADA-BFD1-7452-9C960B27D2BB}"/>
              </a:ext>
            </a:extLst>
          </p:cNvPr>
          <p:cNvSpPr txBox="1"/>
          <p:nvPr/>
        </p:nvSpPr>
        <p:spPr>
          <a:xfrm>
            <a:off x="2634757" y="4479846"/>
            <a:ext cx="741421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a:t>
            </a:r>
            <a:r>
              <a:rPr lang="en-US" dirty="0" err="1">
                <a:latin typeface="Times New Roman" panose="02020603050405020304" pitchFamily="18" charset="0"/>
                <a:cs typeface="Times New Roman" panose="02020603050405020304" pitchFamily="18" charset="0"/>
              </a:rPr>
              <a:t>Precharge</a:t>
            </a:r>
            <a:r>
              <a:rPr lang="en-US" dirty="0">
                <a:latin typeface="Times New Roman" panose="02020603050405020304" pitchFamily="18" charset="0"/>
                <a:cs typeface="Times New Roman" panose="02020603050405020304" pitchFamily="18" charset="0"/>
              </a:rPr>
              <a:t> and equalization circuit using (a) </a:t>
            </a:r>
            <a:r>
              <a:rPr lang="en-US" dirty="0" err="1">
                <a:latin typeface="Times New Roman" panose="02020603050405020304" pitchFamily="18" charset="0"/>
                <a:cs typeface="Times New Roman" panose="02020603050405020304" pitchFamily="18" charset="0"/>
              </a:rPr>
              <a:t>nMOS</a:t>
            </a:r>
            <a:r>
              <a:rPr lang="en-US" dirty="0">
                <a:latin typeface="Times New Roman" panose="02020603050405020304" pitchFamily="18" charset="0"/>
                <a:cs typeface="Times New Roman" panose="02020603050405020304" pitchFamily="18" charset="0"/>
              </a:rPr>
              <a:t> and (b) </a:t>
            </a:r>
            <a:r>
              <a:rPr lang="en-US" dirty="0" err="1">
                <a:latin typeface="Times New Roman" panose="02020603050405020304" pitchFamily="18" charset="0"/>
                <a:cs typeface="Times New Roman" panose="02020603050405020304" pitchFamily="18" charset="0"/>
              </a:rPr>
              <a:t>pMOS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81489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FCC60-FB27-5C7A-6798-5EEB2C096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D773F-5C42-2602-685F-D0A335A0D176}"/>
              </a:ext>
            </a:extLst>
          </p:cNvPr>
          <p:cNvSpPr>
            <a:spLocks noGrp="1"/>
          </p:cNvSpPr>
          <p:nvPr>
            <p:ph type="title"/>
          </p:nvPr>
        </p:nvSpPr>
        <p:spPr>
          <a:xfrm>
            <a:off x="1817694" y="337404"/>
            <a:ext cx="8911687" cy="605276"/>
          </a:xfrm>
        </p:spPr>
        <p:txBody>
          <a:bodyPr>
            <a:normAutofit fontScale="90000"/>
          </a:bodyPr>
          <a:lstStyle/>
          <a:p>
            <a:r>
              <a:rPr lang="en-IN" b="1" dirty="0" err="1">
                <a:latin typeface="Times New Roman" panose="02020603050405020304" pitchFamily="18" charset="0"/>
                <a:cs typeface="Times New Roman" panose="02020603050405020304" pitchFamily="18" charset="0"/>
              </a:rPr>
              <a:t>Precharge</a:t>
            </a:r>
            <a:r>
              <a:rPr lang="en-IN" b="1" dirty="0">
                <a:latin typeface="Times New Roman" panose="02020603050405020304" pitchFamily="18" charset="0"/>
                <a:cs typeface="Times New Roman" panose="02020603050405020304" pitchFamily="18" charset="0"/>
              </a:rPr>
              <a:t> and Equalization Circuit: </a:t>
            </a:r>
          </a:p>
        </p:txBody>
      </p:sp>
      <p:sp>
        <p:nvSpPr>
          <p:cNvPr id="3" name="Content Placeholder 2">
            <a:extLst>
              <a:ext uri="{FF2B5EF4-FFF2-40B4-BE49-F238E27FC236}">
                <a16:creationId xmlns:a16="http://schemas.microsoft.com/office/drawing/2014/main" id="{622890D3-6B21-BA8B-03CC-68EEA71C821F}"/>
              </a:ext>
            </a:extLst>
          </p:cNvPr>
          <p:cNvSpPr>
            <a:spLocks noGrp="1"/>
          </p:cNvSpPr>
          <p:nvPr>
            <p:ph idx="1"/>
          </p:nvPr>
        </p:nvSpPr>
        <p:spPr>
          <a:xfrm>
            <a:off x="1055803" y="942681"/>
            <a:ext cx="10774836" cy="5193128"/>
          </a:xfrm>
        </p:spPr>
        <p:txBody>
          <a:bodyPr>
            <a:noAutofit/>
          </a:bodyPr>
          <a:lstStyle/>
          <a:p>
            <a:pPr marL="0" indent="0" algn="just">
              <a:buNone/>
            </a:pPr>
            <a:r>
              <a:rPr lang="en-US" sz="2200" b="1" dirty="0" err="1">
                <a:latin typeface="Times New Roman" panose="02020603050405020304" pitchFamily="18" charset="0"/>
                <a:cs typeface="Times New Roman" panose="02020603050405020304" pitchFamily="18" charset="0"/>
              </a:rPr>
              <a:t>Precharge</a:t>
            </a:r>
            <a:r>
              <a:rPr lang="en-US" sz="2200" b="1" dirty="0">
                <a:latin typeface="Times New Roman" panose="02020603050405020304" pitchFamily="18" charset="0"/>
                <a:cs typeface="Times New Roman" panose="02020603050405020304" pitchFamily="18" charset="0"/>
              </a:rPr>
              <a:t> and Equalization Circuits in SRAM:</a:t>
            </a:r>
          </a:p>
          <a:p>
            <a:pPr marL="0" indent="0" algn="just">
              <a:buNone/>
            </a:pPr>
            <a:r>
              <a:rPr lang="en-IN" sz="2200" b="1" dirty="0">
                <a:latin typeface="Times New Roman" panose="02020603050405020304" pitchFamily="18" charset="0"/>
                <a:cs typeface="Times New Roman" panose="02020603050405020304" pitchFamily="18" charset="0"/>
              </a:rPr>
              <a:t>Purpose of </a:t>
            </a:r>
            <a:r>
              <a:rPr lang="en-IN" sz="2200" b="1" dirty="0" err="1">
                <a:latin typeface="Times New Roman" panose="02020603050405020304" pitchFamily="18" charset="0"/>
                <a:cs typeface="Times New Roman" panose="02020603050405020304" pitchFamily="18" charset="0"/>
              </a:rPr>
              <a:t>Precharge</a:t>
            </a:r>
            <a:r>
              <a:rPr lang="en-IN" sz="2200" b="1" dirty="0">
                <a:latin typeface="Times New Roman" panose="02020603050405020304" pitchFamily="18" charset="0"/>
                <a:cs typeface="Times New Roman" panose="02020603050405020304" pitchFamily="18" charset="0"/>
              </a:rPr>
              <a:t> Circuit:</a:t>
            </a:r>
          </a:p>
          <a:p>
            <a:pPr algn="just">
              <a:buFont typeface="Arial" panose="020B0604020202020204" pitchFamily="34" charset="0"/>
              <a:buChar char="•"/>
            </a:pPr>
            <a:r>
              <a:rPr lang="en-US" sz="2400" dirty="0">
                <a:latin typeface="Times New Roman" panose="02020603050405020304" pitchFamily="18" charset="0"/>
                <a:ea typeface="Tahoma" panose="020B0604030504040204" pitchFamily="34" charset="0"/>
                <a:cs typeface="Times New Roman" panose="02020603050405020304" pitchFamily="18" charset="0"/>
              </a:rPr>
              <a:t>The </a:t>
            </a:r>
            <a:r>
              <a:rPr lang="en-US" sz="2400" dirty="0" err="1">
                <a:latin typeface="Times New Roman" panose="02020603050405020304" pitchFamily="18" charset="0"/>
                <a:ea typeface="Tahoma" panose="020B0604030504040204" pitchFamily="34" charset="0"/>
                <a:cs typeface="Times New Roman" panose="02020603050405020304" pitchFamily="18" charset="0"/>
              </a:rPr>
              <a:t>precharge</a:t>
            </a:r>
            <a:r>
              <a:rPr lang="en-US" sz="2400" dirty="0">
                <a:latin typeface="Times New Roman" panose="02020603050405020304" pitchFamily="18" charset="0"/>
                <a:ea typeface="Tahoma" panose="020B0604030504040204" pitchFamily="34" charset="0"/>
                <a:cs typeface="Times New Roman" panose="02020603050405020304" pitchFamily="18" charset="0"/>
              </a:rPr>
              <a:t> circuit initializes both bit-lines (BL and BL) </a:t>
            </a:r>
            <a:r>
              <a:rPr lang="en-IN" sz="2400" dirty="0">
                <a:latin typeface="Times New Roman" panose="02020603050405020304" pitchFamily="18" charset="0"/>
                <a:ea typeface="Tahoma" panose="020B0604030504040204" pitchFamily="34" charset="0"/>
                <a:cs typeface="Times New Roman" panose="02020603050405020304" pitchFamily="18" charset="0"/>
              </a:rPr>
              <a:t>to a predefined voltage (commonly V</a:t>
            </a:r>
            <a:r>
              <a:rPr lang="en-IN" sz="2400" baseline="-25000" dirty="0">
                <a:latin typeface="Times New Roman" panose="02020603050405020304" pitchFamily="18" charset="0"/>
                <a:ea typeface="Tahoma" panose="020B0604030504040204" pitchFamily="34" charset="0"/>
                <a:cs typeface="Times New Roman" panose="02020603050405020304" pitchFamily="18" charset="0"/>
              </a:rPr>
              <a:t>DD</a:t>
            </a:r>
            <a:r>
              <a:rPr lang="en-IN" sz="2400" dirty="0">
                <a:latin typeface="Times New Roman" panose="02020603050405020304" pitchFamily="18" charset="0"/>
                <a:ea typeface="Tahoma" panose="020B0604030504040204" pitchFamily="34" charset="0"/>
                <a:cs typeface="Times New Roman" panose="02020603050405020304" pitchFamily="18" charset="0"/>
              </a:rPr>
              <a:t>/2 or </a:t>
            </a:r>
            <a:r>
              <a:rPr lang="en-IN" sz="2000" dirty="0">
                <a:latin typeface="Times New Roman" panose="02020603050405020304" pitchFamily="18" charset="0"/>
                <a:ea typeface="Tahoma" panose="020B0604030504040204" pitchFamily="34" charset="0"/>
                <a:cs typeface="Times New Roman" panose="02020603050405020304" pitchFamily="18" charset="0"/>
              </a:rPr>
              <a:t>V</a:t>
            </a:r>
            <a:r>
              <a:rPr lang="en-IN" sz="2000" baseline="-25000" dirty="0">
                <a:latin typeface="Times New Roman" panose="02020603050405020304" pitchFamily="18" charset="0"/>
                <a:ea typeface="Tahoma" panose="020B0604030504040204" pitchFamily="34" charset="0"/>
                <a:cs typeface="Times New Roman" panose="02020603050405020304" pitchFamily="18" charset="0"/>
              </a:rPr>
              <a:t>DD</a:t>
            </a:r>
            <a:r>
              <a:rPr lang="en-IN" sz="2000" dirty="0">
                <a:latin typeface="Times New Roman" panose="02020603050405020304" pitchFamily="18" charset="0"/>
                <a:ea typeface="Tahoma" panose="020B0604030504040204" pitchFamily="34" charset="0"/>
                <a:cs typeface="Times New Roman" panose="02020603050405020304" pitchFamily="18" charset="0"/>
              </a:rPr>
              <a:t>).</a:t>
            </a:r>
          </a:p>
          <a:p>
            <a:pPr marL="0" indent="0" algn="just">
              <a:buNone/>
            </a:pPr>
            <a:r>
              <a:rPr lang="en-US" sz="2200" b="1" dirty="0">
                <a:latin typeface="Times New Roman" panose="02020603050405020304" pitchFamily="18" charset="0"/>
                <a:cs typeface="Times New Roman" panose="02020603050405020304" pitchFamily="18" charset="0"/>
              </a:rPr>
              <a:t>Equalizer Function</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equalizer transistor connects BL and BL, forcing them to the same voltage level and removing any residual voltage difference from previous operations.</a:t>
            </a:r>
          </a:p>
          <a:p>
            <a:pPr marL="0" indent="0" algn="just">
              <a:buNone/>
            </a:pPr>
            <a:r>
              <a:rPr lang="en-US" sz="2200" b="1" dirty="0">
                <a:latin typeface="Times New Roman" panose="02020603050405020304" pitchFamily="18" charset="0"/>
                <a:cs typeface="Times New Roman" panose="02020603050405020304" pitchFamily="18" charset="0"/>
              </a:rPr>
              <a:t>Operation Phases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circuit operates in two phases:</a:t>
            </a:r>
          </a:p>
          <a:p>
            <a:pPr lvl="1" indent="-342900" algn="just">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Precharge</a:t>
            </a:r>
            <a:r>
              <a:rPr lang="en-US" sz="2000" dirty="0">
                <a:latin typeface="Times New Roman" panose="02020603050405020304" pitchFamily="18" charset="0"/>
                <a:cs typeface="Times New Roman" panose="02020603050405020304" pitchFamily="18" charset="0"/>
              </a:rPr>
              <a:t> phase (Φ active) → bit-lines charged</a:t>
            </a:r>
          </a:p>
          <a:p>
            <a:pPr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Evaluation phase (Φ inactive) → memory cell read</a:t>
            </a:r>
            <a:endParaRPr lang="en-IN"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E2F83A6-EB34-9294-7806-286B7E353EE7}"/>
              </a:ext>
            </a:extLst>
          </p:cNvPr>
          <p:cNvSpPr>
            <a:spLocks noGrp="1"/>
          </p:cNvSpPr>
          <p:nvPr>
            <p:ph type="ftr" sz="quarter" idx="11"/>
          </p:nvPr>
        </p:nvSpPr>
        <p:spPr/>
        <p:txBody>
          <a:bodyPr/>
          <a:lstStyle/>
          <a:p>
            <a:r>
              <a:rPr lang="en-IN" dirty="0"/>
              <a:t>Dr. Aruru Sai Kumar , VIT-AP</a:t>
            </a:r>
          </a:p>
        </p:txBody>
      </p:sp>
      <p:cxnSp>
        <p:nvCxnSpPr>
          <p:cNvPr id="6" name="Straight Connector 5">
            <a:extLst>
              <a:ext uri="{FF2B5EF4-FFF2-40B4-BE49-F238E27FC236}">
                <a16:creationId xmlns:a16="http://schemas.microsoft.com/office/drawing/2014/main" id="{1ED7482A-246E-4A82-E489-9EFDDDD04F62}"/>
              </a:ext>
            </a:extLst>
          </p:cNvPr>
          <p:cNvCxnSpPr/>
          <p:nvPr/>
        </p:nvCxnSpPr>
        <p:spPr>
          <a:xfrm>
            <a:off x="8268984" y="1907354"/>
            <a:ext cx="4147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05E4275-2FF5-9781-905D-A88834601F7F}"/>
              </a:ext>
            </a:extLst>
          </p:cNvPr>
          <p:cNvCxnSpPr/>
          <p:nvPr/>
        </p:nvCxnSpPr>
        <p:spPr>
          <a:xfrm>
            <a:off x="6265683" y="3256959"/>
            <a:ext cx="41477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5555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1F095-B337-1810-1DA3-DED1D8BEB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CA32B-31EE-D0DD-BE22-0C7DCA2DA31D}"/>
              </a:ext>
            </a:extLst>
          </p:cNvPr>
          <p:cNvSpPr>
            <a:spLocks noGrp="1"/>
          </p:cNvSpPr>
          <p:nvPr>
            <p:ph type="title"/>
          </p:nvPr>
        </p:nvSpPr>
        <p:spPr>
          <a:xfrm>
            <a:off x="1817694" y="337404"/>
            <a:ext cx="8911687" cy="605276"/>
          </a:xfrm>
        </p:spPr>
        <p:txBody>
          <a:bodyPr>
            <a:normAutofit fontScale="90000"/>
          </a:bodyPr>
          <a:lstStyle/>
          <a:p>
            <a:r>
              <a:rPr lang="en-IN" b="1" dirty="0" err="1">
                <a:latin typeface="Times New Roman" panose="02020603050405020304" pitchFamily="18" charset="0"/>
                <a:cs typeface="Times New Roman" panose="02020603050405020304" pitchFamily="18" charset="0"/>
              </a:rPr>
              <a:t>Precharge</a:t>
            </a:r>
            <a:r>
              <a:rPr lang="en-IN" b="1" dirty="0">
                <a:latin typeface="Times New Roman" panose="02020603050405020304" pitchFamily="18" charset="0"/>
                <a:cs typeface="Times New Roman" panose="02020603050405020304" pitchFamily="18" charset="0"/>
              </a:rPr>
              <a:t> and Equalization Circuit: </a:t>
            </a:r>
          </a:p>
        </p:txBody>
      </p:sp>
      <p:sp>
        <p:nvSpPr>
          <p:cNvPr id="3" name="Content Placeholder 2">
            <a:extLst>
              <a:ext uri="{FF2B5EF4-FFF2-40B4-BE49-F238E27FC236}">
                <a16:creationId xmlns:a16="http://schemas.microsoft.com/office/drawing/2014/main" id="{2280E365-D2EB-649E-7458-526BFEA61B13}"/>
              </a:ext>
            </a:extLst>
          </p:cNvPr>
          <p:cNvSpPr>
            <a:spLocks noGrp="1"/>
          </p:cNvSpPr>
          <p:nvPr>
            <p:ph idx="1"/>
          </p:nvPr>
        </p:nvSpPr>
        <p:spPr>
          <a:xfrm>
            <a:off x="1055803" y="942681"/>
            <a:ext cx="10774836" cy="5193128"/>
          </a:xfrm>
        </p:spPr>
        <p:txBody>
          <a:bodyPr>
            <a:noAutofit/>
          </a:bodyPr>
          <a:lstStyle/>
          <a:p>
            <a:pPr marL="0" indent="0" algn="just">
              <a:buNone/>
            </a:pPr>
            <a:r>
              <a:rPr lang="en-US" sz="2200" b="1" dirty="0" err="1">
                <a:latin typeface="Times New Roman" panose="02020603050405020304" pitchFamily="18" charset="0"/>
                <a:cs typeface="Times New Roman" panose="02020603050405020304" pitchFamily="18" charset="0"/>
              </a:rPr>
              <a:t>Precharge</a:t>
            </a:r>
            <a:r>
              <a:rPr lang="en-US" sz="2200" b="1" dirty="0">
                <a:latin typeface="Times New Roman" panose="02020603050405020304" pitchFamily="18" charset="0"/>
                <a:cs typeface="Times New Roman" panose="02020603050405020304" pitchFamily="18" charset="0"/>
              </a:rPr>
              <a:t> and Equalization Circuits in SRAM:</a:t>
            </a:r>
          </a:p>
          <a:p>
            <a:pPr marL="0" indent="0" algn="just">
              <a:buNone/>
            </a:pPr>
            <a:r>
              <a:rPr lang="en-US" sz="2200" b="1" dirty="0" err="1">
                <a:latin typeface="Times New Roman" panose="02020603050405020304" pitchFamily="18" charset="0"/>
                <a:cs typeface="Times New Roman" panose="02020603050405020304" pitchFamily="18" charset="0"/>
              </a:rPr>
              <a:t>nMOS</a:t>
            </a:r>
            <a:r>
              <a:rPr lang="en-US" sz="2200" b="1" dirty="0">
                <a:latin typeface="Times New Roman" panose="02020603050405020304" pitchFamily="18" charset="0"/>
                <a:cs typeface="Times New Roman" panose="02020603050405020304" pitchFamily="18" charset="0"/>
              </a:rPr>
              <a:t> </a:t>
            </a:r>
            <a:r>
              <a:rPr lang="en-US" sz="2200" b="1" dirty="0" err="1">
                <a:latin typeface="Times New Roman" panose="02020603050405020304" pitchFamily="18" charset="0"/>
                <a:cs typeface="Times New Roman" panose="02020603050405020304" pitchFamily="18" charset="0"/>
              </a:rPr>
              <a:t>Precharge</a:t>
            </a:r>
            <a:r>
              <a:rPr lang="en-US" sz="2200" b="1" dirty="0">
                <a:latin typeface="Times New Roman" panose="02020603050405020304" pitchFamily="18" charset="0"/>
                <a:cs typeface="Times New Roman" panose="02020603050405020304" pitchFamily="18" charset="0"/>
              </a:rPr>
              <a:t> Circuit (Fig. a)</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 this design, </a:t>
            </a:r>
            <a:r>
              <a:rPr lang="en-US" sz="2200" dirty="0" err="1">
                <a:latin typeface="Times New Roman" panose="02020603050405020304" pitchFamily="18" charset="0"/>
                <a:cs typeface="Times New Roman" panose="02020603050405020304" pitchFamily="18" charset="0"/>
              </a:rPr>
              <a:t>nMOS</a:t>
            </a:r>
            <a:r>
              <a:rPr lang="en-US" sz="2200" dirty="0">
                <a:latin typeface="Times New Roman" panose="02020603050405020304" pitchFamily="18" charset="0"/>
                <a:cs typeface="Times New Roman" panose="02020603050405020304" pitchFamily="18" charset="0"/>
              </a:rPr>
              <a:t> transistors are used to charge the bit-lines to approximately</a:t>
            </a:r>
            <a:r>
              <a:rPr lang="en-IN" sz="2000" dirty="0">
                <a:latin typeface="Times New Roman" panose="02020603050405020304" pitchFamily="18" charset="0"/>
                <a:ea typeface="Tahoma" panose="020B0604030504040204" pitchFamily="34" charset="0"/>
                <a:cs typeface="Times New Roman" panose="02020603050405020304" pitchFamily="18" charset="0"/>
              </a:rPr>
              <a:t> V</a:t>
            </a:r>
            <a:r>
              <a:rPr lang="en-IN" sz="2000" baseline="-25000" dirty="0">
                <a:latin typeface="Times New Roman" panose="02020603050405020304" pitchFamily="18" charset="0"/>
                <a:ea typeface="Tahoma" panose="020B0604030504040204" pitchFamily="34" charset="0"/>
                <a:cs typeface="Times New Roman" panose="02020603050405020304" pitchFamily="18" charset="0"/>
              </a:rPr>
              <a:t>DD</a:t>
            </a:r>
            <a:r>
              <a:rPr lang="en-IN" sz="2000" dirty="0">
                <a:latin typeface="Times New Roman" panose="02020603050405020304" pitchFamily="18" charset="0"/>
                <a:ea typeface="Tahoma" panose="020B0604030504040204" pitchFamily="34" charset="0"/>
                <a:cs typeface="Times New Roman" panose="02020603050405020304" pitchFamily="18" charset="0"/>
              </a:rPr>
              <a:t>/2, </a:t>
            </a:r>
            <a:r>
              <a:rPr lang="en-US" sz="2000" dirty="0">
                <a:latin typeface="Times New Roman" panose="02020603050405020304" pitchFamily="18" charset="0"/>
                <a:ea typeface="Tahoma" panose="020B0604030504040204" pitchFamily="34" charset="0"/>
                <a:cs typeface="Times New Roman" panose="02020603050405020304" pitchFamily="18" charset="0"/>
              </a:rPr>
              <a:t>often used in differential sensing schemes.</a:t>
            </a:r>
          </a:p>
          <a:p>
            <a:pPr marL="0" indent="0" algn="just">
              <a:buNone/>
            </a:pPr>
            <a:r>
              <a:rPr lang="en-US" sz="2200" b="1" dirty="0">
                <a:latin typeface="Times New Roman" panose="02020603050405020304" pitchFamily="18" charset="0"/>
                <a:cs typeface="Times New Roman" panose="02020603050405020304" pitchFamily="18" charset="0"/>
              </a:rPr>
              <a:t>Control Signal (</a:t>
            </a:r>
            <a:r>
              <a:rPr lang="en-US" sz="2200" b="1" dirty="0" err="1">
                <a:latin typeface="Times New Roman" panose="02020603050405020304" pitchFamily="18" charset="0"/>
                <a:cs typeface="Times New Roman" panose="02020603050405020304" pitchFamily="18" charset="0"/>
              </a:rPr>
              <a:t>Φn</a:t>
            </a:r>
            <a:r>
              <a:rPr lang="en-US" sz="2200" b="1"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signal </a:t>
            </a:r>
            <a:r>
              <a:rPr lang="en-US" sz="2200" dirty="0" err="1">
                <a:latin typeface="Times New Roman" panose="02020603050405020304" pitchFamily="18" charset="0"/>
                <a:cs typeface="Times New Roman" panose="02020603050405020304" pitchFamily="18" charset="0"/>
              </a:rPr>
              <a:t>Φn</a:t>
            </a:r>
            <a:r>
              <a:rPr lang="en-US" sz="2200" dirty="0">
                <a:latin typeface="Times New Roman" panose="02020603050405020304" pitchFamily="18" charset="0"/>
                <a:cs typeface="Times New Roman" panose="02020603050405020304" pitchFamily="18" charset="0"/>
              </a:rPr>
              <a:t> enables the </a:t>
            </a:r>
            <a:r>
              <a:rPr lang="en-US" sz="2200" dirty="0" err="1">
                <a:latin typeface="Times New Roman" panose="02020603050405020304" pitchFamily="18" charset="0"/>
                <a:cs typeface="Times New Roman" panose="02020603050405020304" pitchFamily="18" charset="0"/>
              </a:rPr>
              <a:t>nMOS</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transistors and equalizer simultaneously, ensuring both bit-lines are equalized and </a:t>
            </a:r>
            <a:r>
              <a:rPr lang="en-US" sz="2200" dirty="0" err="1">
                <a:latin typeface="Times New Roman" panose="02020603050405020304" pitchFamily="18" charset="0"/>
                <a:cs typeface="Times New Roman" panose="02020603050405020304" pitchFamily="18" charset="0"/>
              </a:rPr>
              <a:t>precharged</a:t>
            </a:r>
            <a:r>
              <a:rPr lang="en-US" sz="2200" dirty="0">
                <a:latin typeface="Times New Roman" panose="02020603050405020304" pitchFamily="18" charset="0"/>
                <a:cs typeface="Times New Roman" panose="02020603050405020304" pitchFamily="18" charset="0"/>
              </a:rPr>
              <a:t>.</a:t>
            </a:r>
          </a:p>
          <a:p>
            <a:pPr marL="0" indent="0" algn="just">
              <a:buNone/>
            </a:pPr>
            <a:r>
              <a:rPr lang="en-US" sz="2200" b="1" dirty="0">
                <a:latin typeface="Times New Roman" panose="02020603050405020304" pitchFamily="18" charset="0"/>
                <a:cs typeface="Times New Roman" panose="02020603050405020304" pitchFamily="18" charset="0"/>
              </a:rPr>
              <a:t>Limitations of </a:t>
            </a:r>
            <a:r>
              <a:rPr lang="en-US" sz="2200" b="1" dirty="0" err="1">
                <a:latin typeface="Times New Roman" panose="02020603050405020304" pitchFamily="18" charset="0"/>
                <a:cs typeface="Times New Roman" panose="02020603050405020304" pitchFamily="18" charset="0"/>
              </a:rPr>
              <a:t>nMOS</a:t>
            </a:r>
            <a:r>
              <a:rPr lang="en-US" sz="2200" b="1" dirty="0">
                <a:latin typeface="Times New Roman" panose="02020603050405020304" pitchFamily="18" charset="0"/>
                <a:cs typeface="Times New Roman" panose="02020603050405020304" pitchFamily="18" charset="0"/>
              </a:rPr>
              <a:t> </a:t>
            </a:r>
            <a:r>
              <a:rPr lang="en-US" sz="2200" b="1" dirty="0" err="1">
                <a:latin typeface="Times New Roman" panose="02020603050405020304" pitchFamily="18" charset="0"/>
                <a:cs typeface="Times New Roman" panose="02020603050405020304" pitchFamily="18" charset="0"/>
              </a:rPr>
              <a:t>Precharge</a:t>
            </a:r>
            <a:endParaRPr lang="en-US" sz="22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Due to threshold voltage drop, </a:t>
            </a:r>
            <a:r>
              <a:rPr lang="en-US" sz="2200" dirty="0" err="1">
                <a:latin typeface="Times New Roman" panose="02020603050405020304" pitchFamily="18" charset="0"/>
                <a:cs typeface="Times New Roman" panose="02020603050405020304" pitchFamily="18" charset="0"/>
              </a:rPr>
              <a:t>nMOS</a:t>
            </a:r>
            <a:r>
              <a:rPr lang="en-US" sz="2200" dirty="0">
                <a:latin typeface="Times New Roman" panose="02020603050405020304" pitchFamily="18" charset="0"/>
                <a:cs typeface="Times New Roman" panose="02020603050405020304" pitchFamily="18" charset="0"/>
              </a:rPr>
              <a:t> cannot pass a strong logic ‘1’, leading to incomplete voltage levels and reduced sensing margin.</a:t>
            </a:r>
          </a:p>
          <a:p>
            <a:pPr marL="0" indent="0" algn="just">
              <a:buNone/>
            </a:pPr>
            <a:r>
              <a:rPr lang="en-US" sz="2200" b="1" dirty="0" err="1">
                <a:latin typeface="Times New Roman" panose="02020603050405020304" pitchFamily="18" charset="0"/>
                <a:cs typeface="Times New Roman" panose="02020603050405020304" pitchFamily="18" charset="0"/>
              </a:rPr>
              <a:t>pMOS</a:t>
            </a:r>
            <a:r>
              <a:rPr lang="en-US" sz="2200" b="1" dirty="0">
                <a:latin typeface="Times New Roman" panose="02020603050405020304" pitchFamily="18" charset="0"/>
                <a:cs typeface="Times New Roman" panose="02020603050405020304" pitchFamily="18" charset="0"/>
              </a:rPr>
              <a:t> </a:t>
            </a:r>
            <a:r>
              <a:rPr lang="en-US" sz="2200" b="1" dirty="0" err="1">
                <a:latin typeface="Times New Roman" panose="02020603050405020304" pitchFamily="18" charset="0"/>
                <a:cs typeface="Times New Roman" panose="02020603050405020304" pitchFamily="18" charset="0"/>
              </a:rPr>
              <a:t>Precharge</a:t>
            </a:r>
            <a:r>
              <a:rPr lang="en-US" sz="2200" b="1" dirty="0">
                <a:latin typeface="Times New Roman" panose="02020603050405020304" pitchFamily="18" charset="0"/>
                <a:cs typeface="Times New Roman" panose="02020603050405020304" pitchFamily="18" charset="0"/>
              </a:rPr>
              <a:t> Circuit (Fig. b)</a:t>
            </a:r>
          </a:p>
          <a:p>
            <a:pPr marL="0" indent="0" algn="just">
              <a:buNone/>
            </a:pPr>
            <a:r>
              <a:rPr lang="en-US" sz="2200" dirty="0" err="1">
                <a:latin typeface="Times New Roman" panose="02020603050405020304" pitchFamily="18" charset="0"/>
                <a:cs typeface="Times New Roman" panose="02020603050405020304" pitchFamily="18" charset="0"/>
              </a:rPr>
              <a:t>pMOS</a:t>
            </a:r>
            <a:r>
              <a:rPr lang="en-US" sz="2200" dirty="0">
                <a:latin typeface="Times New Roman" panose="02020603050405020304" pitchFamily="18" charset="0"/>
                <a:cs typeface="Times New Roman" panose="02020603050405020304" pitchFamily="18" charset="0"/>
              </a:rPr>
              <a:t> transistors are used to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bit-lines, typically pulling them up to, </a:t>
            </a:r>
            <a:r>
              <a:rPr lang="en-IN" sz="2400" dirty="0">
                <a:latin typeface="Times New Roman" panose="02020603050405020304" pitchFamily="18" charset="0"/>
                <a:ea typeface="Tahoma" panose="020B0604030504040204" pitchFamily="34" charset="0"/>
                <a:cs typeface="Times New Roman" panose="02020603050405020304" pitchFamily="18" charset="0"/>
              </a:rPr>
              <a:t>V</a:t>
            </a:r>
            <a:r>
              <a:rPr lang="en-IN" sz="2400" baseline="-25000" dirty="0">
                <a:latin typeface="Times New Roman" panose="02020603050405020304" pitchFamily="18" charset="0"/>
                <a:ea typeface="Tahoma" panose="020B0604030504040204" pitchFamily="34" charset="0"/>
                <a:cs typeface="Times New Roman" panose="02020603050405020304" pitchFamily="18" charset="0"/>
              </a:rPr>
              <a:t>DD</a:t>
            </a:r>
            <a:r>
              <a:rPr lang="en-IN" sz="2400" dirty="0">
                <a:latin typeface="Times New Roman" panose="02020603050405020304" pitchFamily="18" charset="0"/>
                <a:ea typeface="Tahoma" panose="020B0604030504040204" pitchFamily="34" charset="0"/>
                <a:cs typeface="Times New Roman" panose="02020603050405020304" pitchFamily="18" charset="0"/>
              </a:rPr>
              <a:t>, ensuring full voltage swing.</a:t>
            </a:r>
            <a:endParaRPr lang="en-US"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B05DCC8-C58A-41FF-8493-A8D291E554B6}"/>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755946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1EE64-0020-3446-1EE1-8E443D4CD3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D23E9-3C3C-98A8-078F-6641E2217EB6}"/>
              </a:ext>
            </a:extLst>
          </p:cNvPr>
          <p:cNvSpPr>
            <a:spLocks noGrp="1"/>
          </p:cNvSpPr>
          <p:nvPr>
            <p:ph type="title"/>
          </p:nvPr>
        </p:nvSpPr>
        <p:spPr>
          <a:xfrm>
            <a:off x="1817694" y="337404"/>
            <a:ext cx="8911687" cy="605276"/>
          </a:xfrm>
        </p:spPr>
        <p:txBody>
          <a:bodyPr>
            <a:normAutofit fontScale="90000"/>
          </a:bodyPr>
          <a:lstStyle/>
          <a:p>
            <a:r>
              <a:rPr lang="en-IN" b="1" dirty="0" err="1">
                <a:latin typeface="Times New Roman" panose="02020603050405020304" pitchFamily="18" charset="0"/>
                <a:cs typeface="Times New Roman" panose="02020603050405020304" pitchFamily="18" charset="0"/>
              </a:rPr>
              <a:t>Precharge</a:t>
            </a:r>
            <a:r>
              <a:rPr lang="en-IN" b="1" dirty="0">
                <a:latin typeface="Times New Roman" panose="02020603050405020304" pitchFamily="18" charset="0"/>
                <a:cs typeface="Times New Roman" panose="02020603050405020304" pitchFamily="18" charset="0"/>
              </a:rPr>
              <a:t> and Equalization Circuit: </a:t>
            </a:r>
          </a:p>
        </p:txBody>
      </p:sp>
      <p:sp>
        <p:nvSpPr>
          <p:cNvPr id="3" name="Content Placeholder 2">
            <a:extLst>
              <a:ext uri="{FF2B5EF4-FFF2-40B4-BE49-F238E27FC236}">
                <a16:creationId xmlns:a16="http://schemas.microsoft.com/office/drawing/2014/main" id="{69100928-36A1-C340-2981-6533F354D292}"/>
              </a:ext>
            </a:extLst>
          </p:cNvPr>
          <p:cNvSpPr>
            <a:spLocks noGrp="1"/>
          </p:cNvSpPr>
          <p:nvPr>
            <p:ph idx="1"/>
          </p:nvPr>
        </p:nvSpPr>
        <p:spPr>
          <a:xfrm>
            <a:off x="1055803" y="942681"/>
            <a:ext cx="10774836" cy="5193128"/>
          </a:xfrm>
        </p:spPr>
        <p:txBody>
          <a:bodyPr>
            <a:noAutofit/>
          </a:bodyPr>
          <a:lstStyle/>
          <a:p>
            <a:pPr marL="0" indent="0" algn="just">
              <a:buNone/>
            </a:pPr>
            <a:r>
              <a:rPr lang="en-US" sz="2200" b="1" dirty="0" err="1">
                <a:latin typeface="Times New Roman" panose="02020603050405020304" pitchFamily="18" charset="0"/>
                <a:cs typeface="Times New Roman" panose="02020603050405020304" pitchFamily="18" charset="0"/>
              </a:rPr>
              <a:t>Precharge</a:t>
            </a:r>
            <a:r>
              <a:rPr lang="en-US" sz="2200" b="1" dirty="0">
                <a:latin typeface="Times New Roman" panose="02020603050405020304" pitchFamily="18" charset="0"/>
                <a:cs typeface="Times New Roman" panose="02020603050405020304" pitchFamily="18" charset="0"/>
              </a:rPr>
              <a:t> and Equalization Circuits in SRAM:</a:t>
            </a:r>
            <a:endParaRPr lang="en-IN" sz="2400" b="1" dirty="0">
              <a:latin typeface="Times New Roman" panose="02020603050405020304" pitchFamily="18" charset="0"/>
              <a:ea typeface="Tahoma" panose="020B0604030504040204" pitchFamily="34" charset="0"/>
              <a:cs typeface="Times New Roman" panose="02020603050405020304" pitchFamily="18" charset="0"/>
            </a:endParaRPr>
          </a:p>
          <a:p>
            <a:pPr marL="0" indent="0" algn="just">
              <a:buNone/>
            </a:pPr>
            <a:r>
              <a:rPr lang="en-US" sz="2400" b="1" dirty="0">
                <a:latin typeface="Times New Roman" panose="02020603050405020304" pitchFamily="18" charset="0"/>
                <a:ea typeface="Tahoma" panose="020B0604030504040204" pitchFamily="34" charset="0"/>
                <a:cs typeface="Times New Roman" panose="02020603050405020304" pitchFamily="18" charset="0"/>
              </a:rPr>
              <a:t>Control Signal (</a:t>
            </a:r>
            <a:r>
              <a:rPr lang="en-US" sz="2400" b="1" dirty="0" err="1">
                <a:latin typeface="Times New Roman" panose="02020603050405020304" pitchFamily="18" charset="0"/>
                <a:ea typeface="Tahoma" panose="020B0604030504040204" pitchFamily="34" charset="0"/>
                <a:cs typeface="Times New Roman" panose="02020603050405020304" pitchFamily="18" charset="0"/>
              </a:rPr>
              <a:t>Φp</a:t>
            </a:r>
            <a:r>
              <a:rPr lang="en-US" sz="2400" b="1" dirty="0">
                <a:latin typeface="Times New Roman" panose="02020603050405020304" pitchFamily="18" charset="0"/>
                <a:ea typeface="Tahoma" panose="020B0604030504040204" pitchFamily="34" charset="0"/>
                <a:cs typeface="Times New Roman" panose="02020603050405020304" pitchFamily="18" charset="0"/>
              </a:rPr>
              <a:t>)</a:t>
            </a:r>
          </a:p>
          <a:p>
            <a:pPr lvl="1" algn="just">
              <a:buFont typeface="Arial" panose="020B0604020202020204" pitchFamily="34" charset="0"/>
              <a:buChar char="•"/>
            </a:pPr>
            <a:r>
              <a:rPr lang="en-US" sz="2400" dirty="0">
                <a:latin typeface="Times New Roman" panose="02020603050405020304" pitchFamily="18" charset="0"/>
                <a:ea typeface="Tahoma" panose="020B0604030504040204" pitchFamily="34" charset="0"/>
                <a:cs typeface="Times New Roman" panose="02020603050405020304" pitchFamily="18" charset="0"/>
              </a:rPr>
              <a:t>The </a:t>
            </a:r>
            <a:r>
              <a:rPr lang="en-US" sz="2400" dirty="0" err="1">
                <a:latin typeface="Times New Roman" panose="02020603050405020304" pitchFamily="18" charset="0"/>
                <a:ea typeface="Tahoma" panose="020B0604030504040204" pitchFamily="34" charset="0"/>
                <a:cs typeface="Times New Roman" panose="02020603050405020304" pitchFamily="18" charset="0"/>
              </a:rPr>
              <a:t>Φp</a:t>
            </a:r>
            <a:r>
              <a:rPr lang="en-US" sz="2400" dirty="0">
                <a:latin typeface="Times New Roman" panose="02020603050405020304" pitchFamily="18" charset="0"/>
                <a:ea typeface="Tahoma" panose="020B0604030504040204" pitchFamily="34" charset="0"/>
                <a:cs typeface="Times New Roman" panose="02020603050405020304" pitchFamily="18" charset="0"/>
              </a:rPr>
              <a:t> signal activates the </a:t>
            </a:r>
            <a:r>
              <a:rPr lang="en-US" sz="2400" dirty="0" err="1">
                <a:latin typeface="Times New Roman" panose="02020603050405020304" pitchFamily="18" charset="0"/>
                <a:ea typeface="Tahoma" panose="020B0604030504040204" pitchFamily="34" charset="0"/>
                <a:cs typeface="Times New Roman" panose="02020603050405020304" pitchFamily="18" charset="0"/>
              </a:rPr>
              <a:t>pMOS</a:t>
            </a:r>
            <a:r>
              <a:rPr lang="en-US" sz="2400" dirty="0">
                <a:latin typeface="Times New Roman" panose="02020603050405020304" pitchFamily="18" charset="0"/>
                <a:ea typeface="Tahoma" panose="020B0604030504040204" pitchFamily="34" charset="0"/>
                <a:cs typeface="Times New Roman" panose="02020603050405020304" pitchFamily="18" charset="0"/>
              </a:rPr>
              <a:t> network, enabling both </a:t>
            </a:r>
            <a:r>
              <a:rPr lang="en-US" sz="2400" dirty="0" err="1">
                <a:latin typeface="Times New Roman" panose="02020603050405020304" pitchFamily="18" charset="0"/>
                <a:ea typeface="Tahoma" panose="020B0604030504040204" pitchFamily="34" charset="0"/>
                <a:cs typeface="Times New Roman" panose="02020603050405020304" pitchFamily="18" charset="0"/>
              </a:rPr>
              <a:t>precharge</a:t>
            </a:r>
            <a:r>
              <a:rPr lang="en-US" sz="2400" dirty="0">
                <a:latin typeface="Times New Roman" panose="02020603050405020304" pitchFamily="18" charset="0"/>
                <a:ea typeface="Tahoma" panose="020B0604030504040204" pitchFamily="34" charset="0"/>
                <a:cs typeface="Times New Roman" panose="02020603050405020304" pitchFamily="18" charset="0"/>
              </a:rPr>
              <a:t> and equalization for the bit-lines.</a:t>
            </a:r>
          </a:p>
          <a:p>
            <a:pPr marL="0" indent="0" algn="just">
              <a:buNone/>
            </a:pPr>
            <a:r>
              <a:rPr lang="en-US" sz="2400" b="1" dirty="0">
                <a:latin typeface="Times New Roman" panose="02020603050405020304" pitchFamily="18" charset="0"/>
                <a:ea typeface="Tahoma" panose="020B0604030504040204" pitchFamily="34" charset="0"/>
                <a:cs typeface="Times New Roman" panose="02020603050405020304" pitchFamily="18" charset="0"/>
              </a:rPr>
              <a:t>Advantages of </a:t>
            </a:r>
            <a:r>
              <a:rPr lang="en-US" sz="2400" b="1" dirty="0" err="1">
                <a:latin typeface="Times New Roman" panose="02020603050405020304" pitchFamily="18" charset="0"/>
                <a:ea typeface="Tahoma" panose="020B0604030504040204" pitchFamily="34" charset="0"/>
                <a:cs typeface="Times New Roman" panose="02020603050405020304" pitchFamily="18" charset="0"/>
              </a:rPr>
              <a:t>pMOS</a:t>
            </a:r>
            <a:r>
              <a:rPr lang="en-US" sz="2400" b="1" dirty="0">
                <a:latin typeface="Times New Roman" panose="02020603050405020304" pitchFamily="18" charset="0"/>
                <a:ea typeface="Tahoma" panose="020B0604030504040204" pitchFamily="34" charset="0"/>
                <a:cs typeface="Times New Roman" panose="02020603050405020304" pitchFamily="18" charset="0"/>
              </a:rPr>
              <a:t> Design</a:t>
            </a:r>
          </a:p>
          <a:p>
            <a:pPr lvl="1" algn="just">
              <a:buFont typeface="Arial" panose="020B0604020202020204" pitchFamily="34" charset="0"/>
              <a:buChar char="•"/>
            </a:pPr>
            <a:r>
              <a:rPr lang="en-US" sz="2400" dirty="0" err="1">
                <a:latin typeface="Times New Roman" panose="02020603050405020304" pitchFamily="18" charset="0"/>
                <a:ea typeface="Tahoma" panose="020B0604030504040204" pitchFamily="34" charset="0"/>
                <a:cs typeface="Times New Roman" panose="02020603050405020304" pitchFamily="18" charset="0"/>
              </a:rPr>
              <a:t>pMOS</a:t>
            </a:r>
            <a:r>
              <a:rPr lang="en-US" sz="2400" dirty="0">
                <a:latin typeface="Times New Roman" panose="02020603050405020304" pitchFamily="18" charset="0"/>
                <a:ea typeface="Tahoma" panose="020B0604030504040204" pitchFamily="34" charset="0"/>
                <a:cs typeface="Times New Roman" panose="02020603050405020304" pitchFamily="18" charset="0"/>
              </a:rPr>
              <a:t>-based </a:t>
            </a:r>
            <a:r>
              <a:rPr lang="en-US" sz="2400" dirty="0" err="1">
                <a:latin typeface="Times New Roman" panose="02020603050405020304" pitchFamily="18" charset="0"/>
                <a:ea typeface="Tahoma" panose="020B0604030504040204" pitchFamily="34" charset="0"/>
                <a:cs typeface="Times New Roman" panose="02020603050405020304" pitchFamily="18" charset="0"/>
              </a:rPr>
              <a:t>precharge</a:t>
            </a:r>
            <a:r>
              <a:rPr lang="en-US" sz="2400" dirty="0">
                <a:latin typeface="Times New Roman" panose="02020603050405020304" pitchFamily="18" charset="0"/>
                <a:ea typeface="Tahoma" panose="020B0604030504040204" pitchFamily="34" charset="0"/>
                <a:cs typeface="Times New Roman" panose="02020603050405020304" pitchFamily="18" charset="0"/>
              </a:rPr>
              <a:t> provides better noise margin, full voltage swing, and improved read reliability compared to </a:t>
            </a:r>
            <a:r>
              <a:rPr lang="en-US" sz="2400" dirty="0" err="1">
                <a:latin typeface="Times New Roman" panose="02020603050405020304" pitchFamily="18" charset="0"/>
                <a:ea typeface="Tahoma" panose="020B0604030504040204" pitchFamily="34" charset="0"/>
                <a:cs typeface="Times New Roman" panose="02020603050405020304" pitchFamily="18" charset="0"/>
              </a:rPr>
              <a:t>nMOS</a:t>
            </a:r>
            <a:r>
              <a:rPr lang="en-US" sz="2400" dirty="0">
                <a:latin typeface="Times New Roman" panose="02020603050405020304" pitchFamily="18" charset="0"/>
                <a:ea typeface="Tahoma" panose="020B0604030504040204" pitchFamily="34" charset="0"/>
                <a:cs typeface="Times New Roman" panose="02020603050405020304" pitchFamily="18" charset="0"/>
              </a:rPr>
              <a:t> design.</a:t>
            </a:r>
          </a:p>
          <a:p>
            <a:pPr marL="0" indent="0" algn="just">
              <a:buNone/>
            </a:pPr>
            <a:r>
              <a:rPr lang="en-US" sz="2400" b="1" dirty="0">
                <a:latin typeface="Times New Roman" panose="02020603050405020304" pitchFamily="18" charset="0"/>
                <a:ea typeface="Tahoma" panose="020B0604030504040204" pitchFamily="34" charset="0"/>
                <a:cs typeface="Times New Roman" panose="02020603050405020304" pitchFamily="18" charset="0"/>
              </a:rPr>
              <a:t>Design Trade-offs</a:t>
            </a:r>
          </a:p>
          <a:p>
            <a:pPr algn="just">
              <a:buFont typeface="Arial" panose="020B0604020202020204" pitchFamily="34" charset="0"/>
              <a:buChar char="•"/>
            </a:pPr>
            <a:r>
              <a:rPr lang="en-US" sz="2400" dirty="0" err="1">
                <a:latin typeface="Times New Roman" panose="02020603050405020304" pitchFamily="18" charset="0"/>
                <a:ea typeface="Tahoma" panose="020B0604030504040204" pitchFamily="34" charset="0"/>
                <a:cs typeface="Times New Roman" panose="02020603050405020304" pitchFamily="18" charset="0"/>
              </a:rPr>
              <a:t>nMOS</a:t>
            </a:r>
            <a:r>
              <a:rPr lang="en-US" sz="2400" dirty="0">
                <a:latin typeface="Times New Roman" panose="02020603050405020304" pitchFamily="18" charset="0"/>
                <a:ea typeface="Tahoma" panose="020B0604030504040204" pitchFamily="34" charset="0"/>
                <a:cs typeface="Times New Roman" panose="02020603050405020304" pitchFamily="18" charset="0"/>
              </a:rPr>
              <a:t> </a:t>
            </a:r>
            <a:r>
              <a:rPr lang="en-US" sz="2400" dirty="0" err="1">
                <a:latin typeface="Times New Roman" panose="02020603050405020304" pitchFamily="18" charset="0"/>
                <a:ea typeface="Tahoma" panose="020B0604030504040204" pitchFamily="34" charset="0"/>
                <a:cs typeface="Times New Roman" panose="02020603050405020304" pitchFamily="18" charset="0"/>
              </a:rPr>
              <a:t>precharge</a:t>
            </a:r>
            <a:r>
              <a:rPr lang="en-US" sz="2400" dirty="0">
                <a:latin typeface="Times New Roman" panose="02020603050405020304" pitchFamily="18" charset="0"/>
                <a:ea typeface="Tahoma" panose="020B0604030504040204" pitchFamily="34" charset="0"/>
                <a:cs typeface="Times New Roman" panose="02020603050405020304" pitchFamily="18" charset="0"/>
              </a:rPr>
              <a:t> circuits are simpler and may consume less area, while </a:t>
            </a:r>
            <a:r>
              <a:rPr lang="en-US" sz="2400" dirty="0" err="1">
                <a:latin typeface="Times New Roman" panose="02020603050405020304" pitchFamily="18" charset="0"/>
                <a:ea typeface="Tahoma" panose="020B0604030504040204" pitchFamily="34" charset="0"/>
                <a:cs typeface="Times New Roman" panose="02020603050405020304" pitchFamily="18" charset="0"/>
              </a:rPr>
              <a:t>pMOS</a:t>
            </a:r>
            <a:r>
              <a:rPr lang="en-US" sz="2400" dirty="0">
                <a:latin typeface="Times New Roman" panose="02020603050405020304" pitchFamily="18" charset="0"/>
                <a:ea typeface="Tahoma" panose="020B0604030504040204" pitchFamily="34" charset="0"/>
                <a:cs typeface="Times New Roman" panose="02020603050405020304" pitchFamily="18" charset="0"/>
              </a:rPr>
              <a:t> circuits offer superior performance at slightly higher complexity and power consumption.</a:t>
            </a:r>
          </a:p>
          <a:p>
            <a:pPr marL="0" indent="0" algn="just">
              <a:buNone/>
            </a:pPr>
            <a:endParaRPr lang="en-US"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E35395D-5307-4786-B7CF-AECA8D8CB601}"/>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5640423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02275-BA64-DECB-9135-ABA358D2C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1E744-A052-B9A5-6333-670B9A58A187}"/>
              </a:ext>
            </a:extLst>
          </p:cNvPr>
          <p:cNvSpPr>
            <a:spLocks noGrp="1"/>
          </p:cNvSpPr>
          <p:nvPr>
            <p:ph type="title"/>
          </p:nvPr>
        </p:nvSpPr>
        <p:spPr>
          <a:xfrm>
            <a:off x="1817694" y="337404"/>
            <a:ext cx="8911687" cy="605276"/>
          </a:xfrm>
        </p:spPr>
        <p:txBody>
          <a:bodyPr>
            <a:normAutofit fontScale="90000"/>
          </a:bodyPr>
          <a:lstStyle/>
          <a:p>
            <a:r>
              <a:rPr lang="en-IN" b="1" dirty="0">
                <a:latin typeface="Times New Roman" panose="02020603050405020304" pitchFamily="18" charset="0"/>
                <a:cs typeface="Times New Roman" panose="02020603050405020304" pitchFamily="18" charset="0"/>
              </a:rPr>
              <a:t>5.2.1 Low-Power SRAM Technologies </a:t>
            </a:r>
          </a:p>
        </p:txBody>
      </p:sp>
      <p:sp>
        <p:nvSpPr>
          <p:cNvPr id="3" name="Content Placeholder 2">
            <a:extLst>
              <a:ext uri="{FF2B5EF4-FFF2-40B4-BE49-F238E27FC236}">
                <a16:creationId xmlns:a16="http://schemas.microsoft.com/office/drawing/2014/main" id="{D0FA1AFD-E5D8-9980-2069-BF1E805DD0A6}"/>
              </a:ext>
            </a:extLst>
          </p:cNvPr>
          <p:cNvSpPr>
            <a:spLocks noGrp="1"/>
          </p:cNvSpPr>
          <p:nvPr>
            <p:ph idx="1"/>
          </p:nvPr>
        </p:nvSpPr>
        <p:spPr>
          <a:xfrm>
            <a:off x="1055803" y="942681"/>
            <a:ext cx="10774836" cy="5193128"/>
          </a:xfrm>
        </p:spPr>
        <p:txBody>
          <a:bodyPr>
            <a:noAutofit/>
          </a:bodyPr>
          <a:lstStyle/>
          <a:p>
            <a:pPr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Sources of SRAM power: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power present in an SRAM is categorized into two parts , active and standby (data retention) power.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The active power is the sum of the power consumed by the row and column decoders, memory array, sense amplifiers, and peripheral circuits such as the input/output buffers.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effective data retention current of the unselected memory cells when the sense amplifiers are significantly disabled contributes to the standby power of an SRAM.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Static current from other sources is negligible. </a:t>
            </a: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F786162-9832-7FC9-95F4-98AFA686A06F}"/>
              </a:ext>
            </a:extLst>
          </p:cNvPr>
          <p:cNvSpPr>
            <a:spLocks noGrp="1"/>
          </p:cNvSpPr>
          <p:nvPr>
            <p:ph type="ftr" sz="quarter" idx="11"/>
          </p:nvPr>
        </p:nvSpPr>
        <p:spPr/>
        <p:txBody>
          <a:bodyPr/>
          <a:lstStyle/>
          <a:p>
            <a:r>
              <a:rPr lang="en-IN" dirty="0"/>
              <a:t>Dr. Aruru Sai Kumar , VIT-AP</a:t>
            </a:r>
          </a:p>
        </p:txBody>
      </p:sp>
      <p:cxnSp>
        <p:nvCxnSpPr>
          <p:cNvPr id="6" name="Straight Connector 5">
            <a:extLst>
              <a:ext uri="{FF2B5EF4-FFF2-40B4-BE49-F238E27FC236}">
                <a16:creationId xmlns:a16="http://schemas.microsoft.com/office/drawing/2014/main" id="{945769A9-51A0-696F-0223-5956B6FD6F8F}"/>
              </a:ext>
            </a:extLst>
          </p:cNvPr>
          <p:cNvCxnSpPr/>
          <p:nvPr/>
        </p:nvCxnSpPr>
        <p:spPr>
          <a:xfrm>
            <a:off x="1468903" y="2848462"/>
            <a:ext cx="41477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63730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58368"/>
          </a:xfrm>
        </p:spPr>
        <p:txBody>
          <a:bodyPr/>
          <a:lstStyle/>
          <a:p>
            <a:r>
              <a:rPr lang="en-IN" dirty="0">
                <a:solidFill>
                  <a:schemeClr val="tx1"/>
                </a:solidFill>
                <a:latin typeface="Times New Roman" panose="02020603050405020304" pitchFamily="18" charset="0"/>
                <a:cs typeface="Times New Roman" panose="02020603050405020304" pitchFamily="18" charset="0"/>
              </a:rPr>
              <a:t>Low Power SRAM Circuits</a:t>
            </a:r>
          </a:p>
        </p:txBody>
      </p:sp>
      <p:sp>
        <p:nvSpPr>
          <p:cNvPr id="3" name="Content Placeholder 2"/>
          <p:cNvSpPr>
            <a:spLocks noGrp="1"/>
          </p:cNvSpPr>
          <p:nvPr>
            <p:ph idx="1"/>
          </p:nvPr>
        </p:nvSpPr>
        <p:spPr>
          <a:xfrm>
            <a:off x="838200" y="1390918"/>
            <a:ext cx="11353800" cy="4786045"/>
          </a:xfrm>
        </p:spPr>
        <p:txBody>
          <a:bodyPr>
            <a:normAutofit/>
          </a:bodyPr>
          <a:lstStyle/>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SRAM chip development has been driven by low power circuit applications, although the emphasis has recently been on more enhanced speed.</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Partial activation of a multi-divided word line and pulse operation of word-line circuitry are typical examples of low power circuits, which drastically reduce the DC current that dominates total active current.</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Pulse operation of the column/sense circuitry is another example of low power techniques. The pulse operation is essential to reducing </a:t>
            </a:r>
            <a:r>
              <a:rPr lang="en-IN" sz="2200" i="1" dirty="0">
                <a:latin typeface="Times New Roman" panose="02020603050405020304" pitchFamily="18" charset="0"/>
                <a:cs typeface="Times New Roman" panose="02020603050405020304" pitchFamily="18" charset="0"/>
              </a:rPr>
              <a:t>IDCP.</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ATD (Address Transition Detection) plays an important role in the pulse operations for word-line and column/sense circuitry.</a:t>
            </a:r>
          </a:p>
        </p:txBody>
      </p:sp>
    </p:spTree>
    <p:extLst>
      <p:ext uri="{BB962C8B-B14F-4D97-AF65-F5344CB8AC3E}">
        <p14:creationId xmlns:p14="http://schemas.microsoft.com/office/powerpoint/2010/main" val="198714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9397" y="437882"/>
            <a:ext cx="10864403" cy="5739081"/>
          </a:xfrm>
        </p:spPr>
        <p:txBody>
          <a:bodyPr>
            <a:normAutofit/>
          </a:bodyPr>
          <a:lstStyle/>
          <a:p>
            <a:pPr>
              <a:buFont typeface="Arial" panose="020B0604020202020204" pitchFamily="34" charset="0"/>
              <a:buChar char="•"/>
            </a:pPr>
            <a:r>
              <a:rPr lang="en-IN" sz="2200" b="1" dirty="0">
                <a:solidFill>
                  <a:schemeClr val="tx1"/>
                </a:solidFill>
                <a:latin typeface="Times New Roman" panose="02020603050405020304" pitchFamily="18" charset="0"/>
                <a:cs typeface="Times New Roman" panose="02020603050405020304" pitchFamily="18" charset="0"/>
              </a:rPr>
              <a:t>DC Current Reduction:</a:t>
            </a:r>
          </a:p>
          <a:p>
            <a:pPr lvl="1">
              <a:buFont typeface="Arial" panose="020B0604020202020204" pitchFamily="34" charset="0"/>
              <a:buChar char="•"/>
            </a:pPr>
            <a:r>
              <a:rPr lang="en-IN" sz="2200" dirty="0">
                <a:solidFill>
                  <a:schemeClr val="tx1"/>
                </a:solidFill>
                <a:latin typeface="Times New Roman" panose="02020603050405020304" pitchFamily="18" charset="0"/>
                <a:cs typeface="Times New Roman" panose="02020603050405020304" pitchFamily="18" charset="0"/>
              </a:rPr>
              <a:t>Partial Activation of Multi-divided Word Lines:</a:t>
            </a:r>
          </a:p>
          <a:p>
            <a:pPr lvl="1"/>
            <a:endParaRPr lang="en-IN" dirty="0"/>
          </a:p>
          <a:p>
            <a:pPr lvl="2"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multiple row decoder scheme and double-word line scheme, which divides a word line into sub word lines, greatly reduces the static current of SRAMs. A more sophisticated word-line division, called DWL (Divided Word Line), adopts a two-stage hierarchical row decoder structure, as shown in Figure.</a:t>
            </a:r>
          </a:p>
          <a:p>
            <a:pPr lvl="2"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DWL scheme requires two levels of metal layers; one for a main word line and the other for a data line. The number of sub-word lines connected to one main word line in the data-line direction is generally four (at most eight), compromising an area to a main row decoder with an area to a local row decoder.</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6873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04669" y="1181754"/>
            <a:ext cx="8378919" cy="3638550"/>
          </a:xfrm>
          <a:prstGeom prst="rect">
            <a:avLst/>
          </a:prstGeom>
        </p:spPr>
      </p:pic>
    </p:spTree>
    <p:extLst>
      <p:ext uri="{BB962C8B-B14F-4D97-AF65-F5344CB8AC3E}">
        <p14:creationId xmlns:p14="http://schemas.microsoft.com/office/powerpoint/2010/main" val="29131860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17812" y="215153"/>
            <a:ext cx="8206068" cy="4225131"/>
          </a:xfrm>
          <a:prstGeom prst="rect">
            <a:avLst/>
          </a:prstGeom>
        </p:spPr>
      </p:pic>
      <p:sp>
        <p:nvSpPr>
          <p:cNvPr id="5" name="Rectangle 4"/>
          <p:cNvSpPr/>
          <p:nvPr/>
        </p:nvSpPr>
        <p:spPr>
          <a:xfrm>
            <a:off x="1111623" y="4681861"/>
            <a:ext cx="8260978" cy="1631216"/>
          </a:xfrm>
          <a:prstGeom prst="rect">
            <a:avLst/>
          </a:prstGeom>
        </p:spPr>
        <p:txBody>
          <a:bodyPr wrap="square">
            <a:spAutoFit/>
          </a:bodyPr>
          <a:lstStyle/>
          <a:p>
            <a:pPr marL="285750" indent="-28575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Pulse Operation of Word-Line Circuitry :</a:t>
            </a:r>
          </a:p>
          <a:p>
            <a:pPr marL="285750"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duration of the active duty cycle can be shortened by pulsing the word-line for the 	minimum time required  for reading and writing in a cell array. This reduces the power 	by the duty ratio of the pulse duration to the cycle time.</a:t>
            </a:r>
          </a:p>
        </p:txBody>
      </p:sp>
    </p:spTree>
    <p:extLst>
      <p:ext uri="{BB962C8B-B14F-4D97-AF65-F5344CB8AC3E}">
        <p14:creationId xmlns:p14="http://schemas.microsoft.com/office/powerpoint/2010/main" val="28922996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2365" y="430307"/>
            <a:ext cx="4863353" cy="887505"/>
          </a:xfrm>
        </p:spPr>
        <p:txBody>
          <a:bodyPr>
            <a:normAutofit fontScale="90000"/>
          </a:bodyPr>
          <a:lstStyle/>
          <a:p>
            <a:r>
              <a:rPr lang="en-IN" sz="3100" dirty="0">
                <a:solidFill>
                  <a:schemeClr val="tx1"/>
                </a:solidFill>
                <a:latin typeface="Times New Roman" panose="02020603050405020304" pitchFamily="18" charset="0"/>
                <a:cs typeface="Times New Roman" panose="02020603050405020304" pitchFamily="18" charset="0"/>
              </a:rPr>
              <a:t>Operating Voltage Reduction:</a:t>
            </a:r>
            <a:br>
              <a:rPr lang="en-IN"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954741"/>
            <a:ext cx="10515600" cy="5222222"/>
          </a:xfrm>
        </p:spPr>
        <p:txBody>
          <a:bodyPr>
            <a:normAutofit fontScale="92500" lnSpcReduction="10000"/>
          </a:bodyPr>
          <a:lstStyle/>
          <a:p>
            <a:pPr algn="just"/>
            <a:r>
              <a:rPr lang="en-IN" sz="2600" b="1" dirty="0">
                <a:latin typeface="Times New Roman" panose="02020603050405020304" pitchFamily="18" charset="0"/>
                <a:cs typeface="Times New Roman" panose="02020603050405020304" pitchFamily="18" charset="0"/>
              </a:rPr>
              <a:t>Low Voltage Sense Amplifier:</a:t>
            </a:r>
          </a:p>
          <a:p>
            <a:pPr lvl="1"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For lower V</a:t>
            </a:r>
            <a:r>
              <a:rPr lang="en-IN" sz="2800" baseline="-25000" dirty="0">
                <a:latin typeface="Times New Roman" panose="02020603050405020304" pitchFamily="18" charset="0"/>
                <a:cs typeface="Times New Roman" panose="02020603050405020304" pitchFamily="18" charset="0"/>
              </a:rPr>
              <a:t>DD</a:t>
            </a:r>
            <a:r>
              <a:rPr lang="en-IN" sz="2800" i="1"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operation, however, if a resultant data-line signal voltage close to V</a:t>
            </a:r>
            <a:r>
              <a:rPr lang="en-IN" sz="2800" baseline="-25000" dirty="0">
                <a:latin typeface="Times New Roman" panose="02020603050405020304" pitchFamily="18" charset="0"/>
                <a:cs typeface="Times New Roman" panose="02020603050405020304" pitchFamily="18" charset="0"/>
              </a:rPr>
              <a:t>DD</a:t>
            </a:r>
            <a:r>
              <a:rPr lang="en-IN" sz="2800" i="1"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is amplified, PMOS data-line loads without the </a:t>
            </a:r>
            <a:r>
              <a:rPr lang="en-IN" sz="2800" i="1" dirty="0" err="1">
                <a:latin typeface="Times New Roman" panose="02020603050405020304" pitchFamily="18" charset="0"/>
                <a:cs typeface="Times New Roman" panose="02020603050405020304" pitchFamily="18" charset="0"/>
              </a:rPr>
              <a:t>V</a:t>
            </a:r>
            <a:r>
              <a:rPr lang="en-IN" sz="1600" i="1" dirty="0" err="1">
                <a:latin typeface="Times New Roman" panose="02020603050405020304" pitchFamily="18" charset="0"/>
                <a:cs typeface="Times New Roman" panose="02020603050405020304" pitchFamily="18" charset="0"/>
              </a:rPr>
              <a:t>Th</a:t>
            </a:r>
            <a:r>
              <a:rPr lang="en-IN" sz="2800" i="1"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drop are more suitable. This is made possible by level-shifting the data-line voltages.</a:t>
            </a:r>
          </a:p>
          <a:p>
            <a:pPr lvl="1"/>
            <a:endParaRPr lang="en-IN" sz="2400" b="1" dirty="0">
              <a:latin typeface="Times New Roman" panose="02020603050405020304" pitchFamily="18" charset="0"/>
              <a:cs typeface="Times New Roman" panose="02020603050405020304" pitchFamily="18" charset="0"/>
            </a:endParaRPr>
          </a:p>
          <a:p>
            <a:pPr marL="0" lvl="1" indent="0" algn="just">
              <a:spcBef>
                <a:spcPts val="1000"/>
              </a:spcBef>
              <a:buNone/>
            </a:pPr>
            <a:r>
              <a:rPr lang="en-IN" sz="2400" b="1" dirty="0">
                <a:latin typeface="Times New Roman" panose="02020603050405020304" pitchFamily="18" charset="0"/>
                <a:cs typeface="Times New Roman" panose="02020603050405020304" pitchFamily="18" charset="0"/>
              </a:rPr>
              <a:t>Charging Capacitance Reduction:</a:t>
            </a:r>
          </a:p>
          <a:p>
            <a:pPr lvl="1"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Charging capacitance reduction techniques, initially targeted at obtaining high speed in SRAMs, also contribute to power reduction, which is more of an issue in DRAMs. These techniques include data-line division, I/O line division, and pre-decoding scheme. Inserting a pre-decoding stage between an address buffer and a final decoder optimizes both speed and power, and has been used in most SRAMs.</a:t>
            </a:r>
          </a:p>
          <a:p>
            <a:pPr lvl="1"/>
            <a:endParaRPr lang="en-IN" sz="2800" dirty="0">
              <a:latin typeface="Times New Roman" panose="02020603050405020304" pitchFamily="18" charset="0"/>
              <a:cs typeface="Times New Roman" panose="02020603050405020304" pitchFamily="18" charset="0"/>
            </a:endParaRPr>
          </a:p>
          <a:p>
            <a:pPr lvl="1"/>
            <a:endParaRPr lang="en-IN" sz="2800" dirty="0">
              <a:latin typeface="Times New Roman" panose="02020603050405020304" pitchFamily="18" charset="0"/>
              <a:cs typeface="Times New Roman" panose="02020603050405020304" pitchFamily="18" charset="0"/>
            </a:endParaRPr>
          </a:p>
          <a:p>
            <a:pPr lvl="1"/>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56508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82040"/>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Data Retention Power Reduction</a:t>
            </a:r>
          </a:p>
        </p:txBody>
      </p:sp>
      <p:sp>
        <p:nvSpPr>
          <p:cNvPr id="3" name="Content Placeholder 2"/>
          <p:cNvSpPr>
            <a:spLocks noGrp="1"/>
          </p:cNvSpPr>
          <p:nvPr>
            <p:ph idx="1"/>
          </p:nvPr>
        </p:nvSpPr>
        <p:spPr>
          <a:xfrm>
            <a:off x="838200" y="1129553"/>
            <a:ext cx="10515600" cy="5047410"/>
          </a:xfrm>
        </p:spPr>
        <p:txBody>
          <a:bodyPr>
            <a:normAutofit/>
          </a:bodyPr>
          <a:lstStyle/>
          <a:p>
            <a:pPr algn="just">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On-chip voltage converters in commercial SRAMs have not been widely used, although there have been many attempts which differ from the DRAM approach. </a:t>
            </a:r>
          </a:p>
          <a:p>
            <a:pPr algn="just">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This is mainly due to an inherently wider voltage margin and a different operating principle of the SRAM cell. Thus, data retention current has been sufficiently reduced solely by the memory cell improvement.</a:t>
            </a:r>
          </a:p>
        </p:txBody>
      </p:sp>
    </p:spTree>
    <p:extLst>
      <p:ext uri="{BB962C8B-B14F-4D97-AF65-F5344CB8AC3E}">
        <p14:creationId xmlns:p14="http://schemas.microsoft.com/office/powerpoint/2010/main" val="28201508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7D7E2-1EEB-0C80-2486-EC055036F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F297BE-96ED-CFBA-A2BE-DFEC6C64DA46}"/>
              </a:ext>
            </a:extLst>
          </p:cNvPr>
          <p:cNvSpPr>
            <a:spLocks noGrp="1"/>
          </p:cNvSpPr>
          <p:nvPr>
            <p:ph type="title"/>
          </p:nvPr>
        </p:nvSpPr>
        <p:spPr>
          <a:xfrm>
            <a:off x="1676400" y="198997"/>
            <a:ext cx="10515600" cy="482040"/>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5.3 Basics of DRAM</a:t>
            </a:r>
          </a:p>
        </p:txBody>
      </p:sp>
      <p:sp>
        <p:nvSpPr>
          <p:cNvPr id="3" name="Content Placeholder 2">
            <a:extLst>
              <a:ext uri="{FF2B5EF4-FFF2-40B4-BE49-F238E27FC236}">
                <a16:creationId xmlns:a16="http://schemas.microsoft.com/office/drawing/2014/main" id="{E293C3A0-5565-5948-072F-69C851C853F3}"/>
              </a:ext>
            </a:extLst>
          </p:cNvPr>
          <p:cNvSpPr>
            <a:spLocks noGrp="1"/>
          </p:cNvSpPr>
          <p:nvPr>
            <p:ph idx="1"/>
          </p:nvPr>
        </p:nvSpPr>
        <p:spPr>
          <a:xfrm>
            <a:off x="838200" y="1129553"/>
            <a:ext cx="10515600" cy="5047410"/>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DRAM memory cell consists of a single pair of </a:t>
            </a:r>
            <a:r>
              <a:rPr lang="en-US" sz="2400" dirty="0" err="1">
                <a:latin typeface="Times New Roman" panose="02020603050405020304" pitchFamily="18" charset="0"/>
                <a:cs typeface="Times New Roman" panose="02020603050405020304" pitchFamily="18" charset="0"/>
              </a:rPr>
              <a:t>nMOS</a:t>
            </a:r>
            <a:r>
              <a:rPr lang="en-US" sz="2400" dirty="0">
                <a:latin typeface="Times New Roman" panose="02020603050405020304" pitchFamily="18" charset="0"/>
                <a:cs typeface="Times New Roman" panose="02020603050405020304" pitchFamily="18" charset="0"/>
              </a:rPr>
              <a:t> transistor and capacitor. It is also commonly known as the one-transistor (1T) cell, which renders smaller chip size and lower cost.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It can perform both read and write operations.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word-line (WL) is the output signal from row decoder and controls the transistor gate running perpendicular to the Bit-Line (BL). In contrast to the SRAM cell where two BLs are used, DRAM utilizes only one BL.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Reading and writing is accomplished by turning on the access transistor with the word-line. </a:t>
            </a:r>
          </a:p>
        </p:txBody>
      </p:sp>
    </p:spTree>
    <p:extLst>
      <p:ext uri="{BB962C8B-B14F-4D97-AF65-F5344CB8AC3E}">
        <p14:creationId xmlns:p14="http://schemas.microsoft.com/office/powerpoint/2010/main" val="2213763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86414-27FA-41AA-263E-FF3A4EF4F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DA067-FE0E-566E-AFA9-FDCC97196B9C}"/>
              </a:ext>
            </a:extLst>
          </p:cNvPr>
          <p:cNvSpPr>
            <a:spLocks noGrp="1"/>
          </p:cNvSpPr>
          <p:nvPr>
            <p:ph type="title"/>
          </p:nvPr>
        </p:nvSpPr>
        <p:spPr>
          <a:xfrm>
            <a:off x="838200" y="365126"/>
            <a:ext cx="10515600" cy="482040"/>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Basics of DRAM</a:t>
            </a:r>
          </a:p>
        </p:txBody>
      </p:sp>
      <p:sp>
        <p:nvSpPr>
          <p:cNvPr id="3" name="Content Placeholder 2">
            <a:extLst>
              <a:ext uri="{FF2B5EF4-FFF2-40B4-BE49-F238E27FC236}">
                <a16:creationId xmlns:a16="http://schemas.microsoft.com/office/drawing/2014/main" id="{B206F0CE-67E2-C6F8-91E8-BB5AE0DF60C8}"/>
              </a:ext>
            </a:extLst>
          </p:cNvPr>
          <p:cNvSpPr>
            <a:spLocks noGrp="1"/>
          </p:cNvSpPr>
          <p:nvPr>
            <p:ph idx="1"/>
          </p:nvPr>
        </p:nvSpPr>
        <p:spPr>
          <a:xfrm>
            <a:off x="838200" y="1129553"/>
            <a:ext cx="10515600" cy="5047410"/>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storage capacitor C</a:t>
            </a:r>
            <a:r>
              <a:rPr lang="en-US" sz="2400" baseline="-25000"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is used to store the data in the form of charge, whereas C</a:t>
            </a:r>
            <a:r>
              <a:rPr lang="en-US" sz="2400" baseline="-25000" dirty="0">
                <a:latin typeface="Times New Roman" panose="02020603050405020304" pitchFamily="18" charset="0"/>
                <a:cs typeface="Times New Roman" panose="02020603050405020304" pitchFamily="18" charset="0"/>
              </a:rPr>
              <a:t>p</a:t>
            </a:r>
            <a:r>
              <a:rPr lang="en-US" sz="2400" dirty="0">
                <a:latin typeface="Times New Roman" panose="02020603050405020304" pitchFamily="18" charset="0"/>
                <a:cs typeface="Times New Roman" panose="02020603050405020304" pitchFamily="18" charset="0"/>
              </a:rPr>
              <a:t>, denotes the capacitance at the BL, including the parasitic load of the connected circuits.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role of C</a:t>
            </a:r>
            <a:r>
              <a:rPr lang="en-US" sz="2400" baseline="-25000"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to accumulate charge necessitates periodical refreshing of the cell to avoid information loss.</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800" dirty="0"/>
          </a:p>
        </p:txBody>
      </p:sp>
    </p:spTree>
    <p:extLst>
      <p:ext uri="{BB962C8B-B14F-4D97-AF65-F5344CB8AC3E}">
        <p14:creationId xmlns:p14="http://schemas.microsoft.com/office/powerpoint/2010/main" val="40127022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E131CE-AB44-2D3C-7A39-BA70E113E4F8}"/>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012D381E-A05A-9543-55E2-936BBF3342DB}"/>
              </a:ext>
            </a:extLst>
          </p:cNvPr>
          <p:cNvPicPr>
            <a:picLocks noChangeAspect="1"/>
          </p:cNvPicPr>
          <p:nvPr/>
        </p:nvPicPr>
        <p:blipFill>
          <a:blip r:embed="rId2"/>
          <a:stretch>
            <a:fillRect/>
          </a:stretch>
        </p:blipFill>
        <p:spPr>
          <a:xfrm>
            <a:off x="2883280" y="703877"/>
            <a:ext cx="6425439" cy="3905830"/>
          </a:xfrm>
          <a:prstGeom prst="rect">
            <a:avLst/>
          </a:prstGeom>
        </p:spPr>
      </p:pic>
      <p:sp>
        <p:nvSpPr>
          <p:cNvPr id="6" name="TextBox 5">
            <a:extLst>
              <a:ext uri="{FF2B5EF4-FFF2-40B4-BE49-F238E27FC236}">
                <a16:creationId xmlns:a16="http://schemas.microsoft.com/office/drawing/2014/main" id="{4E3D7084-F875-2A75-567D-E2BA00E6BA09}"/>
              </a:ext>
            </a:extLst>
          </p:cNvPr>
          <p:cNvSpPr txBox="1"/>
          <p:nvPr/>
        </p:nvSpPr>
        <p:spPr>
          <a:xfrm>
            <a:off x="3351997" y="4818759"/>
            <a:ext cx="6094428"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Schematic diagram of 1T DRAM cell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45395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B1E33-CB92-4E84-CBF3-1E3C82737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25FBD-888B-7E79-BF1B-75A938E5B03E}"/>
              </a:ext>
            </a:extLst>
          </p:cNvPr>
          <p:cNvSpPr>
            <a:spLocks noGrp="1"/>
          </p:cNvSpPr>
          <p:nvPr>
            <p:ph type="title"/>
          </p:nvPr>
        </p:nvSpPr>
        <p:spPr>
          <a:xfrm>
            <a:off x="838200" y="365126"/>
            <a:ext cx="10515600" cy="482040"/>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Basics of DRAM</a:t>
            </a:r>
          </a:p>
        </p:txBody>
      </p:sp>
      <p:sp>
        <p:nvSpPr>
          <p:cNvPr id="3" name="Content Placeholder 2">
            <a:extLst>
              <a:ext uri="{FF2B5EF4-FFF2-40B4-BE49-F238E27FC236}">
                <a16:creationId xmlns:a16="http://schemas.microsoft.com/office/drawing/2014/main" id="{B74C89FB-9DD1-9E3D-00B5-6FB01861AF38}"/>
              </a:ext>
            </a:extLst>
          </p:cNvPr>
          <p:cNvSpPr>
            <a:spLocks noGrp="1"/>
          </p:cNvSpPr>
          <p:nvPr>
            <p:ph idx="1"/>
          </p:nvPr>
        </p:nvSpPr>
        <p:spPr>
          <a:xfrm>
            <a:off x="838200" y="1129553"/>
            <a:ext cx="10515600" cy="5047410"/>
          </a:xfrm>
        </p:spPr>
        <p:txBody>
          <a:bodyPr>
            <a:normAutofit/>
          </a:bodyPr>
          <a:lstStyle/>
          <a:p>
            <a:pPr marL="0" indent="0" algn="just">
              <a:buNone/>
            </a:pPr>
            <a:r>
              <a:rPr lang="en-IN" sz="2400" b="1" dirty="0">
                <a:latin typeface="Times New Roman" panose="02020603050405020304" pitchFamily="18" charset="0"/>
                <a:cs typeface="Times New Roman" panose="02020603050405020304" pitchFamily="18" charset="0"/>
              </a:rPr>
              <a:t>Read and Write Operation: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Prior to the read operation, the bit-line parasitic capacitance (C</a:t>
            </a:r>
            <a:r>
              <a:rPr lang="en-US" sz="2400" baseline="-25000" dirty="0">
                <a:latin typeface="Times New Roman" panose="02020603050405020304" pitchFamily="18" charset="0"/>
                <a:cs typeface="Times New Roman" panose="02020603050405020304" pitchFamily="18" charset="0"/>
              </a:rPr>
              <a:t>BL</a:t>
            </a:r>
            <a:r>
              <a:rPr lang="en-US" sz="2400" dirty="0">
                <a:latin typeface="Times New Roman" panose="02020603050405020304" pitchFamily="18" charset="0"/>
                <a:cs typeface="Times New Roman" panose="02020603050405020304" pitchFamily="18" charset="0"/>
              </a:rPr>
              <a:t>) is </a:t>
            </a:r>
            <a:r>
              <a:rPr lang="en-US" sz="2400" dirty="0" err="1">
                <a:latin typeface="Times New Roman" panose="02020603050405020304" pitchFamily="18" charset="0"/>
                <a:cs typeface="Times New Roman" panose="02020603050405020304" pitchFamily="18" charset="0"/>
              </a:rPr>
              <a:t>precharged</a:t>
            </a:r>
            <a:r>
              <a:rPr lang="en-US" sz="2400" dirty="0">
                <a:latin typeface="Times New Roman" panose="02020603050405020304" pitchFamily="18" charset="0"/>
                <a:cs typeface="Times New Roman" panose="02020603050405020304" pitchFamily="18" charset="0"/>
              </a:rPr>
              <a:t> to logic half-V</a:t>
            </a:r>
            <a:r>
              <a:rPr lang="en-US" sz="2400" baseline="-25000" dirty="0">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 where V</a:t>
            </a:r>
            <a:r>
              <a:rPr lang="en-US" sz="2400" baseline="-25000" dirty="0">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 is the power supply voltage.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Subsequently, WL is pulled high in order to activate the </a:t>
            </a:r>
            <a:r>
              <a:rPr lang="en-US" sz="2400" dirty="0" err="1">
                <a:latin typeface="Times New Roman" panose="02020603050405020304" pitchFamily="18" charset="0"/>
                <a:cs typeface="Times New Roman" panose="02020603050405020304" pitchFamily="18" charset="0"/>
              </a:rPr>
              <a:t>nMOS</a:t>
            </a:r>
            <a:r>
              <a:rPr lang="en-US" sz="2400" dirty="0">
                <a:latin typeface="Times New Roman" panose="02020603050405020304" pitchFamily="18" charset="0"/>
                <a:cs typeface="Times New Roman" panose="02020603050405020304" pitchFamily="18" charset="0"/>
              </a:rPr>
              <a:t>-type access transistor. </a:t>
            </a:r>
          </a:p>
          <a:p>
            <a:pPr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Read “1” Operation</a:t>
            </a:r>
            <a:r>
              <a:rPr lang="en-US" sz="2400"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When WL is asserted, the voltage at BL tends to increase slightly if the charge stored in Cs is an ideal logic “1.”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implies that a logic “1” is stored in the memory cell. However,  the charge stored in Cs tends to leak off gradually. Therefore its charge is usually not at ideal logic “1.” </a:t>
            </a:r>
          </a:p>
        </p:txBody>
      </p:sp>
    </p:spTree>
    <p:extLst>
      <p:ext uri="{BB962C8B-B14F-4D97-AF65-F5344CB8AC3E}">
        <p14:creationId xmlns:p14="http://schemas.microsoft.com/office/powerpoint/2010/main" val="6811668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0D0B1-E0E6-6793-AC6F-0C6A77393F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8D95B-5EAA-BEE8-A3B2-F6FE7B94AD67}"/>
              </a:ext>
            </a:extLst>
          </p:cNvPr>
          <p:cNvSpPr>
            <a:spLocks noGrp="1"/>
          </p:cNvSpPr>
          <p:nvPr>
            <p:ph type="title"/>
          </p:nvPr>
        </p:nvSpPr>
        <p:spPr>
          <a:xfrm>
            <a:off x="838200" y="365126"/>
            <a:ext cx="10515600" cy="482040"/>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Basics of DRAM</a:t>
            </a:r>
          </a:p>
        </p:txBody>
      </p:sp>
      <p:sp>
        <p:nvSpPr>
          <p:cNvPr id="3" name="Content Placeholder 2">
            <a:extLst>
              <a:ext uri="{FF2B5EF4-FFF2-40B4-BE49-F238E27FC236}">
                <a16:creationId xmlns:a16="http://schemas.microsoft.com/office/drawing/2014/main" id="{E70AABE9-ACC6-E390-7552-F7256DAE5BEA}"/>
              </a:ext>
            </a:extLst>
          </p:cNvPr>
          <p:cNvSpPr>
            <a:spLocks noGrp="1"/>
          </p:cNvSpPr>
          <p:nvPr>
            <p:ph idx="1"/>
          </p:nvPr>
        </p:nvSpPr>
        <p:spPr>
          <a:xfrm>
            <a:off x="838200" y="1129553"/>
            <a:ext cx="10515600" cy="5047410"/>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Read “0” Operation.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charge is shared by C</a:t>
            </a:r>
            <a:r>
              <a:rPr lang="en-US" sz="2400" baseline="-25000" dirty="0">
                <a:latin typeface="Times New Roman" panose="02020603050405020304" pitchFamily="18" charset="0"/>
                <a:cs typeface="Times New Roman" panose="02020603050405020304" pitchFamily="18" charset="0"/>
              </a:rPr>
              <a:t>BL</a:t>
            </a:r>
            <a:r>
              <a:rPr lang="en-US" sz="2400" dirty="0">
                <a:latin typeface="Times New Roman" panose="02020603050405020304" pitchFamily="18" charset="0"/>
                <a:cs typeface="Times New Roman" panose="02020603050405020304" pitchFamily="18" charset="0"/>
              </a:rPr>
              <a:t> and C</a:t>
            </a:r>
            <a:r>
              <a:rPr lang="en-US" sz="2400" baseline="-25000"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As C</a:t>
            </a:r>
            <a:r>
              <a:rPr lang="en-US" sz="2400" baseline="-25000" dirty="0">
                <a:latin typeface="Times New Roman" panose="02020603050405020304" pitchFamily="18" charset="0"/>
                <a:cs typeface="Times New Roman" panose="02020603050405020304" pitchFamily="18" charset="0"/>
              </a:rPr>
              <a:t>BL</a:t>
            </a:r>
            <a:r>
              <a:rPr lang="en-US" sz="2400" dirty="0">
                <a:latin typeface="Times New Roman" panose="02020603050405020304" pitchFamily="18" charset="0"/>
                <a:cs typeface="Times New Roman" panose="02020603050405020304" pitchFamily="18" charset="0"/>
              </a:rPr>
              <a:t> discharges and C</a:t>
            </a:r>
            <a:r>
              <a:rPr lang="en-US" sz="2400" baseline="-25000"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charges up, the voltage at BL will decrease slightly, indicating that a logic “0” is being stored in the capacitor.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for the write case, the data to be written is imprinted on the data I/O lines and then applied to the selected bit-line by using the column decoder.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a particular memory cell is chosen, the data is written on the BL by forcing a high or a low value. </a:t>
            </a:r>
          </a:p>
        </p:txBody>
      </p:sp>
    </p:spTree>
    <p:extLst>
      <p:ext uri="{BB962C8B-B14F-4D97-AF65-F5344CB8AC3E}">
        <p14:creationId xmlns:p14="http://schemas.microsoft.com/office/powerpoint/2010/main" val="39663158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2B487-4639-DD3A-DA64-58693B1BD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123CDE-24D6-8153-1C14-AD9A7C860E56}"/>
              </a:ext>
            </a:extLst>
          </p:cNvPr>
          <p:cNvSpPr>
            <a:spLocks noGrp="1"/>
          </p:cNvSpPr>
          <p:nvPr>
            <p:ph type="title"/>
          </p:nvPr>
        </p:nvSpPr>
        <p:spPr>
          <a:xfrm>
            <a:off x="838200" y="365126"/>
            <a:ext cx="10515600" cy="482040"/>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Basics of DRAM</a:t>
            </a:r>
          </a:p>
        </p:txBody>
      </p:sp>
      <p:sp>
        <p:nvSpPr>
          <p:cNvPr id="3" name="Content Placeholder 2">
            <a:extLst>
              <a:ext uri="{FF2B5EF4-FFF2-40B4-BE49-F238E27FC236}">
                <a16:creationId xmlns:a16="http://schemas.microsoft.com/office/drawing/2014/main" id="{A75A2713-E8E7-6C43-E936-957703AFB93B}"/>
              </a:ext>
            </a:extLst>
          </p:cNvPr>
          <p:cNvSpPr>
            <a:spLocks noGrp="1"/>
          </p:cNvSpPr>
          <p:nvPr>
            <p:ph idx="1"/>
          </p:nvPr>
        </p:nvSpPr>
        <p:spPr>
          <a:xfrm>
            <a:off x="838200" y="1129553"/>
            <a:ext cx="10515600" cy="5047410"/>
          </a:xfrm>
        </p:spPr>
        <p:txBody>
          <a:bodyPr>
            <a:normAutofit lnSpcReduction="10000"/>
          </a:bodyPr>
          <a:lstStyle/>
          <a:p>
            <a:pPr marL="0" indent="0" algn="just">
              <a:buNone/>
            </a:pPr>
            <a:r>
              <a:rPr lang="en-US" sz="2400" b="1" dirty="0">
                <a:latin typeface="Times New Roman" panose="02020603050405020304" pitchFamily="18" charset="0"/>
                <a:cs typeface="Times New Roman" panose="02020603050405020304" pitchFamily="18" charset="0"/>
              </a:rPr>
              <a:t>Write “1” Operation.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bit-line potential is pulled to logic “1” by charging C</a:t>
            </a:r>
            <a:r>
              <a:rPr lang="en-US" sz="2400" baseline="-25000" dirty="0">
                <a:latin typeface="Times New Roman" panose="02020603050405020304" pitchFamily="18" charset="0"/>
                <a:cs typeface="Times New Roman" panose="02020603050405020304" pitchFamily="18" charset="0"/>
              </a:rPr>
              <a:t>BL</a:t>
            </a:r>
            <a:r>
              <a:rPr lang="en-US" sz="2400" dirty="0">
                <a:latin typeface="Times New Roman" panose="02020603050405020304" pitchFamily="18" charset="0"/>
                <a:cs typeface="Times New Roman" panose="02020603050405020304" pitchFamily="18" charset="0"/>
              </a:rPr>
              <a:t> to either V</a:t>
            </a:r>
            <a:r>
              <a:rPr lang="en-US" sz="2400" baseline="-25000" dirty="0">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 or (V</a:t>
            </a:r>
            <a:r>
              <a:rPr lang="en-US" sz="2400" baseline="-25000" dirty="0">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 -V</a:t>
            </a:r>
            <a:r>
              <a:rPr lang="en-US" sz="2400" baseline="-25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depending on the type of write circuitry used, while the selected word-line is pulled high by the row address decoder.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a:t>
            </a:r>
            <a:r>
              <a:rPr lang="en-US" sz="2400" baseline="-25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implies the threshold voltage of the </a:t>
            </a:r>
            <a:r>
              <a:rPr lang="en-US" sz="2400" dirty="0" err="1">
                <a:latin typeface="Times New Roman" panose="02020603050405020304" pitchFamily="18" charset="0"/>
                <a:cs typeface="Times New Roman" panose="02020603050405020304" pitchFamily="18" charset="0"/>
              </a:rPr>
              <a:t>nMOS</a:t>
            </a:r>
            <a:r>
              <a:rPr lang="en-US" sz="2400" dirty="0">
                <a:latin typeface="Times New Roman" panose="02020603050405020304" pitchFamily="18" charset="0"/>
                <a:cs typeface="Times New Roman" panose="02020603050405020304" pitchFamily="18" charset="0"/>
              </a:rPr>
              <a:t> transistor.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access transistor will then turn on by asserting the WL, allowing the storage capacitor to be charged up to a logic “1” level.</a:t>
            </a:r>
          </a:p>
          <a:p>
            <a:pPr marL="0" indent="0" algn="just">
              <a:buNone/>
            </a:pPr>
            <a:r>
              <a:rPr lang="en-US" sz="2400" b="1" dirty="0">
                <a:latin typeface="Times New Roman" panose="02020603050405020304" pitchFamily="18" charset="0"/>
                <a:cs typeface="Times New Roman" panose="02020603050405020304" pitchFamily="18" charset="0"/>
              </a:rPr>
              <a:t>Write “0” Operation.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Bit-line is pulled to logic “0” by the write circuitry whereas the selected word-line is raised by the row address decoder.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The access transistor turns on and storage capacitor discharges if it is initially storing a logic “1” or remains unchanged if it is already storing a logic “0.”</a:t>
            </a:r>
          </a:p>
        </p:txBody>
      </p:sp>
    </p:spTree>
    <p:extLst>
      <p:ext uri="{BB962C8B-B14F-4D97-AF65-F5344CB8AC3E}">
        <p14:creationId xmlns:p14="http://schemas.microsoft.com/office/powerpoint/2010/main" val="4496908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72E52CC-3D07-A620-E9C2-51A2C40F2F37}"/>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B5A3F2C1-5DDF-85CD-5C28-BC04EEEC5C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9569" y="0"/>
            <a:ext cx="7872861" cy="6858000"/>
          </a:xfrm>
          <a:prstGeom prst="rect">
            <a:avLst/>
          </a:prstGeom>
        </p:spPr>
      </p:pic>
    </p:spTree>
    <p:extLst>
      <p:ext uri="{BB962C8B-B14F-4D97-AF65-F5344CB8AC3E}">
        <p14:creationId xmlns:p14="http://schemas.microsoft.com/office/powerpoint/2010/main" val="25471901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28B860F-92ED-3A45-6DA0-8DEBEF0017F6}"/>
              </a:ext>
            </a:extLst>
          </p:cNvPr>
          <p:cNvSpPr>
            <a:spLocks noGrp="1"/>
          </p:cNvSpPr>
          <p:nvPr>
            <p:ph type="ftr" sz="quarter" idx="11"/>
          </p:nvPr>
        </p:nvSpPr>
        <p:spPr/>
        <p:txBody>
          <a:bodyPr/>
          <a:lstStyle/>
          <a:p>
            <a:r>
              <a:rPr lang="en-IN"/>
              <a:t>Dr. Aruru Sai Kumar , VIT-AP</a:t>
            </a:r>
            <a:endParaRPr lang="en-IN" dirty="0"/>
          </a:p>
        </p:txBody>
      </p:sp>
      <p:sp>
        <p:nvSpPr>
          <p:cNvPr id="4" name="TextBox 3">
            <a:extLst>
              <a:ext uri="{FF2B5EF4-FFF2-40B4-BE49-F238E27FC236}">
                <a16:creationId xmlns:a16="http://schemas.microsoft.com/office/drawing/2014/main" id="{80DA2A41-1EE8-974E-1315-D8D358256A3E}"/>
              </a:ext>
            </a:extLst>
          </p:cNvPr>
          <p:cNvSpPr txBox="1"/>
          <p:nvPr/>
        </p:nvSpPr>
        <p:spPr>
          <a:xfrm>
            <a:off x="1435232" y="357067"/>
            <a:ext cx="6094428" cy="535531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Write Operation:</a:t>
            </a:r>
          </a:p>
          <a:p>
            <a:pPr>
              <a:buFont typeface="+mj-lt"/>
              <a:buAutoNum type="arabicPeriod"/>
            </a:pPr>
            <a:r>
              <a:rPr lang="en-US" b="1" dirty="0">
                <a:latin typeface="Times New Roman" panose="02020603050405020304" pitchFamily="18" charset="0"/>
                <a:cs typeface="Times New Roman" panose="02020603050405020304" pitchFamily="18" charset="0"/>
              </a:rPr>
              <a:t>Row Address Phase (T1)</a:t>
            </a:r>
            <a:r>
              <a:rPr lang="en-US"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Row address is placed on the address bus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RAS goes LOW → row is selected </a:t>
            </a:r>
          </a:p>
          <a:p>
            <a:pPr>
              <a:buFont typeface="+mj-lt"/>
              <a:buAutoNum type="arabicPeriod"/>
            </a:pPr>
            <a:r>
              <a:rPr lang="en-US" b="1" dirty="0">
                <a:latin typeface="Times New Roman" panose="02020603050405020304" pitchFamily="18" charset="0"/>
                <a:cs typeface="Times New Roman" panose="02020603050405020304" pitchFamily="18" charset="0"/>
              </a:rPr>
              <a:t>Column Address Phase (T2)</a:t>
            </a:r>
            <a:r>
              <a:rPr lang="en-US"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Column address is applied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CAS goes LOW → column is selected </a:t>
            </a:r>
          </a:p>
          <a:p>
            <a:pPr>
              <a:buFont typeface="+mj-lt"/>
              <a:buAutoNum type="arabicPeriod"/>
            </a:pPr>
            <a:r>
              <a:rPr lang="en-US" b="1" dirty="0">
                <a:latin typeface="Times New Roman" panose="02020603050405020304" pitchFamily="18" charset="0"/>
                <a:cs typeface="Times New Roman" panose="02020603050405020304" pitchFamily="18" charset="0"/>
              </a:rPr>
              <a:t>Write Enable (T3)</a:t>
            </a:r>
            <a:r>
              <a:rPr lang="en-US"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R/W = LOW → indicates write operation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Input data is placed on the data bus </a:t>
            </a:r>
          </a:p>
          <a:p>
            <a:pPr>
              <a:buFont typeface="+mj-lt"/>
              <a:buAutoNum type="arabicPeriod"/>
            </a:pPr>
            <a:r>
              <a:rPr lang="en-US" b="1" dirty="0">
                <a:latin typeface="Times New Roman" panose="02020603050405020304" pitchFamily="18" charset="0"/>
                <a:cs typeface="Times New Roman" panose="02020603050405020304" pitchFamily="18" charset="0"/>
              </a:rPr>
              <a:t>Data Writing (T3–T4)</a:t>
            </a:r>
            <a:r>
              <a:rPr lang="en-US"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becomes valid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selected memory cell capacitor is: </a:t>
            </a:r>
          </a:p>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Charged → logic ‘1’ </a:t>
            </a:r>
          </a:p>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Discharged → logic ‘0’ </a:t>
            </a:r>
          </a:p>
          <a:p>
            <a:pPr>
              <a:buFont typeface="+mj-lt"/>
              <a:buAutoNum type="arabicPeriod"/>
            </a:pPr>
            <a:r>
              <a:rPr lang="en-US" b="1" dirty="0">
                <a:latin typeface="Times New Roman" panose="02020603050405020304" pitchFamily="18" charset="0"/>
                <a:cs typeface="Times New Roman" panose="02020603050405020304" pitchFamily="18" charset="0"/>
              </a:rPr>
              <a:t>End of Cycle (T4)</a:t>
            </a:r>
            <a:r>
              <a:rPr lang="en-US"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RAS and CAS return HIGH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Write operation completes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Total write time ≈ 75 ns</a:t>
            </a:r>
          </a:p>
        </p:txBody>
      </p:sp>
      <p:sp>
        <p:nvSpPr>
          <p:cNvPr id="6" name="TextBox 5">
            <a:extLst>
              <a:ext uri="{FF2B5EF4-FFF2-40B4-BE49-F238E27FC236}">
                <a16:creationId xmlns:a16="http://schemas.microsoft.com/office/drawing/2014/main" id="{C5029EB3-F32C-DD33-142B-D87145C0BDFA}"/>
              </a:ext>
            </a:extLst>
          </p:cNvPr>
          <p:cNvSpPr txBox="1"/>
          <p:nvPr/>
        </p:nvSpPr>
        <p:spPr>
          <a:xfrm>
            <a:off x="6638828" y="1655743"/>
            <a:ext cx="6094428" cy="1477328"/>
          </a:xfrm>
          <a:prstGeom prst="rect">
            <a:avLst/>
          </a:prstGeom>
          <a:noFill/>
        </p:spPr>
        <p:txBody>
          <a:bodyPr wrap="square">
            <a:spAutoFit/>
          </a:bodyPr>
          <a:lstStyle/>
          <a:p>
            <a:pPr>
              <a:buNone/>
            </a:pPr>
            <a:r>
              <a:rPr lang="en-US" b="1" dirty="0"/>
              <a:t>Key Signals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RAS (Row Address Strobe) → selects row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CAS (Column Address Strobe) → selects column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R/W → LOW → Write operation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input → data to be written</a:t>
            </a:r>
          </a:p>
        </p:txBody>
      </p:sp>
    </p:spTree>
    <p:extLst>
      <p:ext uri="{BB962C8B-B14F-4D97-AF65-F5344CB8AC3E}">
        <p14:creationId xmlns:p14="http://schemas.microsoft.com/office/powerpoint/2010/main" val="29407176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E84B2-FBC3-3FB2-15DB-8B75C2BD291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65A757B-BE39-E525-D245-EE614B3D8DF0}"/>
              </a:ext>
            </a:extLst>
          </p:cNvPr>
          <p:cNvSpPr>
            <a:spLocks noGrp="1"/>
          </p:cNvSpPr>
          <p:nvPr>
            <p:ph type="ftr" sz="quarter" idx="11"/>
          </p:nvPr>
        </p:nvSpPr>
        <p:spPr/>
        <p:txBody>
          <a:bodyPr/>
          <a:lstStyle/>
          <a:p>
            <a:r>
              <a:rPr lang="en-IN"/>
              <a:t>Dr. Aruru Sai Kumar , VIT-AP</a:t>
            </a:r>
            <a:endParaRPr lang="en-IN" dirty="0"/>
          </a:p>
        </p:txBody>
      </p:sp>
      <p:sp>
        <p:nvSpPr>
          <p:cNvPr id="4" name="TextBox 3">
            <a:extLst>
              <a:ext uri="{FF2B5EF4-FFF2-40B4-BE49-F238E27FC236}">
                <a16:creationId xmlns:a16="http://schemas.microsoft.com/office/drawing/2014/main" id="{A424628E-DD7E-CDCE-62E1-5F08B3EECAF8}"/>
              </a:ext>
            </a:extLst>
          </p:cNvPr>
          <p:cNvSpPr txBox="1"/>
          <p:nvPr/>
        </p:nvSpPr>
        <p:spPr>
          <a:xfrm>
            <a:off x="1435232" y="357067"/>
            <a:ext cx="6094428" cy="563231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Read Operation:</a:t>
            </a:r>
          </a:p>
          <a:p>
            <a:r>
              <a:rPr lang="en-US" b="1" dirty="0">
                <a:latin typeface="Times New Roman" panose="02020603050405020304" pitchFamily="18" charset="0"/>
                <a:cs typeface="Times New Roman" panose="02020603050405020304" pitchFamily="18" charset="0"/>
              </a:rPr>
              <a:t>Row Address Phase (T1)</a:t>
            </a:r>
            <a:r>
              <a:rPr lang="en-US"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Row address is applied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RAS goes LOW → activates the row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Entire row is loaded into sense amplifiers </a:t>
            </a:r>
          </a:p>
          <a:p>
            <a:r>
              <a:rPr lang="en-US" b="1" dirty="0">
                <a:latin typeface="Times New Roman" panose="02020603050405020304" pitchFamily="18" charset="0"/>
                <a:cs typeface="Times New Roman" panose="02020603050405020304" pitchFamily="18" charset="0"/>
              </a:rPr>
              <a:t>Column Address Phase (T2)</a:t>
            </a:r>
            <a:r>
              <a:rPr lang="en-US"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Column address is applied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CAS goes LOW → selects specific column </a:t>
            </a:r>
          </a:p>
          <a:p>
            <a:r>
              <a:rPr lang="en-US" b="1" dirty="0">
                <a:latin typeface="Times New Roman" panose="02020603050405020304" pitchFamily="18" charset="0"/>
                <a:cs typeface="Times New Roman" panose="02020603050405020304" pitchFamily="18" charset="0"/>
              </a:rPr>
              <a:t>Read Enable (T3)</a:t>
            </a:r>
            <a:r>
              <a:rPr lang="en-US"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OE goes LOW → enables output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line was initially Hi-Z (high impedance) </a:t>
            </a:r>
          </a:p>
          <a:p>
            <a:r>
              <a:rPr lang="en-US" b="1" dirty="0">
                <a:latin typeface="Times New Roman" panose="02020603050405020304" pitchFamily="18" charset="0"/>
                <a:cs typeface="Times New Roman" panose="02020603050405020304" pitchFamily="18" charset="0"/>
              </a:rPr>
              <a:t>Data Sensing (T3–T4)</a:t>
            </a:r>
            <a:r>
              <a:rPr lang="en-US"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Sense amplifier detects small charge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Amplifies and restores it (refresh happens here)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becomes valid at output </a:t>
            </a:r>
          </a:p>
          <a:p>
            <a:r>
              <a:rPr lang="en-US" b="1" dirty="0">
                <a:latin typeface="Times New Roman" panose="02020603050405020304" pitchFamily="18" charset="0"/>
                <a:cs typeface="Times New Roman" panose="02020603050405020304" pitchFamily="18" charset="0"/>
              </a:rPr>
              <a:t>End of Cycle (T4)</a:t>
            </a:r>
            <a:r>
              <a:rPr lang="en-US"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Signals return HIGH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Output disabled </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Total read time ≈ 65 ns</a:t>
            </a:r>
          </a:p>
          <a:p>
            <a:endParaRPr lang="en-US"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DF66799-2584-BA0C-B6DB-1B4FA4445FD7}"/>
              </a:ext>
            </a:extLst>
          </p:cNvPr>
          <p:cNvSpPr txBox="1"/>
          <p:nvPr/>
        </p:nvSpPr>
        <p:spPr>
          <a:xfrm>
            <a:off x="6638828" y="1655743"/>
            <a:ext cx="6094428" cy="1477328"/>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Key Signals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RAS → row selection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CAS → column selection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R/W = HIGH → Read operation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Output Enable (OE) → enables output buffer</a:t>
            </a:r>
          </a:p>
        </p:txBody>
      </p:sp>
    </p:spTree>
    <p:extLst>
      <p:ext uri="{BB962C8B-B14F-4D97-AF65-F5344CB8AC3E}">
        <p14:creationId xmlns:p14="http://schemas.microsoft.com/office/powerpoint/2010/main" val="641586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C5515-4742-4EC8-ED26-B8776AC97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4494B-8374-817C-51CF-A46815EDEB3B}"/>
              </a:ext>
            </a:extLst>
          </p:cNvPr>
          <p:cNvSpPr>
            <a:spLocks noGrp="1"/>
          </p:cNvSpPr>
          <p:nvPr>
            <p:ph type="title"/>
          </p:nvPr>
        </p:nvSpPr>
        <p:spPr>
          <a:xfrm>
            <a:off x="1817694" y="337404"/>
            <a:ext cx="8911687" cy="605276"/>
          </a:xfrm>
        </p:spPr>
        <p:txBody>
          <a:bodyPr>
            <a:normAutofit fontScale="90000"/>
          </a:bodyPr>
          <a:lstStyle/>
          <a:p>
            <a:r>
              <a:rPr lang="en-IN" b="1" dirty="0">
                <a:latin typeface="Times New Roman" panose="02020603050405020304" pitchFamily="18" charset="0"/>
                <a:cs typeface="Times New Roman" panose="02020603050405020304" pitchFamily="18" charset="0"/>
              </a:rPr>
              <a:t>DRAM</a:t>
            </a:r>
          </a:p>
        </p:txBody>
      </p:sp>
      <p:sp>
        <p:nvSpPr>
          <p:cNvPr id="3" name="Content Placeholder 2">
            <a:extLst>
              <a:ext uri="{FF2B5EF4-FFF2-40B4-BE49-F238E27FC236}">
                <a16:creationId xmlns:a16="http://schemas.microsoft.com/office/drawing/2014/main" id="{044285F8-4D49-D7D4-E67D-B174B8D6067A}"/>
              </a:ext>
            </a:extLst>
          </p:cNvPr>
          <p:cNvSpPr>
            <a:spLocks noGrp="1"/>
          </p:cNvSpPr>
          <p:nvPr>
            <p:ph idx="1"/>
          </p:nvPr>
        </p:nvSpPr>
        <p:spPr>
          <a:xfrm>
            <a:off x="1055803" y="942681"/>
            <a:ext cx="10774836" cy="519312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Advantages of DRAM:</a:t>
            </a:r>
          </a:p>
          <a:p>
            <a:pPr marL="0" indent="0" algn="just">
              <a:buNone/>
            </a:pPr>
            <a:r>
              <a:rPr lang="en-US" sz="2400" b="1" dirty="0">
                <a:latin typeface="Times New Roman" panose="02020603050405020304" pitchFamily="18" charset="0"/>
                <a:cs typeface="Times New Roman" panose="02020603050405020304" pitchFamily="18" charset="0"/>
              </a:rPr>
              <a:t>High Density</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DRAM uses a simple 1T1C (one transistor + one capacitor) structure, allowing very high packing density.</a:t>
            </a:r>
          </a:p>
          <a:p>
            <a:pPr marL="0" indent="0" algn="just">
              <a:buNone/>
            </a:pPr>
            <a:r>
              <a:rPr lang="en-US" sz="2400" b="1" dirty="0">
                <a:latin typeface="Times New Roman" panose="02020603050405020304" pitchFamily="18" charset="0"/>
                <a:cs typeface="Times New Roman" panose="02020603050405020304" pitchFamily="18" charset="0"/>
              </a:rPr>
              <a:t>Low Cost per Bit</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Due to smaller cell size, DRAM is much cheaper compared to SRAM.</a:t>
            </a:r>
          </a:p>
          <a:p>
            <a:pPr marL="0" indent="0" algn="just">
              <a:buNone/>
            </a:pPr>
            <a:r>
              <a:rPr lang="en-US" sz="2400" b="1" dirty="0">
                <a:latin typeface="Times New Roman" panose="02020603050405020304" pitchFamily="18" charset="0"/>
                <a:cs typeface="Times New Roman" panose="02020603050405020304" pitchFamily="18" charset="0"/>
              </a:rPr>
              <a:t>Large Storage Capacity</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Suitable for main memory (RAM) in computers and systems due to its ability to store large amounts of data.</a:t>
            </a:r>
          </a:p>
          <a:p>
            <a:pPr marL="0" indent="0" algn="just">
              <a:buNone/>
            </a:pPr>
            <a:r>
              <a:rPr lang="en-US" sz="2400" b="1" dirty="0">
                <a:latin typeface="Times New Roman" panose="02020603050405020304" pitchFamily="18" charset="0"/>
                <a:cs typeface="Times New Roman" panose="02020603050405020304" pitchFamily="18" charset="0"/>
              </a:rPr>
              <a:t>Simple Cell Structure</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basic memory cell is simple, making fabrication easier and more scalable.</a:t>
            </a: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4B68ACD-EE3D-72F9-BE51-3C612F930D74}"/>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4941131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7F744-332D-39E7-396E-D16E1919FD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420E6-3D77-F993-7CD4-D7A75AAE8667}"/>
              </a:ext>
            </a:extLst>
          </p:cNvPr>
          <p:cNvSpPr>
            <a:spLocks noGrp="1"/>
          </p:cNvSpPr>
          <p:nvPr>
            <p:ph type="title"/>
          </p:nvPr>
        </p:nvSpPr>
        <p:spPr>
          <a:xfrm>
            <a:off x="1817694" y="337404"/>
            <a:ext cx="8911687" cy="605276"/>
          </a:xfrm>
        </p:spPr>
        <p:txBody>
          <a:bodyPr>
            <a:normAutofit fontScale="90000"/>
          </a:bodyPr>
          <a:lstStyle/>
          <a:p>
            <a:r>
              <a:rPr lang="en-IN" b="1" dirty="0">
                <a:latin typeface="Times New Roman" panose="02020603050405020304" pitchFamily="18" charset="0"/>
                <a:cs typeface="Times New Roman" panose="02020603050405020304" pitchFamily="18" charset="0"/>
              </a:rPr>
              <a:t>DRAM</a:t>
            </a:r>
          </a:p>
        </p:txBody>
      </p:sp>
      <p:sp>
        <p:nvSpPr>
          <p:cNvPr id="3" name="Content Placeholder 2">
            <a:extLst>
              <a:ext uri="{FF2B5EF4-FFF2-40B4-BE49-F238E27FC236}">
                <a16:creationId xmlns:a16="http://schemas.microsoft.com/office/drawing/2014/main" id="{889FEE9E-5269-E043-82F7-D5898255371E}"/>
              </a:ext>
            </a:extLst>
          </p:cNvPr>
          <p:cNvSpPr>
            <a:spLocks noGrp="1"/>
          </p:cNvSpPr>
          <p:nvPr>
            <p:ph idx="1"/>
          </p:nvPr>
        </p:nvSpPr>
        <p:spPr>
          <a:xfrm>
            <a:off x="1055803" y="942681"/>
            <a:ext cx="10774836" cy="519312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Advantages of DRAM:</a:t>
            </a:r>
          </a:p>
          <a:p>
            <a:pPr marL="0" indent="0" algn="just">
              <a:buNone/>
            </a:pPr>
            <a:r>
              <a:rPr lang="en-US" sz="2200" b="1" dirty="0">
                <a:latin typeface="Times New Roman" panose="02020603050405020304" pitchFamily="18" charset="0"/>
                <a:cs typeface="Times New Roman" panose="02020603050405020304" pitchFamily="18" charset="0"/>
              </a:rPr>
              <a:t>Lower Leakage per Cell (Compared to SRAM cell complexity):</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Individual cells are simpler, reducing transistor-related leakage complexity.</a:t>
            </a: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17AA72F-4137-78BC-C8BC-B727938DF04E}"/>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2687825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76A43-A273-8B72-3012-52FF758A8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4ADB5A-B287-B160-5C5F-5EB21C773365}"/>
              </a:ext>
            </a:extLst>
          </p:cNvPr>
          <p:cNvSpPr>
            <a:spLocks noGrp="1"/>
          </p:cNvSpPr>
          <p:nvPr>
            <p:ph type="title"/>
          </p:nvPr>
        </p:nvSpPr>
        <p:spPr>
          <a:xfrm>
            <a:off x="1817694" y="337404"/>
            <a:ext cx="8911687" cy="605276"/>
          </a:xfrm>
        </p:spPr>
        <p:txBody>
          <a:bodyPr>
            <a:normAutofit fontScale="90000"/>
          </a:bodyPr>
          <a:lstStyle/>
          <a:p>
            <a:r>
              <a:rPr lang="en-IN" b="1" dirty="0">
                <a:latin typeface="Times New Roman" panose="02020603050405020304" pitchFamily="18" charset="0"/>
                <a:cs typeface="Times New Roman" panose="02020603050405020304" pitchFamily="18" charset="0"/>
              </a:rPr>
              <a:t>DRAM</a:t>
            </a:r>
          </a:p>
        </p:txBody>
      </p:sp>
      <p:sp>
        <p:nvSpPr>
          <p:cNvPr id="3" name="Content Placeholder 2">
            <a:extLst>
              <a:ext uri="{FF2B5EF4-FFF2-40B4-BE49-F238E27FC236}">
                <a16:creationId xmlns:a16="http://schemas.microsoft.com/office/drawing/2014/main" id="{07094A30-1B99-A0A9-8CBD-C8D02B1C8BFE}"/>
              </a:ext>
            </a:extLst>
          </p:cNvPr>
          <p:cNvSpPr>
            <a:spLocks noGrp="1"/>
          </p:cNvSpPr>
          <p:nvPr>
            <p:ph idx="1"/>
          </p:nvPr>
        </p:nvSpPr>
        <p:spPr>
          <a:xfrm>
            <a:off x="1055803" y="942681"/>
            <a:ext cx="10774836" cy="519312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Disadvantages of DRAM:</a:t>
            </a:r>
          </a:p>
          <a:p>
            <a:pPr marL="0" indent="0" algn="just">
              <a:buNone/>
            </a:pPr>
            <a:r>
              <a:rPr lang="en-US" sz="2400" b="1" dirty="0">
                <a:latin typeface="Times New Roman" panose="02020603050405020304" pitchFamily="18" charset="0"/>
                <a:cs typeface="Times New Roman" panose="02020603050405020304" pitchFamily="18" charset="0"/>
              </a:rPr>
              <a:t>Requires Refreshing</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Stored charge leaks over time, so periodic refresh cycles are necessary, increasing complexity.</a:t>
            </a:r>
          </a:p>
          <a:p>
            <a:pPr marL="0" indent="0" algn="just">
              <a:buNone/>
            </a:pPr>
            <a:r>
              <a:rPr lang="en-US" sz="2400" b="1" dirty="0">
                <a:latin typeface="Times New Roman" panose="02020603050405020304" pitchFamily="18" charset="0"/>
                <a:cs typeface="Times New Roman" panose="02020603050405020304" pitchFamily="18" charset="0"/>
              </a:rPr>
              <a:t>Slower Speed</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DRAM access is slower than SRAM due to refresh and sensing operations.</a:t>
            </a:r>
          </a:p>
          <a:p>
            <a:pPr marL="0" indent="0" algn="just">
              <a:buNone/>
            </a:pPr>
            <a:r>
              <a:rPr lang="en-US" sz="2400" b="1" dirty="0">
                <a:latin typeface="Times New Roman" panose="02020603050405020304" pitchFamily="18" charset="0"/>
                <a:cs typeface="Times New Roman" panose="02020603050405020304" pitchFamily="18" charset="0"/>
              </a:rPr>
              <a:t>Higher Power Consumption (Due to Refresh)</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Frequent refresh operations consume additional power.</a:t>
            </a:r>
          </a:p>
          <a:p>
            <a:pPr marL="0" indent="0" algn="just">
              <a:buNone/>
            </a:pPr>
            <a:r>
              <a:rPr lang="en-US" sz="2400" b="1" dirty="0">
                <a:latin typeface="Times New Roman" panose="02020603050405020304" pitchFamily="18" charset="0"/>
                <a:cs typeface="Times New Roman" panose="02020603050405020304" pitchFamily="18" charset="0"/>
              </a:rPr>
              <a:t>Destructive Read Operation</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Reading a cell destroys the stored charge, so data must be rewritten after every read.</a:t>
            </a: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E0FE151-D303-32E7-4DA9-5158E72FB544}"/>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8582699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AC887-76E9-B00C-C69E-D12E7B2175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7AE8C6-E94F-6255-34EB-7F59EDE9705C}"/>
              </a:ext>
            </a:extLst>
          </p:cNvPr>
          <p:cNvSpPr>
            <a:spLocks noGrp="1"/>
          </p:cNvSpPr>
          <p:nvPr>
            <p:ph type="title"/>
          </p:nvPr>
        </p:nvSpPr>
        <p:spPr>
          <a:xfrm>
            <a:off x="1817694" y="337404"/>
            <a:ext cx="8911687" cy="605276"/>
          </a:xfrm>
        </p:spPr>
        <p:txBody>
          <a:bodyPr>
            <a:normAutofit fontScale="90000"/>
          </a:bodyPr>
          <a:lstStyle/>
          <a:p>
            <a:r>
              <a:rPr lang="en-IN" b="1" dirty="0">
                <a:latin typeface="Times New Roman" panose="02020603050405020304" pitchFamily="18" charset="0"/>
                <a:cs typeface="Times New Roman" panose="02020603050405020304" pitchFamily="18" charset="0"/>
              </a:rPr>
              <a:t>DRAM</a:t>
            </a:r>
          </a:p>
        </p:txBody>
      </p:sp>
      <p:sp>
        <p:nvSpPr>
          <p:cNvPr id="3" name="Content Placeholder 2">
            <a:extLst>
              <a:ext uri="{FF2B5EF4-FFF2-40B4-BE49-F238E27FC236}">
                <a16:creationId xmlns:a16="http://schemas.microsoft.com/office/drawing/2014/main" id="{AB42A21C-4366-5A86-155F-3D3BE36ECE9D}"/>
              </a:ext>
            </a:extLst>
          </p:cNvPr>
          <p:cNvSpPr>
            <a:spLocks noGrp="1"/>
          </p:cNvSpPr>
          <p:nvPr>
            <p:ph idx="1"/>
          </p:nvPr>
        </p:nvSpPr>
        <p:spPr>
          <a:xfrm>
            <a:off x="1055803" y="942681"/>
            <a:ext cx="10774836" cy="519312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Disadvantages of DRAM:</a:t>
            </a:r>
          </a:p>
          <a:p>
            <a:pPr marL="0" indent="0" algn="just">
              <a:buNone/>
            </a:pPr>
            <a:r>
              <a:rPr lang="en-US" sz="2400" b="1" dirty="0">
                <a:latin typeface="Times New Roman" panose="02020603050405020304" pitchFamily="18" charset="0"/>
                <a:cs typeface="Times New Roman" panose="02020603050405020304" pitchFamily="18" charset="0"/>
              </a:rPr>
              <a:t>Lower Noise Margin</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Charge-based storage makes DRAM more susceptible to noise and disturbances.</a:t>
            </a:r>
          </a:p>
          <a:p>
            <a:pPr marL="0" indent="0" algn="just">
              <a:buNone/>
            </a:pPr>
            <a:r>
              <a:rPr lang="en-US" sz="2400" b="1" dirty="0">
                <a:latin typeface="Times New Roman" panose="02020603050405020304" pitchFamily="18" charset="0"/>
                <a:cs typeface="Times New Roman" panose="02020603050405020304" pitchFamily="18" charset="0"/>
              </a:rPr>
              <a:t>Complex Peripheral Circuitry</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Requires sense amplifiers and refresh control logic, increasing design complexity.</a:t>
            </a: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9C25B81-4055-BC76-16D6-D8F6AC93C88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0288487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51468-55E0-19F9-EBE8-2E90D3555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51C14C-4318-B985-C353-49BFF84F0AAC}"/>
              </a:ext>
            </a:extLst>
          </p:cNvPr>
          <p:cNvSpPr>
            <a:spLocks noGrp="1"/>
          </p:cNvSpPr>
          <p:nvPr>
            <p:ph type="title"/>
          </p:nvPr>
        </p:nvSpPr>
        <p:spPr>
          <a:xfrm>
            <a:off x="838200" y="365126"/>
            <a:ext cx="10515600" cy="482040"/>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5.4.1 Self Refresh Circuit</a:t>
            </a:r>
          </a:p>
        </p:txBody>
      </p:sp>
      <p:sp>
        <p:nvSpPr>
          <p:cNvPr id="3" name="Content Placeholder 2">
            <a:extLst>
              <a:ext uri="{FF2B5EF4-FFF2-40B4-BE49-F238E27FC236}">
                <a16:creationId xmlns:a16="http://schemas.microsoft.com/office/drawing/2014/main" id="{522DEED2-6DB9-B8AC-8C75-EC242F0A103A}"/>
              </a:ext>
            </a:extLst>
          </p:cNvPr>
          <p:cNvSpPr>
            <a:spLocks noGrp="1"/>
          </p:cNvSpPr>
          <p:nvPr>
            <p:ph idx="1"/>
          </p:nvPr>
        </p:nvSpPr>
        <p:spPr>
          <a:xfrm>
            <a:off x="838200" y="1129553"/>
            <a:ext cx="10515600" cy="5047410"/>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DRAM, data is stored as charge in capacitors.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Due to leakage currents, this stored charge gradually decays with time.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voltage drops below a threshold, the stored data (0 or 1) becomes invalid.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Therefore, refreshing is mandatory to restore the original charge before it degrades.</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7403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87A8635-9753-E992-BE86-86738FC21C38}"/>
              </a:ext>
            </a:extLst>
          </p:cNvPr>
          <p:cNvSpPr>
            <a:spLocks noGrp="1"/>
          </p:cNvSpPr>
          <p:nvPr>
            <p:ph type="ftr" sz="quarter" idx="11"/>
          </p:nvPr>
        </p:nvSpPr>
        <p:spPr/>
        <p:txBody>
          <a:bodyPr/>
          <a:lstStyle/>
          <a:p>
            <a:r>
              <a:rPr lang="en-IN"/>
              <a:t>Dr. Aruru Sai Kumar , VIT-AP</a:t>
            </a:r>
            <a:endParaRPr lang="en-IN" dirty="0"/>
          </a:p>
        </p:txBody>
      </p:sp>
      <p:pic>
        <p:nvPicPr>
          <p:cNvPr id="2050" name="Picture 2" descr="PPT - Memory Systems in Computer Architecture PowerPoint Presentation, free download - ID:9393680">
            <a:extLst>
              <a:ext uri="{FF2B5EF4-FFF2-40B4-BE49-F238E27FC236}">
                <a16:creationId xmlns:a16="http://schemas.microsoft.com/office/drawing/2014/main" id="{2AA3B407-54F5-7BE4-E867-7904803E5E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55665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FEB76-C639-48AA-29CA-E7A71695A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EACFF-D924-AEFF-50D0-BA5A1D0D8A0C}"/>
              </a:ext>
            </a:extLst>
          </p:cNvPr>
          <p:cNvSpPr>
            <a:spLocks noGrp="1"/>
          </p:cNvSpPr>
          <p:nvPr>
            <p:ph type="title"/>
          </p:nvPr>
        </p:nvSpPr>
        <p:spPr>
          <a:xfrm>
            <a:off x="838200" y="365126"/>
            <a:ext cx="10515600" cy="482040"/>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Self Refresh Circuit</a:t>
            </a:r>
          </a:p>
        </p:txBody>
      </p:sp>
      <p:sp>
        <p:nvSpPr>
          <p:cNvPr id="3" name="Content Placeholder 2">
            <a:extLst>
              <a:ext uri="{FF2B5EF4-FFF2-40B4-BE49-F238E27FC236}">
                <a16:creationId xmlns:a16="http://schemas.microsoft.com/office/drawing/2014/main" id="{78FD8A1C-45E3-C585-FFFF-CBC2A9430196}"/>
              </a:ext>
            </a:extLst>
          </p:cNvPr>
          <p:cNvSpPr>
            <a:spLocks noGrp="1"/>
          </p:cNvSpPr>
          <p:nvPr>
            <p:ph idx="1"/>
          </p:nvPr>
        </p:nvSpPr>
        <p:spPr>
          <a:xfrm>
            <a:off x="838200" y="1129553"/>
            <a:ext cx="10515600" cy="5047410"/>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DRAM stores data as charge in capacitors, which leaks over time, so periodic refreshing is essential.</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In self-refresh mode, the DRAM refreshes itself without external control using on-chip circuitry.</a:t>
            </a:r>
          </a:p>
          <a:p>
            <a:pPr marL="0" indent="0" algn="just">
              <a:buNone/>
            </a:pPr>
            <a:r>
              <a:rPr lang="en-US" sz="2400" b="1" dirty="0">
                <a:latin typeface="Times New Roman" panose="02020603050405020304" pitchFamily="18" charset="0"/>
                <a:cs typeface="Times New Roman" panose="02020603050405020304" pitchFamily="18" charset="0"/>
              </a:rPr>
              <a:t>Step-by-Step Operation:</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Entering Self-Refresh Mode</a:t>
            </a:r>
          </a:p>
          <a:p>
            <a:pPr lvl="1">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Triggered by a control signal (e.g., clock disable in DDR).</a:t>
            </a:r>
          </a:p>
          <a:p>
            <a:pPr lvl="1">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External clock and memory controller activity are halted.</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Internal Clock Generation</a:t>
            </a:r>
          </a:p>
          <a:p>
            <a:pPr lvl="1">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A low-power internal oscillator generates periodic timing pulses.</a:t>
            </a:r>
          </a:p>
          <a:p>
            <a:pPr marL="0" indent="0" algn="just">
              <a:buNone/>
            </a:pP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09334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98EB9-C767-619F-05BB-E32B8EAAF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15396D-F1DC-F05D-A8F7-7D1ECE515469}"/>
              </a:ext>
            </a:extLst>
          </p:cNvPr>
          <p:cNvSpPr>
            <a:spLocks noGrp="1"/>
          </p:cNvSpPr>
          <p:nvPr>
            <p:ph type="title"/>
          </p:nvPr>
        </p:nvSpPr>
        <p:spPr>
          <a:xfrm>
            <a:off x="838200" y="365126"/>
            <a:ext cx="10515600" cy="482040"/>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Self Refresh Circuit</a:t>
            </a:r>
          </a:p>
        </p:txBody>
      </p:sp>
      <p:sp>
        <p:nvSpPr>
          <p:cNvPr id="3" name="Content Placeholder 2">
            <a:extLst>
              <a:ext uri="{FF2B5EF4-FFF2-40B4-BE49-F238E27FC236}">
                <a16:creationId xmlns:a16="http://schemas.microsoft.com/office/drawing/2014/main" id="{3E4591BF-23AF-3D3F-AFCB-C32C64E77DBF}"/>
              </a:ext>
            </a:extLst>
          </p:cNvPr>
          <p:cNvSpPr>
            <a:spLocks noGrp="1"/>
          </p:cNvSpPr>
          <p:nvPr>
            <p:ph idx="1"/>
          </p:nvPr>
        </p:nvSpPr>
        <p:spPr>
          <a:xfrm>
            <a:off x="838200" y="1129553"/>
            <a:ext cx="10515600" cy="5047410"/>
          </a:xfrm>
        </p:spPr>
        <p:txBody>
          <a:bodyPr>
            <a:normAutofit/>
          </a:bodyPr>
          <a:lstStyle/>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Row Address Sequencing</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refresh counter sequentially produces row addresses.</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Row Activation</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row decoder activates one </a:t>
            </a:r>
            <a:r>
              <a:rPr lang="en-US" sz="2200" dirty="0" err="1">
                <a:latin typeface="Times New Roman" panose="02020603050405020304" pitchFamily="18" charset="0"/>
                <a:cs typeface="Times New Roman" panose="02020603050405020304" pitchFamily="18" charset="0"/>
              </a:rPr>
              <a:t>wordline</a:t>
            </a:r>
            <a:r>
              <a:rPr lang="en-US" sz="2200" dirty="0">
                <a:latin typeface="Times New Roman" panose="02020603050405020304" pitchFamily="18" charset="0"/>
                <a:cs typeface="Times New Roman" panose="02020603050405020304" pitchFamily="18" charset="0"/>
              </a:rPr>
              <a:t> at a time.</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Charge Sensing and Restoration</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Sense amplifiers read the weak stored charge, amplify it, and restore it back to full level (refresh action).</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Continuous Cycling</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counter increments to refresh all rows within a fixed interval (typically 5–10 </a:t>
            </a:r>
            <a:r>
              <a:rPr lang="en-US" sz="2200" dirty="0" err="1">
                <a:latin typeface="Times New Roman" panose="02020603050405020304" pitchFamily="18" charset="0"/>
                <a:cs typeface="Times New Roman" panose="02020603050405020304" pitchFamily="18" charset="0"/>
              </a:rPr>
              <a:t>ms</a:t>
            </a:r>
            <a:r>
              <a:rPr lang="en-US" sz="2200" dirty="0">
                <a:latin typeface="Times New Roman" panose="02020603050405020304" pitchFamily="18" charset="0"/>
                <a:cs typeface="Times New Roman" panose="02020603050405020304" pitchFamily="18" charset="0"/>
              </a:rPr>
              <a:t> or per device spec).</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process repeats autonomously.</a:t>
            </a:r>
          </a:p>
          <a:p>
            <a:pPr marL="0" indent="0" algn="just">
              <a:buNone/>
            </a:pP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29566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B26F1-544A-2263-4127-C121D56DA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C393F4-BFC9-A1C1-B0EA-0F56E6646F5B}"/>
              </a:ext>
            </a:extLst>
          </p:cNvPr>
          <p:cNvSpPr>
            <a:spLocks noGrp="1"/>
          </p:cNvSpPr>
          <p:nvPr>
            <p:ph type="title"/>
          </p:nvPr>
        </p:nvSpPr>
        <p:spPr>
          <a:xfrm>
            <a:off x="838200" y="365126"/>
            <a:ext cx="10515600" cy="482040"/>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Self Refresh Circuit</a:t>
            </a:r>
          </a:p>
        </p:txBody>
      </p:sp>
      <p:sp>
        <p:nvSpPr>
          <p:cNvPr id="3" name="Content Placeholder 2">
            <a:extLst>
              <a:ext uri="{FF2B5EF4-FFF2-40B4-BE49-F238E27FC236}">
                <a16:creationId xmlns:a16="http://schemas.microsoft.com/office/drawing/2014/main" id="{B30B3039-32A2-830E-47CF-493248B7B429}"/>
              </a:ext>
            </a:extLst>
          </p:cNvPr>
          <p:cNvSpPr>
            <a:spLocks noGrp="1"/>
          </p:cNvSpPr>
          <p:nvPr>
            <p:ph idx="1"/>
          </p:nvPr>
        </p:nvSpPr>
        <p:spPr>
          <a:xfrm>
            <a:off x="838200" y="1129553"/>
            <a:ext cx="10515600" cy="5047410"/>
          </a:xfrm>
        </p:spPr>
        <p:txBody>
          <a:bodyPr>
            <a:normAutofit fontScale="92500" lnSpcReduction="10000"/>
          </a:bodyPr>
          <a:lstStyle/>
          <a:p>
            <a:pPr marL="0" indent="0">
              <a:buNone/>
            </a:pPr>
            <a:r>
              <a:rPr lang="en-IN" sz="2400" b="1" dirty="0">
                <a:latin typeface="Times New Roman" panose="02020603050405020304" pitchFamily="18" charset="0"/>
                <a:cs typeface="Times New Roman" panose="02020603050405020304" pitchFamily="18" charset="0"/>
              </a:rPr>
              <a:t>Importance in Low-Power Memory Design</a:t>
            </a:r>
          </a:p>
          <a:p>
            <a:pPr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Enables Standby / Sleep Modes</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During idle periods (mobile, laptops, embedded systems), the controller can power down. </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Self-refresh ensures data retention without external intervention. </a:t>
            </a:r>
          </a:p>
          <a:p>
            <a:pPr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Reduces Power Consumption</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Uses a low-frequency internal oscillator instead of high-speed system clocks. </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Minimizes switching activity → significant power savings. </a:t>
            </a:r>
          </a:p>
          <a:p>
            <a:pPr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Supports High-Density DRAM</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Large arrays require frequent refresh; self-timing provides efficient and scalable refresh management. </a:t>
            </a:r>
          </a:p>
          <a:p>
            <a:pPr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Temperature-Aware Operation</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Advanced designs adjust refresh rate with temperature to balance reliability and power.</a:t>
            </a:r>
          </a:p>
          <a:p>
            <a:pPr marL="0" indent="0" algn="just">
              <a:buNone/>
            </a:pP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3302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2D90A-01BA-BA10-7DFE-6065426509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EC12E-9EEE-C781-C16C-AA2980D67CDA}"/>
              </a:ext>
            </a:extLst>
          </p:cNvPr>
          <p:cNvSpPr>
            <a:spLocks noGrp="1"/>
          </p:cNvSpPr>
          <p:nvPr>
            <p:ph type="title"/>
          </p:nvPr>
        </p:nvSpPr>
        <p:spPr>
          <a:xfrm>
            <a:off x="838200" y="365126"/>
            <a:ext cx="10515600" cy="482040"/>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Self Refresh Circuit</a:t>
            </a:r>
          </a:p>
        </p:txBody>
      </p:sp>
      <p:sp>
        <p:nvSpPr>
          <p:cNvPr id="3" name="Content Placeholder 2">
            <a:extLst>
              <a:ext uri="{FF2B5EF4-FFF2-40B4-BE49-F238E27FC236}">
                <a16:creationId xmlns:a16="http://schemas.microsoft.com/office/drawing/2014/main" id="{45559FB9-4D25-59C9-CBC4-07477D1A40DA}"/>
              </a:ext>
            </a:extLst>
          </p:cNvPr>
          <p:cNvSpPr>
            <a:spLocks noGrp="1"/>
          </p:cNvSpPr>
          <p:nvPr>
            <p:ph idx="1"/>
          </p:nvPr>
        </p:nvSpPr>
        <p:spPr>
          <a:xfrm>
            <a:off x="838200" y="1129553"/>
            <a:ext cx="10515600" cy="504741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Impact on Data Retention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Ensures that all memory cells are periodically restored before charge decays below a critical level.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Prevents data loss in inactive rows, which are not accessed by normal read/write operations.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Maintains data integrity even when the system is in deep sleep</a:t>
            </a:r>
            <a:r>
              <a:rPr lang="en-US" sz="2400" dirty="0"/>
              <a:t>. </a:t>
            </a:r>
          </a:p>
          <a:p>
            <a:pPr marL="0" indent="0" algn="just">
              <a:buNone/>
            </a:pP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68439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702BAEF-7F4D-92C0-BDA4-6331F460DA08}"/>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3086C6A7-64E6-95BC-5C2B-232E6613A6E0}"/>
              </a:ext>
            </a:extLst>
          </p:cNvPr>
          <p:cNvPicPr>
            <a:picLocks noChangeAspect="1"/>
          </p:cNvPicPr>
          <p:nvPr/>
        </p:nvPicPr>
        <p:blipFill>
          <a:blip r:embed="rId2"/>
          <a:stretch>
            <a:fillRect/>
          </a:stretch>
        </p:blipFill>
        <p:spPr>
          <a:xfrm>
            <a:off x="3077316" y="65425"/>
            <a:ext cx="6643789" cy="6070383"/>
          </a:xfrm>
          <a:prstGeom prst="rect">
            <a:avLst/>
          </a:prstGeom>
        </p:spPr>
      </p:pic>
    </p:spTree>
    <p:extLst>
      <p:ext uri="{BB962C8B-B14F-4D97-AF65-F5344CB8AC3E}">
        <p14:creationId xmlns:p14="http://schemas.microsoft.com/office/powerpoint/2010/main" val="31876711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AC8AE-116D-6283-8FBE-75C7F4AFA2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4F6F8-BB33-580E-B5A2-8257166C0A32}"/>
              </a:ext>
            </a:extLst>
          </p:cNvPr>
          <p:cNvSpPr>
            <a:spLocks noGrp="1"/>
          </p:cNvSpPr>
          <p:nvPr>
            <p:ph type="title"/>
          </p:nvPr>
        </p:nvSpPr>
        <p:spPr>
          <a:xfrm>
            <a:off x="838200" y="365126"/>
            <a:ext cx="10515600" cy="482040"/>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Self Refresh Circuit</a:t>
            </a:r>
          </a:p>
        </p:txBody>
      </p:sp>
      <p:sp>
        <p:nvSpPr>
          <p:cNvPr id="3" name="Content Placeholder 2">
            <a:extLst>
              <a:ext uri="{FF2B5EF4-FFF2-40B4-BE49-F238E27FC236}">
                <a16:creationId xmlns:a16="http://schemas.microsoft.com/office/drawing/2014/main" id="{0CF0B00B-C84A-BE20-0E73-F83E86E15CC2}"/>
              </a:ext>
            </a:extLst>
          </p:cNvPr>
          <p:cNvSpPr>
            <a:spLocks noGrp="1"/>
          </p:cNvSpPr>
          <p:nvPr>
            <p:ph idx="1"/>
          </p:nvPr>
        </p:nvSpPr>
        <p:spPr>
          <a:xfrm>
            <a:off x="838200" y="1129553"/>
            <a:ext cx="10515600" cy="5047410"/>
          </a:xfrm>
        </p:spPr>
        <p:txBody>
          <a:bodyPr>
            <a:normAutofit/>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most important part is:</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RAS is held LOW for a long duration (&gt; 100 µs) </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Other signals remain inactive / don’t care (hatched region) </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No data transfer happens</a:t>
            </a:r>
          </a:p>
          <a:p>
            <a:pPr marL="0" indent="0" algn="just">
              <a:buNone/>
            </a:pPr>
            <a:r>
              <a:rPr lang="en-US" sz="2400" b="1" dirty="0">
                <a:latin typeface="Times New Roman" panose="02020603050405020304" pitchFamily="18" charset="0"/>
                <a:cs typeface="Times New Roman" panose="02020603050405020304" pitchFamily="18" charset="0"/>
              </a:rPr>
              <a:t>Working:</a:t>
            </a:r>
          </a:p>
          <a:p>
            <a:pPr marL="0" indent="0">
              <a:buNone/>
            </a:pPr>
            <a:r>
              <a:rPr lang="en-US" b="1" dirty="0">
                <a:latin typeface="Times New Roman" panose="02020603050405020304" pitchFamily="18" charset="0"/>
                <a:cs typeface="Times New Roman" panose="02020603050405020304" pitchFamily="18" charset="0"/>
              </a:rPr>
              <a:t>Entering Self-Refresh Mode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Initially: </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CAS goes LOW </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goes LOW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combination acts as a special command to DRAM: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“Enter self-refresh mode”</a:t>
            </a:r>
          </a:p>
          <a:p>
            <a:pPr marL="0" indent="0" algn="just">
              <a:buNone/>
            </a:pP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07103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AED83-A71F-AF1A-2A70-D5B68EB7D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F7FFA1-42F9-EAD1-113A-E98FEF6E2E17}"/>
              </a:ext>
            </a:extLst>
          </p:cNvPr>
          <p:cNvSpPr>
            <a:spLocks noGrp="1"/>
          </p:cNvSpPr>
          <p:nvPr>
            <p:ph type="title"/>
          </p:nvPr>
        </p:nvSpPr>
        <p:spPr>
          <a:xfrm>
            <a:off x="838200" y="365126"/>
            <a:ext cx="10515600" cy="482040"/>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Self Refresh Circuit</a:t>
            </a:r>
          </a:p>
        </p:txBody>
      </p:sp>
      <p:sp>
        <p:nvSpPr>
          <p:cNvPr id="3" name="Content Placeholder 2">
            <a:extLst>
              <a:ext uri="{FF2B5EF4-FFF2-40B4-BE49-F238E27FC236}">
                <a16:creationId xmlns:a16="http://schemas.microsoft.com/office/drawing/2014/main" id="{5DB4A22B-7C24-B492-583F-391DF8C9FAC8}"/>
              </a:ext>
            </a:extLst>
          </p:cNvPr>
          <p:cNvSpPr>
            <a:spLocks noGrp="1"/>
          </p:cNvSpPr>
          <p:nvPr>
            <p:ph idx="1"/>
          </p:nvPr>
        </p:nvSpPr>
        <p:spPr>
          <a:xfrm>
            <a:off x="838200" y="1129553"/>
            <a:ext cx="10515600" cy="5047410"/>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RAS Goes LOW and Stays LOW</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After the command: </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RAS transitions LOW and remains LOW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indicates: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DRAM is now in self-refresh state</a:t>
            </a:r>
          </a:p>
          <a:p>
            <a:pPr marL="0" indent="0">
              <a:buNone/>
            </a:pPr>
            <a:r>
              <a:rPr lang="en-IN" b="1" dirty="0">
                <a:latin typeface="Times New Roman" panose="02020603050405020304" pitchFamily="18" charset="0"/>
                <a:cs typeface="Times New Roman" panose="02020603050405020304" pitchFamily="18" charset="0"/>
              </a:rPr>
              <a:t>Internal Operation Starts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External signals (Address, OE, Data) become irrelevant.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Internally: </a:t>
            </a:r>
          </a:p>
          <a:p>
            <a:pPr lvl="1">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Oscillator starts </a:t>
            </a:r>
          </a:p>
          <a:p>
            <a:pPr lvl="1">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Refresh counter runs </a:t>
            </a:r>
          </a:p>
          <a:p>
            <a:pPr lvl="1">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Rows are refreshed automatically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No external clock or commands required</a:t>
            </a:r>
          </a:p>
          <a:p>
            <a:pPr marL="0" indent="0" algn="just">
              <a:buNone/>
            </a:pP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5953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7C9A8-46AE-3782-5AF6-7057053B7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B1958D-4900-CDD0-B51D-D091750050BD}"/>
              </a:ext>
            </a:extLst>
          </p:cNvPr>
          <p:cNvSpPr>
            <a:spLocks noGrp="1"/>
          </p:cNvSpPr>
          <p:nvPr>
            <p:ph type="title"/>
          </p:nvPr>
        </p:nvSpPr>
        <p:spPr>
          <a:xfrm>
            <a:off x="838200" y="365126"/>
            <a:ext cx="10515600" cy="482040"/>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Self Refresh Circuit</a:t>
            </a:r>
          </a:p>
        </p:txBody>
      </p:sp>
      <p:sp>
        <p:nvSpPr>
          <p:cNvPr id="3" name="Content Placeholder 2">
            <a:extLst>
              <a:ext uri="{FF2B5EF4-FFF2-40B4-BE49-F238E27FC236}">
                <a16:creationId xmlns:a16="http://schemas.microsoft.com/office/drawing/2014/main" id="{054354FA-DAD5-E291-BC16-CD8618B4C53A}"/>
              </a:ext>
            </a:extLst>
          </p:cNvPr>
          <p:cNvSpPr>
            <a:spLocks noGrp="1"/>
          </p:cNvSpPr>
          <p:nvPr>
            <p:ph idx="1"/>
          </p:nvPr>
        </p:nvSpPr>
        <p:spPr>
          <a:xfrm>
            <a:off x="838200" y="1129553"/>
            <a:ext cx="10515600" cy="5047410"/>
          </a:xfrm>
        </p:spPr>
        <p:txBody>
          <a:bodyPr>
            <a:normAutofit fontScale="92500" lnSpcReduction="10000"/>
          </a:bodyPr>
          <a:lstStyle/>
          <a:p>
            <a:pPr marL="0" indent="0">
              <a:buNone/>
            </a:pPr>
            <a:r>
              <a:rPr lang="en-US" sz="2000" b="1" dirty="0">
                <a:latin typeface="Times New Roman" panose="02020603050405020304" pitchFamily="18" charset="0"/>
                <a:cs typeface="Times New Roman" panose="02020603050405020304" pitchFamily="18" charset="0"/>
              </a:rPr>
              <a:t>Long Hold Time (&gt;100 µs)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diagram shows: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RAS held LOW for more than 100 µs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Meaning:</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DRAM stays in low-power self-refresh mode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Continuous internal refresh is happening </a:t>
            </a:r>
          </a:p>
          <a:p>
            <a:pPr>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Data Lines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No input/output activity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Data bus remains idle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Because:</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Memory is not being accessed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Only internal refresh is active</a:t>
            </a:r>
          </a:p>
          <a:p>
            <a:pPr marL="0" indent="0" algn="just">
              <a:buNone/>
            </a:pP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33649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24E26-33D8-B9DC-EA1D-0C2D690F8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65C72-2448-6E7E-A257-BDF177F63B34}"/>
              </a:ext>
            </a:extLst>
          </p:cNvPr>
          <p:cNvSpPr>
            <a:spLocks noGrp="1"/>
          </p:cNvSpPr>
          <p:nvPr>
            <p:ph type="title"/>
          </p:nvPr>
        </p:nvSpPr>
        <p:spPr>
          <a:xfrm>
            <a:off x="838200" y="365126"/>
            <a:ext cx="10515600" cy="482040"/>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Self Refresh Circuit</a:t>
            </a:r>
          </a:p>
        </p:txBody>
      </p:sp>
      <p:sp>
        <p:nvSpPr>
          <p:cNvPr id="3" name="Content Placeholder 2">
            <a:extLst>
              <a:ext uri="{FF2B5EF4-FFF2-40B4-BE49-F238E27FC236}">
                <a16:creationId xmlns:a16="http://schemas.microsoft.com/office/drawing/2014/main" id="{079BB94C-D5A6-0C1C-4375-6ED8F97A9DAA}"/>
              </a:ext>
            </a:extLst>
          </p:cNvPr>
          <p:cNvSpPr>
            <a:spLocks noGrp="1"/>
          </p:cNvSpPr>
          <p:nvPr>
            <p:ph idx="1"/>
          </p:nvPr>
        </p:nvSpPr>
        <p:spPr>
          <a:xfrm>
            <a:off x="838200" y="1129553"/>
            <a:ext cx="10515600" cy="504741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Exiting Self-Refresh Mode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RAS goes HIGH again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DRAM exits self-refresh mode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Returns to normal operation</a:t>
            </a:r>
          </a:p>
          <a:p>
            <a:pPr marL="0" indent="0" algn="just">
              <a:buNone/>
            </a:pP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98027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995F78F-1775-0F3C-D23B-A509134E322A}"/>
              </a:ext>
            </a:extLst>
          </p:cNvPr>
          <p:cNvSpPr>
            <a:spLocks noGrp="1"/>
          </p:cNvSpPr>
          <p:nvPr>
            <p:ph type="ftr" sz="quarter" idx="11"/>
          </p:nvPr>
        </p:nvSpPr>
        <p:spPr/>
        <p:txBody>
          <a:bodyPr/>
          <a:lstStyle/>
          <a:p>
            <a:r>
              <a:rPr lang="en-IN"/>
              <a:t>Dr. Aruru Sai Kumar , VIT-AP</a:t>
            </a:r>
            <a:endParaRPr lang="en-IN" dirty="0"/>
          </a:p>
        </p:txBody>
      </p:sp>
      <p:sp>
        <p:nvSpPr>
          <p:cNvPr id="4" name="TextBox 3">
            <a:extLst>
              <a:ext uri="{FF2B5EF4-FFF2-40B4-BE49-F238E27FC236}">
                <a16:creationId xmlns:a16="http://schemas.microsoft.com/office/drawing/2014/main" id="{3C766DDC-65F0-EA5A-117A-49A587618524}"/>
              </a:ext>
            </a:extLst>
          </p:cNvPr>
          <p:cNvSpPr txBox="1"/>
          <p:nvPr/>
        </p:nvSpPr>
        <p:spPr>
          <a:xfrm>
            <a:off x="850769" y="1655743"/>
            <a:ext cx="4795887" cy="1754326"/>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This diagram illustrates the difference between DRAM self-refresh mode, where all memory banks are internally refreshed to retain data, and deep power-down mode, where refresh is disabled to minimize power consumption, resulting in loss of stored data.</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81C811A-93A9-A775-3492-DFB8DAF55A0B}"/>
              </a:ext>
            </a:extLst>
          </p:cNvPr>
          <p:cNvPicPr>
            <a:picLocks noChangeAspect="1"/>
          </p:cNvPicPr>
          <p:nvPr/>
        </p:nvPicPr>
        <p:blipFill>
          <a:blip r:embed="rId2"/>
          <a:stretch>
            <a:fillRect/>
          </a:stretch>
        </p:blipFill>
        <p:spPr>
          <a:xfrm>
            <a:off x="5891484" y="1027520"/>
            <a:ext cx="5942276" cy="4958499"/>
          </a:xfrm>
          <a:prstGeom prst="rect">
            <a:avLst/>
          </a:prstGeom>
        </p:spPr>
      </p:pic>
    </p:spTree>
    <p:extLst>
      <p:ext uri="{BB962C8B-B14F-4D97-AF65-F5344CB8AC3E}">
        <p14:creationId xmlns:p14="http://schemas.microsoft.com/office/powerpoint/2010/main" val="21094441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496E9-B518-601A-2A72-51BAEF5AA83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D0DABF-EE63-7774-9521-0224EF369991}"/>
              </a:ext>
            </a:extLst>
          </p:cNvPr>
          <p:cNvSpPr>
            <a:spLocks noGrp="1"/>
          </p:cNvSpPr>
          <p:nvPr>
            <p:ph idx="1"/>
          </p:nvPr>
        </p:nvSpPr>
        <p:spPr>
          <a:xfrm>
            <a:off x="838200" y="1129553"/>
            <a:ext cx="10515600" cy="5047410"/>
          </a:xfrm>
        </p:spPr>
        <p:txBody>
          <a:bodyPr>
            <a:normAutofit lnSpcReduction="10000"/>
          </a:bodyPr>
          <a:lstStyle/>
          <a:p>
            <a:pPr marL="0" indent="0">
              <a:buNone/>
            </a:pPr>
            <a:r>
              <a:rPr lang="en-US" sz="2400" b="1" dirty="0">
                <a:latin typeface="Times New Roman" panose="02020603050405020304" pitchFamily="18" charset="0"/>
                <a:cs typeface="Times New Roman" panose="02020603050405020304" pitchFamily="18" charset="0"/>
              </a:rPr>
              <a:t>SDRAM (Synchronous DRAM)</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SDRAM is a type of DRAM that operates synchronously with the system clock, improving speed over conventional DRAM.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transfers one data word per clock cycle (single data rate).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introduced features like burst access and pipelining, making it widely used in early computers. </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 DDR SDRAM (DDR1)</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DDR SDRAM improves SDRAM by transferring data on both rising and falling edges of the clock, effectively doubling data rate.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provides higher bandwidth without increasing clock frequency.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also operates at lower voltage and better efficiency than SDRAM</a:t>
            </a:r>
            <a:r>
              <a:rPr lang="en-US" sz="2400" dirty="0"/>
              <a:t>.</a:t>
            </a:r>
          </a:p>
          <a:p>
            <a:pPr marL="0" indent="0" algn="just">
              <a:buNone/>
            </a:pP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66405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D417F-E5C2-A453-1C78-0F00514A3A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81396-00ED-9566-765A-308054379068}"/>
              </a:ext>
            </a:extLst>
          </p:cNvPr>
          <p:cNvSpPr>
            <a:spLocks noGrp="1"/>
          </p:cNvSpPr>
          <p:nvPr>
            <p:ph type="title"/>
          </p:nvPr>
        </p:nvSpPr>
        <p:spPr>
          <a:xfrm>
            <a:off x="838200" y="365126"/>
            <a:ext cx="10515600" cy="482040"/>
          </a:xfrm>
        </p:spPr>
        <p:txBody>
          <a:bodyPr>
            <a:noAutofit/>
          </a:bodyPr>
          <a:lstStyle/>
          <a:p>
            <a:r>
              <a:rPr lang="en-IN" sz="3500" b="1" dirty="0">
                <a:solidFill>
                  <a:schemeClr val="tx1"/>
                </a:solidFill>
                <a:latin typeface="Times New Roman" panose="02020603050405020304" pitchFamily="18" charset="0"/>
                <a:cs typeface="Times New Roman" panose="02020603050405020304" pitchFamily="18" charset="0"/>
              </a:rPr>
              <a:t>5.5 Basics of ROM </a:t>
            </a:r>
          </a:p>
        </p:txBody>
      </p:sp>
      <p:sp>
        <p:nvSpPr>
          <p:cNvPr id="3" name="Content Placeholder 2">
            <a:extLst>
              <a:ext uri="{FF2B5EF4-FFF2-40B4-BE49-F238E27FC236}">
                <a16:creationId xmlns:a16="http://schemas.microsoft.com/office/drawing/2014/main" id="{B0D21B88-A0D0-D89F-64B7-3DAE81B059C3}"/>
              </a:ext>
            </a:extLst>
          </p:cNvPr>
          <p:cNvSpPr>
            <a:spLocks noGrp="1"/>
          </p:cNvSpPr>
          <p:nvPr>
            <p:ph idx="1"/>
          </p:nvPr>
        </p:nvSpPr>
        <p:spPr>
          <a:xfrm>
            <a:off x="838200" y="1129553"/>
            <a:ext cx="10515600" cy="5047410"/>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fundamental architecture of a Read-Only Memory (ROM) consists of a memory cell array organized in a matrix form, along with row and column address decoders that are used to uniquely select one word from a total of 2</a:t>
            </a:r>
            <a:r>
              <a:rPr lang="en-US" sz="2400" baseline="30000" dirty="0">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 stored words based on an n-bit input address.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row decoder activates one specific word-line corresponding to the given address, while the column decoder selects the required bit-lines to access the desired data from the memory array efficiently.</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conditioning circuit is employed to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the bit-lines prior to the read operation, thereby improving the speed and reliability of data sensing.</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stored information is retrieved from the selected memory cells through bit-lines and is subsequently detected using sense amplifiers, which convert small voltage differences into valid digital logic levels.</a:t>
            </a:r>
          </a:p>
          <a:p>
            <a:pPr marL="0" indent="0" algn="just">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49749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54810-6544-8B05-9423-CA72509F97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E3B40-F74E-AD0E-242D-B495BD84DE17}"/>
              </a:ext>
            </a:extLst>
          </p:cNvPr>
          <p:cNvSpPr>
            <a:spLocks noGrp="1"/>
          </p:cNvSpPr>
          <p:nvPr>
            <p:ph type="title"/>
          </p:nvPr>
        </p:nvSpPr>
        <p:spPr>
          <a:xfrm>
            <a:off x="838200" y="365126"/>
            <a:ext cx="10515600" cy="482040"/>
          </a:xfrm>
        </p:spPr>
        <p:txBody>
          <a:bodyPr>
            <a:noAutofit/>
          </a:bodyPr>
          <a:lstStyle/>
          <a:p>
            <a:r>
              <a:rPr lang="en-IN" sz="3500" b="1" dirty="0">
                <a:solidFill>
                  <a:schemeClr val="tx1"/>
                </a:solidFill>
                <a:latin typeface="Times New Roman" panose="02020603050405020304" pitchFamily="18" charset="0"/>
                <a:cs typeface="Times New Roman" panose="02020603050405020304" pitchFamily="18" charset="0"/>
              </a:rPr>
              <a:t>Basics of ROM </a:t>
            </a:r>
          </a:p>
        </p:txBody>
      </p:sp>
      <p:sp>
        <p:nvSpPr>
          <p:cNvPr id="3" name="Content Placeholder 2">
            <a:extLst>
              <a:ext uri="{FF2B5EF4-FFF2-40B4-BE49-F238E27FC236}">
                <a16:creationId xmlns:a16="http://schemas.microsoft.com/office/drawing/2014/main" id="{EAB11D99-73F7-67FE-70BF-8E46E8F6F445}"/>
              </a:ext>
            </a:extLst>
          </p:cNvPr>
          <p:cNvSpPr>
            <a:spLocks noGrp="1"/>
          </p:cNvSpPr>
          <p:nvPr>
            <p:ph idx="1"/>
          </p:nvPr>
        </p:nvSpPr>
        <p:spPr>
          <a:xfrm>
            <a:off x="1139857" y="1025858"/>
            <a:ext cx="10515600" cy="5047410"/>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many ROM designs, column decoders are utilized before the sensing stage to select a subset of bit-lines, reducing hardware complexity and improving overall performance.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Once the data is ready, the output enable signal activates the output buffers, allowing the retrieved data to be transferred to the external output terminals.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chip select and output enable signals play a crucial role in memory expansion by enabling multiple memory chips to be combined, thereby increasing both the total number of words and the word size.</a:t>
            </a:r>
          </a:p>
          <a:p>
            <a:pPr marL="0" indent="0" algn="just">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9156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7814A93-3E14-F121-64DB-987F32ADC2D2}"/>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D554EEE8-1CD4-CB42-BE3D-FEDBD832D79E}"/>
              </a:ext>
            </a:extLst>
          </p:cNvPr>
          <p:cNvPicPr>
            <a:picLocks noChangeAspect="1"/>
          </p:cNvPicPr>
          <p:nvPr/>
        </p:nvPicPr>
        <p:blipFill>
          <a:blip r:embed="rId2"/>
          <a:stretch>
            <a:fillRect/>
          </a:stretch>
        </p:blipFill>
        <p:spPr>
          <a:xfrm>
            <a:off x="2733773" y="229884"/>
            <a:ext cx="7974921" cy="5309562"/>
          </a:xfrm>
          <a:prstGeom prst="rect">
            <a:avLst/>
          </a:prstGeom>
        </p:spPr>
      </p:pic>
      <p:sp>
        <p:nvSpPr>
          <p:cNvPr id="6" name="TextBox 5">
            <a:extLst>
              <a:ext uri="{FF2B5EF4-FFF2-40B4-BE49-F238E27FC236}">
                <a16:creationId xmlns:a16="http://schemas.microsoft.com/office/drawing/2014/main" id="{EFA32E11-D7C1-A4D5-A30B-19963BDCCBFA}"/>
              </a:ext>
            </a:extLst>
          </p:cNvPr>
          <p:cNvSpPr txBox="1"/>
          <p:nvPr/>
        </p:nvSpPr>
        <p:spPr>
          <a:xfrm>
            <a:off x="4614266" y="5652961"/>
            <a:ext cx="6094428"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Figure: Basic ROM architecture</a:t>
            </a:r>
          </a:p>
        </p:txBody>
      </p:sp>
    </p:spTree>
    <p:extLst>
      <p:ext uri="{BB962C8B-B14F-4D97-AF65-F5344CB8AC3E}">
        <p14:creationId xmlns:p14="http://schemas.microsoft.com/office/powerpoint/2010/main" val="26380280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70EC7-6489-0C59-AC24-423D2DEFFF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65DEE-3DC0-44DA-306B-11B7A70F350B}"/>
              </a:ext>
            </a:extLst>
          </p:cNvPr>
          <p:cNvSpPr>
            <a:spLocks noGrp="1"/>
          </p:cNvSpPr>
          <p:nvPr>
            <p:ph type="title"/>
          </p:nvPr>
        </p:nvSpPr>
        <p:spPr>
          <a:xfrm>
            <a:off x="838200" y="365126"/>
            <a:ext cx="10515600" cy="482040"/>
          </a:xfrm>
        </p:spPr>
        <p:txBody>
          <a:bodyPr>
            <a:noAutofit/>
          </a:bodyPr>
          <a:lstStyle/>
          <a:p>
            <a:r>
              <a:rPr lang="en-IN" sz="3500" b="1" dirty="0">
                <a:solidFill>
                  <a:schemeClr val="tx1"/>
                </a:solidFill>
                <a:latin typeface="Times New Roman" panose="02020603050405020304" pitchFamily="18" charset="0"/>
                <a:cs typeface="Times New Roman" panose="02020603050405020304" pitchFamily="18" charset="0"/>
              </a:rPr>
              <a:t>Basics of ROM </a:t>
            </a:r>
          </a:p>
        </p:txBody>
      </p:sp>
      <p:sp>
        <p:nvSpPr>
          <p:cNvPr id="3" name="Content Placeholder 2">
            <a:extLst>
              <a:ext uri="{FF2B5EF4-FFF2-40B4-BE49-F238E27FC236}">
                <a16:creationId xmlns:a16="http://schemas.microsoft.com/office/drawing/2014/main" id="{88BBC07C-34AD-F24C-B2DF-A4CDEAB4D437}"/>
              </a:ext>
            </a:extLst>
          </p:cNvPr>
          <p:cNvSpPr>
            <a:spLocks noGrp="1"/>
          </p:cNvSpPr>
          <p:nvPr>
            <p:ph idx="1"/>
          </p:nvPr>
        </p:nvSpPr>
        <p:spPr>
          <a:xfrm>
            <a:off x="1139857" y="1025858"/>
            <a:ext cx="10515600" cy="5047410"/>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1 Kbit ROM Organization: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typical 1 Kbit ROM can be organized as 256 words with 4 bits per word, requiring an 8-bit address input to uniquely identify each word.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8-bit address is divided into a 5-bit row address and a 3-bit column address, resulting in 32 word-lines and a memory cell array structured as a 32 × 32 matrix.</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row decoder selects one of the 32 rows, while four 8-to-1 column decoders act as data selectors to choose four specific columns corresponding to the required 4-bit output.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selected data is then passed through output buffers, which are enabled by the chip select signal, to produce the final 4-bit output word (D0–D3).</a:t>
            </a:r>
          </a:p>
          <a:p>
            <a:pPr marL="0" indent="0" algn="just">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07378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6A5EA1E-558D-EC1F-0337-E442CFB77273}"/>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83A5FE0E-CB7C-1E5D-81AB-472AB8273975}"/>
              </a:ext>
            </a:extLst>
          </p:cNvPr>
          <p:cNvPicPr>
            <a:picLocks noChangeAspect="1"/>
          </p:cNvPicPr>
          <p:nvPr/>
        </p:nvPicPr>
        <p:blipFill>
          <a:blip r:embed="rId2"/>
          <a:stretch>
            <a:fillRect/>
          </a:stretch>
        </p:blipFill>
        <p:spPr>
          <a:xfrm>
            <a:off x="2504887" y="118567"/>
            <a:ext cx="7521592" cy="5753599"/>
          </a:xfrm>
          <a:prstGeom prst="rect">
            <a:avLst/>
          </a:prstGeom>
        </p:spPr>
      </p:pic>
      <p:sp>
        <p:nvSpPr>
          <p:cNvPr id="6" name="TextBox 5">
            <a:extLst>
              <a:ext uri="{FF2B5EF4-FFF2-40B4-BE49-F238E27FC236}">
                <a16:creationId xmlns:a16="http://schemas.microsoft.com/office/drawing/2014/main" id="{EE929CAC-42B5-AD94-5511-7A10A8006ECE}"/>
              </a:ext>
            </a:extLst>
          </p:cNvPr>
          <p:cNvSpPr txBox="1"/>
          <p:nvPr/>
        </p:nvSpPr>
        <p:spPr>
          <a:xfrm>
            <a:off x="3932051" y="5951142"/>
            <a:ext cx="6094428"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Figure: A 1024-bit ROM architecture</a:t>
            </a:r>
          </a:p>
        </p:txBody>
      </p:sp>
    </p:spTree>
    <p:extLst>
      <p:ext uri="{BB962C8B-B14F-4D97-AF65-F5344CB8AC3E}">
        <p14:creationId xmlns:p14="http://schemas.microsoft.com/office/powerpoint/2010/main" val="23548423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5EDEF-1FE4-BC63-23CC-1910E5C550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125FE-0E52-3C5B-6BCA-96C71AD72CE6}"/>
              </a:ext>
            </a:extLst>
          </p:cNvPr>
          <p:cNvSpPr>
            <a:spLocks noGrp="1"/>
          </p:cNvSpPr>
          <p:nvPr>
            <p:ph type="title"/>
          </p:nvPr>
        </p:nvSpPr>
        <p:spPr>
          <a:xfrm>
            <a:off x="838200" y="365126"/>
            <a:ext cx="10515600" cy="482040"/>
          </a:xfrm>
        </p:spPr>
        <p:txBody>
          <a:bodyPr>
            <a:noAutofit/>
          </a:bodyPr>
          <a:lstStyle/>
          <a:p>
            <a:r>
              <a:rPr lang="en-IN" sz="3500" b="1">
                <a:solidFill>
                  <a:schemeClr val="tx1"/>
                </a:solidFill>
                <a:latin typeface="Times New Roman" panose="02020603050405020304" pitchFamily="18" charset="0"/>
                <a:cs typeface="Times New Roman" panose="02020603050405020304" pitchFamily="18" charset="0"/>
              </a:rPr>
              <a:t>Low-Power ROM Technology</a:t>
            </a:r>
            <a:endParaRPr lang="en-IN" sz="35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AE06D7-5013-CBF1-0760-31F09F062F4C}"/>
              </a:ext>
            </a:extLst>
          </p:cNvPr>
          <p:cNvSpPr>
            <a:spLocks noGrp="1"/>
          </p:cNvSpPr>
          <p:nvPr>
            <p:ph idx="1"/>
          </p:nvPr>
        </p:nvSpPr>
        <p:spPr>
          <a:xfrm>
            <a:off x="1139857" y="1025858"/>
            <a:ext cx="10515600" cy="5047410"/>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Sources of power dissipation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conventional architecture of a ROM consists of a memory core, also known as the memory bank, which is formed by an array of transistors arranged systematically to store binary information.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Two primary types of ROM array organizations are the NAND array and the NOR array, where the pull-down transistors are connected in series in NAND structures and in parallel in NOR structures.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Among these configurations, the NOR-based ROM is more widely used due to its higher access speed compared to the NAND-based ROM architecture.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address decoder plays a critical role by selecting one specific word-line in the ROM core at a time based on the applied input address.</a:t>
            </a: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06992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311F8-8D2C-F651-CE4B-98E55C7123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7208BF-D160-C0AF-5522-709B998A3DCC}"/>
              </a:ext>
            </a:extLst>
          </p:cNvPr>
          <p:cNvSpPr>
            <a:spLocks noGrp="1"/>
          </p:cNvSpPr>
          <p:nvPr>
            <p:ph type="title"/>
          </p:nvPr>
        </p:nvSpPr>
        <p:spPr>
          <a:xfrm>
            <a:off x="838200" y="365126"/>
            <a:ext cx="10515600" cy="482040"/>
          </a:xfrm>
        </p:spPr>
        <p:txBody>
          <a:bodyPr>
            <a:noAutofit/>
          </a:bodyPr>
          <a:lstStyle/>
          <a:p>
            <a:r>
              <a:rPr lang="en-IN" sz="3500" b="1">
                <a:solidFill>
                  <a:schemeClr val="tx1"/>
                </a:solidFill>
                <a:latin typeface="Times New Roman" panose="02020603050405020304" pitchFamily="18" charset="0"/>
                <a:cs typeface="Times New Roman" panose="02020603050405020304" pitchFamily="18" charset="0"/>
              </a:rPr>
              <a:t>Low-Power ROM Technology</a:t>
            </a:r>
            <a:endParaRPr lang="en-IN" sz="35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7F64087-51C1-52CB-2258-9EDF3FF8ADF0}"/>
              </a:ext>
            </a:extLst>
          </p:cNvPr>
          <p:cNvSpPr>
            <a:spLocks noGrp="1"/>
          </p:cNvSpPr>
          <p:nvPr>
            <p:ph idx="1"/>
          </p:nvPr>
        </p:nvSpPr>
        <p:spPr>
          <a:xfrm>
            <a:off x="1139857" y="1025858"/>
            <a:ext cx="10515600" cy="5047410"/>
          </a:xfrm>
        </p:spPr>
        <p:txBody>
          <a:bodyPr>
            <a:norm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column multiplexer, along with the driver circuitry, selects a particular column from the array and drives the corresponding data onto the data bus for output.</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control logic block is responsible for generating essential internal signals such as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and read signals, which ensure proper timing and operation of the ROM.</a:t>
            </a:r>
          </a:p>
          <a:p>
            <a:pPr marL="0" indent="0" algn="just">
              <a:buNone/>
            </a:pPr>
            <a:r>
              <a:rPr lang="en-IN" sz="2400" b="1" dirty="0">
                <a:latin typeface="Times New Roman" panose="02020603050405020304" pitchFamily="18" charset="0"/>
                <a:cs typeface="Times New Roman" panose="02020603050405020304" pitchFamily="18" charset="0"/>
              </a:rPr>
              <a:t>Power Dissipation in ROM:</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 a ROM system, a significant portion of power dissipation arises from highly capacitive components such as </a:t>
            </a:r>
            <a:r>
              <a:rPr lang="en-US" sz="2200" dirty="0" err="1">
                <a:latin typeface="Times New Roman" panose="02020603050405020304" pitchFamily="18" charset="0"/>
                <a:cs typeface="Times New Roman" panose="02020603050405020304" pitchFamily="18" charset="0"/>
              </a:rPr>
              <a:t>predecoder</a:t>
            </a:r>
            <a:r>
              <a:rPr lang="en-US" sz="2200" dirty="0">
                <a:latin typeface="Times New Roman" panose="02020603050405020304" pitchFamily="18" charset="0"/>
                <a:cs typeface="Times New Roman" panose="02020603050405020304" pitchFamily="18" charset="0"/>
              </a:rPr>
              <a:t> lines, word-lines, and bit-lines.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typical implementation example is a 2K × 18 ROM designed using 0.6 µm technology, operating at a supply voltage of 3.3 V and a clock frequency of 10 </a:t>
            </a:r>
            <a:r>
              <a:rPr lang="en-US" sz="2200" dirty="0" err="1">
                <a:latin typeface="Times New Roman" panose="02020603050405020304" pitchFamily="18" charset="0"/>
                <a:cs typeface="Times New Roman" panose="02020603050405020304" pitchFamily="18" charset="0"/>
              </a:rPr>
              <a:t>MHz.</a:t>
            </a:r>
            <a:endParaRPr lang="en-US" sz="22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Among all sources of power consumption, the </a:t>
            </a:r>
            <a:r>
              <a:rPr lang="en-US" sz="2200" dirty="0" err="1">
                <a:latin typeface="Times New Roman" panose="02020603050405020304" pitchFamily="18" charset="0"/>
                <a:cs typeface="Times New Roman" panose="02020603050405020304" pitchFamily="18" charset="0"/>
              </a:rPr>
              <a:t>precharging</a:t>
            </a:r>
            <a:r>
              <a:rPr lang="en-US" sz="2200" dirty="0">
                <a:latin typeface="Times New Roman" panose="02020603050405020304" pitchFamily="18" charset="0"/>
                <a:cs typeface="Times New Roman" panose="02020603050405020304" pitchFamily="18" charset="0"/>
              </a:rPr>
              <a:t> of bit-lines in the ROM core contributes the largest share of total power dissipation.</a:t>
            </a: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58722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57CF-BC16-60D8-384B-4A6BEEFC2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ED6C5-F3CA-1A2B-0811-50858EB24ABD}"/>
              </a:ext>
            </a:extLst>
          </p:cNvPr>
          <p:cNvSpPr>
            <a:spLocks noGrp="1"/>
          </p:cNvSpPr>
          <p:nvPr>
            <p:ph type="title"/>
          </p:nvPr>
        </p:nvSpPr>
        <p:spPr>
          <a:xfrm>
            <a:off x="838200" y="365126"/>
            <a:ext cx="10515600" cy="482040"/>
          </a:xfrm>
        </p:spPr>
        <p:txBody>
          <a:bodyPr>
            <a:noAutofit/>
          </a:bodyPr>
          <a:lstStyle/>
          <a:p>
            <a:r>
              <a:rPr lang="en-IN" sz="3500" b="1">
                <a:solidFill>
                  <a:schemeClr val="tx1"/>
                </a:solidFill>
                <a:latin typeface="Times New Roman" panose="02020603050405020304" pitchFamily="18" charset="0"/>
                <a:cs typeface="Times New Roman" panose="02020603050405020304" pitchFamily="18" charset="0"/>
              </a:rPr>
              <a:t>Low-Power ROM Technology</a:t>
            </a:r>
            <a:endParaRPr lang="en-IN" sz="35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32A9F7-C89B-8524-6D40-EC284AE00C63}"/>
              </a:ext>
            </a:extLst>
          </p:cNvPr>
          <p:cNvSpPr>
            <a:spLocks noGrp="1"/>
          </p:cNvSpPr>
          <p:nvPr>
            <p:ph idx="1"/>
          </p:nvPr>
        </p:nvSpPr>
        <p:spPr>
          <a:xfrm>
            <a:off x="1139857" y="1025858"/>
            <a:ext cx="10515600" cy="5047410"/>
          </a:xfrm>
        </p:spPr>
        <p:txBody>
          <a:bodyPr>
            <a:norm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high power consumption is mainly due to the large capacitance of bit-lines, which are connected to the drains of multiple transistors within the memory array.</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Additionally, during each memory access, multiple bit-lines are switched simultaneously, further increasing dynamic power consumption.</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use of a column multiplexer with a 12:1 ratio results in unnecessary switching activity, where more bit-lines are activated than required for a single data read operation.</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Consequently, instead of switching only one bit-line, several additional bit-lines (at least four in this case) are also switched, leading to increased power loss.</a:t>
            </a: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endParaRPr lang="en-US"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6CC8209-6313-6FCF-E21A-7EE7E1F2C39B}"/>
              </a:ext>
            </a:extLst>
          </p:cNvPr>
          <p:cNvPicPr>
            <a:picLocks noChangeAspect="1"/>
          </p:cNvPicPr>
          <p:nvPr/>
        </p:nvPicPr>
        <p:blipFill>
          <a:blip r:embed="rId2"/>
          <a:stretch>
            <a:fillRect/>
          </a:stretch>
        </p:blipFill>
        <p:spPr>
          <a:xfrm>
            <a:off x="3518783" y="4343848"/>
            <a:ext cx="4701947" cy="2149026"/>
          </a:xfrm>
          <a:prstGeom prst="rect">
            <a:avLst/>
          </a:prstGeom>
        </p:spPr>
      </p:pic>
    </p:spTree>
    <p:extLst>
      <p:ext uri="{BB962C8B-B14F-4D97-AF65-F5344CB8AC3E}">
        <p14:creationId xmlns:p14="http://schemas.microsoft.com/office/powerpoint/2010/main" val="29458495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83531-B8CB-4473-BE75-8011F0899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07FAA6-8EBF-641A-0C98-5FBDA785133F}"/>
              </a:ext>
            </a:extLst>
          </p:cNvPr>
          <p:cNvSpPr>
            <a:spLocks noGrp="1"/>
          </p:cNvSpPr>
          <p:nvPr>
            <p:ph type="title"/>
          </p:nvPr>
        </p:nvSpPr>
        <p:spPr>
          <a:xfrm>
            <a:off x="838200" y="365126"/>
            <a:ext cx="10515600" cy="482040"/>
          </a:xfrm>
        </p:spPr>
        <p:txBody>
          <a:bodyPr>
            <a:noAutofit/>
          </a:bodyPr>
          <a:lstStyle/>
          <a:p>
            <a:r>
              <a:rPr lang="en-IN" sz="3500" b="1">
                <a:solidFill>
                  <a:schemeClr val="tx1"/>
                </a:solidFill>
                <a:latin typeface="Times New Roman" panose="02020603050405020304" pitchFamily="18" charset="0"/>
                <a:cs typeface="Times New Roman" panose="02020603050405020304" pitchFamily="18" charset="0"/>
              </a:rPr>
              <a:t>Low-Power ROM Technology</a:t>
            </a:r>
            <a:endParaRPr lang="en-IN" sz="35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77EA87E-F581-93D3-75DD-1DC2CF1507D1}"/>
              </a:ext>
            </a:extLst>
          </p:cNvPr>
          <p:cNvSpPr>
            <a:spLocks noGrp="1"/>
          </p:cNvSpPr>
          <p:nvPr>
            <p:ph idx="1"/>
          </p:nvPr>
        </p:nvSpPr>
        <p:spPr>
          <a:xfrm>
            <a:off x="1139857" y="1025858"/>
            <a:ext cx="10515600" cy="5047410"/>
          </a:xfrm>
        </p:spPr>
        <p:txBody>
          <a:bodyPr>
            <a:normAutofit fontScale="85000" lnSpcReduction="20000"/>
          </a:bodyPr>
          <a:lstStyle/>
          <a:p>
            <a:pPr marL="0" indent="0" algn="just">
              <a:buNone/>
            </a:pPr>
            <a:r>
              <a:rPr lang="en-US" sz="2800" b="1" dirty="0">
                <a:latin typeface="Times New Roman" panose="02020603050405020304" pitchFamily="18" charset="0"/>
                <a:cs typeface="Times New Roman" panose="02020603050405020304" pitchFamily="18" charset="0"/>
              </a:rPr>
              <a:t>Low-power techniques at architecture level:</a:t>
            </a:r>
          </a:p>
          <a:p>
            <a:pPr marL="0" indent="0" algn="just">
              <a:buNone/>
            </a:pPr>
            <a:endParaRPr lang="en-US" sz="2400" b="1" dirty="0">
              <a:latin typeface="Times New Roman" panose="02020603050405020304" pitchFamily="18" charset="0"/>
              <a:cs typeface="Times New Roman" panose="02020603050405020304" pitchFamily="18" charset="0"/>
            </a:endParaRPr>
          </a:p>
          <a:p>
            <a:pPr marL="514350" indent="-514350" algn="just">
              <a:buAutoNum type="romanLcParenR"/>
            </a:pPr>
            <a:r>
              <a:rPr lang="en-US" sz="2400" b="1" dirty="0">
                <a:latin typeface="Times New Roman" panose="02020603050405020304" pitchFamily="18" charset="0"/>
                <a:cs typeface="Times New Roman" panose="02020603050405020304" pitchFamily="18" charset="0"/>
              </a:rPr>
              <a:t>Divided Hierarchical Word-Line Structure: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divided hierarchical word-line technique partitions the memory core into smaller subblocks to reduce power consumption.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Global and local word-lines are implemented in different layers to enable efficient memory access.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Only the selected subblock is activated during a read operation, reducing unnecessary switching activity.</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approach can be applied to both SRAM and ROM architectures for power optimization.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However, due to layout constraints, a minimum multiplexer ratio (e.g., 4:1) is still required.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a result, multiple bit-lines may still switch, leading to some remaining power loss.</a:t>
            </a: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 </a:t>
            </a:r>
          </a:p>
          <a:p>
            <a:pPr marL="0" indent="0" algn="just">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2213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51096-ADA8-4C68-818C-4F111F9943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E14E3-60EA-6969-1648-632C0FB7C246}"/>
              </a:ext>
            </a:extLst>
          </p:cNvPr>
          <p:cNvSpPr>
            <a:spLocks noGrp="1"/>
          </p:cNvSpPr>
          <p:nvPr>
            <p:ph type="title"/>
          </p:nvPr>
        </p:nvSpPr>
        <p:spPr>
          <a:xfrm>
            <a:off x="838200" y="365126"/>
            <a:ext cx="10515600" cy="482040"/>
          </a:xfrm>
        </p:spPr>
        <p:txBody>
          <a:bodyPr>
            <a:noAutofit/>
          </a:bodyPr>
          <a:lstStyle/>
          <a:p>
            <a:r>
              <a:rPr lang="en-IN" sz="3500" b="1">
                <a:solidFill>
                  <a:schemeClr val="tx1"/>
                </a:solidFill>
                <a:latin typeface="Times New Roman" panose="02020603050405020304" pitchFamily="18" charset="0"/>
                <a:cs typeface="Times New Roman" panose="02020603050405020304" pitchFamily="18" charset="0"/>
              </a:rPr>
              <a:t>Low-Power ROM Technology</a:t>
            </a:r>
            <a:endParaRPr lang="en-IN" sz="35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622DD0-5A11-0F56-869E-283B48274728}"/>
              </a:ext>
            </a:extLst>
          </p:cNvPr>
          <p:cNvSpPr>
            <a:spLocks noGrp="1"/>
          </p:cNvSpPr>
          <p:nvPr>
            <p:ph idx="1"/>
          </p:nvPr>
        </p:nvSpPr>
        <p:spPr>
          <a:xfrm>
            <a:off x="1139857" y="1025858"/>
            <a:ext cx="10515600" cy="5047410"/>
          </a:xfrm>
        </p:spPr>
        <p:txBody>
          <a:bodyPr>
            <a:normAutofit fontScale="85000" lnSpcReduction="20000"/>
          </a:bodyPr>
          <a:lstStyle/>
          <a:p>
            <a:pPr marL="0" indent="0" algn="just">
              <a:buNone/>
            </a:pPr>
            <a:r>
              <a:rPr lang="en-US" sz="2800" b="1" dirty="0">
                <a:latin typeface="Times New Roman" panose="02020603050405020304" pitchFamily="18" charset="0"/>
                <a:cs typeface="Times New Roman" panose="02020603050405020304" pitchFamily="18" charset="0"/>
              </a:rPr>
              <a:t>Low-power techniques at architecture level:</a:t>
            </a:r>
            <a:endParaRPr lang="en-US" sz="2400" b="1"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ii) Selective </a:t>
            </a:r>
            <a:r>
              <a:rPr lang="en-US" sz="2400" b="1" dirty="0" err="1">
                <a:latin typeface="Times New Roman" panose="02020603050405020304" pitchFamily="18" charset="0"/>
                <a:cs typeface="Times New Roman" panose="02020603050405020304" pitchFamily="18" charset="0"/>
              </a:rPr>
              <a:t>Precharge</a:t>
            </a:r>
            <a:r>
              <a:rPr lang="en-US" sz="2400" b="1"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In conventional operation, all bit-lines are </a:t>
            </a:r>
            <a:r>
              <a:rPr lang="en-US" sz="2600" dirty="0" err="1">
                <a:latin typeface="Times New Roman" panose="02020603050405020304" pitchFamily="18" charset="0"/>
                <a:cs typeface="Times New Roman" panose="02020603050405020304" pitchFamily="18" charset="0"/>
              </a:rPr>
              <a:t>precharged</a:t>
            </a:r>
            <a:r>
              <a:rPr lang="en-US" sz="2600" dirty="0">
                <a:latin typeface="Times New Roman" panose="02020603050405020304" pitchFamily="18" charset="0"/>
                <a:cs typeface="Times New Roman" panose="02020603050405020304" pitchFamily="18" charset="0"/>
              </a:rPr>
              <a:t> to a high voltage at the beginning of each cycle.</a:t>
            </a:r>
          </a:p>
          <a:p>
            <a:pPr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This results in large capacitance switching, as many bit-lines discharge even when they are not accessed.</a:t>
            </a:r>
          </a:p>
          <a:p>
            <a:pPr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Consequently, unnecessary switching leads to excessive dynamic power dissipation.</a:t>
            </a:r>
          </a:p>
          <a:p>
            <a:pPr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selective </a:t>
            </a:r>
            <a:r>
              <a:rPr lang="en-US" sz="2600" dirty="0" err="1">
                <a:latin typeface="Times New Roman" panose="02020603050405020304" pitchFamily="18" charset="0"/>
                <a:cs typeface="Times New Roman" panose="02020603050405020304" pitchFamily="18" charset="0"/>
              </a:rPr>
              <a:t>precharge</a:t>
            </a:r>
            <a:r>
              <a:rPr lang="en-US" sz="2600" dirty="0">
                <a:latin typeface="Times New Roman" panose="02020603050405020304" pitchFamily="18" charset="0"/>
                <a:cs typeface="Times New Roman" panose="02020603050405020304" pitchFamily="18" charset="0"/>
              </a:rPr>
              <a:t> technique overcomes this by </a:t>
            </a:r>
            <a:r>
              <a:rPr lang="en-US" sz="2600" dirty="0" err="1">
                <a:latin typeface="Times New Roman" panose="02020603050405020304" pitchFamily="18" charset="0"/>
                <a:cs typeface="Times New Roman" panose="02020603050405020304" pitchFamily="18" charset="0"/>
              </a:rPr>
              <a:t>precharging</a:t>
            </a:r>
            <a:r>
              <a:rPr lang="en-US" sz="2600" dirty="0">
                <a:latin typeface="Times New Roman" panose="02020603050405020304" pitchFamily="18" charset="0"/>
                <a:cs typeface="Times New Roman" panose="02020603050405020304" pitchFamily="18" charset="0"/>
              </a:rPr>
              <a:t> only the bit-lines that are required for the read operation.</a:t>
            </a:r>
          </a:p>
          <a:p>
            <a:pPr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This significantly reduces switching activity and improves power efficiency.</a:t>
            </a:r>
          </a:p>
          <a:p>
            <a:pPr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method is cost-effective since it uses existing control logic with minimal additional hardware overhead.</a:t>
            </a: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 </a:t>
            </a:r>
          </a:p>
          <a:p>
            <a:pPr marL="0" indent="0" algn="just">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33968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7865A-741F-9299-557E-EC1B689EF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BA345-3F7B-5B45-D439-C2EA040C0E8A}"/>
              </a:ext>
            </a:extLst>
          </p:cNvPr>
          <p:cNvSpPr>
            <a:spLocks noGrp="1"/>
          </p:cNvSpPr>
          <p:nvPr>
            <p:ph type="title"/>
          </p:nvPr>
        </p:nvSpPr>
        <p:spPr>
          <a:xfrm>
            <a:off x="838200" y="365126"/>
            <a:ext cx="10515600" cy="482040"/>
          </a:xfrm>
        </p:spPr>
        <p:txBody>
          <a:bodyPr>
            <a:noAutofit/>
          </a:bodyPr>
          <a:lstStyle/>
          <a:p>
            <a:r>
              <a:rPr lang="en-IN" sz="3500" b="1">
                <a:solidFill>
                  <a:schemeClr val="tx1"/>
                </a:solidFill>
                <a:latin typeface="Times New Roman" panose="02020603050405020304" pitchFamily="18" charset="0"/>
                <a:cs typeface="Times New Roman" panose="02020603050405020304" pitchFamily="18" charset="0"/>
              </a:rPr>
              <a:t>Low-Power ROM Technology</a:t>
            </a:r>
            <a:endParaRPr lang="en-IN" sz="35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CF71114-40AC-49F0-C7DA-D358F214836E}"/>
              </a:ext>
            </a:extLst>
          </p:cNvPr>
          <p:cNvSpPr>
            <a:spLocks noGrp="1"/>
          </p:cNvSpPr>
          <p:nvPr>
            <p:ph idx="1"/>
          </p:nvPr>
        </p:nvSpPr>
        <p:spPr>
          <a:xfrm>
            <a:off x="1139857" y="1025858"/>
            <a:ext cx="10515600" cy="5047410"/>
          </a:xfrm>
        </p:spPr>
        <p:txBody>
          <a:bodyPr>
            <a:normAutofit fontScale="55000" lnSpcReduction="20000"/>
          </a:bodyPr>
          <a:lstStyle/>
          <a:p>
            <a:pPr marL="0" indent="0" algn="just">
              <a:buNone/>
            </a:pPr>
            <a:r>
              <a:rPr lang="en-US" sz="4700" b="1" dirty="0">
                <a:latin typeface="Times New Roman" panose="02020603050405020304" pitchFamily="18" charset="0"/>
                <a:cs typeface="Times New Roman" panose="02020603050405020304" pitchFamily="18" charset="0"/>
              </a:rPr>
              <a:t>Low-power techniques at architecture level:</a:t>
            </a: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r>
              <a:rPr lang="en-US" sz="4400" b="1" dirty="0">
                <a:latin typeface="Times New Roman" panose="02020603050405020304" pitchFamily="18" charset="0"/>
                <a:cs typeface="Times New Roman" panose="02020603050405020304" pitchFamily="18" charset="0"/>
              </a:rPr>
              <a:t>iii) Difference encoding:</a:t>
            </a:r>
          </a:p>
          <a:p>
            <a:pPr algn="just">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In applications such as digital filters, ROM data is accessed sequentially and adjacent values often change gradually.</a:t>
            </a:r>
          </a:p>
          <a:p>
            <a:pPr algn="just">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Instead of storing complete data values, only the difference between consecutive data values is stored, reducing memory size.</a:t>
            </a:r>
          </a:p>
          <a:p>
            <a:pPr algn="just">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This technique, known as difference encoding, helps minimize the overall ROM core area.</a:t>
            </a:r>
          </a:p>
          <a:p>
            <a:pPr algn="just">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The original data must be reconstructed using an adder, which introduces additional hardware complexity.</a:t>
            </a:r>
          </a:p>
          <a:p>
            <a:pPr algn="just">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A variation of this method stores differences relative to fixed constants (offsets) to further optimize storage.</a:t>
            </a:r>
          </a:p>
          <a:p>
            <a:pPr marL="0" indent="0" algn="just">
              <a:buNone/>
            </a:pPr>
            <a:endParaRPr lang="en-US" sz="2600" dirty="0">
              <a:latin typeface="Times New Roman" panose="02020603050405020304" pitchFamily="18" charset="0"/>
              <a:cs typeface="Times New Roman" panose="02020603050405020304" pitchFamily="18" charset="0"/>
            </a:endParaRP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 </a:t>
            </a:r>
          </a:p>
          <a:p>
            <a:pPr marL="0" indent="0" algn="just">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7380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555D3-FC2D-0A05-7EF0-7449C1AD5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38A65-73A7-EF8B-2494-0B158FBF29C8}"/>
              </a:ext>
            </a:extLst>
          </p:cNvPr>
          <p:cNvSpPr>
            <a:spLocks noGrp="1"/>
          </p:cNvSpPr>
          <p:nvPr>
            <p:ph type="title"/>
          </p:nvPr>
        </p:nvSpPr>
        <p:spPr>
          <a:xfrm>
            <a:off x="838200" y="365126"/>
            <a:ext cx="10515600" cy="482040"/>
          </a:xfrm>
        </p:spPr>
        <p:txBody>
          <a:bodyPr>
            <a:noAutofit/>
          </a:bodyPr>
          <a:lstStyle/>
          <a:p>
            <a:r>
              <a:rPr lang="en-IN" sz="3500" b="1">
                <a:solidFill>
                  <a:schemeClr val="tx1"/>
                </a:solidFill>
                <a:latin typeface="Times New Roman" panose="02020603050405020304" pitchFamily="18" charset="0"/>
                <a:cs typeface="Times New Roman" panose="02020603050405020304" pitchFamily="18" charset="0"/>
              </a:rPr>
              <a:t>Low-Power ROM Technology</a:t>
            </a:r>
            <a:endParaRPr lang="en-IN" sz="35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1CCC671-C019-2779-B56F-D87A1ED69392}"/>
              </a:ext>
            </a:extLst>
          </p:cNvPr>
          <p:cNvSpPr>
            <a:spLocks noGrp="1"/>
          </p:cNvSpPr>
          <p:nvPr>
            <p:ph idx="1"/>
          </p:nvPr>
        </p:nvSpPr>
        <p:spPr>
          <a:xfrm>
            <a:off x="1139857" y="1025858"/>
            <a:ext cx="10515600" cy="5356088"/>
          </a:xfrm>
        </p:spPr>
        <p:txBody>
          <a:bodyPr>
            <a:normAutofit fontScale="40000" lnSpcReduction="20000"/>
          </a:bodyPr>
          <a:lstStyle/>
          <a:p>
            <a:pPr marL="0" indent="0" algn="just">
              <a:buNone/>
            </a:pPr>
            <a:r>
              <a:rPr lang="en-US" sz="7400" b="1" dirty="0">
                <a:latin typeface="Times New Roman" panose="02020603050405020304" pitchFamily="18" charset="0"/>
                <a:cs typeface="Times New Roman" panose="02020603050405020304" pitchFamily="18" charset="0"/>
              </a:rPr>
              <a:t>Low-power techniques at circuit level :</a:t>
            </a:r>
            <a:endParaRPr lang="en-US" sz="2400" b="1" dirty="0">
              <a:latin typeface="Times New Roman" panose="02020603050405020304" pitchFamily="18" charset="0"/>
              <a:cs typeface="Times New Roman" panose="02020603050405020304" pitchFamily="18" charset="0"/>
            </a:endParaRPr>
          </a:p>
          <a:p>
            <a:pPr marL="0" indent="0" algn="just">
              <a:buNone/>
            </a:pPr>
            <a:r>
              <a:rPr lang="en-IN" sz="5100" b="1" dirty="0" err="1">
                <a:latin typeface="Times New Roman" panose="02020603050405020304" pitchFamily="18" charset="0"/>
                <a:cs typeface="Times New Roman" panose="02020603050405020304" pitchFamily="18" charset="0"/>
              </a:rPr>
              <a:t>i</a:t>
            </a:r>
            <a:r>
              <a:rPr lang="en-IN" sz="5100" b="1" dirty="0">
                <a:latin typeface="Times New Roman" panose="02020603050405020304" pitchFamily="18" charset="0"/>
                <a:cs typeface="Times New Roman" panose="02020603050405020304" pitchFamily="18" charset="0"/>
              </a:rPr>
              <a:t>) </a:t>
            </a:r>
            <a:r>
              <a:rPr lang="en-IN" sz="5100" b="1" dirty="0" err="1">
                <a:latin typeface="Times New Roman" panose="02020603050405020304" pitchFamily="18" charset="0"/>
                <a:cs typeface="Times New Roman" panose="02020603050405020304" pitchFamily="18" charset="0"/>
              </a:rPr>
              <a:t>nMOS</a:t>
            </a:r>
            <a:r>
              <a:rPr lang="en-IN" sz="5100" b="1" dirty="0">
                <a:latin typeface="Times New Roman" panose="02020603050405020304" pitchFamily="18" charset="0"/>
                <a:cs typeface="Times New Roman" panose="02020603050405020304" pitchFamily="18" charset="0"/>
              </a:rPr>
              <a:t> </a:t>
            </a:r>
            <a:r>
              <a:rPr lang="en-IN" sz="5100" b="1" dirty="0" err="1">
                <a:latin typeface="Times New Roman" panose="02020603050405020304" pitchFamily="18" charset="0"/>
                <a:cs typeface="Times New Roman" panose="02020603050405020304" pitchFamily="18" charset="0"/>
              </a:rPr>
              <a:t>precharge</a:t>
            </a:r>
            <a:r>
              <a:rPr lang="en-IN" sz="5100" b="1"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IN" sz="5100" b="1" dirty="0">
                <a:latin typeface="Times New Roman" panose="02020603050405020304" pitchFamily="18" charset="0"/>
                <a:cs typeface="Times New Roman" panose="02020603050405020304" pitchFamily="18" charset="0"/>
              </a:rPr>
              <a:t> </a:t>
            </a:r>
            <a:r>
              <a:rPr lang="en-US" sz="5100" dirty="0">
                <a:latin typeface="Times New Roman" panose="02020603050405020304" pitchFamily="18" charset="0"/>
                <a:cs typeface="Times New Roman" panose="02020603050405020304" pitchFamily="18" charset="0"/>
              </a:rPr>
              <a:t>Voltage swing reduction is an effective technique to minimize power dissipation in ROM bit-lines.</a:t>
            </a:r>
          </a:p>
          <a:p>
            <a:pPr algn="just">
              <a:buFont typeface="Arial" panose="020B0604020202020204" pitchFamily="34" charset="0"/>
              <a:buChar char="•"/>
            </a:pPr>
            <a:r>
              <a:rPr lang="en-US" sz="5100" dirty="0">
                <a:latin typeface="Times New Roman" panose="02020603050405020304" pitchFamily="18" charset="0"/>
                <a:cs typeface="Times New Roman" panose="02020603050405020304" pitchFamily="18" charset="0"/>
              </a:rPr>
              <a:t>Using </a:t>
            </a:r>
            <a:r>
              <a:rPr lang="en-US" sz="5100" dirty="0" err="1">
                <a:latin typeface="Times New Roman" panose="02020603050405020304" pitchFamily="18" charset="0"/>
                <a:cs typeface="Times New Roman" panose="02020603050405020304" pitchFamily="18" charset="0"/>
              </a:rPr>
              <a:t>nMOS</a:t>
            </a:r>
            <a:r>
              <a:rPr lang="en-US" sz="5100" dirty="0">
                <a:latin typeface="Times New Roman" panose="02020603050405020304" pitchFamily="18" charset="0"/>
                <a:cs typeface="Times New Roman" panose="02020603050405020304" pitchFamily="18" charset="0"/>
              </a:rPr>
              <a:t> transistors for </a:t>
            </a:r>
            <a:r>
              <a:rPr lang="en-US" sz="5100" dirty="0" err="1">
                <a:latin typeface="Times New Roman" panose="02020603050405020304" pitchFamily="18" charset="0"/>
                <a:cs typeface="Times New Roman" panose="02020603050405020304" pitchFamily="18" charset="0"/>
              </a:rPr>
              <a:t>precharging</a:t>
            </a:r>
            <a:r>
              <a:rPr lang="en-US" sz="5100" dirty="0">
                <a:latin typeface="Times New Roman" panose="02020603050405020304" pitchFamily="18" charset="0"/>
                <a:cs typeface="Times New Roman" panose="02020603050405020304" pitchFamily="18" charset="0"/>
              </a:rPr>
              <a:t> limits the bit-line voltage to V</a:t>
            </a:r>
            <a:r>
              <a:rPr lang="en-US" sz="5100" baseline="-25000" dirty="0">
                <a:latin typeface="Times New Roman" panose="02020603050405020304" pitchFamily="18" charset="0"/>
                <a:cs typeface="Times New Roman" panose="02020603050405020304" pitchFamily="18" charset="0"/>
              </a:rPr>
              <a:t>DD</a:t>
            </a:r>
            <a:r>
              <a:rPr lang="en-US" sz="5100" dirty="0">
                <a:latin typeface="Times New Roman" panose="02020603050405020304" pitchFamily="18" charset="0"/>
                <a:cs typeface="Times New Roman" panose="02020603050405020304" pitchFamily="18" charset="0"/>
              </a:rPr>
              <a:t> – V</a:t>
            </a:r>
            <a:r>
              <a:rPr lang="en-US" sz="5100" baseline="-25000" dirty="0">
                <a:latin typeface="Times New Roman" panose="02020603050405020304" pitchFamily="18" charset="0"/>
                <a:cs typeface="Times New Roman" panose="02020603050405020304" pitchFamily="18" charset="0"/>
              </a:rPr>
              <a:t>T</a:t>
            </a:r>
            <a:r>
              <a:rPr lang="en-US" sz="5100" dirty="0">
                <a:latin typeface="Times New Roman" panose="02020603050405020304" pitchFamily="18" charset="0"/>
                <a:cs typeface="Times New Roman" panose="02020603050405020304" pitchFamily="18" charset="0"/>
              </a:rPr>
              <a:t>, where V</a:t>
            </a:r>
            <a:r>
              <a:rPr lang="en-US" sz="5100" baseline="-25000" dirty="0">
                <a:latin typeface="Times New Roman" panose="02020603050405020304" pitchFamily="18" charset="0"/>
                <a:cs typeface="Times New Roman" panose="02020603050405020304" pitchFamily="18" charset="0"/>
              </a:rPr>
              <a:t>T </a:t>
            </a:r>
            <a:r>
              <a:rPr lang="en-US" sz="5100" dirty="0">
                <a:latin typeface="Times New Roman" panose="02020603050405020304" pitchFamily="18" charset="0"/>
                <a:cs typeface="Times New Roman" panose="02020603050405020304" pitchFamily="18" charset="0"/>
              </a:rPr>
              <a:t>is the threshold voltage.</a:t>
            </a:r>
          </a:p>
          <a:p>
            <a:pPr algn="just">
              <a:buFont typeface="Arial" panose="020B0604020202020204" pitchFamily="34" charset="0"/>
              <a:buChar char="•"/>
            </a:pPr>
            <a:r>
              <a:rPr lang="en-US" sz="5100" dirty="0">
                <a:latin typeface="Times New Roman" panose="02020603050405020304" pitchFamily="18" charset="0"/>
                <a:cs typeface="Times New Roman" panose="02020603050405020304" pitchFamily="18" charset="0"/>
              </a:rPr>
              <a:t>As a result, bit-lines switch between</a:t>
            </a:r>
            <a:r>
              <a:rPr lang="en-US" sz="5100" baseline="-25000" dirty="0">
                <a:latin typeface="Times New Roman" panose="02020603050405020304" pitchFamily="18" charset="0"/>
                <a:cs typeface="Times New Roman" panose="02020603050405020304" pitchFamily="18" charset="0"/>
              </a:rPr>
              <a:t> </a:t>
            </a:r>
            <a:r>
              <a:rPr lang="en-US" sz="5100" dirty="0">
                <a:latin typeface="Times New Roman" panose="02020603050405020304" pitchFamily="18" charset="0"/>
                <a:cs typeface="Times New Roman" panose="02020603050405020304" pitchFamily="18" charset="0"/>
              </a:rPr>
              <a:t>V</a:t>
            </a:r>
            <a:r>
              <a:rPr lang="en-US" sz="5100" baseline="-25000" dirty="0">
                <a:latin typeface="Times New Roman" panose="02020603050405020304" pitchFamily="18" charset="0"/>
                <a:cs typeface="Times New Roman" panose="02020603050405020304" pitchFamily="18" charset="0"/>
              </a:rPr>
              <a:t>DD</a:t>
            </a:r>
            <a:r>
              <a:rPr lang="en-US" sz="5100" dirty="0">
                <a:latin typeface="Times New Roman" panose="02020603050405020304" pitchFamily="18" charset="0"/>
                <a:cs typeface="Times New Roman" panose="02020603050405020304" pitchFamily="18" charset="0"/>
              </a:rPr>
              <a:t> – V</a:t>
            </a:r>
            <a:r>
              <a:rPr lang="en-US" sz="5100" baseline="-25000" dirty="0">
                <a:latin typeface="Times New Roman" panose="02020603050405020304" pitchFamily="18" charset="0"/>
                <a:cs typeface="Times New Roman" panose="02020603050405020304" pitchFamily="18" charset="0"/>
              </a:rPr>
              <a:t>T   </a:t>
            </a:r>
            <a:r>
              <a:rPr lang="en-US" sz="5100" dirty="0">
                <a:latin typeface="Times New Roman" panose="02020603050405020304" pitchFamily="18" charset="0"/>
                <a:cs typeface="Times New Roman" panose="02020603050405020304" pitchFamily="18" charset="0"/>
              </a:rPr>
              <a:t>and ground, reducing voltage swing and dynamic power consumption.</a:t>
            </a:r>
          </a:p>
          <a:p>
            <a:pPr algn="just">
              <a:buFont typeface="Arial" panose="020B0604020202020204" pitchFamily="34" charset="0"/>
              <a:buChar char="•"/>
            </a:pPr>
            <a:r>
              <a:rPr lang="en-US" sz="5100" dirty="0">
                <a:latin typeface="Times New Roman" panose="02020603050405020304" pitchFamily="18" charset="0"/>
                <a:cs typeface="Times New Roman" panose="02020603050405020304" pitchFamily="18" charset="0"/>
              </a:rPr>
              <a:t>This leads to significant power savings due to lower capacitive switching.</a:t>
            </a:r>
          </a:p>
          <a:p>
            <a:pPr algn="just">
              <a:buFont typeface="Arial" panose="020B0604020202020204" pitchFamily="34" charset="0"/>
              <a:buChar char="•"/>
            </a:pPr>
            <a:r>
              <a:rPr lang="en-US" sz="5100" dirty="0">
                <a:latin typeface="Times New Roman" panose="02020603050405020304" pitchFamily="18" charset="0"/>
                <a:cs typeface="Times New Roman" panose="02020603050405020304" pitchFamily="18" charset="0"/>
              </a:rPr>
              <a:t>However, the technique degrades noise margin and is affected by body bias, which increases threshold voltage.</a:t>
            </a:r>
          </a:p>
          <a:p>
            <a:pPr algn="just">
              <a:buFont typeface="Arial" panose="020B0604020202020204" pitchFamily="34" charset="0"/>
              <a:buChar char="•"/>
            </a:pPr>
            <a:r>
              <a:rPr lang="en-US" sz="5100" dirty="0">
                <a:latin typeface="Times New Roman" panose="02020603050405020304" pitchFamily="18" charset="0"/>
                <a:cs typeface="Times New Roman" panose="02020603050405020304" pitchFamily="18" charset="0"/>
              </a:rPr>
              <a:t>Therefore, careful design of output drivers is required to ensure reliable operation.</a:t>
            </a:r>
          </a:p>
          <a:p>
            <a:pPr marL="0" indent="0" algn="just">
              <a:buNone/>
            </a:pPr>
            <a:endParaRPr lang="en-US" sz="5100" baseline="-25000" dirty="0">
              <a:latin typeface="Times New Roman" panose="02020603050405020304" pitchFamily="18" charset="0"/>
              <a:cs typeface="Times New Roman" panose="02020603050405020304" pitchFamily="18" charset="0"/>
            </a:endParaRP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 </a:t>
            </a:r>
          </a:p>
          <a:p>
            <a:pPr marL="0" indent="0" algn="just">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77740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D0CA6-6A88-B9C8-0B7A-3D5C217F4F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120AEE-0CBA-AC86-6416-D4FA9C0D873D}"/>
              </a:ext>
            </a:extLst>
          </p:cNvPr>
          <p:cNvSpPr>
            <a:spLocks noGrp="1"/>
          </p:cNvSpPr>
          <p:nvPr>
            <p:ph type="title"/>
          </p:nvPr>
        </p:nvSpPr>
        <p:spPr>
          <a:xfrm>
            <a:off x="838200" y="365126"/>
            <a:ext cx="10515600" cy="482040"/>
          </a:xfrm>
        </p:spPr>
        <p:txBody>
          <a:bodyPr>
            <a:noAutofit/>
          </a:bodyPr>
          <a:lstStyle/>
          <a:p>
            <a:r>
              <a:rPr lang="en-IN" sz="3500" b="1">
                <a:solidFill>
                  <a:schemeClr val="tx1"/>
                </a:solidFill>
                <a:latin typeface="Times New Roman" panose="02020603050405020304" pitchFamily="18" charset="0"/>
                <a:cs typeface="Times New Roman" panose="02020603050405020304" pitchFamily="18" charset="0"/>
              </a:rPr>
              <a:t>Low-Power ROM Technology</a:t>
            </a:r>
            <a:endParaRPr lang="en-IN" sz="35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63EFE10-CCC7-A759-8013-A5B3C945BF3F}"/>
              </a:ext>
            </a:extLst>
          </p:cNvPr>
          <p:cNvSpPr>
            <a:spLocks noGrp="1"/>
          </p:cNvSpPr>
          <p:nvPr>
            <p:ph idx="1"/>
          </p:nvPr>
        </p:nvSpPr>
        <p:spPr>
          <a:xfrm>
            <a:off x="1139857" y="1025858"/>
            <a:ext cx="10515600" cy="5356088"/>
          </a:xfrm>
        </p:spPr>
        <p:txBody>
          <a:bodyPr>
            <a:normAutofit fontScale="70000" lnSpcReduction="20000"/>
          </a:bodyPr>
          <a:lstStyle/>
          <a:p>
            <a:pPr marL="0" indent="0" algn="just">
              <a:buNone/>
            </a:pPr>
            <a:r>
              <a:rPr lang="en-US" sz="3500" b="1" dirty="0">
                <a:latin typeface="Times New Roman" panose="02020603050405020304" pitchFamily="18" charset="0"/>
                <a:cs typeface="Times New Roman" panose="02020603050405020304" pitchFamily="18" charset="0"/>
              </a:rPr>
              <a:t>Low-power techniques at circuit level :</a:t>
            </a:r>
          </a:p>
          <a:p>
            <a:pPr marL="0" indent="0" algn="just">
              <a:buNone/>
            </a:pPr>
            <a:r>
              <a:rPr lang="en-IN" sz="3500" b="1" dirty="0">
                <a:latin typeface="Times New Roman" panose="02020603050405020304" pitchFamily="18" charset="0"/>
                <a:cs typeface="Times New Roman" panose="02020603050405020304" pitchFamily="18" charset="0"/>
              </a:rPr>
              <a:t>ii) Voltage scaling:</a:t>
            </a:r>
          </a:p>
          <a:p>
            <a:pPr algn="just">
              <a:buFont typeface="Arial" panose="020B0604020202020204" pitchFamily="34" charset="0"/>
              <a:buChar char="•"/>
            </a:pPr>
            <a:r>
              <a:rPr lang="en-US" sz="3100" dirty="0">
                <a:latin typeface="Times New Roman" panose="02020603050405020304" pitchFamily="18" charset="0"/>
                <a:ea typeface="Tahoma" panose="020B0604030504040204" pitchFamily="34" charset="0"/>
                <a:cs typeface="Times New Roman" panose="02020603050405020304" pitchFamily="18" charset="0"/>
              </a:rPr>
              <a:t>Voltage scaling is one of the most effective and widely used techniques for reducing power dissipation in digital circuits.</a:t>
            </a:r>
          </a:p>
          <a:p>
            <a:pPr algn="just">
              <a:buFont typeface="Arial" panose="020B0604020202020204" pitchFamily="34" charset="0"/>
              <a:buChar char="•"/>
            </a:pPr>
            <a:r>
              <a:rPr lang="en-US" sz="3100" dirty="0">
                <a:latin typeface="Times New Roman" panose="02020603050405020304" pitchFamily="18" charset="0"/>
                <a:ea typeface="Tahoma" panose="020B0604030504040204" pitchFamily="34" charset="0"/>
                <a:cs typeface="Times New Roman" panose="02020603050405020304" pitchFamily="18" charset="0"/>
              </a:rPr>
              <a:t> A quadratic reduction in dynamic power can be achieved by lowering the supply voltage. </a:t>
            </a:r>
          </a:p>
          <a:p>
            <a:pPr algn="just">
              <a:buFont typeface="Arial" panose="020B0604020202020204" pitchFamily="34" charset="0"/>
              <a:buChar char="•"/>
            </a:pPr>
            <a:r>
              <a:rPr lang="en-US" sz="3100" dirty="0">
                <a:latin typeface="Times New Roman" panose="02020603050405020304" pitchFamily="18" charset="0"/>
                <a:ea typeface="Tahoma" panose="020B0604030504040204" pitchFamily="34" charset="0"/>
                <a:cs typeface="Times New Roman" panose="02020603050405020304" pitchFamily="18" charset="0"/>
              </a:rPr>
              <a:t>Additionally, short-circuit power dissipation is significantly reduced as the supply voltage decreases, and several high-precision models have been proposed to estimate short-circuit currents . </a:t>
            </a:r>
          </a:p>
          <a:p>
            <a:pPr algn="just">
              <a:buFont typeface="Arial" panose="020B0604020202020204" pitchFamily="34" charset="0"/>
              <a:buChar char="•"/>
            </a:pPr>
            <a:r>
              <a:rPr lang="en-US" sz="3100" dirty="0">
                <a:latin typeface="Times New Roman" panose="02020603050405020304" pitchFamily="18" charset="0"/>
                <a:ea typeface="Tahoma" panose="020B0604030504040204" pitchFamily="34" charset="0"/>
                <a:cs typeface="Times New Roman" panose="02020603050405020304" pitchFamily="18" charset="0"/>
              </a:rPr>
              <a:t>However, these power savings come at the cost of degraded circuit performance, as reducing the supply voltage leads to increased propagation delay and reduced operating speed.</a:t>
            </a:r>
          </a:p>
          <a:p>
            <a:pPr marL="0" indent="0" algn="just">
              <a:buNone/>
            </a:pPr>
            <a:endParaRPr lang="en-US" sz="2400" baseline="-25000" dirty="0">
              <a:latin typeface="Times New Roman" panose="02020603050405020304" pitchFamily="18" charset="0"/>
              <a:cs typeface="Times New Roman" panose="02020603050405020304" pitchFamily="18" charset="0"/>
            </a:endParaRP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 </a:t>
            </a:r>
          </a:p>
          <a:p>
            <a:pPr marL="0" indent="0" algn="just">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64939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53942-4796-3423-2AF0-0BF48D6E6E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ECF70-15BB-2704-708E-BBBC795CB414}"/>
              </a:ext>
            </a:extLst>
          </p:cNvPr>
          <p:cNvSpPr>
            <a:spLocks noGrp="1"/>
          </p:cNvSpPr>
          <p:nvPr>
            <p:ph type="title"/>
          </p:nvPr>
        </p:nvSpPr>
        <p:spPr>
          <a:xfrm>
            <a:off x="838200" y="365126"/>
            <a:ext cx="10515600" cy="482040"/>
          </a:xfrm>
        </p:spPr>
        <p:txBody>
          <a:bodyPr>
            <a:noAutofit/>
          </a:bodyPr>
          <a:lstStyle/>
          <a:p>
            <a:r>
              <a:rPr lang="en-IN" sz="3500" b="1">
                <a:solidFill>
                  <a:schemeClr val="tx1"/>
                </a:solidFill>
                <a:latin typeface="Times New Roman" panose="02020603050405020304" pitchFamily="18" charset="0"/>
                <a:cs typeface="Times New Roman" panose="02020603050405020304" pitchFamily="18" charset="0"/>
              </a:rPr>
              <a:t>Low-Power ROM Technology</a:t>
            </a:r>
            <a:endParaRPr lang="en-IN" sz="3500" b="1"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57003A-3FDC-2AAA-5EE1-6F32AC67849F}"/>
                  </a:ext>
                </a:extLst>
              </p:cNvPr>
              <p:cNvSpPr>
                <a:spLocks noGrp="1"/>
              </p:cNvSpPr>
              <p:nvPr>
                <p:ph idx="1"/>
              </p:nvPr>
            </p:nvSpPr>
            <p:spPr>
              <a:xfrm>
                <a:off x="1139857" y="1025858"/>
                <a:ext cx="10515600" cy="5356088"/>
              </a:xfrm>
            </p:spPr>
            <p:txBody>
              <a:bodyPr>
                <a:normAutofit/>
              </a:bodyPr>
              <a:lstStyle/>
              <a:p>
                <a:pPr marL="0" indent="0" algn="just">
                  <a:buNone/>
                </a:pPr>
                <a:r>
                  <a:rPr lang="en-US" sz="3500" b="1" dirty="0">
                    <a:latin typeface="Times New Roman" panose="02020603050405020304" pitchFamily="18" charset="0"/>
                    <a:cs typeface="Times New Roman" panose="02020603050405020304" pitchFamily="18" charset="0"/>
                  </a:rPr>
                  <a:t>Low-power techniques at circuit level :</a:t>
                </a:r>
              </a:p>
              <a:p>
                <a:pPr marL="0" indent="0" algn="just">
                  <a:buNone/>
                </a:pPr>
                <a:endParaRPr lang="en-US" sz="2400" baseline="-25000" dirty="0">
                  <a:latin typeface="Times New Roman" panose="02020603050405020304" pitchFamily="18" charset="0"/>
                  <a:cs typeface="Times New Roman" panose="02020603050405020304" pitchFamily="18" charset="0"/>
                </a:endParaRPr>
              </a:p>
              <a:p>
                <a:pPr marL="0" indent="0" algn="just">
                  <a:buNone/>
                </a:pP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where C</a:t>
                </a:r>
                <a:r>
                  <a:rPr lang="en-US" sz="2400" baseline="-25000" dirty="0">
                    <a:latin typeface="Times New Roman" panose="02020603050405020304" pitchFamily="18" charset="0"/>
                    <a:cs typeface="Times New Roman" panose="02020603050405020304" pitchFamily="18" charset="0"/>
                  </a:rPr>
                  <a:t>L</a:t>
                </a:r>
                <a:r>
                  <a:rPr lang="en-US" sz="2400" dirty="0">
                    <a:latin typeface="Times New Roman" panose="02020603050405020304" pitchFamily="18" charset="0"/>
                    <a:cs typeface="Times New Roman" panose="02020603050405020304" pitchFamily="18" charset="0"/>
                  </a:rPr>
                  <a:t>, denotes the load capacitance and V</a:t>
                </a:r>
                <a:r>
                  <a:rPr lang="en-US" sz="2400" baseline="-25000" dirty="0">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 is the power supply voltage. Meanwhile, </a:t>
                </a:r>
                <a14:m>
                  <m:oMath xmlns:m="http://schemas.openxmlformats.org/officeDocument/2006/math">
                    <m:r>
                      <a:rPr lang="en-US" sz="2400" i="1" smtClean="0">
                        <a:latin typeface="Cambria Math" panose="02040503050406030204" pitchFamily="18" charset="0"/>
                        <a:ea typeface="Cambria Math" panose="02040503050406030204" pitchFamily="18" charset="0"/>
                      </a:rPr>
                      <m:t>𝜇</m:t>
                    </m:r>
                  </m:oMath>
                </a14:m>
                <a:r>
                  <a:rPr lang="en-US" sz="2400" dirty="0">
                    <a:latin typeface="Times New Roman" panose="02020603050405020304" pitchFamily="18" charset="0"/>
                    <a:cs typeface="Times New Roman" panose="02020603050405020304" pitchFamily="18" charset="0"/>
                  </a:rPr>
                  <a:t> represents the electron mobility, C</a:t>
                </a:r>
                <a:r>
                  <a:rPr lang="en-US" sz="2400" baseline="-25000" dirty="0">
                    <a:latin typeface="Times New Roman" panose="02020603050405020304" pitchFamily="18" charset="0"/>
                    <a:cs typeface="Times New Roman" panose="02020603050405020304" pitchFamily="18" charset="0"/>
                  </a:rPr>
                  <a:t>ox</a:t>
                </a:r>
                <a:r>
                  <a:rPr lang="en-US" sz="2400" dirty="0">
                    <a:latin typeface="Times New Roman" panose="02020603050405020304" pitchFamily="18" charset="0"/>
                    <a:cs typeface="Times New Roman" panose="02020603050405020304" pitchFamily="18" charset="0"/>
                  </a:rPr>
                  <a:t> is the oxide capacitance, Vth is the threshold voltage, and W and L imply the channel width and length, respectively.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the V</a:t>
                </a:r>
                <a:r>
                  <a:rPr lang="en-US" sz="2400" baseline="-25000" dirty="0">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 goes down, approaching the threshold voltage of a particular device, the delay will be drastically increased due to the quadratic effect and this will then lead to a severe speed deterioration problem. </a:t>
                </a:r>
                <a:endParaRPr lang="en-US" sz="2400" b="1"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657003A-3FDC-2AAA-5EE1-6F32AC67849F}"/>
                  </a:ext>
                </a:extLst>
              </p:cNvPr>
              <p:cNvSpPr>
                <a:spLocks noGrp="1" noRot="1" noChangeAspect="1" noMove="1" noResize="1" noEditPoints="1" noAdjustHandles="1" noChangeArrowheads="1" noChangeShapeType="1" noTextEdit="1"/>
              </p:cNvSpPr>
              <p:nvPr>
                <p:ph idx="1"/>
              </p:nvPr>
            </p:nvSpPr>
            <p:spPr>
              <a:xfrm>
                <a:off x="1139857" y="1025858"/>
                <a:ext cx="10515600" cy="5356088"/>
              </a:xfrm>
              <a:blipFill>
                <a:blip r:embed="rId2"/>
                <a:stretch>
                  <a:fillRect l="-1739" t="-1820" r="-870"/>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EC24144E-D92E-A28C-B561-8801E72E999E}"/>
              </a:ext>
            </a:extLst>
          </p:cNvPr>
          <p:cNvPicPr>
            <a:picLocks noChangeAspect="1"/>
          </p:cNvPicPr>
          <p:nvPr/>
        </p:nvPicPr>
        <p:blipFill>
          <a:blip r:embed="rId3"/>
          <a:stretch>
            <a:fillRect/>
          </a:stretch>
        </p:blipFill>
        <p:spPr>
          <a:xfrm>
            <a:off x="3336505" y="1870630"/>
            <a:ext cx="5311600" cy="929721"/>
          </a:xfrm>
          <a:prstGeom prst="rect">
            <a:avLst/>
          </a:prstGeom>
        </p:spPr>
      </p:pic>
    </p:spTree>
    <p:extLst>
      <p:ext uri="{BB962C8B-B14F-4D97-AF65-F5344CB8AC3E}">
        <p14:creationId xmlns:p14="http://schemas.microsoft.com/office/powerpoint/2010/main" val="32198846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34856-90AF-9C69-1013-673285DBEF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39B31E-D7DF-8B46-8E62-8B8CA504E88D}"/>
              </a:ext>
            </a:extLst>
          </p:cNvPr>
          <p:cNvSpPr>
            <a:spLocks noGrp="1"/>
          </p:cNvSpPr>
          <p:nvPr>
            <p:ph type="title"/>
          </p:nvPr>
        </p:nvSpPr>
        <p:spPr>
          <a:xfrm>
            <a:off x="838200" y="365126"/>
            <a:ext cx="11353800" cy="482040"/>
          </a:xfrm>
        </p:spPr>
        <p:txBody>
          <a:bodyPr>
            <a:noAutofit/>
          </a:bodyPr>
          <a:lstStyle/>
          <a:p>
            <a:r>
              <a:rPr lang="en-US" sz="3500" b="1" dirty="0">
                <a:solidFill>
                  <a:schemeClr val="tx1"/>
                </a:solidFill>
                <a:latin typeface="Times New Roman" panose="02020603050405020304" pitchFamily="18" charset="0"/>
                <a:cs typeface="Times New Roman" panose="02020603050405020304" pitchFamily="18" charset="0"/>
              </a:rPr>
              <a:t>5.6 Future Trend and Development of ROMs and DRAMs</a:t>
            </a:r>
            <a:endParaRPr lang="en-IN" sz="35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3D0F2F-C326-0523-B34A-6D190A473A43}"/>
              </a:ext>
            </a:extLst>
          </p:cNvPr>
          <p:cNvSpPr>
            <a:spLocks noGrp="1"/>
          </p:cNvSpPr>
          <p:nvPr>
            <p:ph idx="1"/>
          </p:nvPr>
        </p:nvSpPr>
        <p:spPr>
          <a:xfrm>
            <a:off x="1139857" y="1025858"/>
            <a:ext cx="10515600" cy="5356088"/>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EPROM, EEPROM, and Flash memory differ in features that influence their commercial use.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UV-EPROM gained significant market share due to its high-density and field alterability, despite higher cost and limited flexibility. EEPROM is preferred in low-density applications (below 256 K) because of its high flexibility.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Flash memory is increasingly popular due to its high density, low cost, and strong system flexibility, making it dominant in modern memory markets.</a:t>
            </a:r>
          </a:p>
          <a:p>
            <a:pPr algn="just">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7983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2C9-D874-11A7-3114-44B267923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0616EE-953A-EB22-7003-411CAD79D0A0}"/>
              </a:ext>
            </a:extLst>
          </p:cNvPr>
          <p:cNvSpPr>
            <a:spLocks noGrp="1"/>
          </p:cNvSpPr>
          <p:nvPr>
            <p:ph type="title"/>
          </p:nvPr>
        </p:nvSpPr>
        <p:spPr>
          <a:xfrm>
            <a:off x="838200" y="365126"/>
            <a:ext cx="11096134" cy="482040"/>
          </a:xfrm>
        </p:spPr>
        <p:txBody>
          <a:bodyPr>
            <a:noAutofit/>
          </a:bodyPr>
          <a:lstStyle/>
          <a:p>
            <a:r>
              <a:rPr lang="en-US" sz="3500" b="1" dirty="0">
                <a:solidFill>
                  <a:schemeClr val="tx1"/>
                </a:solidFill>
                <a:latin typeface="Times New Roman" panose="02020603050405020304" pitchFamily="18" charset="0"/>
                <a:cs typeface="Times New Roman" panose="02020603050405020304" pitchFamily="18" charset="0"/>
              </a:rPr>
              <a:t>Future Trend and Development of ROMs and DRAMs</a:t>
            </a:r>
            <a:endParaRPr lang="en-IN" sz="35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5938C74-AB55-27D5-33F8-7EB75BDBCFF9}"/>
              </a:ext>
            </a:extLst>
          </p:cNvPr>
          <p:cNvSpPr>
            <a:spLocks noGrp="1"/>
          </p:cNvSpPr>
          <p:nvPr>
            <p:ph idx="1"/>
          </p:nvPr>
        </p:nvSpPr>
        <p:spPr>
          <a:xfrm>
            <a:off x="1139857" y="1025858"/>
            <a:ext cx="10515600" cy="5356088"/>
          </a:xfrm>
        </p:spPr>
        <p:txBody>
          <a:bodyPr>
            <a:normAutofit/>
          </a:bodyPr>
          <a:lstStyle/>
          <a:p>
            <a:pPr marL="0" indent="0" algn="ctr">
              <a:buNone/>
            </a:pPr>
            <a:r>
              <a:rPr lang="en-US" sz="2400" b="1" dirty="0">
                <a:latin typeface="Times New Roman" panose="02020603050405020304" pitchFamily="18" charset="0"/>
                <a:cs typeface="Times New Roman" panose="02020603050405020304" pitchFamily="18" charset="0"/>
              </a:rPr>
              <a:t>Comparison of EPROM and Flash Memory </a:t>
            </a:r>
          </a:p>
          <a:p>
            <a:pPr marL="0" indent="0" algn="just">
              <a:buNone/>
            </a:pPr>
            <a:endParaRPr lang="en-US" sz="2400" dirty="0"/>
          </a:p>
          <a:p>
            <a:pPr marL="0" indent="0" algn="just">
              <a:buNone/>
            </a:pPr>
            <a:endParaRPr lang="en-US" sz="2400" dirty="0"/>
          </a:p>
          <a:p>
            <a:pPr marL="0" indent="0" algn="just">
              <a:buNone/>
            </a:pPr>
            <a:endParaRPr lang="en-US" sz="2400" dirty="0"/>
          </a:p>
          <a:p>
            <a:pPr marL="0" indent="0" algn="just">
              <a:buNone/>
            </a:pPr>
            <a:endParaRPr lang="en-US" sz="2400" dirty="0"/>
          </a:p>
          <a:p>
            <a:pPr marL="0" indent="0" algn="just">
              <a:buNone/>
            </a:pPr>
            <a:endParaRPr lang="en-US" sz="2400" dirty="0"/>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Semiconductor technology is always marching ahead with over- whelming advancement</a:t>
            </a:r>
            <a:r>
              <a:rPr lang="en-US" sz="2400" dirty="0"/>
              <a: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Over the last two decades, process technology has marked a significant reduction of 12 percent in size each year. </a:t>
            </a:r>
          </a:p>
        </p:txBody>
      </p:sp>
      <p:pic>
        <p:nvPicPr>
          <p:cNvPr id="11" name="Picture 10">
            <a:extLst>
              <a:ext uri="{FF2B5EF4-FFF2-40B4-BE49-F238E27FC236}">
                <a16:creationId xmlns:a16="http://schemas.microsoft.com/office/drawing/2014/main" id="{3B224C8F-A67F-9028-276F-5623A1BD37C6}"/>
              </a:ext>
            </a:extLst>
          </p:cNvPr>
          <p:cNvPicPr>
            <a:picLocks noChangeAspect="1"/>
          </p:cNvPicPr>
          <p:nvPr/>
        </p:nvPicPr>
        <p:blipFill>
          <a:blip r:embed="rId2"/>
          <a:stretch>
            <a:fillRect/>
          </a:stretch>
        </p:blipFill>
        <p:spPr>
          <a:xfrm>
            <a:off x="1439776" y="1568695"/>
            <a:ext cx="9312447" cy="2796782"/>
          </a:xfrm>
          <a:prstGeom prst="rect">
            <a:avLst/>
          </a:prstGeom>
        </p:spPr>
      </p:pic>
    </p:spTree>
    <p:extLst>
      <p:ext uri="{BB962C8B-B14F-4D97-AF65-F5344CB8AC3E}">
        <p14:creationId xmlns:p14="http://schemas.microsoft.com/office/powerpoint/2010/main" val="28674130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BCDC3-3F11-8595-7996-44CD80655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16C46C-426A-B226-F0E8-132293FDE243}"/>
              </a:ext>
            </a:extLst>
          </p:cNvPr>
          <p:cNvSpPr>
            <a:spLocks noGrp="1"/>
          </p:cNvSpPr>
          <p:nvPr>
            <p:ph type="title"/>
          </p:nvPr>
        </p:nvSpPr>
        <p:spPr>
          <a:xfrm>
            <a:off x="838200" y="365126"/>
            <a:ext cx="11096134" cy="482040"/>
          </a:xfrm>
        </p:spPr>
        <p:txBody>
          <a:bodyPr>
            <a:noAutofit/>
          </a:bodyPr>
          <a:lstStyle/>
          <a:p>
            <a:r>
              <a:rPr lang="en-US" sz="3500" b="1" dirty="0">
                <a:solidFill>
                  <a:schemeClr val="tx1"/>
                </a:solidFill>
                <a:latin typeface="Times New Roman" panose="02020603050405020304" pitchFamily="18" charset="0"/>
                <a:cs typeface="Times New Roman" panose="02020603050405020304" pitchFamily="18" charset="0"/>
              </a:rPr>
              <a:t> Future Trend and Development of ROMs and DRAMs</a:t>
            </a:r>
            <a:endParaRPr lang="en-IN" sz="35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3E1A2FB-6440-2485-0D51-315FE04F6814}"/>
              </a:ext>
            </a:extLst>
          </p:cNvPr>
          <p:cNvSpPr>
            <a:spLocks noGrp="1"/>
          </p:cNvSpPr>
          <p:nvPr>
            <p:ph idx="1"/>
          </p:nvPr>
        </p:nvSpPr>
        <p:spPr>
          <a:xfrm>
            <a:off x="1139857" y="1025858"/>
            <a:ext cx="10515600" cy="5356088"/>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With increasing circuit density and functionality, advanced memory technologies are evolving.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Flash+ concept integrates Flash memory and EEPROM on a single chip to combine their advantages.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Flash memory is ideal for storing microcontroller code due to its ability for dynamic updates, while EEPROM is preferred for storing parametric data because of its byte-level modification capability.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Thus, Flash+ offers both flexibility and efficient data handling.</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Earlier, DRAM dominated the memory market, but flash memory has now become the primary focus due to its lowest cost per bit, smaller cell size, and simpler manufacturing process. </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97757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87BD5-F3C0-BC24-2495-D431D5036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2A4E2-A797-8DF4-7EB4-54C59B4FE31F}"/>
              </a:ext>
            </a:extLst>
          </p:cNvPr>
          <p:cNvSpPr>
            <a:spLocks noGrp="1"/>
          </p:cNvSpPr>
          <p:nvPr>
            <p:ph type="title"/>
          </p:nvPr>
        </p:nvSpPr>
        <p:spPr>
          <a:xfrm>
            <a:off x="838200" y="365126"/>
            <a:ext cx="11096134" cy="482040"/>
          </a:xfrm>
        </p:spPr>
        <p:txBody>
          <a:bodyPr>
            <a:noAutofit/>
          </a:bodyPr>
          <a:lstStyle/>
          <a:p>
            <a:r>
              <a:rPr lang="en-US" sz="3500" b="1" dirty="0">
                <a:solidFill>
                  <a:schemeClr val="tx1"/>
                </a:solidFill>
                <a:latin typeface="Times New Roman" panose="02020603050405020304" pitchFamily="18" charset="0"/>
                <a:cs typeface="Times New Roman" panose="02020603050405020304" pitchFamily="18" charset="0"/>
              </a:rPr>
              <a:t> Future Trend and Development of ROMs and DRAMs</a:t>
            </a:r>
            <a:endParaRPr lang="en-IN" sz="35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BADFE1C-DC12-10F0-34B6-EE74E0E80D7F}"/>
              </a:ext>
            </a:extLst>
          </p:cNvPr>
          <p:cNvSpPr>
            <a:spLocks noGrp="1"/>
          </p:cNvSpPr>
          <p:nvPr>
            <p:ph idx="1"/>
          </p:nvPr>
        </p:nvSpPr>
        <p:spPr>
          <a:xfrm>
            <a:off x="1139857" y="1025858"/>
            <a:ext cx="10515600" cy="5356088"/>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rapid growth of wireless consumer devices , such as smartphones, digital cameras, and handheld electronics has significantly driven the demand and advancement of flash memory technology.</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increase flash memory density, vendors are developing techniques to store multiple bits in a single memory cell.</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Traditionally, memories such as DRAM, EPROM, EEPROM, and earlier flash devices store only one bit per cell, typically using a capacitor-based structure.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conventional memory cells, the stored charge determines whether the bit is 0 or 1.</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Modern flash memory uses multiple charge levels within a single cell, enabling storage of two or more bits per cell. This increases storage density and further reduces the cost per bit, making flash memory more efficient and attractive.</a:t>
            </a:r>
          </a:p>
          <a:p>
            <a:pPr algn="just">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61098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66640-66F0-AE2F-41CA-932219DE8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D12E78-5F1C-ECE6-11A9-DC10430851BD}"/>
              </a:ext>
            </a:extLst>
          </p:cNvPr>
          <p:cNvSpPr>
            <a:spLocks noGrp="1"/>
          </p:cNvSpPr>
          <p:nvPr>
            <p:ph type="title"/>
          </p:nvPr>
        </p:nvSpPr>
        <p:spPr>
          <a:xfrm>
            <a:off x="838200" y="365126"/>
            <a:ext cx="11096134" cy="482040"/>
          </a:xfrm>
        </p:spPr>
        <p:txBody>
          <a:bodyPr>
            <a:noAutofit/>
          </a:bodyPr>
          <a:lstStyle/>
          <a:p>
            <a:r>
              <a:rPr lang="en-US" sz="3500" b="1" dirty="0">
                <a:solidFill>
                  <a:schemeClr val="tx1"/>
                </a:solidFill>
                <a:latin typeface="Times New Roman" panose="02020603050405020304" pitchFamily="18" charset="0"/>
                <a:cs typeface="Times New Roman" panose="02020603050405020304" pitchFamily="18" charset="0"/>
              </a:rPr>
              <a:t>Future Trend and Development of ROMs and DRAMs</a:t>
            </a:r>
            <a:endParaRPr lang="en-IN" sz="3500" b="1" dirty="0">
              <a:solidFill>
                <a:schemeClr val="tx1"/>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9B6BBAE4-7A73-E41D-2562-90D000A58C2F}"/>
              </a:ext>
            </a:extLst>
          </p:cNvPr>
          <p:cNvPicPr>
            <a:picLocks noGrp="1" noChangeAspect="1"/>
          </p:cNvPicPr>
          <p:nvPr>
            <p:ph idx="1"/>
          </p:nvPr>
        </p:nvPicPr>
        <p:blipFill>
          <a:blip r:embed="rId2"/>
          <a:stretch>
            <a:fillRect/>
          </a:stretch>
        </p:blipFill>
        <p:spPr>
          <a:xfrm>
            <a:off x="2201842" y="1733333"/>
            <a:ext cx="7788315" cy="1470787"/>
          </a:xfrm>
          <a:prstGeom prst="rect">
            <a:avLst/>
          </a:prstGeom>
        </p:spPr>
      </p:pic>
      <p:sp>
        <p:nvSpPr>
          <p:cNvPr id="7" name="TextBox 6">
            <a:extLst>
              <a:ext uri="{FF2B5EF4-FFF2-40B4-BE49-F238E27FC236}">
                <a16:creationId xmlns:a16="http://schemas.microsoft.com/office/drawing/2014/main" id="{65D4C1AE-3DEE-B9FD-6439-3DF070346F49}"/>
              </a:ext>
            </a:extLst>
          </p:cNvPr>
          <p:cNvSpPr txBox="1"/>
          <p:nvPr/>
        </p:nvSpPr>
        <p:spPr>
          <a:xfrm>
            <a:off x="2934093" y="1271668"/>
            <a:ext cx="6094428"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Technology Roadmap </a:t>
            </a:r>
          </a:p>
        </p:txBody>
      </p:sp>
    </p:spTree>
    <p:extLst>
      <p:ext uri="{BB962C8B-B14F-4D97-AF65-F5344CB8AC3E}">
        <p14:creationId xmlns:p14="http://schemas.microsoft.com/office/powerpoint/2010/main" val="13749704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50679" y="2615643"/>
            <a:ext cx="4999426" cy="1200329"/>
          </a:xfrm>
          <a:prstGeom prst="rect">
            <a:avLst/>
          </a:prstGeom>
          <a:noFill/>
          <a:scene3d>
            <a:camera prst="obliqueBottomLeft"/>
            <a:lightRig rig="threePt" dir="t"/>
          </a:scene3d>
        </p:spPr>
        <p:txBody>
          <a:bodyPr wrap="square" lIns="91440" tIns="45720" rIns="91440" bIns="45720">
            <a:spAutoFit/>
          </a:bodyPr>
          <a:lstStyle/>
          <a:p>
            <a:pPr algn="ctr"/>
            <a:r>
              <a:rPr lang="en-US" sz="7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
        <p:nvSpPr>
          <p:cNvPr id="5" name="Footer Placeholder 4">
            <a:extLst>
              <a:ext uri="{FF2B5EF4-FFF2-40B4-BE49-F238E27FC236}">
                <a16:creationId xmlns:a16="http://schemas.microsoft.com/office/drawing/2014/main" id="{5CB9775A-DA40-435C-881E-2A72176C381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Dr. Aruru Sai Kumar, VIT-AP</a:t>
            </a:r>
          </a:p>
        </p:txBody>
      </p:sp>
    </p:spTree>
    <p:extLst>
      <p:ext uri="{BB962C8B-B14F-4D97-AF65-F5344CB8AC3E}">
        <p14:creationId xmlns:p14="http://schemas.microsoft.com/office/powerpoint/2010/main" val="366058031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20781</TotalTime>
  <Words>6803</Words>
  <Application>Microsoft Office PowerPoint</Application>
  <PresentationFormat>Widescreen</PresentationFormat>
  <Paragraphs>603</Paragraphs>
  <Slides>83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83</vt:i4>
      </vt:variant>
    </vt:vector>
  </HeadingPairs>
  <TitlesOfParts>
    <vt:vector size="90" baseType="lpstr">
      <vt:lpstr>Arial</vt:lpstr>
      <vt:lpstr>Calibri</vt:lpstr>
      <vt:lpstr>Cambria Math</vt:lpstr>
      <vt:lpstr>Century Gothic</vt:lpstr>
      <vt:lpstr>Times New Roman</vt:lpstr>
      <vt:lpstr>Wingdings 3</vt:lpstr>
      <vt:lpstr>Wisp</vt:lpstr>
      <vt:lpstr>Low Power VLSI Design</vt:lpstr>
      <vt:lpstr>MODULE-5:Low-Voltage Low-Power Memories</vt:lpstr>
      <vt:lpstr>Outline</vt:lpstr>
      <vt:lpstr>PowerPoint Presentation</vt:lpstr>
      <vt:lpstr>5.1 Introduction</vt:lpstr>
      <vt:lpstr>Introduction</vt:lpstr>
      <vt:lpstr>PowerPoint Presentation</vt:lpstr>
      <vt:lpstr>5.2 Basics of SRAM </vt:lpstr>
      <vt:lpstr>Basics of SRAM </vt:lpstr>
      <vt:lpstr>Basics of SRAM </vt:lpstr>
      <vt:lpstr>PowerPoint Presentation</vt:lpstr>
      <vt:lpstr>Basics of SRAM : Read Cycle Timing </vt:lpstr>
      <vt:lpstr>Basics of SRAM :  Write Cycle Timing </vt:lpstr>
      <vt:lpstr>PowerPoint Presentation</vt:lpstr>
      <vt:lpstr>PowerPoint Presentation</vt:lpstr>
      <vt:lpstr>Basics of SRAM</vt:lpstr>
      <vt:lpstr>Basics of SRAM</vt:lpstr>
      <vt:lpstr>Basics of SRAM</vt:lpstr>
      <vt:lpstr>SRAM</vt:lpstr>
      <vt:lpstr>SRAM</vt:lpstr>
      <vt:lpstr>SRAM</vt:lpstr>
      <vt:lpstr>SRAM</vt:lpstr>
      <vt:lpstr>Precharge and Equalization Circuit: </vt:lpstr>
      <vt:lpstr>Precharge and Equalization Circuit: </vt:lpstr>
      <vt:lpstr>Precharge and Equalization Circuit: </vt:lpstr>
      <vt:lpstr>Precharge and Equalization Circuit: </vt:lpstr>
      <vt:lpstr>PowerPoint Presentation</vt:lpstr>
      <vt:lpstr>Precharge and Equalization Circuit: </vt:lpstr>
      <vt:lpstr>Precharge and Equalization Circuit: </vt:lpstr>
      <vt:lpstr>Precharge and Equalization Circuit: </vt:lpstr>
      <vt:lpstr>5.2.1 Low-Power SRAM Technologies </vt:lpstr>
      <vt:lpstr>Low Power SRAM Circuits</vt:lpstr>
      <vt:lpstr>PowerPoint Presentation</vt:lpstr>
      <vt:lpstr>PowerPoint Presentation</vt:lpstr>
      <vt:lpstr>PowerPoint Presentation</vt:lpstr>
      <vt:lpstr>Operating Voltage Reduction: </vt:lpstr>
      <vt:lpstr>Data Retention Power Reduction</vt:lpstr>
      <vt:lpstr>5.3 Basics of DRAM</vt:lpstr>
      <vt:lpstr>Basics of DRAM</vt:lpstr>
      <vt:lpstr>PowerPoint Presentation</vt:lpstr>
      <vt:lpstr>Basics of DRAM</vt:lpstr>
      <vt:lpstr>Basics of DRAM</vt:lpstr>
      <vt:lpstr>Basics of DRAM</vt:lpstr>
      <vt:lpstr>PowerPoint Presentation</vt:lpstr>
      <vt:lpstr>PowerPoint Presentation</vt:lpstr>
      <vt:lpstr>PowerPoint Presentation</vt:lpstr>
      <vt:lpstr>DRAM</vt:lpstr>
      <vt:lpstr>DRAM</vt:lpstr>
      <vt:lpstr>DRAM</vt:lpstr>
      <vt:lpstr>DRAM</vt:lpstr>
      <vt:lpstr>5.4.1 Self Refresh Circuit</vt:lpstr>
      <vt:lpstr>PowerPoint Presentation</vt:lpstr>
      <vt:lpstr>Self Refresh Circuit</vt:lpstr>
      <vt:lpstr>Self Refresh Circuit</vt:lpstr>
      <vt:lpstr>Self Refresh Circuit</vt:lpstr>
      <vt:lpstr>Self Refresh Circuit</vt:lpstr>
      <vt:lpstr>PowerPoint Presentation</vt:lpstr>
      <vt:lpstr>Self Refresh Circuit</vt:lpstr>
      <vt:lpstr>Self Refresh Circuit</vt:lpstr>
      <vt:lpstr>Self Refresh Circuit</vt:lpstr>
      <vt:lpstr>Self Refresh Circuit</vt:lpstr>
      <vt:lpstr>PowerPoint Presentation</vt:lpstr>
      <vt:lpstr>PowerPoint Presentation</vt:lpstr>
      <vt:lpstr>5.5 Basics of ROM </vt:lpstr>
      <vt:lpstr>Basics of ROM </vt:lpstr>
      <vt:lpstr>PowerPoint Presentation</vt:lpstr>
      <vt:lpstr>Basics of ROM </vt:lpstr>
      <vt:lpstr>PowerPoint Presentation</vt:lpstr>
      <vt:lpstr>Low-Power ROM Technology</vt:lpstr>
      <vt:lpstr>Low-Power ROM Technology</vt:lpstr>
      <vt:lpstr>Low-Power ROM Technology</vt:lpstr>
      <vt:lpstr>Low-Power ROM Technology</vt:lpstr>
      <vt:lpstr>Low-Power ROM Technology</vt:lpstr>
      <vt:lpstr>Low-Power ROM Technology</vt:lpstr>
      <vt:lpstr>Low-Power ROM Technology</vt:lpstr>
      <vt:lpstr>Low-Power ROM Technology</vt:lpstr>
      <vt:lpstr>Low-Power ROM Technology</vt:lpstr>
      <vt:lpstr>5.6 Future Trend and Development of ROMs and DRAMs</vt:lpstr>
      <vt:lpstr>Future Trend and Development of ROMs and DRAMs</vt:lpstr>
      <vt:lpstr> Future Trend and Development of ROMs and DRAMs</vt:lpstr>
      <vt:lpstr> Future Trend and Development of ROMs and DRAMs</vt:lpstr>
      <vt:lpstr>Future Trend and Development of ROMs and DRAMs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 Power 10T SRAM Cell with Improved Stability Solving Soft Error Issue</dc:title>
  <dc:creator>eee</dc:creator>
  <cp:lastModifiedBy>ARURU SAI KUMAR</cp:lastModifiedBy>
  <cp:revision>828</cp:revision>
  <cp:lastPrinted>2021-07-12T07:25:25Z</cp:lastPrinted>
  <dcterms:created xsi:type="dcterms:W3CDTF">2019-09-25T11:46:40Z</dcterms:created>
  <dcterms:modified xsi:type="dcterms:W3CDTF">2026-05-07T15:10:51Z</dcterms:modified>
</cp:coreProperties>
</file>