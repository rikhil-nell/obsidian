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52"/>
  </p:notesMasterIdLst>
  <p:sldIdLst>
    <p:sldId id="256" r:id="rId2"/>
    <p:sldId id="295" r:id="rId3"/>
    <p:sldId id="300" r:id="rId4"/>
    <p:sldId id="298" r:id="rId5"/>
    <p:sldId id="301" r:id="rId6"/>
    <p:sldId id="308" r:id="rId7"/>
    <p:sldId id="312" r:id="rId8"/>
    <p:sldId id="402" r:id="rId9"/>
    <p:sldId id="403" r:id="rId10"/>
    <p:sldId id="404" r:id="rId11"/>
    <p:sldId id="405" r:id="rId12"/>
    <p:sldId id="407" r:id="rId13"/>
    <p:sldId id="406" r:id="rId14"/>
    <p:sldId id="408" r:id="rId15"/>
    <p:sldId id="409" r:id="rId16"/>
    <p:sldId id="410" r:id="rId17"/>
    <p:sldId id="411" r:id="rId18"/>
    <p:sldId id="412" r:id="rId19"/>
    <p:sldId id="413" r:id="rId20"/>
    <p:sldId id="414" r:id="rId21"/>
    <p:sldId id="415" r:id="rId22"/>
    <p:sldId id="416" r:id="rId23"/>
    <p:sldId id="417" r:id="rId24"/>
    <p:sldId id="418" r:id="rId25"/>
    <p:sldId id="419" r:id="rId26"/>
    <p:sldId id="420" r:id="rId27"/>
    <p:sldId id="421" r:id="rId28"/>
    <p:sldId id="422" r:id="rId29"/>
    <p:sldId id="423" r:id="rId30"/>
    <p:sldId id="424" r:id="rId31"/>
    <p:sldId id="427" r:id="rId32"/>
    <p:sldId id="429" r:id="rId33"/>
    <p:sldId id="430" r:id="rId34"/>
    <p:sldId id="431" r:id="rId35"/>
    <p:sldId id="432" r:id="rId36"/>
    <p:sldId id="433" r:id="rId37"/>
    <p:sldId id="434" r:id="rId38"/>
    <p:sldId id="435" r:id="rId39"/>
    <p:sldId id="436" r:id="rId40"/>
    <p:sldId id="437" r:id="rId41"/>
    <p:sldId id="438" r:id="rId42"/>
    <p:sldId id="439" r:id="rId43"/>
    <p:sldId id="440" r:id="rId44"/>
    <p:sldId id="441" r:id="rId45"/>
    <p:sldId id="442" r:id="rId46"/>
    <p:sldId id="443" r:id="rId47"/>
    <p:sldId id="444" r:id="rId48"/>
    <p:sldId id="445" r:id="rId49"/>
    <p:sldId id="446" r:id="rId50"/>
    <p:sldId id="27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C73D7-7640-40F9-8434-A0F03C5760E6}" type="datetimeFigureOut">
              <a:rPr lang="en-IN" smtClean="0"/>
              <a:pPr/>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2B883-0CBF-46F6-B001-F5F9F89E9899}" type="slidenum">
              <a:rPr lang="en-IN" smtClean="0"/>
              <a:pPr/>
              <a:t>‹#›</a:t>
            </a:fld>
            <a:endParaRPr lang="en-IN"/>
          </a:p>
        </p:txBody>
      </p:sp>
    </p:spTree>
    <p:extLst>
      <p:ext uri="{BB962C8B-B14F-4D97-AF65-F5344CB8AC3E}">
        <p14:creationId xmlns:p14="http://schemas.microsoft.com/office/powerpoint/2010/main" val="317026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582B883-0CBF-46F6-B001-F5F9F89E9899}" type="slidenum">
              <a:rPr lang="en-IN" smtClean="0"/>
              <a:pPr/>
              <a:t>25</a:t>
            </a:fld>
            <a:endParaRPr lang="en-IN"/>
          </a:p>
        </p:txBody>
      </p:sp>
    </p:spTree>
    <p:extLst>
      <p:ext uri="{BB962C8B-B14F-4D97-AF65-F5344CB8AC3E}">
        <p14:creationId xmlns:p14="http://schemas.microsoft.com/office/powerpoint/2010/main" val="1221471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93FC6-7D19-42F4-A915-A22E318BB010}" type="datetime1">
              <a:rPr lang="en-IN" smtClean="0"/>
              <a:pPr/>
              <a:t>07-04-2026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6533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B98C-9C5A-4162-993F-316E4E6C62BB}" type="datetime1">
              <a:rPr lang="en-IN" smtClean="0"/>
              <a:pPr/>
              <a:t>07-04-2026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5834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9ED1CE-D0E4-49F6-AA4E-0C3DE4D5CA9F}" type="datetime1">
              <a:rPr lang="en-IN" smtClean="0"/>
              <a:pPr/>
              <a:t>07-04-2026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1375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6DC15E-93BC-4995-B67D-673FA7BA3E92}" type="datetime1">
              <a:rPr lang="en-IN" smtClean="0"/>
              <a:pPr/>
              <a:t>07-04-2026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4897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90AC8C-1DD9-4769-A93E-CB9191A82FBE}" type="datetime1">
              <a:rPr lang="en-IN" smtClean="0"/>
              <a:pPr/>
              <a:t>07-04-2026</a:t>
            </a:fld>
            <a:endParaRPr lang="en-IN"/>
          </a:p>
        </p:txBody>
      </p:sp>
      <p:sp>
        <p:nvSpPr>
          <p:cNvPr id="8" name="Footer Placeholder 7"/>
          <p:cNvSpPr>
            <a:spLocks noGrp="1"/>
          </p:cNvSpPr>
          <p:nvPr>
            <p:ph type="ftr" sz="quarter" idx="11"/>
          </p:nvPr>
        </p:nvSpPr>
        <p:spPr/>
        <p:txBody>
          <a:bodyPr/>
          <a:lstStyle/>
          <a:p>
            <a:r>
              <a:rPr lang="en-IN"/>
              <a:t>Rohit Lorenzo , VIT-AP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4879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9D4AB-23A7-43B1-AC37-7A69E1B162CB}" type="datetime1">
              <a:rPr lang="en-IN" smtClean="0"/>
              <a:pPr/>
              <a:t>07-04-2026</a:t>
            </a:fld>
            <a:endParaRPr lang="en-IN"/>
          </a:p>
        </p:txBody>
      </p:sp>
      <p:sp>
        <p:nvSpPr>
          <p:cNvPr id="4" name="Footer Placeholder 3"/>
          <p:cNvSpPr>
            <a:spLocks noGrp="1"/>
          </p:cNvSpPr>
          <p:nvPr>
            <p:ph type="ftr" sz="quarter" idx="11"/>
          </p:nvPr>
        </p:nvSpPr>
        <p:spPr/>
        <p:txBody>
          <a:bodyPr/>
          <a:lstStyle/>
          <a:p>
            <a:r>
              <a:rPr lang="en-IN"/>
              <a:t>Rohit Lorenzo , VIT-AP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8846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FFC48-1A3A-47F9-AB3E-F0A947B0BE83}" type="datetime1">
              <a:rPr lang="en-IN" smtClean="0"/>
              <a:pPr/>
              <a:t>07-04-2026</a:t>
            </a:fld>
            <a:endParaRPr lang="en-IN"/>
          </a:p>
        </p:txBody>
      </p:sp>
      <p:sp>
        <p:nvSpPr>
          <p:cNvPr id="3" name="Footer Placeholder 2"/>
          <p:cNvSpPr>
            <a:spLocks noGrp="1"/>
          </p:cNvSpPr>
          <p:nvPr>
            <p:ph type="ftr" sz="quarter" idx="11"/>
          </p:nvPr>
        </p:nvSpPr>
        <p:spPr/>
        <p:txBody>
          <a:bodyPr/>
          <a:lstStyle/>
          <a:p>
            <a:r>
              <a:rPr lang="en-IN"/>
              <a:t>Rohit Lorenzo , VIT-AP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122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0B7AB3-5AA6-4B2A-A848-6B9056B8F888}" type="datetime1">
              <a:rPr lang="en-IN" smtClean="0"/>
              <a:pPr/>
              <a:t>07-04-2026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8783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62A0A8-2993-4F46-873E-B317420EEF1D}" type="datetime1">
              <a:rPr lang="en-IN" smtClean="0"/>
              <a:pPr/>
              <a:t>07-04-2026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05223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4AF5B2-9161-484D-941E-09E7D7D8822D}" type="datetime1">
              <a:rPr lang="en-IN" smtClean="0"/>
              <a:pPr/>
              <a:t>07-04-2026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2765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02EE73-49A5-4032-8312-39A4654D8975}" type="datetime1">
              <a:rPr lang="en-IN" smtClean="0"/>
              <a:pPr/>
              <a:t>07-04-2026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3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13B1249-61C8-4A7F-8E7B-53A384F44D16}" type="datetime1">
              <a:rPr lang="en-IN" smtClean="0"/>
              <a:pPr/>
              <a:t>07-04-2026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8125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33059DD-5442-4AC6-B4D8-568940477A5F}" type="datetime1">
              <a:rPr lang="en-IN" smtClean="0"/>
              <a:pPr/>
              <a:t>07-04-2026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374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A093278-5D43-45AE-BD96-13E9B97C202A}" type="datetime1">
              <a:rPr lang="en-IN" smtClean="0"/>
              <a:pPr/>
              <a:t>07-04-2026</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782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0D21C-79F6-4EA2-9761-2BBE3077020C}" type="datetime1">
              <a:rPr lang="en-IN" smtClean="0"/>
              <a:pPr/>
              <a:t>07-04-2026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784775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44E18-DFA2-43E5-8F6D-0DBE05038609}" type="datetime1">
              <a:rPr lang="en-IN" smtClean="0"/>
              <a:pPr/>
              <a:t>07-04-2026</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86937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31D4EE5-909F-48DF-A25F-F957D1B95CC9}" type="datetime1">
              <a:rPr lang="en-IN" smtClean="0"/>
              <a:pPr/>
              <a:t>07-04-2026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Rohit Lorenzo , VIT-AP</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66094531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t>Sequential Logic Circuits</a:t>
            </a:r>
            <a:endParaRPr lang="en-IN" sz="3000" b="1" dirty="0"/>
          </a:p>
        </p:txBody>
      </p:sp>
      <p:sp>
        <p:nvSpPr>
          <p:cNvPr id="3" name="Content Placeholder 2"/>
          <p:cNvSpPr>
            <a:spLocks noGrp="1"/>
          </p:cNvSpPr>
          <p:nvPr>
            <p:ph idx="1"/>
          </p:nvPr>
        </p:nvSpPr>
        <p:spPr>
          <a:xfrm>
            <a:off x="1450731" y="2133599"/>
            <a:ext cx="10278207" cy="4399085"/>
          </a:xfrm>
        </p:spPr>
        <p:txBody>
          <a:bodyPr/>
          <a:lstStyle/>
          <a:p>
            <a:pPr marL="0" indent="0" algn="ctr">
              <a:buNone/>
            </a:pPr>
            <a:r>
              <a:rPr lang="en-IN" b="1" dirty="0"/>
              <a:t>By</a:t>
            </a:r>
          </a:p>
          <a:p>
            <a:pPr marL="0" indent="0" algn="ctr">
              <a:buNone/>
            </a:pPr>
            <a:endParaRPr lang="en-IN" dirty="0"/>
          </a:p>
          <a:p>
            <a:pPr marL="0" indent="0" algn="ctr">
              <a:buNone/>
            </a:pPr>
            <a:r>
              <a:rPr lang="en-IN" sz="2000" b="1" dirty="0" err="1"/>
              <a:t>Dr.Rohit</a:t>
            </a:r>
            <a:r>
              <a:rPr lang="en-IN" sz="2000" b="1" dirty="0"/>
              <a:t> Lorenzo</a:t>
            </a:r>
          </a:p>
          <a:p>
            <a:pPr marL="0" indent="0" algn="ctr">
              <a:buNone/>
            </a:pPr>
            <a:r>
              <a:rPr lang="en-IN" sz="2000" b="1" dirty="0"/>
              <a:t>Assistant Professor Sr. Grade -1</a:t>
            </a:r>
          </a:p>
          <a:p>
            <a:pPr marL="0" indent="0" algn="ctr">
              <a:buNone/>
            </a:pPr>
            <a:r>
              <a:rPr lang="en-IN" sz="2000" b="1" dirty="0"/>
              <a:t>School of Electronics Engineering (SENSE)</a:t>
            </a:r>
          </a:p>
          <a:p>
            <a:pPr marL="0" indent="0" algn="ctr">
              <a:buNone/>
            </a:pPr>
            <a:endParaRPr lang="en-IN" b="1" dirty="0"/>
          </a:p>
          <a:p>
            <a:pPr marL="0" indent="0" algn="ctr">
              <a:buNone/>
            </a:pPr>
            <a:r>
              <a:rPr lang="en-IN" dirty="0"/>
              <a:t> </a:t>
            </a:r>
          </a:p>
        </p:txBody>
      </p:sp>
      <p:pic>
        <p:nvPicPr>
          <p:cNvPr id="4" name="Picture 3">
            <a:extLst>
              <a:ext uri="{FF2B5EF4-FFF2-40B4-BE49-F238E27FC236}">
                <a16:creationId xmlns:a16="http://schemas.microsoft.com/office/drawing/2014/main" id="{E7D8A5F9-ED45-42EF-B008-2ACDB3324E29}"/>
              </a:ext>
            </a:extLst>
          </p:cNvPr>
          <p:cNvPicPr>
            <a:picLocks noChangeAspect="1"/>
          </p:cNvPicPr>
          <p:nvPr/>
        </p:nvPicPr>
        <p:blipFill>
          <a:blip r:embed="rId2" cstate="print"/>
          <a:stretch>
            <a:fillRect/>
          </a:stretch>
        </p:blipFill>
        <p:spPr>
          <a:xfrm>
            <a:off x="5518271" y="4206557"/>
            <a:ext cx="2143125" cy="2143125"/>
          </a:xfrm>
          <a:prstGeom prst="rect">
            <a:avLst/>
          </a:prstGeom>
        </p:spPr>
      </p:pic>
      <p:sp>
        <p:nvSpPr>
          <p:cNvPr id="6" name="Footer Placeholder 5">
            <a:extLst>
              <a:ext uri="{FF2B5EF4-FFF2-40B4-BE49-F238E27FC236}">
                <a16:creationId xmlns:a16="http://schemas.microsoft.com/office/drawing/2014/main" id="{5E9579B1-487B-4D07-8C3A-2D1E584D45E5}"/>
              </a:ext>
            </a:extLst>
          </p:cNvPr>
          <p:cNvSpPr>
            <a:spLocks noGrp="1"/>
          </p:cNvSpPr>
          <p:nvPr>
            <p:ph type="ftr" sz="quarter" idx="11"/>
          </p:nvPr>
        </p:nvSpPr>
        <p:spPr/>
        <p:txBody>
          <a:bodyPr/>
          <a:lstStyle/>
          <a:p>
            <a:endParaRPr lang="en-IN" dirty="0"/>
          </a:p>
        </p:txBody>
      </p:sp>
    </p:spTree>
    <p:extLst>
      <p:ext uri="{BB962C8B-B14F-4D97-AF65-F5344CB8AC3E}">
        <p14:creationId xmlns:p14="http://schemas.microsoft.com/office/powerpoint/2010/main" val="180815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D9BD230D-0708-4782-93C2-6421485EDE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00AD63-250F-4106-8276-29E747C57D11}"/>
              </a:ext>
            </a:extLst>
          </p:cNvPr>
          <p:cNvSpPr>
            <a:spLocks noGrp="1"/>
          </p:cNvSpPr>
          <p:nvPr>
            <p:ph type="title"/>
          </p:nvPr>
        </p:nvSpPr>
        <p:spPr>
          <a:xfrm>
            <a:off x="649224" y="645106"/>
            <a:ext cx="6574536" cy="1259894"/>
          </a:xfrm>
        </p:spPr>
        <p:txBody>
          <a:bodyPr>
            <a:normAutofit/>
          </a:bodyPr>
          <a:lstStyle/>
          <a:p>
            <a:r>
              <a:rPr lang="en-IN" b="1"/>
              <a:t>Introduction </a:t>
            </a:r>
            <a:br>
              <a:rPr lang="en-IN" b="1"/>
            </a:br>
            <a:endParaRPr lang="en-IN" dirty="0"/>
          </a:p>
        </p:txBody>
      </p:sp>
      <p:sp>
        <p:nvSpPr>
          <p:cNvPr id="30" name="Rectangle 29">
            <a:extLst>
              <a:ext uri="{FF2B5EF4-FFF2-40B4-BE49-F238E27FC236}">
                <a16:creationId xmlns:a16="http://schemas.microsoft.com/office/drawing/2014/main" id="{D630D25A-547E-4D17-B65E-FA2B888931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174D21A1-6D28-40B9-8BF9-8E90C7235AFC}"/>
              </a:ext>
            </a:extLst>
          </p:cNvPr>
          <p:cNvSpPr>
            <a:spLocks noGrp="1"/>
          </p:cNvSpPr>
          <p:nvPr>
            <p:ph idx="1"/>
          </p:nvPr>
        </p:nvSpPr>
        <p:spPr>
          <a:xfrm>
            <a:off x="400692" y="1489754"/>
            <a:ext cx="7068620" cy="4403100"/>
          </a:xfrm>
        </p:spPr>
        <p:txBody>
          <a:bodyPr>
            <a:normAutofit lnSpcReduction="10000"/>
          </a:bodyPr>
          <a:lstStyle/>
          <a:p>
            <a:pPr>
              <a:lnSpc>
                <a:spcPct val="90000"/>
              </a:lnSpc>
            </a:pPr>
            <a:r>
              <a:rPr lang="en-US" dirty="0">
                <a:latin typeface="Arial" panose="020B0604020202020204" pitchFamily="34" charset="0"/>
                <a:cs typeface="Arial" pitchFamily="34" charset="0"/>
              </a:rPr>
              <a:t>All useful systems require storage of state information, </a:t>
            </a:r>
            <a:r>
              <a:rPr lang="en-US" b="0" i="0" u="none" strike="noStrike" baseline="0" dirty="0">
                <a:latin typeface="Arial" panose="020B0604020202020204" pitchFamily="34" charset="0"/>
                <a:cs typeface="Arial" panose="020B0604020202020204" pitchFamily="34" charset="0"/>
              </a:rPr>
              <a:t>leading to another class of circuits called </a:t>
            </a:r>
            <a:r>
              <a:rPr lang="en-US" b="1" i="1" u="none" strike="noStrike" baseline="0" dirty="0">
                <a:latin typeface="Arial" panose="020B0604020202020204" pitchFamily="34" charset="0"/>
                <a:cs typeface="Arial" panose="020B0604020202020204" pitchFamily="34" charset="0"/>
              </a:rPr>
              <a:t>sequential</a:t>
            </a:r>
            <a:r>
              <a:rPr lang="en-US" b="0" i="1" u="none" strike="noStrike" baseline="0" dirty="0">
                <a:latin typeface="Arial" panose="020B0604020202020204" pitchFamily="34" charset="0"/>
                <a:cs typeface="Arial" panose="020B0604020202020204" pitchFamily="34" charset="0"/>
              </a:rPr>
              <a:t> </a:t>
            </a:r>
            <a:r>
              <a:rPr lang="en-US" b="1" i="1" u="none" strike="noStrike" baseline="0" dirty="0">
                <a:latin typeface="Arial" panose="020B0604020202020204" pitchFamily="34" charset="0"/>
                <a:cs typeface="Arial" panose="020B0604020202020204" pitchFamily="34" charset="0"/>
              </a:rPr>
              <a:t>logic</a:t>
            </a:r>
            <a:r>
              <a:rPr lang="en-US" b="0" i="1" u="none" strike="noStrike" baseline="0" dirty="0">
                <a:latin typeface="Arial" panose="020B0604020202020204" pitchFamily="34" charset="0"/>
                <a:cs typeface="Arial" panose="020B0604020202020204" pitchFamily="34" charset="0"/>
              </a:rPr>
              <a:t> </a:t>
            </a:r>
            <a:r>
              <a:rPr lang="en-US" b="0" i="0" u="none" strike="noStrike" baseline="0" dirty="0">
                <a:latin typeface="Arial" panose="020B0604020202020204" pitchFamily="34" charset="0"/>
                <a:cs typeface="Arial" panose="020B0604020202020204" pitchFamily="34" charset="0"/>
              </a:rPr>
              <a:t>circuits. </a:t>
            </a:r>
          </a:p>
          <a:p>
            <a:pPr>
              <a:lnSpc>
                <a:spcPct val="90000"/>
              </a:lnSpc>
            </a:pPr>
            <a:r>
              <a:rPr lang="en-IN" b="0" u="none" strike="noStrike" baseline="0" dirty="0">
                <a:latin typeface="Arial" panose="020B0604020202020204" pitchFamily="34" charset="0"/>
                <a:cs typeface="Arial" panose="020B0604020202020204" pitchFamily="34" charset="0"/>
              </a:rPr>
              <a:t>In these circuits, </a:t>
            </a:r>
            <a:r>
              <a:rPr lang="en-US" b="0" u="none" strike="noStrike" baseline="0" dirty="0">
                <a:latin typeface="Arial" panose="020B0604020202020204" pitchFamily="34" charset="0"/>
                <a:cs typeface="Arial" panose="020B0604020202020204" pitchFamily="34" charset="0"/>
              </a:rPr>
              <a:t>the output not only depends upon the current values of the inputs, but also upon </a:t>
            </a:r>
            <a:r>
              <a:rPr lang="en-IN" b="0" u="none" strike="noStrike" baseline="0" dirty="0">
                <a:latin typeface="Arial" panose="020B0604020202020204" pitchFamily="34" charset="0"/>
                <a:cs typeface="Arial" panose="020B0604020202020204" pitchFamily="34" charset="0"/>
              </a:rPr>
              <a:t>preceding input values. </a:t>
            </a:r>
            <a:r>
              <a:rPr lang="en-US" b="0" i="0" u="none" strike="noStrike" baseline="0" dirty="0">
                <a:latin typeface="Arial" panose="020B0604020202020204" pitchFamily="34" charset="0"/>
                <a:cs typeface="Arial" panose="020B0604020202020204" pitchFamily="34" charset="0"/>
              </a:rPr>
              <a:t>In other words, a sequential circuit remembers some of the history of the system—it has memory.</a:t>
            </a:r>
          </a:p>
          <a:p>
            <a:pPr>
              <a:lnSpc>
                <a:spcPct val="90000"/>
              </a:lnSpc>
            </a:pPr>
            <a:r>
              <a:rPr lang="en-IN" b="0" i="0" u="none" strike="noStrike" baseline="0" dirty="0">
                <a:latin typeface="Arial" panose="020B0604020202020204" pitchFamily="34" charset="0"/>
                <a:cs typeface="Arial" panose="020B0604020202020204" pitchFamily="34" charset="0"/>
              </a:rPr>
              <a:t>The system </a:t>
            </a:r>
            <a:r>
              <a:rPr lang="en-US" b="0" i="0" u="none" strike="noStrike" baseline="0" dirty="0">
                <a:latin typeface="Arial" panose="020B0604020202020204" pitchFamily="34" charset="0"/>
                <a:cs typeface="Arial" panose="020B0604020202020204" pitchFamily="34" charset="0"/>
              </a:rPr>
              <a:t>depicted here belongs to the class of </a:t>
            </a:r>
            <a:r>
              <a:rPr lang="en-US" b="0" i="1" u="none" strike="noStrike" baseline="0" dirty="0">
                <a:latin typeface="Arial" panose="020B0604020202020204" pitchFamily="34" charset="0"/>
                <a:cs typeface="Arial" panose="020B0604020202020204" pitchFamily="34" charset="0"/>
              </a:rPr>
              <a:t>synchronous </a:t>
            </a:r>
            <a:r>
              <a:rPr lang="en-US" b="0" i="0" u="none" strike="noStrike" baseline="0" dirty="0">
                <a:latin typeface="Arial" panose="020B0604020202020204" pitchFamily="34" charset="0"/>
                <a:cs typeface="Arial" panose="020B0604020202020204" pitchFamily="34" charset="0"/>
              </a:rPr>
              <a:t>sequential systems, in which all registers are under control of a single global clock.</a:t>
            </a:r>
          </a:p>
          <a:p>
            <a:pPr>
              <a:lnSpc>
                <a:spcPct val="90000"/>
              </a:lnSpc>
            </a:pPr>
            <a:r>
              <a:rPr lang="en-US" b="0" i="0" u="none" strike="noStrike" baseline="0" dirty="0">
                <a:latin typeface="Arial" panose="020B0604020202020204" pitchFamily="34" charset="0"/>
                <a:cs typeface="Arial" panose="020B0604020202020204" pitchFamily="34" charset="0"/>
              </a:rPr>
              <a:t>The outputs of the FSM are a function of the current </a:t>
            </a:r>
            <a:r>
              <a:rPr lang="en-US" b="0" i="1" u="none" strike="noStrike" baseline="0" dirty="0">
                <a:latin typeface="Arial" panose="020B0604020202020204" pitchFamily="34" charset="0"/>
                <a:cs typeface="Arial" panose="020B0604020202020204" pitchFamily="34" charset="0"/>
              </a:rPr>
              <a:t>Inputs </a:t>
            </a:r>
            <a:r>
              <a:rPr lang="en-US" b="0" i="0" u="none" strike="noStrike" baseline="0" dirty="0">
                <a:latin typeface="Arial" panose="020B0604020202020204" pitchFamily="34" charset="0"/>
                <a:cs typeface="Arial" panose="020B0604020202020204" pitchFamily="34" charset="0"/>
              </a:rPr>
              <a:t>and the </a:t>
            </a:r>
            <a:r>
              <a:rPr lang="en-US" b="0" i="1" u="none" strike="noStrike" baseline="0" dirty="0">
                <a:latin typeface="Arial" panose="020B0604020202020204" pitchFamily="34" charset="0"/>
                <a:cs typeface="Arial" panose="020B0604020202020204" pitchFamily="34" charset="0"/>
              </a:rPr>
              <a:t>Current State</a:t>
            </a:r>
            <a:r>
              <a:rPr lang="en-US" b="0" i="0" u="none" strike="noStrike" baseline="0" dirty="0">
                <a:latin typeface="Arial" panose="020B0604020202020204" pitchFamily="34" charset="0"/>
                <a:cs typeface="Arial" panose="020B0604020202020204" pitchFamily="34" charset="0"/>
              </a:rPr>
              <a:t>. The </a:t>
            </a:r>
            <a:r>
              <a:rPr lang="en-US" b="0" i="1" u="none" strike="noStrike" baseline="0" dirty="0">
                <a:latin typeface="Arial" panose="020B0604020202020204" pitchFamily="34" charset="0"/>
                <a:cs typeface="Arial" panose="020B0604020202020204" pitchFamily="34" charset="0"/>
              </a:rPr>
              <a:t>Next State </a:t>
            </a:r>
            <a:r>
              <a:rPr lang="en-US" b="0" i="0" u="none" strike="noStrike" baseline="0" dirty="0">
                <a:latin typeface="Arial" panose="020B0604020202020204" pitchFamily="34" charset="0"/>
                <a:cs typeface="Arial" panose="020B0604020202020204" pitchFamily="34" charset="0"/>
              </a:rPr>
              <a:t>is determined based on the </a:t>
            </a:r>
            <a:r>
              <a:rPr lang="en-US" b="0" i="1" u="none" strike="noStrike" baseline="0" dirty="0">
                <a:latin typeface="Arial" panose="020B0604020202020204" pitchFamily="34" charset="0"/>
                <a:cs typeface="Arial" panose="020B0604020202020204" pitchFamily="34" charset="0"/>
              </a:rPr>
              <a:t>Current State </a:t>
            </a:r>
            <a:r>
              <a:rPr lang="en-US" b="0" i="0" u="none" strike="noStrike" baseline="0" dirty="0">
                <a:latin typeface="Arial" panose="020B0604020202020204" pitchFamily="34" charset="0"/>
                <a:cs typeface="Arial" panose="020B0604020202020204" pitchFamily="34" charset="0"/>
              </a:rPr>
              <a:t>and the current </a:t>
            </a:r>
            <a:r>
              <a:rPr lang="en-US" b="0" i="1" u="none" strike="noStrike" baseline="0" dirty="0">
                <a:latin typeface="Arial" panose="020B0604020202020204" pitchFamily="34" charset="0"/>
                <a:cs typeface="Arial" panose="020B0604020202020204" pitchFamily="34" charset="0"/>
              </a:rPr>
              <a:t>Inputs </a:t>
            </a:r>
            <a:r>
              <a:rPr lang="en-US" b="0" i="0" u="none" strike="noStrike" baseline="0" dirty="0">
                <a:latin typeface="Arial" panose="020B0604020202020204" pitchFamily="34" charset="0"/>
                <a:cs typeface="Arial" panose="020B0604020202020204" pitchFamily="34" charset="0"/>
              </a:rPr>
              <a:t>and is fed to the inputs of registers.</a:t>
            </a:r>
          </a:p>
          <a:p>
            <a:pPr>
              <a:lnSpc>
                <a:spcPct val="90000"/>
              </a:lnSpc>
            </a:pPr>
            <a:r>
              <a:rPr lang="en-US" b="0" i="0" u="none" strike="noStrike" baseline="0" dirty="0">
                <a:latin typeface="Arial" panose="020B0604020202020204" pitchFamily="34" charset="0"/>
                <a:cs typeface="Arial" panose="020B0604020202020204" pitchFamily="34" charset="0"/>
              </a:rPr>
              <a:t>On the rising edge of the clock, the </a:t>
            </a:r>
            <a:r>
              <a:rPr lang="en-US" b="0" i="1" u="none" strike="noStrike" baseline="0" dirty="0">
                <a:latin typeface="Arial" panose="020B0604020202020204" pitchFamily="34" charset="0"/>
                <a:cs typeface="Arial" panose="020B0604020202020204" pitchFamily="34" charset="0"/>
              </a:rPr>
              <a:t>Next State </a:t>
            </a:r>
            <a:r>
              <a:rPr lang="en-US" b="0" i="0" u="none" strike="noStrike" baseline="0" dirty="0">
                <a:latin typeface="Arial" panose="020B0604020202020204" pitchFamily="34" charset="0"/>
                <a:cs typeface="Arial" panose="020B0604020202020204" pitchFamily="34" charset="0"/>
              </a:rPr>
              <a:t>bits are copied to the outputs of the registers (after some propagation delay), and a new cycle begins. The register then ignores changes in the input signals until the next rising edge. In general</a:t>
            </a:r>
            <a:endParaRPr lang="en-US" dirty="0">
              <a:latin typeface="Arial" panose="020B0604020202020204" pitchFamily="34" charset="0"/>
              <a:cs typeface="Arial" panose="020B0604020202020204" pitchFamily="34" charset="0"/>
            </a:endParaRPr>
          </a:p>
          <a:p>
            <a:pPr>
              <a:lnSpc>
                <a:spcPct val="90000"/>
              </a:lnSpc>
            </a:pPr>
            <a:endParaRPr lang="en-US" sz="1400" dirty="0">
              <a:latin typeface="Arial" panose="020B0604020202020204" pitchFamily="34" charset="0"/>
              <a:cs typeface="Arial" panose="020B0604020202020204" pitchFamily="34" charset="0"/>
            </a:endParaRPr>
          </a:p>
          <a:p>
            <a:pPr>
              <a:lnSpc>
                <a:spcPct val="90000"/>
              </a:lnSpc>
              <a:buNone/>
            </a:pPr>
            <a:endParaRPr lang="en-US" sz="1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17795557-021F-46FC-9D8A-7CF1AAF6F782}"/>
              </a:ext>
            </a:extLst>
          </p:cNvPr>
          <p:cNvPicPr>
            <a:picLocks noChangeAspect="1"/>
          </p:cNvPicPr>
          <p:nvPr/>
        </p:nvPicPr>
        <p:blipFill>
          <a:blip r:embed="rId2"/>
          <a:stretch>
            <a:fillRect/>
          </a:stretch>
        </p:blipFill>
        <p:spPr>
          <a:xfrm>
            <a:off x="7562088" y="2013736"/>
            <a:ext cx="4501217" cy="2250608"/>
          </a:xfrm>
          <a:prstGeom prst="rect">
            <a:avLst/>
          </a:prstGeom>
        </p:spPr>
      </p:pic>
      <p:sp>
        <p:nvSpPr>
          <p:cNvPr id="32"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5A073A6F-A66A-46CE-86B4-9A31ED569E3B}"/>
              </a:ext>
            </a:extLst>
          </p:cNvPr>
          <p:cNvSpPr>
            <a:spLocks noGrp="1"/>
          </p:cNvSpPr>
          <p:nvPr>
            <p:ph type="ftr" sz="quarter" idx="11"/>
          </p:nvPr>
        </p:nvSpPr>
        <p:spPr>
          <a:xfrm>
            <a:off x="1220916" y="6135808"/>
            <a:ext cx="7619999" cy="365125"/>
          </a:xfrm>
        </p:spPr>
        <p:txBody>
          <a:bodyPr>
            <a:normAutofit/>
          </a:bodyPr>
          <a:lstStyle/>
          <a:p>
            <a:r>
              <a:rPr lang="en-IN" sz="14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2008867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C775-5C5E-44C6-AF37-8862644FEE86}"/>
              </a:ext>
            </a:extLst>
          </p:cNvPr>
          <p:cNvSpPr>
            <a:spLocks noGrp="1"/>
          </p:cNvSpPr>
          <p:nvPr>
            <p:ph type="title"/>
          </p:nvPr>
        </p:nvSpPr>
        <p:spPr>
          <a:xfrm>
            <a:off x="1624519" y="624110"/>
            <a:ext cx="9880094" cy="1280890"/>
          </a:xfrm>
        </p:spPr>
        <p:txBody>
          <a:bodyPr>
            <a:normAutofit/>
          </a:bodyPr>
          <a:lstStyle/>
          <a:p>
            <a:r>
              <a:rPr lang="en-US" sz="3200" b="1" dirty="0"/>
              <a:t>Timing Metrics for Sequential Circuits</a:t>
            </a:r>
            <a:endParaRPr lang="en-IN" sz="3200" b="1"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8A54FE58-DD1F-4476-A9A2-0D08E6F93900}"/>
              </a:ext>
            </a:extLst>
          </p:cNvPr>
          <p:cNvSpPr>
            <a:spLocks noGrp="1"/>
          </p:cNvSpPr>
          <p:nvPr>
            <p:ph type="ftr" sz="quarter" idx="11"/>
          </p:nvPr>
        </p:nvSpPr>
        <p:spPr>
          <a:xfrm>
            <a:off x="1879600" y="6139822"/>
            <a:ext cx="8329611" cy="361111"/>
          </a:xfrm>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7" name="Content Placeholder 6"/>
          <p:cNvSpPr>
            <a:spLocks noGrp="1"/>
          </p:cNvSpPr>
          <p:nvPr>
            <p:ph idx="1"/>
          </p:nvPr>
        </p:nvSpPr>
        <p:spPr>
          <a:xfrm>
            <a:off x="457200" y="1215957"/>
            <a:ext cx="11371006" cy="5359941"/>
          </a:xfrm>
        </p:spPr>
        <p:txBody>
          <a:bodyPr>
            <a:normAutofit/>
          </a:bodyPr>
          <a:lstStyle/>
          <a:p>
            <a:pPr algn="just">
              <a:spcBef>
                <a:spcPts val="0"/>
              </a:spcBef>
              <a:buNone/>
            </a:pPr>
            <a:endParaRPr lang="en-US" dirty="0">
              <a:latin typeface="Arial" panose="020B0604020202020204" pitchFamily="34" charset="0"/>
              <a:cs typeface="Arial" pitchFamily="34" charset="0"/>
            </a:endParaRPr>
          </a:p>
          <a:p>
            <a:pPr algn="l"/>
            <a:r>
              <a:rPr lang="en-US" sz="1800" b="0" i="0" u="none" strike="noStrike" baseline="0" dirty="0">
                <a:latin typeface="Arial" panose="020B0604020202020204" pitchFamily="34" charset="0"/>
                <a:cs typeface="Arial" panose="020B0604020202020204" pitchFamily="34" charset="0"/>
              </a:rPr>
              <a:t>The </a:t>
            </a:r>
            <a:r>
              <a:rPr lang="en-US" sz="1800" b="1" i="1" u="none" strike="noStrike" baseline="0" dirty="0">
                <a:latin typeface="Arial" panose="020B0604020202020204" pitchFamily="34" charset="0"/>
                <a:cs typeface="Arial" panose="020B0604020202020204" pitchFamily="34" charset="0"/>
              </a:rPr>
              <a:t>set-up time </a:t>
            </a:r>
            <a:r>
              <a:rPr lang="en-US" sz="1800" b="1" i="0" u="none" strike="noStrike" baseline="0" dirty="0">
                <a:latin typeface="Arial" panose="020B0604020202020204" pitchFamily="34" charset="0"/>
                <a:cs typeface="Arial" panose="020B0604020202020204" pitchFamily="34" charset="0"/>
              </a:rPr>
              <a:t>(</a:t>
            </a:r>
            <a:r>
              <a:rPr lang="en-US" sz="1800" b="1" i="1" u="none" strike="noStrike" baseline="0" dirty="0" err="1">
                <a:latin typeface="Arial" panose="020B0604020202020204" pitchFamily="34" charset="0"/>
                <a:cs typeface="Arial" panose="020B0604020202020204" pitchFamily="34" charset="0"/>
              </a:rPr>
              <a:t>t</a:t>
            </a:r>
            <a:r>
              <a:rPr lang="en-US" sz="1800" b="1" i="1" u="none" strike="noStrike" baseline="-25000" dirty="0" err="1">
                <a:latin typeface="Arial" panose="020B0604020202020204" pitchFamily="34" charset="0"/>
                <a:cs typeface="Arial" panose="020B0604020202020204" pitchFamily="34" charset="0"/>
              </a:rPr>
              <a:t>su</a:t>
            </a:r>
            <a:r>
              <a:rPr lang="en-US" sz="1800" b="1" i="0" u="none" strike="noStrike" baseline="0" dirty="0">
                <a:latin typeface="Arial" panose="020B0604020202020204" pitchFamily="34" charset="0"/>
                <a:cs typeface="Arial" panose="020B0604020202020204" pitchFamily="34" charset="0"/>
              </a:rPr>
              <a:t>) </a:t>
            </a:r>
            <a:r>
              <a:rPr lang="en-US" sz="1800" b="0" i="0" u="none" strike="noStrike" baseline="0" dirty="0">
                <a:latin typeface="Arial" panose="020B0604020202020204" pitchFamily="34" charset="0"/>
                <a:cs typeface="Arial" panose="020B0604020202020204" pitchFamily="34" charset="0"/>
              </a:rPr>
              <a:t>is the time that the data inputs (</a:t>
            </a:r>
            <a:r>
              <a:rPr lang="en-US" sz="1800" b="0" i="1" u="none" strike="noStrike" baseline="0" dirty="0">
                <a:latin typeface="Arial" panose="020B0604020202020204" pitchFamily="34" charset="0"/>
                <a:cs typeface="Arial" panose="020B0604020202020204" pitchFamily="34" charset="0"/>
              </a:rPr>
              <a:t>D </a:t>
            </a:r>
            <a:r>
              <a:rPr lang="en-US" sz="1800" b="0" i="0" u="none" strike="noStrike" baseline="0" dirty="0">
                <a:latin typeface="Arial" panose="020B0604020202020204" pitchFamily="34" charset="0"/>
                <a:cs typeface="Arial" panose="020B0604020202020204" pitchFamily="34" charset="0"/>
              </a:rPr>
              <a:t>input) must be valid before </a:t>
            </a:r>
            <a:r>
              <a:rPr lang="en-IN" sz="1800" b="0" i="0" u="none" strike="noStrike" baseline="0" dirty="0">
                <a:latin typeface="Arial" panose="020B0604020202020204" pitchFamily="34" charset="0"/>
                <a:cs typeface="Arial" panose="020B0604020202020204" pitchFamily="34" charset="0"/>
              </a:rPr>
              <a:t>the clock transition</a:t>
            </a:r>
          </a:p>
          <a:p>
            <a:pPr algn="l"/>
            <a:r>
              <a:rPr lang="en-IN" sz="1800" b="0" i="0" u="none" strike="noStrike" baseline="0" dirty="0">
                <a:latin typeface="Arial" panose="020B0604020202020204" pitchFamily="34" charset="0"/>
                <a:cs typeface="Arial" panose="020B0604020202020204" pitchFamily="34" charset="0"/>
              </a:rPr>
              <a:t>The </a:t>
            </a:r>
            <a:r>
              <a:rPr lang="en-US" sz="1800" b="1" i="1" u="none" strike="noStrike" baseline="0" dirty="0">
                <a:latin typeface="Arial" panose="020B0604020202020204" pitchFamily="34" charset="0"/>
                <a:cs typeface="Arial" panose="020B0604020202020204" pitchFamily="34" charset="0"/>
              </a:rPr>
              <a:t>hold time </a:t>
            </a:r>
            <a:r>
              <a:rPr lang="en-US" sz="1800" b="1" i="0" u="none" strike="noStrike" baseline="0" dirty="0">
                <a:latin typeface="Arial" panose="020B0604020202020204" pitchFamily="34" charset="0"/>
                <a:cs typeface="Arial" panose="020B0604020202020204" pitchFamily="34" charset="0"/>
              </a:rPr>
              <a:t>(</a:t>
            </a:r>
            <a:r>
              <a:rPr lang="en-US" sz="1800" b="1" i="1" u="none" strike="noStrike" baseline="0" dirty="0" err="1">
                <a:latin typeface="Arial" panose="020B0604020202020204" pitchFamily="34" charset="0"/>
                <a:cs typeface="Arial" panose="020B0604020202020204" pitchFamily="34" charset="0"/>
              </a:rPr>
              <a:t>t</a:t>
            </a:r>
            <a:r>
              <a:rPr lang="en-US" sz="1800" b="1" i="1" u="none" strike="noStrike" baseline="-25000" dirty="0" err="1">
                <a:latin typeface="Arial" panose="020B0604020202020204" pitchFamily="34" charset="0"/>
                <a:cs typeface="Arial" panose="020B0604020202020204" pitchFamily="34" charset="0"/>
              </a:rPr>
              <a:t>hold</a:t>
            </a:r>
            <a:r>
              <a:rPr lang="en-US" sz="1800" b="1" i="0" u="none" strike="noStrike" baseline="0" dirty="0">
                <a:latin typeface="Arial" panose="020B0604020202020204" pitchFamily="34" charset="0"/>
                <a:cs typeface="Arial" panose="020B0604020202020204" pitchFamily="34" charset="0"/>
              </a:rPr>
              <a:t>) </a:t>
            </a:r>
            <a:r>
              <a:rPr lang="en-US" sz="1800" b="0" i="0" u="none" strike="noStrike" baseline="0" dirty="0">
                <a:latin typeface="Arial" panose="020B0604020202020204" pitchFamily="34" charset="0"/>
                <a:cs typeface="Arial" panose="020B0604020202020204" pitchFamily="34" charset="0"/>
              </a:rPr>
              <a:t>is the time the data input must remain valid after the clock edge. </a:t>
            </a:r>
          </a:p>
          <a:p>
            <a:pPr algn="l"/>
            <a:r>
              <a:rPr lang="en-IN" sz="1800" b="0" i="0" u="none" strike="noStrike" baseline="0" dirty="0" err="1">
                <a:latin typeface="Arial" panose="020B0604020202020204" pitchFamily="34" charset="0"/>
                <a:cs typeface="Arial" panose="020B0604020202020204" pitchFamily="34" charset="0"/>
              </a:rPr>
              <a:t>Assum</a:t>
            </a:r>
            <a:r>
              <a:rPr lang="en-US" sz="1800" b="0" i="0" u="none" strike="noStrike" baseline="0" dirty="0" err="1">
                <a:latin typeface="Arial" panose="020B0604020202020204" pitchFamily="34" charset="0"/>
                <a:cs typeface="Arial" panose="020B0604020202020204" pitchFamily="34" charset="0"/>
              </a:rPr>
              <a:t>ing</a:t>
            </a:r>
            <a:r>
              <a:rPr lang="en-US" sz="1800" b="0" i="0" u="none" strike="noStrike" baseline="0" dirty="0">
                <a:latin typeface="Arial" panose="020B0604020202020204" pitchFamily="34" charset="0"/>
                <a:cs typeface="Arial" panose="020B0604020202020204" pitchFamily="34" charset="0"/>
              </a:rPr>
              <a:t> that the </a:t>
            </a:r>
            <a:r>
              <a:rPr lang="en-US" sz="1800" b="0" i="1" u="none" strike="noStrike" baseline="0" dirty="0">
                <a:latin typeface="Arial" panose="020B0604020202020204" pitchFamily="34" charset="0"/>
                <a:cs typeface="Arial" panose="020B0604020202020204" pitchFamily="34" charset="0"/>
              </a:rPr>
              <a:t>set</a:t>
            </a:r>
            <a:r>
              <a:rPr lang="en-US" sz="1800" b="0" i="0" u="none" strike="noStrike" baseline="0" dirty="0">
                <a:latin typeface="Arial" panose="020B0604020202020204" pitchFamily="34" charset="0"/>
                <a:cs typeface="Arial" panose="020B0604020202020204" pitchFamily="34" charset="0"/>
              </a:rPr>
              <a:t>-</a:t>
            </a:r>
            <a:r>
              <a:rPr lang="en-US" sz="1800" b="0" i="1" u="none" strike="noStrike" baseline="0" dirty="0">
                <a:latin typeface="Arial" panose="020B0604020202020204" pitchFamily="34" charset="0"/>
                <a:cs typeface="Arial" panose="020B0604020202020204" pitchFamily="34" charset="0"/>
              </a:rPr>
              <a:t>up </a:t>
            </a:r>
            <a:r>
              <a:rPr lang="en-US" sz="1800" b="0" i="0" u="none" strike="noStrike" baseline="0" dirty="0">
                <a:latin typeface="Arial" panose="020B0604020202020204" pitchFamily="34" charset="0"/>
                <a:cs typeface="Arial" panose="020B0604020202020204" pitchFamily="34" charset="0"/>
              </a:rPr>
              <a:t>and </a:t>
            </a:r>
            <a:r>
              <a:rPr lang="en-US" sz="1800" b="0" i="1" u="none" strike="noStrike" baseline="0" dirty="0">
                <a:latin typeface="Arial" panose="020B0604020202020204" pitchFamily="34" charset="0"/>
                <a:cs typeface="Arial" panose="020B0604020202020204" pitchFamily="34" charset="0"/>
              </a:rPr>
              <a:t>hold</a:t>
            </a:r>
            <a:r>
              <a:rPr lang="en-US" sz="1800" b="0" i="0" u="none" strike="noStrike" baseline="0" dirty="0">
                <a:latin typeface="Arial" panose="020B0604020202020204" pitchFamily="34" charset="0"/>
                <a:cs typeface="Arial" panose="020B0604020202020204" pitchFamily="34" charset="0"/>
              </a:rPr>
              <a:t>-times are met, the data at the </a:t>
            </a:r>
            <a:r>
              <a:rPr lang="en-US" sz="1800" b="0" i="1" u="none" strike="noStrike" baseline="0" dirty="0">
                <a:latin typeface="Arial" panose="020B0604020202020204" pitchFamily="34" charset="0"/>
                <a:cs typeface="Arial" panose="020B0604020202020204" pitchFamily="34" charset="0"/>
              </a:rPr>
              <a:t>D </a:t>
            </a:r>
            <a:r>
              <a:rPr lang="en-US" sz="1800" b="0" i="0" u="none" strike="noStrike" baseline="0" dirty="0">
                <a:latin typeface="Arial" panose="020B0604020202020204" pitchFamily="34" charset="0"/>
                <a:cs typeface="Arial" panose="020B0604020202020204" pitchFamily="34" charset="0"/>
              </a:rPr>
              <a:t>input is copied to the </a:t>
            </a:r>
            <a:r>
              <a:rPr lang="en-US" sz="1800" b="0" i="1" u="none" strike="noStrike" baseline="0" dirty="0">
                <a:latin typeface="Arial" panose="020B0604020202020204" pitchFamily="34" charset="0"/>
                <a:cs typeface="Arial" panose="020B0604020202020204" pitchFamily="34" charset="0"/>
              </a:rPr>
              <a:t>Q </a:t>
            </a:r>
            <a:r>
              <a:rPr lang="en-US" sz="1800" b="0" i="0" u="none" strike="noStrike" baseline="0" dirty="0">
                <a:latin typeface="Arial" panose="020B0604020202020204" pitchFamily="34" charset="0"/>
                <a:cs typeface="Arial" panose="020B0604020202020204" pitchFamily="34" charset="0"/>
              </a:rPr>
              <a:t>output after a worst-case </a:t>
            </a:r>
            <a:r>
              <a:rPr lang="en-US" sz="1800" b="0" i="1" u="none" strike="noStrike" baseline="0" dirty="0">
                <a:latin typeface="Arial" panose="020B0604020202020204" pitchFamily="34" charset="0"/>
                <a:cs typeface="Arial" panose="020B0604020202020204" pitchFamily="34" charset="0"/>
              </a:rPr>
              <a:t>propagation delay </a:t>
            </a:r>
            <a:r>
              <a:rPr lang="en-US" sz="1800" b="0" i="0" u="none" strike="noStrike" baseline="0" dirty="0">
                <a:latin typeface="Arial" panose="020B0604020202020204" pitchFamily="34" charset="0"/>
                <a:cs typeface="Arial" panose="020B0604020202020204" pitchFamily="34" charset="0"/>
              </a:rPr>
              <a:t>(with reference to the clock edge) denoted by </a:t>
            </a:r>
            <a:r>
              <a:rPr lang="en-US" sz="1800" b="1" i="1" u="none" strike="noStrike" baseline="0" dirty="0" err="1">
                <a:latin typeface="Arial" panose="020B0604020202020204" pitchFamily="34" charset="0"/>
                <a:cs typeface="Arial" panose="020B0604020202020204" pitchFamily="34" charset="0"/>
              </a:rPr>
              <a:t>t</a:t>
            </a:r>
            <a:r>
              <a:rPr lang="en-US" sz="1800" b="1" i="1" u="none" strike="noStrike" baseline="-25000" dirty="0" err="1">
                <a:latin typeface="Arial" panose="020B0604020202020204" pitchFamily="34" charset="0"/>
                <a:cs typeface="Arial" panose="020B0604020202020204" pitchFamily="34" charset="0"/>
              </a:rPr>
              <a:t>c</a:t>
            </a:r>
            <a:r>
              <a:rPr lang="en-US" sz="1800" b="1" i="1" u="none" strike="noStrike" baseline="-25000" dirty="0">
                <a:latin typeface="Arial" panose="020B0604020202020204" pitchFamily="34" charset="0"/>
                <a:cs typeface="Arial" panose="020B0604020202020204" pitchFamily="34" charset="0"/>
              </a:rPr>
              <a:t>-q</a:t>
            </a:r>
            <a:r>
              <a:rPr lang="en-US" sz="1800" b="0" i="0" u="none" strike="noStrike" baseline="0" dirty="0">
                <a:latin typeface="Arial" panose="020B0604020202020204" pitchFamily="34" charset="0"/>
                <a:cs typeface="Arial" panose="020B0604020202020204" pitchFamily="34" charset="0"/>
              </a:rPr>
              <a:t>.</a:t>
            </a:r>
          </a:p>
          <a:p>
            <a:pPr algn="l"/>
            <a:r>
              <a:rPr lang="en-US" sz="1800" b="0" u="none" strike="noStrike" baseline="0" dirty="0">
                <a:latin typeface="Arial" panose="020B0604020202020204" pitchFamily="34" charset="0"/>
                <a:cs typeface="Arial" panose="020B0604020202020204" pitchFamily="34" charset="0"/>
              </a:rPr>
              <a:t>Assume that the worst-case propagation delay of the logic equals </a:t>
            </a:r>
            <a:r>
              <a:rPr lang="en-US" sz="1800" b="1" u="none" strike="noStrike" baseline="0" dirty="0" err="1">
                <a:latin typeface="Arial" panose="020B0604020202020204" pitchFamily="34" charset="0"/>
                <a:cs typeface="Arial" panose="020B0604020202020204" pitchFamily="34" charset="0"/>
              </a:rPr>
              <a:t>t</a:t>
            </a:r>
            <a:r>
              <a:rPr lang="en-US" sz="1800" b="1" u="none" strike="noStrike" baseline="-25000" dirty="0" err="1">
                <a:latin typeface="Arial" panose="020B0604020202020204" pitchFamily="34" charset="0"/>
                <a:cs typeface="Arial" panose="020B0604020202020204" pitchFamily="34" charset="0"/>
              </a:rPr>
              <a:t>plogic</a:t>
            </a:r>
            <a:r>
              <a:rPr lang="en-US" sz="1800" b="0" u="none" strike="noStrike" baseline="0" dirty="0">
                <a:latin typeface="Arial" panose="020B0604020202020204" pitchFamily="34" charset="0"/>
                <a:cs typeface="Arial" panose="020B0604020202020204" pitchFamily="34" charset="0"/>
              </a:rPr>
              <a:t>, while its minimum delay (also called the contamination delay) is</a:t>
            </a:r>
            <a:r>
              <a:rPr lang="en-US" sz="1800" u="none" strike="noStrike" baseline="0" dirty="0">
                <a:latin typeface="Arial" panose="020B0604020202020204" pitchFamily="34" charset="0"/>
                <a:cs typeface="Arial" panose="020B0604020202020204" pitchFamily="34" charset="0"/>
              </a:rPr>
              <a:t> </a:t>
            </a:r>
            <a:r>
              <a:rPr lang="en-US" sz="1800" u="none" strike="noStrike" baseline="0" dirty="0" err="1">
                <a:latin typeface="Arial" panose="020B0604020202020204" pitchFamily="34" charset="0"/>
                <a:cs typeface="Arial" panose="020B0604020202020204" pitchFamily="34" charset="0"/>
              </a:rPr>
              <a:t>t</a:t>
            </a:r>
            <a:r>
              <a:rPr lang="en-US" sz="1800" u="none" strike="noStrike" baseline="-25000" dirty="0" err="1">
                <a:latin typeface="Arial" panose="020B0604020202020204" pitchFamily="34" charset="0"/>
                <a:cs typeface="Arial" panose="020B0604020202020204" pitchFamily="34" charset="0"/>
              </a:rPr>
              <a:t>cd</a:t>
            </a:r>
            <a:r>
              <a:rPr lang="en-US" sz="1800" b="0" u="none" strike="noStrike" baseline="0" dirty="0">
                <a:latin typeface="Arial" panose="020B0604020202020204" pitchFamily="34" charset="0"/>
                <a:cs typeface="Arial" panose="020B0604020202020204" pitchFamily="34" charset="0"/>
              </a:rPr>
              <a:t>. The minimum clock period T, required for proper operation of the sequential </a:t>
            </a:r>
            <a:r>
              <a:rPr lang="en-IN" sz="1800" b="0" u="none" strike="noStrike" baseline="0" dirty="0">
                <a:latin typeface="Arial" panose="020B0604020202020204" pitchFamily="34" charset="0"/>
                <a:cs typeface="Arial" panose="020B0604020202020204" pitchFamily="34" charset="0"/>
              </a:rPr>
              <a:t>circuit is given by</a:t>
            </a:r>
          </a:p>
          <a:p>
            <a:pPr algn="l"/>
            <a:r>
              <a:rPr lang="en-IN" dirty="0">
                <a:latin typeface="Arial" panose="020B0604020202020204" pitchFamily="34" charset="0"/>
                <a:cs typeface="Arial" panose="020B0604020202020204" pitchFamily="34" charset="0"/>
              </a:rPr>
              <a:t>                                                                                                                     ……… (1)</a:t>
            </a:r>
          </a:p>
          <a:p>
            <a:pPr algn="l"/>
            <a:r>
              <a:rPr lang="en-US" sz="1800" b="0" i="0" u="none" strike="noStrike" baseline="0" dirty="0">
                <a:latin typeface="Arial" panose="020B0604020202020204" pitchFamily="34" charset="0"/>
                <a:cs typeface="Arial" panose="020B0604020202020204" pitchFamily="34" charset="0"/>
              </a:rPr>
              <a:t>The </a:t>
            </a:r>
            <a:r>
              <a:rPr lang="en-US" sz="1800" b="0" i="1" u="none" strike="noStrike" baseline="0" dirty="0">
                <a:latin typeface="Arial" panose="020B0604020202020204" pitchFamily="34" charset="0"/>
                <a:cs typeface="Arial" panose="020B0604020202020204" pitchFamily="34" charset="0"/>
              </a:rPr>
              <a:t>hold time </a:t>
            </a:r>
            <a:r>
              <a:rPr lang="en-US" sz="1800" b="0" i="0" u="none" strike="noStrike" baseline="0" dirty="0">
                <a:latin typeface="Arial" panose="020B0604020202020204" pitchFamily="34" charset="0"/>
                <a:cs typeface="Arial" panose="020B0604020202020204" pitchFamily="34" charset="0"/>
              </a:rPr>
              <a:t>of the register imposes an extra constraint for proper operation.</a:t>
            </a:r>
          </a:p>
          <a:p>
            <a:pPr algn="l"/>
            <a:r>
              <a:rPr lang="en-US" dirty="0">
                <a:latin typeface="Arial" panose="020B0604020202020204" pitchFamily="34" charset="0"/>
                <a:cs typeface="Arial" panose="020B0604020202020204" pitchFamily="34" charset="0"/>
              </a:rPr>
              <a:t>                                                                                                                      ……….(2)</a:t>
            </a:r>
          </a:p>
          <a:p>
            <a:pPr algn="l"/>
            <a:r>
              <a:rPr lang="en-US" sz="1800" b="0" i="0" u="none" strike="noStrike" baseline="0" dirty="0">
                <a:latin typeface="Arial" panose="020B0604020202020204" pitchFamily="34" charset="0"/>
                <a:cs typeface="Arial" panose="020B0604020202020204" pitchFamily="34" charset="0"/>
              </a:rPr>
              <a:t>where</a:t>
            </a:r>
            <a:r>
              <a:rPr lang="en-US" sz="1800" b="1" i="0" u="none" strike="noStrike" baseline="0" dirty="0">
                <a:latin typeface="Arial" panose="020B0604020202020204" pitchFamily="34" charset="0"/>
                <a:cs typeface="Arial" panose="020B0604020202020204" pitchFamily="34" charset="0"/>
              </a:rPr>
              <a:t> </a:t>
            </a:r>
            <a:r>
              <a:rPr lang="en-US" sz="1800" b="1" i="1" u="none" strike="noStrike" baseline="0" dirty="0" err="1">
                <a:latin typeface="Arial" panose="020B0604020202020204" pitchFamily="34" charset="0"/>
                <a:cs typeface="Arial" panose="020B0604020202020204" pitchFamily="34" charset="0"/>
              </a:rPr>
              <a:t>t</a:t>
            </a:r>
            <a:r>
              <a:rPr lang="en-US" sz="1800" b="1" i="1" u="none" strike="noStrike" baseline="-25000" dirty="0" err="1">
                <a:latin typeface="Arial" panose="020B0604020202020204" pitchFamily="34" charset="0"/>
                <a:cs typeface="Arial" panose="020B0604020202020204" pitchFamily="34" charset="0"/>
              </a:rPr>
              <a:t>cd</a:t>
            </a:r>
            <a:r>
              <a:rPr lang="en-US" sz="1800" b="1" i="1" u="none" strike="noStrike" baseline="0" dirty="0">
                <a:latin typeface="Arial" panose="020B0604020202020204" pitchFamily="34" charset="0"/>
                <a:cs typeface="Arial" panose="020B0604020202020204" pitchFamily="34" charset="0"/>
              </a:rPr>
              <a:t> </a:t>
            </a:r>
            <a:r>
              <a:rPr lang="en-US" sz="1800" b="0" i="0" u="none" strike="noStrike" baseline="0" dirty="0">
                <a:latin typeface="Arial" panose="020B0604020202020204" pitchFamily="34" charset="0"/>
                <a:cs typeface="Arial" panose="020B0604020202020204" pitchFamily="34" charset="0"/>
              </a:rPr>
              <a:t>register is the minimum </a:t>
            </a:r>
            <a:r>
              <a:rPr lang="en-US" sz="1800" b="0" i="1" u="none" strike="noStrike" baseline="0" dirty="0">
                <a:latin typeface="Arial" panose="020B0604020202020204" pitchFamily="34" charset="0"/>
                <a:cs typeface="Arial" panose="020B0604020202020204" pitchFamily="34" charset="0"/>
              </a:rPr>
              <a:t>propagation delay </a:t>
            </a:r>
            <a:r>
              <a:rPr lang="en-US" sz="1800" b="0" i="0" u="none" strike="noStrike" baseline="0" dirty="0">
                <a:latin typeface="Arial" panose="020B0604020202020204" pitchFamily="34" charset="0"/>
                <a:cs typeface="Arial" panose="020B0604020202020204" pitchFamily="34" charset="0"/>
              </a:rPr>
              <a:t>(or </a:t>
            </a:r>
            <a:r>
              <a:rPr lang="en-US" sz="1800" b="0" i="1" u="none" strike="noStrike" baseline="0" dirty="0">
                <a:latin typeface="Arial" panose="020B0604020202020204" pitchFamily="34" charset="0"/>
                <a:cs typeface="Arial" panose="020B0604020202020204" pitchFamily="34" charset="0"/>
              </a:rPr>
              <a:t>contamination delay</a:t>
            </a:r>
            <a:r>
              <a:rPr lang="en-US" sz="1800" b="0" i="0" u="none" strike="noStrike" baseline="0" dirty="0">
                <a:latin typeface="Arial" panose="020B0604020202020204" pitchFamily="34" charset="0"/>
                <a:cs typeface="Arial" panose="020B0604020202020204" pitchFamily="34" charset="0"/>
              </a:rPr>
              <a:t>) of the register.</a:t>
            </a:r>
          </a:p>
          <a:p>
            <a:pPr algn="l"/>
            <a:endParaRPr lang="en-US" sz="1800" b="0" i="0" u="none" strike="noStrike" baseline="0" dirty="0">
              <a:latin typeface="Arial" panose="020B0604020202020204" pitchFamily="34" charset="0"/>
              <a:cs typeface="Arial" panose="020B0604020202020204" pitchFamily="34" charset="0"/>
            </a:endParaRPr>
          </a:p>
          <a:p>
            <a:pPr algn="l"/>
            <a:endParaRPr lang="en-US" sz="1800" b="0" u="none" strike="noStrike" baseline="0" dirty="0">
              <a:latin typeface="Arial" panose="020B0604020202020204" pitchFamily="34" charset="0"/>
              <a:cs typeface="Arial" panose="020B0604020202020204" pitchFamily="34" charset="0"/>
            </a:endParaRPr>
          </a:p>
          <a:p>
            <a:pPr algn="l"/>
            <a:endParaRPr lang="en-US" b="1" u="sng" dirty="0">
              <a:latin typeface="Arial" panose="020B0604020202020204" pitchFamily="34" charset="0"/>
              <a:cs typeface="Arial" pitchFamily="34" charset="0"/>
            </a:endParaRP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lgn="just">
              <a:buNone/>
            </a:pPr>
            <a:endParaRPr lang="en-IN" dirty="0">
              <a:latin typeface="Arial" pitchFamily="34" charset="0"/>
              <a:cs typeface="Arial" pitchFamily="34" charset="0"/>
            </a:endParaRPr>
          </a:p>
          <a:p>
            <a:pPr marL="324000">
              <a:spcBef>
                <a:spcPts val="0"/>
              </a:spcBef>
              <a:buFont typeface="Wingdings" pitchFamily="2" charset="2"/>
              <a:buChar char="Ø"/>
            </a:pPr>
            <a:endParaRPr lang="en-IN" dirty="0">
              <a:latin typeface="Arial" pitchFamily="34" charset="0"/>
              <a:cs typeface="Arial" pitchFamily="34" charset="0"/>
            </a:endParaRPr>
          </a:p>
          <a:p>
            <a:pPr algn="just">
              <a:buNone/>
            </a:pPr>
            <a:endParaRPr lang="en-IN" dirty="0">
              <a:latin typeface="Arial" pitchFamily="34" charset="0"/>
              <a:cs typeface="Arial" pitchFamily="34" charset="0"/>
            </a:endParaRPr>
          </a:p>
          <a:p>
            <a:pPr algn="just">
              <a:spcBef>
                <a:spcPts val="0"/>
              </a:spcBef>
              <a:buNone/>
            </a:pPr>
            <a:endParaRPr lang="en-IN" dirty="0"/>
          </a:p>
          <a:p>
            <a:pPr algn="just">
              <a:spcBef>
                <a:spcPts val="0"/>
              </a:spcBef>
              <a:buNone/>
            </a:pPr>
            <a:endParaRPr lang="en-IN" b="1" u="sng" dirty="0">
              <a:latin typeface="Arial" pitchFamily="34" charset="0"/>
              <a:cs typeface="Arial" pitchFamily="34" charset="0"/>
            </a:endParaRPr>
          </a:p>
          <a:p>
            <a:pPr algn="just">
              <a:buNone/>
            </a:pPr>
            <a:endParaRPr lang="en-IN" b="1" u="sng" dirty="0">
              <a:latin typeface="Arial" pitchFamily="34" charset="0"/>
              <a:cs typeface="Arial" pitchFamily="34" charset="0"/>
            </a:endParaRPr>
          </a:p>
        </p:txBody>
      </p:sp>
      <p:pic>
        <p:nvPicPr>
          <p:cNvPr id="3" name="Picture 2">
            <a:extLst>
              <a:ext uri="{FF2B5EF4-FFF2-40B4-BE49-F238E27FC236}">
                <a16:creationId xmlns:a16="http://schemas.microsoft.com/office/drawing/2014/main" id="{BE04DAA3-3D84-4969-9E4A-AA8AB4665ABA}"/>
              </a:ext>
            </a:extLst>
          </p:cNvPr>
          <p:cNvPicPr>
            <a:picLocks noChangeAspect="1"/>
          </p:cNvPicPr>
          <p:nvPr/>
        </p:nvPicPr>
        <p:blipFill>
          <a:blip r:embed="rId2"/>
          <a:stretch>
            <a:fillRect/>
          </a:stretch>
        </p:blipFill>
        <p:spPr>
          <a:xfrm>
            <a:off x="4299077" y="3999127"/>
            <a:ext cx="2679191" cy="450192"/>
          </a:xfrm>
          <a:prstGeom prst="rect">
            <a:avLst/>
          </a:prstGeom>
        </p:spPr>
      </p:pic>
      <p:pic>
        <p:nvPicPr>
          <p:cNvPr id="5" name="Picture 4">
            <a:extLst>
              <a:ext uri="{FF2B5EF4-FFF2-40B4-BE49-F238E27FC236}">
                <a16:creationId xmlns:a16="http://schemas.microsoft.com/office/drawing/2014/main" id="{9AABDE35-3718-46CD-829B-727B7EE8C4FD}"/>
              </a:ext>
            </a:extLst>
          </p:cNvPr>
          <p:cNvPicPr>
            <a:picLocks noChangeAspect="1"/>
          </p:cNvPicPr>
          <p:nvPr/>
        </p:nvPicPr>
        <p:blipFill>
          <a:blip r:embed="rId3"/>
          <a:stretch>
            <a:fillRect/>
          </a:stretch>
        </p:blipFill>
        <p:spPr>
          <a:xfrm>
            <a:off x="4453551" y="4860610"/>
            <a:ext cx="2820552" cy="418995"/>
          </a:xfrm>
          <a:prstGeom prst="rect">
            <a:avLst/>
          </a:prstGeom>
        </p:spPr>
      </p:pic>
    </p:spTree>
    <p:extLst>
      <p:ext uri="{BB962C8B-B14F-4D97-AF65-F5344CB8AC3E}">
        <p14:creationId xmlns:p14="http://schemas.microsoft.com/office/powerpoint/2010/main" val="2490775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FB2A-0814-40DA-956A-43B537D77CBF}"/>
              </a:ext>
            </a:extLst>
          </p:cNvPr>
          <p:cNvSpPr>
            <a:spLocks noGrp="1"/>
          </p:cNvSpPr>
          <p:nvPr>
            <p:ph type="title"/>
          </p:nvPr>
        </p:nvSpPr>
        <p:spPr>
          <a:xfrm>
            <a:off x="1634247" y="624110"/>
            <a:ext cx="9870366" cy="1280890"/>
          </a:xfrm>
        </p:spPr>
        <p:txBody>
          <a:bodyPr>
            <a:normAutofit/>
          </a:bodyPr>
          <a:lstStyle/>
          <a:p>
            <a:r>
              <a:rPr lang="en-US" sz="3200" b="1" dirty="0"/>
              <a:t>Continuing…… </a:t>
            </a:r>
            <a:endParaRPr lang="en-IN" sz="3200" dirty="0">
              <a:latin typeface="Arial" pitchFamily="34" charset="0"/>
              <a:cs typeface="Arial" pitchFamily="34" charset="0"/>
            </a:endParaRPr>
          </a:p>
        </p:txBody>
      </p:sp>
      <p:sp>
        <p:nvSpPr>
          <p:cNvPr id="3" name="Content Placeholder 2">
            <a:extLst>
              <a:ext uri="{FF2B5EF4-FFF2-40B4-BE49-F238E27FC236}">
                <a16:creationId xmlns:a16="http://schemas.microsoft.com/office/drawing/2014/main" id="{20CCCE38-9501-41BD-A653-793344110BEB}"/>
              </a:ext>
            </a:extLst>
          </p:cNvPr>
          <p:cNvSpPr>
            <a:spLocks noGrp="1"/>
          </p:cNvSpPr>
          <p:nvPr>
            <p:ph idx="1"/>
          </p:nvPr>
        </p:nvSpPr>
        <p:spPr>
          <a:xfrm>
            <a:off x="389107" y="1536971"/>
            <a:ext cx="11449456" cy="4659548"/>
          </a:xfrm>
        </p:spPr>
        <p:txBody>
          <a:bodyPr>
            <a:normAutofit/>
          </a:bodyPr>
          <a:lstStyle/>
          <a:p>
            <a:pPr algn="just"/>
            <a:r>
              <a:rPr lang="en-US" dirty="0">
                <a:latin typeface="Arial" pitchFamily="34" charset="0"/>
                <a:cs typeface="Arial" pitchFamily="34" charset="0"/>
              </a:rPr>
              <a:t>As seen from Eq. (1), it is important to minimize the values of the timing parameters associated with the register, as these directly affect the rate at which a sequential circuit can be clocked.</a:t>
            </a:r>
            <a:endParaRPr lang="en-IN" dirty="0">
              <a:latin typeface="Arial" pitchFamily="34" charset="0"/>
              <a:cs typeface="Arial" pitchFamily="34" charset="0"/>
            </a:endParaRPr>
          </a:p>
        </p:txBody>
      </p:sp>
      <p:sp>
        <p:nvSpPr>
          <p:cNvPr id="4" name="Footer Placeholder 3">
            <a:extLst>
              <a:ext uri="{FF2B5EF4-FFF2-40B4-BE49-F238E27FC236}">
                <a16:creationId xmlns:a16="http://schemas.microsoft.com/office/drawing/2014/main" id="{A239F841-0985-43E5-840F-30D2F9F41ABB}"/>
              </a:ext>
            </a:extLst>
          </p:cNvPr>
          <p:cNvSpPr>
            <a:spLocks noGrp="1"/>
          </p:cNvSpPr>
          <p:nvPr>
            <p:ph type="ftr" sz="quarter" idx="11"/>
          </p:nvPr>
        </p:nvSpPr>
        <p:spPr>
          <a:xfrm>
            <a:off x="1889760" y="6116320"/>
            <a:ext cx="8319451" cy="384613"/>
          </a:xfrm>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5C8E109D-87D1-4578-A391-0894E1AE72DC}"/>
              </a:ext>
            </a:extLst>
          </p:cNvPr>
          <p:cNvPicPr>
            <a:picLocks noChangeAspect="1"/>
          </p:cNvPicPr>
          <p:nvPr/>
        </p:nvPicPr>
        <p:blipFill>
          <a:blip r:embed="rId2"/>
          <a:stretch>
            <a:fillRect/>
          </a:stretch>
        </p:blipFill>
        <p:spPr>
          <a:xfrm>
            <a:off x="1323185" y="2291137"/>
            <a:ext cx="9545630" cy="3750068"/>
          </a:xfrm>
          <a:prstGeom prst="rect">
            <a:avLst/>
          </a:prstGeom>
        </p:spPr>
      </p:pic>
    </p:spTree>
    <p:extLst>
      <p:ext uri="{BB962C8B-B14F-4D97-AF65-F5344CB8AC3E}">
        <p14:creationId xmlns:p14="http://schemas.microsoft.com/office/powerpoint/2010/main" val="2527312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3C55EE7-46F1-4FCE-8963-702DFF9554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9224" y="645106"/>
            <a:ext cx="5122652" cy="1259894"/>
          </a:xfrm>
        </p:spPr>
        <p:txBody>
          <a:bodyPr>
            <a:normAutofit/>
          </a:bodyPr>
          <a:lstStyle/>
          <a:p>
            <a:r>
              <a:rPr lang="en-IN" b="1"/>
              <a:t>Static Latches and Registers</a:t>
            </a:r>
            <a:endParaRPr lang="en-US" b="1">
              <a:latin typeface="Arial" pitchFamily="34" charset="0"/>
              <a:cs typeface="Arial" pitchFamily="34" charset="0"/>
            </a:endParaRPr>
          </a:p>
        </p:txBody>
      </p:sp>
      <p:sp>
        <p:nvSpPr>
          <p:cNvPr id="14" name="Rectangle 13">
            <a:extLst>
              <a:ext uri="{FF2B5EF4-FFF2-40B4-BE49-F238E27FC236}">
                <a16:creationId xmlns:a16="http://schemas.microsoft.com/office/drawing/2014/main" id="{84EFD645-DA65-4344-9A09-F1A9ECA780A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649225" y="2133600"/>
            <a:ext cx="6511500" cy="3759253"/>
          </a:xfrm>
        </p:spPr>
        <p:txBody>
          <a:bodyPr>
            <a:normAutofit/>
          </a:bodyPr>
          <a:lstStyle/>
          <a:p>
            <a:r>
              <a:rPr lang="en-US" b="1" dirty="0">
                <a:latin typeface="Arial" pitchFamily="34" charset="0"/>
                <a:cs typeface="Arial" pitchFamily="34" charset="0"/>
              </a:rPr>
              <a:t>The Bistability Principle</a:t>
            </a:r>
          </a:p>
          <a:p>
            <a:r>
              <a:rPr lang="en-US" b="0" u="none" strike="noStrike" baseline="0" dirty="0">
                <a:latin typeface="Arial" panose="020B0604020202020204" pitchFamily="34" charset="0"/>
                <a:cs typeface="Arial" panose="020B0604020202020204" pitchFamily="34" charset="0"/>
              </a:rPr>
              <a:t>Static memories use positive feedback to create a bistable circuit — a circuit having two stable states that represent 0 and 1. </a:t>
            </a:r>
          </a:p>
          <a:p>
            <a:pPr algn="just"/>
            <a:r>
              <a:rPr lang="en-IN" b="0" i="0" u="none" strike="noStrike" baseline="0" dirty="0">
                <a:latin typeface="Arial" panose="020B0604020202020204" pitchFamily="34" charset="0"/>
                <a:cs typeface="Arial" panose="020B0604020202020204" pitchFamily="34" charset="0"/>
              </a:rPr>
              <a:t>The basic idea is</a:t>
            </a:r>
            <a:r>
              <a:rPr lang="en-US" i="0" dirty="0">
                <a:latin typeface="Arial" panose="020B0604020202020204" pitchFamily="34" charset="0"/>
                <a:cs typeface="Arial" panose="020B0604020202020204" pitchFamily="34" charset="0"/>
              </a:rPr>
              <a:t> </a:t>
            </a:r>
            <a:r>
              <a:rPr lang="en-US" b="0" i="0" u="none" strike="noStrike" baseline="0" dirty="0">
                <a:latin typeface="Arial" panose="020B0604020202020204" pitchFamily="34" charset="0"/>
                <a:cs typeface="Arial" panose="020B0604020202020204" pitchFamily="34" charset="0"/>
              </a:rPr>
              <a:t>two inverters connected in cascade along with a voltage-transfer characteristic typical of </a:t>
            </a:r>
            <a:r>
              <a:rPr lang="en-IN" b="0" i="0" u="none" strike="noStrike" baseline="0" dirty="0">
                <a:latin typeface="Arial" panose="020B0604020202020204" pitchFamily="34" charset="0"/>
                <a:cs typeface="Arial" panose="020B0604020202020204" pitchFamily="34" charset="0"/>
              </a:rPr>
              <a:t>such a circuit. </a:t>
            </a:r>
            <a:r>
              <a:rPr lang="en-US" b="0" i="0" u="none" strike="noStrike" baseline="0" dirty="0">
                <a:latin typeface="Arial" panose="020B0604020202020204" pitchFamily="34" charset="0"/>
                <a:cs typeface="Arial" panose="020B0604020202020204" pitchFamily="34" charset="0"/>
              </a:rPr>
              <a:t>The resulting circuit has only three possible operation points (</a:t>
            </a:r>
            <a:r>
              <a:rPr lang="en-US" b="0" i="1" u="none" strike="noStrike" baseline="0" dirty="0">
                <a:latin typeface="Arial" panose="020B0604020202020204" pitchFamily="34" charset="0"/>
                <a:cs typeface="Arial" panose="020B0604020202020204" pitchFamily="34" charset="0"/>
              </a:rPr>
              <a:t>A</a:t>
            </a:r>
            <a:r>
              <a:rPr lang="en-US" b="0" i="0" u="none" strike="noStrike" baseline="0" dirty="0">
                <a:latin typeface="Arial" panose="020B0604020202020204" pitchFamily="34" charset="0"/>
                <a:cs typeface="Arial" panose="020B0604020202020204" pitchFamily="34" charset="0"/>
              </a:rPr>
              <a:t>, </a:t>
            </a:r>
            <a:r>
              <a:rPr lang="en-US" b="0" i="1" u="none" strike="noStrike" baseline="0" dirty="0">
                <a:latin typeface="Arial" panose="020B0604020202020204" pitchFamily="34" charset="0"/>
                <a:cs typeface="Arial" panose="020B0604020202020204" pitchFamily="34" charset="0"/>
              </a:rPr>
              <a:t>B, </a:t>
            </a:r>
            <a:r>
              <a:rPr lang="en-US" b="0" i="0" u="none" strike="noStrike" baseline="0" dirty="0">
                <a:latin typeface="Arial" panose="020B0604020202020204" pitchFamily="34" charset="0"/>
                <a:cs typeface="Arial" panose="020B0604020202020204" pitchFamily="34" charset="0"/>
              </a:rPr>
              <a:t>and </a:t>
            </a:r>
            <a:r>
              <a:rPr lang="en-US" b="0" i="1" u="none" strike="noStrike" baseline="0" dirty="0">
                <a:latin typeface="Arial" panose="020B0604020202020204" pitchFamily="34" charset="0"/>
                <a:cs typeface="Arial" panose="020B0604020202020204" pitchFamily="34" charset="0"/>
              </a:rPr>
              <a:t>C</a:t>
            </a:r>
            <a:r>
              <a:rPr lang="en-US" b="0" i="0" u="none" strike="noStrike" baseline="0" dirty="0">
                <a:latin typeface="Arial" panose="020B0604020202020204" pitchFamily="34" charset="0"/>
                <a:cs typeface="Arial" panose="020B0604020202020204" pitchFamily="34" charset="0"/>
              </a:rPr>
              <a:t>), as demonstrated on the combined VTC. </a:t>
            </a:r>
            <a:endParaRPr lang="en-US" dirty="0">
              <a:latin typeface="Arial" panose="020B0604020202020204" pitchFamily="34" charset="0"/>
              <a:cs typeface="Arial" pitchFamily="34" charset="0"/>
            </a:endParaRPr>
          </a:p>
          <a:p>
            <a:endParaRPr lang="en-IN" dirty="0">
              <a:latin typeface="Arial" pitchFamily="34" charset="0"/>
              <a:cs typeface="Arial" pitchFamily="34" charset="0"/>
            </a:endParaRPr>
          </a:p>
        </p:txBody>
      </p:sp>
      <p:pic>
        <p:nvPicPr>
          <p:cNvPr id="7" name="Picture 6">
            <a:extLst>
              <a:ext uri="{FF2B5EF4-FFF2-40B4-BE49-F238E27FC236}">
                <a16:creationId xmlns:a16="http://schemas.microsoft.com/office/drawing/2014/main" id="{86A35293-93AB-4984-92A6-54393D49054A}"/>
              </a:ext>
            </a:extLst>
          </p:cNvPr>
          <p:cNvPicPr>
            <a:picLocks noChangeAspect="1"/>
          </p:cNvPicPr>
          <p:nvPr/>
        </p:nvPicPr>
        <p:blipFill>
          <a:blip r:embed="rId2"/>
          <a:stretch>
            <a:fillRect/>
          </a:stretch>
        </p:blipFill>
        <p:spPr>
          <a:xfrm>
            <a:off x="7627069" y="2794906"/>
            <a:ext cx="4334493" cy="3420277"/>
          </a:xfrm>
          <a:prstGeom prst="rect">
            <a:avLst/>
          </a:prstGeom>
        </p:spPr>
      </p:pic>
      <p:pic>
        <p:nvPicPr>
          <p:cNvPr id="6" name="Picture 5">
            <a:extLst>
              <a:ext uri="{FF2B5EF4-FFF2-40B4-BE49-F238E27FC236}">
                <a16:creationId xmlns:a16="http://schemas.microsoft.com/office/drawing/2014/main" id="{86963D4B-8905-4505-ACE9-99807C5BE53F}"/>
              </a:ext>
            </a:extLst>
          </p:cNvPr>
          <p:cNvPicPr>
            <a:picLocks noChangeAspect="1"/>
          </p:cNvPicPr>
          <p:nvPr/>
        </p:nvPicPr>
        <p:blipFill>
          <a:blip r:embed="rId3"/>
          <a:stretch>
            <a:fillRect/>
          </a:stretch>
        </p:blipFill>
        <p:spPr>
          <a:xfrm>
            <a:off x="7727515" y="204898"/>
            <a:ext cx="4343275" cy="2384324"/>
          </a:xfrm>
          <a:prstGeom prst="rect">
            <a:avLst/>
          </a:prstGeom>
        </p:spPr>
      </p:pic>
      <p:sp>
        <p:nvSpPr>
          <p:cNvPr id="16" name="Freeform 12">
            <a:extLst>
              <a:ext uri="{FF2B5EF4-FFF2-40B4-BE49-F238E27FC236}">
                <a16:creationId xmlns:a16="http://schemas.microsoft.com/office/drawing/2014/main" id="{52E1387C-B186-463D-8EC6-72189C2FAD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8" name="Picture 7">
            <a:extLst>
              <a:ext uri="{FF2B5EF4-FFF2-40B4-BE49-F238E27FC236}">
                <a16:creationId xmlns:a16="http://schemas.microsoft.com/office/drawing/2014/main" id="{8192E8F5-9BDE-4CC9-906B-0861DF75A3E9}"/>
              </a:ext>
            </a:extLst>
          </p:cNvPr>
          <p:cNvPicPr>
            <a:picLocks noChangeAspect="1"/>
          </p:cNvPicPr>
          <p:nvPr/>
        </p:nvPicPr>
        <p:blipFill>
          <a:blip r:embed="rId4"/>
          <a:stretch>
            <a:fillRect/>
          </a:stretch>
        </p:blipFill>
        <p:spPr>
          <a:xfrm>
            <a:off x="6860615" y="6367352"/>
            <a:ext cx="5210175" cy="285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b="1" dirty="0"/>
              <a:t>Static Properties of Complementary CMOS Gates</a:t>
            </a:r>
            <a:endParaRPr lang="en-US" sz="3200" dirty="0">
              <a:latin typeface="Arial" pitchFamily="34" charset="0"/>
              <a:cs typeface="Arial" pitchFamily="34" charset="0"/>
            </a:endParaRPr>
          </a:p>
        </p:txBody>
      </p:sp>
      <p:sp>
        <p:nvSpPr>
          <p:cNvPr id="3" name="Content Placeholder 2"/>
          <p:cNvSpPr>
            <a:spLocks noGrp="1"/>
          </p:cNvSpPr>
          <p:nvPr>
            <p:ph idx="1"/>
          </p:nvPr>
        </p:nvSpPr>
        <p:spPr>
          <a:xfrm>
            <a:off x="651753" y="1303505"/>
            <a:ext cx="11138170" cy="4854103"/>
          </a:xfrm>
        </p:spPr>
        <p:txBody>
          <a:bodyPr>
            <a:normAutofit/>
          </a:bodyPr>
          <a:lstStyle/>
          <a:p>
            <a:pPr algn="just"/>
            <a:r>
              <a:rPr lang="en-US" sz="1800" b="0" i="0" u="none" strike="noStrike" baseline="0" dirty="0">
                <a:latin typeface="Arial" panose="020B0604020202020204" pitchFamily="34" charset="0"/>
                <a:cs typeface="Arial" panose="020B0604020202020204" pitchFamily="34" charset="0"/>
              </a:rPr>
              <a:t>Under the condition that the gain of the inverter in the transient region is larger than 1, only </a:t>
            </a:r>
            <a:r>
              <a:rPr lang="en-US" sz="1800" b="0" i="1" u="none" strike="noStrike" baseline="0" dirty="0">
                <a:latin typeface="Arial" panose="020B0604020202020204" pitchFamily="34" charset="0"/>
                <a:cs typeface="Arial" panose="020B0604020202020204" pitchFamily="34" charset="0"/>
              </a:rPr>
              <a:t>A </a:t>
            </a:r>
            <a:r>
              <a:rPr lang="en-US" sz="1800" b="0" i="0" u="none" strike="noStrike" baseline="0" dirty="0">
                <a:latin typeface="Arial" panose="020B0604020202020204" pitchFamily="34" charset="0"/>
                <a:cs typeface="Arial" panose="020B0604020202020204" pitchFamily="34" charset="0"/>
              </a:rPr>
              <a:t>and </a:t>
            </a:r>
            <a:r>
              <a:rPr lang="en-US" sz="1800" b="0" i="1" u="none" strike="noStrike" baseline="0" dirty="0">
                <a:latin typeface="Arial" panose="020B0604020202020204" pitchFamily="34" charset="0"/>
                <a:cs typeface="Arial" panose="020B0604020202020204" pitchFamily="34" charset="0"/>
              </a:rPr>
              <a:t>B </a:t>
            </a:r>
            <a:r>
              <a:rPr lang="en-US" sz="1800" b="0" i="0" u="none" strike="noStrike" baseline="0" dirty="0">
                <a:latin typeface="Arial" panose="020B0604020202020204" pitchFamily="34" charset="0"/>
                <a:cs typeface="Arial" panose="020B0604020202020204" pitchFamily="34" charset="0"/>
              </a:rPr>
              <a:t>are stable operation points, and </a:t>
            </a:r>
            <a:r>
              <a:rPr lang="en-US" sz="1800" b="0" i="1" u="none" strike="noStrike" baseline="0" dirty="0">
                <a:latin typeface="Arial" panose="020B0604020202020204" pitchFamily="34" charset="0"/>
                <a:cs typeface="Arial" panose="020B0604020202020204" pitchFamily="34" charset="0"/>
              </a:rPr>
              <a:t>C </a:t>
            </a:r>
            <a:r>
              <a:rPr lang="en-US" sz="1800" b="0" i="0" u="none" strike="noStrike" baseline="0" dirty="0">
                <a:latin typeface="Arial" panose="020B0604020202020204" pitchFamily="34" charset="0"/>
                <a:cs typeface="Arial" panose="020B0604020202020204" pitchFamily="34" charset="0"/>
              </a:rPr>
              <a:t>is a metastable operation point.</a:t>
            </a:r>
          </a:p>
          <a:p>
            <a:pPr algn="just"/>
            <a:r>
              <a:rPr lang="en-US" sz="1800" b="0" i="0" u="none" strike="noStrike" baseline="0" dirty="0">
                <a:latin typeface="Arial" panose="020B0604020202020204" pitchFamily="34" charset="0"/>
                <a:cs typeface="Arial" panose="020B0604020202020204" pitchFamily="34" charset="0"/>
              </a:rPr>
              <a:t>Suppose that the cross-coupled inverter pair is biased at point </a:t>
            </a:r>
            <a:r>
              <a:rPr lang="en-US" sz="1800" b="0" i="1" u="none" strike="noStrike" baseline="0" dirty="0">
                <a:latin typeface="Arial" panose="020B0604020202020204" pitchFamily="34" charset="0"/>
                <a:cs typeface="Arial" panose="020B0604020202020204" pitchFamily="34" charset="0"/>
              </a:rPr>
              <a:t>C</a:t>
            </a:r>
            <a:r>
              <a:rPr lang="en-US" sz="1800" b="0" i="0" u="none" strike="noStrike" baseline="0" dirty="0">
                <a:latin typeface="Arial" panose="020B0604020202020204" pitchFamily="34" charset="0"/>
                <a:cs typeface="Arial" panose="020B0604020202020204" pitchFamily="34" charset="0"/>
              </a:rPr>
              <a:t>. A small deviation from this bias point, possibly caused by noise, is amplified and </a:t>
            </a:r>
            <a:r>
              <a:rPr lang="en-US" sz="1800" b="0" i="1" u="none" strike="noStrike" baseline="0" dirty="0">
                <a:latin typeface="Arial" panose="020B0604020202020204" pitchFamily="34" charset="0"/>
                <a:cs typeface="Arial" panose="020B0604020202020204" pitchFamily="34" charset="0"/>
              </a:rPr>
              <a:t>regenerated </a:t>
            </a:r>
            <a:r>
              <a:rPr lang="en-US" sz="1800" b="0" i="0" u="none" strike="noStrike" baseline="0" dirty="0">
                <a:latin typeface="Arial" panose="020B0604020202020204" pitchFamily="34" charset="0"/>
                <a:cs typeface="Arial" panose="020B0604020202020204" pitchFamily="34" charset="0"/>
              </a:rPr>
              <a:t>around the circuit </a:t>
            </a:r>
            <a:r>
              <a:rPr lang="en-IN" sz="1800" b="0" i="0" u="none" strike="noStrike" baseline="0" dirty="0">
                <a:latin typeface="Arial" panose="020B0604020202020204" pitchFamily="34" charset="0"/>
                <a:cs typeface="Arial" panose="020B0604020202020204" pitchFamily="34" charset="0"/>
              </a:rPr>
              <a:t>loop. </a:t>
            </a:r>
          </a:p>
          <a:p>
            <a:pPr algn="just">
              <a:lnSpc>
                <a:spcPct val="110000"/>
              </a:lnSpc>
              <a:spcBef>
                <a:spcPts val="0"/>
              </a:spcBef>
            </a:pPr>
            <a:endParaRPr lang="en-US" sz="1800" b="0" i="0" u="none" strike="noStrike" baseline="0" dirty="0">
              <a:latin typeface="Arial" panose="020B0604020202020204" pitchFamily="34" charset="0"/>
              <a:cs typeface="Arial" panose="020B0604020202020204" pitchFamily="34" charset="0"/>
            </a:endParaRPr>
          </a:p>
          <a:p>
            <a:pPr algn="just">
              <a:lnSpc>
                <a:spcPct val="110000"/>
              </a:lnSpc>
              <a:spcBef>
                <a:spcPts val="0"/>
              </a:spcBef>
            </a:pPr>
            <a:endParaRPr lang="en-US" dirty="0">
              <a:latin typeface="Arial" panose="020B0604020202020204" pitchFamily="34" charset="0"/>
              <a:cs typeface="Arial" panose="020B0604020202020204" pitchFamily="34" charset="0"/>
            </a:endParaRPr>
          </a:p>
          <a:p>
            <a:pPr algn="just">
              <a:lnSpc>
                <a:spcPct val="110000"/>
              </a:lnSpc>
              <a:spcBef>
                <a:spcPts val="0"/>
              </a:spcBef>
            </a:pPr>
            <a:r>
              <a:rPr lang="en-US" sz="1800" b="0" i="0" u="none" strike="noStrike" baseline="0" dirty="0">
                <a:latin typeface="Arial" panose="020B0604020202020204" pitchFamily="34" charset="0"/>
                <a:cs typeface="Arial" panose="020B0604020202020204" pitchFamily="34" charset="0"/>
              </a:rPr>
              <a:t>A small deviation </a:t>
            </a:r>
            <a:r>
              <a:rPr lang="el-GR" sz="1800" b="0" i="0" u="none" strike="noStrike" baseline="0" dirty="0">
                <a:latin typeface="Arial" panose="020B0604020202020204" pitchFamily="34" charset="0"/>
                <a:cs typeface="Arial" panose="020B0604020202020204" pitchFamily="34" charset="0"/>
              </a:rPr>
              <a:t>δ</a:t>
            </a:r>
            <a:r>
              <a:rPr lang="en-US" sz="1800" b="0" i="0" u="none" strike="noStrike" baseline="0" dirty="0">
                <a:latin typeface="Arial" panose="020B0604020202020204" pitchFamily="34" charset="0"/>
                <a:cs typeface="Arial" panose="020B0604020202020204" pitchFamily="34" charset="0"/>
              </a:rPr>
              <a:t> is applied to</a:t>
            </a:r>
            <a:r>
              <a:rPr lang="en-US" sz="1800" b="1" u="none" strike="noStrike" baseline="0" dirty="0">
                <a:latin typeface="Arial" panose="020B0604020202020204" pitchFamily="34" charset="0"/>
                <a:cs typeface="Arial" panose="020B0604020202020204" pitchFamily="34" charset="0"/>
              </a:rPr>
              <a:t> V</a:t>
            </a:r>
            <a:r>
              <a:rPr lang="en-US" sz="1800" b="1" u="none" strike="noStrike" baseline="-25000" dirty="0">
                <a:latin typeface="Arial" panose="020B0604020202020204" pitchFamily="34" charset="0"/>
                <a:cs typeface="Arial" panose="020B0604020202020204" pitchFamily="34" charset="0"/>
              </a:rPr>
              <a:t>i1</a:t>
            </a:r>
            <a:r>
              <a:rPr lang="en-US" sz="1800" b="1" u="none" strike="noStrike" baseline="0" dirty="0">
                <a:latin typeface="Arial" panose="020B0604020202020204" pitchFamily="34" charset="0"/>
                <a:cs typeface="Arial" panose="020B0604020202020204" pitchFamily="34" charset="0"/>
              </a:rPr>
              <a:t> </a:t>
            </a:r>
            <a:r>
              <a:rPr lang="en-US" sz="1800" b="0" i="0" u="none" strike="noStrike" baseline="0" dirty="0">
                <a:latin typeface="Arial" panose="020B0604020202020204" pitchFamily="34" charset="0"/>
                <a:cs typeface="Arial" panose="020B0604020202020204" pitchFamily="34" charset="0"/>
              </a:rPr>
              <a:t>(biased in </a:t>
            </a:r>
            <a:r>
              <a:rPr lang="en-US" sz="1800" b="0" i="1" u="none" strike="noStrike" baseline="0" dirty="0">
                <a:latin typeface="Arial" panose="020B0604020202020204" pitchFamily="34" charset="0"/>
                <a:cs typeface="Arial" panose="020B0604020202020204" pitchFamily="34" charset="0"/>
              </a:rPr>
              <a:t>C</a:t>
            </a:r>
            <a:r>
              <a:rPr lang="en-US" sz="1800" b="0" i="0" u="none" strike="noStrike" baseline="0" dirty="0">
                <a:latin typeface="Arial" panose="020B0604020202020204" pitchFamily="34" charset="0"/>
                <a:cs typeface="Arial" panose="020B0604020202020204" pitchFamily="34" charset="0"/>
              </a:rPr>
              <a:t>). The bias point </a:t>
            </a:r>
          </a:p>
          <a:p>
            <a:pPr algn="just">
              <a:lnSpc>
                <a:spcPct val="110000"/>
              </a:lnSpc>
              <a:spcBef>
                <a:spcPts val="0"/>
              </a:spcBef>
            </a:pPr>
            <a:r>
              <a:rPr lang="en-US" sz="1800" b="0" i="0" u="none" strike="noStrike" baseline="0" dirty="0">
                <a:latin typeface="Arial" panose="020B0604020202020204" pitchFamily="34" charset="0"/>
                <a:cs typeface="Arial" panose="020B0604020202020204" pitchFamily="34" charset="0"/>
              </a:rPr>
              <a:t>moves away from </a:t>
            </a:r>
            <a:r>
              <a:rPr lang="en-US" sz="1800" b="0" i="1" u="none" strike="noStrike" baseline="0" dirty="0">
                <a:latin typeface="Arial" panose="020B0604020202020204" pitchFamily="34" charset="0"/>
                <a:cs typeface="Arial" panose="020B0604020202020204" pitchFamily="34" charset="0"/>
              </a:rPr>
              <a:t>C </a:t>
            </a:r>
            <a:r>
              <a:rPr lang="en-US" sz="1800" b="0" i="0" u="none" strike="noStrike" baseline="0" dirty="0">
                <a:latin typeface="Arial" panose="020B0604020202020204" pitchFamily="34" charset="0"/>
                <a:cs typeface="Arial" panose="020B0604020202020204" pitchFamily="34" charset="0"/>
              </a:rPr>
              <a:t>until one of the operation points </a:t>
            </a:r>
            <a:r>
              <a:rPr lang="en-US" sz="1800" b="0" i="1" u="none" strike="noStrike" baseline="0" dirty="0">
                <a:latin typeface="Arial" panose="020B0604020202020204" pitchFamily="34" charset="0"/>
                <a:cs typeface="Arial" panose="020B0604020202020204" pitchFamily="34" charset="0"/>
              </a:rPr>
              <a:t>A </a:t>
            </a:r>
            <a:r>
              <a:rPr lang="en-US" sz="1800" b="0" i="0" u="none" strike="noStrike" baseline="0" dirty="0">
                <a:latin typeface="Arial" panose="020B0604020202020204" pitchFamily="34" charset="0"/>
                <a:cs typeface="Arial" panose="020B0604020202020204" pitchFamily="34" charset="0"/>
              </a:rPr>
              <a:t>or </a:t>
            </a:r>
            <a:r>
              <a:rPr lang="en-US" sz="1800" b="0" i="1" u="none" strike="noStrike" baseline="0" dirty="0">
                <a:latin typeface="Arial" panose="020B0604020202020204" pitchFamily="34" charset="0"/>
                <a:cs typeface="Arial" panose="020B0604020202020204" pitchFamily="34" charset="0"/>
              </a:rPr>
              <a:t>B </a:t>
            </a:r>
            <a:r>
              <a:rPr lang="en-US" sz="1800" b="0" i="0" u="none" strike="noStrike" baseline="0" dirty="0">
                <a:latin typeface="Arial" panose="020B0604020202020204" pitchFamily="34" charset="0"/>
                <a:cs typeface="Arial" panose="020B0604020202020204" pitchFamily="34" charset="0"/>
              </a:rPr>
              <a:t>is</a:t>
            </a:r>
          </a:p>
          <a:p>
            <a:pPr algn="just">
              <a:lnSpc>
                <a:spcPct val="110000"/>
              </a:lnSpc>
              <a:spcBef>
                <a:spcPts val="0"/>
              </a:spcBef>
            </a:pPr>
            <a:r>
              <a:rPr lang="en-US" sz="1800" b="0" i="0" u="none" strike="noStrike" baseline="0" dirty="0">
                <a:latin typeface="Arial" panose="020B0604020202020204" pitchFamily="34" charset="0"/>
                <a:cs typeface="Arial" panose="020B0604020202020204" pitchFamily="34" charset="0"/>
              </a:rPr>
              <a:t> reached. </a:t>
            </a:r>
          </a:p>
          <a:p>
            <a:pPr algn="just"/>
            <a:endParaRPr lang="en-US" sz="1800" b="0" i="0" u="none" strike="noStrike" baseline="0" dirty="0">
              <a:latin typeface="Arial" panose="020B0604020202020204" pitchFamily="34" charset="0"/>
              <a:cs typeface="Arial" panose="020B0604020202020204" pitchFamily="34" charset="0"/>
            </a:endParaRPr>
          </a:p>
          <a:p>
            <a:pPr algn="just">
              <a:spcBef>
                <a:spcPts val="0"/>
              </a:spcBef>
            </a:pPr>
            <a:r>
              <a:rPr lang="en-US" sz="1800" b="0" i="0" u="none" strike="noStrike" baseline="0" dirty="0">
                <a:latin typeface="Arial" panose="020B0604020202020204" pitchFamily="34" charset="0"/>
                <a:cs typeface="Arial" panose="020B0604020202020204" pitchFamily="34" charset="0"/>
              </a:rPr>
              <a:t>Every deviation (even the smallest one) causes the operation point</a:t>
            </a:r>
          </a:p>
          <a:p>
            <a:pPr algn="just">
              <a:spcBef>
                <a:spcPts val="0"/>
              </a:spcBef>
            </a:pPr>
            <a:r>
              <a:rPr lang="en-US" sz="1800" b="0" i="0" u="none" strike="noStrike" baseline="0" dirty="0">
                <a:latin typeface="Arial" panose="020B0604020202020204" pitchFamily="34" charset="0"/>
                <a:cs typeface="Arial" panose="020B0604020202020204" pitchFamily="34" charset="0"/>
              </a:rPr>
              <a:t> to run away from its </a:t>
            </a:r>
            <a:r>
              <a:rPr lang="en-IN" sz="1800" b="0" i="0" u="none" strike="noStrike" baseline="0" dirty="0">
                <a:latin typeface="Arial" panose="020B0604020202020204" pitchFamily="34" charset="0"/>
                <a:cs typeface="Arial" panose="020B0604020202020204" pitchFamily="34" charset="0"/>
              </a:rPr>
              <a:t>original bias.</a:t>
            </a:r>
            <a:r>
              <a:rPr lang="en-US" sz="1800" b="0" i="0" u="none" strike="noStrike" baseline="0" dirty="0">
                <a:latin typeface="Arial" panose="020B0604020202020204" pitchFamily="34" charset="0"/>
                <a:cs typeface="Arial" panose="020B0604020202020204" pitchFamily="34" charset="0"/>
              </a:rPr>
              <a:t>Operation points with this property </a:t>
            </a:r>
          </a:p>
          <a:p>
            <a:pPr algn="just">
              <a:spcBef>
                <a:spcPts val="0"/>
              </a:spcBef>
            </a:pPr>
            <a:r>
              <a:rPr lang="en-US" sz="1800" b="0" i="0" u="none" strike="noStrike" baseline="0" dirty="0">
                <a:latin typeface="Arial" panose="020B0604020202020204" pitchFamily="34" charset="0"/>
                <a:cs typeface="Arial" panose="020B0604020202020204" pitchFamily="34" charset="0"/>
              </a:rPr>
              <a:t>are termed </a:t>
            </a:r>
            <a:r>
              <a:rPr lang="en-US" sz="1800" b="1" i="1" u="none" strike="noStrike" baseline="0" dirty="0">
                <a:latin typeface="Arial" panose="020B0604020202020204" pitchFamily="34" charset="0"/>
                <a:cs typeface="Arial" panose="020B0604020202020204" pitchFamily="34" charset="0"/>
              </a:rPr>
              <a:t>metastable</a:t>
            </a:r>
            <a:r>
              <a:rPr lang="en-US" sz="1800" b="1" i="0" u="none" strike="noStrike" baseline="0" dirty="0">
                <a:latin typeface="Arial" panose="020B0604020202020204" pitchFamily="34" charset="0"/>
                <a:cs typeface="Arial" panose="020B0604020202020204" pitchFamily="34" charset="0"/>
              </a:rPr>
              <a:t>.</a:t>
            </a:r>
          </a:p>
          <a:p>
            <a:pPr algn="l"/>
            <a:endParaRPr lang="en-US" dirty="0">
              <a:latin typeface="Arial" panose="020B0604020202020204" pitchFamily="34" charset="0"/>
              <a:cs typeface="Arial" pitchFamily="34" charset="0"/>
            </a:endParaRPr>
          </a:p>
          <a:p>
            <a:pPr algn="just">
              <a:spcBef>
                <a:spcPts val="0"/>
              </a:spcBef>
              <a:buNone/>
            </a:pPr>
            <a:endParaRPr lang="en-US" dirty="0">
              <a:latin typeface="Arial" panose="020B0604020202020204" pitchFamily="34" charset="0"/>
              <a:cs typeface="Arial" pitchFamily="34" charset="0"/>
            </a:endParaRPr>
          </a:p>
          <a:p>
            <a:pPr algn="just">
              <a:spcBef>
                <a:spcPts val="0"/>
              </a:spcBef>
              <a:buNone/>
            </a:pPr>
            <a:endParaRPr lang="en-US" dirty="0">
              <a:latin typeface="Arial" panose="020B0604020202020204" pitchFamily="34" charset="0"/>
              <a:cs typeface="Arial" pitchFamily="34" charset="0"/>
            </a:endParaRPr>
          </a:p>
          <a:p>
            <a:pPr algn="just">
              <a:spcBef>
                <a:spcPts val="0"/>
              </a:spcBef>
              <a:buNone/>
            </a:pPr>
            <a:endParaRPr lang="en-US" dirty="0">
              <a:latin typeface="Arial" panose="020B0604020202020204" pitchFamily="34" charset="0"/>
              <a:cs typeface="Arial" pitchFamily="34" charset="0"/>
            </a:endParaRPr>
          </a:p>
          <a:p>
            <a:pPr algn="just"/>
            <a:endParaRPr lang="en-US" b="1" dirty="0">
              <a:latin typeface="Arial" pitchFamily="34" charset="0"/>
              <a:cs typeface="Arial" pitchFamily="34" charset="0"/>
            </a:endParaRPr>
          </a:p>
          <a:p>
            <a:pPr algn="just">
              <a:buNone/>
            </a:pPr>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6" name="Picture 5">
            <a:extLst>
              <a:ext uri="{FF2B5EF4-FFF2-40B4-BE49-F238E27FC236}">
                <a16:creationId xmlns:a16="http://schemas.microsoft.com/office/drawing/2014/main" id="{BFCD346A-9369-4E5B-B65C-D90081BB2C63}"/>
              </a:ext>
            </a:extLst>
          </p:cNvPr>
          <p:cNvPicPr>
            <a:picLocks noChangeAspect="1"/>
          </p:cNvPicPr>
          <p:nvPr/>
        </p:nvPicPr>
        <p:blipFill>
          <a:blip r:embed="rId2"/>
          <a:stretch>
            <a:fillRect/>
          </a:stretch>
        </p:blipFill>
        <p:spPr>
          <a:xfrm>
            <a:off x="8075489" y="2958968"/>
            <a:ext cx="4116512" cy="38514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153" y="624110"/>
            <a:ext cx="9938459" cy="1280890"/>
          </a:xfrm>
        </p:spPr>
        <p:txBody>
          <a:bodyPr>
            <a:normAutofit/>
          </a:bodyPr>
          <a:lstStyle/>
          <a:p>
            <a:r>
              <a:rPr lang="en-US" sz="3200" dirty="0">
                <a:latin typeface="Arial" pitchFamily="34" charset="0"/>
                <a:cs typeface="Arial" pitchFamily="34" charset="0"/>
              </a:rPr>
              <a:t> continue…..</a:t>
            </a:r>
          </a:p>
        </p:txBody>
      </p:sp>
      <p:sp>
        <p:nvSpPr>
          <p:cNvPr id="3" name="Content Placeholder 2"/>
          <p:cNvSpPr>
            <a:spLocks noGrp="1"/>
          </p:cNvSpPr>
          <p:nvPr>
            <p:ph idx="1"/>
          </p:nvPr>
        </p:nvSpPr>
        <p:spPr>
          <a:xfrm>
            <a:off x="642026" y="1225685"/>
            <a:ext cx="11225719" cy="4931924"/>
          </a:xfrm>
        </p:spPr>
        <p:txBody>
          <a:bodyPr>
            <a:normAutofit/>
          </a:bodyPr>
          <a:lstStyle/>
          <a:p>
            <a:pPr algn="just">
              <a:spcBef>
                <a:spcPts val="0"/>
              </a:spcBef>
              <a:buNone/>
            </a:pPr>
            <a:r>
              <a:rPr lang="en-US" dirty="0">
                <a:latin typeface="Arial" pitchFamily="34" charset="0"/>
                <a:cs typeface="Arial" pitchFamily="34" charset="0"/>
              </a:rPr>
              <a:t>On the other hand, A and B are stable operation points, as demonstrated in Figure. In these points, the loop</a:t>
            </a:r>
          </a:p>
          <a:p>
            <a:pPr algn="just">
              <a:spcBef>
                <a:spcPts val="0"/>
              </a:spcBef>
              <a:buNone/>
            </a:pPr>
            <a:r>
              <a:rPr lang="en-US" dirty="0">
                <a:latin typeface="Arial" pitchFamily="34" charset="0"/>
                <a:cs typeface="Arial" pitchFamily="34" charset="0"/>
              </a:rPr>
              <a:t> gain is much smaller than unity. Even a rather large deviation from the operation point is reduced in size and</a:t>
            </a:r>
          </a:p>
          <a:p>
            <a:pPr algn="just">
              <a:spcBef>
                <a:spcPts val="0"/>
              </a:spcBef>
              <a:buNone/>
            </a:pPr>
            <a:r>
              <a:rPr lang="en-US" dirty="0">
                <a:latin typeface="Arial" pitchFamily="34" charset="0"/>
                <a:cs typeface="Arial" pitchFamily="34" charset="0"/>
              </a:rPr>
              <a:t> disappears.</a:t>
            </a:r>
          </a:p>
          <a:p>
            <a:pPr algn="just">
              <a:spcBef>
                <a:spcPts val="0"/>
              </a:spcBef>
              <a:buNone/>
            </a:pPr>
            <a:endParaRPr lang="en-US" dirty="0">
              <a:latin typeface="Arial" pitchFamily="34" charset="0"/>
              <a:cs typeface="Arial" pitchFamily="34" charset="0"/>
            </a:endParaRPr>
          </a:p>
          <a:p>
            <a:pPr marL="0" indent="0" algn="just">
              <a:spcBef>
                <a:spcPts val="0"/>
              </a:spcBef>
              <a:buNone/>
            </a:pPr>
            <a:r>
              <a:rPr lang="en-US" sz="1800" b="0" i="0" u="none" strike="noStrike" baseline="0" dirty="0">
                <a:latin typeface="Arial" panose="020B0604020202020204" pitchFamily="34" charset="0"/>
                <a:cs typeface="Arial" panose="020B0604020202020204" pitchFamily="34" charset="0"/>
              </a:rPr>
              <a:t>Hence the cross-coupling of two inverters results in a </a:t>
            </a:r>
            <a:r>
              <a:rPr lang="en-US" sz="1800" b="0" i="1" u="none" strike="noStrike" baseline="0" dirty="0">
                <a:latin typeface="Arial" panose="020B0604020202020204" pitchFamily="34" charset="0"/>
                <a:cs typeface="Arial" panose="020B0604020202020204" pitchFamily="34" charset="0"/>
              </a:rPr>
              <a:t>bistable </a:t>
            </a:r>
            <a:r>
              <a:rPr lang="en-US" sz="1800" b="0" i="0" u="none" strike="noStrike" baseline="0" dirty="0">
                <a:latin typeface="Arial" panose="020B0604020202020204" pitchFamily="34" charset="0"/>
                <a:cs typeface="Arial" panose="020B0604020202020204" pitchFamily="34" charset="0"/>
              </a:rPr>
              <a:t>circuit,  that is, a circuit with two stable states, each corresponding to a logic state. The circuit serves as a memory, storing either a 1 or a 0 (corresponding to positions </a:t>
            </a:r>
            <a:r>
              <a:rPr lang="en-US" sz="1800" b="0" i="1" u="none" strike="noStrike" baseline="0" dirty="0">
                <a:latin typeface="Arial" panose="020B0604020202020204" pitchFamily="34" charset="0"/>
                <a:cs typeface="Arial" panose="020B0604020202020204" pitchFamily="34" charset="0"/>
              </a:rPr>
              <a:t>A </a:t>
            </a:r>
            <a:r>
              <a:rPr lang="en-US" sz="1800" b="0" i="0" u="none" strike="noStrike" baseline="0" dirty="0">
                <a:latin typeface="Arial" panose="020B0604020202020204" pitchFamily="34" charset="0"/>
                <a:cs typeface="Arial" panose="020B0604020202020204" pitchFamily="34" charset="0"/>
              </a:rPr>
              <a:t>and </a:t>
            </a:r>
            <a:r>
              <a:rPr lang="en-US" sz="1800" b="0" i="1" u="none" strike="noStrike" baseline="0" dirty="0">
                <a:latin typeface="Arial" panose="020B0604020202020204" pitchFamily="34" charset="0"/>
                <a:cs typeface="Arial" panose="020B0604020202020204" pitchFamily="34" charset="0"/>
              </a:rPr>
              <a:t>B</a:t>
            </a:r>
            <a:r>
              <a:rPr lang="en-US" sz="1800" b="0" i="0" u="none" strike="noStrike" baseline="0" dirty="0">
                <a:latin typeface="Arial" panose="020B0604020202020204" pitchFamily="34" charset="0"/>
                <a:cs typeface="Arial" panose="020B0604020202020204" pitchFamily="34" charset="0"/>
              </a:rPr>
              <a:t>).</a:t>
            </a:r>
          </a:p>
          <a:p>
            <a:pPr marL="0" indent="0" algn="just">
              <a:spcBef>
                <a:spcPts val="0"/>
              </a:spcBef>
              <a:buNone/>
            </a:pPr>
            <a:endParaRPr lang="en-US" sz="1800" b="0" i="0" u="none" strike="noStrike" baseline="0" dirty="0">
              <a:latin typeface="Arial" panose="020B0604020202020204" pitchFamily="34" charset="0"/>
              <a:cs typeface="Arial" panose="020B0604020202020204" pitchFamily="34" charset="0"/>
            </a:endParaRPr>
          </a:p>
          <a:p>
            <a:pPr marL="0" indent="0" algn="just">
              <a:spcBef>
                <a:spcPts val="0"/>
              </a:spcBef>
              <a:buNone/>
            </a:pPr>
            <a:r>
              <a:rPr lang="en-US" sz="1800" b="0" i="0" u="none" strike="noStrike" baseline="0" dirty="0">
                <a:latin typeface="Arial" panose="020B0604020202020204" pitchFamily="34" charset="0"/>
                <a:cs typeface="Arial" panose="020B0604020202020204" pitchFamily="34" charset="0"/>
              </a:rPr>
              <a:t>In order to change the stored value, we must be able to bring the circuit</a:t>
            </a:r>
          </a:p>
          <a:p>
            <a:pPr marL="0" indent="0" algn="just">
              <a:spcBef>
                <a:spcPts val="0"/>
              </a:spcBef>
              <a:buNone/>
            </a:pPr>
            <a:r>
              <a:rPr lang="en-US" sz="1800" b="0" i="0" u="none" strike="noStrike" baseline="0" dirty="0">
                <a:latin typeface="Arial" panose="020B0604020202020204" pitchFamily="34" charset="0"/>
                <a:cs typeface="Arial" panose="020B0604020202020204" pitchFamily="34" charset="0"/>
              </a:rPr>
              <a:t> from state </a:t>
            </a:r>
            <a:r>
              <a:rPr lang="en-US" sz="1800" b="0" i="1" u="none" strike="noStrike" baseline="0" dirty="0">
                <a:latin typeface="Arial" panose="020B0604020202020204" pitchFamily="34" charset="0"/>
                <a:cs typeface="Arial" panose="020B0604020202020204" pitchFamily="34" charset="0"/>
              </a:rPr>
              <a:t>A </a:t>
            </a:r>
            <a:r>
              <a:rPr lang="en-IN" sz="1800" b="0" i="0" u="none" strike="noStrike" baseline="0" dirty="0">
                <a:latin typeface="Arial" panose="020B0604020202020204" pitchFamily="34" charset="0"/>
                <a:cs typeface="Arial" panose="020B0604020202020204" pitchFamily="34" charset="0"/>
              </a:rPr>
              <a:t>to </a:t>
            </a:r>
            <a:r>
              <a:rPr lang="en-IN" sz="1800" b="0" i="1" u="none" strike="noStrike" baseline="0" dirty="0">
                <a:latin typeface="Arial" panose="020B0604020202020204" pitchFamily="34" charset="0"/>
                <a:cs typeface="Arial" panose="020B0604020202020204" pitchFamily="34" charset="0"/>
              </a:rPr>
              <a:t>B </a:t>
            </a:r>
            <a:r>
              <a:rPr lang="en-IN" sz="1800" b="0" i="0" u="none" strike="noStrike" baseline="0" dirty="0">
                <a:latin typeface="Arial" panose="020B0604020202020204" pitchFamily="34" charset="0"/>
                <a:cs typeface="Arial" panose="020B0604020202020204" pitchFamily="34" charset="0"/>
              </a:rPr>
              <a:t>and vice-versa.</a:t>
            </a:r>
            <a:r>
              <a:rPr lang="en-US" sz="1800" b="0" i="0" u="none" strike="noStrike" baseline="0" dirty="0">
                <a:latin typeface="Arial" panose="020B0604020202020204" pitchFamily="34" charset="0"/>
                <a:cs typeface="Arial" panose="020B0604020202020204" pitchFamily="34" charset="0"/>
              </a:rPr>
              <a:t>we can achieve this by making </a:t>
            </a:r>
            <a:r>
              <a:rPr lang="en-US" sz="1800" b="0" i="1" u="none" strike="noStrike" baseline="0" dirty="0">
                <a:latin typeface="Arial" panose="020B0604020202020204" pitchFamily="34" charset="0"/>
                <a:cs typeface="Arial" panose="020B0604020202020204" pitchFamily="34" charset="0"/>
              </a:rPr>
              <a:t>A </a:t>
            </a:r>
            <a:r>
              <a:rPr lang="en-US" sz="1800" b="0" i="0" u="none" strike="noStrike" baseline="0" dirty="0">
                <a:latin typeface="Arial" panose="020B0604020202020204" pitchFamily="34" charset="0"/>
                <a:cs typeface="Arial" panose="020B0604020202020204" pitchFamily="34" charset="0"/>
              </a:rPr>
              <a:t>(or </a:t>
            </a:r>
            <a:r>
              <a:rPr lang="en-US" sz="1800" b="0" i="1" u="none" strike="noStrike" baseline="0" dirty="0">
                <a:latin typeface="Arial" panose="020B0604020202020204" pitchFamily="34" charset="0"/>
                <a:cs typeface="Arial" panose="020B0604020202020204" pitchFamily="34" charset="0"/>
              </a:rPr>
              <a:t>B</a:t>
            </a:r>
            <a:r>
              <a:rPr lang="en-US" sz="1800" b="0" i="0" u="none" strike="noStrike" baseline="0" dirty="0">
                <a:latin typeface="Arial" panose="020B0604020202020204" pitchFamily="34" charset="0"/>
                <a:cs typeface="Arial" panose="020B0604020202020204" pitchFamily="34" charset="0"/>
              </a:rPr>
              <a:t>)</a:t>
            </a:r>
          </a:p>
          <a:p>
            <a:pPr marL="0" indent="0" algn="just">
              <a:spcBef>
                <a:spcPts val="0"/>
              </a:spcBef>
              <a:buNone/>
            </a:pPr>
            <a:r>
              <a:rPr lang="en-US" sz="1800" b="0" i="0" u="none" strike="noStrike" baseline="0" dirty="0">
                <a:latin typeface="Arial" panose="020B0604020202020204" pitchFamily="34" charset="0"/>
                <a:cs typeface="Arial" panose="020B0604020202020204" pitchFamily="34" charset="0"/>
              </a:rPr>
              <a:t> temporarily unstable by increasing </a:t>
            </a:r>
            <a:r>
              <a:rPr lang="en-US" sz="1800" b="0" i="1" u="none" strike="noStrike" baseline="0" dirty="0">
                <a:latin typeface="Arial" panose="020B0604020202020204" pitchFamily="34" charset="0"/>
                <a:cs typeface="Arial" panose="020B0604020202020204" pitchFamily="34" charset="0"/>
              </a:rPr>
              <a:t>G  </a:t>
            </a:r>
            <a:r>
              <a:rPr lang="en-US" sz="1800" b="0" i="0" u="none" strike="noStrike" baseline="0" dirty="0">
                <a:latin typeface="Arial" panose="020B0604020202020204" pitchFamily="34" charset="0"/>
                <a:cs typeface="Arial" panose="020B0604020202020204" pitchFamily="34" charset="0"/>
              </a:rPr>
              <a:t>to a value larger than 1. This is</a:t>
            </a:r>
          </a:p>
          <a:p>
            <a:pPr marL="0" indent="0" algn="just">
              <a:spcBef>
                <a:spcPts val="0"/>
              </a:spcBef>
              <a:buNone/>
            </a:pPr>
            <a:r>
              <a:rPr lang="en-US" sz="1800" b="0" i="0" u="none" strike="noStrike" baseline="0" dirty="0">
                <a:latin typeface="Arial" panose="020B0604020202020204" pitchFamily="34" charset="0"/>
                <a:cs typeface="Arial" panose="020B0604020202020204" pitchFamily="34" charset="0"/>
              </a:rPr>
              <a:t> generally done by applying a trigger pulse at</a:t>
            </a:r>
            <a:r>
              <a:rPr lang="en-US" sz="1800" b="1" i="0" u="none" strike="noStrike" baseline="0" dirty="0">
                <a:latin typeface="Arial" panose="020B0604020202020204" pitchFamily="34" charset="0"/>
                <a:cs typeface="Arial" panose="020B0604020202020204" pitchFamily="34" charset="0"/>
              </a:rPr>
              <a:t> </a:t>
            </a:r>
            <a:r>
              <a:rPr lang="en-US" sz="1800" b="1" i="1" u="none" strike="noStrike" baseline="0" dirty="0">
                <a:latin typeface="Arial" panose="020B0604020202020204" pitchFamily="34" charset="0"/>
                <a:cs typeface="Arial" panose="020B0604020202020204" pitchFamily="34" charset="0"/>
              </a:rPr>
              <a:t>V</a:t>
            </a:r>
            <a:r>
              <a:rPr lang="en-US" sz="1800" b="1" i="1" u="none" strike="noStrike" baseline="-25000" dirty="0">
                <a:latin typeface="Arial" panose="020B0604020202020204" pitchFamily="34" charset="0"/>
                <a:cs typeface="Arial" panose="020B0604020202020204" pitchFamily="34" charset="0"/>
              </a:rPr>
              <a:t>i</a:t>
            </a:r>
            <a:r>
              <a:rPr lang="en-US" sz="1800" b="1" i="0" u="none" strike="noStrike" baseline="-25000" dirty="0">
                <a:latin typeface="Arial" panose="020B0604020202020204" pitchFamily="34" charset="0"/>
                <a:cs typeface="Arial" panose="020B0604020202020204" pitchFamily="34" charset="0"/>
              </a:rPr>
              <a:t>1</a:t>
            </a:r>
            <a:r>
              <a:rPr lang="en-US" sz="1800" b="1" i="0" u="none" strike="noStrike" baseline="0" dirty="0">
                <a:latin typeface="Arial" panose="020B0604020202020204" pitchFamily="34" charset="0"/>
                <a:cs typeface="Arial" panose="020B0604020202020204" pitchFamily="34" charset="0"/>
              </a:rPr>
              <a:t> </a:t>
            </a:r>
            <a:r>
              <a:rPr lang="en-US" sz="1800" b="0" i="0" u="none" strike="noStrike" baseline="0" dirty="0">
                <a:latin typeface="Arial" panose="020B0604020202020204" pitchFamily="34" charset="0"/>
                <a:cs typeface="Arial" panose="020B0604020202020204" pitchFamily="34" charset="0"/>
              </a:rPr>
              <a:t>or </a:t>
            </a:r>
            <a:r>
              <a:rPr lang="en-US" sz="1800" b="1" i="1" u="none" strike="noStrike" baseline="0" dirty="0">
                <a:latin typeface="Arial" panose="020B0604020202020204" pitchFamily="34" charset="0"/>
                <a:cs typeface="Arial" panose="020B0604020202020204" pitchFamily="34" charset="0"/>
              </a:rPr>
              <a:t>V</a:t>
            </a:r>
            <a:r>
              <a:rPr lang="en-US" sz="1800" b="1" i="1" u="none" strike="noStrike" baseline="-25000" dirty="0">
                <a:latin typeface="Arial" panose="020B0604020202020204" pitchFamily="34" charset="0"/>
                <a:cs typeface="Arial" panose="020B0604020202020204" pitchFamily="34" charset="0"/>
              </a:rPr>
              <a:t>i</a:t>
            </a:r>
            <a:r>
              <a:rPr lang="en-US" sz="1800" b="1" i="0" u="none" strike="noStrike" baseline="-25000" dirty="0">
                <a:latin typeface="Arial" panose="020B0604020202020204" pitchFamily="34" charset="0"/>
                <a:cs typeface="Arial" panose="020B0604020202020204" pitchFamily="34" charset="0"/>
              </a:rPr>
              <a:t>2</a:t>
            </a:r>
            <a:r>
              <a:rPr lang="en-US" sz="1800" b="1" i="0" u="none" strike="noStrike" baseline="0" dirty="0">
                <a:latin typeface="Arial" panose="020B0604020202020204" pitchFamily="34" charset="0"/>
                <a:cs typeface="Arial" panose="020B0604020202020204" pitchFamily="34" charset="0"/>
              </a:rPr>
              <a:t>.</a:t>
            </a:r>
          </a:p>
          <a:p>
            <a:pPr marL="0" indent="0" algn="just">
              <a:spcBef>
                <a:spcPts val="0"/>
              </a:spcBef>
              <a:buNone/>
            </a:pPr>
            <a:endParaRPr lang="en-US" b="1" dirty="0">
              <a:latin typeface="Arial" panose="020B0604020202020204" pitchFamily="34" charset="0"/>
              <a:cs typeface="Arial" panose="020B0604020202020204" pitchFamily="34" charset="0"/>
            </a:endParaRPr>
          </a:p>
          <a:p>
            <a:pPr marL="0" indent="0" algn="l">
              <a:buNone/>
            </a:pPr>
            <a:r>
              <a:rPr lang="en-US" sz="1800" b="0" i="0" u="none" strike="noStrike" baseline="0" dirty="0">
                <a:latin typeface="Arial" panose="020B0604020202020204" pitchFamily="34" charset="0"/>
                <a:cs typeface="Arial" panose="020B0604020202020204" pitchFamily="34" charset="0"/>
              </a:rPr>
              <a:t>In absence of any triggering, the circuit remains in a single state </a:t>
            </a:r>
            <a:endParaRPr lang="en-US" b="1" dirty="0">
              <a:latin typeface="Arial" panose="020B0604020202020204" pitchFamily="34" charset="0"/>
              <a:cs typeface="Arial" pitchFamily="34" charset="0"/>
            </a:endParaRPr>
          </a:p>
          <a:p>
            <a:pPr>
              <a:buNone/>
            </a:pPr>
            <a:endParaRPr lang="en-US" dirty="0">
              <a:latin typeface="Arial" pitchFamily="34" charset="0"/>
              <a:cs typeface="Arial" pitchFamily="34" charset="0"/>
            </a:endParaRPr>
          </a:p>
          <a:p>
            <a:pPr>
              <a:buNone/>
            </a:pPr>
            <a:endParaRPr lang="en-US" dirty="0">
              <a:latin typeface="Arial" pitchFamily="34" charset="0"/>
              <a:cs typeface="Arial" pitchFamily="34" charset="0"/>
            </a:endParaRPr>
          </a:p>
          <a:p>
            <a:pPr>
              <a:buNone/>
            </a:pPr>
            <a:endParaRPr lang="en-US" b="1" dirty="0">
              <a:latin typeface="Arial" pitchFamily="34" charset="0"/>
              <a:cs typeface="Arial" pitchFamily="34" charset="0"/>
            </a:endParaRPr>
          </a:p>
          <a:p>
            <a:pPr>
              <a:buNone/>
            </a:pPr>
            <a:endParaRPr lang="en-US" b="1" dirty="0">
              <a:latin typeface="Arial" pitchFamily="34" charset="0"/>
              <a:cs typeface="Arial" pitchFamily="34" charset="0"/>
            </a:endParaRPr>
          </a:p>
          <a:p>
            <a:pPr>
              <a:buNone/>
            </a:pPr>
            <a:endParaRPr lang="en-IN" b="1" dirty="0">
              <a:latin typeface="Arial" pitchFamily="34" charset="0"/>
              <a:cs typeface="Arial" pitchFamily="34" charset="0"/>
            </a:endParaRPr>
          </a:p>
          <a:p>
            <a:pPr algn="just"/>
            <a:endParaRPr lang="en-IN" b="1" dirty="0">
              <a:latin typeface="Arial" pitchFamily="34" charset="0"/>
              <a:cs typeface="Arial" pitchFamily="34" charset="0"/>
            </a:endParaRPr>
          </a:p>
          <a:p>
            <a:pPr>
              <a:buNone/>
            </a:pPr>
            <a:endParaRPr lang="en-US" b="1" dirty="0">
              <a:latin typeface="Arial" pitchFamily="34" charset="0"/>
              <a:cs typeface="Arial" pitchFamily="34" charset="0"/>
            </a:endParaRPr>
          </a:p>
          <a:p>
            <a:endParaRPr lang="en-US" dirty="0">
              <a:latin typeface="Arial" pitchFamily="34" charset="0"/>
              <a:cs typeface="Arial" pitchFamily="34" charset="0"/>
            </a:endParaRPr>
          </a:p>
          <a:p>
            <a:pPr algn="just"/>
            <a:endParaRPr lang="en-US" b="1" dirty="0">
              <a:latin typeface="Arial" pitchFamily="34" charset="0"/>
              <a:cs typeface="Arial" pitchFamily="34" charset="0"/>
            </a:endParaRPr>
          </a:p>
          <a:p>
            <a:pPr algn="just"/>
            <a:endParaRPr lang="en-US" b="1" dirty="0">
              <a:latin typeface="Arial" pitchFamily="34" charset="0"/>
              <a:cs typeface="Arial" pitchFamily="34" charset="0"/>
            </a:endParaRPr>
          </a:p>
        </p:txBody>
      </p:sp>
      <p:sp>
        <p:nvSpPr>
          <p:cNvPr id="4" name="Footer Placeholder 3"/>
          <p:cNvSpPr>
            <a:spLocks noGrp="1"/>
          </p:cNvSpPr>
          <p:nvPr>
            <p:ph type="ftr" sz="quarter" idx="11"/>
          </p:nvPr>
        </p:nvSpPr>
        <p:spPr>
          <a:xfrm>
            <a:off x="1488332" y="6135808"/>
            <a:ext cx="8720879" cy="365125"/>
          </a:xfrm>
        </p:spPr>
        <p:txBody>
          <a:bodyPr/>
          <a:lstStyle/>
          <a:p>
            <a:r>
              <a:rPr lang="en-IN" sz="1500" dirty="0">
                <a:solidFill>
                  <a:srgbClr val="C00000"/>
                </a:solidFill>
                <a:latin typeface="Arial" panose="020B0604020202020204" pitchFamily="34" charset="0"/>
                <a:cs typeface="Arial" panose="020B0604020202020204" pitchFamily="34" charset="0"/>
              </a:rPr>
              <a:t>Rohit Lorenzo, VIT-AP</a:t>
            </a:r>
          </a:p>
        </p:txBody>
      </p:sp>
      <p:sp>
        <p:nvSpPr>
          <p:cNvPr id="2050"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1" name="Rectangle 3"/>
          <p:cNvSpPr>
            <a:spLocks noChangeArrowheads="1"/>
          </p:cNvSpPr>
          <p:nvPr/>
        </p:nvSpPr>
        <p:spPr bwMode="auto">
          <a:xfrm>
            <a:off x="0" y="7683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3"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4" name="Rectangle 6"/>
          <p:cNvSpPr>
            <a:spLocks noChangeArrowheads="1"/>
          </p:cNvSpPr>
          <p:nvPr/>
        </p:nvSpPr>
        <p:spPr bwMode="auto">
          <a:xfrm>
            <a:off x="0" y="7747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57" name="Rectangle 9"/>
          <p:cNvSpPr>
            <a:spLocks noChangeArrowheads="1"/>
          </p:cNvSpPr>
          <p:nvPr/>
        </p:nvSpPr>
        <p:spPr bwMode="auto">
          <a:xfrm>
            <a:off x="0" y="10731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37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795" name="Rectangle 3"/>
          <p:cNvSpPr>
            <a:spLocks noChangeArrowheads="1"/>
          </p:cNvSpPr>
          <p:nvPr/>
        </p:nvSpPr>
        <p:spPr bwMode="auto">
          <a:xfrm>
            <a:off x="0" y="7493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6" name="Picture 5">
            <a:extLst>
              <a:ext uri="{FF2B5EF4-FFF2-40B4-BE49-F238E27FC236}">
                <a16:creationId xmlns:a16="http://schemas.microsoft.com/office/drawing/2014/main" id="{6FD676F3-06D6-4214-8C87-4174BA27BFE1}"/>
              </a:ext>
            </a:extLst>
          </p:cNvPr>
          <p:cNvPicPr>
            <a:picLocks noChangeAspect="1"/>
          </p:cNvPicPr>
          <p:nvPr/>
        </p:nvPicPr>
        <p:blipFill>
          <a:blip r:embed="rId2"/>
          <a:stretch>
            <a:fillRect/>
          </a:stretch>
        </p:blipFill>
        <p:spPr>
          <a:xfrm>
            <a:off x="8219326" y="3173003"/>
            <a:ext cx="3972675" cy="36849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9BD230D-0708-4782-93C2-6421485EDE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14FCDB-6CA4-43E1-84B7-AD46AF619139}"/>
              </a:ext>
            </a:extLst>
          </p:cNvPr>
          <p:cNvSpPr>
            <a:spLocks noGrp="1"/>
          </p:cNvSpPr>
          <p:nvPr>
            <p:ph type="title"/>
          </p:nvPr>
        </p:nvSpPr>
        <p:spPr>
          <a:xfrm>
            <a:off x="649224" y="645106"/>
            <a:ext cx="6574536" cy="1259894"/>
          </a:xfrm>
        </p:spPr>
        <p:txBody>
          <a:bodyPr>
            <a:normAutofit/>
          </a:bodyPr>
          <a:lstStyle/>
          <a:p>
            <a:r>
              <a:rPr lang="en-US" dirty="0">
                <a:latin typeface="Arial" pitchFamily="34" charset="0"/>
                <a:cs typeface="Arial" pitchFamily="34" charset="0"/>
              </a:rPr>
              <a:t>Multiplexer-based latches</a:t>
            </a:r>
            <a:endParaRPr lang="en-IN" dirty="0"/>
          </a:p>
        </p:txBody>
      </p:sp>
      <p:sp>
        <p:nvSpPr>
          <p:cNvPr id="13" name="Rectangle 12">
            <a:extLst>
              <a:ext uri="{FF2B5EF4-FFF2-40B4-BE49-F238E27FC236}">
                <a16:creationId xmlns:a16="http://schemas.microsoft.com/office/drawing/2014/main" id="{D630D25A-547E-4D17-B65E-FA2B888931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0C3110E6-01E7-426E-9792-ED3DF4C168FB}"/>
              </a:ext>
            </a:extLst>
          </p:cNvPr>
          <p:cNvSpPr>
            <a:spLocks noGrp="1"/>
          </p:cNvSpPr>
          <p:nvPr>
            <p:ph idx="1"/>
          </p:nvPr>
        </p:nvSpPr>
        <p:spPr>
          <a:xfrm>
            <a:off x="649224" y="1524227"/>
            <a:ext cx="6702551" cy="4259262"/>
          </a:xfrm>
        </p:spPr>
        <p:txBody>
          <a:bodyPr>
            <a:normAutofit/>
          </a:bodyPr>
          <a:lstStyle/>
          <a:p>
            <a:pPr algn="just"/>
            <a:r>
              <a:rPr lang="en-US" dirty="0">
                <a:latin typeface="Arial" panose="020B0604020202020204" pitchFamily="34" charset="0"/>
                <a:cs typeface="Arial" panose="020B0604020202020204" pitchFamily="34" charset="0"/>
              </a:rPr>
              <a:t>The most robust and common technique to build a latch involves the use of transmission gate multiplexers. </a:t>
            </a:r>
          </a:p>
          <a:p>
            <a:pPr algn="just"/>
            <a:r>
              <a:rPr lang="en-US" dirty="0">
                <a:latin typeface="Arial" panose="020B0604020202020204" pitchFamily="34" charset="0"/>
                <a:cs typeface="Arial" panose="020B0604020202020204" pitchFamily="34" charset="0"/>
              </a:rPr>
              <a:t>Figure shows an implementation of static positive and negative latches based on multiplexers. </a:t>
            </a:r>
            <a:r>
              <a:rPr lang="en-US" b="0" i="0" u="none" strike="noStrike" baseline="0" dirty="0">
                <a:latin typeface="Arial" panose="020B0604020202020204" pitchFamily="34" charset="0"/>
                <a:cs typeface="Arial" panose="020B0604020202020204" pitchFamily="34" charset="0"/>
              </a:rPr>
              <a:t>For a negative latch, when the clock signal is low, the input 0 of the multiplexer is selected, and the </a:t>
            </a:r>
            <a:r>
              <a:rPr lang="en-US" b="0" i="1" u="none" strike="noStrike" baseline="0" dirty="0">
                <a:latin typeface="Arial" panose="020B0604020202020204" pitchFamily="34" charset="0"/>
                <a:cs typeface="Arial" panose="020B0604020202020204" pitchFamily="34" charset="0"/>
              </a:rPr>
              <a:t>D </a:t>
            </a:r>
            <a:r>
              <a:rPr lang="en-US" b="0" i="0" u="none" strike="noStrike" baseline="0" dirty="0">
                <a:latin typeface="Arial" panose="020B0604020202020204" pitchFamily="34" charset="0"/>
                <a:cs typeface="Arial" panose="020B0604020202020204" pitchFamily="34" charset="0"/>
              </a:rPr>
              <a:t>input is passed to the output.</a:t>
            </a:r>
          </a:p>
          <a:p>
            <a:pPr algn="just"/>
            <a:r>
              <a:rPr lang="en-US" b="0" i="0" u="none" strike="noStrike" baseline="0" dirty="0">
                <a:latin typeface="Arial" panose="020B0604020202020204" pitchFamily="34" charset="0"/>
                <a:cs typeface="Arial" panose="020B0604020202020204" pitchFamily="34" charset="0"/>
              </a:rPr>
              <a:t>When the clock signal is high, the input 1 of the multiplexer, which connects to the output of the latch, is selected. </a:t>
            </a:r>
            <a:r>
              <a:rPr lang="en-IN" sz="1800" b="0" i="0" u="none" strike="noStrike" baseline="0" dirty="0">
                <a:latin typeface="Arial" panose="020B0604020202020204" pitchFamily="34" charset="0"/>
                <a:cs typeface="Arial" panose="020B0604020202020204" pitchFamily="34" charset="0"/>
              </a:rPr>
              <a:t>The </a:t>
            </a:r>
            <a:r>
              <a:rPr lang="en-US" sz="1800" b="0" i="0" u="none" strike="noStrike" baseline="0" dirty="0">
                <a:latin typeface="Arial" panose="020B0604020202020204" pitchFamily="34" charset="0"/>
                <a:cs typeface="Arial" panose="020B0604020202020204" pitchFamily="34" charset="0"/>
              </a:rPr>
              <a:t>feedback holds the output stable while the clock signal is high.</a:t>
            </a:r>
            <a:endParaRPr lang="en-US" dirty="0">
              <a:latin typeface="Arial" panose="020B0604020202020204" pitchFamily="34" charset="0"/>
              <a:cs typeface="Arial" panose="020B0604020202020204" pitchFamily="34" charset="0"/>
            </a:endParaRPr>
          </a:p>
          <a:p>
            <a:pPr algn="l"/>
            <a:r>
              <a:rPr lang="en-IN" sz="1800" b="0" i="0" u="none" strike="noStrike" baseline="0" dirty="0">
                <a:latin typeface="Arial" panose="020B0604020202020204" pitchFamily="34" charset="0"/>
                <a:cs typeface="Arial" panose="020B0604020202020204" pitchFamily="34" charset="0"/>
              </a:rPr>
              <a:t>Similarly in the positive </a:t>
            </a:r>
            <a:r>
              <a:rPr lang="en-US" sz="1800" b="0" i="0" u="none" strike="noStrike" baseline="0" dirty="0">
                <a:latin typeface="Arial" panose="020B0604020202020204" pitchFamily="34" charset="0"/>
                <a:cs typeface="Arial" panose="020B0604020202020204" pitchFamily="34" charset="0"/>
              </a:rPr>
              <a:t>latch, the </a:t>
            </a:r>
            <a:r>
              <a:rPr lang="en-US" sz="1800" b="0" i="1" u="none" strike="noStrike" baseline="0" dirty="0">
                <a:latin typeface="Arial" panose="020B0604020202020204" pitchFamily="34" charset="0"/>
                <a:cs typeface="Arial" panose="020B0604020202020204" pitchFamily="34" charset="0"/>
              </a:rPr>
              <a:t>D </a:t>
            </a:r>
            <a:r>
              <a:rPr lang="en-US" sz="1800" b="0" i="0" u="none" strike="noStrike" baseline="0" dirty="0">
                <a:latin typeface="Arial" panose="020B0604020202020204" pitchFamily="34" charset="0"/>
                <a:cs typeface="Arial" panose="020B0604020202020204" pitchFamily="34" charset="0"/>
              </a:rPr>
              <a:t>input is selected.</a:t>
            </a:r>
            <a:endParaRPr lang="en-IN" dirty="0">
              <a:latin typeface="Arial" panose="020B0604020202020204" pitchFamily="34" charset="0"/>
              <a:cs typeface="Arial" panose="020B0604020202020204" pitchFamily="34" charset="0"/>
            </a:endParaRPr>
          </a:p>
        </p:txBody>
      </p:sp>
      <p:pic>
        <p:nvPicPr>
          <p:cNvPr id="6" name="Picture 5" descr="Diagram, schematic&#10;&#10;Description automatically generated">
            <a:extLst>
              <a:ext uri="{FF2B5EF4-FFF2-40B4-BE49-F238E27FC236}">
                <a16:creationId xmlns:a16="http://schemas.microsoft.com/office/drawing/2014/main" id="{7F41137E-2761-4E73-B2DF-A7810C206C59}"/>
              </a:ext>
            </a:extLst>
          </p:cNvPr>
          <p:cNvPicPr>
            <a:picLocks noChangeAspect="1"/>
          </p:cNvPicPr>
          <p:nvPr/>
        </p:nvPicPr>
        <p:blipFill>
          <a:blip r:embed="rId2"/>
          <a:stretch>
            <a:fillRect/>
          </a:stretch>
        </p:blipFill>
        <p:spPr>
          <a:xfrm>
            <a:off x="7507454" y="1633591"/>
            <a:ext cx="4565955" cy="3277456"/>
          </a:xfrm>
          <a:prstGeom prst="rect">
            <a:avLst/>
          </a:prstGeom>
        </p:spPr>
      </p:pic>
      <p:sp>
        <p:nvSpPr>
          <p:cNvPr id="15"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0730493D-ABAD-43C0-BEEE-B692860FB02B}"/>
              </a:ext>
            </a:extLst>
          </p:cNvPr>
          <p:cNvSpPr>
            <a:spLocks noGrp="1"/>
          </p:cNvSpPr>
          <p:nvPr>
            <p:ph type="ftr" sz="quarter" idx="11"/>
          </p:nvPr>
        </p:nvSpPr>
        <p:spPr>
          <a:xfrm>
            <a:off x="1220916" y="6135808"/>
            <a:ext cx="7619999" cy="365125"/>
          </a:xfrm>
        </p:spPr>
        <p:txBody>
          <a:bodyPr>
            <a:normAutofit lnSpcReduction="10000"/>
          </a:bodyPr>
          <a:lstStyle/>
          <a:p>
            <a:pPr>
              <a:spcAft>
                <a:spcPts val="600"/>
              </a:spcAft>
              <a:defRPr/>
            </a:pPr>
            <a:r>
              <a:rPr kumimoji="0" lang="en-IN" sz="14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 </a:t>
            </a:r>
            <a:r>
              <a:rPr lang="en-IN" sz="1400" dirty="0">
                <a:solidFill>
                  <a:srgbClr val="C00000"/>
                </a:solidFill>
                <a:latin typeface="Arial" panose="020B0604020202020204" pitchFamily="34" charset="0"/>
                <a:cs typeface="Arial" panose="020B0604020202020204" pitchFamily="34" charset="0"/>
              </a:rPr>
              <a:t>Rohit Lorenzo, VIT-AP</a:t>
            </a:r>
          </a:p>
          <a:p>
            <a:pPr marL="0" marR="0" lvl="0" indent="0" defTabSz="914400" rtl="0" eaLnBrk="1" fontAlgn="auto" latinLnBrk="0" hangingPunct="1">
              <a:spcBef>
                <a:spcPts val="0"/>
              </a:spcBef>
              <a:spcAft>
                <a:spcPts val="600"/>
              </a:spcAft>
              <a:buClrTx/>
              <a:buSzTx/>
              <a:buFontTx/>
              <a:buNone/>
              <a:tabLst/>
              <a:defRPr/>
            </a:pPr>
            <a:endParaRPr kumimoji="0" lang="en-IN"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58323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9BD230D-0708-4782-93C2-6421485EDE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11D7C6-C761-47AD-A1CB-3AF006C9A362}"/>
              </a:ext>
            </a:extLst>
          </p:cNvPr>
          <p:cNvSpPr>
            <a:spLocks noGrp="1"/>
          </p:cNvSpPr>
          <p:nvPr>
            <p:ph type="title"/>
          </p:nvPr>
        </p:nvSpPr>
        <p:spPr>
          <a:xfrm>
            <a:off x="649224" y="645106"/>
            <a:ext cx="6574536" cy="1259894"/>
          </a:xfrm>
        </p:spPr>
        <p:txBody>
          <a:bodyPr>
            <a:normAutofit/>
          </a:bodyPr>
          <a:lstStyle/>
          <a:p>
            <a:r>
              <a:rPr lang="en-US" dirty="0">
                <a:latin typeface="Arial" pitchFamily="34" charset="0"/>
                <a:cs typeface="Arial" pitchFamily="34" charset="0"/>
              </a:rPr>
              <a:t>Transistor level implementation of  latches</a:t>
            </a:r>
            <a:endParaRPr lang="en-IN" dirty="0"/>
          </a:p>
        </p:txBody>
      </p:sp>
      <p:sp>
        <p:nvSpPr>
          <p:cNvPr id="13" name="Rectangle 12">
            <a:extLst>
              <a:ext uri="{FF2B5EF4-FFF2-40B4-BE49-F238E27FC236}">
                <a16:creationId xmlns:a16="http://schemas.microsoft.com/office/drawing/2014/main" id="{D630D25A-547E-4D17-B65E-FA2B888931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CBA1550E-5546-4A87-AA32-4D6905405BAE}"/>
              </a:ext>
            </a:extLst>
          </p:cNvPr>
          <p:cNvSpPr>
            <a:spLocks noGrp="1"/>
          </p:cNvSpPr>
          <p:nvPr>
            <p:ph idx="1"/>
          </p:nvPr>
        </p:nvSpPr>
        <p:spPr>
          <a:xfrm>
            <a:off x="649224" y="2133600"/>
            <a:ext cx="6574535" cy="3759253"/>
          </a:xfrm>
        </p:spPr>
        <p:txBody>
          <a:bodyPr>
            <a:normAutofit/>
          </a:bodyPr>
          <a:lstStyle/>
          <a:p>
            <a:pPr algn="just"/>
            <a:r>
              <a:rPr lang="en-US" dirty="0">
                <a:latin typeface="Arial" panose="020B0604020202020204" pitchFamily="34" charset="0"/>
                <a:cs typeface="Arial" panose="020B0604020202020204" pitchFamily="34" charset="0"/>
              </a:rPr>
              <a:t>A transistor level implementation of a positive latch based on multiplexers is shown in figure. </a:t>
            </a:r>
            <a:r>
              <a:rPr lang="en-US" b="0" u="none" strike="noStrike" baseline="0" dirty="0">
                <a:latin typeface="Arial" panose="020B0604020202020204" pitchFamily="34" charset="0"/>
                <a:cs typeface="Arial" panose="020B0604020202020204" pitchFamily="34" charset="0"/>
              </a:rPr>
              <a:t>When CLK is high, the bottom transmission gate is on and the latch is transparent - that is, the D input is copied to the Q output.</a:t>
            </a:r>
          </a:p>
          <a:p>
            <a:pPr algn="just"/>
            <a:r>
              <a:rPr lang="en-US" b="0" u="none" strike="noStrike" baseline="0" dirty="0">
                <a:latin typeface="Arial" panose="020B0604020202020204" pitchFamily="34" charset="0"/>
                <a:cs typeface="Arial" panose="020B0604020202020204" pitchFamily="34" charset="0"/>
              </a:rPr>
              <a:t>During this phase, the feedback loop is open since the top transmission gate is off. This particular latch implementation is not particularly efficient from this metric as it presents a load of 4 transistors to the CLK signal.</a:t>
            </a:r>
          </a:p>
          <a:p>
            <a:endParaRPr lang="en-IN" dirty="0">
              <a:latin typeface="Arial" panose="020B0604020202020204" pitchFamily="34" charset="0"/>
              <a:cs typeface="Arial" panose="020B0604020202020204" pitchFamily="34" charset="0"/>
            </a:endParaRPr>
          </a:p>
        </p:txBody>
      </p:sp>
      <p:pic>
        <p:nvPicPr>
          <p:cNvPr id="6" name="Picture 5" descr="Diagram&#10;&#10;Description automatically generated">
            <a:extLst>
              <a:ext uri="{FF2B5EF4-FFF2-40B4-BE49-F238E27FC236}">
                <a16:creationId xmlns:a16="http://schemas.microsoft.com/office/drawing/2014/main" id="{56AA5363-BA9C-45B4-8686-CFD0107F060C}"/>
              </a:ext>
            </a:extLst>
          </p:cNvPr>
          <p:cNvPicPr>
            <a:picLocks noChangeAspect="1"/>
          </p:cNvPicPr>
          <p:nvPr/>
        </p:nvPicPr>
        <p:blipFill>
          <a:blip r:embed="rId2"/>
          <a:stretch>
            <a:fillRect/>
          </a:stretch>
        </p:blipFill>
        <p:spPr>
          <a:xfrm>
            <a:off x="7562088" y="1699769"/>
            <a:ext cx="3981455" cy="3138421"/>
          </a:xfrm>
          <a:prstGeom prst="rect">
            <a:avLst/>
          </a:prstGeom>
        </p:spPr>
      </p:pic>
      <p:sp>
        <p:nvSpPr>
          <p:cNvPr id="15"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47729889-0A1F-4306-BF44-1ABEC845291A}"/>
              </a:ext>
            </a:extLst>
          </p:cNvPr>
          <p:cNvSpPr>
            <a:spLocks noGrp="1"/>
          </p:cNvSpPr>
          <p:nvPr>
            <p:ph type="ftr" sz="quarter" idx="11"/>
          </p:nvPr>
        </p:nvSpPr>
        <p:spPr>
          <a:xfrm>
            <a:off x="1220916" y="6135808"/>
            <a:ext cx="7619999" cy="365125"/>
          </a:xfrm>
        </p:spPr>
        <p:txBody>
          <a:bodyPr>
            <a:normAutofit lnSpcReduction="10000"/>
          </a:bodyPr>
          <a:lstStyle/>
          <a:p>
            <a:pPr>
              <a:spcAft>
                <a:spcPts val="600"/>
              </a:spcAft>
              <a:defRPr/>
            </a:pPr>
            <a:r>
              <a:rPr lang="en-IN" sz="1400" dirty="0">
                <a:solidFill>
                  <a:srgbClr val="C00000"/>
                </a:solidFill>
                <a:latin typeface="Arial" panose="020B0604020202020204" pitchFamily="34" charset="0"/>
                <a:cs typeface="Arial" panose="020B0604020202020204" pitchFamily="34" charset="0"/>
              </a:rPr>
              <a:t>Rohit Lorenzo, VIT-AP</a:t>
            </a:r>
          </a:p>
          <a:p>
            <a:pPr>
              <a:spcAft>
                <a:spcPts val="600"/>
              </a:spcAft>
              <a:defRPr/>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6244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AB6BC-4B15-4B2F-A91A-267AADC59740}"/>
              </a:ext>
            </a:extLst>
          </p:cNvPr>
          <p:cNvSpPr>
            <a:spLocks noGrp="1"/>
          </p:cNvSpPr>
          <p:nvPr>
            <p:ph type="title"/>
          </p:nvPr>
        </p:nvSpPr>
        <p:spPr>
          <a:xfrm>
            <a:off x="1627632" y="624109"/>
            <a:ext cx="2487168" cy="5614951"/>
          </a:xfrm>
        </p:spPr>
        <p:txBody>
          <a:bodyPr>
            <a:normAutofit/>
          </a:bodyPr>
          <a:lstStyle/>
          <a:p>
            <a:r>
              <a:rPr lang="en-US" sz="3200" dirty="0">
                <a:latin typeface="Arial" pitchFamily="34" charset="0"/>
                <a:cs typeface="Arial" pitchFamily="34" charset="0"/>
              </a:rPr>
              <a:t>Continue….</a:t>
            </a:r>
            <a:endParaRPr lang="en-IN" sz="3200" dirty="0"/>
          </a:p>
        </p:txBody>
      </p:sp>
      <p:sp>
        <p:nvSpPr>
          <p:cNvPr id="3" name="Content Placeholder 2">
            <a:extLst>
              <a:ext uri="{FF2B5EF4-FFF2-40B4-BE49-F238E27FC236}">
                <a16:creationId xmlns:a16="http://schemas.microsoft.com/office/drawing/2014/main" id="{8E09D0CD-76EC-4C20-A32B-707B4F0A4A86}"/>
              </a:ext>
            </a:extLst>
          </p:cNvPr>
          <p:cNvSpPr>
            <a:spLocks noGrp="1"/>
          </p:cNvSpPr>
          <p:nvPr>
            <p:ph idx="1"/>
          </p:nvPr>
        </p:nvSpPr>
        <p:spPr>
          <a:xfrm>
            <a:off x="4700016" y="624110"/>
            <a:ext cx="6950878" cy="4100342"/>
          </a:xfrm>
        </p:spPr>
        <p:txBody>
          <a:bodyPr>
            <a:normAutofit fontScale="92500" lnSpcReduction="10000"/>
          </a:bodyPr>
          <a:lstStyle/>
          <a:p>
            <a:pPr algn="just"/>
            <a:r>
              <a:rPr lang="en-US" sz="2100" dirty="0">
                <a:latin typeface="Arial" panose="020B0604020202020204" pitchFamily="34" charset="0"/>
                <a:cs typeface="Arial" panose="020B0604020202020204" pitchFamily="34" charset="0"/>
              </a:rPr>
              <a:t>It is possible to reduce the clock load to two transistors by using implement multiplexers using NMOS only pass transistor. </a:t>
            </a:r>
            <a:r>
              <a:rPr lang="en-IN" sz="2100" b="0" i="0" u="none" strike="noStrike" baseline="0" dirty="0">
                <a:latin typeface="Arial" panose="020B0604020202020204" pitchFamily="34" charset="0"/>
                <a:cs typeface="Arial" panose="020B0604020202020204" pitchFamily="34" charset="0"/>
              </a:rPr>
              <a:t>The advantage of this </a:t>
            </a:r>
            <a:r>
              <a:rPr lang="en-US" sz="2100" b="0" i="0" u="none" strike="noStrike" baseline="0" dirty="0">
                <a:latin typeface="Arial" panose="020B0604020202020204" pitchFamily="34" charset="0"/>
                <a:cs typeface="Arial" panose="020B0604020202020204" pitchFamily="34" charset="0"/>
              </a:rPr>
              <a:t>approach is the reduced clock load of only two NMOS devices.</a:t>
            </a:r>
          </a:p>
          <a:p>
            <a:pPr algn="just"/>
            <a:r>
              <a:rPr lang="en-US" sz="2100" b="0" i="0" u="none" strike="noStrike" baseline="0" dirty="0">
                <a:latin typeface="Arial" panose="020B0604020202020204" pitchFamily="34" charset="0"/>
                <a:cs typeface="Arial" panose="020B0604020202020204" pitchFamily="34" charset="0"/>
              </a:rPr>
              <a:t>When </a:t>
            </a:r>
            <a:r>
              <a:rPr lang="en-US" sz="2100" b="0" i="1" u="none" strike="noStrike" baseline="0" dirty="0">
                <a:latin typeface="Arial" panose="020B0604020202020204" pitchFamily="34" charset="0"/>
                <a:cs typeface="Arial" panose="020B0604020202020204" pitchFamily="34" charset="0"/>
              </a:rPr>
              <a:t>CLK </a:t>
            </a:r>
            <a:r>
              <a:rPr lang="en-US" sz="2100" b="0" i="0" u="none" strike="noStrike" baseline="0" dirty="0">
                <a:latin typeface="Arial" panose="020B0604020202020204" pitchFamily="34" charset="0"/>
                <a:cs typeface="Arial" panose="020B0604020202020204" pitchFamily="34" charset="0"/>
              </a:rPr>
              <a:t>is high, the latch samples the </a:t>
            </a:r>
            <a:r>
              <a:rPr lang="en-US" sz="2100" b="0" i="1" u="none" strike="noStrike" baseline="0" dirty="0">
                <a:latin typeface="Arial" panose="020B0604020202020204" pitchFamily="34" charset="0"/>
                <a:cs typeface="Arial" panose="020B0604020202020204" pitchFamily="34" charset="0"/>
              </a:rPr>
              <a:t>D </a:t>
            </a:r>
            <a:r>
              <a:rPr lang="en-US" sz="2100" b="0" i="0" u="none" strike="noStrike" baseline="0" dirty="0">
                <a:latin typeface="Arial" panose="020B0604020202020204" pitchFamily="34" charset="0"/>
                <a:cs typeface="Arial" panose="020B0604020202020204" pitchFamily="34" charset="0"/>
              </a:rPr>
              <a:t>input, while a low clock-signal enables the feedback-loop and puts the latch in the hold mode.</a:t>
            </a:r>
          </a:p>
          <a:p>
            <a:pPr algn="just"/>
            <a:r>
              <a:rPr lang="en-US" sz="2100" b="0" i="0" u="none" strike="noStrike" baseline="0" dirty="0">
                <a:latin typeface="Arial" panose="020B0604020202020204" pitchFamily="34" charset="0"/>
                <a:cs typeface="Arial" panose="020B0604020202020204" pitchFamily="34" charset="0"/>
              </a:rPr>
              <a:t>the use of NMOS only </a:t>
            </a:r>
            <a:r>
              <a:rPr lang="en-US" sz="2100" b="0" i="0" u="none" strike="noStrike" baseline="0" dirty="0" err="1">
                <a:latin typeface="Arial" panose="020B0604020202020204" pitchFamily="34" charset="0"/>
                <a:cs typeface="Arial" panose="020B0604020202020204" pitchFamily="34" charset="0"/>
              </a:rPr>
              <a:t>passtransistors</a:t>
            </a:r>
            <a:r>
              <a:rPr lang="en-US" sz="2100" b="0" i="0" u="none" strike="noStrike" baseline="0" dirty="0">
                <a:latin typeface="Arial" panose="020B0604020202020204" pitchFamily="34" charset="0"/>
                <a:cs typeface="Arial" panose="020B0604020202020204" pitchFamily="34" charset="0"/>
              </a:rPr>
              <a:t> results in the passing of a degraded high voltage of </a:t>
            </a:r>
            <a:r>
              <a:rPr lang="en-US" sz="2100" b="1" i="1" u="none" strike="noStrike" baseline="0" dirty="0">
                <a:latin typeface="Arial" panose="020B0604020202020204" pitchFamily="34" charset="0"/>
                <a:cs typeface="Arial" panose="020B0604020202020204" pitchFamily="34" charset="0"/>
              </a:rPr>
              <a:t>V</a:t>
            </a:r>
            <a:r>
              <a:rPr lang="en-US" sz="2100" b="1" i="1" u="none" strike="noStrike" baseline="-25000" dirty="0">
                <a:latin typeface="Arial" panose="020B0604020202020204" pitchFamily="34" charset="0"/>
                <a:cs typeface="Arial" panose="020B0604020202020204" pitchFamily="34" charset="0"/>
              </a:rPr>
              <a:t>DD  </a:t>
            </a:r>
            <a:r>
              <a:rPr lang="en-US" sz="2100" b="1" i="0" u="none" strike="noStrike" baseline="0" dirty="0">
                <a:latin typeface="Arial" panose="020B0604020202020204" pitchFamily="34" charset="0"/>
                <a:cs typeface="Arial" panose="020B0604020202020204" pitchFamily="34" charset="0"/>
              </a:rPr>
              <a:t>- </a:t>
            </a:r>
            <a:r>
              <a:rPr lang="en-US" sz="2100" b="1" i="1" u="none" strike="noStrike" baseline="0" dirty="0" err="1">
                <a:latin typeface="Arial" panose="020B0604020202020204" pitchFamily="34" charset="0"/>
                <a:cs typeface="Arial" panose="020B0604020202020204" pitchFamily="34" charset="0"/>
              </a:rPr>
              <a:t>V</a:t>
            </a:r>
            <a:r>
              <a:rPr lang="en-US" sz="2100" b="1" i="1" u="none" strike="noStrike" baseline="-25000" dirty="0" err="1">
                <a:latin typeface="Arial" panose="020B0604020202020204" pitchFamily="34" charset="0"/>
                <a:cs typeface="Arial" panose="020B0604020202020204" pitchFamily="34" charset="0"/>
              </a:rPr>
              <a:t>Tn</a:t>
            </a:r>
            <a:r>
              <a:rPr lang="en-US" sz="2100" b="1" i="1" u="none" strike="noStrike" baseline="-25000" dirty="0">
                <a:latin typeface="Arial" panose="020B0604020202020204" pitchFamily="34" charset="0"/>
                <a:cs typeface="Arial" panose="020B0604020202020204" pitchFamily="34" charset="0"/>
              </a:rPr>
              <a:t> </a:t>
            </a:r>
            <a:r>
              <a:rPr lang="en-US" sz="2100" b="0" i="0" u="none" strike="noStrike" baseline="0" dirty="0">
                <a:latin typeface="Arial" panose="020B0604020202020204" pitchFamily="34" charset="0"/>
                <a:cs typeface="Arial" panose="020B0604020202020204" pitchFamily="34" charset="0"/>
              </a:rPr>
              <a:t>to the input of the</a:t>
            </a:r>
          </a:p>
          <a:p>
            <a:pPr algn="just"/>
            <a:r>
              <a:rPr lang="en-US" sz="2100" b="0" i="0" u="none" strike="noStrike" baseline="0" dirty="0">
                <a:latin typeface="Arial" panose="020B0604020202020204" pitchFamily="34" charset="0"/>
                <a:cs typeface="Arial" panose="020B0604020202020204" pitchFamily="34" charset="0"/>
              </a:rPr>
              <a:t>first inverter. This impacts both noise margin and the switching performance, especially in</a:t>
            </a:r>
          </a:p>
          <a:p>
            <a:pPr algn="just"/>
            <a:r>
              <a:rPr lang="en-US" sz="2100" b="0" i="0" u="none" strike="noStrike" baseline="0" dirty="0">
                <a:latin typeface="Arial" panose="020B0604020202020204" pitchFamily="34" charset="0"/>
                <a:cs typeface="Arial" panose="020B0604020202020204" pitchFamily="34" charset="0"/>
              </a:rPr>
              <a:t>The case of low values of </a:t>
            </a:r>
            <a:r>
              <a:rPr lang="en-US" sz="2100" b="1" i="1" u="none" strike="noStrike" baseline="0" dirty="0">
                <a:latin typeface="Arial" panose="020B0604020202020204" pitchFamily="34" charset="0"/>
                <a:cs typeface="Arial" panose="020B0604020202020204" pitchFamily="34" charset="0"/>
              </a:rPr>
              <a:t>V</a:t>
            </a:r>
            <a:r>
              <a:rPr lang="en-US" sz="2100" b="1" i="1" u="none" strike="noStrike" baseline="-25000" dirty="0">
                <a:latin typeface="Arial" panose="020B0604020202020204" pitchFamily="34" charset="0"/>
                <a:cs typeface="Arial" panose="020B0604020202020204" pitchFamily="34" charset="0"/>
              </a:rPr>
              <a:t>DD</a:t>
            </a:r>
            <a:r>
              <a:rPr lang="en-US" sz="2100" b="1" i="1" u="none" strike="noStrike" baseline="0" dirty="0">
                <a:latin typeface="Arial" panose="020B0604020202020204" pitchFamily="34" charset="0"/>
                <a:cs typeface="Arial" panose="020B0604020202020204" pitchFamily="34" charset="0"/>
              </a:rPr>
              <a:t> </a:t>
            </a:r>
            <a:r>
              <a:rPr lang="en-US" sz="2100" b="0" i="0" u="none" strike="noStrike" baseline="0" dirty="0">
                <a:latin typeface="Arial" panose="020B0604020202020204" pitchFamily="34" charset="0"/>
                <a:cs typeface="Arial" panose="020B0604020202020204" pitchFamily="34" charset="0"/>
              </a:rPr>
              <a:t>and high values of </a:t>
            </a:r>
            <a:r>
              <a:rPr lang="en-US" sz="2100" b="1" i="1" u="none" strike="noStrike" baseline="0" dirty="0" err="1">
                <a:latin typeface="Arial" panose="020B0604020202020204" pitchFamily="34" charset="0"/>
                <a:cs typeface="Arial" panose="020B0604020202020204" pitchFamily="34" charset="0"/>
              </a:rPr>
              <a:t>V</a:t>
            </a:r>
            <a:r>
              <a:rPr lang="en-US" sz="2100" b="1" i="1" u="none" strike="noStrike" baseline="-25000" dirty="0" err="1">
                <a:latin typeface="Arial" panose="020B0604020202020204" pitchFamily="34" charset="0"/>
                <a:cs typeface="Arial" panose="020B0604020202020204" pitchFamily="34" charset="0"/>
              </a:rPr>
              <a:t>Tn</a:t>
            </a:r>
            <a:r>
              <a:rPr lang="en-US" sz="2100" b="1" i="0" u="none" strike="noStrike" baseline="0" dirty="0">
                <a:latin typeface="Arial" panose="020B0604020202020204" pitchFamily="34" charset="0"/>
                <a:cs typeface="Arial" panose="020B0604020202020204" pitchFamily="34" charset="0"/>
              </a:rPr>
              <a:t>. </a:t>
            </a:r>
            <a:r>
              <a:rPr lang="en-US" sz="2100" b="0" i="0" u="none" strike="noStrike" baseline="0" dirty="0">
                <a:latin typeface="Arial" panose="020B0604020202020204" pitchFamily="34" charset="0"/>
                <a:cs typeface="Arial" panose="020B0604020202020204" pitchFamily="34" charset="0"/>
              </a:rPr>
              <a:t>It also causes static power dissipation</a:t>
            </a:r>
            <a:r>
              <a:rPr lang="en-IN" sz="2100" b="0" i="0" u="none" strike="noStrike" baseline="0" dirty="0">
                <a:latin typeface="Arial" panose="020B0604020202020204" pitchFamily="34" charset="0"/>
                <a:cs typeface="Arial" panose="020B0604020202020204" pitchFamily="34" charset="0"/>
              </a:rPr>
              <a:t>in first inverter</a:t>
            </a:r>
            <a:endParaRPr lang="en-US" sz="2100" b="0" i="0" u="none" strike="noStrike" baseline="0"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F95C049-C55D-4170-8436-C22562989352}"/>
              </a:ext>
            </a:extLst>
          </p:cNvPr>
          <p:cNvPicPr>
            <a:picLocks noChangeAspect="1"/>
          </p:cNvPicPr>
          <p:nvPr/>
        </p:nvPicPr>
        <p:blipFill>
          <a:blip r:embed="rId2"/>
          <a:stretch>
            <a:fillRect/>
          </a:stretch>
        </p:blipFill>
        <p:spPr>
          <a:xfrm>
            <a:off x="5367684" y="4724453"/>
            <a:ext cx="6108550" cy="2133548"/>
          </a:xfrm>
          <a:prstGeom prst="rect">
            <a:avLst/>
          </a:prstGeom>
        </p:spPr>
      </p:pic>
      <p:sp>
        <p:nvSpPr>
          <p:cNvPr id="4" name="Footer Placeholder 3">
            <a:extLst>
              <a:ext uri="{FF2B5EF4-FFF2-40B4-BE49-F238E27FC236}">
                <a16:creationId xmlns:a16="http://schemas.microsoft.com/office/drawing/2014/main" id="{4BDE22C7-15CB-477A-8F7A-67E4284C3282}"/>
              </a:ext>
            </a:extLst>
          </p:cNvPr>
          <p:cNvSpPr>
            <a:spLocks noGrp="1"/>
          </p:cNvSpPr>
          <p:nvPr>
            <p:ph type="ftr" sz="quarter" idx="11"/>
          </p:nvPr>
        </p:nvSpPr>
        <p:spPr>
          <a:xfrm>
            <a:off x="2589212" y="6272968"/>
            <a:ext cx="7619999" cy="365125"/>
          </a:xfrm>
        </p:spPr>
        <p:txBody>
          <a:bodyPr>
            <a:normAutofit/>
          </a:bodyPr>
          <a:lstStyle/>
          <a:p>
            <a:pPr>
              <a:spcAft>
                <a:spcPts val="600"/>
              </a:spcAft>
              <a:defRPr/>
            </a:pPr>
            <a:r>
              <a:rPr lang="en-IN" sz="14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180712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419E28B-721B-4D0D-A1D3-78EAC57253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0708C8-F2A7-4BF6-8E88-A3556F646D7E}"/>
              </a:ext>
            </a:extLst>
          </p:cNvPr>
          <p:cNvSpPr>
            <a:spLocks noGrp="1"/>
          </p:cNvSpPr>
          <p:nvPr>
            <p:ph type="title"/>
          </p:nvPr>
        </p:nvSpPr>
        <p:spPr>
          <a:xfrm>
            <a:off x="649224" y="645106"/>
            <a:ext cx="5122652" cy="1259894"/>
          </a:xfrm>
        </p:spPr>
        <p:txBody>
          <a:bodyPr>
            <a:normAutofit/>
          </a:bodyPr>
          <a:lstStyle/>
          <a:p>
            <a:r>
              <a:rPr lang="en-IN" b="1" dirty="0"/>
              <a:t>Master-Slave Edge-Triggered Register</a:t>
            </a:r>
          </a:p>
        </p:txBody>
      </p:sp>
      <p:sp>
        <p:nvSpPr>
          <p:cNvPr id="12" name="Rectangle 11">
            <a:extLst>
              <a:ext uri="{FF2B5EF4-FFF2-40B4-BE49-F238E27FC236}">
                <a16:creationId xmlns:a16="http://schemas.microsoft.com/office/drawing/2014/main" id="{359E45B9-0D24-465E-84AD-FEDBA836B5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8EA902C2-1473-4180-A701-FF3FB091539F}"/>
              </a:ext>
            </a:extLst>
          </p:cNvPr>
          <p:cNvSpPr>
            <a:spLocks noGrp="1"/>
          </p:cNvSpPr>
          <p:nvPr>
            <p:ph idx="1"/>
          </p:nvPr>
        </p:nvSpPr>
        <p:spPr>
          <a:xfrm>
            <a:off x="649225" y="1905000"/>
            <a:ext cx="5710478" cy="3987853"/>
          </a:xfrm>
        </p:spPr>
        <p:txBody>
          <a:bodyPr>
            <a:normAutofit fontScale="92500" lnSpcReduction="20000"/>
          </a:bodyPr>
          <a:lstStyle/>
          <a:p>
            <a:pPr algn="just">
              <a:lnSpc>
                <a:spcPct val="90000"/>
              </a:lnSpc>
            </a:pPr>
            <a:r>
              <a:rPr lang="en-US" sz="1900" dirty="0">
                <a:latin typeface="Arial" panose="020B0604020202020204" pitchFamily="34" charset="0"/>
                <a:cs typeface="Arial" panose="020B0604020202020204" pitchFamily="34" charset="0"/>
              </a:rPr>
              <a:t>The most common approach for constructing an edge-triggered register is to use a master slave configuration.</a:t>
            </a:r>
          </a:p>
          <a:p>
            <a:pPr algn="just">
              <a:lnSpc>
                <a:spcPct val="90000"/>
              </a:lnSpc>
            </a:pPr>
            <a:r>
              <a:rPr lang="en-US" sz="1900" b="0" i="0" u="none" strike="noStrike" baseline="0" dirty="0">
                <a:latin typeface="Arial" panose="020B0604020202020204" pitchFamily="34" charset="0"/>
                <a:cs typeface="Arial" panose="020B0604020202020204" pitchFamily="34" charset="0"/>
              </a:rPr>
              <a:t>The register consists of cascading a negative latch (master stage) with a positive latch (slave stage).  </a:t>
            </a:r>
          </a:p>
          <a:p>
            <a:pPr algn="just">
              <a:lnSpc>
                <a:spcPct val="90000"/>
              </a:lnSpc>
            </a:pPr>
            <a:r>
              <a:rPr lang="en-US" sz="1900" b="0" i="0" u="none" strike="noStrike" baseline="0" dirty="0">
                <a:latin typeface="Arial" panose="020B0604020202020204" pitchFamily="34" charset="0"/>
                <a:cs typeface="Arial" panose="020B0604020202020204" pitchFamily="34" charset="0"/>
              </a:rPr>
              <a:t>On the low phase of the clock, the master stage is </a:t>
            </a:r>
            <a:r>
              <a:rPr lang="en-US" sz="1900" b="0" i="1" u="none" strike="noStrike" baseline="0" dirty="0">
                <a:latin typeface="Arial" panose="020B0604020202020204" pitchFamily="34" charset="0"/>
                <a:cs typeface="Arial" panose="020B0604020202020204" pitchFamily="34" charset="0"/>
              </a:rPr>
              <a:t>transparent, </a:t>
            </a:r>
            <a:r>
              <a:rPr lang="en-US" sz="1900" b="0" i="0" u="none" strike="noStrike" baseline="0" dirty="0">
                <a:latin typeface="Arial" panose="020B0604020202020204" pitchFamily="34" charset="0"/>
                <a:cs typeface="Arial" panose="020B0604020202020204" pitchFamily="34" charset="0"/>
              </a:rPr>
              <a:t>and the </a:t>
            </a:r>
            <a:r>
              <a:rPr lang="en-US" sz="1900" b="1" i="1" u="none" strike="noStrike" baseline="0" dirty="0">
                <a:latin typeface="Arial" panose="020B0604020202020204" pitchFamily="34" charset="0"/>
                <a:cs typeface="Arial" panose="020B0604020202020204" pitchFamily="34" charset="0"/>
              </a:rPr>
              <a:t>D</a:t>
            </a:r>
            <a:r>
              <a:rPr lang="en-US" sz="1900" b="0" i="1" u="none" strike="noStrike" baseline="0" dirty="0">
                <a:latin typeface="Arial" panose="020B0604020202020204" pitchFamily="34" charset="0"/>
                <a:cs typeface="Arial" panose="020B0604020202020204" pitchFamily="34" charset="0"/>
              </a:rPr>
              <a:t> </a:t>
            </a:r>
            <a:r>
              <a:rPr lang="en-US" sz="1900" b="0" i="0" u="none" strike="noStrike" baseline="0" dirty="0">
                <a:latin typeface="Arial" panose="020B0604020202020204" pitchFamily="34" charset="0"/>
                <a:cs typeface="Arial" panose="020B0604020202020204" pitchFamily="34" charset="0"/>
              </a:rPr>
              <a:t>input is passed to the master stage output </a:t>
            </a:r>
            <a:r>
              <a:rPr lang="en-IN" sz="1900" b="1" i="1" u="none" strike="noStrike" baseline="0" dirty="0">
                <a:latin typeface="Arial" panose="020B0604020202020204" pitchFamily="34" charset="0"/>
                <a:cs typeface="Arial" panose="020B0604020202020204" pitchFamily="34" charset="0"/>
              </a:rPr>
              <a:t>Q</a:t>
            </a:r>
            <a:r>
              <a:rPr lang="en-IN" sz="1900" b="1" i="1" u="none" strike="noStrike" baseline="-25000" dirty="0">
                <a:latin typeface="Arial" panose="020B0604020202020204" pitchFamily="34" charset="0"/>
                <a:cs typeface="Arial" panose="020B0604020202020204" pitchFamily="34" charset="0"/>
              </a:rPr>
              <a:t>M</a:t>
            </a:r>
            <a:r>
              <a:rPr lang="en-IN" sz="1900" b="0" i="0" u="none" strike="noStrike" baseline="0" dirty="0">
                <a:latin typeface="Arial" panose="020B0604020202020204" pitchFamily="34" charset="0"/>
                <a:cs typeface="Arial" panose="020B0604020202020204" pitchFamily="34" charset="0"/>
              </a:rPr>
              <a:t>. </a:t>
            </a:r>
            <a:r>
              <a:rPr lang="en-US" sz="1900" b="0" i="0" u="none" strike="noStrike" baseline="0" dirty="0">
                <a:latin typeface="Arial" panose="020B0604020202020204" pitchFamily="34" charset="0"/>
                <a:cs typeface="Arial" panose="020B0604020202020204" pitchFamily="34" charset="0"/>
              </a:rPr>
              <a:t>During this period, the slave stage is in the </a:t>
            </a:r>
            <a:r>
              <a:rPr lang="en-US" sz="1900" b="0" i="1" u="none" strike="noStrike" baseline="0" dirty="0">
                <a:latin typeface="Arial" panose="020B0604020202020204" pitchFamily="34" charset="0"/>
                <a:cs typeface="Arial" panose="020B0604020202020204" pitchFamily="34" charset="0"/>
              </a:rPr>
              <a:t>hold </a:t>
            </a:r>
            <a:r>
              <a:rPr lang="en-US" sz="1900" b="0" i="0" u="none" strike="noStrike" baseline="0" dirty="0">
                <a:latin typeface="Arial" panose="020B0604020202020204" pitchFamily="34" charset="0"/>
                <a:cs typeface="Arial" panose="020B0604020202020204" pitchFamily="34" charset="0"/>
              </a:rPr>
              <a:t>mode, keeping its previous value</a:t>
            </a:r>
            <a:r>
              <a:rPr lang="en-IN" sz="1900" b="0" i="0" u="none" strike="noStrike" baseline="0" dirty="0">
                <a:latin typeface="Arial" panose="020B0604020202020204" pitchFamily="34" charset="0"/>
                <a:cs typeface="Arial" panose="020B0604020202020204" pitchFamily="34" charset="0"/>
              </a:rPr>
              <a:t>using feedback. </a:t>
            </a:r>
          </a:p>
          <a:p>
            <a:pPr algn="just">
              <a:lnSpc>
                <a:spcPct val="90000"/>
              </a:lnSpc>
            </a:pPr>
            <a:r>
              <a:rPr lang="en-US" sz="1900" b="0" i="0" u="none" strike="noStrike" baseline="0" dirty="0">
                <a:latin typeface="Arial" panose="020B0604020202020204" pitchFamily="34" charset="0"/>
                <a:cs typeface="Arial" panose="020B0604020202020204" pitchFamily="34" charset="0"/>
              </a:rPr>
              <a:t>On the rising edge of the clock, the master slave stops sampling the input, and the slave stage starts sampling.</a:t>
            </a:r>
          </a:p>
          <a:p>
            <a:pPr algn="just">
              <a:lnSpc>
                <a:spcPct val="90000"/>
              </a:lnSpc>
            </a:pPr>
            <a:r>
              <a:rPr lang="en-US" sz="1900" b="0" i="0" u="none" strike="noStrike" baseline="0" dirty="0">
                <a:latin typeface="Arial" panose="020B0604020202020204" pitchFamily="34" charset="0"/>
                <a:cs typeface="Arial" panose="020B0604020202020204" pitchFamily="34" charset="0"/>
              </a:rPr>
              <a:t>During the high phase of the clock, the slave stage</a:t>
            </a:r>
          </a:p>
          <a:p>
            <a:pPr algn="just">
              <a:lnSpc>
                <a:spcPct val="90000"/>
              </a:lnSpc>
            </a:pPr>
            <a:r>
              <a:rPr lang="en-US" sz="1900" b="0" i="0" u="none" strike="noStrike" baseline="0" dirty="0">
                <a:latin typeface="Arial" panose="020B0604020202020204" pitchFamily="34" charset="0"/>
                <a:cs typeface="Arial" panose="020B0604020202020204" pitchFamily="34" charset="0"/>
              </a:rPr>
              <a:t>samples the output of the master stage (</a:t>
            </a:r>
            <a:r>
              <a:rPr lang="en-US" sz="1900" b="0" i="1" u="none" strike="noStrike" baseline="0" dirty="0">
                <a:latin typeface="Arial" panose="020B0604020202020204" pitchFamily="34" charset="0"/>
                <a:cs typeface="Arial" panose="020B0604020202020204" pitchFamily="34" charset="0"/>
              </a:rPr>
              <a:t>QM</a:t>
            </a:r>
            <a:r>
              <a:rPr lang="en-US" sz="1900" b="0" i="0" u="none" strike="noStrike" baseline="0" dirty="0">
                <a:latin typeface="Arial" panose="020B0604020202020204" pitchFamily="34" charset="0"/>
                <a:cs typeface="Arial" panose="020B0604020202020204" pitchFamily="34" charset="0"/>
              </a:rPr>
              <a:t>), while the master stage remains in a </a:t>
            </a:r>
            <a:r>
              <a:rPr lang="en-US" sz="1900" b="0" i="1" u="none" strike="noStrike" baseline="0" dirty="0">
                <a:latin typeface="Arial" panose="020B0604020202020204" pitchFamily="34" charset="0"/>
                <a:cs typeface="Arial" panose="020B0604020202020204" pitchFamily="34" charset="0"/>
              </a:rPr>
              <a:t>hold </a:t>
            </a:r>
            <a:r>
              <a:rPr lang="en-IN" sz="1900" b="0" i="0" u="none" strike="noStrike" baseline="0" dirty="0">
                <a:latin typeface="Arial" panose="020B0604020202020204" pitchFamily="34" charset="0"/>
                <a:cs typeface="Arial" panose="020B0604020202020204" pitchFamily="34" charset="0"/>
              </a:rPr>
              <a:t>mode.</a:t>
            </a:r>
            <a:endParaRPr lang="en-US" sz="1900" b="0" i="0" u="none" strike="noStrike" baseline="0" dirty="0">
              <a:latin typeface="Arial" panose="020B0604020202020204" pitchFamily="34" charset="0"/>
              <a:cs typeface="Arial" panose="020B0604020202020204" pitchFamily="34" charset="0"/>
            </a:endParaRPr>
          </a:p>
          <a:p>
            <a:pPr>
              <a:lnSpc>
                <a:spcPct val="90000"/>
              </a:lnSpc>
            </a:pPr>
            <a:endParaRPr lang="en-IN" sz="1400" dirty="0">
              <a:latin typeface="Arial" panose="020B0604020202020204" pitchFamily="34" charset="0"/>
              <a:cs typeface="Arial" panose="020B0604020202020204" pitchFamily="34" charset="0"/>
            </a:endParaRPr>
          </a:p>
        </p:txBody>
      </p:sp>
      <p:pic>
        <p:nvPicPr>
          <p:cNvPr id="5" name="Picture 4" descr="Diagram, engineering drawing&#10;&#10;Description automatically generated">
            <a:extLst>
              <a:ext uri="{FF2B5EF4-FFF2-40B4-BE49-F238E27FC236}">
                <a16:creationId xmlns:a16="http://schemas.microsoft.com/office/drawing/2014/main" id="{95692F0F-1A5B-4FA6-8CAD-F615A0049706}"/>
              </a:ext>
            </a:extLst>
          </p:cNvPr>
          <p:cNvPicPr>
            <a:picLocks noChangeAspect="1"/>
          </p:cNvPicPr>
          <p:nvPr/>
        </p:nvPicPr>
        <p:blipFill>
          <a:blip r:embed="rId2"/>
          <a:stretch>
            <a:fillRect/>
          </a:stretch>
        </p:blipFill>
        <p:spPr>
          <a:xfrm>
            <a:off x="6449880" y="1905000"/>
            <a:ext cx="5710478" cy="2406707"/>
          </a:xfrm>
          <a:prstGeom prst="rect">
            <a:avLst/>
          </a:prstGeom>
        </p:spPr>
      </p:pic>
      <p:sp>
        <p:nvSpPr>
          <p:cNvPr id="14" name="Freeform 12">
            <a:extLst>
              <a:ext uri="{FF2B5EF4-FFF2-40B4-BE49-F238E27FC236}">
                <a16:creationId xmlns:a16="http://schemas.microsoft.com/office/drawing/2014/main" id="{1F36A2FB-17CD-4DA6-9D8A-BFD6ADF6A32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9201F29D-B1F2-497F-A59F-4E1309B03013}"/>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506578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132FD-3017-484A-B39B-BCA409828011}"/>
              </a:ext>
            </a:extLst>
          </p:cNvPr>
          <p:cNvSpPr>
            <a:spLocks noGrp="1"/>
          </p:cNvSpPr>
          <p:nvPr>
            <p:ph type="title"/>
          </p:nvPr>
        </p:nvSpPr>
        <p:spPr>
          <a:xfrm>
            <a:off x="1627632" y="624109"/>
            <a:ext cx="2487168" cy="5614951"/>
          </a:xfrm>
        </p:spPr>
        <p:txBody>
          <a:bodyPr>
            <a:normAutofit/>
          </a:bodyPr>
          <a:lstStyle/>
          <a:p>
            <a:r>
              <a:rPr lang="en-US" sz="2500" dirty="0">
                <a:latin typeface="Arial" panose="020B0604020202020204" pitchFamily="34" charset="0"/>
                <a:cs typeface="Arial" panose="020B0604020202020204" pitchFamily="34" charset="0"/>
              </a:rPr>
              <a:t>Transistor-level implementation of the master-slave positive edge-triggered register</a:t>
            </a:r>
            <a:endParaRPr lang="en-IN" sz="25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777AD69-9B00-40FF-BE53-9A2892BC5FFF}"/>
              </a:ext>
            </a:extLst>
          </p:cNvPr>
          <p:cNvSpPr>
            <a:spLocks noGrp="1"/>
          </p:cNvSpPr>
          <p:nvPr>
            <p:ph idx="1"/>
          </p:nvPr>
        </p:nvSpPr>
        <p:spPr>
          <a:xfrm>
            <a:off x="4700016" y="624110"/>
            <a:ext cx="6804596" cy="3777622"/>
          </a:xfrm>
        </p:spPr>
        <p:txBody>
          <a:bodyPr>
            <a:normAutofit/>
          </a:bodyPr>
          <a:lstStyle/>
          <a:p>
            <a:pPr algn="just"/>
            <a:r>
              <a:rPr lang="en-US" dirty="0">
                <a:latin typeface="Arial" panose="020B0604020202020204" pitchFamily="34" charset="0"/>
                <a:cs typeface="Arial" panose="020B0604020202020204" pitchFamily="34" charset="0"/>
              </a:rPr>
              <a:t>A complete transistor-level implementation of the master-slave positive edge-triggered register. </a:t>
            </a:r>
            <a:r>
              <a:rPr lang="en-US" b="0" u="none" strike="noStrike" baseline="0" dirty="0">
                <a:latin typeface="Arial" panose="020B0604020202020204" pitchFamily="34" charset="0"/>
                <a:cs typeface="Arial" panose="020B0604020202020204" pitchFamily="34" charset="0"/>
              </a:rPr>
              <a:t>When the clock is low , T</a:t>
            </a:r>
            <a:r>
              <a:rPr lang="en-US" b="0" u="none" strike="noStrike" baseline="-25000" dirty="0">
                <a:latin typeface="Arial" panose="020B0604020202020204" pitchFamily="34" charset="0"/>
                <a:cs typeface="Arial" panose="020B0604020202020204" pitchFamily="34" charset="0"/>
              </a:rPr>
              <a:t>1</a:t>
            </a:r>
            <a:r>
              <a:rPr lang="en-US" b="0" u="none" strike="noStrike" baseline="0" dirty="0">
                <a:latin typeface="Arial" panose="020B0604020202020204" pitchFamily="34" charset="0"/>
                <a:cs typeface="Arial" panose="020B0604020202020204" pitchFamily="34" charset="0"/>
              </a:rPr>
              <a:t> is on and T</a:t>
            </a:r>
            <a:r>
              <a:rPr lang="en-US" b="0" u="none" strike="noStrike" baseline="-25000" dirty="0">
                <a:latin typeface="Arial" panose="020B0604020202020204" pitchFamily="34" charset="0"/>
                <a:cs typeface="Arial" panose="020B0604020202020204" pitchFamily="34" charset="0"/>
              </a:rPr>
              <a:t>2</a:t>
            </a:r>
            <a:r>
              <a:rPr lang="en-US" b="0" u="none" strike="noStrike" baseline="0" dirty="0">
                <a:latin typeface="Arial" panose="020B0604020202020204" pitchFamily="34" charset="0"/>
                <a:cs typeface="Arial" panose="020B0604020202020204" pitchFamily="34" charset="0"/>
              </a:rPr>
              <a:t> is off, and the D input is sampled onto node Q</a:t>
            </a:r>
            <a:r>
              <a:rPr lang="en-US" b="0" u="none" strike="noStrike" baseline="-25000" dirty="0">
                <a:latin typeface="Arial" panose="020B0604020202020204" pitchFamily="34" charset="0"/>
                <a:cs typeface="Arial" panose="020B0604020202020204" pitchFamily="34" charset="0"/>
              </a:rPr>
              <a:t>M</a:t>
            </a:r>
            <a:r>
              <a:rPr lang="en-US" b="0" u="none" strike="noStrike" baseline="0" dirty="0">
                <a:latin typeface="Arial" panose="020B0604020202020204" pitchFamily="34" charset="0"/>
                <a:cs typeface="Arial" panose="020B0604020202020204" pitchFamily="34" charset="0"/>
              </a:rPr>
              <a:t>.</a:t>
            </a:r>
          </a:p>
          <a:p>
            <a:pPr algn="just"/>
            <a:r>
              <a:rPr lang="en-US" b="0" u="none" strike="noStrike" baseline="0" dirty="0">
                <a:latin typeface="Arial" panose="020B0604020202020204" pitchFamily="34" charset="0"/>
                <a:cs typeface="Arial" panose="020B0604020202020204" pitchFamily="34" charset="0"/>
              </a:rPr>
              <a:t>During this period, T</a:t>
            </a:r>
            <a:r>
              <a:rPr lang="en-US" b="0" u="none" strike="noStrike" baseline="-25000" dirty="0">
                <a:latin typeface="Arial" panose="020B0604020202020204" pitchFamily="34" charset="0"/>
                <a:cs typeface="Arial" panose="020B0604020202020204" pitchFamily="34" charset="0"/>
              </a:rPr>
              <a:t>3</a:t>
            </a:r>
            <a:r>
              <a:rPr lang="en-US" b="0" u="none" strike="noStrike" baseline="0" dirty="0">
                <a:latin typeface="Arial" panose="020B0604020202020204" pitchFamily="34" charset="0"/>
                <a:cs typeface="Arial" panose="020B0604020202020204" pitchFamily="34" charset="0"/>
              </a:rPr>
              <a:t> is off and T</a:t>
            </a:r>
            <a:r>
              <a:rPr lang="en-US" b="0" u="none" strike="noStrike" baseline="-25000" dirty="0">
                <a:latin typeface="Arial" panose="020B0604020202020204" pitchFamily="34" charset="0"/>
                <a:cs typeface="Arial" panose="020B0604020202020204" pitchFamily="34" charset="0"/>
              </a:rPr>
              <a:t>4 </a:t>
            </a:r>
            <a:r>
              <a:rPr lang="en-US" b="0" u="none" strike="noStrike" baseline="0" dirty="0">
                <a:latin typeface="Arial" panose="020B0604020202020204" pitchFamily="34" charset="0"/>
                <a:cs typeface="Arial" panose="020B0604020202020204" pitchFamily="34" charset="0"/>
              </a:rPr>
              <a:t>is on and the cross-coupled inverters (I</a:t>
            </a:r>
            <a:r>
              <a:rPr lang="en-US" b="0" u="none" strike="noStrike" baseline="-25000" dirty="0">
                <a:latin typeface="Arial" panose="020B0604020202020204" pitchFamily="34" charset="0"/>
                <a:cs typeface="Arial" panose="020B0604020202020204" pitchFamily="34" charset="0"/>
              </a:rPr>
              <a:t>5</a:t>
            </a:r>
            <a:r>
              <a:rPr lang="en-US" b="0" u="none" strike="noStrike" baseline="0" dirty="0">
                <a:latin typeface="Arial" panose="020B0604020202020204" pitchFamily="34" charset="0"/>
                <a:cs typeface="Arial" panose="020B0604020202020204" pitchFamily="34" charset="0"/>
              </a:rPr>
              <a:t>, I</a:t>
            </a:r>
            <a:r>
              <a:rPr lang="en-US" b="0" u="none" strike="noStrike" baseline="-25000" dirty="0">
                <a:latin typeface="Arial" panose="020B0604020202020204" pitchFamily="34" charset="0"/>
                <a:cs typeface="Arial" panose="020B0604020202020204" pitchFamily="34" charset="0"/>
              </a:rPr>
              <a:t>6</a:t>
            </a:r>
            <a:r>
              <a:rPr lang="en-US" b="0" u="none" strike="noStrike" baseline="0" dirty="0">
                <a:latin typeface="Arial" panose="020B0604020202020204" pitchFamily="34" charset="0"/>
                <a:cs typeface="Arial" panose="020B0604020202020204" pitchFamily="34" charset="0"/>
              </a:rPr>
              <a:t>) holds the state of the slave latch. </a:t>
            </a:r>
            <a:r>
              <a:rPr lang="en-IN" b="0" u="none" strike="noStrike" baseline="0" dirty="0">
                <a:latin typeface="Arial" panose="020B0604020202020204" pitchFamily="34" charset="0"/>
                <a:cs typeface="Arial" panose="020B0604020202020204" pitchFamily="34" charset="0"/>
              </a:rPr>
              <a:t>When the clock </a:t>
            </a:r>
            <a:r>
              <a:rPr lang="en-US" b="0" u="none" strike="noStrike" baseline="0" dirty="0">
                <a:latin typeface="Arial" panose="020B0604020202020204" pitchFamily="34" charset="0"/>
                <a:cs typeface="Arial" panose="020B0604020202020204" pitchFamily="34" charset="0"/>
              </a:rPr>
              <a:t>goes high, the master stage stops sampling the input and goes into a hold mode.</a:t>
            </a:r>
          </a:p>
          <a:p>
            <a:pPr algn="just"/>
            <a:r>
              <a:rPr lang="en-IN" b="0" u="none" strike="noStrike" baseline="0" dirty="0">
                <a:latin typeface="Arial" panose="020B0604020202020204" pitchFamily="34" charset="0"/>
                <a:cs typeface="Arial" panose="020B0604020202020204" pitchFamily="34" charset="0"/>
              </a:rPr>
              <a:t>T</a:t>
            </a:r>
            <a:r>
              <a:rPr lang="en-IN" b="0" u="none" strike="noStrike" baseline="-25000" dirty="0">
                <a:latin typeface="Arial" panose="020B0604020202020204" pitchFamily="34" charset="0"/>
                <a:cs typeface="Arial" panose="020B0604020202020204" pitchFamily="34" charset="0"/>
              </a:rPr>
              <a:t>1</a:t>
            </a:r>
            <a:r>
              <a:rPr lang="en-IN" b="0" u="none" strike="noStrike" baseline="0" dirty="0">
                <a:latin typeface="Arial" panose="020B0604020202020204" pitchFamily="34" charset="0"/>
                <a:cs typeface="Arial" panose="020B0604020202020204" pitchFamily="34" charset="0"/>
              </a:rPr>
              <a:t> is off </a:t>
            </a:r>
            <a:r>
              <a:rPr lang="en-US" b="0" u="none" strike="noStrike" baseline="0" dirty="0">
                <a:latin typeface="Arial" panose="020B0604020202020204" pitchFamily="34" charset="0"/>
                <a:cs typeface="Arial" panose="020B0604020202020204" pitchFamily="34" charset="0"/>
              </a:rPr>
              <a:t>and T</a:t>
            </a:r>
            <a:r>
              <a:rPr lang="en-US" b="0" u="none" strike="noStrike" baseline="-25000" dirty="0">
                <a:latin typeface="Arial" panose="020B0604020202020204" pitchFamily="34" charset="0"/>
                <a:cs typeface="Arial" panose="020B0604020202020204" pitchFamily="34" charset="0"/>
              </a:rPr>
              <a:t>2</a:t>
            </a:r>
            <a:r>
              <a:rPr lang="en-US" b="0" u="none" strike="noStrike" baseline="0" dirty="0">
                <a:latin typeface="Arial" panose="020B0604020202020204" pitchFamily="34" charset="0"/>
                <a:cs typeface="Arial" panose="020B0604020202020204" pitchFamily="34" charset="0"/>
              </a:rPr>
              <a:t> is on, and the cross coupled inverters I3 and I4 holds the state of Q</a:t>
            </a:r>
            <a:r>
              <a:rPr lang="en-US" b="0" u="none" strike="noStrike" baseline="-25000" dirty="0">
                <a:latin typeface="Arial" panose="020B0604020202020204" pitchFamily="34" charset="0"/>
                <a:cs typeface="Arial" panose="020B0604020202020204" pitchFamily="34" charset="0"/>
              </a:rPr>
              <a:t>M</a:t>
            </a:r>
            <a:r>
              <a:rPr lang="en-US" b="0" u="none" strike="noStrike" baseline="0" dirty="0">
                <a:latin typeface="Arial" panose="020B0604020202020204" pitchFamily="34" charset="0"/>
                <a:cs typeface="Arial" panose="020B0604020202020204" pitchFamily="34" charset="0"/>
              </a:rPr>
              <a:t>. Also, T</a:t>
            </a:r>
            <a:r>
              <a:rPr lang="en-US" b="0" u="none" strike="noStrike" baseline="-25000" dirty="0">
                <a:latin typeface="Arial" panose="020B0604020202020204" pitchFamily="34" charset="0"/>
                <a:cs typeface="Arial" panose="020B0604020202020204" pitchFamily="34" charset="0"/>
              </a:rPr>
              <a:t>3 </a:t>
            </a:r>
            <a:r>
              <a:rPr lang="en-US" b="0" u="none" strike="noStrike" baseline="0" dirty="0">
                <a:latin typeface="Arial" panose="020B0604020202020204" pitchFamily="34" charset="0"/>
                <a:cs typeface="Arial" panose="020B0604020202020204" pitchFamily="34" charset="0"/>
              </a:rPr>
              <a:t>is on and T</a:t>
            </a:r>
            <a:r>
              <a:rPr lang="en-US" b="0" u="none" strike="noStrike" baseline="-25000" dirty="0">
                <a:latin typeface="Arial" panose="020B0604020202020204" pitchFamily="34" charset="0"/>
                <a:cs typeface="Arial" panose="020B0604020202020204" pitchFamily="34" charset="0"/>
              </a:rPr>
              <a:t>4</a:t>
            </a:r>
            <a:r>
              <a:rPr lang="en-US" b="0" u="none" strike="noStrike" baseline="0" dirty="0">
                <a:latin typeface="Arial" panose="020B0604020202020204" pitchFamily="34" charset="0"/>
                <a:cs typeface="Arial" panose="020B0604020202020204" pitchFamily="34" charset="0"/>
              </a:rPr>
              <a:t> is off, and Q</a:t>
            </a:r>
            <a:r>
              <a:rPr lang="en-US" b="0" u="none" strike="noStrike" baseline="-25000" dirty="0">
                <a:latin typeface="Arial" panose="020B0604020202020204" pitchFamily="34" charset="0"/>
                <a:cs typeface="Arial" panose="020B0604020202020204" pitchFamily="34" charset="0"/>
              </a:rPr>
              <a:t>M</a:t>
            </a:r>
            <a:r>
              <a:rPr lang="en-US" b="0" u="none" strike="noStrike" baseline="0" dirty="0">
                <a:latin typeface="Arial" panose="020B0604020202020204" pitchFamily="34" charset="0"/>
                <a:cs typeface="Arial" panose="020B0604020202020204" pitchFamily="34" charset="0"/>
              </a:rPr>
              <a:t> is copied to the output Q.</a:t>
            </a:r>
            <a:endParaRPr lang="en-IN" dirty="0">
              <a:latin typeface="Arial" panose="020B0604020202020204" pitchFamily="34" charset="0"/>
              <a:cs typeface="Arial" panose="020B0604020202020204" pitchFamily="34" charset="0"/>
            </a:endParaRPr>
          </a:p>
        </p:txBody>
      </p:sp>
      <p:pic>
        <p:nvPicPr>
          <p:cNvPr id="6" name="Picture 5" descr="Diagram&#10;&#10;Description automatically generated">
            <a:extLst>
              <a:ext uri="{FF2B5EF4-FFF2-40B4-BE49-F238E27FC236}">
                <a16:creationId xmlns:a16="http://schemas.microsoft.com/office/drawing/2014/main" id="{4465C0C0-055F-4FBA-836B-8AD16F37118B}"/>
              </a:ext>
            </a:extLst>
          </p:cNvPr>
          <p:cNvPicPr>
            <a:picLocks noChangeAspect="1"/>
          </p:cNvPicPr>
          <p:nvPr/>
        </p:nvPicPr>
        <p:blipFill>
          <a:blip r:embed="rId2"/>
          <a:stretch>
            <a:fillRect/>
          </a:stretch>
        </p:blipFill>
        <p:spPr>
          <a:xfrm>
            <a:off x="4620426" y="4068566"/>
            <a:ext cx="7539010" cy="2789434"/>
          </a:xfrm>
          <a:prstGeom prst="rect">
            <a:avLst/>
          </a:prstGeom>
        </p:spPr>
      </p:pic>
      <p:sp>
        <p:nvSpPr>
          <p:cNvPr id="4" name="Footer Placeholder 3">
            <a:extLst>
              <a:ext uri="{FF2B5EF4-FFF2-40B4-BE49-F238E27FC236}">
                <a16:creationId xmlns:a16="http://schemas.microsoft.com/office/drawing/2014/main" id="{358D095C-BF23-49B4-B038-420B3C071DC3}"/>
              </a:ext>
            </a:extLst>
          </p:cNvPr>
          <p:cNvSpPr>
            <a:spLocks noGrp="1"/>
          </p:cNvSpPr>
          <p:nvPr>
            <p:ph type="ftr" sz="quarter" idx="11"/>
          </p:nvPr>
        </p:nvSpPr>
        <p:spPr>
          <a:xfrm>
            <a:off x="2589212" y="627296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649241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7518B-8DEE-432D-83BF-12801F6CFC21}"/>
              </a:ext>
            </a:extLst>
          </p:cNvPr>
          <p:cNvSpPr>
            <a:spLocks noGrp="1"/>
          </p:cNvSpPr>
          <p:nvPr>
            <p:ph type="title"/>
          </p:nvPr>
        </p:nvSpPr>
        <p:spPr>
          <a:xfrm>
            <a:off x="1654139" y="624110"/>
            <a:ext cx="9850473" cy="1280890"/>
          </a:xfrm>
        </p:spPr>
        <p:txBody>
          <a:bodyPr>
            <a:normAutofit/>
          </a:bodyPr>
          <a:lstStyle/>
          <a:p>
            <a:r>
              <a:rPr lang="en-US" sz="3200" dirty="0">
                <a:latin typeface="Arial" panose="020B0604020202020204" pitchFamily="34" charset="0"/>
                <a:cs typeface="Arial" panose="020B0604020202020204" pitchFamily="34" charset="0"/>
              </a:rPr>
              <a:t>Timing Properties of Multiplexer-based Master-Slave Registers</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BBBD0BF-9F5B-4465-BCFF-466B60818033}"/>
              </a:ext>
            </a:extLst>
          </p:cNvPr>
          <p:cNvSpPr>
            <a:spLocks noGrp="1"/>
          </p:cNvSpPr>
          <p:nvPr>
            <p:ph idx="1"/>
          </p:nvPr>
        </p:nvSpPr>
        <p:spPr>
          <a:xfrm>
            <a:off x="1273997" y="1726057"/>
            <a:ext cx="10230616" cy="4232953"/>
          </a:xfrm>
        </p:spPr>
        <p:txBody>
          <a:bodyPr>
            <a:normAutofit/>
          </a:bodyPr>
          <a:lstStyle/>
          <a:p>
            <a:pPr algn="just"/>
            <a:r>
              <a:rPr lang="en-US" dirty="0">
                <a:latin typeface="Arial" panose="020B0604020202020204" pitchFamily="34" charset="0"/>
                <a:cs typeface="Arial" panose="020B0604020202020204" pitchFamily="34" charset="0"/>
              </a:rPr>
              <a:t>Registers are characterized by three important timing parameters: the set-up time, the hold time and the propagation delay.</a:t>
            </a:r>
          </a:p>
          <a:p>
            <a:pPr algn="just"/>
            <a:r>
              <a:rPr lang="en-US" dirty="0">
                <a:latin typeface="Arial" panose="020B0604020202020204" pitchFamily="34" charset="0"/>
                <a:cs typeface="Arial" panose="020B0604020202020204" pitchFamily="34" charset="0"/>
              </a:rPr>
              <a:t> </a:t>
            </a:r>
            <a:r>
              <a:rPr lang="en-IN" sz="1800" b="0" u="none" strike="noStrike" baseline="0" dirty="0">
                <a:latin typeface="Arial" panose="020B0604020202020204" pitchFamily="34" charset="0"/>
                <a:cs typeface="Arial" panose="020B0604020202020204" pitchFamily="34" charset="0"/>
              </a:rPr>
              <a:t>Assume that the </a:t>
            </a:r>
            <a:r>
              <a:rPr lang="en-US" sz="1800" b="0" u="none" strike="noStrike" baseline="0" dirty="0">
                <a:latin typeface="Arial" panose="020B0604020202020204" pitchFamily="34" charset="0"/>
                <a:cs typeface="Arial" panose="020B0604020202020204" pitchFamily="34" charset="0"/>
              </a:rPr>
              <a:t>propagation delay of each inverter is </a:t>
            </a:r>
            <a:r>
              <a:rPr lang="en-US" sz="1800" b="1" u="none" strike="noStrike" baseline="0" dirty="0" err="1">
                <a:latin typeface="Arial" panose="020B0604020202020204" pitchFamily="34" charset="0"/>
                <a:cs typeface="Arial" panose="020B0604020202020204" pitchFamily="34" charset="0"/>
              </a:rPr>
              <a:t>tpd_inv</a:t>
            </a:r>
            <a:r>
              <a:rPr lang="en-US" sz="1800" b="0" u="none" strike="noStrike" baseline="0" dirty="0">
                <a:latin typeface="Arial" panose="020B0604020202020204" pitchFamily="34" charset="0"/>
                <a:cs typeface="Arial" panose="020B0604020202020204" pitchFamily="34" charset="0"/>
              </a:rPr>
              <a:t>, and the propagation delay of the transmission </a:t>
            </a:r>
            <a:r>
              <a:rPr lang="en-IN" sz="1800" b="0" u="none" strike="noStrike" baseline="0" dirty="0">
                <a:latin typeface="Arial" panose="020B0604020202020204" pitchFamily="34" charset="0"/>
                <a:cs typeface="Arial" panose="020B0604020202020204" pitchFamily="34" charset="0"/>
              </a:rPr>
              <a:t>gate is </a:t>
            </a:r>
            <a:r>
              <a:rPr lang="en-IN" sz="1800" b="1" u="none" strike="noStrike" baseline="0" dirty="0" err="1">
                <a:latin typeface="Arial" panose="020B0604020202020204" pitchFamily="34" charset="0"/>
                <a:cs typeface="Arial" panose="020B0604020202020204" pitchFamily="34" charset="0"/>
              </a:rPr>
              <a:t>tpd_tx</a:t>
            </a:r>
            <a:r>
              <a:rPr lang="en-IN" sz="1800" b="0" u="none" strike="noStrike" baseline="0" dirty="0">
                <a:latin typeface="Arial" panose="020B0604020202020204" pitchFamily="34" charset="0"/>
                <a:cs typeface="Arial" panose="020B0604020202020204" pitchFamily="34" charset="0"/>
              </a:rPr>
              <a:t>.</a:t>
            </a:r>
          </a:p>
          <a:p>
            <a:pPr algn="just"/>
            <a:r>
              <a:rPr lang="en-IN" dirty="0">
                <a:latin typeface="Arial" panose="020B0604020202020204" pitchFamily="34" charset="0"/>
                <a:cs typeface="Arial" panose="020B0604020202020204" pitchFamily="34" charset="0"/>
              </a:rPr>
              <a:t>T</a:t>
            </a:r>
            <a:r>
              <a:rPr lang="en-IN" sz="1800" b="0" i="0" u="none" strike="noStrike" baseline="0" dirty="0">
                <a:latin typeface="Arial" panose="020B0604020202020204" pitchFamily="34" charset="0"/>
                <a:cs typeface="Arial" panose="020B0604020202020204" pitchFamily="34" charset="0"/>
              </a:rPr>
              <a:t>he transmission </a:t>
            </a:r>
            <a:r>
              <a:rPr lang="en-US" sz="1800" b="0" i="0" u="none" strike="noStrike" baseline="0" dirty="0">
                <a:latin typeface="Arial" panose="020B0604020202020204" pitchFamily="34" charset="0"/>
                <a:cs typeface="Arial" panose="020B0604020202020204" pitchFamily="34" charset="0"/>
              </a:rPr>
              <a:t>gate multiplexer-based register, the input </a:t>
            </a:r>
            <a:r>
              <a:rPr lang="en-US" sz="1800" b="0" i="1" u="none" strike="noStrike" baseline="0" dirty="0">
                <a:latin typeface="Arial" panose="020B0604020202020204" pitchFamily="34" charset="0"/>
                <a:cs typeface="Arial" panose="020B0604020202020204" pitchFamily="34" charset="0"/>
              </a:rPr>
              <a:t>D </a:t>
            </a:r>
            <a:r>
              <a:rPr lang="en-US" sz="1800" b="0" i="0" u="none" strike="noStrike" baseline="0" dirty="0">
                <a:latin typeface="Arial" panose="020B0604020202020204" pitchFamily="34" charset="0"/>
                <a:cs typeface="Arial" panose="020B0604020202020204" pitchFamily="34" charset="0"/>
              </a:rPr>
              <a:t>has to propagate through </a:t>
            </a:r>
            <a:r>
              <a:rPr lang="en-US" sz="1800" b="0" i="1" u="none" strike="noStrike" baseline="0" dirty="0">
                <a:latin typeface="Arial" panose="020B0604020202020204" pitchFamily="34" charset="0"/>
                <a:cs typeface="Arial" panose="020B0604020202020204" pitchFamily="34" charset="0"/>
              </a:rPr>
              <a:t>I</a:t>
            </a:r>
            <a:r>
              <a:rPr lang="en-US" sz="1800" b="0" i="0" u="none" strike="noStrike" baseline="-25000" dirty="0">
                <a:latin typeface="Arial" panose="020B0604020202020204" pitchFamily="34" charset="0"/>
                <a:cs typeface="Arial" panose="020B0604020202020204" pitchFamily="34" charset="0"/>
              </a:rPr>
              <a:t>1</a:t>
            </a:r>
            <a:r>
              <a:rPr lang="en-US" sz="1800" b="0" i="0" u="none" strike="noStrike" baseline="0" dirty="0">
                <a:latin typeface="Arial" panose="020B0604020202020204" pitchFamily="34" charset="0"/>
                <a:cs typeface="Arial" panose="020B0604020202020204" pitchFamily="34" charset="0"/>
              </a:rPr>
              <a:t>, </a:t>
            </a:r>
            <a:r>
              <a:rPr lang="en-US" sz="1800" b="0" i="1" u="none" strike="noStrike" baseline="0" dirty="0">
                <a:latin typeface="Arial" panose="020B0604020202020204" pitchFamily="34" charset="0"/>
                <a:cs typeface="Arial" panose="020B0604020202020204" pitchFamily="34" charset="0"/>
              </a:rPr>
              <a:t>T</a:t>
            </a:r>
            <a:r>
              <a:rPr lang="en-US" sz="1800" b="0" i="0" u="none" strike="noStrike" baseline="-25000" dirty="0">
                <a:latin typeface="Arial" panose="020B0604020202020204" pitchFamily="34" charset="0"/>
                <a:cs typeface="Arial" panose="020B0604020202020204" pitchFamily="34" charset="0"/>
              </a:rPr>
              <a:t>1</a:t>
            </a:r>
            <a:r>
              <a:rPr lang="en-US" sz="1800" b="0" i="0" u="none" strike="noStrike" baseline="0" dirty="0">
                <a:latin typeface="Arial" panose="020B0604020202020204" pitchFamily="34" charset="0"/>
                <a:cs typeface="Arial" panose="020B0604020202020204" pitchFamily="34" charset="0"/>
              </a:rPr>
              <a:t>, </a:t>
            </a:r>
            <a:r>
              <a:rPr lang="en-US" sz="1800" b="0" i="1" u="none" strike="noStrike" baseline="0" dirty="0">
                <a:latin typeface="Arial" panose="020B0604020202020204" pitchFamily="34" charset="0"/>
                <a:cs typeface="Arial" panose="020B0604020202020204" pitchFamily="34" charset="0"/>
              </a:rPr>
              <a:t>I</a:t>
            </a:r>
            <a:r>
              <a:rPr lang="en-US" sz="1800" b="0" i="0" u="none" strike="noStrike" baseline="-25000" dirty="0">
                <a:latin typeface="Arial" panose="020B0604020202020204" pitchFamily="34" charset="0"/>
                <a:cs typeface="Arial" panose="020B0604020202020204" pitchFamily="34" charset="0"/>
              </a:rPr>
              <a:t>3</a:t>
            </a:r>
            <a:r>
              <a:rPr lang="en-US" sz="1800" b="0" i="0" u="none" strike="noStrike" baseline="0" dirty="0">
                <a:latin typeface="Arial" panose="020B0604020202020204" pitchFamily="34" charset="0"/>
                <a:cs typeface="Arial" panose="020B0604020202020204" pitchFamily="34" charset="0"/>
              </a:rPr>
              <a:t> and </a:t>
            </a:r>
            <a:r>
              <a:rPr lang="en-US" sz="1800" b="0" i="1" u="none" strike="noStrike" baseline="0" dirty="0">
                <a:latin typeface="Arial" panose="020B0604020202020204" pitchFamily="34" charset="0"/>
                <a:cs typeface="Arial" panose="020B0604020202020204" pitchFamily="34" charset="0"/>
              </a:rPr>
              <a:t>I</a:t>
            </a:r>
            <a:r>
              <a:rPr lang="en-US" sz="1800" b="0" i="0" u="none" strike="noStrike" baseline="-25000" dirty="0">
                <a:latin typeface="Arial" panose="020B0604020202020204" pitchFamily="34" charset="0"/>
                <a:cs typeface="Arial" panose="020B0604020202020204" pitchFamily="34" charset="0"/>
              </a:rPr>
              <a:t>2 </a:t>
            </a:r>
            <a:r>
              <a:rPr lang="en-US" sz="1800" b="0" i="0" u="none" strike="noStrike" baseline="0" dirty="0">
                <a:latin typeface="Arial" panose="020B0604020202020204" pitchFamily="34" charset="0"/>
                <a:cs typeface="Arial" panose="020B0604020202020204" pitchFamily="34" charset="0"/>
              </a:rPr>
              <a:t>before the rising edge of the clock . The </a:t>
            </a:r>
            <a:r>
              <a:rPr lang="en-US" sz="1800" b="1" i="1" u="none" strike="noStrike" baseline="0" dirty="0">
                <a:latin typeface="Arial" panose="020B0604020202020204" pitchFamily="34" charset="0"/>
                <a:cs typeface="Arial" panose="020B0604020202020204" pitchFamily="34" charset="0"/>
              </a:rPr>
              <a:t>set-up time </a:t>
            </a:r>
            <a:r>
              <a:rPr lang="en-US" sz="1800" b="0" i="0" u="none" strike="noStrike" baseline="0" dirty="0">
                <a:latin typeface="Arial" panose="020B0604020202020204" pitchFamily="34" charset="0"/>
                <a:cs typeface="Arial" panose="020B0604020202020204" pitchFamily="34" charset="0"/>
              </a:rPr>
              <a:t>is therefore equal to </a:t>
            </a:r>
            <a:r>
              <a:rPr lang="en-US" sz="1800" b="1" i="0" u="none" strike="noStrike" baseline="0" dirty="0">
                <a:latin typeface="Arial" panose="020B0604020202020204" pitchFamily="34" charset="0"/>
                <a:cs typeface="Arial" panose="020B0604020202020204" pitchFamily="34" charset="0"/>
              </a:rPr>
              <a:t>3 *</a:t>
            </a:r>
            <a:r>
              <a:rPr lang="en-US" sz="1800" b="1" i="1" u="none" strike="noStrike" baseline="0" dirty="0" err="1">
                <a:latin typeface="Arial" panose="020B0604020202020204" pitchFamily="34" charset="0"/>
                <a:cs typeface="Arial" panose="020B0604020202020204" pitchFamily="34" charset="0"/>
              </a:rPr>
              <a:t>t</a:t>
            </a:r>
            <a:r>
              <a:rPr lang="en-US" sz="1800" b="1" i="1" u="none" strike="noStrike" baseline="-25000" dirty="0" err="1">
                <a:latin typeface="Arial" panose="020B0604020202020204" pitchFamily="34" charset="0"/>
                <a:cs typeface="Arial" panose="020B0604020202020204" pitchFamily="34" charset="0"/>
              </a:rPr>
              <a:t>pd_inv</a:t>
            </a:r>
            <a:r>
              <a:rPr lang="en-US" sz="1800" b="1" i="1" u="none" strike="noStrike" baseline="-25000" dirty="0">
                <a:latin typeface="Arial" panose="020B0604020202020204" pitchFamily="34" charset="0"/>
                <a:cs typeface="Arial" panose="020B0604020202020204" pitchFamily="34" charset="0"/>
              </a:rPr>
              <a:t> </a:t>
            </a:r>
            <a:r>
              <a:rPr lang="en-US" sz="1800" b="1" i="0" u="none" strike="noStrike" baseline="0" dirty="0">
                <a:latin typeface="Arial" panose="020B0604020202020204" pitchFamily="34" charset="0"/>
                <a:cs typeface="Arial" panose="020B0604020202020204" pitchFamily="34" charset="0"/>
              </a:rPr>
              <a:t>+ </a:t>
            </a:r>
            <a:r>
              <a:rPr lang="en-US" sz="1800" b="1" i="1" u="none" strike="noStrike" baseline="0" dirty="0" err="1">
                <a:latin typeface="Arial" panose="020B0604020202020204" pitchFamily="34" charset="0"/>
                <a:cs typeface="Arial" panose="020B0604020202020204" pitchFamily="34" charset="0"/>
              </a:rPr>
              <a:t>t</a:t>
            </a:r>
            <a:r>
              <a:rPr lang="en-US" sz="1800" b="1" i="1" u="none" strike="noStrike" baseline="-25000" dirty="0" err="1">
                <a:latin typeface="Arial" panose="020B0604020202020204" pitchFamily="34" charset="0"/>
                <a:cs typeface="Arial" panose="020B0604020202020204" pitchFamily="34" charset="0"/>
              </a:rPr>
              <a:t>pd_tx</a:t>
            </a:r>
            <a:r>
              <a:rPr lang="en-US" sz="1800" b="0" i="0" u="none" strike="noStrike" baseline="0" dirty="0">
                <a:latin typeface="Arial" panose="020B0604020202020204" pitchFamily="34" charset="0"/>
                <a:cs typeface="Arial" panose="020B0604020202020204" pitchFamily="34" charset="0"/>
              </a:rPr>
              <a:t>.</a:t>
            </a:r>
          </a:p>
          <a:p>
            <a:pPr algn="just"/>
            <a:r>
              <a:rPr lang="en-US" sz="1800" b="0" i="0" u="none" strike="noStrike" baseline="0" dirty="0">
                <a:latin typeface="Arial" panose="020B0604020202020204" pitchFamily="34" charset="0"/>
                <a:cs typeface="Arial" panose="020B0604020202020204" pitchFamily="34" charset="0"/>
              </a:rPr>
              <a:t>The </a:t>
            </a:r>
            <a:r>
              <a:rPr lang="en-US" sz="1800" b="1" i="1" u="none" strike="noStrike" baseline="0" dirty="0">
                <a:latin typeface="Arial" panose="020B0604020202020204" pitchFamily="34" charset="0"/>
                <a:cs typeface="Arial" panose="020B0604020202020204" pitchFamily="34" charset="0"/>
              </a:rPr>
              <a:t>propagation delay </a:t>
            </a:r>
            <a:r>
              <a:rPr lang="en-US" sz="1800" b="0" i="0" u="none" strike="noStrike" baseline="0" dirty="0">
                <a:latin typeface="Arial" panose="020B0604020202020204" pitchFamily="34" charset="0"/>
                <a:cs typeface="Arial" panose="020B0604020202020204" pitchFamily="34" charset="0"/>
              </a:rPr>
              <a:t>is the time for the value of </a:t>
            </a:r>
            <a:r>
              <a:rPr lang="en-US" sz="1800" b="0" i="1" u="none" strike="noStrike" baseline="0" dirty="0">
                <a:latin typeface="Arial" panose="020B0604020202020204" pitchFamily="34" charset="0"/>
                <a:cs typeface="Arial" panose="020B0604020202020204" pitchFamily="34" charset="0"/>
              </a:rPr>
              <a:t>QM </a:t>
            </a:r>
            <a:r>
              <a:rPr lang="en-US" sz="1800" b="0" i="0" u="none" strike="noStrike" baseline="0" dirty="0">
                <a:latin typeface="Arial" panose="020B0604020202020204" pitchFamily="34" charset="0"/>
                <a:cs typeface="Arial" panose="020B0604020202020204" pitchFamily="34" charset="0"/>
              </a:rPr>
              <a:t>to propagate to the output </a:t>
            </a:r>
            <a:r>
              <a:rPr lang="en-US" sz="1800" b="0" i="1" u="none" strike="noStrike" baseline="0" dirty="0">
                <a:latin typeface="Arial" panose="020B0604020202020204" pitchFamily="34" charset="0"/>
                <a:cs typeface="Arial" panose="020B0604020202020204" pitchFamily="34" charset="0"/>
              </a:rPr>
              <a:t>Q</a:t>
            </a:r>
            <a:r>
              <a:rPr lang="en-US" sz="1800" b="0" i="0" u="none" strike="noStrike" baseline="0" dirty="0">
                <a:latin typeface="Arial" panose="020B0604020202020204" pitchFamily="34" charset="0"/>
                <a:cs typeface="Arial" panose="020B0604020202020204" pitchFamily="34" charset="0"/>
              </a:rPr>
              <a:t>. Therefore the delay </a:t>
            </a:r>
            <a:r>
              <a:rPr lang="en-US" sz="1800" b="0" i="1" u="none" strike="noStrike" baseline="0" dirty="0" err="1">
                <a:latin typeface="Arial" panose="020B0604020202020204" pitchFamily="34" charset="0"/>
                <a:cs typeface="Arial" panose="020B0604020202020204" pitchFamily="34" charset="0"/>
              </a:rPr>
              <a:t>tc</a:t>
            </a:r>
            <a:r>
              <a:rPr lang="en-US" sz="1800" b="0" i="1" u="none" strike="noStrike" baseline="0" dirty="0">
                <a:latin typeface="Arial" panose="020B0604020202020204" pitchFamily="34" charset="0"/>
                <a:cs typeface="Arial" panose="020B0604020202020204" pitchFamily="34" charset="0"/>
              </a:rPr>
              <a:t>-q </a:t>
            </a:r>
            <a:r>
              <a:rPr lang="en-US" sz="1800" b="0" i="0" u="none" strike="noStrike" baseline="0" dirty="0">
                <a:latin typeface="Arial" panose="020B0604020202020204" pitchFamily="34" charset="0"/>
                <a:cs typeface="Arial" panose="020B0604020202020204" pitchFamily="34" charset="0"/>
              </a:rPr>
              <a:t>is simply the delay through </a:t>
            </a:r>
            <a:r>
              <a:rPr lang="en-US" sz="1800" b="0" i="1" u="none" strike="noStrike" baseline="0" dirty="0">
                <a:latin typeface="Arial" panose="020B0604020202020204" pitchFamily="34" charset="0"/>
                <a:cs typeface="Arial" panose="020B0604020202020204" pitchFamily="34" charset="0"/>
              </a:rPr>
              <a:t>T</a:t>
            </a:r>
            <a:r>
              <a:rPr lang="en-US" sz="1800" b="0" i="0" u="none" strike="noStrike" baseline="-25000" dirty="0">
                <a:latin typeface="Arial" panose="020B0604020202020204" pitchFamily="34" charset="0"/>
                <a:cs typeface="Arial" panose="020B0604020202020204" pitchFamily="34" charset="0"/>
              </a:rPr>
              <a:t>3</a:t>
            </a:r>
            <a:r>
              <a:rPr lang="en-US" sz="1800" b="0" i="0" u="none" strike="noStrike" baseline="0" dirty="0">
                <a:latin typeface="Arial" panose="020B0604020202020204" pitchFamily="34" charset="0"/>
                <a:cs typeface="Arial" panose="020B0604020202020204" pitchFamily="34" charset="0"/>
              </a:rPr>
              <a:t> and </a:t>
            </a:r>
            <a:r>
              <a:rPr lang="en-IN" sz="1800" b="0" i="1" u="none" strike="noStrike" baseline="0" dirty="0">
                <a:latin typeface="Arial" panose="020B0604020202020204" pitchFamily="34" charset="0"/>
                <a:cs typeface="Arial" panose="020B0604020202020204" pitchFamily="34" charset="0"/>
              </a:rPr>
              <a:t>I</a:t>
            </a:r>
            <a:r>
              <a:rPr lang="en-IN" sz="1800" b="0" i="0" u="none" strike="noStrike" baseline="-25000" dirty="0">
                <a:latin typeface="Arial" panose="020B0604020202020204" pitchFamily="34" charset="0"/>
                <a:cs typeface="Arial" panose="020B0604020202020204" pitchFamily="34" charset="0"/>
              </a:rPr>
              <a:t>6</a:t>
            </a:r>
            <a:r>
              <a:rPr lang="en-IN" sz="1800" b="0" i="0" u="none" strike="noStrike" baseline="0" dirty="0">
                <a:latin typeface="Arial" panose="020B0604020202020204" pitchFamily="34" charset="0"/>
                <a:cs typeface="Arial" panose="020B0604020202020204" pitchFamily="34" charset="0"/>
              </a:rPr>
              <a:t> </a:t>
            </a:r>
            <a:r>
              <a:rPr lang="en-IN" sz="1800" b="1" i="0" u="none" strike="noStrike" baseline="0" dirty="0">
                <a:latin typeface="Arial" panose="020B0604020202020204" pitchFamily="34" charset="0"/>
                <a:cs typeface="Arial" panose="020B0604020202020204" pitchFamily="34" charset="0"/>
              </a:rPr>
              <a:t>(</a:t>
            </a:r>
            <a:r>
              <a:rPr lang="en-IN" sz="1800" b="1" i="1" u="none" strike="noStrike" baseline="0" dirty="0" err="1">
                <a:latin typeface="Arial" panose="020B0604020202020204" pitchFamily="34" charset="0"/>
                <a:cs typeface="Arial" panose="020B0604020202020204" pitchFamily="34" charset="0"/>
              </a:rPr>
              <a:t>t</a:t>
            </a:r>
            <a:r>
              <a:rPr lang="en-IN" sz="1800" b="1" i="1" u="none" strike="noStrike" baseline="-25000" dirty="0" err="1">
                <a:latin typeface="Arial" panose="020B0604020202020204" pitchFamily="34" charset="0"/>
                <a:cs typeface="Arial" panose="020B0604020202020204" pitchFamily="34" charset="0"/>
              </a:rPr>
              <a:t>c</a:t>
            </a:r>
            <a:r>
              <a:rPr lang="en-IN" sz="1800" b="1" i="1" u="none" strike="noStrike" baseline="-25000" dirty="0">
                <a:latin typeface="Arial" panose="020B0604020202020204" pitchFamily="34" charset="0"/>
                <a:cs typeface="Arial" panose="020B0604020202020204" pitchFamily="34" charset="0"/>
              </a:rPr>
              <a:t>-q</a:t>
            </a:r>
            <a:r>
              <a:rPr lang="en-IN" sz="1800" b="1" i="1" u="none" strike="noStrike" baseline="0" dirty="0">
                <a:latin typeface="Arial" panose="020B0604020202020204" pitchFamily="34" charset="0"/>
                <a:cs typeface="Arial" panose="020B0604020202020204" pitchFamily="34" charset="0"/>
              </a:rPr>
              <a:t> </a:t>
            </a:r>
            <a:r>
              <a:rPr lang="en-IN" sz="1800" b="1" i="0" u="none" strike="noStrike" baseline="0" dirty="0">
                <a:latin typeface="Arial" panose="020B0604020202020204" pitchFamily="34" charset="0"/>
                <a:cs typeface="Arial" panose="020B0604020202020204" pitchFamily="34" charset="0"/>
              </a:rPr>
              <a:t>= </a:t>
            </a:r>
            <a:r>
              <a:rPr lang="en-IN" sz="1800" b="1" i="1" u="none" strike="noStrike" baseline="0" dirty="0" err="1">
                <a:latin typeface="Arial" panose="020B0604020202020204" pitchFamily="34" charset="0"/>
                <a:cs typeface="Arial" panose="020B0604020202020204" pitchFamily="34" charset="0"/>
              </a:rPr>
              <a:t>t</a:t>
            </a:r>
            <a:r>
              <a:rPr lang="en-IN" sz="1800" b="1" i="1" u="none" strike="noStrike" baseline="-25000" dirty="0" err="1">
                <a:latin typeface="Arial" panose="020B0604020202020204" pitchFamily="34" charset="0"/>
                <a:cs typeface="Arial" panose="020B0604020202020204" pitchFamily="34" charset="0"/>
              </a:rPr>
              <a:t>pd_tx</a:t>
            </a:r>
            <a:r>
              <a:rPr lang="en-IN" sz="1800" b="1" i="1" u="none" strike="noStrike" baseline="-25000" dirty="0">
                <a:latin typeface="Arial" panose="020B0604020202020204" pitchFamily="34" charset="0"/>
                <a:cs typeface="Arial" panose="020B0604020202020204" pitchFamily="34" charset="0"/>
              </a:rPr>
              <a:t> </a:t>
            </a:r>
            <a:r>
              <a:rPr lang="en-IN" sz="1800" b="1" i="0" u="none" strike="noStrike" baseline="0" dirty="0">
                <a:latin typeface="Arial" panose="020B0604020202020204" pitchFamily="34" charset="0"/>
                <a:cs typeface="Arial" panose="020B0604020202020204" pitchFamily="34" charset="0"/>
              </a:rPr>
              <a:t>+ </a:t>
            </a:r>
            <a:r>
              <a:rPr lang="en-IN" sz="1800" b="1" i="1" u="none" strike="noStrike" baseline="0" dirty="0" err="1">
                <a:latin typeface="Arial" panose="020B0604020202020204" pitchFamily="34" charset="0"/>
                <a:cs typeface="Arial" panose="020B0604020202020204" pitchFamily="34" charset="0"/>
              </a:rPr>
              <a:t>t</a:t>
            </a:r>
            <a:r>
              <a:rPr lang="en-IN" sz="1800" b="1" i="1" u="none" strike="noStrike" baseline="-25000" dirty="0" err="1">
                <a:latin typeface="Arial" panose="020B0604020202020204" pitchFamily="34" charset="0"/>
                <a:cs typeface="Arial" panose="020B0604020202020204" pitchFamily="34" charset="0"/>
              </a:rPr>
              <a:t>pd_inv</a:t>
            </a:r>
            <a:r>
              <a:rPr lang="en-IN" sz="1800" b="1" i="0" u="none" strike="noStrike" baseline="0" dirty="0">
                <a:latin typeface="Arial" panose="020B0604020202020204" pitchFamily="34" charset="0"/>
                <a:cs typeface="Arial" panose="020B0604020202020204" pitchFamily="34" charset="0"/>
              </a:rPr>
              <a:t>).</a:t>
            </a:r>
          </a:p>
          <a:p>
            <a:pPr algn="just"/>
            <a:r>
              <a:rPr lang="en-US" sz="1800" b="0" i="0" u="none" strike="noStrike" baseline="0" dirty="0">
                <a:latin typeface="Arial" panose="020B0604020202020204" pitchFamily="34" charset="0"/>
                <a:cs typeface="Arial" panose="020B0604020202020204" pitchFamily="34" charset="0"/>
              </a:rPr>
              <a:t>The transmission gate </a:t>
            </a:r>
            <a:r>
              <a:rPr lang="en-US" sz="1800" b="0" i="1" u="none" strike="noStrike" baseline="0" dirty="0">
                <a:latin typeface="Arial" panose="020B0604020202020204" pitchFamily="34" charset="0"/>
                <a:cs typeface="Arial" panose="020B0604020202020204" pitchFamily="34" charset="0"/>
              </a:rPr>
              <a:t>T</a:t>
            </a:r>
            <a:r>
              <a:rPr lang="en-US" sz="1800" b="0" i="0" u="none" strike="noStrike" baseline="0" dirty="0">
                <a:latin typeface="Arial" panose="020B0604020202020204" pitchFamily="34" charset="0"/>
                <a:cs typeface="Arial" panose="020B0604020202020204" pitchFamily="34" charset="0"/>
              </a:rPr>
              <a:t>1 turns off when clock goes high and therefore any changes in the </a:t>
            </a:r>
            <a:r>
              <a:rPr lang="en-US" sz="1800" b="0" i="1" u="none" strike="noStrike" baseline="0" dirty="0">
                <a:latin typeface="Arial" panose="020B0604020202020204" pitchFamily="34" charset="0"/>
                <a:cs typeface="Arial" panose="020B0604020202020204" pitchFamily="34" charset="0"/>
              </a:rPr>
              <a:t>D</a:t>
            </a:r>
            <a:r>
              <a:rPr lang="en-US" sz="1800" b="0" i="0" u="none" strike="noStrike" baseline="0" dirty="0">
                <a:latin typeface="Arial" panose="020B0604020202020204" pitchFamily="34" charset="0"/>
                <a:cs typeface="Arial" panose="020B0604020202020204" pitchFamily="34" charset="0"/>
              </a:rPr>
              <a:t>-input after clock going high are not seen by the input. Therefore, the </a:t>
            </a:r>
            <a:r>
              <a:rPr lang="en-US" sz="1800" b="1" i="1" u="none" strike="noStrike" baseline="0" dirty="0">
                <a:latin typeface="Arial" panose="020B0604020202020204" pitchFamily="34" charset="0"/>
                <a:cs typeface="Arial" panose="020B0604020202020204" pitchFamily="34" charset="0"/>
              </a:rPr>
              <a:t>hold time </a:t>
            </a:r>
            <a:r>
              <a:rPr lang="en-US" sz="1800" b="0" i="0" u="none" strike="noStrike" baseline="0" dirty="0">
                <a:latin typeface="Arial" panose="020B0604020202020204" pitchFamily="34" charset="0"/>
                <a:cs typeface="Arial" panose="020B0604020202020204" pitchFamily="34" charset="0"/>
              </a:rPr>
              <a:t>is </a:t>
            </a:r>
            <a:r>
              <a:rPr lang="en-US" sz="1800" b="1" i="0" u="none" strike="noStrike" baseline="0" dirty="0">
                <a:latin typeface="Arial" panose="020B0604020202020204" pitchFamily="34" charset="0"/>
                <a:cs typeface="Arial" panose="020B0604020202020204" pitchFamily="34" charset="0"/>
              </a:rPr>
              <a:t>0</a:t>
            </a:r>
            <a:r>
              <a:rPr lang="en-US" sz="1800" b="0" i="0" u="none" strike="noStrike" baseline="0" dirty="0">
                <a:latin typeface="Arial" panose="020B0604020202020204" pitchFamily="34" charset="0"/>
                <a:cs typeface="Arial" panose="020B0604020202020204" pitchFamily="34" charset="0"/>
              </a:rPr>
              <a:t>.</a:t>
            </a:r>
            <a:endParaRPr lang="en-IN" b="1"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630E1EE4-0C86-4993-81FA-61D5E038696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522042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E1289-ECAC-478D-9D52-A6B8A68B312F}"/>
              </a:ext>
            </a:extLst>
          </p:cNvPr>
          <p:cNvSpPr>
            <a:spLocks noGrp="1"/>
          </p:cNvSpPr>
          <p:nvPr>
            <p:ph type="title"/>
          </p:nvPr>
        </p:nvSpPr>
        <p:spPr>
          <a:xfrm>
            <a:off x="1627632" y="624109"/>
            <a:ext cx="2487168" cy="5614951"/>
          </a:xfrm>
        </p:spPr>
        <p:txBody>
          <a:bodyPr>
            <a:normAutofit/>
          </a:bodyPr>
          <a:lstStyle/>
          <a:p>
            <a:r>
              <a:rPr lang="en-IN" sz="3200" dirty="0">
                <a:latin typeface="Arial" panose="020B0604020202020204" pitchFamily="34" charset="0"/>
                <a:cs typeface="Arial" panose="020B0604020202020204" pitchFamily="34" charset="0"/>
              </a:rPr>
              <a:t>Drawback of transmission gate register</a:t>
            </a:r>
          </a:p>
        </p:txBody>
      </p:sp>
      <p:sp>
        <p:nvSpPr>
          <p:cNvPr id="3" name="Content Placeholder 2">
            <a:extLst>
              <a:ext uri="{FF2B5EF4-FFF2-40B4-BE49-F238E27FC236}">
                <a16:creationId xmlns:a16="http://schemas.microsoft.com/office/drawing/2014/main" id="{47C3EAF0-0D00-4453-A0B8-899485BC791E}"/>
              </a:ext>
            </a:extLst>
          </p:cNvPr>
          <p:cNvSpPr>
            <a:spLocks noGrp="1"/>
          </p:cNvSpPr>
          <p:nvPr>
            <p:ph idx="1"/>
          </p:nvPr>
        </p:nvSpPr>
        <p:spPr>
          <a:xfrm>
            <a:off x="4700016" y="624110"/>
            <a:ext cx="6804596" cy="3777622"/>
          </a:xfrm>
        </p:spPr>
        <p:txBody>
          <a:bodyPr>
            <a:normAutofit fontScale="92500" lnSpcReduction="20000"/>
          </a:bodyPr>
          <a:lstStyle/>
          <a:p>
            <a:pPr algn="just">
              <a:lnSpc>
                <a:spcPct val="90000"/>
              </a:lnSpc>
            </a:pPr>
            <a:r>
              <a:rPr lang="en-US" dirty="0">
                <a:latin typeface="Arial" panose="020B0604020202020204" pitchFamily="34" charset="0"/>
                <a:cs typeface="Arial" panose="020B0604020202020204" pitchFamily="34" charset="0"/>
              </a:rPr>
              <a:t>The drawback of the transmission gate register is the high capacitive load presented to the clock signal. </a:t>
            </a:r>
            <a:r>
              <a:rPr lang="en-US" b="0" i="0" u="none" strike="noStrike" baseline="0" dirty="0">
                <a:latin typeface="Arial" panose="020B0604020202020204" pitchFamily="34" charset="0"/>
                <a:cs typeface="Arial" panose="020B0604020202020204" pitchFamily="34" charset="0"/>
              </a:rPr>
              <a:t>The clock load per register is important, since it directly impacts the power dissipation of the clock network. </a:t>
            </a:r>
            <a:r>
              <a:rPr lang="en-IN" dirty="0">
                <a:latin typeface="Arial" panose="020B0604020202020204" pitchFamily="34" charset="0"/>
                <a:cs typeface="Arial" panose="020B0604020202020204" pitchFamily="34" charset="0"/>
              </a:rPr>
              <a:t>E</a:t>
            </a:r>
            <a:r>
              <a:rPr lang="en-IN" b="0" i="0" u="none" strike="noStrike" baseline="0" dirty="0">
                <a:latin typeface="Arial" panose="020B0604020202020204" pitchFamily="34" charset="0"/>
                <a:cs typeface="Arial" panose="020B0604020202020204" pitchFamily="34" charset="0"/>
              </a:rPr>
              <a:t>ach register </a:t>
            </a:r>
            <a:r>
              <a:rPr lang="en-US" b="0" i="0" u="none" strike="noStrike" baseline="0" dirty="0">
                <a:latin typeface="Arial" panose="020B0604020202020204" pitchFamily="34" charset="0"/>
                <a:cs typeface="Arial" panose="020B0604020202020204" pitchFamily="34" charset="0"/>
              </a:rPr>
              <a:t>has a clock load of 8 transistors.</a:t>
            </a:r>
          </a:p>
          <a:p>
            <a:pPr algn="just">
              <a:lnSpc>
                <a:spcPct val="90000"/>
              </a:lnSpc>
            </a:pPr>
            <a:r>
              <a:rPr lang="en-US" b="0" i="0" u="none" strike="noStrike" baseline="0" dirty="0">
                <a:latin typeface="Arial" panose="020B0604020202020204" pitchFamily="34" charset="0"/>
                <a:cs typeface="Arial" panose="020B0604020202020204" pitchFamily="34" charset="0"/>
              </a:rPr>
              <a:t>One approach to reduce the clock load at the cost of robustness is to make the circuit ratioed. Figure shows that the feedback transmission gate can be eliminated by directly cross coupling the inverters.</a:t>
            </a:r>
          </a:p>
          <a:p>
            <a:pPr algn="just">
              <a:lnSpc>
                <a:spcPct val="90000"/>
              </a:lnSpc>
            </a:pPr>
            <a:r>
              <a:rPr lang="en-US" b="0" i="0" u="none" strike="noStrike" baseline="0" dirty="0">
                <a:latin typeface="Arial" panose="020B0604020202020204" pitchFamily="34" charset="0"/>
                <a:cs typeface="Arial" panose="020B0604020202020204" pitchFamily="34" charset="0"/>
              </a:rPr>
              <a:t>The penalty for the reduced clock load is increased design complexity</a:t>
            </a:r>
            <a:r>
              <a:rPr lang="en-US" dirty="0">
                <a:latin typeface="Arial" panose="020B0604020202020204" pitchFamily="34" charset="0"/>
                <a:cs typeface="Arial" panose="020B0604020202020204" pitchFamily="34" charset="0"/>
              </a:rPr>
              <a:t>. </a:t>
            </a:r>
            <a:r>
              <a:rPr lang="en-IN" b="0" i="0" u="none" strike="noStrike" baseline="0" dirty="0">
                <a:latin typeface="Arial" panose="020B0604020202020204" pitchFamily="34" charset="0"/>
                <a:cs typeface="Arial" panose="020B0604020202020204" pitchFamily="34" charset="0"/>
              </a:rPr>
              <a:t>The transmission </a:t>
            </a:r>
            <a:r>
              <a:rPr lang="en-US" b="0" i="0" u="none" strike="noStrike" baseline="0" dirty="0">
                <a:latin typeface="Arial" panose="020B0604020202020204" pitchFamily="34" charset="0"/>
                <a:cs typeface="Arial" panose="020B0604020202020204" pitchFamily="34" charset="0"/>
              </a:rPr>
              <a:t>gate (</a:t>
            </a:r>
            <a:r>
              <a:rPr lang="en-US" b="0" i="1" u="none" strike="noStrike" baseline="0" dirty="0">
                <a:latin typeface="Arial" panose="020B0604020202020204" pitchFamily="34" charset="0"/>
                <a:cs typeface="Arial" panose="020B0604020202020204" pitchFamily="34" charset="0"/>
              </a:rPr>
              <a:t>T</a:t>
            </a:r>
            <a:r>
              <a:rPr lang="en-US" b="0" i="0" u="none" strike="noStrike" baseline="-25000" dirty="0">
                <a:latin typeface="Arial" panose="020B0604020202020204" pitchFamily="34" charset="0"/>
                <a:cs typeface="Arial" panose="020B0604020202020204" pitchFamily="34" charset="0"/>
              </a:rPr>
              <a:t>1</a:t>
            </a:r>
            <a:r>
              <a:rPr lang="en-US" b="0" i="0" u="none" strike="noStrike" baseline="0" dirty="0">
                <a:latin typeface="Arial" panose="020B0604020202020204" pitchFamily="34" charset="0"/>
                <a:cs typeface="Arial" panose="020B0604020202020204" pitchFamily="34" charset="0"/>
              </a:rPr>
              <a:t>) and its source driver must overpower the feedback inverter (</a:t>
            </a:r>
            <a:r>
              <a:rPr lang="en-US" i="1" dirty="0">
                <a:latin typeface="Arial" panose="020B0604020202020204" pitchFamily="34" charset="0"/>
                <a:cs typeface="Arial" panose="020B0604020202020204" pitchFamily="34" charset="0"/>
              </a:rPr>
              <a:t>I</a:t>
            </a:r>
            <a:r>
              <a:rPr lang="en-US" b="0" i="0" u="none" strike="noStrike" baseline="-25000" dirty="0">
                <a:latin typeface="Arial" panose="020B0604020202020204" pitchFamily="34" charset="0"/>
                <a:cs typeface="Arial" panose="020B0604020202020204" pitchFamily="34" charset="0"/>
              </a:rPr>
              <a:t>2</a:t>
            </a:r>
            <a:r>
              <a:rPr lang="en-US" b="0" i="0" u="none" strike="noStrike" baseline="0" dirty="0">
                <a:latin typeface="Arial" panose="020B0604020202020204" pitchFamily="34" charset="0"/>
                <a:cs typeface="Arial" panose="020B0604020202020204" pitchFamily="34" charset="0"/>
              </a:rPr>
              <a:t>) to switch the state of the cross-coupled inverter. </a:t>
            </a:r>
          </a:p>
          <a:p>
            <a:pPr algn="just">
              <a:lnSpc>
                <a:spcPct val="90000"/>
              </a:lnSpc>
            </a:pPr>
            <a:r>
              <a:rPr lang="en-IN" b="0" i="0" u="none" strike="noStrike" baseline="0" dirty="0">
                <a:latin typeface="Arial" panose="020B0604020202020204" pitchFamily="34" charset="0"/>
                <a:cs typeface="Arial" panose="020B0604020202020204" pitchFamily="34" charset="0"/>
              </a:rPr>
              <a:t>If </a:t>
            </a:r>
            <a:r>
              <a:rPr lang="en-US" b="0" i="0" u="none" strike="noStrike" baseline="0" dirty="0">
                <a:latin typeface="Arial" panose="020B0604020202020204" pitchFamily="34" charset="0"/>
                <a:cs typeface="Arial" panose="020B0604020202020204" pitchFamily="34" charset="0"/>
              </a:rPr>
              <a:t>minimum-sized devices are to be used in the transmission gates, it is essential that the transistors of inverter </a:t>
            </a:r>
            <a:r>
              <a:rPr lang="en-US" b="0" i="1" u="none" strike="noStrike" baseline="0" dirty="0">
                <a:latin typeface="Arial" panose="020B0604020202020204" pitchFamily="34" charset="0"/>
                <a:cs typeface="Arial" panose="020B0604020202020204" pitchFamily="34" charset="0"/>
              </a:rPr>
              <a:t>I</a:t>
            </a:r>
            <a:r>
              <a:rPr lang="en-US" b="0" i="0" u="none" strike="noStrike" baseline="-25000" dirty="0">
                <a:latin typeface="Arial" panose="020B0604020202020204" pitchFamily="34" charset="0"/>
                <a:cs typeface="Arial" panose="020B0604020202020204" pitchFamily="34" charset="0"/>
              </a:rPr>
              <a:t>2</a:t>
            </a:r>
            <a:r>
              <a:rPr lang="en-US" b="0" i="0" u="none" strike="noStrike" baseline="0" dirty="0">
                <a:latin typeface="Arial" panose="020B0604020202020204" pitchFamily="34" charset="0"/>
                <a:cs typeface="Arial" panose="020B0604020202020204" pitchFamily="34" charset="0"/>
              </a:rPr>
              <a:t> should be made even weaker. This can be accomplished by making their channel-lengths larger than minimum.</a:t>
            </a:r>
          </a:p>
          <a:p>
            <a:pPr>
              <a:lnSpc>
                <a:spcPct val="90000"/>
              </a:lnSpc>
            </a:pPr>
            <a:endParaRPr lang="en-IN" sz="15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D0C0F34-7F55-4075-B9ED-DCEB12A7B0FF}"/>
              </a:ext>
            </a:extLst>
          </p:cNvPr>
          <p:cNvPicPr>
            <a:picLocks noChangeAspect="1"/>
          </p:cNvPicPr>
          <p:nvPr/>
        </p:nvPicPr>
        <p:blipFill>
          <a:blip r:embed="rId2"/>
          <a:stretch>
            <a:fillRect/>
          </a:stretch>
        </p:blipFill>
        <p:spPr>
          <a:xfrm>
            <a:off x="5167901" y="4301388"/>
            <a:ext cx="6691181" cy="2459008"/>
          </a:xfrm>
          <a:prstGeom prst="rect">
            <a:avLst/>
          </a:prstGeom>
        </p:spPr>
      </p:pic>
      <p:sp>
        <p:nvSpPr>
          <p:cNvPr id="4" name="Footer Placeholder 3">
            <a:extLst>
              <a:ext uri="{FF2B5EF4-FFF2-40B4-BE49-F238E27FC236}">
                <a16:creationId xmlns:a16="http://schemas.microsoft.com/office/drawing/2014/main" id="{DC0D60D0-A52E-4000-8A2A-6AB95665A7DA}"/>
              </a:ext>
            </a:extLst>
          </p:cNvPr>
          <p:cNvSpPr>
            <a:spLocks noGrp="1"/>
          </p:cNvSpPr>
          <p:nvPr>
            <p:ph type="ftr" sz="quarter" idx="11"/>
          </p:nvPr>
        </p:nvSpPr>
        <p:spPr>
          <a:xfrm>
            <a:off x="2589212" y="627296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539043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CA496-C813-44EE-8AFD-4F03C8795E42}"/>
              </a:ext>
            </a:extLst>
          </p:cNvPr>
          <p:cNvSpPr>
            <a:spLocks noGrp="1"/>
          </p:cNvSpPr>
          <p:nvPr>
            <p:ph type="title"/>
          </p:nvPr>
        </p:nvSpPr>
        <p:spPr>
          <a:xfrm>
            <a:off x="1687669" y="624110"/>
            <a:ext cx="4137059" cy="1280890"/>
          </a:xfrm>
        </p:spPr>
        <p:txBody>
          <a:bodyPr>
            <a:normAutofit/>
          </a:bodyPr>
          <a:lstStyle/>
          <a:p>
            <a:r>
              <a:rPr lang="en-IN" sz="3200">
                <a:latin typeface="Arial" panose="020B0604020202020204" pitchFamily="34" charset="0"/>
                <a:cs typeface="Arial" panose="020B0604020202020204" pitchFamily="34" charset="0"/>
              </a:rPr>
              <a:t>Continue….</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0E34698-A16A-48D9-A786-F687D4CCA34E}"/>
              </a:ext>
            </a:extLst>
          </p:cNvPr>
          <p:cNvSpPr>
            <a:spLocks noGrp="1"/>
          </p:cNvSpPr>
          <p:nvPr>
            <p:ph idx="1"/>
          </p:nvPr>
        </p:nvSpPr>
        <p:spPr>
          <a:xfrm>
            <a:off x="1683956" y="2133600"/>
            <a:ext cx="4140772" cy="3777622"/>
          </a:xfrm>
        </p:spPr>
        <p:txBody>
          <a:bodyPr>
            <a:normAutofit/>
          </a:bodyPr>
          <a:lstStyle/>
          <a:p>
            <a:pPr algn="just"/>
            <a:r>
              <a:rPr lang="en-US" sz="1600" dirty="0">
                <a:solidFill>
                  <a:srgbClr val="000000"/>
                </a:solidFill>
                <a:latin typeface="Arial" panose="020B0604020202020204" pitchFamily="34" charset="0"/>
                <a:cs typeface="Arial" panose="020B0604020202020204" pitchFamily="34" charset="0"/>
              </a:rPr>
              <a:t>Another problem with this scheme is the reverse conduction — this is, the second stage can affect the state of the first latch. </a:t>
            </a:r>
          </a:p>
          <a:p>
            <a:pPr algn="just"/>
            <a:r>
              <a:rPr lang="en-US" sz="1600" b="0" i="0" u="none" strike="noStrike" baseline="0" dirty="0">
                <a:solidFill>
                  <a:srgbClr val="000000"/>
                </a:solidFill>
                <a:latin typeface="Arial" panose="020B0604020202020204" pitchFamily="34" charset="0"/>
                <a:cs typeface="Arial" panose="020B0604020202020204" pitchFamily="34" charset="0"/>
              </a:rPr>
              <a:t>When the slave stage is </a:t>
            </a:r>
            <a:r>
              <a:rPr lang="en-US" sz="1600" b="0" i="1" u="none" strike="noStrike" baseline="0" dirty="0">
                <a:solidFill>
                  <a:srgbClr val="000000"/>
                </a:solidFill>
                <a:latin typeface="Arial" panose="020B0604020202020204" pitchFamily="34" charset="0"/>
                <a:cs typeface="Arial" panose="020B0604020202020204" pitchFamily="34" charset="0"/>
              </a:rPr>
              <a:t>on </a:t>
            </a:r>
            <a:r>
              <a:rPr lang="en-US" sz="1600" b="0" i="0" u="none" strike="noStrike" baseline="0" dirty="0">
                <a:solidFill>
                  <a:srgbClr val="000000"/>
                </a:solidFill>
                <a:latin typeface="Arial" panose="020B0604020202020204" pitchFamily="34" charset="0"/>
                <a:cs typeface="Arial" panose="020B0604020202020204" pitchFamily="34" charset="0"/>
              </a:rPr>
              <a:t>, it is possible for the combination of </a:t>
            </a:r>
            <a:r>
              <a:rPr lang="en-US" sz="1600" b="0" i="1" u="none" strike="noStrike" baseline="0" dirty="0">
                <a:solidFill>
                  <a:srgbClr val="000000"/>
                </a:solidFill>
                <a:latin typeface="Arial" panose="020B0604020202020204" pitchFamily="34" charset="0"/>
                <a:cs typeface="Arial" panose="020B0604020202020204" pitchFamily="34" charset="0"/>
              </a:rPr>
              <a:t>T</a:t>
            </a:r>
            <a:r>
              <a:rPr lang="en-US" sz="1600" b="0" i="0" u="none" strike="noStrike" baseline="0" dirty="0">
                <a:solidFill>
                  <a:srgbClr val="000000"/>
                </a:solidFill>
                <a:latin typeface="Arial" panose="020B0604020202020204" pitchFamily="34" charset="0"/>
                <a:cs typeface="Arial" panose="020B0604020202020204" pitchFamily="34" charset="0"/>
              </a:rPr>
              <a:t>2 and </a:t>
            </a:r>
            <a:r>
              <a:rPr lang="en-US" sz="1600" b="0" i="1" u="none" strike="noStrike" baseline="0" dirty="0">
                <a:solidFill>
                  <a:srgbClr val="000000"/>
                </a:solidFill>
                <a:latin typeface="Arial" panose="020B0604020202020204" pitchFamily="34" charset="0"/>
                <a:cs typeface="Arial" panose="020B0604020202020204" pitchFamily="34" charset="0"/>
              </a:rPr>
              <a:t>I</a:t>
            </a:r>
            <a:r>
              <a:rPr lang="en-US" sz="1600" b="0" i="0" u="none" strike="noStrike" baseline="0" dirty="0">
                <a:solidFill>
                  <a:srgbClr val="000000"/>
                </a:solidFill>
                <a:latin typeface="Arial" panose="020B0604020202020204" pitchFamily="34" charset="0"/>
                <a:cs typeface="Arial" panose="020B0604020202020204" pitchFamily="34" charset="0"/>
              </a:rPr>
              <a:t>4 to influence the data stored in </a:t>
            </a:r>
            <a:r>
              <a:rPr lang="en-US" sz="1600" b="0" i="1" u="none" strike="noStrike" baseline="0" dirty="0">
                <a:solidFill>
                  <a:srgbClr val="000000"/>
                </a:solidFill>
                <a:latin typeface="Arial" panose="020B0604020202020204" pitchFamily="34" charset="0"/>
                <a:cs typeface="Arial" panose="020B0604020202020204" pitchFamily="34" charset="0"/>
              </a:rPr>
              <a:t>I</a:t>
            </a:r>
            <a:r>
              <a:rPr lang="en-US" sz="1600" b="0" i="0" u="none" strike="noStrike" baseline="-25000" dirty="0">
                <a:solidFill>
                  <a:srgbClr val="000000"/>
                </a:solidFill>
                <a:latin typeface="Arial" panose="020B0604020202020204" pitchFamily="34" charset="0"/>
                <a:cs typeface="Arial" panose="020B0604020202020204" pitchFamily="34" charset="0"/>
              </a:rPr>
              <a:t>1</a:t>
            </a:r>
            <a:r>
              <a:rPr lang="en-US" sz="1600" b="0" i="0" u="none" strike="noStrike" baseline="0" dirty="0">
                <a:solidFill>
                  <a:srgbClr val="000000"/>
                </a:solidFill>
                <a:latin typeface="Arial" panose="020B0604020202020204" pitchFamily="34" charset="0"/>
                <a:cs typeface="Arial" panose="020B0604020202020204" pitchFamily="34" charset="0"/>
              </a:rPr>
              <a:t>-</a:t>
            </a:r>
            <a:r>
              <a:rPr lang="en-US" sz="1600" b="0" i="1" u="none" strike="noStrike" baseline="0" dirty="0">
                <a:solidFill>
                  <a:srgbClr val="000000"/>
                </a:solidFill>
                <a:latin typeface="Arial" panose="020B0604020202020204" pitchFamily="34" charset="0"/>
                <a:cs typeface="Arial" panose="020B0604020202020204" pitchFamily="34" charset="0"/>
              </a:rPr>
              <a:t>I</a:t>
            </a:r>
            <a:r>
              <a:rPr lang="en-US" sz="1600" b="0" i="0" u="none" strike="noStrike" baseline="-25000" dirty="0">
                <a:solidFill>
                  <a:srgbClr val="000000"/>
                </a:solidFill>
                <a:latin typeface="Arial" panose="020B0604020202020204" pitchFamily="34" charset="0"/>
                <a:cs typeface="Arial" panose="020B0604020202020204" pitchFamily="34" charset="0"/>
              </a:rPr>
              <a:t>2</a:t>
            </a:r>
            <a:r>
              <a:rPr lang="en-US" sz="1600" b="0" i="0" u="none" strike="noStrike" baseline="0" dirty="0">
                <a:solidFill>
                  <a:srgbClr val="000000"/>
                </a:solidFill>
                <a:latin typeface="Arial" panose="020B0604020202020204" pitchFamily="34" charset="0"/>
                <a:cs typeface="Arial" panose="020B0604020202020204" pitchFamily="34" charset="0"/>
              </a:rPr>
              <a:t> latch. </a:t>
            </a:r>
          </a:p>
          <a:p>
            <a:r>
              <a:rPr lang="en-IN" sz="1600" dirty="0">
                <a:solidFill>
                  <a:srgbClr val="000000"/>
                </a:solidFill>
                <a:latin typeface="Arial" panose="020B0604020202020204" pitchFamily="34" charset="0"/>
                <a:cs typeface="Arial" panose="020B0604020202020204" pitchFamily="34" charset="0"/>
              </a:rPr>
              <a:t>As long as I4 is weak . This is not a major problem</a:t>
            </a:r>
          </a:p>
        </p:txBody>
      </p:sp>
      <p:pic>
        <p:nvPicPr>
          <p:cNvPr id="5" name="Picture 4" descr="Diagram&#10;&#10;Description automatically generated">
            <a:extLst>
              <a:ext uri="{FF2B5EF4-FFF2-40B4-BE49-F238E27FC236}">
                <a16:creationId xmlns:a16="http://schemas.microsoft.com/office/drawing/2014/main" id="{BEF6D1EC-E46F-4FF1-871F-E609121FE5A2}"/>
              </a:ext>
            </a:extLst>
          </p:cNvPr>
          <p:cNvPicPr>
            <a:picLocks noChangeAspect="1"/>
          </p:cNvPicPr>
          <p:nvPr/>
        </p:nvPicPr>
        <p:blipFill>
          <a:blip r:embed="rId2"/>
          <a:stretch>
            <a:fillRect/>
          </a:stretch>
        </p:blipFill>
        <p:spPr>
          <a:xfrm>
            <a:off x="6091916" y="2260428"/>
            <a:ext cx="5942043" cy="2198556"/>
          </a:xfrm>
          <a:prstGeom prst="rect">
            <a:avLst/>
          </a:prstGeom>
        </p:spPr>
      </p:pic>
      <p:sp>
        <p:nvSpPr>
          <p:cNvPr id="4" name="Footer Placeholder 3">
            <a:extLst>
              <a:ext uri="{FF2B5EF4-FFF2-40B4-BE49-F238E27FC236}">
                <a16:creationId xmlns:a16="http://schemas.microsoft.com/office/drawing/2014/main" id="{0D429655-6C17-436F-8097-AAE73E7F524F}"/>
              </a:ext>
            </a:extLst>
          </p:cNvPr>
          <p:cNvSpPr>
            <a:spLocks noGrp="1"/>
          </p:cNvSpPr>
          <p:nvPr>
            <p:ph type="ftr" sz="quarter" idx="11"/>
          </p:nvPr>
        </p:nvSpPr>
        <p:spPr>
          <a:xfrm>
            <a:off x="2589212"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609901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AB394-6CA1-47FA-9F55-1FC8F93106C0}"/>
              </a:ext>
            </a:extLst>
          </p:cNvPr>
          <p:cNvSpPr>
            <a:spLocks noGrp="1"/>
          </p:cNvSpPr>
          <p:nvPr>
            <p:ph type="title"/>
          </p:nvPr>
        </p:nvSpPr>
        <p:spPr>
          <a:xfrm>
            <a:off x="2592925" y="624110"/>
            <a:ext cx="8911687" cy="1280890"/>
          </a:xfrm>
        </p:spPr>
        <p:txBody>
          <a:bodyPr>
            <a:normAutofit/>
          </a:bodyPr>
          <a:lstStyle/>
          <a:p>
            <a:r>
              <a:rPr lang="en-IN">
                <a:latin typeface="Arial" panose="020B0604020202020204" pitchFamily="34" charset="0"/>
                <a:cs typeface="Arial" panose="020B0604020202020204" pitchFamily="34" charset="0"/>
              </a:rPr>
              <a:t>Non-ideal clock signals</a:t>
            </a:r>
          </a:p>
        </p:txBody>
      </p:sp>
      <p:sp>
        <p:nvSpPr>
          <p:cNvPr id="3" name="Content Placeholder 2">
            <a:extLst>
              <a:ext uri="{FF2B5EF4-FFF2-40B4-BE49-F238E27FC236}">
                <a16:creationId xmlns:a16="http://schemas.microsoft.com/office/drawing/2014/main" id="{E640B375-933B-49E9-B1D7-ED923239F17A}"/>
              </a:ext>
            </a:extLst>
          </p:cNvPr>
          <p:cNvSpPr>
            <a:spLocks noGrp="1"/>
          </p:cNvSpPr>
          <p:nvPr>
            <p:ph idx="1"/>
          </p:nvPr>
        </p:nvSpPr>
        <p:spPr>
          <a:xfrm>
            <a:off x="297951" y="1264556"/>
            <a:ext cx="6893959" cy="4149925"/>
          </a:xfrm>
        </p:spPr>
        <p:txBody>
          <a:bodyPr>
            <a:noAutofit/>
          </a:bodyPr>
          <a:lstStyle/>
          <a:p>
            <a:pPr algn="just">
              <a:lnSpc>
                <a:spcPct val="90000"/>
              </a:lnSpc>
            </a:pPr>
            <a:r>
              <a:rPr lang="en-US" sz="1700" b="0" u="none" strike="noStrike" baseline="0" dirty="0">
                <a:latin typeface="Arial" panose="020B0604020202020204" pitchFamily="34" charset="0"/>
                <a:cs typeface="Arial" panose="020B0604020202020204" pitchFamily="34" charset="0"/>
              </a:rPr>
              <a:t>clock skew is a major problem and causes the two clock signals to overlap </a:t>
            </a:r>
            <a:r>
              <a:rPr lang="en-US" sz="1700" dirty="0">
                <a:latin typeface="Arial" panose="020B0604020202020204" pitchFamily="34" charset="0"/>
                <a:cs typeface="Arial" panose="020B0604020202020204" pitchFamily="34" charset="0"/>
              </a:rPr>
              <a:t>. Clock-overlap can cause two types of failures, as illustrated for the NMOS-only negative master-slave register </a:t>
            </a:r>
            <a:r>
              <a:rPr lang="en-IN" sz="1700" b="0" u="none" strike="noStrike" baseline="0" dirty="0">
                <a:latin typeface="Arial" panose="020B0604020202020204" pitchFamily="34" charset="0"/>
                <a:cs typeface="Arial" panose="020B0604020202020204" pitchFamily="34" charset="0"/>
              </a:rPr>
              <a:t>of Figure.</a:t>
            </a:r>
          </a:p>
          <a:p>
            <a:pPr algn="just">
              <a:lnSpc>
                <a:spcPct val="90000"/>
              </a:lnSpc>
            </a:pPr>
            <a:r>
              <a:rPr lang="en-US" sz="1700" b="0" u="none" strike="noStrike" baseline="0" dirty="0">
                <a:latin typeface="Arial" panose="020B0604020202020204" pitchFamily="34" charset="0"/>
                <a:cs typeface="Arial" panose="020B0604020202020204" pitchFamily="34" charset="0"/>
              </a:rPr>
              <a:t>When the clock goes high, the slave stage should stop sampling the master stage output and go into a hold mode. </a:t>
            </a:r>
          </a:p>
          <a:p>
            <a:pPr algn="just">
              <a:lnSpc>
                <a:spcPct val="90000"/>
              </a:lnSpc>
            </a:pPr>
            <a:r>
              <a:rPr lang="en-US" sz="1700" b="0" u="none" strike="noStrike" baseline="0" dirty="0">
                <a:latin typeface="Arial" panose="020B0604020202020204" pitchFamily="34" charset="0"/>
                <a:cs typeface="Arial" panose="020B0604020202020204" pitchFamily="34" charset="0"/>
              </a:rPr>
              <a:t>However, since CLK and CLK are both high for a short period of time (the overlap period), both sampling pass transistors conduct and there is a direct path from the D input to the Q output. </a:t>
            </a:r>
          </a:p>
          <a:p>
            <a:pPr algn="just">
              <a:lnSpc>
                <a:spcPct val="90000"/>
              </a:lnSpc>
            </a:pPr>
            <a:r>
              <a:rPr lang="en-US" sz="1700" b="0" u="none" strike="noStrike" baseline="0" dirty="0">
                <a:latin typeface="Arial" panose="020B0604020202020204" pitchFamily="34" charset="0"/>
                <a:cs typeface="Arial" panose="020B0604020202020204" pitchFamily="34" charset="0"/>
              </a:rPr>
              <a:t>As a result, data at the output can change on the rising edge of the clock, which is undesired for a negative edge triggered register. The is know as a race condition in which the value of the output </a:t>
            </a:r>
            <a:r>
              <a:rPr lang="en-IN" sz="1700" b="0" u="none" strike="noStrike" baseline="0" dirty="0">
                <a:latin typeface="Arial" panose="020B0604020202020204" pitchFamily="34" charset="0"/>
                <a:cs typeface="Arial" panose="020B0604020202020204" pitchFamily="34" charset="0"/>
              </a:rPr>
              <a:t>Q.</a:t>
            </a:r>
          </a:p>
          <a:p>
            <a:pPr algn="just">
              <a:lnSpc>
                <a:spcPct val="90000"/>
              </a:lnSpc>
            </a:pPr>
            <a:r>
              <a:rPr lang="en-US" sz="1700" b="0" i="0" u="none" strike="noStrike" baseline="0" dirty="0">
                <a:latin typeface="Arial" panose="020B0604020202020204" pitchFamily="34" charset="0"/>
                <a:cs typeface="Arial" panose="020B0604020202020204" pitchFamily="34" charset="0"/>
              </a:rPr>
              <a:t>The primary advantage of the multiplexer-based register is that the feedback loop is open during the sampling period, and therefore sizing of devices is not critical to functionality. However, if there is clock overlap between </a:t>
            </a:r>
            <a:r>
              <a:rPr lang="en-US" sz="1700" b="0" i="1" u="none" strike="noStrike" baseline="0" dirty="0">
                <a:latin typeface="Arial" panose="020B0604020202020204" pitchFamily="34" charset="0"/>
                <a:cs typeface="Arial" panose="020B0604020202020204" pitchFamily="34" charset="0"/>
              </a:rPr>
              <a:t>CLK </a:t>
            </a:r>
            <a:r>
              <a:rPr lang="en-US" sz="1700" b="0" i="0" u="none" strike="noStrike" baseline="0" dirty="0">
                <a:latin typeface="Arial" panose="020B0604020202020204" pitchFamily="34" charset="0"/>
                <a:cs typeface="Arial" panose="020B0604020202020204" pitchFamily="34" charset="0"/>
              </a:rPr>
              <a:t>and </a:t>
            </a:r>
            <a:r>
              <a:rPr lang="en-US" sz="1700" b="0" i="1" u="none" strike="noStrike" baseline="0" dirty="0">
                <a:latin typeface="Arial" panose="020B0604020202020204" pitchFamily="34" charset="0"/>
                <a:cs typeface="Arial" panose="020B0604020202020204" pitchFamily="34" charset="0"/>
              </a:rPr>
              <a:t>CLK</a:t>
            </a:r>
            <a:r>
              <a:rPr lang="en-US" sz="1700" b="0" i="0" u="none" strike="noStrike" baseline="0" dirty="0">
                <a:latin typeface="Arial" panose="020B0604020202020204" pitchFamily="34" charset="0"/>
                <a:cs typeface="Arial" panose="020B0604020202020204" pitchFamily="34" charset="0"/>
              </a:rPr>
              <a:t>, node </a:t>
            </a:r>
            <a:r>
              <a:rPr lang="en-US" sz="1700" b="0" i="1" u="none" strike="noStrike" baseline="0" dirty="0">
                <a:latin typeface="Arial" panose="020B0604020202020204" pitchFamily="34" charset="0"/>
                <a:cs typeface="Arial" panose="020B0604020202020204" pitchFamily="34" charset="0"/>
              </a:rPr>
              <a:t>A </a:t>
            </a:r>
            <a:r>
              <a:rPr lang="en-US" sz="1700" b="0" i="0" u="none" strike="noStrike" baseline="0" dirty="0">
                <a:latin typeface="Arial" panose="020B0604020202020204" pitchFamily="34" charset="0"/>
                <a:cs typeface="Arial" panose="020B0604020202020204" pitchFamily="34" charset="0"/>
              </a:rPr>
              <a:t>can be driven by both </a:t>
            </a:r>
            <a:r>
              <a:rPr lang="en-US" sz="1700" b="0" i="1" u="none" strike="noStrike" baseline="0" dirty="0">
                <a:latin typeface="Arial" panose="020B0604020202020204" pitchFamily="34" charset="0"/>
                <a:cs typeface="Arial" panose="020B0604020202020204" pitchFamily="34" charset="0"/>
              </a:rPr>
              <a:t>D </a:t>
            </a:r>
            <a:r>
              <a:rPr lang="en-US" sz="1700" b="0" i="0" u="none" strike="noStrike" baseline="0" dirty="0">
                <a:latin typeface="Arial" panose="020B0604020202020204" pitchFamily="34" charset="0"/>
                <a:cs typeface="Arial" panose="020B0604020202020204" pitchFamily="34" charset="0"/>
              </a:rPr>
              <a:t>and </a:t>
            </a:r>
            <a:r>
              <a:rPr lang="en-US" sz="1700" b="0" i="1" u="none" strike="noStrike" baseline="0" dirty="0">
                <a:latin typeface="Arial" panose="020B0604020202020204" pitchFamily="34" charset="0"/>
                <a:cs typeface="Arial" panose="020B0604020202020204" pitchFamily="34" charset="0"/>
              </a:rPr>
              <a:t>B</a:t>
            </a:r>
            <a:r>
              <a:rPr lang="en-US" sz="1700" b="0" i="0" u="none" strike="noStrike" baseline="0" dirty="0">
                <a:latin typeface="Arial" panose="020B0604020202020204" pitchFamily="34" charset="0"/>
                <a:cs typeface="Arial" panose="020B0604020202020204" pitchFamily="34" charset="0"/>
              </a:rPr>
              <a:t>, resulting in an undefined state.</a:t>
            </a:r>
            <a:endParaRPr lang="en-IN" sz="1700" dirty="0">
              <a:latin typeface="Arial" panose="020B0604020202020204" pitchFamily="34" charset="0"/>
              <a:cs typeface="Arial" panose="020B0604020202020204" pitchFamily="34" charset="0"/>
            </a:endParaRPr>
          </a:p>
        </p:txBody>
      </p:sp>
      <p:pic>
        <p:nvPicPr>
          <p:cNvPr id="6" name="Picture 5" descr="Diagram, schematic&#10;&#10;Description automatically generated">
            <a:extLst>
              <a:ext uri="{FF2B5EF4-FFF2-40B4-BE49-F238E27FC236}">
                <a16:creationId xmlns:a16="http://schemas.microsoft.com/office/drawing/2014/main" id="{536E5C83-B687-4860-BF90-B56ED7CFFECA}"/>
              </a:ext>
            </a:extLst>
          </p:cNvPr>
          <p:cNvPicPr>
            <a:picLocks noChangeAspect="1"/>
          </p:cNvPicPr>
          <p:nvPr/>
        </p:nvPicPr>
        <p:blipFill>
          <a:blip r:embed="rId2"/>
          <a:stretch>
            <a:fillRect/>
          </a:stretch>
        </p:blipFill>
        <p:spPr>
          <a:xfrm>
            <a:off x="7332765" y="1504947"/>
            <a:ext cx="4777042" cy="2939266"/>
          </a:xfrm>
          <a:prstGeom prst="rect">
            <a:avLst/>
          </a:prstGeom>
        </p:spPr>
      </p:pic>
      <p:sp>
        <p:nvSpPr>
          <p:cNvPr id="4" name="Footer Placeholder 3">
            <a:extLst>
              <a:ext uri="{FF2B5EF4-FFF2-40B4-BE49-F238E27FC236}">
                <a16:creationId xmlns:a16="http://schemas.microsoft.com/office/drawing/2014/main" id="{FD927B96-DE2F-455D-B962-5AA273E19BE8}"/>
              </a:ext>
            </a:extLst>
          </p:cNvPr>
          <p:cNvSpPr>
            <a:spLocks noGrp="1"/>
          </p:cNvSpPr>
          <p:nvPr>
            <p:ph type="ftr" sz="quarter" idx="11"/>
          </p:nvPr>
        </p:nvSpPr>
        <p:spPr>
          <a:xfrm>
            <a:off x="2589212"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875773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3419E28B-721B-4D0D-A1D3-78EAC57253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315164-8FDE-4B13-ADFB-ECF69D4D5312}"/>
              </a:ext>
            </a:extLst>
          </p:cNvPr>
          <p:cNvSpPr>
            <a:spLocks noGrp="1"/>
          </p:cNvSpPr>
          <p:nvPr>
            <p:ph type="title"/>
          </p:nvPr>
        </p:nvSpPr>
        <p:spPr>
          <a:xfrm>
            <a:off x="649224" y="645106"/>
            <a:ext cx="5122652" cy="1259894"/>
          </a:xfrm>
        </p:spPr>
        <p:txBody>
          <a:bodyPr>
            <a:normAutofit/>
          </a:bodyPr>
          <a:lstStyle/>
          <a:p>
            <a:r>
              <a:rPr lang="en-IN" dirty="0">
                <a:latin typeface="Arial" panose="020B0604020202020204" pitchFamily="34" charset="0"/>
                <a:cs typeface="Arial" panose="020B0604020202020204" pitchFamily="34" charset="0"/>
              </a:rPr>
              <a:t>Continue….</a:t>
            </a:r>
          </a:p>
        </p:txBody>
      </p:sp>
      <p:sp>
        <p:nvSpPr>
          <p:cNvPr id="17" name="Rectangle 11">
            <a:extLst>
              <a:ext uri="{FF2B5EF4-FFF2-40B4-BE49-F238E27FC236}">
                <a16:creationId xmlns:a16="http://schemas.microsoft.com/office/drawing/2014/main" id="{359E45B9-0D24-465E-84AD-FEDBA836B5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BA5B8673-1C08-4067-958F-116EEBAAD40D}"/>
              </a:ext>
            </a:extLst>
          </p:cNvPr>
          <p:cNvSpPr>
            <a:spLocks noGrp="1"/>
          </p:cNvSpPr>
          <p:nvPr>
            <p:ph idx="1"/>
          </p:nvPr>
        </p:nvSpPr>
        <p:spPr>
          <a:xfrm>
            <a:off x="649225" y="1476758"/>
            <a:ext cx="5122652" cy="4416096"/>
          </a:xfrm>
        </p:spPr>
        <p:txBody>
          <a:bodyPr>
            <a:normAutofit/>
          </a:bodyPr>
          <a:lstStyle/>
          <a:p>
            <a:pPr marL="0" indent="0" algn="just">
              <a:buNone/>
            </a:pPr>
            <a:r>
              <a:rPr lang="en-US">
                <a:latin typeface="Arial" panose="020B0604020202020204" pitchFamily="34" charset="0"/>
                <a:cs typeface="Arial" panose="020B0604020202020204" pitchFamily="34" charset="0"/>
              </a:rPr>
              <a:t>Those problems can be avoided by using two non-overlapping clocks PHI</a:t>
            </a:r>
            <a:r>
              <a:rPr lang="en-US" baseline="-25000">
                <a:latin typeface="Arial" panose="020B0604020202020204" pitchFamily="34" charset="0"/>
                <a:cs typeface="Arial" panose="020B0604020202020204" pitchFamily="34" charset="0"/>
              </a:rPr>
              <a:t>1</a:t>
            </a:r>
            <a:r>
              <a:rPr lang="en-US">
                <a:latin typeface="Arial" panose="020B0604020202020204" pitchFamily="34" charset="0"/>
                <a:cs typeface="Arial" panose="020B0604020202020204" pitchFamily="34" charset="0"/>
              </a:rPr>
              <a:t> and PHI</a:t>
            </a:r>
            <a:r>
              <a:rPr lang="en-US" baseline="-25000">
                <a:latin typeface="Arial" panose="020B0604020202020204" pitchFamily="34" charset="0"/>
                <a:cs typeface="Arial" panose="020B0604020202020204" pitchFamily="34" charset="0"/>
              </a:rPr>
              <a:t>2</a:t>
            </a:r>
            <a:r>
              <a:rPr lang="en-US">
                <a:latin typeface="Arial" panose="020B0604020202020204" pitchFamily="34" charset="0"/>
                <a:cs typeface="Arial" panose="020B0604020202020204" pitchFamily="34" charset="0"/>
              </a:rPr>
              <a:t> instead , and by keeping the nonoverlap time </a:t>
            </a:r>
            <a:r>
              <a:rPr lang="en-US" b="1">
                <a:latin typeface="Arial" panose="020B0604020202020204" pitchFamily="34" charset="0"/>
                <a:cs typeface="Arial" panose="020B0604020202020204" pitchFamily="34" charset="0"/>
              </a:rPr>
              <a:t>tnon_overlap </a:t>
            </a:r>
            <a:r>
              <a:rPr lang="en-US">
                <a:latin typeface="Arial" panose="020B0604020202020204" pitchFamily="34" charset="0"/>
                <a:cs typeface="Arial" panose="020B0604020202020204" pitchFamily="34" charset="0"/>
              </a:rPr>
              <a:t>between the clocks large enough such that no overlap occurs even in the presence of clock-routing delays.</a:t>
            </a:r>
          </a:p>
          <a:p>
            <a:pPr marL="0" indent="0" algn="just">
              <a:buNone/>
            </a:pPr>
            <a:r>
              <a:rPr lang="en-US" b="0" i="0" u="none" strike="noStrike" baseline="0">
                <a:latin typeface="Arial" panose="020B0604020202020204" pitchFamily="34" charset="0"/>
                <a:cs typeface="Arial" panose="020B0604020202020204" pitchFamily="34" charset="0"/>
              </a:rPr>
              <a:t>During the nonoverlap time, the </a:t>
            </a:r>
            <a:r>
              <a:rPr lang="en-US" b="0" i="1" u="none" strike="noStrike" baseline="0">
                <a:latin typeface="Arial" panose="020B0604020202020204" pitchFamily="34" charset="0"/>
                <a:cs typeface="Arial" panose="020B0604020202020204" pitchFamily="34" charset="0"/>
              </a:rPr>
              <a:t>FF </a:t>
            </a:r>
            <a:r>
              <a:rPr lang="en-US" b="0" i="0" u="none" strike="noStrike" baseline="0">
                <a:latin typeface="Arial" panose="020B0604020202020204" pitchFamily="34" charset="0"/>
                <a:cs typeface="Arial" panose="020B0604020202020204" pitchFamily="34" charset="0"/>
              </a:rPr>
              <a:t>is in the high-impedance state—the feedback loop is open, the loop gain is zero, and the input is disconnected. Leakage will destroy the state if this condition holds for too long a time. Hence the name </a:t>
            </a:r>
            <a:r>
              <a:rPr lang="en-US" b="0" i="1" u="none" strike="noStrike" baseline="0">
                <a:latin typeface="Arial" panose="020B0604020202020204" pitchFamily="34" charset="0"/>
                <a:cs typeface="Arial" panose="020B0604020202020204" pitchFamily="34" charset="0"/>
              </a:rPr>
              <a:t>pseudo-static</a:t>
            </a:r>
            <a:r>
              <a:rPr lang="en-US" b="0" i="0" u="none" strike="noStrike" baseline="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18" name="Freeform 12">
            <a:extLst>
              <a:ext uri="{FF2B5EF4-FFF2-40B4-BE49-F238E27FC236}">
                <a16:creationId xmlns:a16="http://schemas.microsoft.com/office/drawing/2014/main" id="{1F36A2FB-17CD-4DA6-9D8A-BFD6ADF6A32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4F3816FA-33B9-4BFB-945D-F71D628D97BD}"/>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Rohit Lorenzo, VIT-AP</a:t>
            </a:r>
            <a:endPar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endParaRPr>
          </a:p>
        </p:txBody>
      </p:sp>
      <p:pic>
        <p:nvPicPr>
          <p:cNvPr id="6" name="Picture 5">
            <a:extLst>
              <a:ext uri="{FF2B5EF4-FFF2-40B4-BE49-F238E27FC236}">
                <a16:creationId xmlns:a16="http://schemas.microsoft.com/office/drawing/2014/main" id="{33B25678-8F77-4FEE-B930-E87C716831BD}"/>
              </a:ext>
            </a:extLst>
          </p:cNvPr>
          <p:cNvPicPr>
            <a:picLocks noChangeAspect="1"/>
          </p:cNvPicPr>
          <p:nvPr/>
        </p:nvPicPr>
        <p:blipFill>
          <a:blip r:embed="rId2"/>
          <a:stretch>
            <a:fillRect/>
          </a:stretch>
        </p:blipFill>
        <p:spPr>
          <a:xfrm>
            <a:off x="5905812" y="1476758"/>
            <a:ext cx="6143946" cy="3203408"/>
          </a:xfrm>
          <a:prstGeom prst="rect">
            <a:avLst/>
          </a:prstGeom>
        </p:spPr>
      </p:pic>
    </p:spTree>
    <p:extLst>
      <p:ext uri="{BB962C8B-B14F-4D97-AF65-F5344CB8AC3E}">
        <p14:creationId xmlns:p14="http://schemas.microsoft.com/office/powerpoint/2010/main" val="1932107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05F62-8EC7-497C-B4E2-FA081D45AE33}"/>
              </a:ext>
            </a:extLst>
          </p:cNvPr>
          <p:cNvSpPr>
            <a:spLocks noGrp="1"/>
          </p:cNvSpPr>
          <p:nvPr>
            <p:ph type="title"/>
          </p:nvPr>
        </p:nvSpPr>
        <p:spPr>
          <a:xfrm>
            <a:off x="1664413" y="624110"/>
            <a:ext cx="9840199" cy="1280890"/>
          </a:xfrm>
        </p:spPr>
        <p:txBody>
          <a:bodyPr>
            <a:normAutofit/>
          </a:bodyPr>
          <a:lstStyle/>
          <a:p>
            <a:r>
              <a:rPr lang="en-IN" sz="3200" dirty="0">
                <a:latin typeface="Arial" panose="020B0604020202020204" pitchFamily="34" charset="0"/>
                <a:cs typeface="Arial" panose="020B0604020202020204" pitchFamily="34" charset="0"/>
              </a:rPr>
              <a:t>Low-Voltage Static Latches</a:t>
            </a:r>
          </a:p>
        </p:txBody>
      </p:sp>
      <p:sp>
        <p:nvSpPr>
          <p:cNvPr id="3" name="Content Placeholder 2">
            <a:extLst>
              <a:ext uri="{FF2B5EF4-FFF2-40B4-BE49-F238E27FC236}">
                <a16:creationId xmlns:a16="http://schemas.microsoft.com/office/drawing/2014/main" id="{B63E8B12-85F9-4930-9814-BDECBCF6EF86}"/>
              </a:ext>
            </a:extLst>
          </p:cNvPr>
          <p:cNvSpPr>
            <a:spLocks noGrp="1"/>
          </p:cNvSpPr>
          <p:nvPr>
            <p:ph idx="1"/>
          </p:nvPr>
        </p:nvSpPr>
        <p:spPr>
          <a:xfrm>
            <a:off x="1109609" y="1448656"/>
            <a:ext cx="10395003" cy="4462566"/>
          </a:xfrm>
        </p:spPr>
        <p:txBody>
          <a:bodyPr/>
          <a:lstStyle/>
          <a:p>
            <a:pPr algn="just"/>
            <a:r>
              <a:rPr lang="en-US" dirty="0">
                <a:latin typeface="Arial" panose="020B0604020202020204" pitchFamily="34" charset="0"/>
                <a:cs typeface="Arial" panose="020B0604020202020204" pitchFamily="34" charset="0"/>
              </a:rPr>
              <a:t>The scaling of supply voltages is critical for low power operation. </a:t>
            </a:r>
            <a:r>
              <a:rPr lang="en-IN" sz="1800" b="0" i="0" u="none" strike="noStrike" baseline="0" dirty="0">
                <a:latin typeface="Arial" panose="020B0604020202020204" pitchFamily="34" charset="0"/>
                <a:cs typeface="Arial" panose="020B0604020202020204" pitchFamily="34" charset="0"/>
              </a:rPr>
              <a:t>Unfortunately, </a:t>
            </a:r>
            <a:r>
              <a:rPr lang="en-US" sz="1800" b="0" i="0" u="none" strike="noStrike" baseline="0" dirty="0">
                <a:latin typeface="Arial" panose="020B0604020202020204" pitchFamily="34" charset="0"/>
                <a:cs typeface="Arial" panose="020B0604020202020204" pitchFamily="34" charset="0"/>
              </a:rPr>
              <a:t>certain latch structures don’t function at reduced  supply voltages. </a:t>
            </a:r>
          </a:p>
          <a:p>
            <a:pPr algn="just">
              <a:spcBef>
                <a:spcPts val="0"/>
              </a:spcBef>
            </a:pPr>
            <a:r>
              <a:rPr lang="en-US" sz="1800" b="0" i="0" u="none" strike="noStrike" baseline="0" dirty="0">
                <a:latin typeface="Arial" panose="020B0604020202020204" pitchFamily="34" charset="0"/>
                <a:cs typeface="Arial" panose="020B0604020202020204" pitchFamily="34" charset="0"/>
              </a:rPr>
              <a:t>At very low power supply voltages, the input to the inverter cannot be raised above the switching threshold, </a:t>
            </a:r>
            <a:r>
              <a:rPr lang="en-IN" sz="1800" b="0" i="0" u="none" strike="noStrike" baseline="0" dirty="0">
                <a:latin typeface="Arial" panose="020B0604020202020204" pitchFamily="34" charset="0"/>
                <a:cs typeface="Arial" panose="020B0604020202020204" pitchFamily="34" charset="0"/>
              </a:rPr>
              <a:t>resulting in incorrect evaluation. </a:t>
            </a:r>
          </a:p>
          <a:p>
            <a:pPr algn="just"/>
            <a:r>
              <a:rPr lang="en-US" sz="1800" b="0" i="0" u="none" strike="noStrike" baseline="0" dirty="0">
                <a:latin typeface="Arial" panose="020B0604020202020204" pitchFamily="34" charset="0"/>
                <a:cs typeface="Arial" panose="020B0604020202020204" pitchFamily="34" charset="0"/>
              </a:rPr>
              <a:t>Scaling to low supply voltages hence requires the use of reduced threshold devices. However, this has the negative effect of exponentially increasing the sub-threshold leakage </a:t>
            </a:r>
            <a:r>
              <a:rPr lang="en-IN" sz="1800" b="0" i="0" u="none" strike="noStrike" baseline="0" dirty="0">
                <a:latin typeface="Arial" panose="020B0604020202020204" pitchFamily="34" charset="0"/>
                <a:cs typeface="Arial" panose="020B0604020202020204" pitchFamily="34" charset="0"/>
              </a:rPr>
              <a:t>power.</a:t>
            </a:r>
          </a:p>
          <a:p>
            <a:pPr algn="just"/>
            <a:r>
              <a:rPr lang="en-IN" sz="1800" b="0" i="0" u="none" strike="noStrike" baseline="0" dirty="0">
                <a:latin typeface="Arial" panose="020B0604020202020204" pitchFamily="34" charset="0"/>
                <a:cs typeface="Arial" panose="020B0604020202020204" pitchFamily="34" charset="0"/>
              </a:rPr>
              <a:t>However, with the </a:t>
            </a:r>
            <a:r>
              <a:rPr lang="en-US" sz="1800" b="0" i="0" u="none" strike="noStrike" baseline="0" dirty="0">
                <a:latin typeface="Arial" panose="020B0604020202020204" pitchFamily="34" charset="0"/>
                <a:cs typeface="Arial" panose="020B0604020202020204" pitchFamily="34" charset="0"/>
              </a:rPr>
              <a:t>use of conditional clocks, it is possible that registers are idle for extended periods and the leakage energy expended by registers can be quite significant.</a:t>
            </a:r>
          </a:p>
          <a:p>
            <a:pPr algn="just"/>
            <a:r>
              <a:rPr lang="en-US" sz="1800" b="0" i="0" u="none" strike="noStrike" baseline="0" dirty="0">
                <a:latin typeface="Arial" panose="020B0604020202020204" pitchFamily="34" charset="0"/>
                <a:cs typeface="Arial" panose="020B0604020202020204" pitchFamily="34" charset="0"/>
              </a:rPr>
              <a:t>Many solutions are being explored to address the problem of high leakage during idle periods. One approach for this involves the use of Multiple Threshold devices as </a:t>
            </a:r>
            <a:r>
              <a:rPr lang="en-IN" sz="1800" b="0" i="0" u="none" strike="noStrike" baseline="0" dirty="0">
                <a:latin typeface="Arial" panose="020B0604020202020204" pitchFamily="34" charset="0"/>
                <a:cs typeface="Arial" panose="020B0604020202020204" pitchFamily="34" charset="0"/>
              </a:rPr>
              <a:t>shown in Figure</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D3C27BEB-39CB-4EDF-A88D-21B517C8C3C3}"/>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52780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BD230D-0708-4782-93C2-6421485EDE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B48545-0F6C-494E-9309-750DB14DA121}"/>
              </a:ext>
            </a:extLst>
          </p:cNvPr>
          <p:cNvSpPr>
            <a:spLocks noGrp="1"/>
          </p:cNvSpPr>
          <p:nvPr>
            <p:ph type="title"/>
          </p:nvPr>
        </p:nvSpPr>
        <p:spPr>
          <a:xfrm>
            <a:off x="649224" y="645106"/>
            <a:ext cx="6574536" cy="1259894"/>
          </a:xfrm>
        </p:spPr>
        <p:txBody>
          <a:bodyPr>
            <a:normAutofit/>
          </a:bodyPr>
          <a:lstStyle/>
          <a:p>
            <a:r>
              <a:rPr kumimoji="0" lang="en-IN" sz="3200" b="0"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Continue…..</a:t>
            </a:r>
            <a:endParaRPr lang="en-IN" sz="3200" dirty="0"/>
          </a:p>
        </p:txBody>
      </p:sp>
      <p:sp>
        <p:nvSpPr>
          <p:cNvPr id="12" name="Rectangle 11">
            <a:extLst>
              <a:ext uri="{FF2B5EF4-FFF2-40B4-BE49-F238E27FC236}">
                <a16:creationId xmlns:a16="http://schemas.microsoft.com/office/drawing/2014/main" id="{D630D25A-547E-4D17-B65E-FA2B888931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0BB16F2B-7C3C-471A-8D15-88BA06405980}"/>
              </a:ext>
            </a:extLst>
          </p:cNvPr>
          <p:cNvSpPr>
            <a:spLocks noGrp="1"/>
          </p:cNvSpPr>
          <p:nvPr>
            <p:ph idx="1"/>
          </p:nvPr>
        </p:nvSpPr>
        <p:spPr>
          <a:xfrm>
            <a:off x="649224" y="1582220"/>
            <a:ext cx="6574535" cy="4310633"/>
          </a:xfrm>
        </p:spPr>
        <p:txBody>
          <a:bodyPr>
            <a:normAutofit/>
          </a:bodyPr>
          <a:lstStyle/>
          <a:p>
            <a:pPr algn="just"/>
            <a:r>
              <a:rPr lang="en-US" dirty="0">
                <a:latin typeface="Arial" panose="020B0604020202020204" pitchFamily="34" charset="0"/>
                <a:cs typeface="Arial" panose="020B0604020202020204" pitchFamily="34" charset="0"/>
              </a:rPr>
              <a:t>The shaded inverters and transmission gates are implemented in low-threshold devices.</a:t>
            </a:r>
          </a:p>
          <a:p>
            <a:pPr algn="just"/>
            <a:r>
              <a:rPr lang="en-US" b="0" u="none" strike="noStrike" baseline="0" dirty="0">
                <a:latin typeface="Arial" panose="020B0604020202020204" pitchFamily="34" charset="0"/>
                <a:cs typeface="Arial" panose="020B0604020202020204" pitchFamily="34" charset="0"/>
              </a:rPr>
              <a:t>During normal mode of operation, the sleep devices are tuned on. </a:t>
            </a:r>
            <a:r>
              <a:rPr lang="en-IN" b="0" u="none" strike="noStrike" baseline="0" dirty="0">
                <a:latin typeface="Arial" panose="020B0604020202020204" pitchFamily="34" charset="0"/>
                <a:cs typeface="Arial" panose="020B0604020202020204" pitchFamily="34" charset="0"/>
              </a:rPr>
              <a:t>When clock is </a:t>
            </a:r>
            <a:r>
              <a:rPr lang="en-US" b="0" u="none" strike="noStrike" baseline="0" dirty="0">
                <a:latin typeface="Arial" panose="020B0604020202020204" pitchFamily="34" charset="0"/>
                <a:cs typeface="Arial" panose="020B0604020202020204" pitchFamily="34" charset="0"/>
              </a:rPr>
              <a:t>low, the D input is sampled and propagates to the output.</a:t>
            </a:r>
          </a:p>
          <a:p>
            <a:pPr algn="just"/>
            <a:r>
              <a:rPr lang="en-US" b="0" u="none" strike="noStrike" baseline="0" dirty="0">
                <a:latin typeface="Arial" panose="020B0604020202020204" pitchFamily="34" charset="0"/>
                <a:cs typeface="Arial" panose="020B0604020202020204" pitchFamily="34" charset="0"/>
              </a:rPr>
              <a:t> When clock is high, the latch is </a:t>
            </a:r>
            <a:r>
              <a:rPr lang="en-IN" b="0" u="none" strike="noStrike" baseline="0" dirty="0">
                <a:latin typeface="Arial" panose="020B0604020202020204" pitchFamily="34" charset="0"/>
                <a:cs typeface="Arial" panose="020B0604020202020204" pitchFamily="34" charset="0"/>
              </a:rPr>
              <a:t>in the hold mode. </a:t>
            </a:r>
            <a:r>
              <a:rPr lang="en-US" sz="1800" b="0" i="0" u="none" strike="noStrike" baseline="0" dirty="0">
                <a:latin typeface="Arial" panose="020B0604020202020204" pitchFamily="34" charset="0"/>
                <a:cs typeface="Arial" panose="020B0604020202020204" pitchFamily="34" charset="0"/>
              </a:rPr>
              <a:t>The feedback transmission gate conducts and the cross-coupled feedback </a:t>
            </a:r>
            <a:r>
              <a:rPr lang="en-IN" sz="1800" b="0" i="0" u="none" strike="noStrike" baseline="0" dirty="0">
                <a:latin typeface="Arial" panose="020B0604020202020204" pitchFamily="34" charset="0"/>
                <a:cs typeface="Arial" panose="020B0604020202020204" pitchFamily="34" charset="0"/>
              </a:rPr>
              <a:t>is enabled. </a:t>
            </a:r>
          </a:p>
          <a:p>
            <a:pPr algn="just"/>
            <a:r>
              <a:rPr lang="en-US" sz="1800" b="0" i="0" u="none" strike="noStrike" baseline="0" dirty="0">
                <a:latin typeface="Arial" panose="020B0604020202020204" pitchFamily="34" charset="0"/>
                <a:cs typeface="Arial" panose="020B0604020202020204" pitchFamily="34" charset="0"/>
              </a:rPr>
              <a:t>During idle mode, the high threshold devices in series with the low threshold inverter are turned </a:t>
            </a:r>
            <a:r>
              <a:rPr lang="en-US" sz="1800" b="0" i="1" u="none" strike="noStrike" baseline="0" dirty="0">
                <a:latin typeface="Arial" panose="020B0604020202020204" pitchFamily="34" charset="0"/>
                <a:cs typeface="Arial" panose="020B0604020202020204" pitchFamily="34" charset="0"/>
              </a:rPr>
              <a:t>off </a:t>
            </a:r>
            <a:r>
              <a:rPr lang="en-US" sz="1800" b="0" i="0" u="none" strike="noStrike" baseline="0" dirty="0">
                <a:latin typeface="Arial" panose="020B0604020202020204" pitchFamily="34" charset="0"/>
                <a:cs typeface="Arial" panose="020B0604020202020204" pitchFamily="34" charset="0"/>
              </a:rPr>
              <a:t>, eliminating leakage.</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228F267-BACC-42A2-AF5D-6BD9C7386FAC}"/>
              </a:ext>
            </a:extLst>
          </p:cNvPr>
          <p:cNvPicPr>
            <a:picLocks noChangeAspect="1"/>
          </p:cNvPicPr>
          <p:nvPr/>
        </p:nvPicPr>
        <p:blipFill>
          <a:blip r:embed="rId2"/>
          <a:stretch>
            <a:fillRect/>
          </a:stretch>
        </p:blipFill>
        <p:spPr>
          <a:xfrm>
            <a:off x="7562088" y="1442486"/>
            <a:ext cx="4564307" cy="4187751"/>
          </a:xfrm>
          <a:prstGeom prst="rect">
            <a:avLst/>
          </a:prstGeom>
        </p:spPr>
      </p:pic>
      <p:sp>
        <p:nvSpPr>
          <p:cNvPr id="14"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3A090626-D31B-4878-B2B7-5F30807C8A36}"/>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864741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FCC04-62FC-4A85-8737-0CF1DB4AFA60}"/>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Dynamic latches and register</a:t>
            </a:r>
          </a:p>
        </p:txBody>
      </p:sp>
      <p:sp>
        <p:nvSpPr>
          <p:cNvPr id="3" name="Content Placeholder 2">
            <a:extLst>
              <a:ext uri="{FF2B5EF4-FFF2-40B4-BE49-F238E27FC236}">
                <a16:creationId xmlns:a16="http://schemas.microsoft.com/office/drawing/2014/main" id="{FB531809-D9A6-4BC2-9D09-0F3E080E2B71}"/>
              </a:ext>
            </a:extLst>
          </p:cNvPr>
          <p:cNvSpPr>
            <a:spLocks noGrp="1"/>
          </p:cNvSpPr>
          <p:nvPr>
            <p:ph idx="1"/>
          </p:nvPr>
        </p:nvSpPr>
        <p:spPr>
          <a:xfrm>
            <a:off x="821932" y="1366463"/>
            <a:ext cx="11065267" cy="4769345"/>
          </a:xfrm>
        </p:spPr>
        <p:txBody>
          <a:bodyPr/>
          <a:lstStyle/>
          <a:p>
            <a:pPr algn="just"/>
            <a:r>
              <a:rPr lang="en-US" dirty="0">
                <a:latin typeface="Arial" panose="020B0604020202020204" pitchFamily="34" charset="0"/>
                <a:cs typeface="Arial" panose="020B0604020202020204" pitchFamily="34" charset="0"/>
              </a:rPr>
              <a:t>Storage in a static sequential circuit relies on the concept that a cross-coupled inverter pair produces a bistable element and can thus be used to memorize binary values.</a:t>
            </a:r>
          </a:p>
          <a:p>
            <a:pPr algn="just"/>
            <a:r>
              <a:rPr lang="en-US" sz="1800" b="0" i="0" u="none" strike="noStrike" baseline="0" dirty="0">
                <a:latin typeface="Arial" panose="020B0604020202020204" pitchFamily="34" charset="0"/>
                <a:cs typeface="Arial" panose="020B0604020202020204" pitchFamily="34" charset="0"/>
              </a:rPr>
              <a:t>The major disadvantage of the static gate, however, is its complexity. When registers are used in computational structures that are constantly clocked such as pipelined data path, the requirement that the memory should hold state for extended periods. </a:t>
            </a:r>
          </a:p>
          <a:p>
            <a:pPr algn="l"/>
            <a:r>
              <a:rPr lang="en-US" sz="1800" b="0" i="0" u="none" strike="noStrike" baseline="0" dirty="0">
                <a:latin typeface="Arial" panose="020B0604020202020204" pitchFamily="34" charset="0"/>
                <a:cs typeface="Arial" panose="020B0604020202020204" pitchFamily="34" charset="0"/>
              </a:rPr>
              <a:t>There is a class of circuits based on temporary storage of charge on parasitic </a:t>
            </a:r>
            <a:r>
              <a:rPr lang="en-IN" sz="1800" b="0" i="0" u="none" strike="noStrike" baseline="0" dirty="0">
                <a:latin typeface="Arial" panose="020B0604020202020204" pitchFamily="34" charset="0"/>
                <a:cs typeface="Arial" panose="020B0604020202020204" pitchFamily="34" charset="0"/>
              </a:rPr>
              <a:t>capacitors. The absence of charge </a:t>
            </a:r>
            <a:r>
              <a:rPr lang="en-US" sz="1800" b="0" i="0" u="none" strike="noStrike" baseline="0" dirty="0">
                <a:latin typeface="Arial" panose="020B0604020202020204" pitchFamily="34" charset="0"/>
                <a:cs typeface="Arial" panose="020B0604020202020204" pitchFamily="34" charset="0"/>
              </a:rPr>
              <a:t>denotes a 0, while its presence stands for a stored 1. </a:t>
            </a:r>
          </a:p>
          <a:p>
            <a:pPr algn="l"/>
            <a:r>
              <a:rPr lang="en-IN" sz="1800" b="0" i="0" u="none" strike="noStrike" baseline="0" dirty="0">
                <a:latin typeface="Arial" panose="020B0604020202020204" pitchFamily="34" charset="0"/>
                <a:cs typeface="Arial" panose="020B0604020202020204" pitchFamily="34" charset="0"/>
              </a:rPr>
              <a:t>No capacitor is ideal, unfortunately, </a:t>
            </a:r>
            <a:r>
              <a:rPr lang="en-US" sz="1800" b="0" i="0" u="none" strike="noStrike" baseline="0" dirty="0">
                <a:latin typeface="Arial" panose="020B0604020202020204" pitchFamily="34" charset="0"/>
                <a:cs typeface="Arial" panose="020B0604020202020204" pitchFamily="34" charset="0"/>
              </a:rPr>
              <a:t>and some charge leakage is always present. A stored value can hence only be kept for a limited amount of time, typically in  the range of milliseconds. </a:t>
            </a:r>
          </a:p>
          <a:p>
            <a:pPr algn="l"/>
            <a:r>
              <a:rPr lang="en-US" sz="1800" b="0" i="0" u="none" strike="noStrike" baseline="0" dirty="0">
                <a:latin typeface="Arial" panose="020B0604020202020204" pitchFamily="34" charset="0"/>
                <a:cs typeface="Arial" panose="020B0604020202020204" pitchFamily="34" charset="0"/>
              </a:rPr>
              <a:t>If one wants to preserve signal integrity, a periodic </a:t>
            </a:r>
            <a:r>
              <a:rPr lang="en-US" sz="1800" b="0" i="1" u="none" strike="noStrike" baseline="0" dirty="0">
                <a:latin typeface="Arial" panose="020B0604020202020204" pitchFamily="34" charset="0"/>
                <a:cs typeface="Arial" panose="020B0604020202020204" pitchFamily="34" charset="0"/>
              </a:rPr>
              <a:t>refresh </a:t>
            </a:r>
            <a:r>
              <a:rPr lang="en-US" sz="1800" b="0" i="0" u="none" strike="noStrike" baseline="0" dirty="0">
                <a:latin typeface="Arial" panose="020B0604020202020204" pitchFamily="34" charset="0"/>
                <a:cs typeface="Arial" panose="020B0604020202020204" pitchFamily="34" charset="0"/>
              </a:rPr>
              <a:t>of its value is necessary. Hence the name </a:t>
            </a:r>
            <a:r>
              <a:rPr lang="en-US" sz="1800" b="0" i="1" u="none" strike="noStrike" baseline="0" dirty="0">
                <a:latin typeface="Arial" panose="020B0604020202020204" pitchFamily="34" charset="0"/>
                <a:cs typeface="Arial" panose="020B0604020202020204" pitchFamily="34" charset="0"/>
              </a:rPr>
              <a:t>dynamic </a:t>
            </a:r>
            <a:r>
              <a:rPr lang="en-US" sz="1800" b="0" i="0" u="none" strike="noStrike" baseline="0" dirty="0">
                <a:latin typeface="Arial" panose="020B0604020202020204" pitchFamily="34" charset="0"/>
                <a:cs typeface="Arial" panose="020B0604020202020204" pitchFamily="34" charset="0"/>
              </a:rPr>
              <a:t>storage.</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F0F7193A-A4BF-4EA4-9EA4-F11DD98F462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786897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52A65-F0C8-4687-828A-1A7FF213C391}"/>
              </a:ext>
            </a:extLst>
          </p:cNvPr>
          <p:cNvSpPr>
            <a:spLocks noGrp="1"/>
          </p:cNvSpPr>
          <p:nvPr>
            <p:ph type="title"/>
          </p:nvPr>
        </p:nvSpPr>
        <p:spPr>
          <a:xfrm>
            <a:off x="1627632" y="624109"/>
            <a:ext cx="2487168" cy="5614951"/>
          </a:xfrm>
        </p:spPr>
        <p:txBody>
          <a:bodyPr>
            <a:normAutofit/>
          </a:bodyPr>
          <a:lstStyle/>
          <a:p>
            <a:r>
              <a:rPr lang="en-IN" sz="2700" dirty="0">
                <a:latin typeface="Arial" panose="020B0604020202020204" pitchFamily="34" charset="0"/>
                <a:cs typeface="Arial" panose="020B0604020202020204" pitchFamily="34" charset="0"/>
              </a:rPr>
              <a:t>Dynamic Transmission-Gate Edge-triggered Registers</a:t>
            </a:r>
          </a:p>
        </p:txBody>
      </p:sp>
      <p:sp>
        <p:nvSpPr>
          <p:cNvPr id="3" name="Content Placeholder 2">
            <a:extLst>
              <a:ext uri="{FF2B5EF4-FFF2-40B4-BE49-F238E27FC236}">
                <a16:creationId xmlns:a16="http://schemas.microsoft.com/office/drawing/2014/main" id="{B5367F10-F5C5-4932-B6E6-2048F09AF40D}"/>
              </a:ext>
            </a:extLst>
          </p:cNvPr>
          <p:cNvSpPr>
            <a:spLocks noGrp="1"/>
          </p:cNvSpPr>
          <p:nvPr>
            <p:ph idx="1"/>
          </p:nvPr>
        </p:nvSpPr>
        <p:spPr>
          <a:xfrm>
            <a:off x="4017196" y="84406"/>
            <a:ext cx="8065213" cy="3624565"/>
          </a:xfrm>
        </p:spPr>
        <p:txBody>
          <a:bodyPr>
            <a:normAutofit/>
          </a:bodyPr>
          <a:lstStyle/>
          <a:p>
            <a:pPr algn="just">
              <a:lnSpc>
                <a:spcPct val="90000"/>
              </a:lnSpc>
            </a:pPr>
            <a:r>
              <a:rPr lang="en-US" dirty="0">
                <a:latin typeface="Arial" panose="020B0604020202020204" pitchFamily="34" charset="0"/>
                <a:cs typeface="Arial" panose="020B0604020202020204" pitchFamily="34" charset="0"/>
              </a:rPr>
              <a:t>A fully dynamic positive edge-triggered register based on the master-slave concept. </a:t>
            </a:r>
          </a:p>
          <a:p>
            <a:pPr algn="just">
              <a:lnSpc>
                <a:spcPct val="90000"/>
              </a:lnSpc>
            </a:pPr>
            <a:r>
              <a:rPr lang="en-US" b="0" i="0" u="none" strike="noStrike" baseline="0" dirty="0">
                <a:latin typeface="Arial" panose="020B0604020202020204" pitchFamily="34" charset="0"/>
                <a:cs typeface="Arial" panose="020B0604020202020204" pitchFamily="34" charset="0"/>
              </a:rPr>
              <a:t>When </a:t>
            </a:r>
            <a:r>
              <a:rPr lang="en-US" b="0" i="1" u="none" strike="noStrike" baseline="0" dirty="0">
                <a:latin typeface="Arial" panose="020B0604020202020204" pitchFamily="34" charset="0"/>
                <a:cs typeface="Arial" panose="020B0604020202020204" pitchFamily="34" charset="0"/>
              </a:rPr>
              <a:t>CLK </a:t>
            </a:r>
            <a:r>
              <a:rPr lang="en-US" b="0" i="0" u="none" strike="noStrike" baseline="0" dirty="0">
                <a:latin typeface="Arial" panose="020B0604020202020204" pitchFamily="34" charset="0"/>
                <a:cs typeface="Arial" panose="020B0604020202020204" pitchFamily="34" charset="0"/>
              </a:rPr>
              <a:t>= 0, the input data is sampled on storage node 1, which has an equivalent capacitance of </a:t>
            </a:r>
            <a:r>
              <a:rPr lang="en-US" b="0" i="1" u="none" strike="noStrike" baseline="0" dirty="0">
                <a:latin typeface="Arial" panose="020B0604020202020204" pitchFamily="34" charset="0"/>
                <a:cs typeface="Arial" panose="020B0604020202020204" pitchFamily="34" charset="0"/>
              </a:rPr>
              <a:t>C</a:t>
            </a:r>
            <a:r>
              <a:rPr lang="en-US" b="0" i="0" u="none" strike="noStrike" baseline="0" dirty="0">
                <a:latin typeface="Arial" panose="020B0604020202020204" pitchFamily="34" charset="0"/>
                <a:cs typeface="Arial" panose="020B0604020202020204" pitchFamily="34" charset="0"/>
              </a:rPr>
              <a:t>1 consisting of the gate capacitance of </a:t>
            </a:r>
            <a:r>
              <a:rPr lang="en-US" b="0" i="1" u="none" strike="noStrike" baseline="0" dirty="0">
                <a:latin typeface="Arial" panose="020B0604020202020204" pitchFamily="34" charset="0"/>
                <a:cs typeface="Arial" panose="020B0604020202020204" pitchFamily="34" charset="0"/>
              </a:rPr>
              <a:t>I</a:t>
            </a:r>
            <a:r>
              <a:rPr lang="en-US" b="0" i="0" u="none" strike="noStrike" baseline="0" dirty="0">
                <a:latin typeface="Arial" panose="020B0604020202020204" pitchFamily="34" charset="0"/>
                <a:cs typeface="Arial" panose="020B0604020202020204" pitchFamily="34" charset="0"/>
              </a:rPr>
              <a:t>1, the junction capacitance of </a:t>
            </a:r>
            <a:r>
              <a:rPr lang="en-US" b="0" i="1" u="none" strike="noStrike" baseline="0" dirty="0">
                <a:latin typeface="Arial" panose="020B0604020202020204" pitchFamily="34" charset="0"/>
                <a:cs typeface="Arial" panose="020B0604020202020204" pitchFamily="34" charset="0"/>
              </a:rPr>
              <a:t>T</a:t>
            </a:r>
            <a:r>
              <a:rPr lang="en-US" b="0" i="0" u="none" strike="noStrike" baseline="0" dirty="0">
                <a:latin typeface="Arial" panose="020B0604020202020204" pitchFamily="34" charset="0"/>
                <a:cs typeface="Arial" panose="020B0604020202020204" pitchFamily="34" charset="0"/>
              </a:rPr>
              <a:t>1, and the overlap gate capacitance of </a:t>
            </a:r>
            <a:r>
              <a:rPr lang="en-US" b="0" i="1" u="none" strike="noStrike" baseline="0" dirty="0">
                <a:latin typeface="Arial" panose="020B0604020202020204" pitchFamily="34" charset="0"/>
                <a:cs typeface="Arial" panose="020B0604020202020204" pitchFamily="34" charset="0"/>
              </a:rPr>
              <a:t>T</a:t>
            </a:r>
            <a:r>
              <a:rPr lang="en-US" b="0" i="0" u="none" strike="noStrike" baseline="0" dirty="0">
                <a:latin typeface="Arial" panose="020B0604020202020204" pitchFamily="34" charset="0"/>
                <a:cs typeface="Arial" panose="020B0604020202020204" pitchFamily="34" charset="0"/>
              </a:rPr>
              <a:t>1. </a:t>
            </a:r>
          </a:p>
          <a:p>
            <a:pPr algn="just">
              <a:lnSpc>
                <a:spcPct val="90000"/>
              </a:lnSpc>
            </a:pPr>
            <a:r>
              <a:rPr lang="en-US" b="0" i="0" u="none" strike="noStrike" baseline="0" dirty="0">
                <a:latin typeface="Arial" panose="020B0604020202020204" pitchFamily="34" charset="0"/>
                <a:cs typeface="Arial" panose="020B0604020202020204" pitchFamily="34" charset="0"/>
              </a:rPr>
              <a:t>During this period, the slave stage is in a </a:t>
            </a:r>
            <a:r>
              <a:rPr lang="en-US" b="0" i="1" u="none" strike="noStrike" baseline="0" dirty="0">
                <a:latin typeface="Arial" panose="020B0604020202020204" pitchFamily="34" charset="0"/>
                <a:cs typeface="Arial" panose="020B0604020202020204" pitchFamily="34" charset="0"/>
              </a:rPr>
              <a:t>hold </a:t>
            </a:r>
            <a:r>
              <a:rPr lang="en-US" b="0" i="0" u="none" strike="noStrike" baseline="0" dirty="0">
                <a:latin typeface="Arial" panose="020B0604020202020204" pitchFamily="34" charset="0"/>
                <a:cs typeface="Arial" panose="020B0604020202020204" pitchFamily="34" charset="0"/>
              </a:rPr>
              <a:t>mode, with node 2 in a high-impedance (floating) state.  </a:t>
            </a:r>
            <a:r>
              <a:rPr lang="en-IN" b="0" i="0" u="none" strike="noStrike" baseline="0" dirty="0">
                <a:latin typeface="Arial" panose="020B0604020202020204" pitchFamily="34" charset="0"/>
                <a:cs typeface="Arial" panose="020B0604020202020204" pitchFamily="34" charset="0"/>
              </a:rPr>
              <a:t>On the rising </a:t>
            </a:r>
            <a:r>
              <a:rPr lang="en-US" b="0" i="0" u="none" strike="noStrike" baseline="0" dirty="0">
                <a:latin typeface="Arial" panose="020B0604020202020204" pitchFamily="34" charset="0"/>
                <a:cs typeface="Arial" panose="020B0604020202020204" pitchFamily="34" charset="0"/>
              </a:rPr>
              <a:t>edge of clock, the transmission gate </a:t>
            </a:r>
            <a:r>
              <a:rPr lang="en-US" b="0" i="1" u="none" strike="noStrike" baseline="0" dirty="0">
                <a:latin typeface="Arial" panose="020B0604020202020204" pitchFamily="34" charset="0"/>
                <a:cs typeface="Arial" panose="020B0604020202020204" pitchFamily="34" charset="0"/>
              </a:rPr>
              <a:t>T</a:t>
            </a:r>
            <a:r>
              <a:rPr lang="en-US" b="0" i="0" u="none" strike="noStrike" baseline="0" dirty="0">
                <a:latin typeface="Arial" panose="020B0604020202020204" pitchFamily="34" charset="0"/>
                <a:cs typeface="Arial" panose="020B0604020202020204" pitchFamily="34" charset="0"/>
              </a:rPr>
              <a:t>2 turns on, and the value sampled on node 1 right before the rising edge propagates to the output </a:t>
            </a:r>
            <a:r>
              <a:rPr lang="en-US" b="0" i="1" u="none" strike="noStrike" baseline="0" dirty="0">
                <a:latin typeface="Arial" panose="020B0604020202020204" pitchFamily="34" charset="0"/>
                <a:cs typeface="Arial" panose="020B0604020202020204" pitchFamily="34" charset="0"/>
              </a:rPr>
              <a:t>Q. </a:t>
            </a:r>
          </a:p>
          <a:p>
            <a:pPr algn="just">
              <a:lnSpc>
                <a:spcPct val="90000"/>
              </a:lnSpc>
            </a:pPr>
            <a:r>
              <a:rPr lang="en-US" b="0" u="none" strike="noStrike" baseline="0" dirty="0">
                <a:latin typeface="Arial" panose="020B0604020202020204" pitchFamily="34" charset="0"/>
                <a:cs typeface="Arial" panose="020B0604020202020204" pitchFamily="34" charset="0"/>
              </a:rPr>
              <a:t>Node 2 now stores the inverted version of node 1. This implementation of an edge-triggered register is very efficient as it requires only 8 transistors.</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AB9636A-1125-4970-AD95-E17CC3F531BF}"/>
              </a:ext>
            </a:extLst>
          </p:cNvPr>
          <p:cNvPicPr>
            <a:picLocks noChangeAspect="1"/>
          </p:cNvPicPr>
          <p:nvPr/>
        </p:nvPicPr>
        <p:blipFill>
          <a:blip r:embed="rId2"/>
          <a:stretch>
            <a:fillRect/>
          </a:stretch>
        </p:blipFill>
        <p:spPr>
          <a:xfrm>
            <a:off x="4462410" y="3708971"/>
            <a:ext cx="7729590" cy="3064623"/>
          </a:xfrm>
          <a:prstGeom prst="rect">
            <a:avLst/>
          </a:prstGeom>
        </p:spPr>
      </p:pic>
      <p:sp>
        <p:nvSpPr>
          <p:cNvPr id="4" name="Footer Placeholder 3">
            <a:extLst>
              <a:ext uri="{FF2B5EF4-FFF2-40B4-BE49-F238E27FC236}">
                <a16:creationId xmlns:a16="http://schemas.microsoft.com/office/drawing/2014/main" id="{0E59217C-4008-431B-89C2-C5C71C97ED26}"/>
              </a:ext>
            </a:extLst>
          </p:cNvPr>
          <p:cNvSpPr>
            <a:spLocks noGrp="1"/>
          </p:cNvSpPr>
          <p:nvPr>
            <p:ph type="ftr" sz="quarter" idx="11"/>
          </p:nvPr>
        </p:nvSpPr>
        <p:spPr>
          <a:xfrm>
            <a:off x="2589212" y="627296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40680783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A27CF-F72D-42CB-BDB7-26067EAF41CB}"/>
              </a:ext>
            </a:extLst>
          </p:cNvPr>
          <p:cNvSpPr>
            <a:spLocks noGrp="1"/>
          </p:cNvSpPr>
          <p:nvPr>
            <p:ph type="title"/>
          </p:nvPr>
        </p:nvSpPr>
        <p:spPr>
          <a:xfrm>
            <a:off x="1643865" y="624110"/>
            <a:ext cx="10048126" cy="1280890"/>
          </a:xfrm>
        </p:spPr>
        <p:txBody>
          <a:bodyPr/>
          <a:lstStyle/>
          <a:p>
            <a:r>
              <a:rPr kumimoji="0" lang="en-IN" sz="32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mj-ea"/>
                <a:cs typeface="Arial" panose="020B0604020202020204" pitchFamily="34" charset="0"/>
              </a:rPr>
              <a:t>Continue…..</a:t>
            </a:r>
            <a:endParaRPr lang="en-IN" dirty="0"/>
          </a:p>
        </p:txBody>
      </p:sp>
      <p:sp>
        <p:nvSpPr>
          <p:cNvPr id="3" name="Content Placeholder 2">
            <a:extLst>
              <a:ext uri="{FF2B5EF4-FFF2-40B4-BE49-F238E27FC236}">
                <a16:creationId xmlns:a16="http://schemas.microsoft.com/office/drawing/2014/main" id="{E15257D8-A9E2-42FA-9C0A-65C2EF0FAED2}"/>
              </a:ext>
            </a:extLst>
          </p:cNvPr>
          <p:cNvSpPr>
            <a:spLocks noGrp="1"/>
          </p:cNvSpPr>
          <p:nvPr>
            <p:ph idx="1"/>
          </p:nvPr>
        </p:nvSpPr>
        <p:spPr>
          <a:xfrm>
            <a:off x="698644" y="1458930"/>
            <a:ext cx="11157734" cy="4676878"/>
          </a:xfrm>
        </p:spPr>
        <p:txBody>
          <a:bodyPr/>
          <a:lstStyle/>
          <a:p>
            <a:r>
              <a:rPr lang="en-US" dirty="0">
                <a:latin typeface="Arial" panose="020B0604020202020204" pitchFamily="34" charset="0"/>
                <a:cs typeface="Arial" panose="020B0604020202020204" pitchFamily="34" charset="0"/>
              </a:rPr>
              <a:t>The set-up time of this circuit is simply the delay of the transmission gate and corresponds to the time it takes node 1 to sample the D input. </a:t>
            </a:r>
          </a:p>
          <a:p>
            <a:pPr algn="just"/>
            <a:r>
              <a:rPr lang="en-US" sz="1800" b="0" i="0" u="none" strike="noStrike" baseline="0" dirty="0">
                <a:latin typeface="Arial" panose="020B0604020202020204" pitchFamily="34" charset="0"/>
                <a:cs typeface="Arial" panose="020B0604020202020204" pitchFamily="34" charset="0"/>
              </a:rPr>
              <a:t>The </a:t>
            </a:r>
            <a:r>
              <a:rPr lang="en-US" sz="1800" b="0" i="1" u="none" strike="noStrike" baseline="0" dirty="0">
                <a:latin typeface="Arial" panose="020B0604020202020204" pitchFamily="34" charset="0"/>
                <a:cs typeface="Arial" panose="020B0604020202020204" pitchFamily="34" charset="0"/>
              </a:rPr>
              <a:t>hold time </a:t>
            </a:r>
            <a:r>
              <a:rPr lang="en-US" sz="1800" b="0" i="0" u="none" strike="noStrike" baseline="0" dirty="0">
                <a:latin typeface="Arial" panose="020B0604020202020204" pitchFamily="34" charset="0"/>
                <a:cs typeface="Arial" panose="020B0604020202020204" pitchFamily="34" charset="0"/>
              </a:rPr>
              <a:t>is approximately zero, since the transmission gate is turned </a:t>
            </a:r>
            <a:r>
              <a:rPr lang="en-US" sz="1800" b="0" i="1" u="none" strike="noStrike" baseline="0" dirty="0">
                <a:latin typeface="Arial" panose="020B0604020202020204" pitchFamily="34" charset="0"/>
                <a:cs typeface="Arial" panose="020B0604020202020204" pitchFamily="34" charset="0"/>
              </a:rPr>
              <a:t>off </a:t>
            </a:r>
            <a:r>
              <a:rPr lang="en-US" sz="1800" b="0" i="0" u="none" strike="noStrike" baseline="0" dirty="0">
                <a:latin typeface="Arial" panose="020B0604020202020204" pitchFamily="34" charset="0"/>
                <a:cs typeface="Arial" panose="020B0604020202020204" pitchFamily="34" charset="0"/>
              </a:rPr>
              <a:t>on the clock edge and further inputs changes </a:t>
            </a:r>
            <a:r>
              <a:rPr lang="en-IN" sz="1800" b="0" i="0" u="none" strike="noStrike" baseline="0" dirty="0">
                <a:latin typeface="Arial" panose="020B0604020202020204" pitchFamily="34" charset="0"/>
                <a:cs typeface="Arial" panose="020B0604020202020204" pitchFamily="34" charset="0"/>
              </a:rPr>
              <a:t>are ignored. </a:t>
            </a:r>
          </a:p>
          <a:p>
            <a:pPr algn="l"/>
            <a:r>
              <a:rPr lang="en-US" sz="1800" b="0" u="none" strike="noStrike" baseline="0" dirty="0">
                <a:latin typeface="Arial" panose="020B0604020202020204" pitchFamily="34" charset="0"/>
                <a:cs typeface="Arial" panose="020B0604020202020204" pitchFamily="34" charset="0"/>
              </a:rPr>
              <a:t>The propagation delay (</a:t>
            </a:r>
            <a:r>
              <a:rPr lang="en-US" sz="1800" b="0" u="none" strike="noStrike" baseline="0" dirty="0" err="1">
                <a:latin typeface="Arial" panose="020B0604020202020204" pitchFamily="34" charset="0"/>
                <a:cs typeface="Arial" panose="020B0604020202020204" pitchFamily="34" charset="0"/>
              </a:rPr>
              <a:t>tc</a:t>
            </a:r>
            <a:r>
              <a:rPr lang="en-US" sz="1800" b="0" u="none" strike="noStrike" baseline="0" dirty="0">
                <a:latin typeface="Arial" panose="020B0604020202020204" pitchFamily="34" charset="0"/>
                <a:cs typeface="Arial" panose="020B0604020202020204" pitchFamily="34" charset="0"/>
              </a:rPr>
              <a:t>-q) is equal to two inverter delays plus the delay of </a:t>
            </a:r>
            <a:r>
              <a:rPr lang="en-IN" sz="1800" b="0" u="none" strike="noStrike" baseline="0" dirty="0">
                <a:latin typeface="Arial" panose="020B0604020202020204" pitchFamily="34" charset="0"/>
                <a:cs typeface="Arial" panose="020B0604020202020204" pitchFamily="34" charset="0"/>
              </a:rPr>
              <a:t>the transmission gate T2. </a:t>
            </a:r>
          </a:p>
          <a:p>
            <a:pPr algn="l"/>
            <a:r>
              <a:rPr lang="en-US" sz="1800" b="0" i="0" u="none" strike="noStrike" baseline="0" dirty="0">
                <a:latin typeface="Arial" panose="020B0604020202020204" pitchFamily="34" charset="0"/>
                <a:cs typeface="Arial" panose="020B0604020202020204" pitchFamily="34" charset="0"/>
              </a:rPr>
              <a:t>One important consideration for such a dynamic register is that the storage nodes (i.e., the state) has  to be refreshed at periodic intervals to prevent a loss due to charge leakage.</a:t>
            </a:r>
          </a:p>
          <a:p>
            <a:pPr algn="l"/>
            <a:r>
              <a:rPr lang="en-IN" dirty="0">
                <a:latin typeface="Arial" panose="020B0604020202020204" pitchFamily="34" charset="0"/>
                <a:cs typeface="Arial" panose="020B0604020202020204" pitchFamily="34" charset="0"/>
              </a:rPr>
              <a:t>T</a:t>
            </a:r>
            <a:r>
              <a:rPr lang="en-IN" sz="1800" b="0" i="0" u="none" strike="noStrike" baseline="0" dirty="0">
                <a:latin typeface="Arial" panose="020B0604020202020204" pitchFamily="34" charset="0"/>
                <a:cs typeface="Arial" panose="020B0604020202020204" pitchFamily="34" charset="0"/>
              </a:rPr>
              <a:t>he refresh </a:t>
            </a:r>
            <a:r>
              <a:rPr lang="en-US" sz="1800" b="0" i="0" u="none" strike="noStrike" baseline="0" dirty="0">
                <a:latin typeface="Arial" panose="020B0604020202020204" pitchFamily="34" charset="0"/>
                <a:cs typeface="Arial" panose="020B0604020202020204" pitchFamily="34" charset="0"/>
              </a:rPr>
              <a:t>rate is not an issue since the registers are periodically clocked, and the storage nodes are </a:t>
            </a:r>
            <a:r>
              <a:rPr lang="en-IN" sz="1800" b="0" i="0" u="none" strike="noStrike" baseline="0" dirty="0">
                <a:latin typeface="Arial" panose="020B0604020202020204" pitchFamily="34" charset="0"/>
                <a:cs typeface="Arial" panose="020B0604020202020204" pitchFamily="34" charset="0"/>
              </a:rPr>
              <a:t>constantly updated.</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C5DC13BB-A61B-4EA6-9E12-1556FA636FE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6128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3A8D0-08E3-4204-AD10-529C03718432}"/>
              </a:ext>
            </a:extLst>
          </p:cNvPr>
          <p:cNvSpPr>
            <a:spLocks noGrp="1"/>
          </p:cNvSpPr>
          <p:nvPr>
            <p:ph type="title"/>
          </p:nvPr>
        </p:nvSpPr>
        <p:spPr>
          <a:xfrm>
            <a:off x="1828801" y="624110"/>
            <a:ext cx="9675812" cy="1280890"/>
          </a:xfrm>
        </p:spPr>
        <p:txBody>
          <a:bodyPr>
            <a:normAutofit/>
          </a:bodyPr>
          <a:lstStyle/>
          <a:p>
            <a:r>
              <a:rPr lang="en-IN" sz="3200">
                <a:latin typeface="Arial" panose="020B0604020202020204" pitchFamily="34" charset="0"/>
                <a:cs typeface="Arial" panose="020B0604020202020204" pitchFamily="34" charset="0"/>
              </a:rPr>
              <a:t>Clock overlap</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1396F31-514B-4DF7-936B-AB7932821167}"/>
              </a:ext>
            </a:extLst>
          </p:cNvPr>
          <p:cNvSpPr>
            <a:spLocks noGrp="1"/>
          </p:cNvSpPr>
          <p:nvPr>
            <p:ph idx="1"/>
          </p:nvPr>
        </p:nvSpPr>
        <p:spPr>
          <a:xfrm>
            <a:off x="1089061" y="1500027"/>
            <a:ext cx="10415551" cy="4411195"/>
          </a:xfrm>
        </p:spPr>
        <p:txBody>
          <a:bodyPr/>
          <a:lstStyle/>
          <a:p>
            <a:pPr algn="just"/>
            <a:r>
              <a:rPr lang="en-US" dirty="0">
                <a:latin typeface="Arial" panose="020B0604020202020204" pitchFamily="34" charset="0"/>
                <a:cs typeface="Arial" panose="020B0604020202020204" pitchFamily="34" charset="0"/>
              </a:rPr>
              <a:t>Clock overlap is an important concern for this register</a:t>
            </a:r>
          </a:p>
          <a:p>
            <a:pPr algn="just"/>
            <a:r>
              <a:rPr lang="en-US" sz="1800" b="0" u="none" strike="noStrike" baseline="0" dirty="0">
                <a:latin typeface="Arial" panose="020B0604020202020204" pitchFamily="34" charset="0"/>
                <a:cs typeface="Arial" panose="020B0604020202020204" pitchFamily="34" charset="0"/>
              </a:rPr>
              <a:t>During  the 0-0 overlap period create a direct path  for data to flow from the D input of the register to the Q output. This is known as a race condition. </a:t>
            </a:r>
            <a:r>
              <a:rPr lang="en-US" sz="1800" b="0" i="0" u="none" strike="noStrike" baseline="0" dirty="0">
                <a:latin typeface="Arial" panose="020B0604020202020204" pitchFamily="34" charset="0"/>
                <a:cs typeface="Arial" panose="020B0604020202020204" pitchFamily="34" charset="0"/>
              </a:rPr>
              <a:t>The same is true for the 1-1 overlap region.</a:t>
            </a:r>
          </a:p>
          <a:p>
            <a:pPr algn="just"/>
            <a:r>
              <a:rPr lang="en-IN" dirty="0">
                <a:latin typeface="Arial" panose="020B0604020202020204" pitchFamily="34" charset="0"/>
                <a:cs typeface="Arial" panose="020B0604020202020204" pitchFamily="34" charset="0"/>
              </a:rPr>
              <a:t>T</a:t>
            </a:r>
            <a:r>
              <a:rPr lang="en-IN" sz="1800" b="0" u="none" strike="noStrike" baseline="0" dirty="0">
                <a:latin typeface="Arial" panose="020B0604020202020204" pitchFamily="34" charset="0"/>
                <a:cs typeface="Arial" panose="020B0604020202020204" pitchFamily="34" charset="0"/>
              </a:rPr>
              <a:t>his high-high overlap case is </a:t>
            </a:r>
            <a:r>
              <a:rPr lang="en-US" sz="1800" b="0" u="none" strike="noStrike" baseline="0" dirty="0">
                <a:latin typeface="Arial" panose="020B0604020202020204" pitchFamily="34" charset="0"/>
                <a:cs typeface="Arial" panose="020B0604020202020204" pitchFamily="34" charset="0"/>
              </a:rPr>
              <a:t>taken care off by enforcing a hold time constraint. </a:t>
            </a:r>
          </a:p>
          <a:p>
            <a:pPr algn="just"/>
            <a:r>
              <a:rPr lang="en-US" sz="1800" b="0" i="0" u="none" strike="noStrike" baseline="0" dirty="0">
                <a:latin typeface="Arial" panose="020B0604020202020204" pitchFamily="34" charset="0"/>
                <a:cs typeface="Arial" panose="020B0604020202020204" pitchFamily="34" charset="0"/>
              </a:rPr>
              <a:t>The  0-0 overlap  case can be addressed by making sure that there is enough delay between the </a:t>
            </a:r>
            <a:r>
              <a:rPr lang="en-US" sz="1800" b="0" i="1" u="none" strike="noStrike" baseline="0" dirty="0">
                <a:latin typeface="Arial" panose="020B0604020202020204" pitchFamily="34" charset="0"/>
                <a:cs typeface="Arial" panose="020B0604020202020204" pitchFamily="34" charset="0"/>
              </a:rPr>
              <a:t>D </a:t>
            </a:r>
            <a:r>
              <a:rPr lang="en-US" sz="1800" b="0" i="0" u="none" strike="noStrike" baseline="0" dirty="0">
                <a:latin typeface="Arial" panose="020B0604020202020204" pitchFamily="34" charset="0"/>
                <a:cs typeface="Arial" panose="020B0604020202020204" pitchFamily="34" charset="0"/>
              </a:rPr>
              <a:t>input and node 2 ensuring that new data sampled by the master stage does not propagate through to the slave stage.</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2E3146C8-D6C1-40EA-BB54-767F9949B4D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7" name="Picture 6">
            <a:extLst>
              <a:ext uri="{FF2B5EF4-FFF2-40B4-BE49-F238E27FC236}">
                <a16:creationId xmlns:a16="http://schemas.microsoft.com/office/drawing/2014/main" id="{DCB17939-6283-4C66-B172-7F549C1EE689}"/>
              </a:ext>
            </a:extLst>
          </p:cNvPr>
          <p:cNvPicPr>
            <a:picLocks noChangeAspect="1"/>
          </p:cNvPicPr>
          <p:nvPr/>
        </p:nvPicPr>
        <p:blipFill>
          <a:blip r:embed="rId2"/>
          <a:stretch>
            <a:fillRect/>
          </a:stretch>
        </p:blipFill>
        <p:spPr>
          <a:xfrm>
            <a:off x="1061090" y="4188466"/>
            <a:ext cx="3781725" cy="567258"/>
          </a:xfrm>
          <a:prstGeom prst="rect">
            <a:avLst/>
          </a:prstGeom>
        </p:spPr>
      </p:pic>
      <p:pic>
        <p:nvPicPr>
          <p:cNvPr id="8" name="Picture 7">
            <a:extLst>
              <a:ext uri="{FF2B5EF4-FFF2-40B4-BE49-F238E27FC236}">
                <a16:creationId xmlns:a16="http://schemas.microsoft.com/office/drawing/2014/main" id="{D5E245AE-B4D3-4565-B296-E56750862353}"/>
              </a:ext>
            </a:extLst>
          </p:cNvPr>
          <p:cNvPicPr>
            <a:picLocks noChangeAspect="1"/>
          </p:cNvPicPr>
          <p:nvPr/>
        </p:nvPicPr>
        <p:blipFill>
          <a:blip r:embed="rId3"/>
          <a:stretch>
            <a:fillRect/>
          </a:stretch>
        </p:blipFill>
        <p:spPr>
          <a:xfrm>
            <a:off x="1194238" y="5093511"/>
            <a:ext cx="2477474" cy="428793"/>
          </a:xfrm>
          <a:prstGeom prst="rect">
            <a:avLst/>
          </a:prstGeom>
        </p:spPr>
      </p:pic>
      <p:pic>
        <p:nvPicPr>
          <p:cNvPr id="9" name="Picture 8">
            <a:extLst>
              <a:ext uri="{FF2B5EF4-FFF2-40B4-BE49-F238E27FC236}">
                <a16:creationId xmlns:a16="http://schemas.microsoft.com/office/drawing/2014/main" id="{BAB5DB85-67BA-4163-B1C1-F7AC14DB601F}"/>
              </a:ext>
            </a:extLst>
          </p:cNvPr>
          <p:cNvPicPr>
            <a:picLocks noChangeAspect="1"/>
          </p:cNvPicPr>
          <p:nvPr/>
        </p:nvPicPr>
        <p:blipFill>
          <a:blip r:embed="rId4"/>
          <a:stretch>
            <a:fillRect/>
          </a:stretch>
        </p:blipFill>
        <p:spPr>
          <a:xfrm>
            <a:off x="4975963" y="4188466"/>
            <a:ext cx="7085898" cy="2524530"/>
          </a:xfrm>
          <a:prstGeom prst="rect">
            <a:avLst/>
          </a:prstGeom>
        </p:spPr>
      </p:pic>
    </p:spTree>
    <p:extLst>
      <p:ext uri="{BB962C8B-B14F-4D97-AF65-F5344CB8AC3E}">
        <p14:creationId xmlns:p14="http://schemas.microsoft.com/office/powerpoint/2010/main" val="3912911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A113B-1FD7-471F-AAFE-D2795486D338}"/>
              </a:ext>
            </a:extLst>
          </p:cNvPr>
          <p:cNvSpPr>
            <a:spLocks noGrp="1"/>
          </p:cNvSpPr>
          <p:nvPr>
            <p:ph type="title"/>
          </p:nvPr>
        </p:nvSpPr>
        <p:spPr>
          <a:xfrm>
            <a:off x="1687669" y="624110"/>
            <a:ext cx="4137059" cy="1280890"/>
          </a:xfrm>
        </p:spPr>
        <p:txBody>
          <a:bodyPr>
            <a:normAutofit/>
          </a:bodyPr>
          <a:lstStyle/>
          <a:p>
            <a:pPr>
              <a:lnSpc>
                <a:spcPct val="90000"/>
              </a:lnSpc>
            </a:pPr>
            <a:r>
              <a:rPr lang="en-US" sz="2700" dirty="0">
                <a:latin typeface="Arial" panose="020B0604020202020204" pitchFamily="34" charset="0"/>
                <a:cs typeface="Arial" panose="020B0604020202020204" pitchFamily="34" charset="0"/>
              </a:rPr>
              <a:t>C</a:t>
            </a:r>
            <a:r>
              <a:rPr lang="en-US" sz="2700" baseline="30000" dirty="0">
                <a:latin typeface="Arial" panose="020B0604020202020204" pitchFamily="34" charset="0"/>
                <a:cs typeface="Arial" panose="020B0604020202020204" pitchFamily="34" charset="0"/>
              </a:rPr>
              <a:t>2</a:t>
            </a:r>
            <a:r>
              <a:rPr lang="en-US" sz="2700" dirty="0">
                <a:latin typeface="Arial" panose="020B0604020202020204" pitchFamily="34" charset="0"/>
                <a:cs typeface="Arial" panose="020B0604020202020204" pitchFamily="34" charset="0"/>
              </a:rPr>
              <a:t>MOS—A Clock-Skew Insensitive Approach</a:t>
            </a:r>
            <a:endParaRPr lang="en-IN" sz="27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1CAC85-4AF6-4BDD-882C-0F1FBAE79249}"/>
                  </a:ext>
                </a:extLst>
              </p:cNvPr>
              <p:cNvSpPr>
                <a:spLocks noGrp="1"/>
              </p:cNvSpPr>
              <p:nvPr>
                <p:ph idx="1"/>
              </p:nvPr>
            </p:nvSpPr>
            <p:spPr>
              <a:xfrm>
                <a:off x="380144" y="1489753"/>
                <a:ext cx="6822040" cy="4744137"/>
              </a:xfrm>
            </p:spPr>
            <p:txBody>
              <a:bodyPr>
                <a:normAutofit/>
              </a:bodyPr>
              <a:lstStyle/>
              <a:p>
                <a:pPr algn="just"/>
                <a:r>
                  <a:rPr lang="en-US" sz="1700" dirty="0">
                    <a:solidFill>
                      <a:srgbClr val="000000"/>
                    </a:solidFill>
                    <a:latin typeface="Arial" panose="020B0604020202020204" pitchFamily="34" charset="0"/>
                    <a:cs typeface="Arial" panose="020B0604020202020204" pitchFamily="34" charset="0"/>
                  </a:rPr>
                  <a:t>Figure  shows an ingenious positive edge-triggered register, based on a master-slave concept insensitive to clock overlap. This circuit is called the C</a:t>
                </a:r>
                <a:r>
                  <a:rPr lang="en-US" sz="1700" baseline="30000" dirty="0">
                    <a:solidFill>
                      <a:srgbClr val="000000"/>
                    </a:solidFill>
                    <a:latin typeface="Arial" panose="020B0604020202020204" pitchFamily="34" charset="0"/>
                    <a:cs typeface="Arial" panose="020B0604020202020204" pitchFamily="34" charset="0"/>
                  </a:rPr>
                  <a:t>2</a:t>
                </a:r>
                <a:r>
                  <a:rPr lang="en-US" sz="1700" dirty="0">
                    <a:solidFill>
                      <a:srgbClr val="000000"/>
                    </a:solidFill>
                    <a:latin typeface="Arial" panose="020B0604020202020204" pitchFamily="34" charset="0"/>
                    <a:cs typeface="Arial" panose="020B0604020202020204" pitchFamily="34" charset="0"/>
                  </a:rPr>
                  <a:t>MOS (Clocked CMOS) register and operates in two phases.</a:t>
                </a:r>
              </a:p>
              <a:p>
                <a:pPr algn="just">
                  <a:lnSpc>
                    <a:spcPct val="107000"/>
                  </a:lnSpc>
                  <a:spcAft>
                    <a:spcPts val="800"/>
                  </a:spcAft>
                </a:pPr>
                <a:r>
                  <a:rPr lang="en-IN" sz="1700" i="1" dirty="0">
                    <a:solidFill>
                      <a:srgbClr val="030303"/>
                    </a:solidFill>
                    <a:effectLst/>
                    <a:latin typeface="Arial" panose="020B0604020202020204" pitchFamily="34" charset="0"/>
                    <a:ea typeface="Times New Roman" panose="02020603050405020304" pitchFamily="18" charset="0"/>
                    <a:cs typeface="Arial" panose="020B0604020202020204" pitchFamily="34" charset="0"/>
                  </a:rPr>
                  <a:t>CLK</a:t>
                </a:r>
                <a:r>
                  <a:rPr lang="en-IN" sz="1700" dirty="0">
                    <a:solidFill>
                      <a:srgbClr val="030303"/>
                    </a:solidFill>
                    <a:effectLst/>
                    <a:latin typeface="Arial" panose="020B0604020202020204" pitchFamily="34" charset="0"/>
                    <a:ea typeface="Times New Roman" panose="02020603050405020304" pitchFamily="18" charset="0"/>
                    <a:cs typeface="Arial" panose="020B0604020202020204" pitchFamily="34" charset="0"/>
                  </a:rPr>
                  <a:t>= 0( </a:t>
                </a:r>
                <a14:m>
                  <m:oMath xmlns:m="http://schemas.openxmlformats.org/officeDocument/2006/math">
                    <m:acc>
                      <m:accPr>
                        <m:chr m:val="̅"/>
                        <m:ctrlPr>
                          <a:rPr lang="en-IN" sz="1700" i="1">
                            <a:solidFill>
                              <a:srgbClr val="030303"/>
                            </a:solidFill>
                            <a:effectLst/>
                            <a:latin typeface="Cambria Math" panose="02040503050406030204" pitchFamily="18" charset="0"/>
                            <a:ea typeface="Times New Roman" panose="02020603050405020304" pitchFamily="18" charset="0"/>
                            <a:cs typeface="Arial" panose="020B0604020202020204" pitchFamily="34" charset="0"/>
                          </a:rPr>
                        </m:ctrlPr>
                      </m:accPr>
                      <m:e>
                        <m:r>
                          <a:rPr lang="en-IN" sz="1700" i="1">
                            <a:solidFill>
                              <a:srgbClr val="030303"/>
                            </a:solidFill>
                            <a:effectLst/>
                            <a:latin typeface="Cambria Math" panose="02040503050406030204" pitchFamily="18" charset="0"/>
                            <a:ea typeface="Times New Roman" panose="02020603050405020304" pitchFamily="18" charset="0"/>
                            <a:cs typeface="Arial" panose="020B0604020202020204" pitchFamily="34" charset="0"/>
                          </a:rPr>
                          <m:t>𝐶𝐿𝐾</m:t>
                        </m:r>
                      </m:e>
                    </m:acc>
                    <m:r>
                      <a:rPr lang="en-IN" sz="1700" i="1">
                        <a:solidFill>
                          <a:srgbClr val="030303"/>
                        </a:solidFill>
                        <a:effectLst/>
                        <a:latin typeface="Cambria Math" panose="02040503050406030204" pitchFamily="18" charset="0"/>
                        <a:ea typeface="Times New Roman" panose="02020603050405020304" pitchFamily="18" charset="0"/>
                        <a:cs typeface="Arial" panose="020B0604020202020204" pitchFamily="34" charset="0"/>
                      </a:rPr>
                      <m:t>=1)</m:t>
                    </m:r>
                  </m:oMath>
                </a14:m>
                <a:r>
                  <a:rPr lang="en-US" sz="1700" b="0" i="0" u="none" strike="noStrike" baseline="0" dirty="0">
                    <a:latin typeface="Arial" panose="020B0604020202020204" pitchFamily="34" charset="0"/>
                    <a:cs typeface="Arial" panose="020B0604020202020204" pitchFamily="34" charset="0"/>
                  </a:rPr>
                  <a:t>The first tri-state driver is turned on, and the master stage acts as an inverter sampling the inverted version of </a:t>
                </a:r>
                <a:r>
                  <a:rPr lang="en-US" sz="1700" b="0" i="1" u="none" strike="noStrike" baseline="0" dirty="0">
                    <a:latin typeface="Arial" panose="020B0604020202020204" pitchFamily="34" charset="0"/>
                    <a:cs typeface="Arial" panose="020B0604020202020204" pitchFamily="34" charset="0"/>
                  </a:rPr>
                  <a:t>D </a:t>
                </a:r>
                <a:r>
                  <a:rPr lang="en-US" sz="1700" b="0" i="0" u="none" strike="noStrike" baseline="0" dirty="0">
                    <a:latin typeface="Arial" panose="020B0604020202020204" pitchFamily="34" charset="0"/>
                    <a:cs typeface="Arial" panose="020B0604020202020204" pitchFamily="34" charset="0"/>
                  </a:rPr>
                  <a:t>on the internal node </a:t>
                </a:r>
                <a:r>
                  <a:rPr lang="en-US" sz="1700" b="0" i="1" u="none" strike="noStrike" baseline="0" dirty="0">
                    <a:latin typeface="Arial" panose="020B0604020202020204" pitchFamily="34" charset="0"/>
                    <a:cs typeface="Arial" panose="020B0604020202020204" pitchFamily="34" charset="0"/>
                  </a:rPr>
                  <a:t>X</a:t>
                </a:r>
                <a:r>
                  <a:rPr lang="en-US" sz="1700" b="0" i="0" u="none" strike="noStrike" baseline="0" dirty="0">
                    <a:latin typeface="Arial" panose="020B0604020202020204" pitchFamily="34" charset="0"/>
                    <a:cs typeface="Arial" panose="020B0604020202020204" pitchFamily="34" charset="0"/>
                  </a:rPr>
                  <a:t>. The master stage is in the </a:t>
                </a:r>
                <a:r>
                  <a:rPr lang="en-US" sz="1700" b="0" i="1" u="none" strike="noStrike" baseline="0" dirty="0">
                    <a:latin typeface="Arial" panose="020B0604020202020204" pitchFamily="34" charset="0"/>
                    <a:cs typeface="Arial" panose="020B0604020202020204" pitchFamily="34" charset="0"/>
                  </a:rPr>
                  <a:t>evaluation mode</a:t>
                </a:r>
                <a:r>
                  <a:rPr lang="en-US" sz="1700" b="0" i="0" u="none" strike="noStrike" baseline="0" dirty="0">
                    <a:latin typeface="Arial" panose="020B0604020202020204" pitchFamily="34" charset="0"/>
                    <a:cs typeface="Arial" panose="020B0604020202020204" pitchFamily="34" charset="0"/>
                  </a:rPr>
                  <a:t>. Meanwhile, the slave section is in a high-impedance mode, or in a </a:t>
                </a:r>
                <a:r>
                  <a:rPr lang="en-US" sz="1700" b="0" i="1" u="none" strike="noStrike" baseline="0" dirty="0">
                    <a:latin typeface="Arial" panose="020B0604020202020204" pitchFamily="34" charset="0"/>
                    <a:cs typeface="Arial" panose="020B0604020202020204" pitchFamily="34" charset="0"/>
                  </a:rPr>
                  <a:t>hold mode</a:t>
                </a:r>
                <a:r>
                  <a:rPr lang="en-US" sz="1700" b="0" i="0" u="none" strike="noStrike" baseline="0" dirty="0">
                    <a:latin typeface="Arial" panose="020B0604020202020204" pitchFamily="34" charset="0"/>
                    <a:cs typeface="Arial" panose="020B0604020202020204" pitchFamily="34" charset="0"/>
                  </a:rPr>
                  <a:t>. Both transistors </a:t>
                </a:r>
                <a:r>
                  <a:rPr lang="en-US" sz="1700" b="0" i="1" u="none" strike="noStrike" baseline="0" dirty="0">
                    <a:latin typeface="Arial" panose="020B0604020202020204" pitchFamily="34" charset="0"/>
                    <a:cs typeface="Arial" panose="020B0604020202020204" pitchFamily="34" charset="0"/>
                  </a:rPr>
                  <a:t>M</a:t>
                </a:r>
                <a:r>
                  <a:rPr lang="en-US" sz="1700" b="0" i="0" u="none" strike="noStrike" baseline="0" dirty="0">
                    <a:latin typeface="Arial" panose="020B0604020202020204" pitchFamily="34" charset="0"/>
                    <a:cs typeface="Arial" panose="020B0604020202020204" pitchFamily="34" charset="0"/>
                  </a:rPr>
                  <a:t>7 and </a:t>
                </a:r>
                <a:r>
                  <a:rPr lang="en-US" sz="1700" b="0" i="1" u="none" strike="noStrike" baseline="0" dirty="0">
                    <a:latin typeface="Arial" panose="020B0604020202020204" pitchFamily="34" charset="0"/>
                    <a:cs typeface="Arial" panose="020B0604020202020204" pitchFamily="34" charset="0"/>
                  </a:rPr>
                  <a:t>M</a:t>
                </a:r>
                <a:r>
                  <a:rPr lang="en-US" sz="1700" b="0" i="0" u="none" strike="noStrike" baseline="0" dirty="0">
                    <a:latin typeface="Arial" panose="020B0604020202020204" pitchFamily="34" charset="0"/>
                    <a:cs typeface="Arial" panose="020B0604020202020204" pitchFamily="34" charset="0"/>
                  </a:rPr>
                  <a:t>8 are off, decoupling the output from the input. The output </a:t>
                </a:r>
                <a:r>
                  <a:rPr lang="en-US" sz="1700" b="0" i="1" u="none" strike="noStrike" baseline="0" dirty="0">
                    <a:latin typeface="Arial" panose="020B0604020202020204" pitchFamily="34" charset="0"/>
                    <a:cs typeface="Arial" panose="020B0604020202020204" pitchFamily="34" charset="0"/>
                  </a:rPr>
                  <a:t>Q </a:t>
                </a:r>
                <a:r>
                  <a:rPr lang="en-US" sz="1700" b="0" i="0" u="none" strike="noStrike" baseline="0" dirty="0">
                    <a:latin typeface="Arial" panose="020B0604020202020204" pitchFamily="34" charset="0"/>
                    <a:cs typeface="Arial" panose="020B0604020202020204" pitchFamily="34" charset="0"/>
                  </a:rPr>
                  <a:t>retains its previous value stored on the output capacitor </a:t>
                </a:r>
                <a:r>
                  <a:rPr lang="en-IN" sz="1700" b="0" i="1" u="none" strike="noStrike" baseline="0" dirty="0">
                    <a:latin typeface="Arial" panose="020B0604020202020204" pitchFamily="34" charset="0"/>
                    <a:cs typeface="Arial" panose="020B0604020202020204" pitchFamily="34" charset="0"/>
                  </a:rPr>
                  <a:t>C</a:t>
                </a:r>
                <a:r>
                  <a:rPr lang="en-IN" sz="1700" b="0" i="1" u="none" strike="noStrike" baseline="-25000" dirty="0">
                    <a:latin typeface="Arial" panose="020B0604020202020204" pitchFamily="34" charset="0"/>
                    <a:cs typeface="Arial" panose="020B0604020202020204" pitchFamily="34" charset="0"/>
                  </a:rPr>
                  <a:t>L2</a:t>
                </a:r>
                <a:r>
                  <a:rPr lang="en-IN" sz="1700" b="0" i="0" u="none" strike="noStrike" baseline="0" dirty="0">
                    <a:latin typeface="Arial" panose="020B0604020202020204" pitchFamily="34" charset="0"/>
                    <a:cs typeface="Arial" panose="020B0604020202020204" pitchFamily="34" charset="0"/>
                  </a:rPr>
                  <a:t>. </a:t>
                </a:r>
              </a:p>
              <a:p>
                <a:pPr algn="just">
                  <a:lnSpc>
                    <a:spcPct val="107000"/>
                  </a:lnSpc>
                  <a:spcAft>
                    <a:spcPts val="800"/>
                  </a:spcAft>
                </a:pPr>
                <a:r>
                  <a:rPr lang="en-US" sz="1800" b="0" i="0" u="none" strike="noStrike" baseline="0" dirty="0">
                    <a:latin typeface="Times New Roman" panose="02020603050405020304" pitchFamily="18" charset="0"/>
                  </a:rPr>
                  <a:t>The roles are reversed when </a:t>
                </a:r>
                <a:r>
                  <a:rPr lang="en-US" sz="1800" b="0" i="1" u="none" strike="noStrike" baseline="0" dirty="0">
                    <a:latin typeface="Times New Roman" panose="02020603050405020304" pitchFamily="18" charset="0"/>
                  </a:rPr>
                  <a:t>CLK</a:t>
                </a:r>
                <a:r>
                  <a:rPr lang="en-US" sz="1800" b="0" i="0" u="none" strike="noStrike" baseline="0" dirty="0">
                    <a:latin typeface="Symbol" panose="05050102010706020507" pitchFamily="18" charset="2"/>
                  </a:rPr>
                  <a:t> </a:t>
                </a:r>
                <a:r>
                  <a:rPr lang="en-US" sz="1800" b="0" i="0" u="none" strike="noStrike" baseline="0" dirty="0">
                    <a:latin typeface="Times New Roman" panose="02020603050405020304" pitchFamily="18" charset="0"/>
                  </a:rPr>
                  <a:t>= 1:</a:t>
                </a:r>
                <a:endParaRPr lang="en-IN" sz="1700" dirty="0">
                  <a:solidFill>
                    <a:srgbClr val="000000"/>
                  </a:solidFill>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BA1CAC85-4AF6-4BDD-882C-0F1FBAE79249}"/>
                  </a:ext>
                </a:extLst>
              </p:cNvPr>
              <p:cNvSpPr>
                <a:spLocks noGrp="1" noRot="1" noChangeAspect="1" noMove="1" noResize="1" noEditPoints="1" noAdjustHandles="1" noChangeArrowheads="1" noChangeShapeType="1" noTextEdit="1"/>
              </p:cNvSpPr>
              <p:nvPr>
                <p:ph idx="1"/>
              </p:nvPr>
            </p:nvSpPr>
            <p:spPr>
              <a:xfrm>
                <a:off x="380144" y="1489753"/>
                <a:ext cx="6822040" cy="4744137"/>
              </a:xfrm>
              <a:blipFill>
                <a:blip r:embed="rId2"/>
                <a:stretch>
                  <a:fillRect l="-626" t="-385" r="-62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784B233A-120B-44EE-98EC-B6079AFBFAB7}"/>
              </a:ext>
            </a:extLst>
          </p:cNvPr>
          <p:cNvPicPr>
            <a:picLocks noChangeAspect="1"/>
          </p:cNvPicPr>
          <p:nvPr/>
        </p:nvPicPr>
        <p:blipFill>
          <a:blip r:embed="rId3"/>
          <a:stretch>
            <a:fillRect/>
          </a:stretch>
        </p:blipFill>
        <p:spPr>
          <a:xfrm>
            <a:off x="7366571" y="1264555"/>
            <a:ext cx="4791305" cy="4256151"/>
          </a:xfrm>
          <a:prstGeom prst="rect">
            <a:avLst/>
          </a:prstGeom>
        </p:spPr>
      </p:pic>
      <p:sp>
        <p:nvSpPr>
          <p:cNvPr id="4" name="Footer Placeholder 3">
            <a:extLst>
              <a:ext uri="{FF2B5EF4-FFF2-40B4-BE49-F238E27FC236}">
                <a16:creationId xmlns:a16="http://schemas.microsoft.com/office/drawing/2014/main" id="{1BEB8547-ADCD-4333-9C53-30CB4E5D043B}"/>
              </a:ext>
            </a:extLst>
          </p:cNvPr>
          <p:cNvSpPr>
            <a:spLocks noGrp="1"/>
          </p:cNvSpPr>
          <p:nvPr>
            <p:ph type="ftr" sz="quarter" idx="11"/>
          </p:nvPr>
        </p:nvSpPr>
        <p:spPr>
          <a:xfrm>
            <a:off x="1458930" y="6200579"/>
            <a:ext cx="8750281" cy="300354"/>
          </a:xfrm>
        </p:spPr>
        <p:txBody>
          <a:bodyPr>
            <a:normAutofit lnSpcReduction="10000"/>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70788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9BD230D-0708-4782-93C2-6421485EDE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5BAA05-6B74-4D74-B4CD-A0CA3D90C839}"/>
              </a:ext>
            </a:extLst>
          </p:cNvPr>
          <p:cNvSpPr>
            <a:spLocks noGrp="1"/>
          </p:cNvSpPr>
          <p:nvPr>
            <p:ph type="title"/>
          </p:nvPr>
        </p:nvSpPr>
        <p:spPr>
          <a:xfrm>
            <a:off x="649224" y="645106"/>
            <a:ext cx="6574536" cy="1259894"/>
          </a:xfrm>
        </p:spPr>
        <p:txBody>
          <a:bodyPr>
            <a:normAutofit/>
          </a:bodyPr>
          <a:lstStyle/>
          <a:p>
            <a:r>
              <a:rPr lang="en-IN" dirty="0">
                <a:latin typeface="Arial" panose="020B0604020202020204" pitchFamily="34" charset="0"/>
                <a:cs typeface="Arial" panose="020B0604020202020204" pitchFamily="34" charset="0"/>
              </a:rPr>
              <a:t>Continue…..</a:t>
            </a:r>
          </a:p>
        </p:txBody>
      </p:sp>
      <p:sp>
        <p:nvSpPr>
          <p:cNvPr id="13" name="Rectangle 12">
            <a:extLst>
              <a:ext uri="{FF2B5EF4-FFF2-40B4-BE49-F238E27FC236}">
                <a16:creationId xmlns:a16="http://schemas.microsoft.com/office/drawing/2014/main" id="{D630D25A-547E-4D17-B65E-FA2B888931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D714F4-233F-4A3B-ABE6-2F34B5C84197}"/>
                  </a:ext>
                </a:extLst>
              </p:cNvPr>
              <p:cNvSpPr>
                <a:spLocks noGrp="1"/>
              </p:cNvSpPr>
              <p:nvPr>
                <p:ph idx="1"/>
              </p:nvPr>
            </p:nvSpPr>
            <p:spPr>
              <a:xfrm>
                <a:off x="649224" y="1315092"/>
                <a:ext cx="6724878" cy="4815968"/>
              </a:xfrm>
            </p:spPr>
            <p:txBody>
              <a:bodyPr>
                <a:normAutofit/>
              </a:bodyPr>
              <a:lstStyle/>
              <a:p>
                <a:pPr algn="just"/>
                <a:r>
                  <a:rPr lang="en-US" dirty="0">
                    <a:latin typeface="Arial" panose="020B0604020202020204" pitchFamily="34" charset="0"/>
                    <a:cs typeface="Arial" panose="020B0604020202020204" pitchFamily="34" charset="0"/>
                  </a:rPr>
                  <a:t>A C</a:t>
                </a:r>
                <a:r>
                  <a:rPr lang="en-US" baseline="30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MOS register with CLK-</a:t>
                </a:r>
                <a14:m>
                  <m:oMath xmlns:m="http://schemas.openxmlformats.org/officeDocument/2006/math">
                    <m:acc>
                      <m:accPr>
                        <m:chr m:val="̅"/>
                        <m:ctrlPr>
                          <a:rPr lang="en-IN" i="1" smtClean="0">
                            <a:effectLst/>
                            <a:latin typeface="Cambria Math" panose="02040503050406030204" pitchFamily="18" charset="0"/>
                            <a:ea typeface="Times New Roman" panose="02020603050405020304" pitchFamily="18" charset="0"/>
                            <a:cs typeface="Arial" panose="020B0604020202020204" pitchFamily="34" charset="0"/>
                          </a:rPr>
                        </m:ctrlPr>
                      </m:accPr>
                      <m:e>
                        <m:r>
                          <m:rPr>
                            <m:sty m:val="p"/>
                          </m:rPr>
                          <a:rPr lang="en-IN" i="0">
                            <a:effectLst/>
                            <a:latin typeface="Cambria Math" panose="02040503050406030204" pitchFamily="18" charset="0"/>
                            <a:ea typeface="Times New Roman" panose="02020603050405020304" pitchFamily="18" charset="0"/>
                            <a:cs typeface="Arial" panose="020B0604020202020204" pitchFamily="34" charset="0"/>
                          </a:rPr>
                          <m:t>CLK</m:t>
                        </m:r>
                      </m:e>
                    </m:acc>
                  </m:oMath>
                </a14:m>
                <a:r>
                  <a:rPr lang="en-US" dirty="0">
                    <a:latin typeface="Arial" panose="020B0604020202020204" pitchFamily="34" charset="0"/>
                    <a:cs typeface="Arial" panose="020B0604020202020204" pitchFamily="34" charset="0"/>
                  </a:rPr>
                  <a:t> clocking is insensitive to overlap, as long as the rise and fall times of the clock edges are sufficiently small. </a:t>
                </a:r>
              </a:p>
              <a:p>
                <a:pPr algn="just"/>
                <a:r>
                  <a:rPr lang="en-US" b="0" i="0" u="none" strike="noStrike" baseline="0" dirty="0">
                    <a:latin typeface="Arial" panose="020B0604020202020204" pitchFamily="34" charset="0"/>
                    <a:cs typeface="Arial" panose="020B0604020202020204" pitchFamily="34" charset="0"/>
                  </a:rPr>
                  <a:t>In the (0-0) overlap case, the circuit simplifies to the network as shown in figure in which both PMOS devices are </a:t>
                </a:r>
                <a:r>
                  <a:rPr lang="en-US" b="0" i="1" u="none" strike="noStrike" baseline="0" dirty="0">
                    <a:latin typeface="Arial" panose="020B0604020202020204" pitchFamily="34" charset="0"/>
                    <a:cs typeface="Arial" panose="020B0604020202020204" pitchFamily="34" charset="0"/>
                  </a:rPr>
                  <a:t>on </a:t>
                </a:r>
                <a:r>
                  <a:rPr lang="en-US" b="0" i="0" u="none" strike="noStrike" baseline="0" dirty="0">
                    <a:latin typeface="Arial" panose="020B0604020202020204" pitchFamily="34" charset="0"/>
                    <a:cs typeface="Arial" panose="020B0604020202020204" pitchFamily="34" charset="0"/>
                  </a:rPr>
                  <a:t>during this period. </a:t>
                </a:r>
              </a:p>
              <a:p>
                <a:pPr algn="just"/>
                <a:r>
                  <a:rPr lang="en-US" sz="1800" b="0" i="0" u="none" strike="noStrike" baseline="0" dirty="0">
                    <a:latin typeface="Arial" panose="020B0604020202020204" pitchFamily="34" charset="0"/>
                    <a:cs typeface="Arial" panose="020B0604020202020204" pitchFamily="34" charset="0"/>
                  </a:rPr>
                  <a:t>The question is does any new data sampled during the overlap window propagate to the output Q. since data should not change on the negative edge for a </a:t>
                </a:r>
                <a:r>
                  <a:rPr lang="en-US" sz="1800" b="0" i="1" u="none" strike="noStrike" baseline="0" dirty="0">
                    <a:latin typeface="Arial" panose="020B0604020202020204" pitchFamily="34" charset="0"/>
                    <a:cs typeface="Arial" panose="020B0604020202020204" pitchFamily="34" charset="0"/>
                  </a:rPr>
                  <a:t>positive edge-triggered register</a:t>
                </a:r>
                <a:endParaRPr lang="en-US" b="0" i="0" u="none" strike="noStrike" baseline="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N</a:t>
                </a:r>
                <a:r>
                  <a:rPr lang="en-US" b="0" i="0" u="none" strike="noStrike" baseline="0" dirty="0">
                    <a:latin typeface="Arial" panose="020B0604020202020204" pitchFamily="34" charset="0"/>
                    <a:cs typeface="Arial" panose="020B0604020202020204" pitchFamily="34" charset="0"/>
                  </a:rPr>
                  <a:t>ew data is sampled on node </a:t>
                </a:r>
                <a:r>
                  <a:rPr lang="en-US" b="0" i="1" u="none" strike="noStrike" baseline="0" dirty="0">
                    <a:latin typeface="Arial" panose="020B0604020202020204" pitchFamily="34" charset="0"/>
                    <a:cs typeface="Arial" panose="020B0604020202020204" pitchFamily="34" charset="0"/>
                  </a:rPr>
                  <a:t>X </a:t>
                </a:r>
                <a:r>
                  <a:rPr lang="en-US" b="0" i="0" u="none" strike="noStrike" baseline="0" dirty="0">
                    <a:latin typeface="Arial" panose="020B0604020202020204" pitchFamily="34" charset="0"/>
                    <a:cs typeface="Arial" panose="020B0604020202020204" pitchFamily="34" charset="0"/>
                  </a:rPr>
                  <a:t>through the series PMOS devices </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2-</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4, and node </a:t>
                </a:r>
                <a:r>
                  <a:rPr lang="en-US" b="0" i="1" u="none" strike="noStrike" baseline="0" dirty="0">
                    <a:latin typeface="Arial" panose="020B0604020202020204" pitchFamily="34" charset="0"/>
                    <a:cs typeface="Arial" panose="020B0604020202020204" pitchFamily="34" charset="0"/>
                  </a:rPr>
                  <a:t>X </a:t>
                </a:r>
                <a:r>
                  <a:rPr lang="en-US" b="0" i="0" u="none" strike="noStrike" baseline="0" dirty="0">
                    <a:latin typeface="Arial" panose="020B0604020202020204" pitchFamily="34" charset="0"/>
                    <a:cs typeface="Arial" panose="020B0604020202020204" pitchFamily="34" charset="0"/>
                  </a:rPr>
                  <a:t>can make a 0-to-1 transition during the overlap period. However, this data cannot propagate to the output since the NMOS device </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7 is turned off.</a:t>
                </a:r>
              </a:p>
              <a:p>
                <a:endParaRPr lang="en-US" b="0" i="0" u="none" strike="noStrike" baseline="0"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E8D714F4-233F-4A3B-ABE6-2F34B5C84197}"/>
                  </a:ext>
                </a:extLst>
              </p:cNvPr>
              <p:cNvSpPr>
                <a:spLocks noGrp="1" noRot="1" noChangeAspect="1" noMove="1" noResize="1" noEditPoints="1" noAdjustHandles="1" noChangeArrowheads="1" noChangeShapeType="1" noTextEdit="1"/>
              </p:cNvSpPr>
              <p:nvPr>
                <p:ph idx="1"/>
              </p:nvPr>
            </p:nvSpPr>
            <p:spPr>
              <a:xfrm>
                <a:off x="649224" y="1315092"/>
                <a:ext cx="6724878" cy="4815968"/>
              </a:xfrm>
              <a:blipFill>
                <a:blip r:embed="rId3"/>
                <a:stretch>
                  <a:fillRect l="-635" t="-633" r="-725"/>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7A457C6A-2296-4943-9350-E3BDFABC23AE}"/>
              </a:ext>
            </a:extLst>
          </p:cNvPr>
          <p:cNvPicPr>
            <a:picLocks noChangeAspect="1"/>
          </p:cNvPicPr>
          <p:nvPr/>
        </p:nvPicPr>
        <p:blipFill>
          <a:blip r:embed="rId4"/>
          <a:stretch>
            <a:fillRect/>
          </a:stretch>
        </p:blipFill>
        <p:spPr>
          <a:xfrm>
            <a:off x="7562087" y="1438382"/>
            <a:ext cx="4614229" cy="3905075"/>
          </a:xfrm>
          <a:prstGeom prst="rect">
            <a:avLst/>
          </a:prstGeom>
        </p:spPr>
      </p:pic>
      <p:sp>
        <p:nvSpPr>
          <p:cNvPr id="15"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6FF8526D-CEA1-4A09-B404-62B1C0B6D0F8}"/>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746393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BD230D-0708-4782-93C2-6421485EDE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8F5221-909C-4AA9-8086-E3234DEA9F2A}"/>
              </a:ext>
            </a:extLst>
          </p:cNvPr>
          <p:cNvSpPr>
            <a:spLocks noGrp="1"/>
          </p:cNvSpPr>
          <p:nvPr>
            <p:ph type="title"/>
          </p:nvPr>
        </p:nvSpPr>
        <p:spPr>
          <a:xfrm>
            <a:off x="649224" y="645106"/>
            <a:ext cx="6574536" cy="1259894"/>
          </a:xfrm>
        </p:spPr>
        <p:txBody>
          <a:bodyPr>
            <a:normAutofit/>
          </a:bodyPr>
          <a:lstStyle/>
          <a:p>
            <a:r>
              <a:rPr lang="en-IN" dirty="0">
                <a:latin typeface="Arial" panose="020B0604020202020204" pitchFamily="34" charset="0"/>
                <a:cs typeface="Arial" panose="020B0604020202020204" pitchFamily="34" charset="0"/>
              </a:rPr>
              <a:t>Continue…..</a:t>
            </a:r>
            <a:endParaRPr lang="en-IN" dirty="0"/>
          </a:p>
        </p:txBody>
      </p:sp>
      <p:sp>
        <p:nvSpPr>
          <p:cNvPr id="12" name="Rectangle 11">
            <a:extLst>
              <a:ext uri="{FF2B5EF4-FFF2-40B4-BE49-F238E27FC236}">
                <a16:creationId xmlns:a16="http://schemas.microsoft.com/office/drawing/2014/main" id="{D630D25A-547E-4D17-B65E-FA2B888931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0D54D986-A96E-429E-BF2F-B4F4BDFAA5C8}"/>
              </a:ext>
            </a:extLst>
          </p:cNvPr>
          <p:cNvSpPr>
            <a:spLocks noGrp="1"/>
          </p:cNvSpPr>
          <p:nvPr>
            <p:ph idx="1"/>
          </p:nvPr>
        </p:nvSpPr>
        <p:spPr>
          <a:xfrm>
            <a:off x="649224" y="1561672"/>
            <a:ext cx="6049527" cy="4331181"/>
          </a:xfrm>
        </p:spPr>
        <p:txBody>
          <a:bodyPr>
            <a:normAutofit lnSpcReduction="10000"/>
          </a:bodyPr>
          <a:lstStyle/>
          <a:p>
            <a:pPr algn="just"/>
            <a:r>
              <a:rPr lang="en-US" dirty="0">
                <a:latin typeface="Arial" panose="020B0604020202020204" pitchFamily="34" charset="0"/>
                <a:cs typeface="Arial" panose="020B0604020202020204" pitchFamily="34" charset="0"/>
              </a:rPr>
              <a:t>The (1-1) overlap case, where both NMOS devices M3 and M7 are turned on, is somewhat more contentious. </a:t>
            </a:r>
          </a:p>
          <a:p>
            <a:pPr algn="just"/>
            <a:r>
              <a:rPr lang="en-US" b="0" i="0" u="none" strike="noStrike" baseline="0" dirty="0">
                <a:latin typeface="Arial" panose="020B0604020202020204" pitchFamily="34" charset="0"/>
                <a:cs typeface="Arial" panose="020B0604020202020204" pitchFamily="34" charset="0"/>
              </a:rPr>
              <a:t>The question is again if new data sampled during the overlap period (right after clock goes high) propagates to the </a:t>
            </a:r>
            <a:r>
              <a:rPr lang="en-US" b="0" i="1" u="none" strike="noStrike" baseline="0" dirty="0">
                <a:latin typeface="Arial" panose="020B0604020202020204" pitchFamily="34" charset="0"/>
                <a:cs typeface="Arial" panose="020B0604020202020204" pitchFamily="34" charset="0"/>
              </a:rPr>
              <a:t>Q </a:t>
            </a:r>
            <a:r>
              <a:rPr lang="en-US" b="0" i="0" u="none" strike="noStrike" baseline="0" dirty="0">
                <a:latin typeface="Arial" panose="020B0604020202020204" pitchFamily="34" charset="0"/>
                <a:cs typeface="Arial" panose="020B0604020202020204" pitchFamily="34" charset="0"/>
              </a:rPr>
              <a:t>output.</a:t>
            </a:r>
          </a:p>
          <a:p>
            <a:pPr algn="just"/>
            <a:r>
              <a:rPr lang="en-US" b="0" i="0" u="none" strike="noStrike" baseline="0" dirty="0">
                <a:latin typeface="Arial" panose="020B0604020202020204" pitchFamily="34" charset="0"/>
                <a:cs typeface="Arial" panose="020B0604020202020204" pitchFamily="34" charset="0"/>
              </a:rPr>
              <a:t> </a:t>
            </a:r>
            <a:r>
              <a:rPr lang="en-IN" b="0" i="0" u="none" strike="noStrike" baseline="0" dirty="0">
                <a:latin typeface="Arial" panose="020B0604020202020204" pitchFamily="34" charset="0"/>
                <a:cs typeface="Arial" panose="020B0604020202020204" pitchFamily="34" charset="0"/>
              </a:rPr>
              <a:t>A </a:t>
            </a:r>
            <a:r>
              <a:rPr lang="en-IN" b="0" i="1" u="none" strike="noStrike" baseline="0" dirty="0">
                <a:latin typeface="Arial" panose="020B0604020202020204" pitchFamily="34" charset="0"/>
                <a:cs typeface="Arial" panose="020B0604020202020204" pitchFamily="34" charset="0"/>
              </a:rPr>
              <a:t>positive </a:t>
            </a:r>
            <a:r>
              <a:rPr lang="en-US" b="0" i="1" u="none" strike="noStrike" baseline="0" dirty="0">
                <a:latin typeface="Arial" panose="020B0604020202020204" pitchFamily="34" charset="0"/>
                <a:cs typeface="Arial" panose="020B0604020202020204" pitchFamily="34" charset="0"/>
              </a:rPr>
              <a:t>edge-triggered </a:t>
            </a:r>
            <a:r>
              <a:rPr lang="en-US" b="0" i="0" u="none" strike="noStrike" baseline="0" dirty="0">
                <a:latin typeface="Arial" panose="020B0604020202020204" pitchFamily="34" charset="0"/>
                <a:cs typeface="Arial" panose="020B0604020202020204" pitchFamily="34" charset="0"/>
              </a:rPr>
              <a:t>register may only pass data that is presented at the input </a:t>
            </a:r>
            <a:r>
              <a:rPr lang="en-US" b="0" i="1" u="none" strike="noStrike" baseline="0" dirty="0">
                <a:latin typeface="Arial" panose="020B0604020202020204" pitchFamily="34" charset="0"/>
                <a:cs typeface="Arial" panose="020B0604020202020204" pitchFamily="34" charset="0"/>
              </a:rPr>
              <a:t>before </a:t>
            </a:r>
            <a:r>
              <a:rPr lang="en-US" b="0" i="0" u="none" strike="noStrike" baseline="0" dirty="0">
                <a:latin typeface="Arial" panose="020B0604020202020204" pitchFamily="34" charset="0"/>
                <a:cs typeface="Arial" panose="020B0604020202020204" pitchFamily="34" charset="0"/>
              </a:rPr>
              <a:t>the rising edge.</a:t>
            </a:r>
          </a:p>
          <a:p>
            <a:pPr algn="just"/>
            <a:r>
              <a:rPr lang="en-US" b="0" i="0" u="none" strike="noStrike" baseline="0" dirty="0">
                <a:latin typeface="Arial" panose="020B0604020202020204" pitchFamily="34" charset="0"/>
                <a:cs typeface="Arial" panose="020B0604020202020204" pitchFamily="34" charset="0"/>
              </a:rPr>
              <a:t> If the </a:t>
            </a:r>
            <a:r>
              <a:rPr lang="en-US" b="0" i="1" u="none" strike="noStrike" baseline="0" dirty="0">
                <a:latin typeface="Arial" panose="020B0604020202020204" pitchFamily="34" charset="0"/>
                <a:cs typeface="Arial" panose="020B0604020202020204" pitchFamily="34" charset="0"/>
              </a:rPr>
              <a:t>D </a:t>
            </a:r>
            <a:r>
              <a:rPr lang="en-US" b="0" i="0" u="none" strike="noStrike" baseline="0" dirty="0">
                <a:latin typeface="Arial" panose="020B0604020202020204" pitchFamily="34" charset="0"/>
                <a:cs typeface="Arial" panose="020B0604020202020204" pitchFamily="34" charset="0"/>
              </a:rPr>
              <a:t>input changes during the overlap period, node </a:t>
            </a:r>
            <a:r>
              <a:rPr lang="en-US" b="0" i="1" u="none" strike="noStrike" baseline="0" dirty="0">
                <a:latin typeface="Arial" panose="020B0604020202020204" pitchFamily="34" charset="0"/>
                <a:cs typeface="Arial" panose="020B0604020202020204" pitchFamily="34" charset="0"/>
              </a:rPr>
              <a:t>X </a:t>
            </a:r>
            <a:r>
              <a:rPr lang="en-US" b="0" i="0" u="none" strike="noStrike" baseline="0" dirty="0">
                <a:latin typeface="Arial" panose="020B0604020202020204" pitchFamily="34" charset="0"/>
                <a:cs typeface="Arial" panose="020B0604020202020204" pitchFamily="34" charset="0"/>
              </a:rPr>
              <a:t>can make a 1-to-0 transition but cannot propagate to the output.</a:t>
            </a:r>
          </a:p>
          <a:p>
            <a:pPr algn="just"/>
            <a:r>
              <a:rPr lang="en-US" dirty="0">
                <a:latin typeface="Arial" panose="020B0604020202020204" pitchFamily="34" charset="0"/>
                <a:cs typeface="Arial" panose="020B0604020202020204" pitchFamily="34" charset="0"/>
              </a:rPr>
              <a:t>The problem of changing output in (1-1) overlap can be fixed by imposing hold-constraint on the input data D.</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377C1EB-5F5C-4B32-B297-01E379C0E9EF}"/>
              </a:ext>
            </a:extLst>
          </p:cNvPr>
          <p:cNvPicPr>
            <a:picLocks noChangeAspect="1"/>
          </p:cNvPicPr>
          <p:nvPr/>
        </p:nvPicPr>
        <p:blipFill>
          <a:blip r:embed="rId2"/>
          <a:stretch>
            <a:fillRect/>
          </a:stretch>
        </p:blipFill>
        <p:spPr>
          <a:xfrm>
            <a:off x="7335748" y="1472264"/>
            <a:ext cx="4623371" cy="3948330"/>
          </a:xfrm>
          <a:prstGeom prst="rect">
            <a:avLst/>
          </a:prstGeom>
        </p:spPr>
      </p:pic>
      <p:sp>
        <p:nvSpPr>
          <p:cNvPr id="14"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5331E5DB-4AD9-4CBD-AC79-C524ACEA1DAE}"/>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7070840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BDBB8-E682-4513-949F-4E7B533B9BDC}"/>
              </a:ext>
            </a:extLst>
          </p:cNvPr>
          <p:cNvSpPr>
            <a:spLocks noGrp="1"/>
          </p:cNvSpPr>
          <p:nvPr>
            <p:ph type="title"/>
          </p:nvPr>
        </p:nvSpPr>
        <p:spPr>
          <a:xfrm>
            <a:off x="2592926" y="624110"/>
            <a:ext cx="4633466" cy="1280890"/>
          </a:xfrm>
        </p:spPr>
        <p:txBody>
          <a:bodyPr>
            <a:normAutofit/>
          </a:bodyPr>
          <a:lstStyle/>
          <a:p>
            <a:r>
              <a:rPr lang="en-IN">
                <a:latin typeface="Arial" panose="020B0604020202020204" pitchFamily="34" charset="0"/>
                <a:cs typeface="Arial" panose="020B0604020202020204" pitchFamily="34" charset="0"/>
              </a:rPr>
              <a:t>Dual-edge Registers</a:t>
            </a:r>
          </a:p>
        </p:txBody>
      </p:sp>
      <p:sp>
        <p:nvSpPr>
          <p:cNvPr id="3" name="Content Placeholder 2">
            <a:extLst>
              <a:ext uri="{FF2B5EF4-FFF2-40B4-BE49-F238E27FC236}">
                <a16:creationId xmlns:a16="http://schemas.microsoft.com/office/drawing/2014/main" id="{E57A4BF7-17A4-4175-B7A6-38C4A852606B}"/>
              </a:ext>
            </a:extLst>
          </p:cNvPr>
          <p:cNvSpPr>
            <a:spLocks noGrp="1"/>
          </p:cNvSpPr>
          <p:nvPr>
            <p:ph idx="1"/>
          </p:nvPr>
        </p:nvSpPr>
        <p:spPr>
          <a:xfrm>
            <a:off x="976045" y="1489753"/>
            <a:ext cx="6339155" cy="4561726"/>
          </a:xfrm>
        </p:spPr>
        <p:txBody>
          <a:bodyPr>
            <a:normAutofit/>
          </a:bodyPr>
          <a:lstStyle/>
          <a:p>
            <a:pPr algn="just">
              <a:lnSpc>
                <a:spcPct val="90000"/>
              </a:lnSpc>
            </a:pPr>
            <a:r>
              <a:rPr lang="en-US" dirty="0">
                <a:latin typeface="Arial" panose="020B0604020202020204" pitchFamily="34" charset="0"/>
                <a:cs typeface="Arial" panose="020B0604020202020204" pitchFamily="34" charset="0"/>
              </a:rPr>
              <a:t>So far, we have focused on edge-triggered registers that sample the input data on only one of the clock edges (rising or falling). </a:t>
            </a:r>
            <a:r>
              <a:rPr lang="en-US" b="0" i="0" u="none" strike="noStrike" baseline="0" dirty="0">
                <a:latin typeface="Arial" panose="020B0604020202020204" pitchFamily="34" charset="0"/>
                <a:cs typeface="Arial" panose="020B0604020202020204" pitchFamily="34" charset="0"/>
              </a:rPr>
              <a:t>It is also possible to design sequential circuits that sample the input on both edges. </a:t>
            </a:r>
          </a:p>
          <a:p>
            <a:pPr algn="just">
              <a:lnSpc>
                <a:spcPct val="90000"/>
              </a:lnSpc>
            </a:pPr>
            <a:r>
              <a:rPr lang="en-US" b="0" i="0" u="none" strike="noStrike" baseline="0" dirty="0">
                <a:latin typeface="Arial" panose="020B0604020202020204" pitchFamily="34" charset="0"/>
                <a:cs typeface="Arial" panose="020B0604020202020204" pitchFamily="34" charset="0"/>
              </a:rPr>
              <a:t>The advantage of this scheme is that a lower frequency clock (half of the original rate) is distributed for the same functional throughput, resulting in power savings in the clock distribution network. </a:t>
            </a:r>
          </a:p>
          <a:p>
            <a:pPr algn="just">
              <a:lnSpc>
                <a:spcPct val="90000"/>
              </a:lnSpc>
            </a:pPr>
            <a:r>
              <a:rPr lang="en-IN" b="0" u="none" strike="noStrike" baseline="0" dirty="0">
                <a:latin typeface="Arial" panose="020B0604020202020204" pitchFamily="34" charset="0"/>
                <a:cs typeface="Arial" panose="020B0604020202020204" pitchFamily="34" charset="0"/>
              </a:rPr>
              <a:t>Figure shows two parallel master slave-based</a:t>
            </a:r>
            <a:r>
              <a:rPr lang="en-US" b="0" u="none" strike="noStrike" baseline="0" dirty="0">
                <a:latin typeface="Arial" panose="020B0604020202020204" pitchFamily="34" charset="0"/>
                <a:cs typeface="Arial" panose="020B0604020202020204" pitchFamily="34" charset="0"/>
              </a:rPr>
              <a:t> edge-triggered registers, whose outputs are multiplexed using the tri-state </a:t>
            </a:r>
            <a:r>
              <a:rPr lang="en-IN" b="0" u="none" strike="noStrike" baseline="0" dirty="0">
                <a:latin typeface="Arial" panose="020B0604020202020204" pitchFamily="34" charset="0"/>
                <a:cs typeface="Arial" panose="020B0604020202020204" pitchFamily="34" charset="0"/>
              </a:rPr>
              <a:t>drivers.</a:t>
            </a:r>
          </a:p>
          <a:p>
            <a:pPr algn="just"/>
            <a:r>
              <a:rPr lang="en-US" b="0" i="0" u="none" strike="noStrike" baseline="0" dirty="0">
                <a:latin typeface="Arial" panose="020B0604020202020204" pitchFamily="34" charset="0"/>
                <a:cs typeface="Arial" panose="020B0604020202020204" pitchFamily="34" charset="0"/>
              </a:rPr>
              <a:t>When clock is high, the positive latch composed of transistors </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1-</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4 is sampling the inverted </a:t>
            </a:r>
            <a:r>
              <a:rPr lang="en-US" b="0" i="1" u="none" strike="noStrike" baseline="0" dirty="0">
                <a:latin typeface="Arial" panose="020B0604020202020204" pitchFamily="34" charset="0"/>
                <a:cs typeface="Arial" panose="020B0604020202020204" pitchFamily="34" charset="0"/>
              </a:rPr>
              <a:t>D </a:t>
            </a:r>
            <a:r>
              <a:rPr lang="en-US" b="0" i="0" u="none" strike="noStrike" baseline="0" dirty="0">
                <a:latin typeface="Arial" panose="020B0604020202020204" pitchFamily="34" charset="0"/>
                <a:cs typeface="Arial" panose="020B0604020202020204" pitchFamily="34" charset="0"/>
              </a:rPr>
              <a:t>input on node </a:t>
            </a:r>
            <a:r>
              <a:rPr lang="en-US" b="0" i="1" u="none" strike="noStrike" baseline="0" dirty="0">
                <a:latin typeface="Arial" panose="020B0604020202020204" pitchFamily="34" charset="0"/>
                <a:cs typeface="Arial" panose="020B0604020202020204" pitchFamily="34" charset="0"/>
              </a:rPr>
              <a:t>X</a:t>
            </a:r>
            <a:r>
              <a:rPr lang="en-US" b="0" i="0" u="none" strike="noStrike" baseline="0" dirty="0">
                <a:latin typeface="Arial" panose="020B0604020202020204" pitchFamily="34" charset="0"/>
                <a:cs typeface="Arial" panose="020B0604020202020204" pitchFamily="34" charset="0"/>
              </a:rPr>
              <a:t>. Node </a:t>
            </a:r>
            <a:r>
              <a:rPr lang="en-US" b="0" i="1" u="none" strike="noStrike" baseline="0" dirty="0">
                <a:latin typeface="Arial" panose="020B0604020202020204" pitchFamily="34" charset="0"/>
                <a:cs typeface="Arial" panose="020B0604020202020204" pitchFamily="34" charset="0"/>
              </a:rPr>
              <a:t>Y </a:t>
            </a:r>
            <a:r>
              <a:rPr lang="en-US" b="0" i="0" u="none" strike="noStrike" baseline="0" dirty="0">
                <a:latin typeface="Arial" panose="020B0604020202020204" pitchFamily="34" charset="0"/>
                <a:cs typeface="Arial" panose="020B0604020202020204" pitchFamily="34" charset="0"/>
              </a:rPr>
              <a:t>is held stable, since devices </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9 and </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10 are turned </a:t>
            </a:r>
            <a:r>
              <a:rPr lang="en-IN" b="0" i="1" u="none" strike="noStrike" baseline="0" dirty="0">
                <a:latin typeface="Arial" panose="020B0604020202020204" pitchFamily="34" charset="0"/>
                <a:cs typeface="Arial" panose="020B0604020202020204" pitchFamily="34" charset="0"/>
              </a:rPr>
              <a:t>off</a:t>
            </a:r>
            <a:r>
              <a:rPr lang="en-IN" b="0" i="0" u="none" strike="noStrike" baseline="0"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pic>
        <p:nvPicPr>
          <p:cNvPr id="5" name="Picture 4" descr="Diagram, schematic&#10;&#10;Description automatically generated">
            <a:extLst>
              <a:ext uri="{FF2B5EF4-FFF2-40B4-BE49-F238E27FC236}">
                <a16:creationId xmlns:a16="http://schemas.microsoft.com/office/drawing/2014/main" id="{F761C209-E7D6-496C-8BA5-8F3E8BEA679F}"/>
              </a:ext>
            </a:extLst>
          </p:cNvPr>
          <p:cNvPicPr>
            <a:picLocks noChangeAspect="1"/>
          </p:cNvPicPr>
          <p:nvPr/>
        </p:nvPicPr>
        <p:blipFill>
          <a:blip r:embed="rId2"/>
          <a:stretch>
            <a:fillRect/>
          </a:stretch>
        </p:blipFill>
        <p:spPr>
          <a:xfrm>
            <a:off x="7556410" y="718899"/>
            <a:ext cx="4582759" cy="5856561"/>
          </a:xfrm>
          <a:prstGeom prst="rect">
            <a:avLst/>
          </a:prstGeom>
        </p:spPr>
      </p:pic>
      <p:sp>
        <p:nvSpPr>
          <p:cNvPr id="4" name="Footer Placeholder 3">
            <a:extLst>
              <a:ext uri="{FF2B5EF4-FFF2-40B4-BE49-F238E27FC236}">
                <a16:creationId xmlns:a16="http://schemas.microsoft.com/office/drawing/2014/main" id="{3F864026-4FDD-429F-9FBE-CE4EFA3770D2}"/>
              </a:ext>
            </a:extLst>
          </p:cNvPr>
          <p:cNvSpPr>
            <a:spLocks noGrp="1"/>
          </p:cNvSpPr>
          <p:nvPr>
            <p:ph type="ftr" sz="quarter" idx="11"/>
          </p:nvPr>
        </p:nvSpPr>
        <p:spPr>
          <a:xfrm>
            <a:off x="2589212"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699455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ADA3B-3927-4B40-9042-F4D2FF3720F2}"/>
              </a:ext>
            </a:extLst>
          </p:cNvPr>
          <p:cNvSpPr>
            <a:spLocks noGrp="1"/>
          </p:cNvSpPr>
          <p:nvPr>
            <p:ph type="title"/>
          </p:nvPr>
        </p:nvSpPr>
        <p:spPr>
          <a:xfrm>
            <a:off x="1869897" y="624110"/>
            <a:ext cx="9634715" cy="1280890"/>
          </a:xfrm>
        </p:spPr>
        <p:txBody>
          <a:bodyPr/>
          <a:lstStyle/>
          <a:p>
            <a:r>
              <a:rPr lang="en-IN" dirty="0"/>
              <a:t>Continue….</a:t>
            </a:r>
          </a:p>
        </p:txBody>
      </p:sp>
      <p:sp>
        <p:nvSpPr>
          <p:cNvPr id="3" name="Content Placeholder 2">
            <a:extLst>
              <a:ext uri="{FF2B5EF4-FFF2-40B4-BE49-F238E27FC236}">
                <a16:creationId xmlns:a16="http://schemas.microsoft.com/office/drawing/2014/main" id="{6C5B7D44-29DE-440F-978F-8F4A0E86693B}"/>
              </a:ext>
            </a:extLst>
          </p:cNvPr>
          <p:cNvSpPr>
            <a:spLocks noGrp="1"/>
          </p:cNvSpPr>
          <p:nvPr>
            <p:ph idx="1"/>
          </p:nvPr>
        </p:nvSpPr>
        <p:spPr>
          <a:xfrm>
            <a:off x="1222625" y="1541124"/>
            <a:ext cx="10281987" cy="4370098"/>
          </a:xfrm>
        </p:spPr>
        <p:txBody>
          <a:bodyPr/>
          <a:lstStyle/>
          <a:p>
            <a:pPr algn="just"/>
            <a:r>
              <a:rPr lang="en-US" dirty="0">
                <a:latin typeface="Arial" panose="020B0604020202020204" pitchFamily="34" charset="0"/>
                <a:cs typeface="Arial" panose="020B0604020202020204" pitchFamily="34" charset="0"/>
              </a:rPr>
              <a:t>On the falling edge of the clock, the top slave latch M5-M8 turns on, and drives the inverted value of X to the Q output. </a:t>
            </a:r>
          </a:p>
          <a:p>
            <a:pPr algn="just"/>
            <a:r>
              <a:rPr lang="en-US" sz="1800" b="0" i="0" u="none" strike="noStrike" baseline="0" dirty="0">
                <a:latin typeface="Arial" panose="020B0604020202020204" pitchFamily="34" charset="0"/>
                <a:cs typeface="Arial" panose="020B0604020202020204" pitchFamily="34" charset="0"/>
              </a:rPr>
              <a:t>During the low phase, the bottom master latch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1,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4,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9,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10) is turned on, sampling the inverted </a:t>
            </a:r>
            <a:r>
              <a:rPr lang="en-US" sz="1800" b="0" i="1" u="none" strike="noStrike" baseline="0" dirty="0">
                <a:latin typeface="Arial" panose="020B0604020202020204" pitchFamily="34" charset="0"/>
                <a:cs typeface="Arial" panose="020B0604020202020204" pitchFamily="34" charset="0"/>
              </a:rPr>
              <a:t>D </a:t>
            </a:r>
            <a:r>
              <a:rPr lang="en-US" sz="1800" b="0" i="0" u="none" strike="noStrike" baseline="0" dirty="0">
                <a:latin typeface="Arial" panose="020B0604020202020204" pitchFamily="34" charset="0"/>
                <a:cs typeface="Arial" panose="020B0604020202020204" pitchFamily="34" charset="0"/>
              </a:rPr>
              <a:t>input on node </a:t>
            </a:r>
            <a:r>
              <a:rPr lang="en-US" sz="1800" b="0" i="1" u="none" strike="noStrike" baseline="0" dirty="0">
                <a:latin typeface="Arial" panose="020B0604020202020204" pitchFamily="34" charset="0"/>
                <a:cs typeface="Arial" panose="020B0604020202020204" pitchFamily="34" charset="0"/>
              </a:rPr>
              <a:t>Y</a:t>
            </a:r>
            <a:r>
              <a:rPr lang="en-US" sz="1800" b="0" i="0" u="none" strike="noStrike" baseline="0" dirty="0">
                <a:latin typeface="Arial" panose="020B0604020202020204" pitchFamily="34" charset="0"/>
                <a:cs typeface="Arial" panose="020B0604020202020204" pitchFamily="34" charset="0"/>
              </a:rPr>
              <a:t>. </a:t>
            </a:r>
          </a:p>
          <a:p>
            <a:pPr algn="just"/>
            <a:r>
              <a:rPr lang="en-US" sz="1800" b="0" u="none" strike="noStrike" baseline="0" dirty="0">
                <a:latin typeface="Arial" panose="020B0604020202020204" pitchFamily="34" charset="0"/>
                <a:cs typeface="Arial" panose="020B0604020202020204" pitchFamily="34" charset="0"/>
              </a:rPr>
              <a:t>On the rising edge, the bottom slave latch conducts, and drives the inverted version of Y on node Q. </a:t>
            </a:r>
            <a:r>
              <a:rPr lang="en-IN" sz="1800" b="0" i="0" u="none" strike="noStrike" baseline="0" dirty="0">
                <a:latin typeface="Arial" panose="020B0604020202020204" pitchFamily="34" charset="0"/>
                <a:cs typeface="Arial" panose="020B0604020202020204" pitchFamily="34" charset="0"/>
              </a:rPr>
              <a:t>Data hence changes on both edges. </a:t>
            </a:r>
          </a:p>
          <a:p>
            <a:pPr algn="just"/>
            <a:r>
              <a:rPr lang="en-US" sz="1800" b="0" i="0" u="none" strike="noStrike" baseline="0" dirty="0">
                <a:latin typeface="Arial" panose="020B0604020202020204" pitchFamily="34" charset="0"/>
                <a:cs typeface="Arial" panose="020B0604020202020204" pitchFamily="34" charset="0"/>
              </a:rPr>
              <a:t>Note that the slave latches operate in a complementary fashion — this is, only one of them is turned on during each phase of the clock.</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D9F9F5F7-3CA9-48E3-BB2C-E8EF96C0D52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854840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7888-95A0-451C-B079-F33C74912B90}"/>
              </a:ext>
            </a:extLst>
          </p:cNvPr>
          <p:cNvSpPr>
            <a:spLocks noGrp="1"/>
          </p:cNvSpPr>
          <p:nvPr>
            <p:ph type="title"/>
          </p:nvPr>
        </p:nvSpPr>
        <p:spPr>
          <a:xfrm>
            <a:off x="900701" y="624109"/>
            <a:ext cx="1863047" cy="5614951"/>
          </a:xfrm>
        </p:spPr>
        <p:txBody>
          <a:bodyPr>
            <a:normAutofit/>
          </a:bodyPr>
          <a:lstStyle/>
          <a:p>
            <a:r>
              <a:rPr lang="en-US" sz="3000" dirty="0">
                <a:latin typeface="Arial" panose="020B0604020202020204" pitchFamily="34" charset="0"/>
                <a:cs typeface="Arial" panose="020B0604020202020204" pitchFamily="34" charset="0"/>
              </a:rPr>
              <a:t>True Single-Phase Clocked Register (TSPCR)</a:t>
            </a:r>
            <a:endParaRPr lang="en-IN" sz="3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BEBAB88-F8CE-4865-A269-9D4929921A50}"/>
              </a:ext>
            </a:extLst>
          </p:cNvPr>
          <p:cNvSpPr>
            <a:spLocks noGrp="1"/>
          </p:cNvSpPr>
          <p:nvPr>
            <p:ph idx="1"/>
          </p:nvPr>
        </p:nvSpPr>
        <p:spPr>
          <a:xfrm>
            <a:off x="2763748" y="174941"/>
            <a:ext cx="9428253" cy="3535690"/>
          </a:xfrm>
        </p:spPr>
        <p:txBody>
          <a:bodyPr>
            <a:noAutofit/>
          </a:bodyPr>
          <a:lstStyle/>
          <a:p>
            <a:pPr algn="just"/>
            <a:r>
              <a:rPr lang="en-US" sz="1700" dirty="0">
                <a:latin typeface="Arial" panose="020B0604020202020204" pitchFamily="34" charset="0"/>
                <a:cs typeface="Arial" panose="020B0604020202020204" pitchFamily="34" charset="0"/>
              </a:rPr>
              <a:t>In the two-phase clocking schemes described above, care must be taken in routing the two clock signals to ensure that overlap is minimized. </a:t>
            </a:r>
          </a:p>
          <a:p>
            <a:pPr algn="just"/>
            <a:r>
              <a:rPr lang="en-US" sz="1700" b="0" i="0" u="none" strike="noStrike" baseline="0" dirty="0">
                <a:latin typeface="Arial" panose="020B0604020202020204" pitchFamily="34" charset="0"/>
                <a:cs typeface="Arial" panose="020B0604020202020204" pitchFamily="34" charset="0"/>
              </a:rPr>
              <a:t>The basic single-phase positive and negative latches. For the positive latch, when </a:t>
            </a:r>
            <a:r>
              <a:rPr lang="en-US" sz="1700" b="0" i="1" u="none" strike="noStrike" baseline="0" dirty="0">
                <a:latin typeface="Arial" panose="020B0604020202020204" pitchFamily="34" charset="0"/>
                <a:cs typeface="Arial" panose="020B0604020202020204" pitchFamily="34" charset="0"/>
              </a:rPr>
              <a:t>CLK </a:t>
            </a:r>
            <a:r>
              <a:rPr lang="en-US" sz="1700" b="0" i="0" u="none" strike="noStrike" baseline="0" dirty="0">
                <a:latin typeface="Arial" panose="020B0604020202020204" pitchFamily="34" charset="0"/>
                <a:cs typeface="Arial" panose="020B0604020202020204" pitchFamily="34" charset="0"/>
              </a:rPr>
              <a:t>is high, the latch is in the </a:t>
            </a:r>
            <a:r>
              <a:rPr lang="en-US" sz="1700" b="0" i="1" u="none" strike="noStrike" baseline="0" dirty="0">
                <a:latin typeface="Arial" panose="020B0604020202020204" pitchFamily="34" charset="0"/>
                <a:cs typeface="Arial" panose="020B0604020202020204" pitchFamily="34" charset="0"/>
              </a:rPr>
              <a:t>transparent mode and  </a:t>
            </a:r>
            <a:r>
              <a:rPr lang="en-US" sz="1700" b="0" i="0" u="none" strike="noStrike" baseline="0" dirty="0">
                <a:latin typeface="Arial" panose="020B0604020202020204" pitchFamily="34" charset="0"/>
                <a:cs typeface="Arial" panose="020B0604020202020204" pitchFamily="34" charset="0"/>
              </a:rPr>
              <a:t>corresponds to two cascaded inverters</a:t>
            </a:r>
          </a:p>
          <a:p>
            <a:pPr algn="just"/>
            <a:r>
              <a:rPr lang="en-US" sz="1700" b="0" i="0" u="none" strike="noStrike" baseline="0" dirty="0">
                <a:latin typeface="Arial" panose="020B0604020202020204" pitchFamily="34" charset="0"/>
                <a:cs typeface="Arial" panose="020B0604020202020204" pitchFamily="34" charset="0"/>
              </a:rPr>
              <a:t>On the other hand, when </a:t>
            </a:r>
            <a:r>
              <a:rPr lang="en-US" sz="1700" b="0" i="1" u="none" strike="noStrike" baseline="0" dirty="0">
                <a:latin typeface="Arial" panose="020B0604020202020204" pitchFamily="34" charset="0"/>
                <a:cs typeface="Arial" panose="020B0604020202020204" pitchFamily="34" charset="0"/>
              </a:rPr>
              <a:t>CLK </a:t>
            </a:r>
            <a:r>
              <a:rPr lang="en-US" sz="1700" b="0" i="0" u="none" strike="noStrike" baseline="0" dirty="0">
                <a:latin typeface="Arial" panose="020B0604020202020204" pitchFamily="34" charset="0"/>
                <a:cs typeface="Arial" panose="020B0604020202020204" pitchFamily="34" charset="0"/>
              </a:rPr>
              <a:t>= 0, both inverters are disabled, and the latch is in </a:t>
            </a:r>
            <a:r>
              <a:rPr lang="en-US" sz="1700" b="0" i="1" u="none" strike="noStrike" baseline="0" dirty="0">
                <a:latin typeface="Arial" panose="020B0604020202020204" pitchFamily="34" charset="0"/>
                <a:cs typeface="Arial" panose="020B0604020202020204" pitchFamily="34" charset="0"/>
              </a:rPr>
              <a:t>hold-mode</a:t>
            </a:r>
            <a:r>
              <a:rPr lang="en-US" sz="1700" b="0" i="0" u="none" strike="noStrike" baseline="0" dirty="0">
                <a:latin typeface="Arial" panose="020B0604020202020204" pitchFamily="34" charset="0"/>
                <a:cs typeface="Arial" panose="020B0604020202020204" pitchFamily="34" charset="0"/>
              </a:rPr>
              <a:t>. Only the pull-up networks are still active, while the pull-down circuits are </a:t>
            </a:r>
            <a:r>
              <a:rPr lang="en-IN" sz="1700" b="0" i="0" u="none" strike="noStrike" baseline="0" dirty="0">
                <a:latin typeface="Arial" panose="020B0604020202020204" pitchFamily="34" charset="0"/>
                <a:cs typeface="Arial" panose="020B0604020202020204" pitchFamily="34" charset="0"/>
              </a:rPr>
              <a:t>deactivated. </a:t>
            </a:r>
          </a:p>
          <a:p>
            <a:pPr algn="just"/>
            <a:r>
              <a:rPr lang="en-US" sz="1700" b="0" i="0" u="none" strike="noStrike" baseline="0" dirty="0">
                <a:latin typeface="Arial" panose="020B0604020202020204" pitchFamily="34" charset="0"/>
                <a:cs typeface="Arial" panose="020B0604020202020204" pitchFamily="34" charset="0"/>
              </a:rPr>
              <a:t>As a result of the dual-stage approach, no signal can ever propagate from the input of the latch to the output in this mode. A register can be constructed by cascading </a:t>
            </a:r>
            <a:r>
              <a:rPr lang="en-IN" sz="1700" b="0" i="0" u="none" strike="noStrike" baseline="0" dirty="0">
                <a:latin typeface="Arial" panose="020B0604020202020204" pitchFamily="34" charset="0"/>
                <a:cs typeface="Arial" panose="020B0604020202020204" pitchFamily="34" charset="0"/>
              </a:rPr>
              <a:t>positive and negative latches. </a:t>
            </a:r>
          </a:p>
          <a:p>
            <a:pPr algn="just"/>
            <a:r>
              <a:rPr lang="en-US" sz="1700" b="0" i="0" u="none" strike="noStrike" baseline="0" dirty="0">
                <a:latin typeface="Arial" panose="020B0604020202020204" pitchFamily="34" charset="0"/>
                <a:cs typeface="Arial" panose="020B0604020202020204" pitchFamily="34" charset="0"/>
              </a:rPr>
              <a:t>The main advantage is the use of a single clock phase. The disadvantage is the slight increase in the number of transistors — 12 transistors are</a:t>
            </a:r>
            <a:r>
              <a:rPr lang="en-IN" sz="1700" b="0" i="0" u="none" strike="noStrike" baseline="0" dirty="0">
                <a:latin typeface="Arial" panose="020B0604020202020204" pitchFamily="34" charset="0"/>
                <a:cs typeface="Arial" panose="020B0604020202020204" pitchFamily="34" charset="0"/>
              </a:rPr>
              <a:t>required</a:t>
            </a:r>
            <a:endParaRPr lang="en-IN" sz="17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ADBA6B6-0EBF-4546-BBCF-6C459DBB184F}"/>
              </a:ext>
            </a:extLst>
          </p:cNvPr>
          <p:cNvPicPr>
            <a:picLocks noChangeAspect="1"/>
          </p:cNvPicPr>
          <p:nvPr/>
        </p:nvPicPr>
        <p:blipFill>
          <a:blip r:embed="rId2"/>
          <a:stretch>
            <a:fillRect/>
          </a:stretch>
        </p:blipFill>
        <p:spPr>
          <a:xfrm>
            <a:off x="4351394" y="3710631"/>
            <a:ext cx="6939905" cy="3065176"/>
          </a:xfrm>
          <a:prstGeom prst="rect">
            <a:avLst/>
          </a:prstGeom>
        </p:spPr>
      </p:pic>
      <p:sp>
        <p:nvSpPr>
          <p:cNvPr id="4" name="Footer Placeholder 3">
            <a:extLst>
              <a:ext uri="{FF2B5EF4-FFF2-40B4-BE49-F238E27FC236}">
                <a16:creationId xmlns:a16="http://schemas.microsoft.com/office/drawing/2014/main" id="{B0EF4093-38F4-461B-A60B-1D2758C5CEAC}"/>
              </a:ext>
            </a:extLst>
          </p:cNvPr>
          <p:cNvSpPr>
            <a:spLocks noGrp="1"/>
          </p:cNvSpPr>
          <p:nvPr>
            <p:ph type="ftr" sz="quarter" idx="11"/>
          </p:nvPr>
        </p:nvSpPr>
        <p:spPr>
          <a:xfrm>
            <a:off x="1726058" y="6233890"/>
            <a:ext cx="8483153" cy="404203"/>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45403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FDEA4-4250-4039-B45C-64B1DF2EAA76}"/>
              </a:ext>
            </a:extLst>
          </p:cNvPr>
          <p:cNvSpPr>
            <a:spLocks noGrp="1"/>
          </p:cNvSpPr>
          <p:nvPr>
            <p:ph type="title"/>
          </p:nvPr>
        </p:nvSpPr>
        <p:spPr>
          <a:xfrm>
            <a:off x="1627632" y="624109"/>
            <a:ext cx="1105294" cy="5614951"/>
          </a:xfrm>
        </p:spPr>
        <p:txBody>
          <a:bodyPr>
            <a:normAutofit/>
          </a:bodyPr>
          <a:lstStyle/>
          <a:p>
            <a:r>
              <a:rPr lang="en-IN" sz="3200" dirty="0">
                <a:latin typeface="Arial" panose="020B0604020202020204" pitchFamily="34" charset="0"/>
                <a:cs typeface="Arial" panose="020B0604020202020204" pitchFamily="34" charset="0"/>
              </a:rPr>
              <a:t>Continue…..</a:t>
            </a:r>
          </a:p>
        </p:txBody>
      </p:sp>
      <p:sp>
        <p:nvSpPr>
          <p:cNvPr id="3" name="Content Placeholder 2">
            <a:extLst>
              <a:ext uri="{FF2B5EF4-FFF2-40B4-BE49-F238E27FC236}">
                <a16:creationId xmlns:a16="http://schemas.microsoft.com/office/drawing/2014/main" id="{63F948BA-534E-4489-846D-773BA4E9AC37}"/>
              </a:ext>
            </a:extLst>
          </p:cNvPr>
          <p:cNvSpPr>
            <a:spLocks noGrp="1"/>
          </p:cNvSpPr>
          <p:nvPr>
            <p:ph idx="1"/>
          </p:nvPr>
        </p:nvSpPr>
        <p:spPr>
          <a:xfrm>
            <a:off x="2732926" y="624110"/>
            <a:ext cx="8771686" cy="2899926"/>
          </a:xfrm>
        </p:spPr>
        <p:txBody>
          <a:bodyPr>
            <a:normAutofit/>
          </a:bodyPr>
          <a:lstStyle/>
          <a:p>
            <a:pPr algn="just"/>
            <a:r>
              <a:rPr lang="en-US" dirty="0">
                <a:latin typeface="Arial" panose="020B0604020202020204" pitchFamily="34" charset="0"/>
                <a:cs typeface="Arial" panose="020B0604020202020204" pitchFamily="34" charset="0"/>
              </a:rPr>
              <a:t>TSPC offers an additional advantage: the possibility of embedding logic functionality into the latches. This reduces the delay overhead associated with the latches. </a:t>
            </a:r>
          </a:p>
          <a:p>
            <a:pPr algn="just"/>
            <a:r>
              <a:rPr lang="en-IN" b="0" i="0" u="none" strike="noStrike" baseline="0" dirty="0">
                <a:latin typeface="Arial" panose="020B0604020202020204" pitchFamily="34" charset="0"/>
                <a:cs typeface="Arial" panose="020B0604020202020204" pitchFamily="34" charset="0"/>
              </a:rPr>
              <a:t>Figure (a) </a:t>
            </a:r>
            <a:r>
              <a:rPr lang="en-US" b="0" i="0" u="none" strike="noStrike" baseline="0" dirty="0">
                <a:latin typeface="Arial" panose="020B0604020202020204" pitchFamily="34" charset="0"/>
                <a:cs typeface="Arial" panose="020B0604020202020204" pitchFamily="34" charset="0"/>
              </a:rPr>
              <a:t> outlines the basic approach for embedding logic. </a:t>
            </a:r>
            <a:r>
              <a:rPr lang="en-IN" sz="1800" b="0" i="0" u="none" strike="noStrike" baseline="0" dirty="0">
                <a:latin typeface="Arial" panose="020B0604020202020204" pitchFamily="34" charset="0"/>
                <a:cs typeface="Arial" panose="020B0604020202020204" pitchFamily="34" charset="0"/>
              </a:rPr>
              <a:t>Figure (b) shows an</a:t>
            </a:r>
            <a:r>
              <a:rPr lang="en-US" sz="1800" b="0" i="0" u="none" strike="noStrike" baseline="0" dirty="0">
                <a:latin typeface="Arial" panose="020B0604020202020204" pitchFamily="34" charset="0"/>
                <a:cs typeface="Arial" panose="020B0604020202020204" pitchFamily="34" charset="0"/>
              </a:rPr>
              <a:t>example of a positive latch that implements the AND of </a:t>
            </a:r>
            <a:r>
              <a:rPr lang="en-US" sz="1800" b="0" i="1" u="none" strike="noStrike" baseline="0" dirty="0">
                <a:latin typeface="Arial" panose="020B0604020202020204" pitchFamily="34" charset="0"/>
                <a:cs typeface="Arial" panose="020B0604020202020204" pitchFamily="34" charset="0"/>
              </a:rPr>
              <a:t>In</a:t>
            </a:r>
            <a:r>
              <a:rPr lang="en-US" sz="1800" b="0" i="0" u="none" strike="noStrike" baseline="0" dirty="0">
                <a:latin typeface="Arial" panose="020B0604020202020204" pitchFamily="34" charset="0"/>
                <a:cs typeface="Arial" panose="020B0604020202020204" pitchFamily="34" charset="0"/>
              </a:rPr>
              <a:t>1 and </a:t>
            </a:r>
            <a:r>
              <a:rPr lang="en-US" sz="1800" b="0" i="1" u="none" strike="noStrike" baseline="0" dirty="0">
                <a:latin typeface="Arial" panose="020B0604020202020204" pitchFamily="34" charset="0"/>
                <a:cs typeface="Arial" panose="020B0604020202020204" pitchFamily="34" charset="0"/>
              </a:rPr>
              <a:t>In</a:t>
            </a:r>
            <a:r>
              <a:rPr lang="en-US" sz="1800" b="0" i="0" u="none" strike="noStrike" baseline="0" dirty="0">
                <a:latin typeface="Arial" panose="020B0604020202020204" pitchFamily="34" charset="0"/>
                <a:cs typeface="Arial" panose="020B0604020202020204" pitchFamily="34" charset="0"/>
              </a:rPr>
              <a:t>2 in addition to performing </a:t>
            </a:r>
            <a:r>
              <a:rPr lang="en-IN" sz="1800" b="0" i="0" u="none" strike="noStrike" baseline="0" dirty="0">
                <a:latin typeface="Arial" panose="020B0604020202020204" pitchFamily="34" charset="0"/>
                <a:cs typeface="Arial" panose="020B0604020202020204" pitchFamily="34" charset="0"/>
              </a:rPr>
              <a:t>the latching function.</a:t>
            </a:r>
          </a:p>
          <a:p>
            <a:pPr algn="just"/>
            <a:r>
              <a:rPr lang="en-US" sz="1800" b="0" i="0" u="none" strike="noStrike" baseline="0" dirty="0">
                <a:latin typeface="Arial" panose="020B0604020202020204" pitchFamily="34" charset="0"/>
                <a:cs typeface="Arial" panose="020B0604020202020204" pitchFamily="34" charset="0"/>
              </a:rPr>
              <a:t>This approach of embedding logic into latches has been used extensively in the design of the EV4 DEC Alpha microprocessor [Dobberpuhl92] and many other high-performance processors. </a:t>
            </a:r>
            <a:endParaRPr lang="en-US" b="0" i="0" u="none" strike="noStrike" baseline="0"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7C50BC4-B7C3-4DAC-96B8-D047DE6A7D0C}"/>
              </a:ext>
            </a:extLst>
          </p:cNvPr>
          <p:cNvPicPr>
            <a:picLocks noChangeAspect="1"/>
          </p:cNvPicPr>
          <p:nvPr/>
        </p:nvPicPr>
        <p:blipFill>
          <a:blip r:embed="rId2"/>
          <a:stretch>
            <a:fillRect/>
          </a:stretch>
        </p:blipFill>
        <p:spPr>
          <a:xfrm>
            <a:off x="4931595" y="3524036"/>
            <a:ext cx="6657653" cy="3333965"/>
          </a:xfrm>
          <a:prstGeom prst="rect">
            <a:avLst/>
          </a:prstGeom>
        </p:spPr>
      </p:pic>
      <p:sp>
        <p:nvSpPr>
          <p:cNvPr id="4" name="Footer Placeholder 3">
            <a:extLst>
              <a:ext uri="{FF2B5EF4-FFF2-40B4-BE49-F238E27FC236}">
                <a16:creationId xmlns:a16="http://schemas.microsoft.com/office/drawing/2014/main" id="{BD7D3863-9476-42E8-8782-14C15F646A2D}"/>
              </a:ext>
            </a:extLst>
          </p:cNvPr>
          <p:cNvSpPr>
            <a:spLocks noGrp="1"/>
          </p:cNvSpPr>
          <p:nvPr>
            <p:ph type="ftr" sz="quarter" idx="11"/>
          </p:nvPr>
        </p:nvSpPr>
        <p:spPr>
          <a:xfrm>
            <a:off x="1715784" y="6233890"/>
            <a:ext cx="8493427" cy="404203"/>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511462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7888-95A0-451C-B079-F33C74912B90}"/>
              </a:ext>
            </a:extLst>
          </p:cNvPr>
          <p:cNvSpPr>
            <a:spLocks noGrp="1"/>
          </p:cNvSpPr>
          <p:nvPr>
            <p:ph type="title"/>
          </p:nvPr>
        </p:nvSpPr>
        <p:spPr>
          <a:xfrm>
            <a:off x="900701" y="624109"/>
            <a:ext cx="1863047" cy="5614951"/>
          </a:xfrm>
        </p:spPr>
        <p:txBody>
          <a:bodyPr>
            <a:normAutofit/>
          </a:bodyPr>
          <a:lstStyle/>
          <a:p>
            <a:r>
              <a:rPr lang="en-US" sz="3000" dirty="0">
                <a:latin typeface="Arial" panose="020B0604020202020204" pitchFamily="34" charset="0"/>
                <a:cs typeface="Arial" panose="020B0604020202020204" pitchFamily="34" charset="0"/>
              </a:rPr>
              <a:t>Continue….</a:t>
            </a:r>
            <a:endParaRPr lang="en-IN" sz="3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BEBAB88-F8CE-4865-A269-9D4929921A50}"/>
              </a:ext>
            </a:extLst>
          </p:cNvPr>
          <p:cNvSpPr>
            <a:spLocks noGrp="1"/>
          </p:cNvSpPr>
          <p:nvPr>
            <p:ph idx="1"/>
          </p:nvPr>
        </p:nvSpPr>
        <p:spPr>
          <a:xfrm>
            <a:off x="2763748" y="174941"/>
            <a:ext cx="9428253" cy="3535690"/>
          </a:xfrm>
        </p:spPr>
        <p:txBody>
          <a:bodyPr>
            <a:noAutofit/>
          </a:bodyPr>
          <a:lstStyle/>
          <a:p>
            <a:pPr algn="just"/>
            <a:r>
              <a:rPr lang="en-US" dirty="0">
                <a:latin typeface="Arial" panose="020B0604020202020204" pitchFamily="34" charset="0"/>
                <a:cs typeface="Arial" panose="020B0604020202020204" pitchFamily="34" charset="0"/>
              </a:rPr>
              <a:t>The TSPC latch circuits can be further reduced in complexity. where only the first inverter is controlled by the clock. Besides the reduced number of transistors, these circuits have the advantage that the clock load is reduced by half.</a:t>
            </a:r>
          </a:p>
          <a:p>
            <a:pPr algn="just"/>
            <a:r>
              <a:rPr lang="en-US" dirty="0">
                <a:latin typeface="Arial" panose="020B0604020202020204" pitchFamily="34" charset="0"/>
                <a:cs typeface="Arial" panose="020B0604020202020204" pitchFamily="34" charset="0"/>
              </a:rPr>
              <a:t>On the other hand, not all node voltages in the latch experience the full logic swing. For instance, the voltage at node A (for Vin = 0 V) for the positive latch maximally equals VDD– </a:t>
            </a:r>
            <a:r>
              <a:rPr lang="en-US" dirty="0" err="1">
                <a:latin typeface="Arial" panose="020B0604020202020204" pitchFamily="34" charset="0"/>
                <a:cs typeface="Arial" panose="020B0604020202020204" pitchFamily="34" charset="0"/>
              </a:rPr>
              <a:t>VTn</a:t>
            </a:r>
            <a:r>
              <a:rPr lang="en-US" dirty="0">
                <a:latin typeface="Arial" panose="020B0604020202020204" pitchFamily="34" charset="0"/>
                <a:cs typeface="Arial" panose="020B0604020202020204" pitchFamily="34" charset="0"/>
              </a:rPr>
              <a:t>, which results in a reduced drive for the output NMOS transistor and a loss in performance.</a:t>
            </a:r>
          </a:p>
          <a:p>
            <a:pPr algn="just"/>
            <a:r>
              <a:rPr lang="en-US" dirty="0">
                <a:latin typeface="Arial" panose="020B0604020202020204" pitchFamily="34" charset="0"/>
                <a:cs typeface="Arial" panose="020B0604020202020204" pitchFamily="34" charset="0"/>
              </a:rPr>
              <a:t>Similarly, the voltage on node A (for Vin = VDD) for the negative latch is only</a:t>
            </a:r>
          </a:p>
          <a:p>
            <a:pPr algn="just"/>
            <a:r>
              <a:rPr lang="en-US" dirty="0">
                <a:latin typeface="Arial" panose="020B0604020202020204" pitchFamily="34" charset="0"/>
                <a:cs typeface="Arial" panose="020B0604020202020204" pitchFamily="34" charset="0"/>
              </a:rPr>
              <a:t>driven down to |</a:t>
            </a:r>
            <a:r>
              <a:rPr lang="en-US" dirty="0" err="1">
                <a:latin typeface="Arial" panose="020B0604020202020204" pitchFamily="34" charset="0"/>
                <a:cs typeface="Arial" panose="020B0604020202020204" pitchFamily="34" charset="0"/>
              </a:rPr>
              <a:t>VTp</a:t>
            </a:r>
            <a:r>
              <a:rPr lang="en-US" dirty="0">
                <a:latin typeface="Arial" panose="020B0604020202020204" pitchFamily="34" charset="0"/>
                <a:cs typeface="Arial" panose="020B0604020202020204" pitchFamily="34" charset="0"/>
              </a:rPr>
              <a:t>|. This also limits the amount of VDD scaling possible on the latch.</a:t>
            </a:r>
          </a:p>
        </p:txBody>
      </p:sp>
      <p:sp>
        <p:nvSpPr>
          <p:cNvPr id="4" name="Footer Placeholder 3">
            <a:extLst>
              <a:ext uri="{FF2B5EF4-FFF2-40B4-BE49-F238E27FC236}">
                <a16:creationId xmlns:a16="http://schemas.microsoft.com/office/drawing/2014/main" id="{B0EF4093-38F4-461B-A60B-1D2758C5CEAC}"/>
              </a:ext>
            </a:extLst>
          </p:cNvPr>
          <p:cNvSpPr>
            <a:spLocks noGrp="1"/>
          </p:cNvSpPr>
          <p:nvPr>
            <p:ph type="ftr" sz="quarter" idx="11"/>
          </p:nvPr>
        </p:nvSpPr>
        <p:spPr>
          <a:xfrm>
            <a:off x="1726058" y="6233890"/>
            <a:ext cx="8483153" cy="404203"/>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5" name="Picture 4">
            <a:extLst>
              <a:ext uri="{FF2B5EF4-FFF2-40B4-BE49-F238E27FC236}">
                <a16:creationId xmlns:a16="http://schemas.microsoft.com/office/drawing/2014/main" id="{48FD55B2-E8E1-4D0F-9011-C2D67F589F77}"/>
              </a:ext>
            </a:extLst>
          </p:cNvPr>
          <p:cNvPicPr>
            <a:picLocks noChangeAspect="1"/>
          </p:cNvPicPr>
          <p:nvPr/>
        </p:nvPicPr>
        <p:blipFill>
          <a:blip r:embed="rId2"/>
          <a:stretch>
            <a:fillRect/>
          </a:stretch>
        </p:blipFill>
        <p:spPr>
          <a:xfrm>
            <a:off x="4530903" y="3535373"/>
            <a:ext cx="6503665" cy="3251833"/>
          </a:xfrm>
          <a:prstGeom prst="rect">
            <a:avLst/>
          </a:prstGeom>
        </p:spPr>
      </p:pic>
    </p:spTree>
    <p:extLst>
      <p:ext uri="{BB962C8B-B14F-4D97-AF65-F5344CB8AC3E}">
        <p14:creationId xmlns:p14="http://schemas.microsoft.com/office/powerpoint/2010/main" val="2405706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7888-95A0-451C-B079-F33C74912B90}"/>
              </a:ext>
            </a:extLst>
          </p:cNvPr>
          <p:cNvSpPr>
            <a:spLocks noGrp="1"/>
          </p:cNvSpPr>
          <p:nvPr>
            <p:ph type="title"/>
          </p:nvPr>
        </p:nvSpPr>
        <p:spPr>
          <a:xfrm>
            <a:off x="900701" y="624109"/>
            <a:ext cx="1863047" cy="5614951"/>
          </a:xfrm>
        </p:spPr>
        <p:txBody>
          <a:bodyPr>
            <a:normAutofit/>
          </a:bodyPr>
          <a:lstStyle/>
          <a:p>
            <a:r>
              <a:rPr lang="en-US" sz="3000" dirty="0">
                <a:latin typeface="Arial" panose="020B0604020202020204" pitchFamily="34" charset="0"/>
                <a:cs typeface="Arial" panose="020B0604020202020204" pitchFamily="34" charset="0"/>
              </a:rPr>
              <a:t>Continue….</a:t>
            </a:r>
            <a:endParaRPr lang="en-IN" sz="3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BEBAB88-F8CE-4865-A269-9D4929921A50}"/>
              </a:ext>
            </a:extLst>
          </p:cNvPr>
          <p:cNvSpPr>
            <a:spLocks noGrp="1"/>
          </p:cNvSpPr>
          <p:nvPr>
            <p:ph idx="1"/>
          </p:nvPr>
        </p:nvSpPr>
        <p:spPr>
          <a:xfrm>
            <a:off x="2763748" y="174941"/>
            <a:ext cx="9428253" cy="3535690"/>
          </a:xfrm>
        </p:spPr>
        <p:txBody>
          <a:bodyPr>
            <a:noAutofit/>
          </a:bodyPr>
          <a:lstStyle/>
          <a:p>
            <a:pPr algn="just"/>
            <a:r>
              <a:rPr lang="en-US" dirty="0">
                <a:latin typeface="Arial" panose="020B0604020202020204" pitchFamily="34" charset="0"/>
                <a:cs typeface="Arial" panose="020B0604020202020204" pitchFamily="34" charset="0"/>
              </a:rPr>
              <a:t>Figure shows the design of a specialized single-phase edge-triggered </a:t>
            </a:r>
            <a:r>
              <a:rPr lang="en-IN" sz="1800" b="0" u="none" strike="noStrike" baseline="0" dirty="0">
                <a:latin typeface="Arial" panose="020B0604020202020204" pitchFamily="34" charset="0"/>
                <a:cs typeface="Arial" panose="020B0604020202020204" pitchFamily="34" charset="0"/>
              </a:rPr>
              <a:t>register</a:t>
            </a:r>
            <a:r>
              <a:rPr lang="en-IN" sz="1800" b="0" i="0" u="none" strike="noStrike" baseline="0" dirty="0">
                <a:latin typeface="Arial" panose="020B0604020202020204" pitchFamily="34" charset="0"/>
                <a:cs typeface="Arial" panose="020B0604020202020204" pitchFamily="34" charset="0"/>
              </a:rPr>
              <a:t>. </a:t>
            </a:r>
          </a:p>
          <a:p>
            <a:pPr algn="just"/>
            <a:r>
              <a:rPr lang="en-US" sz="1800" b="0" i="0" u="none" strike="noStrike" baseline="0" dirty="0">
                <a:latin typeface="Arial" panose="020B0604020202020204" pitchFamily="34" charset="0"/>
                <a:cs typeface="Arial" panose="020B0604020202020204" pitchFamily="34" charset="0"/>
              </a:rPr>
              <a:t>When </a:t>
            </a:r>
            <a:r>
              <a:rPr lang="en-US" sz="1800" b="0" i="1" u="none" strike="noStrike" baseline="0" dirty="0">
                <a:latin typeface="Arial" panose="020B0604020202020204" pitchFamily="34" charset="0"/>
                <a:cs typeface="Arial" panose="020B0604020202020204" pitchFamily="34" charset="0"/>
              </a:rPr>
              <a:t>CLK </a:t>
            </a:r>
            <a:r>
              <a:rPr lang="en-US" sz="1800" b="0" i="0" u="none" strike="noStrike" baseline="0" dirty="0">
                <a:latin typeface="Arial" panose="020B0604020202020204" pitchFamily="34" charset="0"/>
                <a:cs typeface="Arial" panose="020B0604020202020204" pitchFamily="34" charset="0"/>
              </a:rPr>
              <a:t>= 0, the input inverter is sampling the inverted </a:t>
            </a:r>
            <a:r>
              <a:rPr lang="en-US" sz="1800" b="0" i="1" u="none" strike="noStrike" baseline="0" dirty="0">
                <a:latin typeface="Arial" panose="020B0604020202020204" pitchFamily="34" charset="0"/>
                <a:cs typeface="Arial" panose="020B0604020202020204" pitchFamily="34" charset="0"/>
              </a:rPr>
              <a:t>D </a:t>
            </a:r>
            <a:r>
              <a:rPr lang="en-US" sz="1800" b="0" i="0" u="none" strike="noStrike" baseline="0" dirty="0">
                <a:latin typeface="Arial" panose="020B0604020202020204" pitchFamily="34" charset="0"/>
                <a:cs typeface="Arial" panose="020B0604020202020204" pitchFamily="34" charset="0"/>
              </a:rPr>
              <a:t>input on node </a:t>
            </a:r>
            <a:r>
              <a:rPr lang="en-US" sz="1800" b="0" i="1" u="none" strike="noStrike" baseline="0" dirty="0">
                <a:latin typeface="Arial" panose="020B0604020202020204" pitchFamily="34" charset="0"/>
                <a:cs typeface="Arial" panose="020B0604020202020204" pitchFamily="34" charset="0"/>
              </a:rPr>
              <a:t>X</a:t>
            </a:r>
            <a:r>
              <a:rPr lang="en-US" sz="1800" b="0" i="0" u="none" strike="noStrike" baseline="0" dirty="0">
                <a:latin typeface="Arial" panose="020B0604020202020204" pitchFamily="34" charset="0"/>
                <a:cs typeface="Arial" panose="020B0604020202020204" pitchFamily="34" charset="0"/>
              </a:rPr>
              <a:t>. </a:t>
            </a:r>
          </a:p>
          <a:p>
            <a:pPr algn="just"/>
            <a:r>
              <a:rPr lang="en-IN" sz="1800" b="0" i="0" u="none" strike="noStrike" baseline="0" dirty="0">
                <a:latin typeface="Arial" panose="020B0604020202020204" pitchFamily="34" charset="0"/>
                <a:cs typeface="Arial" panose="020B0604020202020204" pitchFamily="34" charset="0"/>
              </a:rPr>
              <a:t>The second </a:t>
            </a:r>
            <a:r>
              <a:rPr lang="en-US" sz="1800" b="0" i="0" u="none" strike="noStrike" baseline="0" dirty="0">
                <a:latin typeface="Arial" panose="020B0604020202020204" pitchFamily="34" charset="0"/>
                <a:cs typeface="Arial" panose="020B0604020202020204" pitchFamily="34" charset="0"/>
              </a:rPr>
              <a:t>(dynamic) inverter is in the pre-charge mode, with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25000" dirty="0">
                <a:latin typeface="Arial" panose="020B0604020202020204" pitchFamily="34" charset="0"/>
                <a:cs typeface="Arial" panose="020B0604020202020204" pitchFamily="34" charset="0"/>
              </a:rPr>
              <a:t>6</a:t>
            </a:r>
            <a:r>
              <a:rPr lang="en-US" sz="1800" b="0" i="0" u="none" strike="noStrike" baseline="0" dirty="0">
                <a:latin typeface="Arial" panose="020B0604020202020204" pitchFamily="34" charset="0"/>
                <a:cs typeface="Arial" panose="020B0604020202020204" pitchFamily="34" charset="0"/>
              </a:rPr>
              <a:t> charging up node </a:t>
            </a:r>
            <a:r>
              <a:rPr lang="en-US" sz="1800" b="0" i="1" u="none" strike="noStrike" baseline="0" dirty="0">
                <a:latin typeface="Arial" panose="020B0604020202020204" pitchFamily="34" charset="0"/>
                <a:cs typeface="Arial" panose="020B0604020202020204" pitchFamily="34" charset="0"/>
              </a:rPr>
              <a:t>Y </a:t>
            </a:r>
            <a:r>
              <a:rPr lang="en-US" sz="1800" b="0" i="0" u="none" strike="noStrike" baseline="0" dirty="0">
                <a:latin typeface="Arial" panose="020B0604020202020204" pitchFamily="34" charset="0"/>
                <a:cs typeface="Arial" panose="020B0604020202020204" pitchFamily="34" charset="0"/>
              </a:rPr>
              <a:t>to </a:t>
            </a:r>
            <a:r>
              <a:rPr lang="en-US" sz="1800" b="0" i="1" u="none" strike="noStrike" baseline="0" dirty="0">
                <a:latin typeface="Arial" panose="020B0604020202020204" pitchFamily="34" charset="0"/>
                <a:cs typeface="Arial" panose="020B0604020202020204" pitchFamily="34" charset="0"/>
              </a:rPr>
              <a:t>V</a:t>
            </a:r>
            <a:r>
              <a:rPr lang="en-US" sz="1800" b="0" i="1" u="none" strike="noStrike" baseline="-25000" dirty="0">
                <a:latin typeface="Arial" panose="020B0604020202020204" pitchFamily="34" charset="0"/>
                <a:cs typeface="Arial" panose="020B0604020202020204" pitchFamily="34" charset="0"/>
              </a:rPr>
              <a:t>DD</a:t>
            </a:r>
            <a:r>
              <a:rPr lang="en-US" sz="1800" b="0" i="0" u="none" strike="noStrike" baseline="0" dirty="0">
                <a:latin typeface="Arial" panose="020B0604020202020204" pitchFamily="34" charset="0"/>
                <a:cs typeface="Arial" panose="020B0604020202020204" pitchFamily="34" charset="0"/>
              </a:rPr>
              <a:t>. The third inverter is in the </a:t>
            </a:r>
            <a:r>
              <a:rPr lang="en-US" sz="1800" b="0" i="1" u="none" strike="noStrike" baseline="0" dirty="0">
                <a:latin typeface="Arial" panose="020B0604020202020204" pitchFamily="34" charset="0"/>
                <a:cs typeface="Arial" panose="020B0604020202020204" pitchFamily="34" charset="0"/>
              </a:rPr>
              <a:t>hold </a:t>
            </a:r>
            <a:r>
              <a:rPr lang="en-US" sz="1800" b="0" i="0" u="none" strike="noStrike" baseline="0" dirty="0">
                <a:latin typeface="Arial" panose="020B0604020202020204" pitchFamily="34" charset="0"/>
                <a:cs typeface="Arial" panose="020B0604020202020204" pitchFamily="34" charset="0"/>
              </a:rPr>
              <a:t>mode, since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25000" dirty="0">
                <a:latin typeface="Arial" panose="020B0604020202020204" pitchFamily="34" charset="0"/>
                <a:cs typeface="Arial" panose="020B0604020202020204" pitchFamily="34" charset="0"/>
              </a:rPr>
              <a:t>8</a:t>
            </a:r>
            <a:r>
              <a:rPr lang="en-US" sz="1800" b="0" i="0" u="none" strike="noStrike" baseline="0" dirty="0">
                <a:latin typeface="Arial" panose="020B0604020202020204" pitchFamily="34" charset="0"/>
                <a:cs typeface="Arial" panose="020B0604020202020204" pitchFamily="34" charset="0"/>
              </a:rPr>
              <a:t> and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25000" dirty="0">
                <a:latin typeface="Arial" panose="020B0604020202020204" pitchFamily="34" charset="0"/>
                <a:cs typeface="Arial" panose="020B0604020202020204" pitchFamily="34" charset="0"/>
              </a:rPr>
              <a:t>9 </a:t>
            </a:r>
            <a:r>
              <a:rPr lang="en-US" sz="1800" b="0" i="0" u="none" strike="noStrike" baseline="0" dirty="0">
                <a:latin typeface="Arial" panose="020B0604020202020204" pitchFamily="34" charset="0"/>
                <a:cs typeface="Arial" panose="020B0604020202020204" pitchFamily="34" charset="0"/>
              </a:rPr>
              <a:t>are </a:t>
            </a:r>
            <a:r>
              <a:rPr lang="en-US" sz="1800" b="0" i="1" u="none" strike="noStrike" baseline="0" dirty="0">
                <a:latin typeface="Arial" panose="020B0604020202020204" pitchFamily="34" charset="0"/>
                <a:cs typeface="Arial" panose="020B0604020202020204" pitchFamily="34" charset="0"/>
              </a:rPr>
              <a:t>off</a:t>
            </a:r>
            <a:r>
              <a:rPr lang="en-US" sz="1800" b="0" i="0" u="none" strike="noStrike" baseline="0" dirty="0">
                <a:latin typeface="Arial" panose="020B0604020202020204" pitchFamily="34" charset="0"/>
                <a:cs typeface="Arial" panose="020B0604020202020204" pitchFamily="34" charset="0"/>
              </a:rPr>
              <a:t>. </a:t>
            </a:r>
          </a:p>
          <a:p>
            <a:pPr algn="just"/>
            <a:r>
              <a:rPr lang="en-US" dirty="0">
                <a:latin typeface="Arial" panose="020B0604020202020204" pitchFamily="34" charset="0"/>
                <a:cs typeface="Arial" panose="020B0604020202020204" pitchFamily="34" charset="0"/>
              </a:rPr>
              <a:t>D</a:t>
            </a:r>
            <a:r>
              <a:rPr lang="en-US" sz="1800" b="0" i="0" u="none" strike="noStrike" baseline="0" dirty="0">
                <a:latin typeface="Arial" panose="020B0604020202020204" pitchFamily="34" charset="0"/>
                <a:cs typeface="Arial" panose="020B0604020202020204" pitchFamily="34" charset="0"/>
              </a:rPr>
              <a:t>uring the low phase of the clock, the input to the final (static) inverter is holding its previous value and the output </a:t>
            </a:r>
            <a:r>
              <a:rPr lang="en-IN" sz="1800" b="0" i="1" u="none" strike="noStrike" baseline="0" dirty="0">
                <a:latin typeface="Arial" panose="020B0604020202020204" pitchFamily="34" charset="0"/>
                <a:cs typeface="Arial" panose="020B0604020202020204" pitchFamily="34" charset="0"/>
              </a:rPr>
              <a:t>Q </a:t>
            </a:r>
            <a:r>
              <a:rPr lang="en-IN" sz="1800" b="0" i="0" u="none" strike="noStrike" baseline="0" dirty="0">
                <a:latin typeface="Arial" panose="020B0604020202020204" pitchFamily="34" charset="0"/>
                <a:cs typeface="Arial" panose="020B0604020202020204" pitchFamily="34" charset="0"/>
              </a:rPr>
              <a:t>is stable. </a:t>
            </a:r>
          </a:p>
          <a:p>
            <a:pPr algn="just"/>
            <a:r>
              <a:rPr lang="en-US" sz="1800" b="0" i="0" u="none" strike="noStrike" baseline="0" dirty="0">
                <a:latin typeface="Arial" panose="020B0604020202020204" pitchFamily="34" charset="0"/>
                <a:cs typeface="Arial" panose="020B0604020202020204" pitchFamily="34" charset="0"/>
              </a:rPr>
              <a:t>On the rising edge of the clock, the dynamic inverter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4-</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6 evaluates. If </a:t>
            </a:r>
            <a:r>
              <a:rPr lang="en-US" sz="1800" b="0" i="1" u="none" strike="noStrike" baseline="0" dirty="0">
                <a:latin typeface="Arial" panose="020B0604020202020204" pitchFamily="34" charset="0"/>
                <a:cs typeface="Arial" panose="020B0604020202020204" pitchFamily="34" charset="0"/>
              </a:rPr>
              <a:t>X </a:t>
            </a:r>
            <a:r>
              <a:rPr lang="en-US" sz="1800" b="0" i="0" u="none" strike="noStrike" baseline="0" dirty="0">
                <a:latin typeface="Arial" panose="020B0604020202020204" pitchFamily="34" charset="0"/>
                <a:cs typeface="Arial" panose="020B0604020202020204" pitchFamily="34" charset="0"/>
              </a:rPr>
              <a:t>is high on the rising edge, node </a:t>
            </a:r>
            <a:r>
              <a:rPr lang="en-US" sz="1800" b="0" i="1" u="none" strike="noStrike" baseline="0" dirty="0">
                <a:latin typeface="Arial" panose="020B0604020202020204" pitchFamily="34" charset="0"/>
                <a:cs typeface="Arial" panose="020B0604020202020204" pitchFamily="34" charset="0"/>
              </a:rPr>
              <a:t>Y </a:t>
            </a:r>
            <a:r>
              <a:rPr lang="en-US" sz="1800" b="0" i="0" u="none" strike="noStrike" baseline="0" dirty="0">
                <a:latin typeface="Arial" panose="020B0604020202020204" pitchFamily="34" charset="0"/>
                <a:cs typeface="Arial" panose="020B0604020202020204" pitchFamily="34" charset="0"/>
              </a:rPr>
              <a:t>discharges. The third inverter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7-</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0" dirty="0">
                <a:latin typeface="Arial" panose="020B0604020202020204" pitchFamily="34" charset="0"/>
                <a:cs typeface="Arial" panose="020B0604020202020204" pitchFamily="34" charset="0"/>
              </a:rPr>
              <a:t>8 is on during the high phase, and the node value on </a:t>
            </a:r>
            <a:r>
              <a:rPr lang="en-US" sz="1800" b="0" i="1" u="none" strike="noStrike" baseline="0" dirty="0">
                <a:latin typeface="Arial" panose="020B0604020202020204" pitchFamily="34" charset="0"/>
                <a:cs typeface="Arial" panose="020B0604020202020204" pitchFamily="34" charset="0"/>
              </a:rPr>
              <a:t>Y </a:t>
            </a:r>
            <a:r>
              <a:rPr lang="en-US" sz="1800" b="0" i="0" u="none" strike="noStrike" baseline="0" dirty="0">
                <a:latin typeface="Arial" panose="020B0604020202020204" pitchFamily="34" charset="0"/>
                <a:cs typeface="Arial" panose="020B0604020202020204" pitchFamily="34" charset="0"/>
              </a:rPr>
              <a:t>is passed to the output </a:t>
            </a:r>
            <a:r>
              <a:rPr lang="en-US" sz="1800" b="0" i="1" u="none" strike="noStrike" baseline="0" dirty="0">
                <a:latin typeface="Arial" panose="020B0604020202020204" pitchFamily="34" charset="0"/>
                <a:cs typeface="Arial" panose="020B0604020202020204" pitchFamily="34" charset="0"/>
              </a:rPr>
              <a:t>Q</a:t>
            </a:r>
            <a:r>
              <a:rPr lang="en-US" sz="1800" b="0" i="0" u="none" strike="noStrike" baseline="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B0EF4093-38F4-461B-A60B-1D2758C5CEAC}"/>
              </a:ext>
            </a:extLst>
          </p:cNvPr>
          <p:cNvSpPr>
            <a:spLocks noGrp="1"/>
          </p:cNvSpPr>
          <p:nvPr>
            <p:ph type="ftr" sz="quarter" idx="11"/>
          </p:nvPr>
        </p:nvSpPr>
        <p:spPr>
          <a:xfrm>
            <a:off x="1726058" y="6233890"/>
            <a:ext cx="8483153" cy="404203"/>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6" name="Picture 5">
            <a:extLst>
              <a:ext uri="{FF2B5EF4-FFF2-40B4-BE49-F238E27FC236}">
                <a16:creationId xmlns:a16="http://schemas.microsoft.com/office/drawing/2014/main" id="{8DCA49EE-9ADA-45B0-9C71-71293E6CFC5A}"/>
              </a:ext>
            </a:extLst>
          </p:cNvPr>
          <p:cNvPicPr>
            <a:picLocks noChangeAspect="1"/>
          </p:cNvPicPr>
          <p:nvPr/>
        </p:nvPicPr>
        <p:blipFill>
          <a:blip r:embed="rId2"/>
          <a:stretch>
            <a:fillRect/>
          </a:stretch>
        </p:blipFill>
        <p:spPr>
          <a:xfrm>
            <a:off x="5482333" y="3552825"/>
            <a:ext cx="5295900" cy="3305175"/>
          </a:xfrm>
          <a:prstGeom prst="rect">
            <a:avLst/>
          </a:prstGeom>
        </p:spPr>
      </p:pic>
    </p:spTree>
    <p:extLst>
      <p:ext uri="{BB962C8B-B14F-4D97-AF65-F5344CB8AC3E}">
        <p14:creationId xmlns:p14="http://schemas.microsoft.com/office/powerpoint/2010/main" val="859547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0C420-8EA3-4D6E-AC5D-10FB0CEE5864}"/>
              </a:ext>
            </a:extLst>
          </p:cNvPr>
          <p:cNvSpPr>
            <a:spLocks noGrp="1"/>
          </p:cNvSpPr>
          <p:nvPr>
            <p:ph type="title"/>
          </p:nvPr>
        </p:nvSpPr>
        <p:spPr>
          <a:xfrm>
            <a:off x="1931543" y="624110"/>
            <a:ext cx="9573070" cy="1280890"/>
          </a:xfrm>
        </p:spPr>
        <p:txBody>
          <a:bodyPr>
            <a:normAutofit/>
          </a:bodyPr>
          <a:lstStyle/>
          <a:p>
            <a:r>
              <a:rPr lang="en-IN" sz="3200" dirty="0">
                <a:latin typeface="Arial" panose="020B0604020202020204" pitchFamily="34" charset="0"/>
                <a:cs typeface="Arial" panose="020B0604020202020204" pitchFamily="34" charset="0"/>
              </a:rPr>
              <a:t>Continue……..</a:t>
            </a:r>
          </a:p>
        </p:txBody>
      </p:sp>
      <p:sp>
        <p:nvSpPr>
          <p:cNvPr id="3" name="Content Placeholder 2">
            <a:extLst>
              <a:ext uri="{FF2B5EF4-FFF2-40B4-BE49-F238E27FC236}">
                <a16:creationId xmlns:a16="http://schemas.microsoft.com/office/drawing/2014/main" id="{47D41993-9F42-43A9-AA08-AFD07EA2D35E}"/>
              </a:ext>
            </a:extLst>
          </p:cNvPr>
          <p:cNvSpPr>
            <a:spLocks noGrp="1"/>
          </p:cNvSpPr>
          <p:nvPr>
            <p:ph idx="1"/>
          </p:nvPr>
        </p:nvSpPr>
        <p:spPr>
          <a:xfrm>
            <a:off x="986319" y="1520575"/>
            <a:ext cx="10518293" cy="4390647"/>
          </a:xfrm>
        </p:spPr>
        <p:txBody>
          <a:bodyPr/>
          <a:lstStyle/>
          <a:p>
            <a:pPr algn="just"/>
            <a:r>
              <a:rPr lang="en-US" dirty="0">
                <a:latin typeface="Arial" panose="020B0604020202020204" pitchFamily="34" charset="0"/>
                <a:cs typeface="Arial" panose="020B0604020202020204" pitchFamily="34" charset="0"/>
              </a:rPr>
              <a:t>On the positive phase of the clock, note that node X transitions to a low if the D input transitions to a high level. Therefore, the input must be kept stable till the value on node X before the rising edge of the clock propagates to Y. This represents the hold time of the register.</a:t>
            </a:r>
          </a:p>
          <a:p>
            <a:pPr algn="just"/>
            <a:r>
              <a:rPr lang="en-IN" sz="1800" b="0" i="0" u="none" strike="noStrike" baseline="0" dirty="0">
                <a:latin typeface="Arial" panose="020B0604020202020204" pitchFamily="34" charset="0"/>
                <a:cs typeface="Arial" panose="020B0604020202020204" pitchFamily="34" charset="0"/>
              </a:rPr>
              <a:t>The </a:t>
            </a:r>
            <a:r>
              <a:rPr lang="en-IN" sz="1800" b="0" i="1" u="none" strike="noStrike" baseline="0" dirty="0">
                <a:latin typeface="Arial" panose="020B0604020202020204" pitchFamily="34" charset="0"/>
                <a:cs typeface="Arial" panose="020B0604020202020204" pitchFamily="34" charset="0"/>
              </a:rPr>
              <a:t>propagation </a:t>
            </a:r>
            <a:r>
              <a:rPr lang="en-US" sz="1800" b="0" i="1" u="none" strike="noStrike" baseline="0" dirty="0">
                <a:latin typeface="Arial" panose="020B0604020202020204" pitchFamily="34" charset="0"/>
                <a:cs typeface="Arial" panose="020B0604020202020204" pitchFamily="34" charset="0"/>
              </a:rPr>
              <a:t>delay </a:t>
            </a:r>
            <a:r>
              <a:rPr lang="en-US" sz="1800" b="0" i="0" u="none" strike="noStrike" baseline="0" dirty="0">
                <a:latin typeface="Arial" panose="020B0604020202020204" pitchFamily="34" charset="0"/>
                <a:cs typeface="Arial" panose="020B0604020202020204" pitchFamily="34" charset="0"/>
              </a:rPr>
              <a:t>of the register is essentially three inverters since the value on node </a:t>
            </a:r>
            <a:r>
              <a:rPr lang="en-US" sz="1800" b="0" i="1" u="none" strike="noStrike" baseline="0" dirty="0">
                <a:latin typeface="Arial" panose="020B0604020202020204" pitchFamily="34" charset="0"/>
                <a:cs typeface="Arial" panose="020B0604020202020204" pitchFamily="34" charset="0"/>
              </a:rPr>
              <a:t>X </a:t>
            </a:r>
            <a:r>
              <a:rPr lang="en-US" sz="1800" b="0" i="0" u="none" strike="noStrike" baseline="0" dirty="0">
                <a:latin typeface="Arial" panose="020B0604020202020204" pitchFamily="34" charset="0"/>
                <a:cs typeface="Arial" panose="020B0604020202020204" pitchFamily="34" charset="0"/>
              </a:rPr>
              <a:t>must propagate to the output </a:t>
            </a:r>
            <a:r>
              <a:rPr lang="en-US" sz="1800" b="0" i="1" u="none" strike="noStrike" baseline="0" dirty="0">
                <a:latin typeface="Arial" panose="020B0604020202020204" pitchFamily="34" charset="0"/>
                <a:cs typeface="Arial" panose="020B0604020202020204" pitchFamily="34" charset="0"/>
              </a:rPr>
              <a:t>Q</a:t>
            </a:r>
            <a:r>
              <a:rPr lang="en-US" sz="1800" b="0" i="0" u="none" strike="noStrike" baseline="0" dirty="0">
                <a:latin typeface="Arial" panose="020B0604020202020204" pitchFamily="34" charset="0"/>
                <a:cs typeface="Arial" panose="020B0604020202020204" pitchFamily="34" charset="0"/>
              </a:rPr>
              <a:t>. </a:t>
            </a:r>
          </a:p>
          <a:p>
            <a:pPr algn="just"/>
            <a:r>
              <a:rPr lang="en-US" sz="1800" b="0" i="0" u="none" strike="noStrike" baseline="0" dirty="0">
                <a:latin typeface="Arial" panose="020B0604020202020204" pitchFamily="34" charset="0"/>
                <a:cs typeface="Arial" panose="020B0604020202020204" pitchFamily="34" charset="0"/>
              </a:rPr>
              <a:t>Finally, the </a:t>
            </a:r>
            <a:r>
              <a:rPr lang="en-US" sz="1800" b="0" u="none" strike="noStrike" baseline="0" dirty="0">
                <a:latin typeface="Arial" panose="020B0604020202020204" pitchFamily="34" charset="0"/>
                <a:cs typeface="Arial" panose="020B0604020202020204" pitchFamily="34" charset="0"/>
              </a:rPr>
              <a:t>set-up time </a:t>
            </a:r>
            <a:r>
              <a:rPr lang="en-US" sz="1800" b="0" i="0" u="none" strike="noStrike" baseline="0" dirty="0">
                <a:latin typeface="Arial" panose="020B0604020202020204" pitchFamily="34" charset="0"/>
                <a:cs typeface="Arial" panose="020B0604020202020204" pitchFamily="34" charset="0"/>
              </a:rPr>
              <a:t>is the time for node </a:t>
            </a:r>
            <a:r>
              <a:rPr lang="en-US" sz="1800" b="0" i="1" u="none" strike="noStrike" baseline="0" dirty="0">
                <a:latin typeface="Arial" panose="020B0604020202020204" pitchFamily="34" charset="0"/>
                <a:cs typeface="Arial" panose="020B0604020202020204" pitchFamily="34" charset="0"/>
              </a:rPr>
              <a:t>X </a:t>
            </a:r>
            <a:r>
              <a:rPr lang="en-US" sz="1800" b="0" i="0" u="none" strike="noStrike" baseline="0" dirty="0">
                <a:latin typeface="Arial" panose="020B0604020202020204" pitchFamily="34" charset="0"/>
                <a:cs typeface="Arial" panose="020B0604020202020204" pitchFamily="34" charset="0"/>
              </a:rPr>
              <a:t>to be valid, which </a:t>
            </a:r>
            <a:r>
              <a:rPr lang="en-IN" sz="1800" b="0" i="0" u="none" strike="noStrike" baseline="0" dirty="0">
                <a:latin typeface="Arial" panose="020B0604020202020204" pitchFamily="34" charset="0"/>
                <a:cs typeface="Arial" panose="020B0604020202020204" pitchFamily="34" charset="0"/>
              </a:rPr>
              <a:t>is one inverter delay.</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FE1CFE0C-766E-4691-BFF4-CD9BA460E091}"/>
              </a:ext>
            </a:extLst>
          </p:cNvPr>
          <p:cNvSpPr>
            <a:spLocks noGrp="1"/>
          </p:cNvSpPr>
          <p:nvPr>
            <p:ph type="ftr" sz="quarter" idx="11"/>
          </p:nvPr>
        </p:nvSpPr>
        <p:spPr>
          <a:xfrm>
            <a:off x="1849348" y="6139822"/>
            <a:ext cx="8359863" cy="361111"/>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4066359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FE3618-8387-4153-870E-99EA1B9784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7B5AC-CF7A-4832-B413-EE1E6582F8F1}"/>
              </a:ext>
            </a:extLst>
          </p:cNvPr>
          <p:cNvSpPr>
            <a:spLocks noGrp="1"/>
          </p:cNvSpPr>
          <p:nvPr>
            <p:ph type="title"/>
          </p:nvPr>
        </p:nvSpPr>
        <p:spPr>
          <a:xfrm>
            <a:off x="649224" y="645106"/>
            <a:ext cx="3650279" cy="1259894"/>
          </a:xfrm>
        </p:spPr>
        <p:txBody>
          <a:bodyPr>
            <a:normAutofit/>
          </a:bodyPr>
          <a:lstStyle/>
          <a:p>
            <a:r>
              <a:rPr lang="en-IN">
                <a:latin typeface="Arial" panose="020B0604020202020204" pitchFamily="34" charset="0"/>
                <a:cs typeface="Arial" panose="020B0604020202020204" pitchFamily="34" charset="0"/>
              </a:rPr>
              <a:t>Pulse Registers</a:t>
            </a:r>
          </a:p>
        </p:txBody>
      </p:sp>
      <p:sp>
        <p:nvSpPr>
          <p:cNvPr id="12" name="Rectangle 11">
            <a:extLst>
              <a:ext uri="{FF2B5EF4-FFF2-40B4-BE49-F238E27FC236}">
                <a16:creationId xmlns:a16="http://schemas.microsoft.com/office/drawing/2014/main" id="{BB99A42A-5548-4BB8-9115-A05821C360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CD8A5C7D-3CDC-458E-836D-98197E2A0194}"/>
              </a:ext>
            </a:extLst>
          </p:cNvPr>
          <p:cNvSpPr>
            <a:spLocks noGrp="1"/>
          </p:cNvSpPr>
          <p:nvPr>
            <p:ph idx="1"/>
          </p:nvPr>
        </p:nvSpPr>
        <p:spPr>
          <a:xfrm>
            <a:off x="649224" y="1407560"/>
            <a:ext cx="4292645" cy="4723500"/>
          </a:xfrm>
        </p:spPr>
        <p:txBody>
          <a:bodyPr>
            <a:normAutofit fontScale="92500" lnSpcReduction="10000"/>
          </a:bodyPr>
          <a:lstStyle/>
          <a:p>
            <a:pPr algn="just">
              <a:lnSpc>
                <a:spcPct val="90000"/>
              </a:lnSpc>
            </a:pPr>
            <a:r>
              <a:rPr lang="en-US" dirty="0">
                <a:latin typeface="Arial" panose="020B0604020202020204" pitchFamily="34" charset="0"/>
                <a:cs typeface="Arial" panose="020B0604020202020204" pitchFamily="34" charset="0"/>
              </a:rPr>
              <a:t>Until now, we have used the master-slave configuration to create an edge-triggered register. </a:t>
            </a:r>
          </a:p>
          <a:p>
            <a:pPr algn="just">
              <a:lnSpc>
                <a:spcPct val="90000"/>
              </a:lnSpc>
            </a:pPr>
            <a:r>
              <a:rPr lang="en-US" b="0" i="0" u="none" strike="noStrike" baseline="0" dirty="0">
                <a:latin typeface="Arial" panose="020B0604020202020204" pitchFamily="34" charset="0"/>
                <a:cs typeface="Arial" panose="020B0604020202020204" pitchFamily="34" charset="0"/>
              </a:rPr>
              <a:t>A fundamentally different approach for constructing a register uses pulse signals. The idea is to construct a short pulse around the rising (or falling) edge of the clock.</a:t>
            </a:r>
          </a:p>
          <a:p>
            <a:pPr algn="just">
              <a:lnSpc>
                <a:spcPct val="90000"/>
              </a:lnSpc>
            </a:pPr>
            <a:r>
              <a:rPr lang="en-IN" b="0" i="0" u="none" strike="noStrike" baseline="0" dirty="0">
                <a:latin typeface="Arial" panose="020B0604020202020204" pitchFamily="34" charset="0"/>
                <a:cs typeface="Arial" panose="020B0604020202020204" pitchFamily="34" charset="0"/>
              </a:rPr>
              <a:t>This pulse </a:t>
            </a:r>
            <a:r>
              <a:rPr lang="en-US" b="0" i="0" u="none" strike="noStrike" baseline="0" dirty="0">
                <a:latin typeface="Arial" panose="020B0604020202020204" pitchFamily="34" charset="0"/>
                <a:cs typeface="Arial" panose="020B0604020202020204" pitchFamily="34" charset="0"/>
              </a:rPr>
              <a:t>acts as the clock input to a latch , sampling the input only in a short window. Race conditions are thus avoided by keeping the opening time (</a:t>
            </a:r>
            <a:r>
              <a:rPr lang="en-US" b="0" i="0" u="none" strike="noStrike" baseline="0" dirty="0" err="1">
                <a:latin typeface="Arial" panose="020B0604020202020204" pitchFamily="34" charset="0"/>
                <a:cs typeface="Arial" panose="020B0604020202020204" pitchFamily="34" charset="0"/>
              </a:rPr>
              <a:t>i.e</a:t>
            </a:r>
            <a:r>
              <a:rPr lang="en-US" b="0" i="0" u="none" strike="noStrike" baseline="0" dirty="0">
                <a:latin typeface="Arial" panose="020B0604020202020204" pitchFamily="34" charset="0"/>
                <a:cs typeface="Arial" panose="020B0604020202020204" pitchFamily="34" charset="0"/>
              </a:rPr>
              <a:t>, the </a:t>
            </a:r>
            <a:r>
              <a:rPr lang="en-US" b="0" i="1" u="none" strike="noStrike" baseline="0" dirty="0">
                <a:latin typeface="Arial" panose="020B0604020202020204" pitchFamily="34" charset="0"/>
                <a:cs typeface="Arial" panose="020B0604020202020204" pitchFamily="34" charset="0"/>
              </a:rPr>
              <a:t>transparent </a:t>
            </a:r>
            <a:r>
              <a:rPr lang="en-US" b="0" i="0" u="none" strike="noStrike" baseline="0" dirty="0">
                <a:latin typeface="Arial" panose="020B0604020202020204" pitchFamily="34" charset="0"/>
                <a:cs typeface="Arial" panose="020B0604020202020204" pitchFamily="34" charset="0"/>
              </a:rPr>
              <a:t>period) of the latch very short.</a:t>
            </a:r>
          </a:p>
          <a:p>
            <a:pPr algn="just">
              <a:lnSpc>
                <a:spcPct val="90000"/>
              </a:lnSpc>
            </a:pPr>
            <a:r>
              <a:rPr lang="en-US" b="0" i="0" u="none" strike="noStrike" baseline="0" dirty="0">
                <a:latin typeface="Arial" panose="020B0604020202020204" pitchFamily="34" charset="0"/>
                <a:cs typeface="Arial" panose="020B0604020202020204" pitchFamily="34" charset="0"/>
              </a:rPr>
              <a:t>Figure shows an example circuit for constructing a short intentional glitch on each rising edge of the clock. When </a:t>
            </a:r>
            <a:r>
              <a:rPr lang="en-US" b="0" u="none" strike="noStrike" baseline="0" dirty="0">
                <a:latin typeface="Arial" panose="020B0604020202020204" pitchFamily="34" charset="0"/>
                <a:cs typeface="Arial" panose="020B0604020202020204" pitchFamily="34" charset="0"/>
              </a:rPr>
              <a:t>CLK = 0</a:t>
            </a:r>
            <a:r>
              <a:rPr lang="en-US" b="0" i="0" u="none" strike="noStrike" baseline="0" dirty="0">
                <a:latin typeface="Arial" panose="020B0604020202020204" pitchFamily="34" charset="0"/>
                <a:cs typeface="Arial" panose="020B0604020202020204" pitchFamily="34" charset="0"/>
              </a:rPr>
              <a:t>, node </a:t>
            </a:r>
            <a:r>
              <a:rPr lang="en-US" b="0" i="1" u="none" strike="noStrike" baseline="0" dirty="0">
                <a:latin typeface="Arial" panose="020B0604020202020204" pitchFamily="34" charset="0"/>
                <a:cs typeface="Arial" panose="020B0604020202020204" pitchFamily="34" charset="0"/>
              </a:rPr>
              <a:t>X </a:t>
            </a:r>
            <a:r>
              <a:rPr lang="en-US" b="0" i="0" u="none" strike="noStrike" baseline="0" dirty="0">
                <a:latin typeface="Arial" panose="020B0604020202020204" pitchFamily="34" charset="0"/>
                <a:cs typeface="Arial" panose="020B0604020202020204" pitchFamily="34" charset="0"/>
              </a:rPr>
              <a:t>is charged up to </a:t>
            </a:r>
            <a:r>
              <a:rPr lang="en-US" b="0" u="none" strike="noStrike" baseline="0" dirty="0">
                <a:latin typeface="Arial" panose="020B0604020202020204" pitchFamily="34" charset="0"/>
                <a:cs typeface="Arial" panose="020B0604020202020204" pitchFamily="34" charset="0"/>
              </a:rPr>
              <a:t>V</a:t>
            </a:r>
            <a:r>
              <a:rPr lang="en-US" b="0" u="none" strike="noStrike" baseline="-25000" dirty="0">
                <a:latin typeface="Arial" panose="020B0604020202020204" pitchFamily="34" charset="0"/>
                <a:cs typeface="Arial" panose="020B0604020202020204" pitchFamily="34" charset="0"/>
              </a:rPr>
              <a:t>DD</a:t>
            </a:r>
            <a:r>
              <a:rPr lang="en-US" i="1" dirty="0">
                <a:latin typeface="Arial" panose="020B0604020202020204" pitchFamily="34" charset="0"/>
                <a:cs typeface="Arial" panose="020B0604020202020204" pitchFamily="34" charset="0"/>
              </a:rPr>
              <a:t> </a:t>
            </a:r>
            <a:r>
              <a:rPr lang="en-IN" b="0" i="0" u="none" strike="noStrike" baseline="0" dirty="0">
                <a:latin typeface="Arial" panose="020B0604020202020204" pitchFamily="34" charset="0"/>
                <a:cs typeface="Arial" panose="020B0604020202020204" pitchFamily="34" charset="0"/>
              </a:rPr>
              <a:t>(</a:t>
            </a:r>
            <a:r>
              <a:rPr lang="en-IN" b="0" i="1" u="none" strike="noStrike" baseline="0" dirty="0">
                <a:latin typeface="Arial" panose="020B0604020202020204" pitchFamily="34" charset="0"/>
                <a:cs typeface="Arial" panose="020B0604020202020204" pitchFamily="34" charset="0"/>
              </a:rPr>
              <a:t>M</a:t>
            </a:r>
            <a:r>
              <a:rPr lang="en-IN" b="0" i="1" u="none" strike="noStrike" baseline="-25000" dirty="0">
                <a:latin typeface="Arial" panose="020B0604020202020204" pitchFamily="34" charset="0"/>
                <a:cs typeface="Arial" panose="020B0604020202020204" pitchFamily="34" charset="0"/>
              </a:rPr>
              <a:t>N </a:t>
            </a:r>
            <a:r>
              <a:rPr lang="en-US" b="0" i="0" u="none" strike="noStrike" baseline="0" dirty="0">
                <a:latin typeface="Arial" panose="020B0604020202020204" pitchFamily="34" charset="0"/>
                <a:cs typeface="Arial" panose="020B0604020202020204" pitchFamily="34" charset="0"/>
              </a:rPr>
              <a:t>is </a:t>
            </a:r>
            <a:r>
              <a:rPr lang="en-US" b="0" i="1" u="none" strike="noStrike" baseline="0" dirty="0">
                <a:latin typeface="Arial" panose="020B0604020202020204" pitchFamily="34" charset="0"/>
                <a:cs typeface="Arial" panose="020B0604020202020204" pitchFamily="34" charset="0"/>
              </a:rPr>
              <a:t>off </a:t>
            </a:r>
            <a:r>
              <a:rPr lang="en-US" b="0" i="0" u="none" strike="noStrike" baseline="0" dirty="0">
                <a:latin typeface="Arial" panose="020B0604020202020204" pitchFamily="34" charset="0"/>
                <a:cs typeface="Arial" panose="020B0604020202020204" pitchFamily="34" charset="0"/>
              </a:rPr>
              <a:t>since </a:t>
            </a:r>
            <a:r>
              <a:rPr lang="en-US" b="0" i="1" u="none" strike="noStrike" baseline="0" dirty="0">
                <a:latin typeface="Arial" panose="020B0604020202020204" pitchFamily="34" charset="0"/>
                <a:cs typeface="Arial" panose="020B0604020202020204" pitchFamily="34" charset="0"/>
              </a:rPr>
              <a:t>CLKG </a:t>
            </a:r>
            <a:r>
              <a:rPr lang="en-US" b="0" i="0" u="none" strike="noStrike" baseline="0" dirty="0">
                <a:latin typeface="Arial" panose="020B0604020202020204" pitchFamily="34" charset="0"/>
                <a:cs typeface="Arial" panose="020B0604020202020204" pitchFamily="34" charset="0"/>
              </a:rPr>
              <a:t>is low).</a:t>
            </a:r>
          </a:p>
          <a:p>
            <a:pPr>
              <a:lnSpc>
                <a:spcPct val="90000"/>
              </a:lnSpc>
            </a:pPr>
            <a:endParaRPr lang="en-IN" sz="1300" dirty="0">
              <a:latin typeface="Arial" panose="020B0604020202020204" pitchFamily="34" charset="0"/>
              <a:cs typeface="Arial" panose="020B0604020202020204" pitchFamily="34" charset="0"/>
            </a:endParaRPr>
          </a:p>
        </p:txBody>
      </p:sp>
      <p:sp>
        <p:nvSpPr>
          <p:cNvPr id="14" name="Freeform 11">
            <a:extLst>
              <a:ext uri="{FF2B5EF4-FFF2-40B4-BE49-F238E27FC236}">
                <a16:creationId xmlns:a16="http://schemas.microsoft.com/office/drawing/2014/main" id="{D49441E5-946F-46B3-BDD2-BAD0885323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B2CBC270-F82A-4C57-8BA1-FFDF08B085BB}"/>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6" name="Picture 5">
            <a:extLst>
              <a:ext uri="{FF2B5EF4-FFF2-40B4-BE49-F238E27FC236}">
                <a16:creationId xmlns:a16="http://schemas.microsoft.com/office/drawing/2014/main" id="{2A6D1600-AF1A-4B17-B281-5ACA12140439}"/>
              </a:ext>
            </a:extLst>
          </p:cNvPr>
          <p:cNvPicPr>
            <a:picLocks noChangeAspect="1"/>
          </p:cNvPicPr>
          <p:nvPr/>
        </p:nvPicPr>
        <p:blipFill>
          <a:blip r:embed="rId2"/>
          <a:stretch>
            <a:fillRect/>
          </a:stretch>
        </p:blipFill>
        <p:spPr>
          <a:xfrm>
            <a:off x="5013786" y="1363934"/>
            <a:ext cx="7169127" cy="4533429"/>
          </a:xfrm>
          <a:prstGeom prst="rect">
            <a:avLst/>
          </a:prstGeom>
        </p:spPr>
      </p:pic>
    </p:spTree>
    <p:extLst>
      <p:ext uri="{BB962C8B-B14F-4D97-AF65-F5344CB8AC3E}">
        <p14:creationId xmlns:p14="http://schemas.microsoft.com/office/powerpoint/2010/main" val="881648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BA61E-B07A-4659-A7A7-5024107ECED2}"/>
              </a:ext>
            </a:extLst>
          </p:cNvPr>
          <p:cNvSpPr>
            <a:spLocks noGrp="1"/>
          </p:cNvSpPr>
          <p:nvPr>
            <p:ph type="title"/>
          </p:nvPr>
        </p:nvSpPr>
        <p:spPr>
          <a:xfrm>
            <a:off x="1777429" y="624110"/>
            <a:ext cx="9727183" cy="1280890"/>
          </a:xfrm>
        </p:spPr>
        <p:txBody>
          <a:bodyPr>
            <a:normAutofit/>
          </a:bodyPr>
          <a:lstStyle/>
          <a:p>
            <a:r>
              <a:rPr lang="en-IN" sz="3200" dirty="0">
                <a:latin typeface="Arial" panose="020B0604020202020204" pitchFamily="34" charset="0"/>
                <a:cs typeface="Arial" panose="020B0604020202020204" pitchFamily="34" charset="0"/>
              </a:rPr>
              <a:t>Continue……</a:t>
            </a:r>
          </a:p>
        </p:txBody>
      </p:sp>
      <p:sp>
        <p:nvSpPr>
          <p:cNvPr id="3" name="Content Placeholder 2">
            <a:extLst>
              <a:ext uri="{FF2B5EF4-FFF2-40B4-BE49-F238E27FC236}">
                <a16:creationId xmlns:a16="http://schemas.microsoft.com/office/drawing/2014/main" id="{778B69FC-A1D2-4178-8099-B953CC5D8DB2}"/>
              </a:ext>
            </a:extLst>
          </p:cNvPr>
          <p:cNvSpPr>
            <a:spLocks noGrp="1"/>
          </p:cNvSpPr>
          <p:nvPr>
            <p:ph idx="1"/>
          </p:nvPr>
        </p:nvSpPr>
        <p:spPr>
          <a:xfrm>
            <a:off x="1130157" y="1181528"/>
            <a:ext cx="10374455" cy="4954280"/>
          </a:xfrm>
        </p:spPr>
        <p:txBody>
          <a:bodyPr>
            <a:normAutofit/>
          </a:bodyPr>
          <a:lstStyle/>
          <a:p>
            <a:pPr algn="just"/>
            <a:r>
              <a:rPr lang="en-US" dirty="0">
                <a:latin typeface="Arial" panose="020B0604020202020204" pitchFamily="34" charset="0"/>
                <a:cs typeface="Arial" panose="020B0604020202020204" pitchFamily="34" charset="0"/>
              </a:rPr>
              <a:t>On the rising edge of the clock, there is a short period of time when both inputs of the AND gate are high, causing CLKG to go high. </a:t>
            </a:r>
          </a:p>
          <a:p>
            <a:pPr algn="just"/>
            <a:r>
              <a:rPr lang="en-IN" sz="1800" b="0" i="0" u="none" strike="noStrike" baseline="0" dirty="0">
                <a:latin typeface="Arial" panose="020B0604020202020204" pitchFamily="34" charset="0"/>
                <a:cs typeface="Arial" panose="020B0604020202020204" pitchFamily="34" charset="0"/>
              </a:rPr>
              <a:t>This in turn </a:t>
            </a:r>
            <a:r>
              <a:rPr lang="en-IN" sz="1800" b="0" i="0" u="none" strike="noStrike" baseline="0" dirty="0" err="1">
                <a:latin typeface="Arial" panose="020B0604020202020204" pitchFamily="34" charset="0"/>
                <a:cs typeface="Arial" panose="020B0604020202020204" pitchFamily="34" charset="0"/>
              </a:rPr>
              <a:t>acti</a:t>
            </a:r>
            <a:r>
              <a:rPr lang="en-US" sz="1800" b="0" i="0" u="none" strike="noStrike" baseline="0" dirty="0">
                <a:latin typeface="Arial" panose="020B0604020202020204" pitchFamily="34" charset="0"/>
                <a:cs typeface="Arial" panose="020B0604020202020204" pitchFamily="34" charset="0"/>
              </a:rPr>
              <a:t>vates </a:t>
            </a:r>
            <a:r>
              <a:rPr lang="en-US" sz="1800" b="0" i="1" u="none" strike="noStrike" baseline="0" dirty="0">
                <a:latin typeface="Arial" panose="020B0604020202020204" pitchFamily="34" charset="0"/>
                <a:cs typeface="Arial" panose="020B0604020202020204" pitchFamily="34" charset="0"/>
              </a:rPr>
              <a:t>MN</a:t>
            </a:r>
            <a:r>
              <a:rPr lang="en-US" sz="1800" b="0" i="0" u="none" strike="noStrike" baseline="0" dirty="0">
                <a:latin typeface="Arial" panose="020B0604020202020204" pitchFamily="34" charset="0"/>
                <a:cs typeface="Arial" panose="020B0604020202020204" pitchFamily="34" charset="0"/>
              </a:rPr>
              <a:t>, pulling </a:t>
            </a:r>
            <a:r>
              <a:rPr lang="en-US" sz="1800" b="0" i="1" u="none" strike="noStrike" baseline="0" dirty="0">
                <a:latin typeface="Arial" panose="020B0604020202020204" pitchFamily="34" charset="0"/>
                <a:cs typeface="Arial" panose="020B0604020202020204" pitchFamily="34" charset="0"/>
              </a:rPr>
              <a:t>X </a:t>
            </a:r>
            <a:r>
              <a:rPr lang="en-US" sz="1800" b="0" i="0" u="none" strike="noStrike" baseline="0" dirty="0">
                <a:latin typeface="Arial" panose="020B0604020202020204" pitchFamily="34" charset="0"/>
                <a:cs typeface="Arial" panose="020B0604020202020204" pitchFamily="34" charset="0"/>
              </a:rPr>
              <a:t>and eventually </a:t>
            </a:r>
            <a:r>
              <a:rPr lang="en-US" sz="1800" b="0" i="1" u="none" strike="noStrike" baseline="0" dirty="0">
                <a:latin typeface="Arial" panose="020B0604020202020204" pitchFamily="34" charset="0"/>
                <a:cs typeface="Arial" panose="020B0604020202020204" pitchFamily="34" charset="0"/>
              </a:rPr>
              <a:t>CLKG </a:t>
            </a:r>
            <a:r>
              <a:rPr lang="en-US" sz="1800" b="0" i="0" u="none" strike="noStrike" baseline="0" dirty="0">
                <a:latin typeface="Arial" panose="020B0604020202020204" pitchFamily="34" charset="0"/>
                <a:cs typeface="Arial" panose="020B0604020202020204" pitchFamily="34" charset="0"/>
              </a:rPr>
              <a:t>low. The length of the pulse is controlled by the delay of the AND gate and the two inverters.</a:t>
            </a:r>
          </a:p>
          <a:p>
            <a:pPr algn="just"/>
            <a:r>
              <a:rPr lang="en-US" dirty="0">
                <a:latin typeface="Arial" panose="020B0604020202020204" pitchFamily="34" charset="0"/>
                <a:cs typeface="Arial" panose="020B0604020202020204" pitchFamily="34" charset="0"/>
              </a:rPr>
              <a:t>If set-up time and hold time are measured in reference to the rising edge of the glitch clock, the set-up time is essentially zero, the hold time is equal to the length of the pulse and the propagation delay  equals two gate delays</a:t>
            </a:r>
          </a:p>
          <a:p>
            <a:pPr algn="just"/>
            <a:r>
              <a:rPr lang="en-US" sz="1800" b="0" i="0" u="none" strike="noStrike" baseline="0" dirty="0">
                <a:latin typeface="Arial" panose="020B0604020202020204" pitchFamily="34" charset="0"/>
                <a:cs typeface="Arial" panose="020B0604020202020204" pitchFamily="34" charset="0"/>
              </a:rPr>
              <a:t>The advantage of the approach is the reduced clock load and the small number of transistors required. The glitch-generation circuitry can be amortized over multiple register bits. </a:t>
            </a:r>
          </a:p>
          <a:p>
            <a:pPr algn="just"/>
            <a:r>
              <a:rPr lang="en-US" sz="1800" b="0" i="0" u="none" strike="noStrike" baseline="0" dirty="0">
                <a:latin typeface="Arial" panose="020B0604020202020204" pitchFamily="34" charset="0"/>
                <a:cs typeface="Arial" panose="020B0604020202020204" pitchFamily="34" charset="0"/>
              </a:rPr>
              <a:t>The disadvantage is a substantial increase in verification complexity because process variations and load variations may cause the delays through the glitch clock circuitry to be different.</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26CAF38A-388E-465B-A839-13D86D81D99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9404308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419E28B-721B-4D0D-A1D3-78EAC57253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C8242E-F5E5-43BE-A35A-448FD3CE5A3E}"/>
              </a:ext>
            </a:extLst>
          </p:cNvPr>
          <p:cNvSpPr>
            <a:spLocks noGrp="1"/>
          </p:cNvSpPr>
          <p:nvPr>
            <p:ph type="title"/>
          </p:nvPr>
        </p:nvSpPr>
        <p:spPr>
          <a:xfrm>
            <a:off x="649224" y="645106"/>
            <a:ext cx="5122652" cy="1259894"/>
          </a:xfrm>
        </p:spPr>
        <p:txBody>
          <a:bodyPr>
            <a:normAutofit/>
          </a:bodyPr>
          <a:lstStyle/>
          <a:p>
            <a:r>
              <a:rPr lang="en-IN" dirty="0"/>
              <a:t>Continue….</a:t>
            </a:r>
          </a:p>
        </p:txBody>
      </p:sp>
      <p:sp>
        <p:nvSpPr>
          <p:cNvPr id="13" name="Rectangle 12">
            <a:extLst>
              <a:ext uri="{FF2B5EF4-FFF2-40B4-BE49-F238E27FC236}">
                <a16:creationId xmlns:a16="http://schemas.microsoft.com/office/drawing/2014/main" id="{359E45B9-0D24-465E-84AD-FEDBA836B5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A42427-E213-4D8F-9160-3F51E4FCFCB7}"/>
                  </a:ext>
                </a:extLst>
              </p:cNvPr>
              <p:cNvSpPr>
                <a:spLocks noGrp="1"/>
              </p:cNvSpPr>
              <p:nvPr>
                <p:ph idx="1"/>
              </p:nvPr>
            </p:nvSpPr>
            <p:spPr>
              <a:xfrm>
                <a:off x="649224" y="1243405"/>
                <a:ext cx="6018045" cy="4365655"/>
              </a:xfrm>
            </p:spPr>
            <p:txBody>
              <a:bodyPr>
                <a:noAutofit/>
              </a:bodyPr>
              <a:lstStyle/>
              <a:p>
                <a:pPr algn="just">
                  <a:lnSpc>
                    <a:spcPct val="90000"/>
                  </a:lnSpc>
                </a:pPr>
                <a:r>
                  <a:rPr lang="en-US" dirty="0">
                    <a:latin typeface="Arial" panose="020B0604020202020204" pitchFamily="34" charset="0"/>
                    <a:cs typeface="Arial" panose="020B0604020202020204" pitchFamily="34" charset="0"/>
                  </a:rPr>
                  <a:t>Another version of the pulsed register is shown in Figure. This is </a:t>
                </a:r>
                <a:r>
                  <a:rPr lang="en-US" b="0" i="0" u="none" strike="noStrike" baseline="0" dirty="0">
                    <a:latin typeface="Arial" panose="020B0604020202020204" pitchFamily="34" charset="0"/>
                    <a:cs typeface="Arial" panose="020B0604020202020204" pitchFamily="34" charset="0"/>
                  </a:rPr>
                  <a:t> used in the AMDK6 </a:t>
                </a:r>
                <a:r>
                  <a:rPr lang="en-IN" b="0" i="0" u="none" strike="noStrike" baseline="0" dirty="0">
                    <a:latin typeface="Arial" panose="020B0604020202020204" pitchFamily="34" charset="0"/>
                    <a:cs typeface="Arial" panose="020B0604020202020204" pitchFamily="34" charset="0"/>
                  </a:rPr>
                  <a:t>processor.</a:t>
                </a:r>
              </a:p>
              <a:p>
                <a:pPr algn="just">
                  <a:lnSpc>
                    <a:spcPct val="90000"/>
                  </a:lnSpc>
                </a:pPr>
                <a:r>
                  <a:rPr lang="en-US" b="0" u="none" strike="noStrike" baseline="0" dirty="0">
                    <a:latin typeface="Arial" panose="020B0604020202020204" pitchFamily="34" charset="0"/>
                    <a:cs typeface="Arial" panose="020B0604020202020204" pitchFamily="34" charset="0"/>
                  </a:rPr>
                  <a:t>When the clock is low, M3 and M6 are off, and device P1 is </a:t>
                </a:r>
                <a:r>
                  <a:rPr lang="en-IN" b="0" u="none" strike="noStrike" baseline="0" dirty="0">
                    <a:latin typeface="Arial" panose="020B0604020202020204" pitchFamily="34" charset="0"/>
                    <a:cs typeface="Arial" panose="020B0604020202020204" pitchFamily="34" charset="0"/>
                  </a:rPr>
                  <a:t>turned on. </a:t>
                </a:r>
                <a:r>
                  <a:rPr lang="en-US" b="0" i="0" u="none" strike="noStrike" baseline="0" dirty="0">
                    <a:latin typeface="Arial" panose="020B0604020202020204" pitchFamily="34" charset="0"/>
                    <a:cs typeface="Arial" panose="020B0604020202020204" pitchFamily="34" charset="0"/>
                  </a:rPr>
                  <a:t>Node </a:t>
                </a:r>
                <a:r>
                  <a:rPr lang="en-US" b="0" i="1" u="none" strike="noStrike" baseline="0" dirty="0">
                    <a:latin typeface="Arial" panose="020B0604020202020204" pitchFamily="34" charset="0"/>
                    <a:cs typeface="Arial" panose="020B0604020202020204" pitchFamily="34" charset="0"/>
                  </a:rPr>
                  <a:t>X </a:t>
                </a:r>
                <a:r>
                  <a:rPr lang="en-US" b="0" i="0" u="none" strike="noStrike" baseline="0" dirty="0">
                    <a:latin typeface="Arial" panose="020B0604020202020204" pitchFamily="34" charset="0"/>
                    <a:cs typeface="Arial" panose="020B0604020202020204" pitchFamily="34" charset="0"/>
                  </a:rPr>
                  <a:t>is precharged to </a:t>
                </a:r>
                <a:r>
                  <a:rPr lang="en-US" b="0" i="1" u="none" strike="noStrike" baseline="0" dirty="0">
                    <a:latin typeface="Arial" panose="020B0604020202020204" pitchFamily="34" charset="0"/>
                    <a:cs typeface="Arial" panose="020B0604020202020204" pitchFamily="34" charset="0"/>
                  </a:rPr>
                  <a:t>VDD</a:t>
                </a:r>
                <a:r>
                  <a:rPr lang="en-US" b="0" i="0" u="none" strike="noStrike" baseline="0" dirty="0">
                    <a:latin typeface="Arial" panose="020B0604020202020204" pitchFamily="34" charset="0"/>
                    <a:cs typeface="Arial" panose="020B0604020202020204" pitchFamily="34" charset="0"/>
                  </a:rPr>
                  <a:t>, the output node (</a:t>
                </a:r>
                <a:r>
                  <a:rPr lang="en-US" b="0" i="1" u="none" strike="noStrike" baseline="0" dirty="0">
                    <a:latin typeface="Arial" panose="020B0604020202020204" pitchFamily="34" charset="0"/>
                    <a:cs typeface="Arial" panose="020B0604020202020204" pitchFamily="34" charset="0"/>
                  </a:rPr>
                  <a:t>Q</a:t>
                </a:r>
                <a:r>
                  <a:rPr lang="en-US" b="0" i="0" u="none" strike="noStrike" baseline="0" dirty="0">
                    <a:latin typeface="Arial" panose="020B0604020202020204" pitchFamily="34" charset="0"/>
                    <a:cs typeface="Arial" panose="020B0604020202020204" pitchFamily="34" charset="0"/>
                  </a:rPr>
                  <a:t>) is decoupled from </a:t>
                </a:r>
                <a:r>
                  <a:rPr lang="en-US" b="0" i="1" u="none" strike="noStrike" baseline="0" dirty="0">
                    <a:latin typeface="Arial" panose="020B0604020202020204" pitchFamily="34" charset="0"/>
                    <a:cs typeface="Arial" panose="020B0604020202020204" pitchFamily="34" charset="0"/>
                  </a:rPr>
                  <a:t>X </a:t>
                </a:r>
                <a:r>
                  <a:rPr lang="en-US" b="0" i="0" u="none" strike="noStrike" baseline="0" dirty="0">
                    <a:latin typeface="Arial" panose="020B0604020202020204" pitchFamily="34" charset="0"/>
                    <a:cs typeface="Arial" panose="020B0604020202020204" pitchFamily="34" charset="0"/>
                  </a:rPr>
                  <a:t>and is held at its previous state. </a:t>
                </a:r>
              </a:p>
              <a:p>
                <a:pPr algn="just">
                  <a:lnSpc>
                    <a:spcPct val="90000"/>
                  </a:lnSpc>
                </a:pPr>
                <a:r>
                  <a:rPr lang="en-US" b="0" i="0" u="none" strike="noStrike" baseline="0" dirty="0">
                    <a:latin typeface="Arial" panose="020B0604020202020204" pitchFamily="34" charset="0"/>
                    <a:cs typeface="Arial" panose="020B0604020202020204" pitchFamily="34" charset="0"/>
                  </a:rPr>
                  <a:t>On the rising edge of the clock, </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3 and </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6 turn </a:t>
                </a:r>
                <a:r>
                  <a:rPr lang="en-US" b="0" i="1" u="none" strike="noStrike" baseline="0" dirty="0">
                    <a:latin typeface="Arial" panose="020B0604020202020204" pitchFamily="34" charset="0"/>
                    <a:cs typeface="Arial" panose="020B0604020202020204" pitchFamily="34" charset="0"/>
                  </a:rPr>
                  <a:t>on </a:t>
                </a:r>
                <a:r>
                  <a:rPr lang="en-US" b="0" i="0" u="none" strike="noStrike" baseline="0" dirty="0">
                    <a:latin typeface="Arial" panose="020B0604020202020204" pitchFamily="34" charset="0"/>
                    <a:cs typeface="Arial" panose="020B0604020202020204" pitchFamily="34" charset="0"/>
                  </a:rPr>
                  <a:t>while devices </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1 and </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4 stay on for a short period, determined by the delay of the three inverters. </a:t>
                </a:r>
              </a:p>
              <a:p>
                <a:pPr algn="just">
                  <a:lnSpc>
                    <a:spcPct val="90000"/>
                  </a:lnSpc>
                </a:pPr>
                <a:r>
                  <a:rPr lang="en-US" b="0" i="0" u="none" strike="noStrike" baseline="0" dirty="0">
                    <a:latin typeface="Arial" panose="020B0604020202020204" pitchFamily="34" charset="0"/>
                    <a:cs typeface="Arial" panose="020B0604020202020204" pitchFamily="34" charset="0"/>
                  </a:rPr>
                  <a:t>During this interval, the circuit is </a:t>
                </a:r>
                <a:r>
                  <a:rPr lang="en-US" b="0" i="1" u="none" strike="noStrike" baseline="0" dirty="0">
                    <a:latin typeface="Arial" panose="020B0604020202020204" pitchFamily="34" charset="0"/>
                    <a:cs typeface="Arial" panose="020B0604020202020204" pitchFamily="34" charset="0"/>
                  </a:rPr>
                  <a:t>transparent, </a:t>
                </a:r>
                <a:r>
                  <a:rPr lang="en-US" b="0" i="0" u="none" strike="noStrike" baseline="0" dirty="0">
                    <a:latin typeface="Arial" panose="020B0604020202020204" pitchFamily="34" charset="0"/>
                    <a:cs typeface="Arial" panose="020B0604020202020204" pitchFamily="34" charset="0"/>
                  </a:rPr>
                  <a:t>and the input data </a:t>
                </a:r>
                <a:r>
                  <a:rPr lang="en-US" b="0" i="1" u="none" strike="noStrike" baseline="0" dirty="0">
                    <a:latin typeface="Arial" panose="020B0604020202020204" pitchFamily="34" charset="0"/>
                    <a:cs typeface="Arial" panose="020B0604020202020204" pitchFamily="34" charset="0"/>
                  </a:rPr>
                  <a:t>D </a:t>
                </a:r>
                <a:r>
                  <a:rPr lang="en-US" b="0" i="0" u="none" strike="noStrike" baseline="0" dirty="0">
                    <a:latin typeface="Arial" panose="020B0604020202020204" pitchFamily="34" charset="0"/>
                    <a:cs typeface="Arial" panose="020B0604020202020204" pitchFamily="34" charset="0"/>
                  </a:rPr>
                  <a:t>is sampled by the latch. </a:t>
                </a:r>
              </a:p>
              <a:p>
                <a:pPr algn="just"/>
                <a14:m>
                  <m:oMath xmlns:m="http://schemas.openxmlformats.org/officeDocument/2006/math">
                    <m:acc>
                      <m:accPr>
                        <m:chr m:val="̅"/>
                        <m:ctrlPr>
                          <a:rPr lang="en-IN" i="1" smtClean="0">
                            <a:solidFill>
                              <a:srgbClr val="030303"/>
                            </a:solidFill>
                            <a:effectLst/>
                            <a:latin typeface="Cambria Math" panose="02040503050406030204" pitchFamily="18" charset="0"/>
                            <a:ea typeface="Times New Roman" panose="02020603050405020304" pitchFamily="18" charset="0"/>
                            <a:cs typeface="Arial" panose="020B0604020202020204" pitchFamily="34" charset="0"/>
                          </a:rPr>
                        </m:ctrlPr>
                      </m:accPr>
                      <m:e>
                        <m:r>
                          <a:rPr lang="en-IN" i="1">
                            <a:solidFill>
                              <a:srgbClr val="030303"/>
                            </a:solidFill>
                            <a:effectLst/>
                            <a:latin typeface="Cambria Math" panose="02040503050406030204" pitchFamily="18" charset="0"/>
                            <a:ea typeface="Times New Roman" panose="02020603050405020304" pitchFamily="18" charset="0"/>
                            <a:cs typeface="Arial" panose="020B0604020202020204" pitchFamily="34" charset="0"/>
                          </a:rPr>
                          <m:t>𝐶𝐿𝐾𝐷</m:t>
                        </m:r>
                      </m:e>
                    </m:acc>
                  </m:oMath>
                </a14:m>
                <a:r>
                  <a:rPr lang="en-IN" dirty="0">
                    <a:effectLst/>
                    <a:latin typeface="Arial" panose="020B0604020202020204" pitchFamily="34" charset="0"/>
                    <a:ea typeface="Calibri" panose="020F050202020403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goes low, node </a:t>
                </a:r>
                <a:r>
                  <a:rPr lang="en-US" i="1" dirty="0">
                    <a:latin typeface="Arial" panose="020B0604020202020204" pitchFamily="34" charset="0"/>
                    <a:cs typeface="Arial" panose="020B0604020202020204" pitchFamily="34" charset="0"/>
                  </a:rPr>
                  <a:t>X </a:t>
                </a:r>
                <a:r>
                  <a:rPr lang="en-US" dirty="0">
                    <a:latin typeface="Arial" panose="020B0604020202020204" pitchFamily="34" charset="0"/>
                    <a:cs typeface="Arial" panose="020B0604020202020204" pitchFamily="34" charset="0"/>
                  </a:rPr>
                  <a:t>is decoupled from the </a:t>
                </a:r>
                <a:r>
                  <a:rPr lang="en-US" i="1" dirty="0">
                    <a:latin typeface="Arial" panose="020B0604020202020204" pitchFamily="34" charset="0"/>
                    <a:cs typeface="Arial" panose="020B0604020202020204" pitchFamily="34" charset="0"/>
                  </a:rPr>
                  <a:t>D </a:t>
                </a:r>
                <a:r>
                  <a:rPr lang="en-US" dirty="0">
                    <a:latin typeface="Arial" panose="020B0604020202020204" pitchFamily="34" charset="0"/>
                    <a:cs typeface="Arial" panose="020B0604020202020204" pitchFamily="34" charset="0"/>
                  </a:rPr>
                  <a:t>input and is either held or starts to pre-charge to </a:t>
                </a:r>
                <a:r>
                  <a:rPr lang="en-US" i="1" dirty="0">
                    <a:latin typeface="Arial" panose="020B0604020202020204" pitchFamily="34" charset="0"/>
                    <a:cs typeface="Arial" panose="020B0604020202020204" pitchFamily="34" charset="0"/>
                  </a:rPr>
                  <a:t>VDD </a:t>
                </a:r>
                <a:r>
                  <a:rPr lang="en-US" dirty="0">
                    <a:latin typeface="Arial" panose="020B0604020202020204" pitchFamily="34" charset="0"/>
                    <a:cs typeface="Arial" panose="020B0604020202020204" pitchFamily="34" charset="0"/>
                  </a:rPr>
                  <a:t>by PMOS device </a:t>
                </a:r>
                <a:r>
                  <a:rPr lang="en-US" i="1" dirty="0">
                    <a:latin typeface="Arial" panose="020B0604020202020204" pitchFamily="34" charset="0"/>
                    <a:cs typeface="Arial" panose="020B0604020202020204" pitchFamily="34" charset="0"/>
                  </a:rPr>
                  <a:t>P</a:t>
                </a:r>
                <a:r>
                  <a:rPr lang="en-US" dirty="0">
                    <a:latin typeface="Arial" panose="020B0604020202020204" pitchFamily="34" charset="0"/>
                    <a:cs typeface="Arial" panose="020B0604020202020204" pitchFamily="34" charset="0"/>
                  </a:rPr>
                  <a:t>2</a:t>
                </a:r>
                <a:endParaRPr lang="en-IN" dirty="0">
                  <a:effectLst/>
                  <a:latin typeface="Arial" panose="020B0604020202020204" pitchFamily="34" charset="0"/>
                  <a:ea typeface="Calibri" panose="020F0502020204030204" pitchFamily="34" charset="0"/>
                  <a:cs typeface="Arial" panose="020B0604020202020204" pitchFamily="34" charset="0"/>
                </a:endParaRPr>
              </a:p>
              <a:p>
                <a:pPr algn="just"/>
                <a:r>
                  <a:rPr lang="en-IN" b="0" i="0" u="none" strike="noStrike" baseline="0" dirty="0">
                    <a:latin typeface="Arial" panose="020B0604020202020204" pitchFamily="34" charset="0"/>
                    <a:cs typeface="Arial" panose="020B0604020202020204" pitchFamily="34" charset="0"/>
                  </a:rPr>
                  <a:t>On </a:t>
                </a:r>
                <a:r>
                  <a:rPr lang="en-US" b="0" i="0" u="none" strike="noStrike" baseline="0" dirty="0">
                    <a:latin typeface="Arial" panose="020B0604020202020204" pitchFamily="34" charset="0"/>
                    <a:cs typeface="Arial" panose="020B0604020202020204" pitchFamily="34" charset="0"/>
                  </a:rPr>
                  <a:t>the falling edge of the clock, node </a:t>
                </a:r>
                <a:r>
                  <a:rPr lang="en-US" b="0" i="1" u="none" strike="noStrike" baseline="0" dirty="0">
                    <a:latin typeface="Arial" panose="020B0604020202020204" pitchFamily="34" charset="0"/>
                    <a:cs typeface="Arial" panose="020B0604020202020204" pitchFamily="34" charset="0"/>
                  </a:rPr>
                  <a:t>X </a:t>
                </a:r>
                <a:r>
                  <a:rPr lang="en-US" b="0" i="0" u="none" strike="noStrike" baseline="0" dirty="0">
                    <a:latin typeface="Arial" panose="020B0604020202020204" pitchFamily="34" charset="0"/>
                    <a:cs typeface="Arial" panose="020B0604020202020204" pitchFamily="34" charset="0"/>
                  </a:rPr>
                  <a:t>is held at </a:t>
                </a:r>
                <a:r>
                  <a:rPr lang="en-US" b="0" i="1" u="none" strike="noStrike" baseline="0" dirty="0">
                    <a:latin typeface="Arial" panose="020B0604020202020204" pitchFamily="34" charset="0"/>
                    <a:cs typeface="Arial" panose="020B0604020202020204" pitchFamily="34" charset="0"/>
                  </a:rPr>
                  <a:t>VDD </a:t>
                </a:r>
                <a:r>
                  <a:rPr lang="en-US" b="0" i="0" u="none" strike="noStrike" baseline="0" dirty="0">
                    <a:latin typeface="Arial" panose="020B0604020202020204" pitchFamily="34" charset="0"/>
                    <a:cs typeface="Arial" panose="020B0604020202020204" pitchFamily="34" charset="0"/>
                  </a:rPr>
                  <a:t>and the output is held stable by the </a:t>
                </a:r>
                <a:r>
                  <a:rPr lang="en-IN" b="0" i="0" u="none" strike="noStrike" baseline="0" dirty="0">
                    <a:latin typeface="Arial" panose="020B0604020202020204" pitchFamily="34" charset="0"/>
                    <a:cs typeface="Arial" panose="020B0604020202020204" pitchFamily="34" charset="0"/>
                  </a:rPr>
                  <a:t>cross-coupled inverters</a:t>
                </a:r>
                <a:endParaRPr lang="en-IN"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40A42427-E213-4D8F-9160-3F51E4FCFCB7}"/>
                  </a:ext>
                </a:extLst>
              </p:cNvPr>
              <p:cNvSpPr>
                <a:spLocks noGrp="1" noRot="1" noChangeAspect="1" noMove="1" noResize="1" noEditPoints="1" noAdjustHandles="1" noChangeArrowheads="1" noChangeShapeType="1" noTextEdit="1"/>
              </p:cNvSpPr>
              <p:nvPr>
                <p:ph idx="1"/>
              </p:nvPr>
            </p:nvSpPr>
            <p:spPr>
              <a:xfrm>
                <a:off x="649224" y="1243405"/>
                <a:ext cx="6018045" cy="4365655"/>
              </a:xfrm>
              <a:blipFill>
                <a:blip r:embed="rId2"/>
                <a:stretch>
                  <a:fillRect l="-709" t="-1397" r="-811" b="-18855"/>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61AEF9D3-FCE7-4154-98D4-A1FB60B0F5F9}"/>
              </a:ext>
            </a:extLst>
          </p:cNvPr>
          <p:cNvPicPr>
            <a:picLocks noChangeAspect="1"/>
          </p:cNvPicPr>
          <p:nvPr/>
        </p:nvPicPr>
        <p:blipFill>
          <a:blip r:embed="rId3"/>
          <a:stretch>
            <a:fillRect/>
          </a:stretch>
        </p:blipFill>
        <p:spPr>
          <a:xfrm>
            <a:off x="6667269" y="1759508"/>
            <a:ext cx="5451627" cy="2998393"/>
          </a:xfrm>
          <a:prstGeom prst="rect">
            <a:avLst/>
          </a:prstGeom>
        </p:spPr>
      </p:pic>
      <p:sp>
        <p:nvSpPr>
          <p:cNvPr id="15" name="Freeform 12">
            <a:extLst>
              <a:ext uri="{FF2B5EF4-FFF2-40B4-BE49-F238E27FC236}">
                <a16:creationId xmlns:a16="http://schemas.microsoft.com/office/drawing/2014/main" id="{1F36A2FB-17CD-4DA6-9D8A-BFD6ADF6A32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ED15171C-4826-45B3-BD64-B2DFC158B571}"/>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192444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419E28B-721B-4D0D-A1D3-78EAC57253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8F3FE-0A18-482E-AD4A-1DDCE5F08370}"/>
              </a:ext>
            </a:extLst>
          </p:cNvPr>
          <p:cNvSpPr>
            <a:spLocks noGrp="1"/>
          </p:cNvSpPr>
          <p:nvPr>
            <p:ph type="title"/>
          </p:nvPr>
        </p:nvSpPr>
        <p:spPr>
          <a:xfrm>
            <a:off x="649224" y="645106"/>
            <a:ext cx="5122652" cy="1259894"/>
          </a:xfrm>
        </p:spPr>
        <p:txBody>
          <a:bodyPr>
            <a:normAutofit/>
          </a:bodyPr>
          <a:lstStyle/>
          <a:p>
            <a:pPr>
              <a:lnSpc>
                <a:spcPct val="90000"/>
              </a:lnSpc>
            </a:pPr>
            <a:r>
              <a:rPr lang="en-US" sz="3100" dirty="0">
                <a:latin typeface="Arial" panose="020B0604020202020204" pitchFamily="34" charset="0"/>
                <a:cs typeface="Arial" panose="020B0604020202020204" pitchFamily="34" charset="0"/>
              </a:rPr>
              <a:t>Pipelining: An approach to optimize sequential circuits</a:t>
            </a:r>
            <a:endParaRPr lang="en-IN" sz="31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359E45B9-0D24-465E-84AD-FEDBA836B5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0BCB5BAB-E2BC-4764-B16C-471DFB0A2C08}"/>
              </a:ext>
            </a:extLst>
          </p:cNvPr>
          <p:cNvSpPr>
            <a:spLocks noGrp="1"/>
          </p:cNvSpPr>
          <p:nvPr>
            <p:ph idx="1"/>
          </p:nvPr>
        </p:nvSpPr>
        <p:spPr>
          <a:xfrm>
            <a:off x="660403" y="1524227"/>
            <a:ext cx="5566640" cy="4259262"/>
          </a:xfrm>
        </p:spPr>
        <p:txBody>
          <a:bodyPr>
            <a:noAutofit/>
          </a:bodyPr>
          <a:lstStyle/>
          <a:p>
            <a:pPr algn="just"/>
            <a:r>
              <a:rPr lang="en-US" sz="1750" dirty="0">
                <a:latin typeface="Arial" panose="020B0604020202020204" pitchFamily="34" charset="0"/>
                <a:cs typeface="Arial" panose="020B0604020202020204" pitchFamily="34" charset="0"/>
              </a:rPr>
              <a:t>Pipelining is a popular design technique often used to accelerate the operation of the data paths in digital processors. </a:t>
            </a:r>
          </a:p>
          <a:p>
            <a:pPr algn="just"/>
            <a:r>
              <a:rPr lang="en-US" sz="1750" b="0" i="0" u="none" strike="noStrike" baseline="0" dirty="0">
                <a:latin typeface="Arial" panose="020B0604020202020204" pitchFamily="34" charset="0"/>
                <a:cs typeface="Arial" panose="020B0604020202020204" pitchFamily="34" charset="0"/>
              </a:rPr>
              <a:t>The idea is easily explained with the example of Figure a. The goal of the presented circuit is to compute log(|</a:t>
            </a:r>
            <a:r>
              <a:rPr lang="en-US" sz="1750" b="0" i="1" u="none" strike="noStrike" baseline="0" dirty="0">
                <a:latin typeface="Arial" panose="020B0604020202020204" pitchFamily="34" charset="0"/>
                <a:cs typeface="Arial" panose="020B0604020202020204" pitchFamily="34" charset="0"/>
              </a:rPr>
              <a:t>a</a:t>
            </a:r>
            <a:r>
              <a:rPr lang="en-US" sz="1750" b="0" i="0" u="none" strike="noStrike" baseline="0" dirty="0">
                <a:latin typeface="Arial" panose="020B0604020202020204" pitchFamily="34" charset="0"/>
                <a:cs typeface="Arial" panose="020B0604020202020204" pitchFamily="34" charset="0"/>
              </a:rPr>
              <a:t> - </a:t>
            </a:r>
            <a:r>
              <a:rPr lang="en-US" sz="1750" b="0" i="1" u="none" strike="noStrike" baseline="0" dirty="0">
                <a:latin typeface="Arial" panose="020B0604020202020204" pitchFamily="34" charset="0"/>
                <a:cs typeface="Arial" panose="020B0604020202020204" pitchFamily="34" charset="0"/>
              </a:rPr>
              <a:t>b</a:t>
            </a:r>
            <a:r>
              <a:rPr lang="en-US" sz="1750" b="0" i="0" u="none" strike="noStrike" baseline="0" dirty="0">
                <a:latin typeface="Arial" panose="020B0604020202020204" pitchFamily="34" charset="0"/>
                <a:cs typeface="Arial" panose="020B0604020202020204" pitchFamily="34" charset="0"/>
              </a:rPr>
              <a:t>|), where both </a:t>
            </a:r>
            <a:r>
              <a:rPr lang="en-US" sz="1750" b="0" i="1" u="none" strike="noStrike" baseline="0" dirty="0">
                <a:latin typeface="Arial" panose="020B0604020202020204" pitchFamily="34" charset="0"/>
                <a:cs typeface="Arial" panose="020B0604020202020204" pitchFamily="34" charset="0"/>
              </a:rPr>
              <a:t>a </a:t>
            </a:r>
            <a:r>
              <a:rPr lang="en-US" sz="1750" b="0" i="0" u="none" strike="noStrike" baseline="0" dirty="0">
                <a:latin typeface="Arial" panose="020B0604020202020204" pitchFamily="34" charset="0"/>
                <a:cs typeface="Arial" panose="020B0604020202020204" pitchFamily="34" charset="0"/>
              </a:rPr>
              <a:t>and </a:t>
            </a:r>
            <a:r>
              <a:rPr lang="en-US" sz="1750" b="0" i="1" u="none" strike="noStrike" baseline="0" dirty="0">
                <a:latin typeface="Arial" panose="020B0604020202020204" pitchFamily="34" charset="0"/>
                <a:cs typeface="Arial" panose="020B0604020202020204" pitchFamily="34" charset="0"/>
              </a:rPr>
              <a:t>b </a:t>
            </a:r>
            <a:r>
              <a:rPr lang="en-US" sz="1750" b="0" i="0" u="none" strike="noStrike" baseline="0" dirty="0">
                <a:latin typeface="Arial" panose="020B0604020202020204" pitchFamily="34" charset="0"/>
                <a:cs typeface="Arial" panose="020B0604020202020204" pitchFamily="34" charset="0"/>
              </a:rPr>
              <a:t>represent </a:t>
            </a:r>
            <a:r>
              <a:rPr lang="en-IN" sz="1750" b="0" i="0" u="none" strike="noStrike" baseline="0" dirty="0">
                <a:latin typeface="Arial" panose="020B0604020202020204" pitchFamily="34" charset="0"/>
                <a:cs typeface="Arial" panose="020B0604020202020204" pitchFamily="34" charset="0"/>
              </a:rPr>
              <a:t>streams of numbers. </a:t>
            </a:r>
          </a:p>
          <a:p>
            <a:pPr algn="just"/>
            <a:r>
              <a:rPr lang="en-US" sz="1750" b="0" i="0" u="none" strike="noStrike" baseline="0" dirty="0">
                <a:latin typeface="Arial" panose="020B0604020202020204" pitchFamily="34" charset="0"/>
                <a:cs typeface="Arial" panose="020B0604020202020204" pitchFamily="34" charset="0"/>
              </a:rPr>
              <a:t>The minimal clock period </a:t>
            </a:r>
            <a:r>
              <a:rPr lang="en-US" sz="1750" b="0" i="1" u="none" strike="noStrike" baseline="0" dirty="0" err="1">
                <a:latin typeface="Arial" panose="020B0604020202020204" pitchFamily="34" charset="0"/>
                <a:cs typeface="Arial" panose="020B0604020202020204" pitchFamily="34" charset="0"/>
              </a:rPr>
              <a:t>T</a:t>
            </a:r>
            <a:r>
              <a:rPr lang="en-US" sz="1750" b="0" i="1" u="none" strike="noStrike" baseline="-25000" dirty="0" err="1">
                <a:latin typeface="Arial" panose="020B0604020202020204" pitchFamily="34" charset="0"/>
                <a:cs typeface="Arial" panose="020B0604020202020204" pitchFamily="34" charset="0"/>
              </a:rPr>
              <a:t>min</a:t>
            </a:r>
            <a:r>
              <a:rPr lang="en-US" sz="1750" b="0" i="1" u="none" strike="noStrike" baseline="0" dirty="0">
                <a:latin typeface="Arial" panose="020B0604020202020204" pitchFamily="34" charset="0"/>
                <a:cs typeface="Arial" panose="020B0604020202020204" pitchFamily="34" charset="0"/>
              </a:rPr>
              <a:t> </a:t>
            </a:r>
            <a:r>
              <a:rPr lang="en-US" sz="1750" b="0" i="0" u="none" strike="noStrike" baseline="0" dirty="0">
                <a:latin typeface="Arial" panose="020B0604020202020204" pitchFamily="34" charset="0"/>
                <a:cs typeface="Arial" panose="020B0604020202020204" pitchFamily="34" charset="0"/>
              </a:rPr>
              <a:t>necessary to ensure correct evaluation is given as</a:t>
            </a:r>
          </a:p>
          <a:p>
            <a:pPr algn="just"/>
            <a:endParaRPr lang="en-US" sz="1750" dirty="0">
              <a:latin typeface="Arial" panose="020B0604020202020204" pitchFamily="34" charset="0"/>
              <a:cs typeface="Arial" panose="020B0604020202020204" pitchFamily="34" charset="0"/>
            </a:endParaRPr>
          </a:p>
          <a:p>
            <a:pPr algn="just"/>
            <a:r>
              <a:rPr lang="en-US" sz="1750" b="0" u="none" strike="noStrike" baseline="0" dirty="0">
                <a:latin typeface="Arial" panose="020B0604020202020204" pitchFamily="34" charset="0"/>
                <a:cs typeface="Arial" panose="020B0604020202020204" pitchFamily="34" charset="0"/>
              </a:rPr>
              <a:t>where </a:t>
            </a:r>
            <a:r>
              <a:rPr lang="en-US" sz="1750" b="1" u="none" strike="noStrike" baseline="0" dirty="0" err="1">
                <a:latin typeface="Arial" panose="020B0604020202020204" pitchFamily="34" charset="0"/>
                <a:cs typeface="Arial" panose="020B0604020202020204" pitchFamily="34" charset="0"/>
              </a:rPr>
              <a:t>t</a:t>
            </a:r>
            <a:r>
              <a:rPr lang="en-US" sz="1750" b="1" u="none" strike="noStrike" baseline="-25000" dirty="0" err="1">
                <a:latin typeface="Arial" panose="020B0604020202020204" pitchFamily="34" charset="0"/>
                <a:cs typeface="Arial" panose="020B0604020202020204" pitchFamily="34" charset="0"/>
              </a:rPr>
              <a:t>c</a:t>
            </a:r>
            <a:r>
              <a:rPr lang="en-US" sz="1750" b="1" u="none" strike="noStrike" baseline="-25000" dirty="0">
                <a:latin typeface="Arial" panose="020B0604020202020204" pitchFamily="34" charset="0"/>
                <a:cs typeface="Arial" panose="020B0604020202020204" pitchFamily="34" charset="0"/>
              </a:rPr>
              <a:t>-q</a:t>
            </a:r>
            <a:r>
              <a:rPr lang="en-US" sz="1750" b="0" u="none" strike="noStrike" baseline="0" dirty="0">
                <a:latin typeface="Arial" panose="020B0604020202020204" pitchFamily="34" charset="0"/>
                <a:cs typeface="Arial" panose="020B0604020202020204" pitchFamily="34" charset="0"/>
              </a:rPr>
              <a:t> and </a:t>
            </a:r>
            <a:r>
              <a:rPr lang="en-US" sz="1750" b="1" u="none" strike="noStrike" baseline="0" dirty="0" err="1">
                <a:latin typeface="Arial" panose="020B0604020202020204" pitchFamily="34" charset="0"/>
                <a:cs typeface="Arial" panose="020B0604020202020204" pitchFamily="34" charset="0"/>
              </a:rPr>
              <a:t>t</a:t>
            </a:r>
            <a:r>
              <a:rPr lang="en-US" sz="1750" b="1" u="none" strike="noStrike" baseline="-25000" dirty="0" err="1">
                <a:latin typeface="Arial" panose="020B0604020202020204" pitchFamily="34" charset="0"/>
                <a:cs typeface="Arial" panose="020B0604020202020204" pitchFamily="34" charset="0"/>
              </a:rPr>
              <a:t>su</a:t>
            </a:r>
            <a:r>
              <a:rPr lang="en-US" sz="1750" b="0" u="none" strike="noStrike" baseline="0" dirty="0">
                <a:latin typeface="Arial" panose="020B0604020202020204" pitchFamily="34" charset="0"/>
                <a:cs typeface="Arial" panose="020B0604020202020204" pitchFamily="34" charset="0"/>
              </a:rPr>
              <a:t> are the propagation delay and the set-up time of the register, respectively. </a:t>
            </a:r>
            <a:r>
              <a:rPr lang="en-US" sz="1750" b="0" i="0" u="none" strike="noStrike" baseline="0" dirty="0">
                <a:latin typeface="Arial" panose="020B0604020202020204" pitchFamily="34" charset="0"/>
                <a:cs typeface="Arial" panose="020B0604020202020204" pitchFamily="34" charset="0"/>
              </a:rPr>
              <a:t>The term </a:t>
            </a:r>
            <a:r>
              <a:rPr lang="en-US" sz="1750" b="1" i="1" u="none" strike="noStrike" baseline="0" dirty="0" err="1">
                <a:latin typeface="Arial" panose="020B0604020202020204" pitchFamily="34" charset="0"/>
                <a:cs typeface="Arial" panose="020B0604020202020204" pitchFamily="34" charset="0"/>
              </a:rPr>
              <a:t>t</a:t>
            </a:r>
            <a:r>
              <a:rPr lang="en-US" sz="1750" b="1" i="1" u="none" strike="noStrike" baseline="-25000" dirty="0" err="1">
                <a:latin typeface="Arial" panose="020B0604020202020204" pitchFamily="34" charset="0"/>
                <a:cs typeface="Arial" panose="020B0604020202020204" pitchFamily="34" charset="0"/>
              </a:rPr>
              <a:t>pd,logic</a:t>
            </a:r>
            <a:r>
              <a:rPr lang="en-US" sz="1750" b="1" i="1" u="none" strike="noStrike" baseline="-25000" dirty="0">
                <a:latin typeface="Arial" panose="020B0604020202020204" pitchFamily="34" charset="0"/>
                <a:cs typeface="Arial" panose="020B0604020202020204" pitchFamily="34" charset="0"/>
              </a:rPr>
              <a:t> </a:t>
            </a:r>
            <a:r>
              <a:rPr lang="en-US" sz="1750" b="0" i="0" u="none" strike="noStrike" baseline="0" dirty="0">
                <a:latin typeface="Arial" panose="020B0604020202020204" pitchFamily="34" charset="0"/>
                <a:cs typeface="Arial" panose="020B0604020202020204" pitchFamily="34" charset="0"/>
              </a:rPr>
              <a:t>stands for the worst-case delay path through the combinational network, which consists of the adder, absolute value, and logarithm functions.</a:t>
            </a:r>
            <a:endParaRPr lang="en-IN" sz="175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81B0E21-6D79-4009-AC19-5F9DF81DE344}"/>
              </a:ext>
            </a:extLst>
          </p:cNvPr>
          <p:cNvPicPr>
            <a:picLocks noChangeAspect="1"/>
          </p:cNvPicPr>
          <p:nvPr/>
        </p:nvPicPr>
        <p:blipFill>
          <a:blip r:embed="rId2"/>
          <a:stretch>
            <a:fillRect/>
          </a:stretch>
        </p:blipFill>
        <p:spPr>
          <a:xfrm>
            <a:off x="6682210" y="915267"/>
            <a:ext cx="5451627" cy="4756544"/>
          </a:xfrm>
          <a:prstGeom prst="rect">
            <a:avLst/>
          </a:prstGeom>
        </p:spPr>
      </p:pic>
      <p:sp>
        <p:nvSpPr>
          <p:cNvPr id="15" name="Freeform 12">
            <a:extLst>
              <a:ext uri="{FF2B5EF4-FFF2-40B4-BE49-F238E27FC236}">
                <a16:creationId xmlns:a16="http://schemas.microsoft.com/office/drawing/2014/main" id="{1F36A2FB-17CD-4DA6-9D8A-BFD6ADF6A32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76EA2A74-ABA1-4CCC-9B86-3FC994DFB8E1}"/>
              </a:ext>
            </a:extLst>
          </p:cNvPr>
          <p:cNvSpPr>
            <a:spLocks noGrp="1"/>
          </p:cNvSpPr>
          <p:nvPr>
            <p:ph type="ftr" sz="quarter" idx="11"/>
          </p:nvPr>
        </p:nvSpPr>
        <p:spPr>
          <a:xfrm>
            <a:off x="2417043" y="6289347"/>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7" name="Picture 6">
            <a:extLst>
              <a:ext uri="{FF2B5EF4-FFF2-40B4-BE49-F238E27FC236}">
                <a16:creationId xmlns:a16="http://schemas.microsoft.com/office/drawing/2014/main" id="{3BF594F8-4893-4762-9A62-2DB5028C6C56}"/>
              </a:ext>
            </a:extLst>
          </p:cNvPr>
          <p:cNvPicPr>
            <a:picLocks noChangeAspect="1"/>
          </p:cNvPicPr>
          <p:nvPr/>
        </p:nvPicPr>
        <p:blipFill>
          <a:blip r:embed="rId3"/>
          <a:stretch>
            <a:fillRect/>
          </a:stretch>
        </p:blipFill>
        <p:spPr>
          <a:xfrm>
            <a:off x="1812440" y="4272931"/>
            <a:ext cx="2796219" cy="382150"/>
          </a:xfrm>
          <a:prstGeom prst="rect">
            <a:avLst/>
          </a:prstGeom>
        </p:spPr>
      </p:pic>
    </p:spTree>
    <p:extLst>
      <p:ext uri="{BB962C8B-B14F-4D97-AF65-F5344CB8AC3E}">
        <p14:creationId xmlns:p14="http://schemas.microsoft.com/office/powerpoint/2010/main" val="39823346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A61C1-502F-406C-9227-9A270C88BD46}"/>
              </a:ext>
            </a:extLst>
          </p:cNvPr>
          <p:cNvSpPr>
            <a:spLocks noGrp="1"/>
          </p:cNvSpPr>
          <p:nvPr>
            <p:ph type="title"/>
          </p:nvPr>
        </p:nvSpPr>
        <p:spPr>
          <a:xfrm>
            <a:off x="1767155" y="624110"/>
            <a:ext cx="9737457" cy="1280890"/>
          </a:xfrm>
        </p:spPr>
        <p:txBody>
          <a:bodyPr>
            <a:normAutofit/>
          </a:bodyPr>
          <a:lstStyle/>
          <a:p>
            <a:r>
              <a:rPr lang="en-IN" sz="3200" dirty="0">
                <a:latin typeface="Arial" panose="020B0604020202020204" pitchFamily="34" charset="0"/>
                <a:cs typeface="Arial" panose="020B0604020202020204" pitchFamily="34" charset="0"/>
              </a:rPr>
              <a:t>Continue……</a:t>
            </a:r>
          </a:p>
        </p:txBody>
      </p:sp>
      <p:sp>
        <p:nvSpPr>
          <p:cNvPr id="3" name="Content Placeholder 2">
            <a:extLst>
              <a:ext uri="{FF2B5EF4-FFF2-40B4-BE49-F238E27FC236}">
                <a16:creationId xmlns:a16="http://schemas.microsoft.com/office/drawing/2014/main" id="{D3C41F2A-9B1D-4936-AD88-1A3D1B69708F}"/>
              </a:ext>
            </a:extLst>
          </p:cNvPr>
          <p:cNvSpPr>
            <a:spLocks noGrp="1"/>
          </p:cNvSpPr>
          <p:nvPr>
            <p:ph idx="1"/>
          </p:nvPr>
        </p:nvSpPr>
        <p:spPr>
          <a:xfrm>
            <a:off x="924674" y="1202076"/>
            <a:ext cx="11085815" cy="4933732"/>
          </a:xfrm>
        </p:spPr>
        <p:txBody>
          <a:bodyPr/>
          <a:lstStyle/>
          <a:p>
            <a:pPr algn="just"/>
            <a:r>
              <a:rPr lang="en-US" dirty="0">
                <a:latin typeface="Arial" panose="020B0604020202020204" pitchFamily="34" charset="0"/>
                <a:cs typeface="Arial" panose="020B0604020202020204" pitchFamily="34" charset="0"/>
              </a:rPr>
              <a:t>Assume that each logic module has an equal propagation delay. We note that each logic module is then active for only 1/3 of the clock period (if the delay of the register is ignored). </a:t>
            </a:r>
          </a:p>
          <a:p>
            <a:pPr algn="just"/>
            <a:r>
              <a:rPr lang="en-US" sz="1800" b="0" i="0" u="none" strike="noStrike" baseline="0" dirty="0">
                <a:latin typeface="Arial" panose="020B0604020202020204" pitchFamily="34" charset="0"/>
                <a:cs typeface="Arial" panose="020B0604020202020204" pitchFamily="34" charset="0"/>
              </a:rPr>
              <a:t>Pipelining is a technique to improve the resource utilization and increase the functional throughput. </a:t>
            </a:r>
          </a:p>
          <a:p>
            <a:pPr algn="just"/>
            <a:r>
              <a:rPr lang="en-IN" sz="1800" b="0" i="0" u="none" strike="noStrike" baseline="0" dirty="0">
                <a:latin typeface="Arial" panose="020B0604020202020204" pitchFamily="34" charset="0"/>
                <a:cs typeface="Arial" panose="020B0604020202020204" pitchFamily="34" charset="0"/>
              </a:rPr>
              <a:t>Assume that we introduce </a:t>
            </a:r>
            <a:r>
              <a:rPr lang="en-US" sz="1800" b="0" i="0" u="none" strike="noStrike" baseline="0" dirty="0">
                <a:latin typeface="Arial" panose="020B0604020202020204" pitchFamily="34" charset="0"/>
                <a:cs typeface="Arial" panose="020B0604020202020204" pitchFamily="34" charset="0"/>
              </a:rPr>
              <a:t>registers between the logic blocks, as shown in Figure b. </a:t>
            </a:r>
            <a:r>
              <a:rPr lang="en-IN" sz="1800" b="0" i="0" u="none" strike="noStrike" baseline="0" dirty="0">
                <a:latin typeface="Arial" panose="020B0604020202020204" pitchFamily="34" charset="0"/>
                <a:cs typeface="Arial" panose="020B0604020202020204" pitchFamily="34" charset="0"/>
              </a:rPr>
              <a:t>This causes the computation </a:t>
            </a:r>
            <a:r>
              <a:rPr lang="en-US" sz="1800" b="0" i="0" u="none" strike="noStrike" baseline="0" dirty="0">
                <a:latin typeface="Arial" panose="020B0604020202020204" pitchFamily="34" charset="0"/>
                <a:cs typeface="Arial" panose="020B0604020202020204" pitchFamily="34" charset="0"/>
              </a:rPr>
              <a:t>for one set of input data to spread over a  number of clock periods, as shown in Table.</a:t>
            </a:r>
          </a:p>
          <a:p>
            <a:pPr algn="just"/>
            <a:r>
              <a:rPr lang="en-US" sz="1800" b="0" i="0" u="none" strike="noStrike" baseline="0" dirty="0">
                <a:latin typeface="Arial" panose="020B0604020202020204" pitchFamily="34" charset="0"/>
                <a:cs typeface="Arial" panose="020B0604020202020204" pitchFamily="34" charset="0"/>
              </a:rPr>
              <a:t>The result for the data set (</a:t>
            </a:r>
            <a:r>
              <a:rPr lang="en-US" sz="1800" b="0" i="1" u="none" strike="noStrike" baseline="0" dirty="0">
                <a:latin typeface="Arial" panose="020B0604020202020204" pitchFamily="34" charset="0"/>
                <a:cs typeface="Arial" panose="020B0604020202020204" pitchFamily="34" charset="0"/>
              </a:rPr>
              <a:t>a</a:t>
            </a:r>
            <a:r>
              <a:rPr lang="en-US" sz="1800" b="0" i="0" u="none" strike="noStrike" baseline="-25000" dirty="0">
                <a:latin typeface="Arial" panose="020B0604020202020204" pitchFamily="34" charset="0"/>
                <a:cs typeface="Arial" panose="020B0604020202020204" pitchFamily="34" charset="0"/>
              </a:rPr>
              <a:t>1</a:t>
            </a:r>
            <a:r>
              <a:rPr lang="en-US" sz="1800" b="0" i="0" u="none" strike="noStrike" baseline="0" dirty="0">
                <a:latin typeface="Arial" panose="020B0604020202020204" pitchFamily="34" charset="0"/>
                <a:cs typeface="Arial" panose="020B0604020202020204" pitchFamily="34" charset="0"/>
              </a:rPr>
              <a:t>, </a:t>
            </a:r>
            <a:r>
              <a:rPr lang="en-US" sz="1800" b="0" i="1" u="none" strike="noStrike" baseline="0" dirty="0">
                <a:latin typeface="Arial" panose="020B0604020202020204" pitchFamily="34" charset="0"/>
                <a:cs typeface="Arial" panose="020B0604020202020204" pitchFamily="34" charset="0"/>
              </a:rPr>
              <a:t>b</a:t>
            </a:r>
            <a:r>
              <a:rPr lang="en-US" sz="1800" b="0" i="0" u="none" strike="noStrike" baseline="-25000" dirty="0">
                <a:latin typeface="Arial" panose="020B0604020202020204" pitchFamily="34" charset="0"/>
                <a:cs typeface="Arial" panose="020B0604020202020204" pitchFamily="34" charset="0"/>
              </a:rPr>
              <a:t>1</a:t>
            </a:r>
            <a:r>
              <a:rPr lang="en-US" sz="1800" b="0" i="0" u="none" strike="noStrike" baseline="0" dirty="0">
                <a:latin typeface="Arial" panose="020B0604020202020204" pitchFamily="34" charset="0"/>
                <a:cs typeface="Arial" panose="020B0604020202020204" pitchFamily="34" charset="0"/>
              </a:rPr>
              <a:t>) only appears at the output after three clock-periods. The computation is performed in an assembly-line fashion, hence </a:t>
            </a:r>
            <a:r>
              <a:rPr lang="en-IN" sz="1800" b="0" i="0" u="none" strike="noStrike" baseline="0" dirty="0">
                <a:latin typeface="Arial" panose="020B0604020202020204" pitchFamily="34" charset="0"/>
                <a:cs typeface="Arial" panose="020B0604020202020204" pitchFamily="34" charset="0"/>
              </a:rPr>
              <a:t>the name pipeline.</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DC5951CF-E6C2-4D60-BFD3-5289FDC8050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Rohit Lorenzo, VIT-AP</a:t>
            </a:r>
            <a:endPar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endParaRPr>
          </a:p>
        </p:txBody>
      </p:sp>
      <p:pic>
        <p:nvPicPr>
          <p:cNvPr id="5" name="Picture 4">
            <a:extLst>
              <a:ext uri="{FF2B5EF4-FFF2-40B4-BE49-F238E27FC236}">
                <a16:creationId xmlns:a16="http://schemas.microsoft.com/office/drawing/2014/main" id="{A9220142-645D-40FD-BC27-2C103DAEE9BA}"/>
              </a:ext>
            </a:extLst>
          </p:cNvPr>
          <p:cNvPicPr>
            <a:picLocks noChangeAspect="1"/>
          </p:cNvPicPr>
          <p:nvPr/>
        </p:nvPicPr>
        <p:blipFill>
          <a:blip r:embed="rId2"/>
          <a:stretch>
            <a:fillRect/>
          </a:stretch>
        </p:blipFill>
        <p:spPr>
          <a:xfrm>
            <a:off x="2198830" y="3838312"/>
            <a:ext cx="9191625" cy="2714625"/>
          </a:xfrm>
          <a:prstGeom prst="rect">
            <a:avLst/>
          </a:prstGeom>
        </p:spPr>
      </p:pic>
    </p:spTree>
    <p:extLst>
      <p:ext uri="{BB962C8B-B14F-4D97-AF65-F5344CB8AC3E}">
        <p14:creationId xmlns:p14="http://schemas.microsoft.com/office/powerpoint/2010/main" val="19063258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4B2B5-2687-4080-8ECB-53344CDAC018}"/>
              </a:ext>
            </a:extLst>
          </p:cNvPr>
          <p:cNvSpPr>
            <a:spLocks noGrp="1"/>
          </p:cNvSpPr>
          <p:nvPr>
            <p:ph type="title"/>
          </p:nvPr>
        </p:nvSpPr>
        <p:spPr>
          <a:xfrm>
            <a:off x="1910993" y="624110"/>
            <a:ext cx="9593619" cy="1280890"/>
          </a:xfrm>
        </p:spPr>
        <p:txBody>
          <a:bodyPr/>
          <a:lstStyle/>
          <a:p>
            <a:r>
              <a:rPr lang="en-IN" dirty="0"/>
              <a:t>Continue…..</a:t>
            </a:r>
          </a:p>
        </p:txBody>
      </p:sp>
      <p:sp>
        <p:nvSpPr>
          <p:cNvPr id="3" name="Content Placeholder 2">
            <a:extLst>
              <a:ext uri="{FF2B5EF4-FFF2-40B4-BE49-F238E27FC236}">
                <a16:creationId xmlns:a16="http://schemas.microsoft.com/office/drawing/2014/main" id="{51A6D28D-4C65-4030-994A-9A7291CB17CD}"/>
              </a:ext>
            </a:extLst>
          </p:cNvPr>
          <p:cNvSpPr>
            <a:spLocks noGrp="1"/>
          </p:cNvSpPr>
          <p:nvPr>
            <p:ph idx="1"/>
          </p:nvPr>
        </p:nvSpPr>
        <p:spPr>
          <a:xfrm>
            <a:off x="1027417" y="1428108"/>
            <a:ext cx="10477196" cy="4707700"/>
          </a:xfrm>
        </p:spPr>
        <p:txBody>
          <a:bodyPr/>
          <a:lstStyle/>
          <a:p>
            <a:pPr algn="just"/>
            <a:r>
              <a:rPr lang="en-US" dirty="0">
                <a:latin typeface="Arial" panose="020B0604020202020204" pitchFamily="34" charset="0"/>
                <a:cs typeface="Arial" panose="020B0604020202020204" pitchFamily="34" charset="0"/>
              </a:rPr>
              <a:t>The advantage of pipelined operation becomes apparent when examining the minimum clock period of the modified circuit. </a:t>
            </a:r>
          </a:p>
          <a:p>
            <a:pPr algn="just"/>
            <a:r>
              <a:rPr lang="en-US" sz="1800" b="0" i="0" u="none" strike="noStrike" baseline="0" dirty="0">
                <a:latin typeface="Arial" panose="020B0604020202020204" pitchFamily="34" charset="0"/>
                <a:cs typeface="Arial" panose="020B0604020202020204" pitchFamily="34" charset="0"/>
              </a:rPr>
              <a:t>The combinational circuit block has been partitioned into three sections, each of which has a smaller </a:t>
            </a:r>
            <a:r>
              <a:rPr lang="en-US" sz="1800" b="0" i="1" u="none" strike="noStrike" baseline="0" dirty="0">
                <a:latin typeface="Arial" panose="020B0604020202020204" pitchFamily="34" charset="0"/>
                <a:cs typeface="Arial" panose="020B0604020202020204" pitchFamily="34" charset="0"/>
              </a:rPr>
              <a:t>propagation delay </a:t>
            </a:r>
            <a:r>
              <a:rPr lang="en-US" sz="1800" b="0" i="0" u="none" strike="noStrike" baseline="0" dirty="0">
                <a:latin typeface="Arial" panose="020B0604020202020204" pitchFamily="34" charset="0"/>
                <a:cs typeface="Arial" panose="020B0604020202020204" pitchFamily="34" charset="0"/>
              </a:rPr>
              <a:t>than the original </a:t>
            </a:r>
            <a:r>
              <a:rPr lang="en-IN" sz="1800" b="0" i="0" u="none" strike="noStrike" baseline="0" dirty="0">
                <a:latin typeface="Arial" panose="020B0604020202020204" pitchFamily="34" charset="0"/>
                <a:cs typeface="Arial" panose="020B0604020202020204" pitchFamily="34" charset="0"/>
              </a:rPr>
              <a:t>function. </a:t>
            </a:r>
          </a:p>
          <a:p>
            <a:pPr algn="just"/>
            <a:r>
              <a:rPr lang="en-US" sz="1800" b="0" i="0" u="none" strike="noStrike" baseline="0" dirty="0">
                <a:latin typeface="Arial" panose="020B0604020202020204" pitchFamily="34" charset="0"/>
                <a:cs typeface="Arial" panose="020B0604020202020204" pitchFamily="34" charset="0"/>
              </a:rPr>
              <a:t>This effectively reduces the value of the minimum allowable clock period:</a:t>
            </a:r>
          </a:p>
          <a:p>
            <a:pPr algn="just"/>
            <a:endParaRPr lang="en-US" dirty="0">
              <a:latin typeface="Arial" panose="020B0604020202020204" pitchFamily="34" charset="0"/>
              <a:cs typeface="Arial" panose="020B0604020202020204" pitchFamily="34" charset="0"/>
            </a:endParaRPr>
          </a:p>
          <a:p>
            <a:pPr algn="just"/>
            <a:endParaRPr lang="en-IN" sz="1800" b="0" i="0" u="none" strike="noStrike" baseline="0" dirty="0">
              <a:latin typeface="Times New Roman" panose="02020603050405020304" pitchFamily="18" charset="0"/>
            </a:endParaRPr>
          </a:p>
          <a:p>
            <a:pPr algn="just"/>
            <a:r>
              <a:rPr lang="en-IN" sz="1800" b="0" i="0" u="none" strike="noStrike" baseline="0" dirty="0">
                <a:latin typeface="Arial" panose="020B0604020202020204" pitchFamily="34" charset="0"/>
                <a:cs typeface="Arial" panose="020B0604020202020204" pitchFamily="34" charset="0"/>
              </a:rPr>
              <a:t>The pipelined network </a:t>
            </a:r>
            <a:r>
              <a:rPr lang="en-US" sz="1800" b="0" i="0" u="none" strike="noStrike" baseline="0" dirty="0">
                <a:latin typeface="Arial" panose="020B0604020202020204" pitchFamily="34" charset="0"/>
                <a:cs typeface="Arial" panose="020B0604020202020204" pitchFamily="34" charset="0"/>
              </a:rPr>
              <a:t>outperforms the original circuit by a factor of three under these assumptions, or </a:t>
            </a:r>
          </a:p>
          <a:p>
            <a:pPr marL="0" indent="0" algn="just">
              <a:buNone/>
            </a:pPr>
            <a:r>
              <a:rPr lang="en-US" dirty="0">
                <a:latin typeface="Arial" panose="020B0604020202020204" pitchFamily="34" charset="0"/>
                <a:cs typeface="Arial" panose="020B0604020202020204" pitchFamily="34" charset="0"/>
              </a:rPr>
              <a:t>      </a:t>
            </a:r>
            <a:r>
              <a:rPr lang="en-US" sz="1800" b="1" i="1" u="none" strike="noStrike" baseline="0" dirty="0">
                <a:latin typeface="Arial" panose="020B0604020202020204" pitchFamily="34" charset="0"/>
                <a:cs typeface="Arial" panose="020B0604020202020204" pitchFamily="34" charset="0"/>
              </a:rPr>
              <a:t>T </a:t>
            </a:r>
            <a:r>
              <a:rPr lang="en-US" sz="1800" b="1" i="1" u="none" strike="noStrike" baseline="-25000" dirty="0" err="1">
                <a:latin typeface="Arial" panose="020B0604020202020204" pitchFamily="34" charset="0"/>
                <a:cs typeface="Arial" panose="020B0604020202020204" pitchFamily="34" charset="0"/>
              </a:rPr>
              <a:t>min,pipe</a:t>
            </a:r>
            <a:r>
              <a:rPr lang="en-US" sz="1800" b="1" i="1" u="none" strike="noStrike" baseline="0" dirty="0">
                <a:latin typeface="Arial" panose="020B0604020202020204" pitchFamily="34" charset="0"/>
                <a:cs typeface="Arial" panose="020B0604020202020204" pitchFamily="34" charset="0"/>
              </a:rPr>
              <a:t>= </a:t>
            </a:r>
            <a:r>
              <a:rPr lang="en-IN" sz="1800" b="1" i="1" u="none" strike="noStrike" baseline="0" dirty="0" err="1">
                <a:latin typeface="Arial" panose="020B0604020202020204" pitchFamily="34" charset="0"/>
                <a:cs typeface="Arial" panose="020B0604020202020204" pitchFamily="34" charset="0"/>
              </a:rPr>
              <a:t>T</a:t>
            </a:r>
            <a:r>
              <a:rPr lang="en-IN" sz="1800" b="1" i="1" u="none" strike="noStrike" baseline="-25000" dirty="0" err="1">
                <a:latin typeface="Arial" panose="020B0604020202020204" pitchFamily="34" charset="0"/>
                <a:cs typeface="Arial" panose="020B0604020202020204" pitchFamily="34" charset="0"/>
              </a:rPr>
              <a:t>min</a:t>
            </a:r>
            <a:r>
              <a:rPr lang="en-IN" sz="1800" b="1" i="1" u="none" strike="noStrike" baseline="0" dirty="0">
                <a:latin typeface="Arial" panose="020B0604020202020204" pitchFamily="34" charset="0"/>
                <a:cs typeface="Arial" panose="020B0604020202020204" pitchFamily="34" charset="0"/>
              </a:rPr>
              <a:t>/3</a:t>
            </a:r>
            <a:r>
              <a:rPr lang="en-IN" sz="1800" b="1" i="0" u="none" strike="noStrike" baseline="0" dirty="0">
                <a:latin typeface="Arial" panose="020B0604020202020204" pitchFamily="34" charset="0"/>
                <a:cs typeface="Arial" panose="020B0604020202020204" pitchFamily="34" charset="0"/>
              </a:rPr>
              <a:t>. </a:t>
            </a:r>
          </a:p>
          <a:p>
            <a:pPr algn="just"/>
            <a:r>
              <a:rPr lang="en-US" sz="1800" b="0" i="0" u="none" strike="noStrike" baseline="0" dirty="0">
                <a:latin typeface="Arial" panose="020B0604020202020204" pitchFamily="34" charset="0"/>
                <a:cs typeface="Arial" panose="020B0604020202020204" pitchFamily="34" charset="0"/>
              </a:rPr>
              <a:t>The increased performance comes at the relatively small cost of two additional registers. This explains why pipelining is popular in the implementation </a:t>
            </a:r>
            <a:r>
              <a:rPr lang="en-IN" sz="1800" b="0" i="0" u="none" strike="noStrike" baseline="0" dirty="0">
                <a:latin typeface="Arial" panose="020B0604020202020204" pitchFamily="34" charset="0"/>
                <a:cs typeface="Arial" panose="020B0604020202020204" pitchFamily="34" charset="0"/>
              </a:rPr>
              <a:t>of very </a:t>
            </a:r>
            <a:r>
              <a:rPr lang="en-IN" sz="1800" b="0" i="0" u="none" strike="noStrike" baseline="0">
                <a:latin typeface="Arial" panose="020B0604020202020204" pitchFamily="34" charset="0"/>
                <a:cs typeface="Arial" panose="020B0604020202020204" pitchFamily="34" charset="0"/>
              </a:rPr>
              <a:t>high-performance data paths</a:t>
            </a:r>
            <a:r>
              <a:rPr lang="en-IN" sz="1800" b="0" i="0" u="none" strike="noStrike" baseline="0" dirty="0">
                <a:latin typeface="Arial" panose="020B0604020202020204" pitchFamily="34" charset="0"/>
                <a:cs typeface="Arial" panose="020B0604020202020204" pitchFamily="34" charset="0"/>
              </a:rPr>
              <a:t>. </a:t>
            </a:r>
            <a:r>
              <a:rPr lang="en-US" sz="1800" b="0" i="0" u="none" strike="noStrike" baseline="0"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pPr algn="l"/>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0B0FC3E2-CF9E-4D31-8928-58A6777BCC3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6" name="Picture 5">
            <a:extLst>
              <a:ext uri="{FF2B5EF4-FFF2-40B4-BE49-F238E27FC236}">
                <a16:creationId xmlns:a16="http://schemas.microsoft.com/office/drawing/2014/main" id="{A399A80E-95E9-4F72-939E-DBF998C2A9C5}"/>
              </a:ext>
            </a:extLst>
          </p:cNvPr>
          <p:cNvPicPr>
            <a:picLocks noChangeAspect="1"/>
          </p:cNvPicPr>
          <p:nvPr/>
        </p:nvPicPr>
        <p:blipFill>
          <a:blip r:embed="rId2"/>
          <a:stretch>
            <a:fillRect/>
          </a:stretch>
        </p:blipFill>
        <p:spPr>
          <a:xfrm>
            <a:off x="3426592" y="3205162"/>
            <a:ext cx="4619625" cy="447675"/>
          </a:xfrm>
          <a:prstGeom prst="rect">
            <a:avLst/>
          </a:prstGeom>
        </p:spPr>
      </p:pic>
    </p:spTree>
    <p:extLst>
      <p:ext uri="{BB962C8B-B14F-4D97-AF65-F5344CB8AC3E}">
        <p14:creationId xmlns:p14="http://schemas.microsoft.com/office/powerpoint/2010/main" val="12998248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AF6BF-DEC7-450D-A2E4-6ED9C6A90C5F}"/>
              </a:ext>
            </a:extLst>
          </p:cNvPr>
          <p:cNvSpPr>
            <a:spLocks noGrp="1"/>
          </p:cNvSpPr>
          <p:nvPr>
            <p:ph type="title"/>
          </p:nvPr>
        </p:nvSpPr>
        <p:spPr>
          <a:xfrm>
            <a:off x="1627632" y="624109"/>
            <a:ext cx="2487168" cy="5614951"/>
          </a:xfrm>
        </p:spPr>
        <p:txBody>
          <a:bodyPr>
            <a:normAutofit/>
          </a:bodyPr>
          <a:lstStyle/>
          <a:p>
            <a:r>
              <a:rPr lang="en-IN" sz="3200" dirty="0">
                <a:latin typeface="Arial" panose="020B0604020202020204" pitchFamily="34" charset="0"/>
                <a:cs typeface="Arial" panose="020B0604020202020204" pitchFamily="34" charset="0"/>
              </a:rPr>
              <a:t>Latch- vs. Register-Based Pipelines</a:t>
            </a:r>
            <a:r>
              <a:rPr lang="en-IN" sz="3200" dirty="0"/>
              <a:t/>
            </a:r>
            <a:br>
              <a:rPr lang="en-IN" sz="3200" dirty="0"/>
            </a:b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C8893E-128B-4304-B50E-5AC9D9242F46}"/>
                  </a:ext>
                </a:extLst>
              </p:cNvPr>
              <p:cNvSpPr>
                <a:spLocks noGrp="1"/>
              </p:cNvSpPr>
              <p:nvPr>
                <p:ph idx="1"/>
              </p:nvPr>
            </p:nvSpPr>
            <p:spPr>
              <a:xfrm>
                <a:off x="3638272" y="292768"/>
                <a:ext cx="8433863" cy="3136232"/>
              </a:xfrm>
            </p:spPr>
            <p:txBody>
              <a:bodyPr>
                <a:normAutofit/>
              </a:bodyPr>
              <a:lstStyle/>
              <a:p>
                <a:pPr>
                  <a:lnSpc>
                    <a:spcPct val="90000"/>
                  </a:lnSpc>
                </a:pPr>
                <a:r>
                  <a:rPr lang="en-US" sz="1700" dirty="0">
                    <a:latin typeface="Arial" panose="020B0604020202020204" pitchFamily="34" charset="0"/>
                    <a:cs typeface="Arial" panose="020B0604020202020204" pitchFamily="34" charset="0"/>
                  </a:rPr>
                  <a:t>Pipelined circuits can be constructed using level-sensitive latches instead of edge-triggered registers. </a:t>
                </a:r>
                <a:r>
                  <a:rPr lang="en-IN" sz="1700" b="0" i="0" u="none" strike="noStrike" baseline="0" dirty="0">
                    <a:latin typeface="Arial" panose="020B0604020202020204" pitchFamily="34" charset="0"/>
                    <a:cs typeface="Arial" panose="020B0604020202020204" pitchFamily="34" charset="0"/>
                  </a:rPr>
                  <a:t>The pipeline system is </a:t>
                </a:r>
                <a:r>
                  <a:rPr lang="en-US" sz="1700" b="0" i="0" u="none" strike="noStrike" baseline="0" dirty="0">
                    <a:latin typeface="Arial" panose="020B0604020202020204" pitchFamily="34" charset="0"/>
                    <a:cs typeface="Arial" panose="020B0604020202020204" pitchFamily="34" charset="0"/>
                  </a:rPr>
                  <a:t>implemented based on pass-transistor-based </a:t>
                </a:r>
                <a:r>
                  <a:rPr lang="en-US" sz="1700" b="0" i="1" u="none" strike="noStrike" baseline="0" dirty="0">
                    <a:latin typeface="Arial" panose="020B0604020202020204" pitchFamily="34" charset="0"/>
                    <a:cs typeface="Arial" panose="020B0604020202020204" pitchFamily="34" charset="0"/>
                  </a:rPr>
                  <a:t>positive and negative </a:t>
                </a:r>
                <a:r>
                  <a:rPr lang="en-US" sz="1700" b="0" i="0" u="none" strike="noStrike" baseline="0" dirty="0">
                    <a:latin typeface="Arial" panose="020B0604020202020204" pitchFamily="34" charset="0"/>
                    <a:cs typeface="Arial" panose="020B0604020202020204" pitchFamily="34" charset="0"/>
                  </a:rPr>
                  <a:t>latches. </a:t>
                </a:r>
              </a:p>
              <a:p>
                <a:pPr>
                  <a:lnSpc>
                    <a:spcPct val="90000"/>
                  </a:lnSpc>
                </a:pPr>
                <a:r>
                  <a:rPr lang="en-US" sz="1700" b="0" i="0" u="none" strike="noStrike" baseline="0" dirty="0">
                    <a:latin typeface="Arial" panose="020B0604020202020204" pitchFamily="34" charset="0"/>
                    <a:cs typeface="Arial" panose="020B0604020202020204" pitchFamily="34" charset="0"/>
                  </a:rPr>
                  <a:t>logic is introduced between the master and slave latches of a </a:t>
                </a:r>
                <a:r>
                  <a:rPr lang="en-IN" sz="1700" b="0" i="1" u="none" strike="noStrike" baseline="0" dirty="0">
                    <a:latin typeface="Arial" panose="020B0604020202020204" pitchFamily="34" charset="0"/>
                    <a:cs typeface="Arial" panose="020B0604020202020204" pitchFamily="34" charset="0"/>
                  </a:rPr>
                  <a:t>master-slave </a:t>
                </a:r>
                <a:r>
                  <a:rPr lang="en-IN" sz="1700" b="0" i="0" u="none" strike="noStrike" baseline="0" dirty="0">
                    <a:latin typeface="Arial" panose="020B0604020202020204" pitchFamily="34" charset="0"/>
                    <a:cs typeface="Arial" panose="020B0604020202020204" pitchFamily="34" charset="0"/>
                  </a:rPr>
                  <a:t>system. </a:t>
                </a:r>
                <a:r>
                  <a:rPr lang="en-US" sz="1700" b="0" i="0" u="none" strike="noStrike" baseline="0" dirty="0">
                    <a:latin typeface="Arial" panose="020B0604020202020204" pitchFamily="34" charset="0"/>
                    <a:cs typeface="Arial" panose="020B0604020202020204" pitchFamily="34" charset="0"/>
                  </a:rPr>
                  <a:t>we use without loss of generality the</a:t>
                </a:r>
              </a:p>
              <a:p>
                <a:pPr>
                  <a:lnSpc>
                    <a:spcPct val="90000"/>
                  </a:lnSpc>
                </a:pPr>
                <a:r>
                  <a:rPr lang="en-IN" sz="1700" b="0" i="0" u="none" strike="noStrike" baseline="0" dirty="0">
                    <a:latin typeface="Arial" panose="020B0604020202020204" pitchFamily="34" charset="0"/>
                    <a:cs typeface="Arial" panose="020B0604020202020204" pitchFamily="34" charset="0"/>
                  </a:rPr>
                  <a:t>Latch-based systems give significantly </a:t>
                </a:r>
                <a:r>
                  <a:rPr lang="en-US" sz="1700" b="0" i="0" u="none" strike="noStrike" baseline="0" dirty="0">
                    <a:latin typeface="Arial" panose="020B0604020202020204" pitchFamily="34" charset="0"/>
                    <a:cs typeface="Arial" panose="020B0604020202020204" pitchFamily="34" charset="0"/>
                  </a:rPr>
                  <a:t>more flexibility in implementing a pipelined system, and often offers higher performance.</a:t>
                </a:r>
              </a:p>
              <a:p>
                <a:pPr>
                  <a:lnSpc>
                    <a:spcPct val="90000"/>
                  </a:lnSpc>
                </a:pPr>
                <a:r>
                  <a:rPr lang="en-US" sz="1700" b="0" i="0" u="none" strike="noStrike" baseline="0" dirty="0">
                    <a:latin typeface="Arial" panose="020B0604020202020204" pitchFamily="34" charset="0"/>
                    <a:cs typeface="Arial" panose="020B0604020202020204" pitchFamily="34" charset="0"/>
                  </a:rPr>
                  <a:t>When the clocks </a:t>
                </a:r>
                <a:r>
                  <a:rPr lang="en-US" sz="1700" b="0" i="1" u="none" strike="noStrike" baseline="0" dirty="0">
                    <a:latin typeface="Arial" panose="020B0604020202020204" pitchFamily="34" charset="0"/>
                    <a:cs typeface="Arial" panose="020B0604020202020204" pitchFamily="34" charset="0"/>
                  </a:rPr>
                  <a:t>CLK </a:t>
                </a:r>
                <a:r>
                  <a:rPr lang="en-US" sz="1700" b="0" i="0" u="none" strike="noStrike" baseline="0" dirty="0">
                    <a:latin typeface="Arial" panose="020B0604020202020204" pitchFamily="34" charset="0"/>
                    <a:cs typeface="Arial" panose="020B0604020202020204" pitchFamily="34" charset="0"/>
                  </a:rPr>
                  <a:t>and </a:t>
                </a:r>
                <a14:m>
                  <m:oMath xmlns:m="http://schemas.openxmlformats.org/officeDocument/2006/math">
                    <m:acc>
                      <m:accPr>
                        <m:chr m:val="̅"/>
                        <m:ctrlPr>
                          <a:rPr lang="en-IN" sz="1700" i="1" smtClean="0">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IN" sz="1700" i="1">
                            <a:effectLst/>
                            <a:latin typeface="Cambria Math" panose="02040503050406030204" pitchFamily="18" charset="0"/>
                            <a:ea typeface="Times New Roman" panose="02020603050405020304" pitchFamily="18" charset="0"/>
                            <a:cs typeface="Times New Roman" panose="02020603050405020304" pitchFamily="18" charset="0"/>
                          </a:rPr>
                          <m:t>𝐶𝐿𝐾</m:t>
                        </m:r>
                      </m:e>
                    </m:acc>
                  </m:oMath>
                </a14:m>
                <a:r>
                  <a:rPr lang="en-US" sz="1700" b="0" i="1" u="none" strike="noStrike" baseline="0" dirty="0">
                    <a:latin typeface="Arial" panose="020B0604020202020204" pitchFamily="34" charset="0"/>
                    <a:cs typeface="Arial" panose="020B0604020202020204" pitchFamily="34" charset="0"/>
                  </a:rPr>
                  <a:t> </a:t>
                </a:r>
                <a:r>
                  <a:rPr lang="en-US" sz="1700" b="0" i="0" u="none" strike="noStrike" baseline="0" dirty="0">
                    <a:latin typeface="Arial" panose="020B0604020202020204" pitchFamily="34" charset="0"/>
                    <a:cs typeface="Arial" panose="020B0604020202020204" pitchFamily="34" charset="0"/>
                  </a:rPr>
                  <a:t>are non-overlapping, correct pipeline operation is </a:t>
                </a:r>
                <a:r>
                  <a:rPr lang="en-IN" sz="1700" b="0" i="0" u="none" strike="noStrike" baseline="0" dirty="0">
                    <a:latin typeface="Arial" panose="020B0604020202020204" pitchFamily="34" charset="0"/>
                    <a:cs typeface="Arial" panose="020B0604020202020204" pitchFamily="34" charset="0"/>
                  </a:rPr>
                  <a:t>obtained.</a:t>
                </a:r>
              </a:p>
              <a:p>
                <a:pPr>
                  <a:lnSpc>
                    <a:spcPct val="90000"/>
                  </a:lnSpc>
                </a:pPr>
                <a:r>
                  <a:rPr lang="en-US" sz="1700" b="0" i="0" u="none" strike="noStrike" baseline="0" dirty="0">
                    <a:latin typeface="Arial" panose="020B0604020202020204" pitchFamily="34" charset="0"/>
                    <a:cs typeface="Arial" panose="020B0604020202020204" pitchFamily="34" charset="0"/>
                  </a:rPr>
                  <a:t>Input data is sampled on </a:t>
                </a:r>
                <a:r>
                  <a:rPr lang="en-US" sz="1700" b="0" i="1" u="none" strike="noStrike" baseline="0" dirty="0">
                    <a:latin typeface="Arial" panose="020B0604020202020204" pitchFamily="34" charset="0"/>
                    <a:cs typeface="Arial" panose="020B0604020202020204" pitchFamily="34" charset="0"/>
                  </a:rPr>
                  <a:t>C</a:t>
                </a:r>
                <a:r>
                  <a:rPr lang="en-US" sz="1700" b="0" i="0" u="none" strike="noStrike" baseline="0" dirty="0">
                    <a:latin typeface="Arial" panose="020B0604020202020204" pitchFamily="34" charset="0"/>
                    <a:cs typeface="Arial" panose="020B0604020202020204" pitchFamily="34" charset="0"/>
                  </a:rPr>
                  <a:t>1 </a:t>
                </a:r>
                <a:r>
                  <a:rPr lang="en-IN" sz="1700" b="0" i="0" u="none" strike="noStrike" baseline="0" dirty="0">
                    <a:latin typeface="Arial" panose="020B0604020202020204" pitchFamily="34" charset="0"/>
                    <a:cs typeface="Arial" panose="020B0604020202020204" pitchFamily="34" charset="0"/>
                  </a:rPr>
                  <a:t>and the computation of logic block </a:t>
                </a:r>
                <a:r>
                  <a:rPr lang="en-IN" sz="1700" b="0" i="1" u="none" strike="noStrike" baseline="0" dirty="0">
                    <a:latin typeface="Arial" panose="020B0604020202020204" pitchFamily="34" charset="0"/>
                    <a:cs typeface="Arial" panose="020B0604020202020204" pitchFamily="34" charset="0"/>
                  </a:rPr>
                  <a:t>F </a:t>
                </a:r>
                <a:r>
                  <a:rPr lang="en-IN" sz="1700" b="0" i="0" u="none" strike="noStrike" baseline="0" dirty="0">
                    <a:latin typeface="Arial" panose="020B0604020202020204" pitchFamily="34" charset="0"/>
                    <a:cs typeface="Arial" panose="020B0604020202020204" pitchFamily="34" charset="0"/>
                  </a:rPr>
                  <a:t>starts.</a:t>
                </a:r>
                <a:endParaRPr lang="en-IN" sz="17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6AC8893E-128B-4304-B50E-5AC9D9242F46}"/>
                  </a:ext>
                </a:extLst>
              </p:cNvPr>
              <p:cNvSpPr>
                <a:spLocks noGrp="1" noRot="1" noChangeAspect="1" noMove="1" noResize="1" noEditPoints="1" noAdjustHandles="1" noChangeArrowheads="1" noChangeShapeType="1" noTextEdit="1"/>
              </p:cNvSpPr>
              <p:nvPr>
                <p:ph idx="1"/>
              </p:nvPr>
            </p:nvSpPr>
            <p:spPr>
              <a:xfrm>
                <a:off x="3638272" y="292768"/>
                <a:ext cx="8433863" cy="3136232"/>
              </a:xfrm>
              <a:blipFill>
                <a:blip r:embed="rId2"/>
                <a:stretch>
                  <a:fillRect l="-362" t="-1359"/>
                </a:stretch>
              </a:blipFill>
            </p:spPr>
            <p:txBody>
              <a:bodyPr/>
              <a:lstStyle/>
              <a:p>
                <a:r>
                  <a:rPr lang="en-IN">
                    <a:noFill/>
                  </a:rPr>
                  <a:t> </a:t>
                </a:r>
              </a:p>
            </p:txBody>
          </p:sp>
        </mc:Fallback>
      </mc:AlternateContent>
      <p:pic>
        <p:nvPicPr>
          <p:cNvPr id="5" name="Picture 4" descr="Shape&#10;&#10;Description automatically generated">
            <a:extLst>
              <a:ext uri="{FF2B5EF4-FFF2-40B4-BE49-F238E27FC236}">
                <a16:creationId xmlns:a16="http://schemas.microsoft.com/office/drawing/2014/main" id="{DBD96CFA-FDB1-4F7B-A530-0E385E5F78C7}"/>
              </a:ext>
            </a:extLst>
          </p:cNvPr>
          <p:cNvPicPr>
            <a:picLocks noChangeAspect="1"/>
          </p:cNvPicPr>
          <p:nvPr/>
        </p:nvPicPr>
        <p:blipFill>
          <a:blip r:embed="rId3"/>
          <a:stretch>
            <a:fillRect/>
          </a:stretch>
        </p:blipFill>
        <p:spPr>
          <a:xfrm>
            <a:off x="4821148" y="3328827"/>
            <a:ext cx="6544639" cy="3431568"/>
          </a:xfrm>
          <a:prstGeom prst="rect">
            <a:avLst/>
          </a:prstGeom>
        </p:spPr>
      </p:pic>
      <p:sp>
        <p:nvSpPr>
          <p:cNvPr id="4" name="Footer Placeholder 3">
            <a:extLst>
              <a:ext uri="{FF2B5EF4-FFF2-40B4-BE49-F238E27FC236}">
                <a16:creationId xmlns:a16="http://schemas.microsoft.com/office/drawing/2014/main" id="{15CD85D1-35C4-4ABB-8D06-9F4E30D4BFB2}"/>
              </a:ext>
            </a:extLst>
          </p:cNvPr>
          <p:cNvSpPr>
            <a:spLocks noGrp="1"/>
          </p:cNvSpPr>
          <p:nvPr>
            <p:ph type="ftr" sz="quarter" idx="11"/>
          </p:nvPr>
        </p:nvSpPr>
        <p:spPr>
          <a:xfrm>
            <a:off x="2589212" y="627296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7266088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67F8B-89B1-4459-818A-944F0124DEB3}"/>
              </a:ext>
            </a:extLst>
          </p:cNvPr>
          <p:cNvSpPr>
            <a:spLocks noGrp="1"/>
          </p:cNvSpPr>
          <p:nvPr>
            <p:ph type="title"/>
          </p:nvPr>
        </p:nvSpPr>
        <p:spPr>
          <a:xfrm>
            <a:off x="1828801" y="624110"/>
            <a:ext cx="9675812" cy="1280890"/>
          </a:xfrm>
        </p:spPr>
        <p:txBody>
          <a:bodyPr>
            <a:normAutofit/>
          </a:bodyPr>
          <a:lstStyle/>
          <a:p>
            <a:r>
              <a:rPr lang="en-IN" sz="3200" dirty="0">
                <a:latin typeface="Arial" panose="020B0604020202020204" pitchFamily="34" charset="0"/>
                <a:cs typeface="Arial" panose="020B0604020202020204" pitchFamily="34" charset="0"/>
              </a:rPr>
              <a:t>Continue….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676CCA-4F53-4319-9291-E524443E399C}"/>
                  </a:ext>
                </a:extLst>
              </p:cNvPr>
              <p:cNvSpPr>
                <a:spLocks noGrp="1"/>
              </p:cNvSpPr>
              <p:nvPr>
                <p:ph idx="1"/>
              </p:nvPr>
            </p:nvSpPr>
            <p:spPr>
              <a:xfrm>
                <a:off x="1510301" y="1438382"/>
                <a:ext cx="9994311" cy="4697426"/>
              </a:xfrm>
            </p:spPr>
            <p:txBody>
              <a:bodyPr/>
              <a:lstStyle/>
              <a:p>
                <a:pPr algn="just"/>
                <a:r>
                  <a:rPr lang="en-US" dirty="0">
                    <a:latin typeface="Arial" panose="020B0604020202020204" pitchFamily="34" charset="0"/>
                    <a:cs typeface="Arial" panose="020B0604020202020204" pitchFamily="34" charset="0"/>
                  </a:rPr>
                  <a:t>Input data is sampled on C</a:t>
                </a:r>
                <a:r>
                  <a:rPr lang="en-US" baseline="-25000" dirty="0">
                    <a:latin typeface="Arial" panose="020B0604020202020204" pitchFamily="34" charset="0"/>
                    <a:cs typeface="Arial" panose="020B0604020202020204" pitchFamily="34" charset="0"/>
                  </a:rPr>
                  <a:t>1  </a:t>
                </a:r>
                <a:r>
                  <a:rPr lang="en-IN" sz="1800" b="0" u="none" strike="noStrike" baseline="0" dirty="0">
                    <a:latin typeface="Arial" panose="020B0604020202020204" pitchFamily="34" charset="0"/>
                    <a:cs typeface="Arial" panose="020B0604020202020204" pitchFamily="34" charset="0"/>
                  </a:rPr>
                  <a:t>and the computation of  logic block F starts.</a:t>
                </a:r>
              </a:p>
              <a:p>
                <a:pPr algn="just"/>
                <a:r>
                  <a:rPr lang="en-US" dirty="0">
                    <a:latin typeface="Arial" panose="020B0604020202020204" pitchFamily="34" charset="0"/>
                    <a:cs typeface="Arial" panose="020B0604020202020204" pitchFamily="34" charset="0"/>
                  </a:rPr>
                  <a:t>T</a:t>
                </a:r>
                <a:r>
                  <a:rPr lang="en-US" sz="1800" b="0" u="none" strike="noStrike" baseline="0" dirty="0">
                    <a:latin typeface="Arial" panose="020B0604020202020204" pitchFamily="34" charset="0"/>
                    <a:cs typeface="Arial" panose="020B0604020202020204" pitchFamily="34" charset="0"/>
                  </a:rPr>
                  <a:t>he result of the logic block F is stored on C</a:t>
                </a:r>
                <a:r>
                  <a:rPr lang="en-US" sz="1800" b="0" u="none" strike="noStrike" baseline="-25000" dirty="0">
                    <a:latin typeface="Arial" panose="020B0604020202020204" pitchFamily="34" charset="0"/>
                    <a:cs typeface="Arial" panose="020B0604020202020204" pitchFamily="34" charset="0"/>
                  </a:rPr>
                  <a:t>2</a:t>
                </a:r>
                <a:r>
                  <a:rPr lang="en-US" sz="1800" b="0" u="none" strike="noStrike" baseline="0" dirty="0">
                    <a:latin typeface="Arial" panose="020B0604020202020204" pitchFamily="34" charset="0"/>
                    <a:cs typeface="Arial" panose="020B0604020202020204" pitchFamily="34" charset="0"/>
                  </a:rPr>
                  <a:t> on the falling edge of CLK, and the computation of logic block G starts. </a:t>
                </a:r>
              </a:p>
              <a:p>
                <a:pPr algn="just"/>
                <a:r>
                  <a:rPr lang="en-US" sz="1800" b="0" i="0" u="none" strike="noStrike" baseline="0" dirty="0">
                    <a:latin typeface="Arial" panose="020B0604020202020204" pitchFamily="34" charset="0"/>
                    <a:cs typeface="Arial" panose="020B0604020202020204" pitchFamily="34" charset="0"/>
                  </a:rPr>
                  <a:t>The non-overlapping of the clocks </a:t>
                </a:r>
                <a:r>
                  <a:rPr lang="en-IN" sz="1800" b="0" i="0" u="none" strike="noStrike" baseline="0" dirty="0">
                    <a:latin typeface="Arial" panose="020B0604020202020204" pitchFamily="34" charset="0"/>
                    <a:cs typeface="Arial" panose="020B0604020202020204" pitchFamily="34" charset="0"/>
                  </a:rPr>
                  <a:t>ensures correct operation. </a:t>
                </a:r>
                <a:r>
                  <a:rPr lang="en-US" sz="1800" b="0" i="0" u="none" strike="noStrike" baseline="0" dirty="0">
                    <a:latin typeface="Arial" panose="020B0604020202020204" pitchFamily="34" charset="0"/>
                    <a:cs typeface="Arial" panose="020B0604020202020204" pitchFamily="34" charset="0"/>
                  </a:rPr>
                  <a:t>The value stored on </a:t>
                </a:r>
                <a:r>
                  <a:rPr lang="en-US" sz="1800" b="0" i="1" u="none" strike="noStrike" baseline="0" dirty="0">
                    <a:latin typeface="Arial" panose="020B0604020202020204" pitchFamily="34" charset="0"/>
                    <a:cs typeface="Arial" panose="020B0604020202020204" pitchFamily="34" charset="0"/>
                  </a:rPr>
                  <a:t>C2 </a:t>
                </a:r>
                <a:r>
                  <a:rPr lang="en-US" sz="1800" b="0" i="0" u="none" strike="noStrike" baseline="0" dirty="0">
                    <a:latin typeface="Arial" panose="020B0604020202020204" pitchFamily="34" charset="0"/>
                    <a:cs typeface="Arial" panose="020B0604020202020204" pitchFamily="34" charset="0"/>
                  </a:rPr>
                  <a:t>at the end of the </a:t>
                </a:r>
                <a:r>
                  <a:rPr lang="en-US" sz="1800" b="0" i="1" u="none" strike="noStrike" baseline="0" dirty="0">
                    <a:latin typeface="Arial" panose="020B0604020202020204" pitchFamily="34" charset="0"/>
                    <a:cs typeface="Arial" panose="020B0604020202020204" pitchFamily="34" charset="0"/>
                  </a:rPr>
                  <a:t>CLK </a:t>
                </a:r>
                <a:r>
                  <a:rPr lang="en-US" sz="1800" b="0" i="0" u="none" strike="noStrike" baseline="0" dirty="0">
                    <a:latin typeface="Arial" panose="020B0604020202020204" pitchFamily="34" charset="0"/>
                    <a:cs typeface="Arial" panose="020B0604020202020204" pitchFamily="34" charset="0"/>
                  </a:rPr>
                  <a:t>low phase is the result of passing the previous input </a:t>
                </a:r>
                <a:r>
                  <a:rPr lang="en-IN" sz="1800" b="0" i="0" u="none" strike="noStrike" baseline="0" dirty="0">
                    <a:latin typeface="Times New Roman" panose="02020603050405020304" pitchFamily="18" charset="0"/>
                  </a:rPr>
                  <a:t>through the logic function </a:t>
                </a:r>
                <a:r>
                  <a:rPr lang="en-IN" sz="1800" b="0" i="1" u="none" strike="noStrike" baseline="0" dirty="0">
                    <a:latin typeface="Times New Roman" panose="02020603050405020304" pitchFamily="18" charset="0"/>
                  </a:rPr>
                  <a:t>F. </a:t>
                </a:r>
              </a:p>
              <a:p>
                <a:r>
                  <a:rPr lang="en-US" b="0" i="0" u="none" strike="noStrike" baseline="0" dirty="0">
                    <a:latin typeface="Arial" panose="020B0604020202020204" pitchFamily="34" charset="0"/>
                    <a:cs typeface="Arial" panose="020B0604020202020204" pitchFamily="34" charset="0"/>
                  </a:rPr>
                  <a:t>When overlap exists between </a:t>
                </a:r>
                <a:r>
                  <a:rPr lang="en-US" b="0" i="1" u="none" strike="noStrike" baseline="0" dirty="0">
                    <a:latin typeface="Arial" panose="020B0604020202020204" pitchFamily="34" charset="0"/>
                    <a:cs typeface="Arial" panose="020B0604020202020204" pitchFamily="34" charset="0"/>
                  </a:rPr>
                  <a:t>CLK </a:t>
                </a:r>
                <a:r>
                  <a:rPr lang="en-US" b="0" i="0" u="none" strike="noStrike" baseline="0" dirty="0">
                    <a:latin typeface="Arial" panose="020B0604020202020204" pitchFamily="34" charset="0"/>
                    <a:cs typeface="Arial" panose="020B0604020202020204" pitchFamily="34" charset="0"/>
                  </a:rPr>
                  <a:t>and </a:t>
                </a:r>
                <a14:m>
                  <m:oMath xmlns:m="http://schemas.openxmlformats.org/officeDocument/2006/math">
                    <m:acc>
                      <m:accPr>
                        <m:chr m:val="̅"/>
                        <m:ctrlPr>
                          <a:rPr kumimoji="0" lang="en-IN" b="0" i="1" u="none" strike="noStrike" kern="1200" cap="none" spc="0" normalizeH="0" baseline="0" noProof="0" smtClean="0">
                            <a:ln>
                              <a:noFill/>
                            </a:ln>
                            <a:solidFill>
                              <a:prstClr val="black">
                                <a:lumMod val="75000"/>
                                <a:lumOff val="25000"/>
                              </a:prstClr>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r>
                          <a:rPr kumimoji="0" lang="en-IN" b="0" i="1" u="none" strike="noStrike" kern="1200" cap="none" spc="0" normalizeH="0" baseline="0" noProof="0">
                            <a:ln>
                              <a:noFill/>
                            </a:ln>
                            <a:solidFill>
                              <a:prstClr val="black">
                                <a:lumMod val="75000"/>
                                <a:lumOff val="25000"/>
                              </a:prstClr>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𝐶𝐿𝐾</m:t>
                        </m:r>
                      </m:e>
                    </m:acc>
                  </m:oMath>
                </a14:m>
                <a:r>
                  <a:rPr kumimoji="0" lang="en-US" b="0" i="1"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cs typeface="Arial" panose="020B0604020202020204" pitchFamily="34" charset="0"/>
                  </a:rPr>
                  <a:t> </a:t>
                </a:r>
                <a:r>
                  <a:rPr lang="en-US" b="0" i="0" u="none" strike="noStrike" baseline="0" dirty="0">
                    <a:latin typeface="Arial" panose="020B0604020202020204" pitchFamily="34" charset="0"/>
                    <a:cs typeface="Arial" panose="020B0604020202020204" pitchFamily="34" charset="0"/>
                  </a:rPr>
                  <a:t>, the next input is already being applied to </a:t>
                </a:r>
                <a:r>
                  <a:rPr lang="en-US" b="0" i="1" u="none" strike="noStrike" baseline="0" dirty="0">
                    <a:latin typeface="Arial" panose="020B0604020202020204" pitchFamily="34" charset="0"/>
                    <a:cs typeface="Arial" panose="020B0604020202020204" pitchFamily="34" charset="0"/>
                  </a:rPr>
                  <a:t>F, </a:t>
                </a:r>
                <a:r>
                  <a:rPr lang="en-US" b="0" i="0" u="none" strike="noStrike" baseline="0" dirty="0">
                    <a:latin typeface="Arial" panose="020B0604020202020204" pitchFamily="34" charset="0"/>
                    <a:cs typeface="Arial" panose="020B0604020202020204" pitchFamily="34" charset="0"/>
                  </a:rPr>
                  <a:t>and its effect might propagate to </a:t>
                </a:r>
                <a:r>
                  <a:rPr lang="en-US" b="0" i="1" u="none" strike="noStrike" baseline="0" dirty="0">
                    <a:latin typeface="Arial" panose="020B0604020202020204" pitchFamily="34" charset="0"/>
                    <a:cs typeface="Arial" panose="020B0604020202020204" pitchFamily="34" charset="0"/>
                  </a:rPr>
                  <a:t>C</a:t>
                </a:r>
                <a:r>
                  <a:rPr lang="en-US" b="0" i="0" u="none" strike="noStrike" baseline="0" dirty="0">
                    <a:latin typeface="Arial" panose="020B0604020202020204" pitchFamily="34" charset="0"/>
                    <a:cs typeface="Arial" panose="020B0604020202020204" pitchFamily="34" charset="0"/>
                  </a:rPr>
                  <a:t>2 before </a:t>
                </a:r>
                <a14:m>
                  <m:oMath xmlns:m="http://schemas.openxmlformats.org/officeDocument/2006/math">
                    <m:acc>
                      <m:accPr>
                        <m:chr m:val="̅"/>
                        <m:ctrlPr>
                          <a:rPr lang="en-IN" i="1">
                            <a:solidFill>
                              <a:prstClr val="black">
                                <a:lumMod val="75000"/>
                                <a:lumOff val="25000"/>
                              </a:prstClr>
                            </a:solidFill>
                            <a:latin typeface="Cambria Math" panose="02040503050406030204" pitchFamily="18" charset="0"/>
                            <a:ea typeface="Times New Roman" panose="02020603050405020304" pitchFamily="18" charset="0"/>
                            <a:cs typeface="Times New Roman" panose="02020603050405020304" pitchFamily="18" charset="0"/>
                          </a:rPr>
                        </m:ctrlPr>
                      </m:accPr>
                      <m:e>
                        <m:r>
                          <a:rPr lang="en-IN" i="1">
                            <a:solidFill>
                              <a:prstClr val="black">
                                <a:lumMod val="75000"/>
                                <a:lumOff val="25000"/>
                              </a:prstClr>
                            </a:solidFill>
                            <a:latin typeface="Cambria Math" panose="02040503050406030204" pitchFamily="18" charset="0"/>
                            <a:ea typeface="Times New Roman" panose="02020603050405020304" pitchFamily="18" charset="0"/>
                            <a:cs typeface="Times New Roman" panose="02020603050405020304" pitchFamily="18" charset="0"/>
                          </a:rPr>
                          <m:t>𝐶𝐿𝐾</m:t>
                        </m:r>
                      </m:e>
                    </m:acc>
                  </m:oMath>
                </a14:m>
                <a:r>
                  <a:rPr lang="en-US" b="0" i="1" u="none" strike="noStrike" baseline="0" dirty="0">
                    <a:latin typeface="Arial" panose="020B0604020202020204" pitchFamily="34" charset="0"/>
                    <a:cs typeface="Arial" panose="020B0604020202020204" pitchFamily="34" charset="0"/>
                  </a:rPr>
                  <a:t> </a:t>
                </a:r>
                <a:r>
                  <a:rPr lang="en-US" b="0" i="0" u="none" strike="noStrike" baseline="0" dirty="0">
                    <a:latin typeface="Arial" panose="020B0604020202020204" pitchFamily="34" charset="0"/>
                    <a:cs typeface="Arial" panose="020B0604020202020204" pitchFamily="34" charset="0"/>
                  </a:rPr>
                  <a:t>goes low. </a:t>
                </a:r>
              </a:p>
              <a:p>
                <a:pPr algn="just"/>
                <a:r>
                  <a:rPr lang="en-US" sz="1800" b="0" i="0" u="none" strike="noStrike" baseline="0" dirty="0">
                    <a:latin typeface="Arial" panose="020B0604020202020204" pitchFamily="34" charset="0"/>
                    <a:cs typeface="Arial" panose="020B0604020202020204" pitchFamily="34" charset="0"/>
                  </a:rPr>
                  <a:t>In other words, a </a:t>
                </a:r>
                <a:r>
                  <a:rPr lang="en-US" sz="1800" b="0" i="1" u="none" strike="noStrike" baseline="0" dirty="0">
                    <a:latin typeface="Arial" panose="020B0604020202020204" pitchFamily="34" charset="0"/>
                    <a:cs typeface="Arial" panose="020B0604020202020204" pitchFamily="34" charset="0"/>
                  </a:rPr>
                  <a:t>race </a:t>
                </a:r>
                <a:r>
                  <a:rPr lang="en-US" sz="1800" b="0" i="0" u="none" strike="noStrike" baseline="0" dirty="0">
                    <a:latin typeface="Arial" panose="020B0604020202020204" pitchFamily="34" charset="0"/>
                    <a:cs typeface="Arial" panose="020B0604020202020204" pitchFamily="34" charset="0"/>
                  </a:rPr>
                  <a:t>develops between the previous input and the current one. Which value wins depends upon the logic function </a:t>
                </a:r>
                <a:r>
                  <a:rPr lang="en-US" sz="1800" b="0" i="1" u="none" strike="noStrike" baseline="0" dirty="0">
                    <a:latin typeface="Arial" panose="020B0604020202020204" pitchFamily="34" charset="0"/>
                    <a:cs typeface="Arial" panose="020B0604020202020204" pitchFamily="34" charset="0"/>
                  </a:rPr>
                  <a:t>F</a:t>
                </a:r>
                <a:r>
                  <a:rPr lang="en-US" sz="1800" b="0" i="0" u="none" strike="noStrike" baseline="0" dirty="0">
                    <a:latin typeface="Arial" panose="020B0604020202020204" pitchFamily="34" charset="0"/>
                    <a:cs typeface="Arial" panose="020B0604020202020204" pitchFamily="34" charset="0"/>
                  </a:rPr>
                  <a:t>, the overlap time, and the value of the inputs since the </a:t>
                </a:r>
                <a:r>
                  <a:rPr lang="en-US" sz="1800" b="0" i="1" u="none" strike="noStrike" baseline="0" dirty="0">
                    <a:latin typeface="Arial" panose="020B0604020202020204" pitchFamily="34" charset="0"/>
                    <a:cs typeface="Arial" panose="020B0604020202020204" pitchFamily="34" charset="0"/>
                  </a:rPr>
                  <a:t>propagation delay </a:t>
                </a:r>
                <a:r>
                  <a:rPr lang="en-US" sz="1800" b="0" i="0" u="none" strike="noStrike" baseline="0" dirty="0">
                    <a:latin typeface="Arial" panose="020B0604020202020204" pitchFamily="34" charset="0"/>
                    <a:cs typeface="Arial" panose="020B0604020202020204" pitchFamily="34" charset="0"/>
                  </a:rPr>
                  <a:t>is often a function of the applied inputs. The latter factor makes the detection and elimination of race </a:t>
                </a:r>
                <a:r>
                  <a:rPr lang="en-IN" sz="1800" b="0" i="0" u="none" strike="noStrike" baseline="0" dirty="0">
                    <a:latin typeface="Arial" panose="020B0604020202020204" pitchFamily="34" charset="0"/>
                    <a:cs typeface="Arial" panose="020B0604020202020204" pitchFamily="34" charset="0"/>
                  </a:rPr>
                  <a:t>conditions non-trivial.</a:t>
                </a:r>
                <a:endParaRPr lang="en-IN" baseline="-25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33676CCA-4F53-4319-9291-E524443E399C}"/>
                  </a:ext>
                </a:extLst>
              </p:cNvPr>
              <p:cNvSpPr>
                <a:spLocks noGrp="1" noRot="1" noChangeAspect="1" noMove="1" noResize="1" noEditPoints="1" noAdjustHandles="1" noChangeArrowheads="1" noChangeShapeType="1" noTextEdit="1"/>
              </p:cNvSpPr>
              <p:nvPr>
                <p:ph idx="1"/>
              </p:nvPr>
            </p:nvSpPr>
            <p:spPr>
              <a:xfrm>
                <a:off x="1510301" y="1438382"/>
                <a:ext cx="9994311" cy="4697426"/>
              </a:xfrm>
              <a:blipFill>
                <a:blip r:embed="rId2"/>
                <a:stretch>
                  <a:fillRect l="-427" t="-778" r="-488"/>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17FB9C0D-572B-4D9D-8612-861DADD44C7A}"/>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7861705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FE3618-8387-4153-870E-99EA1B9784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EDF530-4A22-4C2C-AF10-167C721C583C}"/>
              </a:ext>
            </a:extLst>
          </p:cNvPr>
          <p:cNvSpPr>
            <a:spLocks noGrp="1"/>
          </p:cNvSpPr>
          <p:nvPr>
            <p:ph type="title"/>
          </p:nvPr>
        </p:nvSpPr>
        <p:spPr>
          <a:xfrm>
            <a:off x="649224" y="645106"/>
            <a:ext cx="3650279" cy="1259894"/>
          </a:xfrm>
        </p:spPr>
        <p:txBody>
          <a:bodyPr>
            <a:normAutofit/>
          </a:bodyPr>
          <a:lstStyle/>
          <a:p>
            <a:pPr>
              <a:lnSpc>
                <a:spcPct val="90000"/>
              </a:lnSpc>
            </a:pPr>
            <a:r>
              <a:rPr lang="en-US" sz="2800">
                <a:latin typeface="Arial" panose="020B0604020202020204" pitchFamily="34" charset="0"/>
                <a:cs typeface="Arial" panose="020B0604020202020204" pitchFamily="34" charset="0"/>
              </a:rPr>
              <a:t>NORA-CMOS—A Logic Style for Pipelined Structures</a:t>
            </a:r>
            <a:endParaRPr lang="en-IN" sz="280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BB99A42A-5548-4BB8-9115-A05821C360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B4740941-DB7A-4779-889C-7F96FAF4800C}"/>
              </a:ext>
            </a:extLst>
          </p:cNvPr>
          <p:cNvSpPr>
            <a:spLocks noGrp="1"/>
          </p:cNvSpPr>
          <p:nvPr>
            <p:ph idx="1"/>
          </p:nvPr>
        </p:nvSpPr>
        <p:spPr>
          <a:xfrm>
            <a:off x="649225" y="2054832"/>
            <a:ext cx="3758388" cy="3838022"/>
          </a:xfrm>
        </p:spPr>
        <p:txBody>
          <a:bodyPr>
            <a:normAutofit/>
          </a:bodyPr>
          <a:lstStyle/>
          <a:p>
            <a:pPr algn="just">
              <a:lnSpc>
                <a:spcPct val="90000"/>
              </a:lnSpc>
            </a:pPr>
            <a:r>
              <a:rPr lang="en-US" sz="1700" dirty="0">
                <a:latin typeface="Arial" panose="020B0604020202020204" pitchFamily="34" charset="0"/>
                <a:cs typeface="Arial" panose="020B0604020202020204" pitchFamily="34" charset="0"/>
              </a:rPr>
              <a:t>The latch-based pipeline circuit can also be implemented using C</a:t>
            </a:r>
            <a:r>
              <a:rPr lang="en-US" sz="1700" baseline="30000" dirty="0">
                <a:latin typeface="Arial" panose="020B0604020202020204" pitchFamily="34" charset="0"/>
                <a:cs typeface="Arial" panose="020B0604020202020204" pitchFamily="34" charset="0"/>
              </a:rPr>
              <a:t>2</a:t>
            </a:r>
            <a:r>
              <a:rPr lang="en-US" sz="1700" dirty="0">
                <a:latin typeface="Arial" panose="020B0604020202020204" pitchFamily="34" charset="0"/>
                <a:cs typeface="Arial" panose="020B0604020202020204" pitchFamily="34" charset="0"/>
              </a:rPr>
              <a:t>MOS latches.</a:t>
            </a:r>
          </a:p>
          <a:p>
            <a:pPr algn="just">
              <a:lnSpc>
                <a:spcPct val="90000"/>
              </a:lnSpc>
            </a:pPr>
            <a:r>
              <a:rPr lang="en-US" sz="1700" b="0" i="0" u="none" strike="noStrike" baseline="0" dirty="0">
                <a:latin typeface="Arial" panose="020B0604020202020204" pitchFamily="34" charset="0"/>
                <a:cs typeface="Arial" panose="020B0604020202020204" pitchFamily="34" charset="0"/>
              </a:rPr>
              <a:t>A C</a:t>
            </a:r>
            <a:r>
              <a:rPr lang="en-US" sz="1700" b="0" i="0" u="none" strike="noStrike" baseline="30000" dirty="0">
                <a:latin typeface="Arial" panose="020B0604020202020204" pitchFamily="34" charset="0"/>
                <a:cs typeface="Arial" panose="020B0604020202020204" pitchFamily="34" charset="0"/>
              </a:rPr>
              <a:t>2</a:t>
            </a:r>
            <a:r>
              <a:rPr lang="en-US" sz="1700" b="0" i="0" u="none" strike="noStrike" baseline="0" dirty="0">
                <a:latin typeface="Arial" panose="020B0604020202020204" pitchFamily="34" charset="0"/>
                <a:cs typeface="Arial" panose="020B0604020202020204" pitchFamily="34" charset="0"/>
              </a:rPr>
              <a:t>MOS-based pipelined circuit is race-free as long as all the logic functions </a:t>
            </a:r>
            <a:r>
              <a:rPr lang="en-US" sz="1700" b="0" i="1" u="none" strike="noStrike" baseline="0" dirty="0">
                <a:latin typeface="Arial" panose="020B0604020202020204" pitchFamily="34" charset="0"/>
                <a:cs typeface="Arial" panose="020B0604020202020204" pitchFamily="34" charset="0"/>
              </a:rPr>
              <a:t>F </a:t>
            </a:r>
            <a:r>
              <a:rPr lang="en-US" sz="1700" b="0" i="0" u="none" strike="noStrike" baseline="0" dirty="0">
                <a:latin typeface="Arial" panose="020B0604020202020204" pitchFamily="34" charset="0"/>
                <a:cs typeface="Arial" panose="020B0604020202020204" pitchFamily="34" charset="0"/>
              </a:rPr>
              <a:t>(implemented using static logic) between the latches are non-inverting.</a:t>
            </a:r>
          </a:p>
          <a:p>
            <a:pPr algn="just">
              <a:lnSpc>
                <a:spcPct val="90000"/>
              </a:lnSpc>
            </a:pPr>
            <a:r>
              <a:rPr lang="en-US" sz="1700" b="0" i="0" u="none" strike="noStrike" baseline="0" dirty="0">
                <a:latin typeface="Arial" panose="020B0604020202020204" pitchFamily="34" charset="0"/>
                <a:cs typeface="Arial" panose="020B0604020202020204" pitchFamily="34" charset="0"/>
              </a:rPr>
              <a:t>The reasoning for the above argument is similar to the argument made in the construction </a:t>
            </a:r>
            <a:r>
              <a:rPr lang="en-IN" sz="1700" b="0" i="0" u="none" strike="noStrike" baseline="0" dirty="0">
                <a:latin typeface="Arial" panose="020B0604020202020204" pitchFamily="34" charset="0"/>
                <a:cs typeface="Arial" panose="020B0604020202020204" pitchFamily="34" charset="0"/>
              </a:rPr>
              <a:t>of a C</a:t>
            </a:r>
            <a:r>
              <a:rPr lang="en-IN" sz="1700" b="0" i="0" u="none" strike="noStrike" baseline="30000" dirty="0">
                <a:latin typeface="Arial" panose="020B0604020202020204" pitchFamily="34" charset="0"/>
                <a:cs typeface="Arial" panose="020B0604020202020204" pitchFamily="34" charset="0"/>
              </a:rPr>
              <a:t>2</a:t>
            </a:r>
            <a:r>
              <a:rPr lang="en-IN" sz="1700" b="0" i="0" u="none" strike="noStrike" baseline="0" dirty="0">
                <a:latin typeface="Arial" panose="020B0604020202020204" pitchFamily="34" charset="0"/>
                <a:cs typeface="Arial" panose="020B0604020202020204" pitchFamily="34" charset="0"/>
              </a:rPr>
              <a:t>MOS register.</a:t>
            </a:r>
            <a:endParaRPr lang="en-IN" sz="1700" dirty="0">
              <a:latin typeface="Arial" panose="020B0604020202020204" pitchFamily="34" charset="0"/>
              <a:cs typeface="Arial" panose="020B0604020202020204" pitchFamily="34" charset="0"/>
            </a:endParaRPr>
          </a:p>
        </p:txBody>
      </p:sp>
      <p:pic>
        <p:nvPicPr>
          <p:cNvPr id="5" name="Picture 4" descr="Diagram, schematic&#10;&#10;Description automatically generated">
            <a:extLst>
              <a:ext uri="{FF2B5EF4-FFF2-40B4-BE49-F238E27FC236}">
                <a16:creationId xmlns:a16="http://schemas.microsoft.com/office/drawing/2014/main" id="{FB982426-A803-4510-8F57-A646E7F0FF0F}"/>
              </a:ext>
            </a:extLst>
          </p:cNvPr>
          <p:cNvPicPr>
            <a:picLocks noChangeAspect="1"/>
          </p:cNvPicPr>
          <p:nvPr/>
        </p:nvPicPr>
        <p:blipFill>
          <a:blip r:embed="rId2"/>
          <a:stretch>
            <a:fillRect/>
          </a:stretch>
        </p:blipFill>
        <p:spPr>
          <a:xfrm>
            <a:off x="5122977" y="1905000"/>
            <a:ext cx="6953577" cy="2798814"/>
          </a:xfrm>
          <a:prstGeom prst="rect">
            <a:avLst/>
          </a:prstGeom>
        </p:spPr>
      </p:pic>
      <p:sp>
        <p:nvSpPr>
          <p:cNvPr id="14" name="Freeform 11">
            <a:extLst>
              <a:ext uri="{FF2B5EF4-FFF2-40B4-BE49-F238E27FC236}">
                <a16:creationId xmlns:a16="http://schemas.microsoft.com/office/drawing/2014/main" id="{D49441E5-946F-46B3-BDD2-BAD0885323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6F515C1B-E48B-4898-AB32-7493C5EA1C17}"/>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0192620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FE3618-8387-4153-870E-99EA1B9784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217809-5C8B-4882-B720-A8D009880539}"/>
              </a:ext>
            </a:extLst>
          </p:cNvPr>
          <p:cNvSpPr>
            <a:spLocks noGrp="1"/>
          </p:cNvSpPr>
          <p:nvPr>
            <p:ph type="title"/>
          </p:nvPr>
        </p:nvSpPr>
        <p:spPr>
          <a:xfrm>
            <a:off x="649224" y="645106"/>
            <a:ext cx="3650279" cy="1259894"/>
          </a:xfrm>
        </p:spPr>
        <p:txBody>
          <a:bodyPr>
            <a:normAutofit/>
          </a:bodyPr>
          <a:lstStyle/>
          <a:p>
            <a:r>
              <a:rPr lang="en-IN">
                <a:latin typeface="Arial" panose="020B0604020202020204" pitchFamily="34" charset="0"/>
                <a:cs typeface="Arial" panose="020B0604020202020204" pitchFamily="34" charset="0"/>
              </a:rPr>
              <a:t>Continue….</a:t>
            </a:r>
          </a:p>
        </p:txBody>
      </p:sp>
      <p:sp>
        <p:nvSpPr>
          <p:cNvPr id="12" name="Rectangle 11">
            <a:extLst>
              <a:ext uri="{FF2B5EF4-FFF2-40B4-BE49-F238E27FC236}">
                <a16:creationId xmlns:a16="http://schemas.microsoft.com/office/drawing/2014/main" id="{BB99A42A-5548-4BB8-9115-A05821C360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A8150C21-56EA-4685-B555-3012D354A2C6}"/>
              </a:ext>
            </a:extLst>
          </p:cNvPr>
          <p:cNvSpPr>
            <a:spLocks noGrp="1"/>
          </p:cNvSpPr>
          <p:nvPr>
            <p:ph idx="1"/>
          </p:nvPr>
        </p:nvSpPr>
        <p:spPr>
          <a:xfrm>
            <a:off x="649225" y="1335640"/>
            <a:ext cx="3650278" cy="4557213"/>
          </a:xfrm>
        </p:spPr>
        <p:txBody>
          <a:bodyPr>
            <a:normAutofit/>
          </a:bodyPr>
          <a:lstStyle/>
          <a:p>
            <a:pPr algn="just"/>
            <a:r>
              <a:rPr lang="en-US" dirty="0">
                <a:latin typeface="Arial" panose="020B0604020202020204" pitchFamily="34" charset="0"/>
                <a:cs typeface="Arial" panose="020B0604020202020204" pitchFamily="34" charset="0"/>
              </a:rPr>
              <a:t>The only way a signal can </a:t>
            </a:r>
            <a:r>
              <a:rPr lang="en-US" b="0" i="0" u="none" strike="noStrike" baseline="0" dirty="0">
                <a:latin typeface="Arial" panose="020B0604020202020204" pitchFamily="34" charset="0"/>
                <a:cs typeface="Arial" panose="020B0604020202020204" pitchFamily="34" charset="0"/>
              </a:rPr>
              <a:t>race from stage to stage under this condition is when the logic function </a:t>
            </a:r>
            <a:r>
              <a:rPr lang="en-US" b="0" i="1" u="none" strike="noStrike" baseline="0" dirty="0">
                <a:latin typeface="Arial" panose="020B0604020202020204" pitchFamily="34" charset="0"/>
                <a:cs typeface="Arial" panose="020B0604020202020204" pitchFamily="34" charset="0"/>
              </a:rPr>
              <a:t>F </a:t>
            </a:r>
            <a:r>
              <a:rPr lang="en-US" b="0" i="0" u="none" strike="noStrike" baseline="0" dirty="0">
                <a:latin typeface="Arial" panose="020B0604020202020204" pitchFamily="34" charset="0"/>
                <a:cs typeface="Arial" panose="020B0604020202020204" pitchFamily="34" charset="0"/>
              </a:rPr>
              <a:t>is inverting,</a:t>
            </a:r>
          </a:p>
          <a:p>
            <a:pPr algn="just"/>
            <a:r>
              <a:rPr lang="en-US" dirty="0">
                <a:latin typeface="Arial" panose="020B0604020202020204" pitchFamily="34" charset="0"/>
                <a:cs typeface="Arial" panose="020B0604020202020204" pitchFamily="34" charset="0"/>
              </a:rPr>
              <a:t>Based on this concept, a logic circuit style called NORA-CMOS was conceived. </a:t>
            </a:r>
            <a:r>
              <a:rPr lang="en-US" b="0" i="0" u="none" strike="noStrike" baseline="0" dirty="0">
                <a:latin typeface="Arial" panose="020B0604020202020204" pitchFamily="34" charset="0"/>
                <a:cs typeface="Arial" panose="020B0604020202020204" pitchFamily="34" charset="0"/>
              </a:rPr>
              <a:t>It combines C</a:t>
            </a:r>
            <a:r>
              <a:rPr lang="en-US" b="0" i="0" u="none" strike="noStrike" baseline="30000" dirty="0">
                <a:latin typeface="Arial" panose="020B0604020202020204" pitchFamily="34" charset="0"/>
                <a:cs typeface="Arial" panose="020B0604020202020204" pitchFamily="34" charset="0"/>
              </a:rPr>
              <a:t>2</a:t>
            </a:r>
            <a:r>
              <a:rPr lang="en-US" b="0" i="0" u="none" strike="noStrike" baseline="0" dirty="0">
                <a:latin typeface="Arial" panose="020B0604020202020204" pitchFamily="34" charset="0"/>
                <a:cs typeface="Arial" panose="020B0604020202020204" pitchFamily="34" charset="0"/>
              </a:rPr>
              <a:t>MOS pipeline registers and </a:t>
            </a:r>
            <a:r>
              <a:rPr lang="en-US" b="0" i="1" u="none" strike="noStrike" baseline="0" dirty="0">
                <a:latin typeface="Arial" panose="020B0604020202020204" pitchFamily="34" charset="0"/>
                <a:cs typeface="Arial" panose="020B0604020202020204" pitchFamily="34" charset="0"/>
              </a:rPr>
              <a:t>NORA </a:t>
            </a:r>
            <a:r>
              <a:rPr lang="en-US" b="0" i="0" u="none" strike="noStrike" baseline="0" dirty="0">
                <a:latin typeface="Arial" panose="020B0604020202020204" pitchFamily="34" charset="0"/>
                <a:cs typeface="Arial" panose="020B0604020202020204" pitchFamily="34" charset="0"/>
              </a:rPr>
              <a:t>dynamic logic function </a:t>
            </a:r>
            <a:r>
              <a:rPr lang="en-IN" b="0" i="0" u="none" strike="noStrike" baseline="0" dirty="0">
                <a:latin typeface="Arial" panose="020B0604020202020204" pitchFamily="34" charset="0"/>
                <a:cs typeface="Arial" panose="020B0604020202020204" pitchFamily="34" charset="0"/>
              </a:rPr>
              <a:t>blocks.  </a:t>
            </a:r>
            <a:r>
              <a:rPr lang="en-US" b="0" i="0" u="none" strike="noStrike" baseline="0" dirty="0">
                <a:latin typeface="Arial" panose="020B0604020202020204" pitchFamily="34" charset="0"/>
                <a:cs typeface="Arial" panose="020B0604020202020204" pitchFamily="34" charset="0"/>
              </a:rPr>
              <a:t>Each module consists of a block of combinational logic that can be a mixture of static and dynamic logic, followed by a C</a:t>
            </a:r>
            <a:r>
              <a:rPr lang="en-US" b="0" i="0" u="none" strike="noStrike" baseline="30000" dirty="0">
                <a:latin typeface="Arial" panose="020B0604020202020204" pitchFamily="34" charset="0"/>
                <a:cs typeface="Arial" panose="020B0604020202020204" pitchFamily="34" charset="0"/>
              </a:rPr>
              <a:t>2</a:t>
            </a:r>
            <a:r>
              <a:rPr lang="en-US" b="0" i="0" u="none" strike="noStrike" baseline="0" dirty="0">
                <a:latin typeface="Arial" panose="020B0604020202020204" pitchFamily="34" charset="0"/>
                <a:cs typeface="Arial" panose="020B0604020202020204" pitchFamily="34" charset="0"/>
              </a:rPr>
              <a:t>MOS latch. </a:t>
            </a:r>
          </a:p>
          <a:p>
            <a:pPr algn="just"/>
            <a:endParaRPr lang="en-IN" dirty="0">
              <a:latin typeface="Arial" panose="020B0604020202020204" pitchFamily="34" charset="0"/>
              <a:cs typeface="Arial" panose="020B0604020202020204" pitchFamily="34" charset="0"/>
            </a:endParaRPr>
          </a:p>
        </p:txBody>
      </p:sp>
      <p:pic>
        <p:nvPicPr>
          <p:cNvPr id="5" name="Picture 4" descr="Diagram, engineering drawing&#10;&#10;Description automatically generated">
            <a:extLst>
              <a:ext uri="{FF2B5EF4-FFF2-40B4-BE49-F238E27FC236}">
                <a16:creationId xmlns:a16="http://schemas.microsoft.com/office/drawing/2014/main" id="{4FD24896-EF31-456B-9E92-D269351D76BC}"/>
              </a:ext>
            </a:extLst>
          </p:cNvPr>
          <p:cNvPicPr>
            <a:picLocks noChangeAspect="1"/>
          </p:cNvPicPr>
          <p:nvPr/>
        </p:nvPicPr>
        <p:blipFill>
          <a:blip r:embed="rId2"/>
          <a:stretch>
            <a:fillRect/>
          </a:stretch>
        </p:blipFill>
        <p:spPr>
          <a:xfrm>
            <a:off x="4619543" y="780563"/>
            <a:ext cx="6953577" cy="4971806"/>
          </a:xfrm>
          <a:prstGeom prst="rect">
            <a:avLst/>
          </a:prstGeom>
        </p:spPr>
      </p:pic>
      <p:sp>
        <p:nvSpPr>
          <p:cNvPr id="14" name="Freeform 11">
            <a:extLst>
              <a:ext uri="{FF2B5EF4-FFF2-40B4-BE49-F238E27FC236}">
                <a16:creationId xmlns:a16="http://schemas.microsoft.com/office/drawing/2014/main" id="{D49441E5-946F-46B3-BDD2-BAD0885323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3FB1AD62-35F7-4EF7-A760-AAFE2AEED416}"/>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29249827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BD230D-0708-4782-93C2-6421485EDE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54DD5-58A4-4358-B6EB-0085E8969EF9}"/>
              </a:ext>
            </a:extLst>
          </p:cNvPr>
          <p:cNvSpPr>
            <a:spLocks noGrp="1"/>
          </p:cNvSpPr>
          <p:nvPr>
            <p:ph type="title"/>
          </p:nvPr>
        </p:nvSpPr>
        <p:spPr>
          <a:xfrm>
            <a:off x="649224" y="645106"/>
            <a:ext cx="6574536" cy="1259894"/>
          </a:xfrm>
        </p:spPr>
        <p:txBody>
          <a:bodyPr>
            <a:normAutofit/>
          </a:bodyPr>
          <a:lstStyle/>
          <a:p>
            <a:r>
              <a:rPr lang="en-US">
                <a:latin typeface="Arial" panose="020B0604020202020204" pitchFamily="34" charset="0"/>
                <a:cs typeface="Arial" panose="020B0604020202020204" pitchFamily="34" charset="0"/>
              </a:rPr>
              <a:t>Continue….</a:t>
            </a:r>
            <a:endParaRPr lang="en-IN">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D630D25A-547E-4D17-B65E-FA2B888931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18644B-18E4-408F-907D-7455B89FC778}"/>
                  </a:ext>
                </a:extLst>
              </p:cNvPr>
              <p:cNvSpPr>
                <a:spLocks noGrp="1"/>
              </p:cNvSpPr>
              <p:nvPr>
                <p:ph idx="1"/>
              </p:nvPr>
            </p:nvSpPr>
            <p:spPr>
              <a:xfrm>
                <a:off x="519017" y="1357249"/>
                <a:ext cx="6074803" cy="3759253"/>
              </a:xfrm>
            </p:spPr>
            <p:txBody>
              <a:bodyPr>
                <a:normAutofit/>
              </a:bodyPr>
              <a:lstStyle/>
              <a:p>
                <a:pPr algn="just"/>
                <a:r>
                  <a:rPr lang="en-US" b="0" i="0" u="none" strike="noStrike" baseline="0" dirty="0">
                    <a:latin typeface="Arial" panose="020B0604020202020204" pitchFamily="34" charset="0"/>
                    <a:cs typeface="Arial" panose="020B0604020202020204" pitchFamily="34" charset="0"/>
                  </a:rPr>
                  <a:t>Logic and latch are clocked in such a way that both are simultaneously in either evaluation, or hold (</a:t>
                </a:r>
                <a:r>
                  <a:rPr lang="en-US" b="0" i="0" u="none" strike="noStrike" baseline="0" dirty="0" err="1">
                    <a:latin typeface="Arial" panose="020B0604020202020204" pitchFamily="34" charset="0"/>
                    <a:cs typeface="Arial" panose="020B0604020202020204" pitchFamily="34" charset="0"/>
                  </a:rPr>
                  <a:t>precharge</a:t>
                </a:r>
                <a:r>
                  <a:rPr lang="en-US" b="0" i="0" u="none" strike="noStrike" baseline="0" dirty="0">
                    <a:latin typeface="Arial" panose="020B0604020202020204" pitchFamily="34" charset="0"/>
                    <a:cs typeface="Arial" panose="020B0604020202020204" pitchFamily="34" charset="0"/>
                  </a:rPr>
                  <a:t>) mode.  </a:t>
                </a:r>
                <a:r>
                  <a:rPr lang="en-IN" b="0" i="0" u="none" strike="noStrike" baseline="0" dirty="0">
                    <a:latin typeface="Arial" panose="020B0604020202020204" pitchFamily="34" charset="0"/>
                    <a:cs typeface="Arial" panose="020B0604020202020204" pitchFamily="34" charset="0"/>
                  </a:rPr>
                  <a:t>A block </a:t>
                </a:r>
                <a:r>
                  <a:rPr lang="en-US" b="0" i="0" u="none" strike="noStrike" baseline="0" dirty="0">
                    <a:latin typeface="Arial" panose="020B0604020202020204" pitchFamily="34" charset="0"/>
                    <a:cs typeface="Arial" panose="020B0604020202020204" pitchFamily="34" charset="0"/>
                  </a:rPr>
                  <a:t>that is in evaluation during </a:t>
                </a:r>
                <a:r>
                  <a:rPr lang="en-US" b="0" i="1" u="none" strike="noStrike" baseline="0" dirty="0">
                    <a:latin typeface="Arial" panose="020B0604020202020204" pitchFamily="34" charset="0"/>
                    <a:cs typeface="Arial" panose="020B0604020202020204" pitchFamily="34" charset="0"/>
                  </a:rPr>
                  <a:t>CLK</a:t>
                </a:r>
                <a:r>
                  <a:rPr lang="en-US" b="0" i="0" u="none" strike="noStrike" baseline="0" dirty="0">
                    <a:latin typeface="Arial" panose="020B0604020202020204" pitchFamily="34" charset="0"/>
                    <a:cs typeface="Arial" panose="020B0604020202020204" pitchFamily="34" charset="0"/>
                  </a:rPr>
                  <a:t> = 1 is called a </a:t>
                </a:r>
                <a:r>
                  <a:rPr lang="en-US" b="0" i="1" u="none" strike="noStrike" baseline="0" dirty="0">
                    <a:latin typeface="Arial" panose="020B0604020202020204" pitchFamily="34" charset="0"/>
                    <a:cs typeface="Arial" panose="020B0604020202020204" pitchFamily="34" charset="0"/>
                  </a:rPr>
                  <a:t>CLK</a:t>
                </a:r>
                <a:r>
                  <a:rPr lang="en-US" b="0" i="0" u="none" strike="noStrike" baseline="0" dirty="0">
                    <a:latin typeface="Arial" panose="020B0604020202020204" pitchFamily="34" charset="0"/>
                    <a:cs typeface="Arial" panose="020B0604020202020204" pitchFamily="34" charset="0"/>
                  </a:rPr>
                  <a:t>-</a:t>
                </a:r>
                <a:r>
                  <a:rPr lang="en-US" b="0" i="1" u="none" strike="noStrike" baseline="0" dirty="0">
                    <a:latin typeface="Arial" panose="020B0604020202020204" pitchFamily="34" charset="0"/>
                    <a:cs typeface="Arial" panose="020B0604020202020204" pitchFamily="34" charset="0"/>
                  </a:rPr>
                  <a:t>module</a:t>
                </a:r>
                <a:r>
                  <a:rPr lang="en-US" b="0" i="0" u="none" strike="noStrike" baseline="0" dirty="0">
                    <a:latin typeface="Arial" panose="020B0604020202020204" pitchFamily="34" charset="0"/>
                    <a:cs typeface="Arial" panose="020B0604020202020204" pitchFamily="34" charset="0"/>
                  </a:rPr>
                  <a:t>, while the inverse is called a </a:t>
                </a:r>
                <a14:m>
                  <m:oMath xmlns:m="http://schemas.openxmlformats.org/officeDocument/2006/math">
                    <m:acc>
                      <m:accPr>
                        <m:chr m:val="̅"/>
                        <m:ctrlPr>
                          <a:rPr kumimoji="0" lang="en-IN" sz="1800" b="0" i="1" u="none" strike="noStrike" kern="1200" cap="none" spc="0" normalizeH="0" baseline="0" noProof="0" smtClean="0">
                            <a:ln>
                              <a:noFill/>
                            </a:ln>
                            <a:solidFill>
                              <a:prstClr val="black">
                                <a:lumMod val="75000"/>
                                <a:lumOff val="25000"/>
                              </a:prstClr>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r>
                          <a:rPr kumimoji="0" lang="en-IN" sz="1800" b="0" i="1" u="none" strike="noStrike" kern="1200" cap="none" spc="0" normalizeH="0" baseline="0" noProof="0">
                            <a:ln>
                              <a:noFill/>
                            </a:ln>
                            <a:solidFill>
                              <a:prstClr val="black">
                                <a:lumMod val="75000"/>
                                <a:lumOff val="25000"/>
                              </a:prstClr>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𝐶𝐿𝐾</m:t>
                        </m:r>
                      </m:e>
                    </m:acc>
                  </m:oMath>
                </a14:m>
                <a:r>
                  <a:rPr kumimoji="0" lang="en-US" sz="1800" b="0" i="1"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n-ea"/>
                    <a:cs typeface="Arial" panose="020B0604020202020204" pitchFamily="34" charset="0"/>
                  </a:rPr>
                  <a:t> </a:t>
                </a:r>
                <a:r>
                  <a:rPr lang="en-IN" b="0" i="1" u="none" strike="noStrike" baseline="0" dirty="0">
                    <a:latin typeface="Arial" panose="020B0604020202020204" pitchFamily="34" charset="0"/>
                    <a:cs typeface="Arial" panose="020B0604020202020204" pitchFamily="34" charset="0"/>
                  </a:rPr>
                  <a:t>module</a:t>
                </a:r>
                <a:r>
                  <a:rPr lang="en-IN" b="0" i="0" u="none" strike="noStrike" baseline="0" dirty="0">
                    <a:latin typeface="Arial" panose="020B0604020202020204" pitchFamily="34" charset="0"/>
                    <a:cs typeface="Arial" panose="020B0604020202020204" pitchFamily="34" charset="0"/>
                  </a:rPr>
                  <a:t>.</a:t>
                </a:r>
              </a:p>
              <a:p>
                <a:pPr marL="0" indent="0" algn="just">
                  <a:buNone/>
                </a:pPr>
                <a:endParaRPr lang="en-IN" b="0" i="0" u="none" strike="noStrike" baseline="0" dirty="0">
                  <a:latin typeface="Arial" panose="020B0604020202020204" pitchFamily="34" charset="0"/>
                  <a:cs typeface="Arial" panose="020B0604020202020204" pitchFamily="34" charset="0"/>
                </a:endParaRPr>
              </a:p>
              <a:p>
                <a:pPr algn="just"/>
                <a:r>
                  <a:rPr lang="en-US" sz="1800" b="0" i="0" u="none" strike="noStrike" baseline="0" dirty="0">
                    <a:latin typeface="Arial" panose="020B0604020202020204" pitchFamily="34" charset="0"/>
                    <a:cs typeface="Arial" panose="020B0604020202020204" pitchFamily="34" charset="0"/>
                  </a:rPr>
                  <a:t>A NORA data path consists of a chain of alternating </a:t>
                </a:r>
                <a:r>
                  <a:rPr lang="en-US" sz="1800" b="0" i="1" u="none" strike="noStrike" baseline="0" dirty="0">
                    <a:latin typeface="Arial" panose="020B0604020202020204" pitchFamily="34" charset="0"/>
                    <a:cs typeface="Arial" panose="020B0604020202020204" pitchFamily="34" charset="0"/>
                  </a:rPr>
                  <a:t>CLK </a:t>
                </a:r>
                <a:r>
                  <a:rPr lang="en-US" sz="1800" b="0" i="0" u="none" strike="noStrike" baseline="0" dirty="0">
                    <a:latin typeface="Arial" panose="020B0604020202020204" pitchFamily="34" charset="0"/>
                    <a:cs typeface="Arial" panose="020B0604020202020204" pitchFamily="34" charset="0"/>
                  </a:rPr>
                  <a:t>and </a:t>
                </a:r>
                <a:r>
                  <a:rPr lang="en-US" sz="1800" b="0" i="1" u="none" strike="noStrike" baseline="0" dirty="0">
                    <a:latin typeface="Arial" panose="020B0604020202020204" pitchFamily="34" charset="0"/>
                    <a:cs typeface="Arial" panose="020B0604020202020204" pitchFamily="34" charset="0"/>
                  </a:rPr>
                  <a:t>CLK </a:t>
                </a:r>
                <a:r>
                  <a:rPr lang="en-US" sz="1800" b="0" i="0" u="none" strike="noStrike" baseline="0" dirty="0">
                    <a:latin typeface="Arial" panose="020B0604020202020204" pitchFamily="34" charset="0"/>
                    <a:cs typeface="Arial" panose="020B0604020202020204" pitchFamily="34" charset="0"/>
                  </a:rPr>
                  <a:t>modules. While one class of modules is </a:t>
                </a:r>
                <a:r>
                  <a:rPr lang="en-US" sz="1800" b="0" i="0" u="none" strike="noStrike" baseline="0" dirty="0" err="1">
                    <a:latin typeface="Arial" panose="020B0604020202020204" pitchFamily="34" charset="0"/>
                    <a:cs typeface="Arial" panose="020B0604020202020204" pitchFamily="34" charset="0"/>
                  </a:rPr>
                  <a:t>precharging</a:t>
                </a:r>
                <a:r>
                  <a:rPr lang="en-US" sz="1800" b="0" i="0" u="none" strike="noStrike" baseline="0" dirty="0">
                    <a:latin typeface="Arial" panose="020B0604020202020204" pitchFamily="34" charset="0"/>
                    <a:cs typeface="Arial" panose="020B0604020202020204" pitchFamily="34" charset="0"/>
                  </a:rPr>
                  <a:t> with its output latch in hold mode, preserving the previous output value, the other class is evaluating. Data is passed in a pipelined fashion from</a:t>
                </a:r>
                <a:r>
                  <a:rPr lang="en-IN" sz="1800" b="0" i="0" u="none" strike="noStrike" baseline="0" dirty="0">
                    <a:latin typeface="Arial" panose="020B0604020202020204" pitchFamily="34" charset="0"/>
                    <a:cs typeface="Arial" panose="020B0604020202020204" pitchFamily="34" charset="0"/>
                  </a:rPr>
                  <a:t>module to module</a:t>
                </a:r>
                <a:endParaRPr lang="en-IN"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5E18644B-18E4-408F-907D-7455B89FC778}"/>
                  </a:ext>
                </a:extLst>
              </p:cNvPr>
              <p:cNvSpPr>
                <a:spLocks noGrp="1" noRot="1" noChangeAspect="1" noMove="1" noResize="1" noEditPoints="1" noAdjustHandles="1" noChangeArrowheads="1" noChangeShapeType="1" noTextEdit="1"/>
              </p:cNvSpPr>
              <p:nvPr>
                <p:ph idx="1"/>
              </p:nvPr>
            </p:nvSpPr>
            <p:spPr>
              <a:xfrm>
                <a:off x="519017" y="1357249"/>
                <a:ext cx="6074803" cy="3759253"/>
              </a:xfrm>
              <a:blipFill>
                <a:blip r:embed="rId2"/>
                <a:stretch>
                  <a:fillRect l="-702" t="-974" r="-802"/>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81FA8899-6610-4215-8BEE-D24C8990AEFC}"/>
              </a:ext>
            </a:extLst>
          </p:cNvPr>
          <p:cNvPicPr>
            <a:picLocks noChangeAspect="1"/>
          </p:cNvPicPr>
          <p:nvPr/>
        </p:nvPicPr>
        <p:blipFill>
          <a:blip r:embed="rId3"/>
          <a:stretch>
            <a:fillRect/>
          </a:stretch>
        </p:blipFill>
        <p:spPr>
          <a:xfrm>
            <a:off x="6685009" y="1541124"/>
            <a:ext cx="5456812" cy="3287729"/>
          </a:xfrm>
          <a:prstGeom prst="rect">
            <a:avLst/>
          </a:prstGeom>
        </p:spPr>
      </p:pic>
      <p:sp>
        <p:nvSpPr>
          <p:cNvPr id="14"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FAAAAFD9-2CB9-4D8C-A8A4-0B7E257BCD0E}"/>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000682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DEB6D-8966-4178-AC89-95DB513ABC94}"/>
              </a:ext>
            </a:extLst>
          </p:cNvPr>
          <p:cNvSpPr>
            <a:spLocks noGrp="1"/>
          </p:cNvSpPr>
          <p:nvPr>
            <p:ph type="title"/>
          </p:nvPr>
        </p:nvSpPr>
        <p:spPr>
          <a:xfrm>
            <a:off x="1643865" y="624110"/>
            <a:ext cx="9860747" cy="1280890"/>
          </a:xfrm>
        </p:spPr>
        <p:txBody>
          <a:bodyPr/>
          <a:lstStyle/>
          <a:p>
            <a:r>
              <a:rPr lang="en-IN" dirty="0"/>
              <a:t>Continue….</a:t>
            </a:r>
          </a:p>
        </p:txBody>
      </p:sp>
      <p:sp>
        <p:nvSpPr>
          <p:cNvPr id="3" name="Content Placeholder 2">
            <a:extLst>
              <a:ext uri="{FF2B5EF4-FFF2-40B4-BE49-F238E27FC236}">
                <a16:creationId xmlns:a16="http://schemas.microsoft.com/office/drawing/2014/main" id="{E5CED24D-07CB-45A4-8489-2D99571AA0A1}"/>
              </a:ext>
            </a:extLst>
          </p:cNvPr>
          <p:cNvSpPr>
            <a:spLocks noGrp="1"/>
          </p:cNvSpPr>
          <p:nvPr>
            <p:ph idx="1"/>
          </p:nvPr>
        </p:nvSpPr>
        <p:spPr>
          <a:xfrm>
            <a:off x="955497" y="1551398"/>
            <a:ext cx="10549115" cy="4359824"/>
          </a:xfrm>
        </p:spPr>
        <p:txBody>
          <a:bodyPr/>
          <a:lstStyle/>
          <a:p>
            <a:pPr algn="just"/>
            <a:r>
              <a:rPr lang="en-US" dirty="0">
                <a:latin typeface="Arial" panose="020B0604020202020204" pitchFamily="34" charset="0"/>
                <a:cs typeface="Arial" panose="020B0604020202020204" pitchFamily="34" charset="0"/>
              </a:rPr>
              <a:t>NORA offers designers a wide range of design choices. Dynamic and static logic can be mixed freely, and both </a:t>
            </a:r>
            <a:r>
              <a:rPr lang="en-US" dirty="0" err="1">
                <a:latin typeface="Arial" panose="020B0604020202020204" pitchFamily="34" charset="0"/>
                <a:cs typeface="Arial" panose="020B0604020202020204" pitchFamily="34" charset="0"/>
              </a:rPr>
              <a:t>CLKp</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CLKn</a:t>
            </a:r>
            <a:r>
              <a:rPr lang="en-US" dirty="0">
                <a:latin typeface="Arial" panose="020B0604020202020204" pitchFamily="34" charset="0"/>
                <a:cs typeface="Arial" panose="020B0604020202020204" pitchFamily="34" charset="0"/>
              </a:rPr>
              <a:t> dynamic blocks can be used in cascaded or in pipelined form. With this freedom of design, extra inverter stages, as required in DOMINO-CMOS, are most often avoided.</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E8FDBABC-CEE8-4506-B74E-F8BB9388B9AC}"/>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5" name="Picture 4">
            <a:extLst>
              <a:ext uri="{FF2B5EF4-FFF2-40B4-BE49-F238E27FC236}">
                <a16:creationId xmlns:a16="http://schemas.microsoft.com/office/drawing/2014/main" id="{C1826DB9-ADEF-4978-BFC0-1572F95A41B3}"/>
              </a:ext>
            </a:extLst>
          </p:cNvPr>
          <p:cNvPicPr>
            <a:picLocks noChangeAspect="1"/>
          </p:cNvPicPr>
          <p:nvPr/>
        </p:nvPicPr>
        <p:blipFill>
          <a:blip r:embed="rId2"/>
          <a:stretch>
            <a:fillRect/>
          </a:stretch>
        </p:blipFill>
        <p:spPr>
          <a:xfrm>
            <a:off x="4736653" y="2652833"/>
            <a:ext cx="6581775" cy="3848100"/>
          </a:xfrm>
          <a:prstGeom prst="rect">
            <a:avLst/>
          </a:prstGeom>
        </p:spPr>
      </p:pic>
    </p:spTree>
    <p:extLst>
      <p:ext uri="{BB962C8B-B14F-4D97-AF65-F5344CB8AC3E}">
        <p14:creationId xmlns:p14="http://schemas.microsoft.com/office/powerpoint/2010/main" val="36571658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D9BD230D-0708-4782-93C2-6421485EDE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8B7E2E-2155-4859-8CDE-C3490CF96CF6}"/>
              </a:ext>
            </a:extLst>
          </p:cNvPr>
          <p:cNvSpPr>
            <a:spLocks noGrp="1"/>
          </p:cNvSpPr>
          <p:nvPr>
            <p:ph type="title"/>
          </p:nvPr>
        </p:nvSpPr>
        <p:spPr>
          <a:xfrm>
            <a:off x="649224" y="645106"/>
            <a:ext cx="6574536" cy="1259894"/>
          </a:xfrm>
        </p:spPr>
        <p:txBody>
          <a:bodyPr>
            <a:normAutofit/>
          </a:bodyPr>
          <a:lstStyle/>
          <a:p>
            <a:r>
              <a:rPr lang="en-IN">
                <a:latin typeface="Arial" panose="020B0604020202020204" pitchFamily="34" charset="0"/>
                <a:cs typeface="Arial" panose="020B0604020202020204" pitchFamily="34" charset="0"/>
              </a:rPr>
              <a:t>The Schmitt Trigger</a:t>
            </a:r>
          </a:p>
        </p:txBody>
      </p:sp>
      <p:sp>
        <p:nvSpPr>
          <p:cNvPr id="17" name="Rectangle 11">
            <a:extLst>
              <a:ext uri="{FF2B5EF4-FFF2-40B4-BE49-F238E27FC236}">
                <a16:creationId xmlns:a16="http://schemas.microsoft.com/office/drawing/2014/main" id="{D630D25A-547E-4D17-B65E-FA2B888931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088EC86D-9637-43E2-BBD3-E42C4DB22A1A}"/>
              </a:ext>
            </a:extLst>
          </p:cNvPr>
          <p:cNvSpPr>
            <a:spLocks noGrp="1"/>
          </p:cNvSpPr>
          <p:nvPr>
            <p:ph idx="1"/>
          </p:nvPr>
        </p:nvSpPr>
        <p:spPr>
          <a:xfrm>
            <a:off x="649225" y="1428108"/>
            <a:ext cx="5104304" cy="4784786"/>
          </a:xfrm>
        </p:spPr>
        <p:txBody>
          <a:bodyPr>
            <a:normAutofit/>
          </a:bodyPr>
          <a:lstStyle/>
          <a:p>
            <a:r>
              <a:rPr lang="en-IN" i="0" u="sng" strike="noStrike" baseline="0" dirty="0">
                <a:latin typeface="Arial" panose="020B0604020202020204" pitchFamily="34" charset="0"/>
                <a:cs typeface="Arial" panose="020B0604020202020204" pitchFamily="34" charset="0"/>
              </a:rPr>
              <a:t>Definition </a:t>
            </a:r>
          </a:p>
          <a:p>
            <a:pPr algn="just"/>
            <a:r>
              <a:rPr lang="en-US" b="0" i="0" u="none" strike="noStrike" baseline="0" dirty="0">
                <a:latin typeface="Arial" panose="020B0604020202020204" pitchFamily="34" charset="0"/>
                <a:cs typeface="Arial" panose="020B0604020202020204" pitchFamily="34" charset="0"/>
              </a:rPr>
              <a:t>A Schmitt trigger is a device with two important properties. </a:t>
            </a:r>
          </a:p>
          <a:p>
            <a:pPr algn="just"/>
            <a:r>
              <a:rPr lang="en-US" b="1" i="0" u="none" strike="noStrike" baseline="0" dirty="0">
                <a:latin typeface="Times New Roman" panose="02020603050405020304" pitchFamily="18" charset="0"/>
              </a:rPr>
              <a:t>1</a:t>
            </a:r>
            <a:r>
              <a:rPr lang="en-US" b="1" i="0" u="none" strike="noStrike" baseline="0" dirty="0">
                <a:latin typeface="Arial" panose="020B0604020202020204" pitchFamily="34" charset="0"/>
                <a:cs typeface="Arial" panose="020B0604020202020204" pitchFamily="34" charset="0"/>
              </a:rPr>
              <a:t>. </a:t>
            </a:r>
            <a:r>
              <a:rPr lang="en-US" b="0" i="0" u="none" strike="noStrike" baseline="0" dirty="0">
                <a:latin typeface="Arial" panose="020B0604020202020204" pitchFamily="34" charset="0"/>
                <a:cs typeface="Arial" panose="020B0604020202020204" pitchFamily="34" charset="0"/>
              </a:rPr>
              <a:t>It responds to a slowly changing input waveform with a </a:t>
            </a:r>
            <a:r>
              <a:rPr lang="en-US" b="0" u="none" strike="noStrike" baseline="0" dirty="0">
                <a:latin typeface="Arial" panose="020B0604020202020204" pitchFamily="34" charset="0"/>
                <a:cs typeface="Arial" panose="020B0604020202020204" pitchFamily="34" charset="0"/>
              </a:rPr>
              <a:t>fast transition time at the </a:t>
            </a:r>
            <a:r>
              <a:rPr lang="en-IN" b="0" u="none" strike="noStrike" baseline="0" dirty="0">
                <a:latin typeface="Arial" panose="020B0604020202020204" pitchFamily="34" charset="0"/>
                <a:cs typeface="Arial" panose="020B0604020202020204" pitchFamily="34" charset="0"/>
              </a:rPr>
              <a:t>output. </a:t>
            </a:r>
          </a:p>
          <a:p>
            <a:pPr algn="just"/>
            <a:r>
              <a:rPr lang="en-IN" dirty="0">
                <a:latin typeface="Arial" panose="020B0604020202020204" pitchFamily="34" charset="0"/>
                <a:cs typeface="Arial" panose="020B0604020202020204" pitchFamily="34" charset="0"/>
              </a:rPr>
              <a:t>2.</a:t>
            </a:r>
            <a:r>
              <a:rPr lang="en-US" b="0" u="none" strike="noStrike" baseline="0" dirty="0">
                <a:latin typeface="Arial" panose="020B0604020202020204" pitchFamily="34" charset="0"/>
                <a:cs typeface="Arial" panose="020B0604020202020204" pitchFamily="34" charset="0"/>
              </a:rPr>
              <a:t>The voltage-transfer characteristic of the device displays different switching thresholds for positive- and negative-going input signals. </a:t>
            </a:r>
          </a:p>
          <a:p>
            <a:pPr algn="just"/>
            <a:r>
              <a:rPr lang="en-US" b="0" u="none" strike="noStrike" baseline="0" dirty="0">
                <a:latin typeface="Arial" panose="020B0604020202020204" pitchFamily="34" charset="0"/>
                <a:cs typeface="Arial" panose="020B0604020202020204" pitchFamily="34" charset="0"/>
              </a:rPr>
              <a:t>The switching thresholds for the low-to-high and high to- low transitions are called V</a:t>
            </a:r>
            <a:r>
              <a:rPr lang="en-US" b="0" u="none" strike="noStrike" baseline="-25000" dirty="0">
                <a:latin typeface="Arial" panose="020B0604020202020204" pitchFamily="34" charset="0"/>
                <a:cs typeface="Arial" panose="020B0604020202020204" pitchFamily="34" charset="0"/>
              </a:rPr>
              <a:t>M+ </a:t>
            </a:r>
            <a:r>
              <a:rPr lang="en-US" b="0" u="none" strike="noStrike" baseline="0" dirty="0">
                <a:latin typeface="Arial" panose="020B0604020202020204" pitchFamily="34" charset="0"/>
                <a:cs typeface="Arial" panose="020B0604020202020204" pitchFamily="34" charset="0"/>
              </a:rPr>
              <a:t>and V</a:t>
            </a:r>
            <a:r>
              <a:rPr lang="en-US" b="0" u="none" strike="noStrike" baseline="-25000" dirty="0">
                <a:latin typeface="Arial" panose="020B0604020202020204" pitchFamily="34" charset="0"/>
                <a:cs typeface="Arial" panose="020B0604020202020204" pitchFamily="34" charset="0"/>
              </a:rPr>
              <a:t>M-</a:t>
            </a:r>
            <a:r>
              <a:rPr lang="en-US" b="0" u="none" strike="noStrike" baseline="0" dirty="0">
                <a:latin typeface="Arial" panose="020B0604020202020204" pitchFamily="34" charset="0"/>
                <a:cs typeface="Arial" panose="020B0604020202020204" pitchFamily="34" charset="0"/>
              </a:rPr>
              <a:t>, respectively. The hysteresis voltage is defined as the difference between the two.</a:t>
            </a:r>
            <a:endParaRPr lang="en-IN" u="sng" dirty="0">
              <a:latin typeface="Arial" panose="020B0604020202020204" pitchFamily="34" charset="0"/>
              <a:cs typeface="Arial" panose="020B0604020202020204" pitchFamily="34" charset="0"/>
            </a:endParaRPr>
          </a:p>
        </p:txBody>
      </p:sp>
      <p:pic>
        <p:nvPicPr>
          <p:cNvPr id="5" name="Picture 4" descr="Diagram, engineering drawing&#10;&#10;Description automatically generated">
            <a:extLst>
              <a:ext uri="{FF2B5EF4-FFF2-40B4-BE49-F238E27FC236}">
                <a16:creationId xmlns:a16="http://schemas.microsoft.com/office/drawing/2014/main" id="{171F701D-7817-4750-AB81-BF47128EFEBC}"/>
              </a:ext>
            </a:extLst>
          </p:cNvPr>
          <p:cNvPicPr>
            <a:picLocks noChangeAspect="1"/>
          </p:cNvPicPr>
          <p:nvPr/>
        </p:nvPicPr>
        <p:blipFill>
          <a:blip r:embed="rId2"/>
          <a:stretch>
            <a:fillRect/>
          </a:stretch>
        </p:blipFill>
        <p:spPr>
          <a:xfrm>
            <a:off x="5989834" y="1654139"/>
            <a:ext cx="6102849" cy="3380198"/>
          </a:xfrm>
          <a:prstGeom prst="rect">
            <a:avLst/>
          </a:prstGeom>
        </p:spPr>
      </p:pic>
      <p:sp>
        <p:nvSpPr>
          <p:cNvPr id="18"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72B29015-51D0-44A0-B9BA-466F78BBC2A6}"/>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41632313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25B79-6568-40F5-B28B-78168F4CEFF5}"/>
              </a:ext>
            </a:extLst>
          </p:cNvPr>
          <p:cNvSpPr>
            <a:spLocks noGrp="1"/>
          </p:cNvSpPr>
          <p:nvPr>
            <p:ph type="title"/>
          </p:nvPr>
        </p:nvSpPr>
        <p:spPr>
          <a:xfrm>
            <a:off x="1627632" y="624109"/>
            <a:ext cx="2487168" cy="5614951"/>
          </a:xfrm>
        </p:spPr>
        <p:txBody>
          <a:bodyPr>
            <a:normAutofit/>
          </a:bodyPr>
          <a:lstStyle/>
          <a:p>
            <a:r>
              <a:rPr lang="en-IN" sz="3200">
                <a:latin typeface="Arial" panose="020B0604020202020204" pitchFamily="34" charset="0"/>
                <a:cs typeface="Arial" panose="020B0604020202020204" pitchFamily="34" charset="0"/>
              </a:rPr>
              <a:t>Continue…..</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477BFBC-167F-4D6B-91B9-06A0BE4D3AA7}"/>
              </a:ext>
            </a:extLst>
          </p:cNvPr>
          <p:cNvSpPr>
            <a:spLocks noGrp="1"/>
          </p:cNvSpPr>
          <p:nvPr>
            <p:ph idx="1"/>
          </p:nvPr>
        </p:nvSpPr>
        <p:spPr>
          <a:xfrm>
            <a:off x="4700016" y="624110"/>
            <a:ext cx="6804596" cy="2910200"/>
          </a:xfrm>
        </p:spPr>
        <p:txBody>
          <a:bodyPr>
            <a:normAutofit/>
          </a:bodyPr>
          <a:lstStyle/>
          <a:p>
            <a:r>
              <a:rPr lang="en-US" b="0" i="0" u="none" strike="noStrike" baseline="0" dirty="0">
                <a:latin typeface="Arial" panose="020B0604020202020204" pitchFamily="34" charset="0"/>
                <a:cs typeface="Arial" panose="020B0604020202020204" pitchFamily="34" charset="0"/>
              </a:rPr>
              <a:t>One of the main uses of the Schmitt trigger is to turn a noisy or slowly varying input signal into a clean digital output signal. </a:t>
            </a:r>
          </a:p>
          <a:p>
            <a:r>
              <a:rPr lang="en-IN" b="0" i="0" u="none" strike="noStrike" baseline="0" dirty="0">
                <a:latin typeface="Arial" panose="020B0604020202020204" pitchFamily="34" charset="0"/>
                <a:cs typeface="Arial" panose="020B0604020202020204" pitchFamily="34" charset="0"/>
              </a:rPr>
              <a:t>We can notice in figure  how the hysteresis </a:t>
            </a:r>
            <a:r>
              <a:rPr lang="en-US" b="0" i="0" u="none" strike="noStrike" baseline="0" dirty="0">
                <a:latin typeface="Arial" panose="020B0604020202020204" pitchFamily="34" charset="0"/>
                <a:cs typeface="Arial" panose="020B0604020202020204" pitchFamily="34" charset="0"/>
              </a:rPr>
              <a:t>suppresses the ringing on the signal. </a:t>
            </a:r>
          </a:p>
          <a:p>
            <a:pPr algn="just"/>
            <a:r>
              <a:rPr lang="en-US" sz="1800" b="0" i="0" u="none" strike="noStrike" baseline="0" dirty="0">
                <a:latin typeface="Arial" panose="020B0604020202020204" pitchFamily="34" charset="0"/>
                <a:cs typeface="Arial" panose="020B0604020202020204" pitchFamily="34" charset="0"/>
              </a:rPr>
              <a:t>At the same time, the fast low-to-high  transitions of the output signal should be observed. For instance, steep signal slopes are beneficial in reducing power consumption by suppressing direct-path currents.</a:t>
            </a:r>
            <a:endParaRPr lang="en-IN" dirty="0">
              <a:latin typeface="Arial" panose="020B0604020202020204" pitchFamily="34" charset="0"/>
              <a:cs typeface="Arial" panose="020B0604020202020204" pitchFamily="34" charset="0"/>
            </a:endParaRPr>
          </a:p>
        </p:txBody>
      </p:sp>
      <p:pic>
        <p:nvPicPr>
          <p:cNvPr id="5" name="Picture 4" descr="Diagram&#10;&#10;Description automatically generated">
            <a:extLst>
              <a:ext uri="{FF2B5EF4-FFF2-40B4-BE49-F238E27FC236}">
                <a16:creationId xmlns:a16="http://schemas.microsoft.com/office/drawing/2014/main" id="{ECDB49B2-9012-4B8F-91AD-B6AEBA2F53C5}"/>
              </a:ext>
            </a:extLst>
          </p:cNvPr>
          <p:cNvPicPr>
            <a:picLocks noChangeAspect="1"/>
          </p:cNvPicPr>
          <p:nvPr/>
        </p:nvPicPr>
        <p:blipFill>
          <a:blip r:embed="rId2"/>
          <a:stretch>
            <a:fillRect/>
          </a:stretch>
        </p:blipFill>
        <p:spPr>
          <a:xfrm>
            <a:off x="4525356" y="3429000"/>
            <a:ext cx="7491983" cy="3177150"/>
          </a:xfrm>
          <a:prstGeom prst="rect">
            <a:avLst/>
          </a:prstGeom>
        </p:spPr>
      </p:pic>
      <p:sp>
        <p:nvSpPr>
          <p:cNvPr id="4" name="Footer Placeholder 3">
            <a:extLst>
              <a:ext uri="{FF2B5EF4-FFF2-40B4-BE49-F238E27FC236}">
                <a16:creationId xmlns:a16="http://schemas.microsoft.com/office/drawing/2014/main" id="{576854D5-CC07-46BF-9B65-26FC9166BD94}"/>
              </a:ext>
            </a:extLst>
          </p:cNvPr>
          <p:cNvSpPr>
            <a:spLocks noGrp="1"/>
          </p:cNvSpPr>
          <p:nvPr>
            <p:ph type="ftr" sz="quarter" idx="11"/>
          </p:nvPr>
        </p:nvSpPr>
        <p:spPr>
          <a:xfrm>
            <a:off x="2589212" y="627296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5924728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FE3618-8387-4153-870E-99EA1B9784F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E77F33-5D0A-4E34-BEC0-C6D22F6E254D}"/>
              </a:ext>
            </a:extLst>
          </p:cNvPr>
          <p:cNvSpPr>
            <a:spLocks noGrp="1"/>
          </p:cNvSpPr>
          <p:nvPr>
            <p:ph type="title"/>
          </p:nvPr>
        </p:nvSpPr>
        <p:spPr>
          <a:xfrm>
            <a:off x="649224" y="645106"/>
            <a:ext cx="5005290" cy="1259894"/>
          </a:xfrm>
        </p:spPr>
        <p:txBody>
          <a:bodyPr>
            <a:normAutofit/>
          </a:bodyPr>
          <a:lstStyle/>
          <a:p>
            <a:r>
              <a:rPr lang="en-IN" sz="3200" dirty="0">
                <a:latin typeface="Arial" panose="020B0604020202020204" pitchFamily="34" charset="0"/>
                <a:cs typeface="Arial" panose="020B0604020202020204" pitchFamily="34" charset="0"/>
              </a:rPr>
              <a:t>CMOS Implementation of Schmitt trigger</a:t>
            </a:r>
          </a:p>
        </p:txBody>
      </p:sp>
      <p:sp>
        <p:nvSpPr>
          <p:cNvPr id="12" name="Rectangle 11">
            <a:extLst>
              <a:ext uri="{FF2B5EF4-FFF2-40B4-BE49-F238E27FC236}">
                <a16:creationId xmlns:a16="http://schemas.microsoft.com/office/drawing/2014/main" id="{BB99A42A-5548-4BB8-9115-A05821C360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75A6640E-E863-46A3-BAFF-4C077B0A4A32}"/>
              </a:ext>
            </a:extLst>
          </p:cNvPr>
          <p:cNvSpPr>
            <a:spLocks noGrp="1"/>
          </p:cNvSpPr>
          <p:nvPr>
            <p:ph idx="1"/>
          </p:nvPr>
        </p:nvSpPr>
        <p:spPr>
          <a:xfrm>
            <a:off x="649224" y="1736334"/>
            <a:ext cx="5145401" cy="4348084"/>
          </a:xfrm>
        </p:spPr>
        <p:txBody>
          <a:bodyPr>
            <a:normAutofit/>
          </a:bodyPr>
          <a:lstStyle/>
          <a:p>
            <a:r>
              <a:rPr lang="en-US" b="0" i="0" u="none" strike="noStrike" baseline="0" dirty="0">
                <a:latin typeface="Arial" panose="020B0604020202020204" pitchFamily="34" charset="0"/>
                <a:cs typeface="Arial" panose="020B0604020202020204" pitchFamily="34" charset="0"/>
              </a:rPr>
              <a:t>One possible CMOS implementation of the Schmitt trigger is shown in Figure. </a:t>
            </a:r>
          </a:p>
          <a:p>
            <a:pPr algn="just"/>
            <a:r>
              <a:rPr lang="en-IN" sz="1800" b="0" i="0" u="none" strike="noStrike" baseline="0" dirty="0">
                <a:latin typeface="Arial" panose="020B0604020202020204" pitchFamily="34" charset="0"/>
                <a:cs typeface="Arial" panose="020B0604020202020204" pitchFamily="34" charset="0"/>
              </a:rPr>
              <a:t>The </a:t>
            </a:r>
            <a:r>
              <a:rPr lang="en-US" sz="1800" b="0" i="0" u="none" strike="noStrike" baseline="0" dirty="0">
                <a:latin typeface="Arial" panose="020B0604020202020204" pitchFamily="34" charset="0"/>
                <a:cs typeface="Arial" panose="020B0604020202020204" pitchFamily="34" charset="0"/>
              </a:rPr>
              <a:t>idea behind this circuit is that the switching threshold of a CMOS inverter is determined by the (</a:t>
            </a:r>
            <a:r>
              <a:rPr lang="en-US" sz="1800" b="0" i="1" u="none" strike="noStrike" baseline="0" dirty="0" err="1">
                <a:latin typeface="Arial" panose="020B0604020202020204" pitchFamily="34" charset="0"/>
                <a:cs typeface="Arial" panose="020B0604020202020204" pitchFamily="34" charset="0"/>
              </a:rPr>
              <a:t>kn</a:t>
            </a:r>
            <a:r>
              <a:rPr lang="en-US" sz="1800" b="0" i="1" u="none" strike="noStrike" baseline="0" dirty="0">
                <a:latin typeface="Arial" panose="020B0604020202020204" pitchFamily="34" charset="0"/>
                <a:cs typeface="Arial" panose="020B0604020202020204" pitchFamily="34" charset="0"/>
              </a:rPr>
              <a:t>/</a:t>
            </a:r>
            <a:r>
              <a:rPr lang="en-US" sz="1800" b="0" i="1" u="none" strike="noStrike" baseline="0" dirty="0" err="1">
                <a:latin typeface="Arial" panose="020B0604020202020204" pitchFamily="34" charset="0"/>
                <a:cs typeface="Arial" panose="020B0604020202020204" pitchFamily="34" charset="0"/>
              </a:rPr>
              <a:t>kp</a:t>
            </a:r>
            <a:r>
              <a:rPr lang="en-US" sz="1800" b="0" i="0" u="none" strike="noStrike" baseline="0" dirty="0">
                <a:latin typeface="Arial" panose="020B0604020202020204" pitchFamily="34" charset="0"/>
                <a:cs typeface="Arial" panose="020B0604020202020204" pitchFamily="34" charset="0"/>
              </a:rPr>
              <a:t>) ratio between the NMOS and PMOS transistors. </a:t>
            </a:r>
          </a:p>
          <a:p>
            <a:pPr algn="just"/>
            <a:r>
              <a:rPr lang="en-IN" sz="1800" b="0" i="0" u="none" strike="noStrike" baseline="0" dirty="0">
                <a:latin typeface="Arial" panose="020B0604020202020204" pitchFamily="34" charset="0"/>
                <a:cs typeface="Arial" panose="020B0604020202020204" pitchFamily="34" charset="0"/>
              </a:rPr>
              <a:t>Increasing the ratio results </a:t>
            </a:r>
            <a:r>
              <a:rPr lang="en-US" sz="1800" b="0" i="0" u="none" strike="noStrike" baseline="0" dirty="0">
                <a:latin typeface="Arial" panose="020B0604020202020204" pitchFamily="34" charset="0"/>
                <a:cs typeface="Arial" panose="020B0604020202020204" pitchFamily="34" charset="0"/>
              </a:rPr>
              <a:t>in a reduction of the threshold, while decreasing it results in an increase in </a:t>
            </a:r>
            <a:r>
              <a:rPr lang="en-US" sz="1800" b="0" i="1" u="none" strike="noStrike" baseline="0" dirty="0">
                <a:latin typeface="Arial" panose="020B0604020202020204" pitchFamily="34" charset="0"/>
                <a:cs typeface="Arial" panose="020B0604020202020204" pitchFamily="34" charset="0"/>
              </a:rPr>
              <a:t>VM</a:t>
            </a:r>
            <a:r>
              <a:rPr lang="en-US" sz="1800" b="0" i="0" u="none" strike="noStrike" baseline="0" dirty="0">
                <a:latin typeface="Arial" panose="020B0604020202020204" pitchFamily="34" charset="0"/>
                <a:cs typeface="Arial" panose="020B0604020202020204" pitchFamily="34" charset="0"/>
              </a:rPr>
              <a:t>. </a:t>
            </a:r>
          </a:p>
          <a:p>
            <a:pPr algn="just"/>
            <a:r>
              <a:rPr lang="en-IN" sz="1800" b="0" i="0" u="none" strike="noStrike" baseline="0" dirty="0">
                <a:latin typeface="Arial" panose="020B0604020202020204" pitchFamily="34" charset="0"/>
                <a:cs typeface="Arial" panose="020B0604020202020204" pitchFamily="34" charset="0"/>
              </a:rPr>
              <a:t>Adapting </a:t>
            </a:r>
            <a:r>
              <a:rPr lang="en-US" sz="1800" b="0" i="0" u="none" strike="noStrike" baseline="0" dirty="0">
                <a:latin typeface="Arial" panose="020B0604020202020204" pitchFamily="34" charset="0"/>
                <a:cs typeface="Arial" panose="020B0604020202020204" pitchFamily="34" charset="0"/>
              </a:rPr>
              <a:t>the ratio depending upon the direction of the transition results in a shift in the switching threshold and a hysteresis effect.</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D1EC04B-1083-42B4-8379-700DEC383C3D}"/>
              </a:ext>
            </a:extLst>
          </p:cNvPr>
          <p:cNvPicPr>
            <a:picLocks noChangeAspect="1"/>
          </p:cNvPicPr>
          <p:nvPr/>
        </p:nvPicPr>
        <p:blipFill>
          <a:blip r:embed="rId2"/>
          <a:stretch>
            <a:fillRect/>
          </a:stretch>
        </p:blipFill>
        <p:spPr>
          <a:xfrm>
            <a:off x="7058346" y="1086895"/>
            <a:ext cx="5005290" cy="4179417"/>
          </a:xfrm>
          <a:prstGeom prst="rect">
            <a:avLst/>
          </a:prstGeom>
        </p:spPr>
      </p:pic>
      <p:sp>
        <p:nvSpPr>
          <p:cNvPr id="14" name="Freeform 11">
            <a:extLst>
              <a:ext uri="{FF2B5EF4-FFF2-40B4-BE49-F238E27FC236}">
                <a16:creationId xmlns:a16="http://schemas.microsoft.com/office/drawing/2014/main" id="{D49441E5-946F-46B3-BDD2-BAD0885323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119E851E-AD75-4923-ADAD-091DC17AE471}"/>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3006269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6FD5-FD23-4C8C-A062-51BCB520E2BA}"/>
              </a:ext>
            </a:extLst>
          </p:cNvPr>
          <p:cNvSpPr>
            <a:spLocks noGrp="1"/>
          </p:cNvSpPr>
          <p:nvPr>
            <p:ph type="title"/>
          </p:nvPr>
        </p:nvSpPr>
        <p:spPr>
          <a:xfrm>
            <a:off x="1571947" y="624110"/>
            <a:ext cx="9932666" cy="1280890"/>
          </a:xfrm>
        </p:spPr>
        <p:txBody>
          <a:bodyPr/>
          <a:lstStyle/>
          <a:p>
            <a:r>
              <a:rPr lang="en-IN" dirty="0"/>
              <a:t>Continue….</a:t>
            </a:r>
          </a:p>
        </p:txBody>
      </p:sp>
      <p:sp>
        <p:nvSpPr>
          <p:cNvPr id="3" name="Content Placeholder 2">
            <a:extLst>
              <a:ext uri="{FF2B5EF4-FFF2-40B4-BE49-F238E27FC236}">
                <a16:creationId xmlns:a16="http://schemas.microsoft.com/office/drawing/2014/main" id="{49C9FD7B-9033-4F02-B974-C968AFC57341}"/>
              </a:ext>
            </a:extLst>
          </p:cNvPr>
          <p:cNvSpPr>
            <a:spLocks noGrp="1"/>
          </p:cNvSpPr>
          <p:nvPr>
            <p:ph idx="1"/>
          </p:nvPr>
        </p:nvSpPr>
        <p:spPr>
          <a:xfrm>
            <a:off x="687387" y="1356189"/>
            <a:ext cx="10817225" cy="4555033"/>
          </a:xfrm>
        </p:spPr>
        <p:txBody>
          <a:bodyPr>
            <a:normAutofit/>
          </a:bodyPr>
          <a:lstStyle/>
          <a:p>
            <a:pPr algn="just"/>
            <a:r>
              <a:rPr lang="en-US" b="0" i="0" u="none" strike="noStrike" baseline="0" dirty="0">
                <a:latin typeface="Arial" panose="020B0604020202020204" pitchFamily="34" charset="0"/>
                <a:cs typeface="Arial" panose="020B0604020202020204" pitchFamily="34" charset="0"/>
              </a:rPr>
              <a:t>Suppose that </a:t>
            </a:r>
            <a:r>
              <a:rPr lang="en-US" b="0" i="1" u="none" strike="noStrike" baseline="0" dirty="0">
                <a:latin typeface="Arial" panose="020B0604020202020204" pitchFamily="34" charset="0"/>
                <a:cs typeface="Arial" panose="020B0604020202020204" pitchFamily="34" charset="0"/>
              </a:rPr>
              <a:t>Vin </a:t>
            </a:r>
            <a:r>
              <a:rPr lang="en-US" b="0" i="0" u="none" strike="noStrike" baseline="0" dirty="0">
                <a:latin typeface="Arial" panose="020B0604020202020204" pitchFamily="34" charset="0"/>
                <a:cs typeface="Arial" panose="020B0604020202020204" pitchFamily="34" charset="0"/>
              </a:rPr>
              <a:t>is initially equal to 0, so that </a:t>
            </a:r>
            <a:r>
              <a:rPr lang="en-US" b="0" i="1" u="none" strike="noStrike" baseline="0" dirty="0" err="1">
                <a:latin typeface="Arial" panose="020B0604020202020204" pitchFamily="34" charset="0"/>
                <a:cs typeface="Arial" panose="020B0604020202020204" pitchFamily="34" charset="0"/>
              </a:rPr>
              <a:t>V</a:t>
            </a:r>
            <a:r>
              <a:rPr lang="en-US" b="0" i="1" u="none" strike="noStrike" baseline="-25000" dirty="0" err="1">
                <a:latin typeface="Arial" panose="020B0604020202020204" pitchFamily="34" charset="0"/>
                <a:cs typeface="Arial" panose="020B0604020202020204" pitchFamily="34" charset="0"/>
              </a:rPr>
              <a:t>out</a:t>
            </a:r>
            <a:r>
              <a:rPr lang="en-US" b="0" i="1" u="none" strike="noStrike" baseline="-25000" dirty="0">
                <a:latin typeface="Arial" panose="020B0604020202020204" pitchFamily="34" charset="0"/>
                <a:cs typeface="Arial" panose="020B0604020202020204" pitchFamily="34" charset="0"/>
              </a:rPr>
              <a:t> </a:t>
            </a:r>
            <a:r>
              <a:rPr lang="en-US" b="0" i="0" u="none" strike="noStrike" baseline="0" dirty="0">
                <a:latin typeface="Arial" panose="020B0604020202020204" pitchFamily="34" charset="0"/>
                <a:cs typeface="Arial" panose="020B0604020202020204" pitchFamily="34" charset="0"/>
              </a:rPr>
              <a:t>= 0 as well. The feedback loop biases the PMOS transistor </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4 in the conductive mode while </a:t>
            </a:r>
            <a:r>
              <a:rPr lang="en-US" b="0" i="1" u="none" strike="noStrike" baseline="0" dirty="0">
                <a:latin typeface="Arial" panose="020B0604020202020204" pitchFamily="34" charset="0"/>
                <a:cs typeface="Arial" panose="020B0604020202020204" pitchFamily="34" charset="0"/>
              </a:rPr>
              <a:t>M</a:t>
            </a:r>
            <a:r>
              <a:rPr lang="en-US" b="0" i="0" u="none" strike="noStrike" baseline="0" dirty="0">
                <a:latin typeface="Arial" panose="020B0604020202020204" pitchFamily="34" charset="0"/>
                <a:cs typeface="Arial" panose="020B0604020202020204" pitchFamily="34" charset="0"/>
              </a:rPr>
              <a:t>3 is off. </a:t>
            </a:r>
          </a:p>
          <a:p>
            <a:pPr algn="just"/>
            <a:r>
              <a:rPr lang="en-IN" sz="1800" b="0" i="0" u="none" strike="noStrike" baseline="0" dirty="0">
                <a:latin typeface="Arial" panose="020B0604020202020204" pitchFamily="34" charset="0"/>
                <a:cs typeface="Arial" panose="020B0604020202020204" pitchFamily="34" charset="0"/>
              </a:rPr>
              <a:t>The input signal  </a:t>
            </a:r>
            <a:r>
              <a:rPr lang="en-US" sz="1800" b="0" i="0" u="none" strike="noStrike" baseline="0" dirty="0">
                <a:latin typeface="Arial" panose="020B0604020202020204" pitchFamily="34" charset="0"/>
                <a:cs typeface="Arial" panose="020B0604020202020204" pitchFamily="34" charset="0"/>
              </a:rPr>
              <a:t>effectively connects to an inverter consisting of two PMOS transistors in parallel (M</a:t>
            </a:r>
            <a:r>
              <a:rPr lang="en-US" sz="1800" b="0" i="0" u="none" strike="noStrike" baseline="-25000" dirty="0">
                <a:latin typeface="Arial" panose="020B0604020202020204" pitchFamily="34" charset="0"/>
                <a:cs typeface="Arial" panose="020B0604020202020204" pitchFamily="34" charset="0"/>
              </a:rPr>
              <a:t>2</a:t>
            </a:r>
            <a:r>
              <a:rPr lang="en-US" sz="1800" b="0" i="0" u="none" strike="noStrike" baseline="0" dirty="0">
                <a:latin typeface="Arial" panose="020B0604020202020204" pitchFamily="34" charset="0"/>
                <a:cs typeface="Arial" panose="020B0604020202020204" pitchFamily="34" charset="0"/>
              </a:rPr>
              <a:t>+M</a:t>
            </a:r>
            <a:r>
              <a:rPr lang="en-US" sz="1800" b="0" i="0" u="none" strike="noStrike" baseline="-25000" dirty="0">
                <a:latin typeface="Arial" panose="020B0604020202020204" pitchFamily="34" charset="0"/>
                <a:cs typeface="Arial" panose="020B0604020202020204" pitchFamily="34" charset="0"/>
              </a:rPr>
              <a:t>4</a:t>
            </a:r>
            <a:r>
              <a:rPr lang="en-US" sz="1800" b="0" i="0" u="none" strike="noStrike" baseline="0"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t>
            </a:r>
            <a:r>
              <a:rPr lang="en-US" sz="1800" b="0" i="0" u="none" strike="noStrike" baseline="0" dirty="0">
                <a:latin typeface="Arial" panose="020B0604020202020204" pitchFamily="34" charset="0"/>
                <a:cs typeface="Arial" panose="020B0604020202020204" pitchFamily="34" charset="0"/>
              </a:rPr>
              <a:t>as a pull-up network, and a single NMOS transistor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25000" dirty="0">
                <a:latin typeface="Arial" panose="020B0604020202020204" pitchFamily="34" charset="0"/>
                <a:cs typeface="Arial" panose="020B0604020202020204" pitchFamily="34" charset="0"/>
              </a:rPr>
              <a:t>1</a:t>
            </a:r>
            <a:r>
              <a:rPr lang="en-US" sz="1800" b="0" i="0" u="none" strike="noStrike" baseline="0" dirty="0">
                <a:latin typeface="Arial" panose="020B0604020202020204" pitchFamily="34" charset="0"/>
                <a:cs typeface="Arial" panose="020B0604020202020204" pitchFamily="34" charset="0"/>
              </a:rPr>
              <a:t>) in the pull-down chain. This modifies the effective transistor ratio of the inverter to </a:t>
            </a:r>
            <a:r>
              <a:rPr lang="en-US" sz="1800" b="0" i="1" u="none" strike="noStrike" baseline="0" dirty="0">
                <a:latin typeface="Arial" panose="020B0604020202020204" pitchFamily="34" charset="0"/>
                <a:cs typeface="Arial" panose="020B0604020202020204" pitchFamily="34" charset="0"/>
              </a:rPr>
              <a:t>k</a:t>
            </a:r>
            <a:r>
              <a:rPr lang="en-US" sz="1800" b="0" i="1" u="none" strike="noStrike" baseline="-25000" dirty="0">
                <a:latin typeface="Arial" panose="020B0604020202020204" pitchFamily="34" charset="0"/>
                <a:cs typeface="Arial" panose="020B0604020202020204" pitchFamily="34" charset="0"/>
              </a:rPr>
              <a:t>M</a:t>
            </a:r>
            <a:r>
              <a:rPr lang="en-US" sz="1800" b="0" i="0" u="none" strike="noStrike" baseline="-25000" dirty="0">
                <a:latin typeface="Arial" panose="020B0604020202020204" pitchFamily="34" charset="0"/>
                <a:cs typeface="Arial" panose="020B0604020202020204" pitchFamily="34" charset="0"/>
              </a:rPr>
              <a:t>1</a:t>
            </a:r>
            <a:r>
              <a:rPr lang="en-US" sz="1800" b="0" i="1" u="none" strike="noStrike" baseline="0" dirty="0">
                <a:latin typeface="Arial" panose="020B0604020202020204" pitchFamily="34" charset="0"/>
                <a:cs typeface="Arial" panose="020B0604020202020204" pitchFamily="34" charset="0"/>
              </a:rPr>
              <a:t>/</a:t>
            </a:r>
            <a:r>
              <a:rPr lang="en-US" sz="1800" b="0" i="0" u="none" strike="noStrike" baseline="0" dirty="0">
                <a:latin typeface="Arial" panose="020B0604020202020204" pitchFamily="34" charset="0"/>
                <a:cs typeface="Arial" panose="020B0604020202020204" pitchFamily="34" charset="0"/>
              </a:rPr>
              <a:t>(</a:t>
            </a:r>
            <a:r>
              <a:rPr lang="en-US" sz="1800" b="0" i="1" u="none" strike="noStrike" baseline="0" dirty="0">
                <a:latin typeface="Arial" panose="020B0604020202020204" pitchFamily="34" charset="0"/>
                <a:cs typeface="Arial" panose="020B0604020202020204" pitchFamily="34" charset="0"/>
              </a:rPr>
              <a:t>k</a:t>
            </a:r>
            <a:r>
              <a:rPr lang="en-US" sz="1800" b="0" i="1" u="none" strike="noStrike" baseline="-25000" dirty="0">
                <a:latin typeface="Arial" panose="020B0604020202020204" pitchFamily="34" charset="0"/>
                <a:cs typeface="Arial" panose="020B0604020202020204" pitchFamily="34" charset="0"/>
              </a:rPr>
              <a:t>M</a:t>
            </a:r>
            <a:r>
              <a:rPr lang="en-US" sz="1800" b="0" i="0" u="none" strike="noStrike" baseline="-25000" dirty="0">
                <a:latin typeface="Arial" panose="020B0604020202020204" pitchFamily="34" charset="0"/>
                <a:cs typeface="Arial" panose="020B0604020202020204" pitchFamily="34" charset="0"/>
              </a:rPr>
              <a:t>2</a:t>
            </a:r>
            <a:r>
              <a:rPr lang="en-US" sz="1800" b="0" i="1" u="none" strike="noStrike" baseline="0" dirty="0">
                <a:latin typeface="Arial" panose="020B0604020202020204" pitchFamily="34" charset="0"/>
                <a:cs typeface="Arial" panose="020B0604020202020204" pitchFamily="34" charset="0"/>
              </a:rPr>
              <a:t>+k</a:t>
            </a:r>
            <a:r>
              <a:rPr lang="en-US" sz="1800" b="0" i="1" u="none" strike="noStrike" baseline="-25000" dirty="0">
                <a:latin typeface="Arial" panose="020B0604020202020204" pitchFamily="34" charset="0"/>
                <a:cs typeface="Arial" panose="020B0604020202020204" pitchFamily="34" charset="0"/>
              </a:rPr>
              <a:t>M</a:t>
            </a:r>
            <a:r>
              <a:rPr lang="en-US" sz="1800" b="0" i="0" u="none" strike="noStrike" baseline="-25000" dirty="0">
                <a:latin typeface="Arial" panose="020B0604020202020204" pitchFamily="34" charset="0"/>
                <a:cs typeface="Arial" panose="020B0604020202020204" pitchFamily="34" charset="0"/>
              </a:rPr>
              <a:t>4</a:t>
            </a:r>
            <a:r>
              <a:rPr lang="en-US" sz="1800" b="0" i="0" u="none" strike="noStrike" baseline="0" dirty="0">
                <a:latin typeface="Arial" panose="020B0604020202020204" pitchFamily="34" charset="0"/>
                <a:cs typeface="Arial" panose="020B0604020202020204" pitchFamily="34" charset="0"/>
              </a:rPr>
              <a:t>), which moves the </a:t>
            </a:r>
            <a:r>
              <a:rPr lang="en-IN" sz="1800" b="0" i="0" u="none" strike="noStrike" baseline="0" dirty="0">
                <a:latin typeface="Arial" panose="020B0604020202020204" pitchFamily="34" charset="0"/>
                <a:cs typeface="Arial" panose="020B0604020202020204" pitchFamily="34" charset="0"/>
              </a:rPr>
              <a:t>switching threshold upwards. </a:t>
            </a:r>
          </a:p>
          <a:p>
            <a:pPr algn="just"/>
            <a:r>
              <a:rPr lang="en-US" sz="1800" b="0" i="0" u="none" strike="noStrike" baseline="0" dirty="0">
                <a:latin typeface="Arial" panose="020B0604020202020204" pitchFamily="34" charset="0"/>
                <a:cs typeface="Arial" panose="020B0604020202020204" pitchFamily="34" charset="0"/>
              </a:rPr>
              <a:t>Once the inverter switches, the feedback loop turns off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25000" dirty="0">
                <a:latin typeface="Arial" panose="020B0604020202020204" pitchFamily="34" charset="0"/>
                <a:cs typeface="Arial" panose="020B0604020202020204" pitchFamily="34" charset="0"/>
              </a:rPr>
              <a:t>4</a:t>
            </a:r>
            <a:r>
              <a:rPr lang="en-US" sz="1800" b="0" i="0" u="none" strike="noStrike" baseline="0" dirty="0">
                <a:latin typeface="Arial" panose="020B0604020202020204" pitchFamily="34" charset="0"/>
                <a:cs typeface="Arial" panose="020B0604020202020204" pitchFamily="34" charset="0"/>
              </a:rPr>
              <a:t>, and the NMOS device </a:t>
            </a:r>
            <a:r>
              <a:rPr lang="en-US" sz="1800" b="0" i="1" u="none" strike="noStrike" baseline="0" dirty="0">
                <a:latin typeface="Arial" panose="020B0604020202020204" pitchFamily="34" charset="0"/>
                <a:cs typeface="Arial" panose="020B0604020202020204" pitchFamily="34" charset="0"/>
              </a:rPr>
              <a:t>M</a:t>
            </a:r>
            <a:r>
              <a:rPr lang="en-US" sz="1800" b="0" i="0" u="none" strike="noStrike" baseline="-25000" dirty="0">
                <a:latin typeface="Arial" panose="020B0604020202020204" pitchFamily="34" charset="0"/>
                <a:cs typeface="Arial" panose="020B0604020202020204" pitchFamily="34" charset="0"/>
              </a:rPr>
              <a:t>3</a:t>
            </a:r>
            <a:r>
              <a:rPr lang="en-US" sz="1800" b="0" i="0" u="none" strike="noStrike" baseline="0" dirty="0">
                <a:latin typeface="Arial" panose="020B0604020202020204" pitchFamily="34" charset="0"/>
                <a:cs typeface="Arial" panose="020B0604020202020204" pitchFamily="34" charset="0"/>
              </a:rPr>
              <a:t> is activated. This extra pull-down device speeds up the transition and produces a clean output signal with steep slopes. A similar behavior can be observed for the high-to-low transition.</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39BC61FE-BA61-4165-8EEA-901862546C70}"/>
              </a:ext>
            </a:extLst>
          </p:cNvPr>
          <p:cNvSpPr>
            <a:spLocks noGrp="1"/>
          </p:cNvSpPr>
          <p:nvPr>
            <p:ph type="ftr" sz="quarter" idx="11"/>
          </p:nvPr>
        </p:nvSpPr>
        <p:spPr>
          <a:xfrm>
            <a:off x="1571946" y="6135808"/>
            <a:ext cx="8637265" cy="429379"/>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4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6081987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4641" y="624110"/>
            <a:ext cx="9939972" cy="1280890"/>
          </a:xfrm>
        </p:spPr>
        <p:txBody>
          <a:bodyPr/>
          <a:lstStyle/>
          <a:p>
            <a:endParaRPr lang="en-IN" dirty="0">
              <a:solidFill>
                <a:schemeClr val="tx1"/>
              </a:solidFill>
            </a:endParaRPr>
          </a:p>
        </p:txBody>
      </p:sp>
      <p:sp>
        <p:nvSpPr>
          <p:cNvPr id="3" name="Content Placeholder 2"/>
          <p:cNvSpPr>
            <a:spLocks noGrp="1"/>
          </p:cNvSpPr>
          <p:nvPr>
            <p:ph idx="1"/>
          </p:nvPr>
        </p:nvSpPr>
        <p:spPr>
          <a:xfrm>
            <a:off x="1564640" y="2133600"/>
            <a:ext cx="9939972" cy="3777622"/>
          </a:xfrm>
        </p:spPr>
        <p:txBody>
          <a:bodyPr/>
          <a:lstStyle/>
          <a:p>
            <a:endParaRPr lang="en-IN" dirty="0">
              <a:solidFill>
                <a:srgbClr val="FF0000"/>
              </a:solidFill>
            </a:endParaRPr>
          </a:p>
        </p:txBody>
      </p:sp>
      <p:sp>
        <p:nvSpPr>
          <p:cNvPr id="4" name="Rectangle 3"/>
          <p:cNvSpPr/>
          <p:nvPr/>
        </p:nvSpPr>
        <p:spPr>
          <a:xfrm>
            <a:off x="4285251" y="2967335"/>
            <a:ext cx="4999426" cy="1200329"/>
          </a:xfrm>
          <a:prstGeom prst="rect">
            <a:avLst/>
          </a:prstGeom>
          <a:noFill/>
          <a:scene3d>
            <a:camera prst="obliqueBottomLeft"/>
            <a:lightRig rig="threePt" dir="t"/>
          </a:scene3d>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5" name="Footer Placeholder 4">
            <a:extLst>
              <a:ext uri="{FF2B5EF4-FFF2-40B4-BE49-F238E27FC236}">
                <a16:creationId xmlns:a16="http://schemas.microsoft.com/office/drawing/2014/main" id="{5CB9775A-DA40-435C-881E-2A72176C381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6605803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478</TotalTime>
  <Words>6211</Words>
  <Application>Microsoft Office PowerPoint</Application>
  <PresentationFormat>Widescreen</PresentationFormat>
  <Paragraphs>341</Paragraphs>
  <Slides>50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Arial</vt:lpstr>
      <vt:lpstr>Calibri</vt:lpstr>
      <vt:lpstr>Cambria Math</vt:lpstr>
      <vt:lpstr>Century Gothic</vt:lpstr>
      <vt:lpstr>Symbol</vt:lpstr>
      <vt:lpstr>Times New Roman</vt:lpstr>
      <vt:lpstr>Wingdings</vt:lpstr>
      <vt:lpstr>Wingdings 3</vt:lpstr>
      <vt:lpstr>Wisp</vt:lpstr>
      <vt:lpstr>Sequential Logic Circuits</vt:lpstr>
      <vt:lpstr>Introduction  </vt:lpstr>
      <vt:lpstr>Timing Metrics for Sequential Circuits</vt:lpstr>
      <vt:lpstr>Continuing…… </vt:lpstr>
      <vt:lpstr>Static Latches and Registers</vt:lpstr>
      <vt:lpstr>Static Properties of Complementary CMOS Gates</vt:lpstr>
      <vt:lpstr> continue…..</vt:lpstr>
      <vt:lpstr>Multiplexer-based latches</vt:lpstr>
      <vt:lpstr>Transistor level implementation of  latches</vt:lpstr>
      <vt:lpstr>Continue….</vt:lpstr>
      <vt:lpstr>Master-Slave Edge-Triggered Register</vt:lpstr>
      <vt:lpstr>Transistor-level implementation of the master-slave positive edge-triggered register</vt:lpstr>
      <vt:lpstr>Timing Properties of Multiplexer-based Master-Slave Registers</vt:lpstr>
      <vt:lpstr>Drawback of transmission gate register</vt:lpstr>
      <vt:lpstr>Continue….</vt:lpstr>
      <vt:lpstr>Non-ideal clock signals</vt:lpstr>
      <vt:lpstr>Continue….</vt:lpstr>
      <vt:lpstr>Low-Voltage Static Latches</vt:lpstr>
      <vt:lpstr>Continue…..</vt:lpstr>
      <vt:lpstr>Dynamic latches and register</vt:lpstr>
      <vt:lpstr>Dynamic Transmission-Gate Edge-triggered Registers</vt:lpstr>
      <vt:lpstr>Continue…..</vt:lpstr>
      <vt:lpstr>Clock overlap</vt:lpstr>
      <vt:lpstr>C2MOS—A Clock-Skew Insensitive Approach</vt:lpstr>
      <vt:lpstr>Continue…..</vt:lpstr>
      <vt:lpstr>Continue…..</vt:lpstr>
      <vt:lpstr>Dual-edge Registers</vt:lpstr>
      <vt:lpstr>Continue….</vt:lpstr>
      <vt:lpstr>True Single-Phase Clocked Register (TSPCR)</vt:lpstr>
      <vt:lpstr>Continue…..</vt:lpstr>
      <vt:lpstr>Continue….</vt:lpstr>
      <vt:lpstr>Continue….</vt:lpstr>
      <vt:lpstr>Continue……..</vt:lpstr>
      <vt:lpstr>Pulse Registers</vt:lpstr>
      <vt:lpstr>Continue……</vt:lpstr>
      <vt:lpstr>Continue….</vt:lpstr>
      <vt:lpstr>Pipelining: An approach to optimize sequential circuits</vt:lpstr>
      <vt:lpstr>Continue……</vt:lpstr>
      <vt:lpstr>Continue…..</vt:lpstr>
      <vt:lpstr>Latch- vs. Register-Based Pipelines </vt:lpstr>
      <vt:lpstr>Continue….</vt:lpstr>
      <vt:lpstr>NORA-CMOS—A Logic Style for Pipelined Structures</vt:lpstr>
      <vt:lpstr>Continue….</vt:lpstr>
      <vt:lpstr>Continue….</vt:lpstr>
      <vt:lpstr>Continue….</vt:lpstr>
      <vt:lpstr>The Schmitt Trigger</vt:lpstr>
      <vt:lpstr>Continue…..</vt:lpstr>
      <vt:lpstr>CMOS Implementation of Schmitt trigger</vt:lpstr>
      <vt:lpstr>Continue….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Sequential Logic Circuits</dc:title>
  <dc:creator>Dr. Rohit Lorenzo</dc:creator>
  <cp:lastModifiedBy>Rohit Lorenzo</cp:lastModifiedBy>
  <cp:revision>6</cp:revision>
  <cp:lastPrinted>2021-01-02T15:51:37Z</cp:lastPrinted>
  <dcterms:created xsi:type="dcterms:W3CDTF">2020-10-22T19:36:57Z</dcterms:created>
  <dcterms:modified xsi:type="dcterms:W3CDTF">2026-04-07T16:44:26Z</dcterms:modified>
</cp:coreProperties>
</file>