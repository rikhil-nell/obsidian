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4" r:id="rId1"/>
  </p:sldMasterIdLst>
  <p:notesMasterIdLst>
    <p:notesMasterId r:id="rId22"/>
  </p:notesMasterIdLst>
  <p:sldIdLst>
    <p:sldId id="256" r:id="rId2"/>
    <p:sldId id="447" r:id="rId3"/>
    <p:sldId id="448" r:id="rId4"/>
    <p:sldId id="449" r:id="rId5"/>
    <p:sldId id="450" r:id="rId6"/>
    <p:sldId id="451" r:id="rId7"/>
    <p:sldId id="452" r:id="rId8"/>
    <p:sldId id="414" r:id="rId9"/>
    <p:sldId id="416" r:id="rId10"/>
    <p:sldId id="417" r:id="rId11"/>
    <p:sldId id="453" r:id="rId12"/>
    <p:sldId id="454" r:id="rId13"/>
    <p:sldId id="455" r:id="rId14"/>
    <p:sldId id="456" r:id="rId15"/>
    <p:sldId id="458" r:id="rId16"/>
    <p:sldId id="460" r:id="rId17"/>
    <p:sldId id="461" r:id="rId18"/>
    <p:sldId id="459" r:id="rId19"/>
    <p:sldId id="462" r:id="rId20"/>
    <p:sldId id="27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80" y="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AC73D7-7640-40F9-8434-A0F03C5760E6}" type="datetimeFigureOut">
              <a:rPr lang="en-IN" smtClean="0"/>
              <a:pPr/>
              <a:t>17-04-2026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2B883-0CBF-46F6-B001-F5F9F89E9899}" type="slidenum">
              <a:rPr lang="en-IN" smtClean="0"/>
              <a:pPr/>
              <a:t>‹#›</a:t>
            </a:fld>
            <a:endParaRPr lang="en-IN"/>
          </a:p>
        </p:txBody>
      </p:sp>
    </p:spTree>
    <p:extLst>
      <p:ext uri="{BB962C8B-B14F-4D97-AF65-F5344CB8AC3E}">
        <p14:creationId xmlns:p14="http://schemas.microsoft.com/office/powerpoint/2010/main" val="3170261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793FC6-7D19-42F4-A915-A22E318BB010}" type="datetime1">
              <a:rPr lang="en-IN" smtClean="0"/>
              <a:pPr/>
              <a:t>17-04-2026</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65337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11B98C-9C5A-4162-993F-316E4E6C62BB}" type="datetime1">
              <a:rPr lang="en-IN" smtClean="0"/>
              <a:pPr/>
              <a:t>17-04-2026</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858345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9ED1CE-D0E4-49F6-AA4E-0C3DE4D5CA9F}" type="datetime1">
              <a:rPr lang="en-IN" smtClean="0"/>
              <a:pPr/>
              <a:t>17-04-2026</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13757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6DC15E-93BC-4995-B67D-673FA7BA3E92}" type="datetime1">
              <a:rPr lang="en-IN" smtClean="0"/>
              <a:pPr/>
              <a:t>17-04-2026</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948977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90AC8C-1DD9-4769-A93E-CB9191A82FBE}" type="datetime1">
              <a:rPr lang="en-IN" smtClean="0"/>
              <a:pPr/>
              <a:t>17-04-2026</a:t>
            </a:fld>
            <a:endParaRPr lang="en-IN"/>
          </a:p>
        </p:txBody>
      </p:sp>
      <p:sp>
        <p:nvSpPr>
          <p:cNvPr id="8" name="Footer Placeholder 7"/>
          <p:cNvSpPr>
            <a:spLocks noGrp="1"/>
          </p:cNvSpPr>
          <p:nvPr>
            <p:ph type="ftr" sz="quarter" idx="11"/>
          </p:nvPr>
        </p:nvSpPr>
        <p:spPr/>
        <p:txBody>
          <a:bodyPr/>
          <a:lstStyle/>
          <a:p>
            <a:r>
              <a:rPr lang="en-IN"/>
              <a:t>Rohit Lorenzo , VIT-AP</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94879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49D4AB-23A7-43B1-AC37-7A69E1B162CB}" type="datetime1">
              <a:rPr lang="en-IN" smtClean="0"/>
              <a:pPr/>
              <a:t>17-04-2026</a:t>
            </a:fld>
            <a:endParaRPr lang="en-IN"/>
          </a:p>
        </p:txBody>
      </p:sp>
      <p:sp>
        <p:nvSpPr>
          <p:cNvPr id="4" name="Footer Placeholder 3"/>
          <p:cNvSpPr>
            <a:spLocks noGrp="1"/>
          </p:cNvSpPr>
          <p:nvPr>
            <p:ph type="ftr" sz="quarter" idx="11"/>
          </p:nvPr>
        </p:nvSpPr>
        <p:spPr/>
        <p:txBody>
          <a:bodyPr/>
          <a:lstStyle/>
          <a:p>
            <a:r>
              <a:rPr lang="en-IN"/>
              <a:t>Rohit Lorenzo , VIT-AP</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688461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DFFC48-1A3A-47F9-AB3E-F0A947B0BE83}" type="datetime1">
              <a:rPr lang="en-IN" smtClean="0"/>
              <a:pPr/>
              <a:t>17-04-2026</a:t>
            </a:fld>
            <a:endParaRPr lang="en-IN"/>
          </a:p>
        </p:txBody>
      </p:sp>
      <p:sp>
        <p:nvSpPr>
          <p:cNvPr id="3" name="Footer Placeholder 2"/>
          <p:cNvSpPr>
            <a:spLocks noGrp="1"/>
          </p:cNvSpPr>
          <p:nvPr>
            <p:ph type="ftr" sz="quarter" idx="11"/>
          </p:nvPr>
        </p:nvSpPr>
        <p:spPr/>
        <p:txBody>
          <a:bodyPr/>
          <a:lstStyle/>
          <a:p>
            <a:r>
              <a:rPr lang="en-IN"/>
              <a:t>Rohit Lorenzo , VIT-AP</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1223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0B7AB3-5AA6-4B2A-A848-6B9056B8F888}" type="datetime1">
              <a:rPr lang="en-IN" smtClean="0"/>
              <a:pPr/>
              <a:t>17-04-2026</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787837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962A0A8-2993-4F46-873E-B317420EEF1D}" type="datetime1">
              <a:rPr lang="en-IN" smtClean="0"/>
              <a:pPr/>
              <a:t>17-04-2026</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005223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24AF5B2-9161-484D-941E-09E7D7D8822D}" type="datetime1">
              <a:rPr lang="en-IN" smtClean="0"/>
              <a:pPr/>
              <a:t>17-04-2026</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27654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802EE73-49A5-4032-8312-39A4654D8975}" type="datetime1">
              <a:rPr lang="en-IN" smtClean="0"/>
              <a:pPr/>
              <a:t>17-04-2026</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77853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13B1249-61C8-4A7F-8E7B-53A384F44D16}" type="datetime1">
              <a:rPr lang="en-IN" smtClean="0"/>
              <a:pPr/>
              <a:t>17-04-2026</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081259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433059DD-5442-4AC6-B4D8-568940477A5F}" type="datetime1">
              <a:rPr lang="en-IN" smtClean="0"/>
              <a:pPr/>
              <a:t>17-04-2026</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937447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A093278-5D43-45AE-BD96-13E9B97C202A}" type="datetime1">
              <a:rPr lang="en-IN" smtClean="0"/>
              <a:pPr/>
              <a:t>17-04-2026</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17826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90D21C-79F6-4EA2-9761-2BBE3077020C}" type="datetime1">
              <a:rPr lang="en-IN" smtClean="0"/>
              <a:pPr/>
              <a:t>17-04-2026</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7847754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744E18-DFA2-43E5-8F6D-0DBE05038609}" type="datetime1">
              <a:rPr lang="en-IN" smtClean="0"/>
              <a:pPr/>
              <a:t>17-04-2026</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686937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31D4EE5-909F-48DF-A25F-F957D1B95CC9}" type="datetime1">
              <a:rPr lang="en-IN" smtClean="0"/>
              <a:pPr/>
              <a:t>17-04-2026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a:t>Rohit Lorenzo , VIT-AP</a:t>
            </a: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3660945311"/>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 id="2147483889" r:id="rId15"/>
    <p:sldLayoutId id="2147483890" r:id="rId16"/>
  </p:sldLayoutIdLst>
  <p:hf sldNum="0"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t>Design for Testability</a:t>
            </a:r>
            <a:endParaRPr lang="en-IN" sz="3000" b="1" dirty="0"/>
          </a:p>
        </p:txBody>
      </p:sp>
      <p:sp>
        <p:nvSpPr>
          <p:cNvPr id="3" name="Content Placeholder 2"/>
          <p:cNvSpPr>
            <a:spLocks noGrp="1"/>
          </p:cNvSpPr>
          <p:nvPr>
            <p:ph idx="1"/>
          </p:nvPr>
        </p:nvSpPr>
        <p:spPr>
          <a:xfrm>
            <a:off x="1450731" y="2133599"/>
            <a:ext cx="10278207" cy="4399085"/>
          </a:xfrm>
        </p:spPr>
        <p:txBody>
          <a:bodyPr/>
          <a:lstStyle/>
          <a:p>
            <a:pPr marL="0" indent="0" algn="ctr">
              <a:buNone/>
            </a:pPr>
            <a:r>
              <a:rPr lang="en-IN" b="1" dirty="0"/>
              <a:t>By</a:t>
            </a:r>
          </a:p>
          <a:p>
            <a:pPr marL="0" indent="0" algn="ctr">
              <a:buNone/>
            </a:pPr>
            <a:endParaRPr lang="en-IN" dirty="0"/>
          </a:p>
          <a:p>
            <a:pPr marL="0" indent="0" algn="ctr">
              <a:buNone/>
            </a:pPr>
            <a:r>
              <a:rPr lang="en-IN" sz="2000" b="1" dirty="0" err="1"/>
              <a:t>Dr.Rohit</a:t>
            </a:r>
            <a:r>
              <a:rPr lang="en-IN" sz="2000" b="1" dirty="0"/>
              <a:t> Lorenzo</a:t>
            </a:r>
          </a:p>
          <a:p>
            <a:pPr marL="0" indent="0" algn="ctr">
              <a:buNone/>
            </a:pPr>
            <a:r>
              <a:rPr lang="en-IN" sz="2000" b="1" dirty="0"/>
              <a:t>Assistant Professor Sr. Grade -1</a:t>
            </a:r>
          </a:p>
          <a:p>
            <a:pPr marL="0" indent="0" algn="ctr">
              <a:buNone/>
            </a:pPr>
            <a:r>
              <a:rPr lang="en-IN" sz="2000" b="1" dirty="0"/>
              <a:t>School of Electronics Engineering (SENSE)</a:t>
            </a:r>
          </a:p>
          <a:p>
            <a:pPr marL="0" indent="0" algn="ctr">
              <a:buNone/>
            </a:pPr>
            <a:endParaRPr lang="en-IN" b="1" dirty="0"/>
          </a:p>
          <a:p>
            <a:pPr marL="0" indent="0" algn="ctr">
              <a:buNone/>
            </a:pPr>
            <a:r>
              <a:rPr lang="en-IN" dirty="0"/>
              <a:t> </a:t>
            </a:r>
          </a:p>
        </p:txBody>
      </p:sp>
      <p:pic>
        <p:nvPicPr>
          <p:cNvPr id="4" name="Picture 3">
            <a:extLst>
              <a:ext uri="{FF2B5EF4-FFF2-40B4-BE49-F238E27FC236}">
                <a16:creationId xmlns:a16="http://schemas.microsoft.com/office/drawing/2014/main" id="{E7D8A5F9-ED45-42EF-B008-2ACDB3324E29}"/>
              </a:ext>
            </a:extLst>
          </p:cNvPr>
          <p:cNvPicPr>
            <a:picLocks noChangeAspect="1"/>
          </p:cNvPicPr>
          <p:nvPr/>
        </p:nvPicPr>
        <p:blipFill>
          <a:blip r:embed="rId2" cstate="print"/>
          <a:stretch>
            <a:fillRect/>
          </a:stretch>
        </p:blipFill>
        <p:spPr>
          <a:xfrm>
            <a:off x="5518271" y="4206557"/>
            <a:ext cx="2143125" cy="2143125"/>
          </a:xfrm>
          <a:prstGeom prst="rect">
            <a:avLst/>
          </a:prstGeom>
        </p:spPr>
      </p:pic>
      <p:sp>
        <p:nvSpPr>
          <p:cNvPr id="6" name="Footer Placeholder 5">
            <a:extLst>
              <a:ext uri="{FF2B5EF4-FFF2-40B4-BE49-F238E27FC236}">
                <a16:creationId xmlns:a16="http://schemas.microsoft.com/office/drawing/2014/main" id="{5E9579B1-487B-4D07-8C3A-2D1E584D45E5}"/>
              </a:ext>
            </a:extLst>
          </p:cNvPr>
          <p:cNvSpPr>
            <a:spLocks noGrp="1"/>
          </p:cNvSpPr>
          <p:nvPr>
            <p:ph type="ftr" sz="quarter" idx="11"/>
          </p:nvPr>
        </p:nvSpPr>
        <p:spPr/>
        <p:txBody>
          <a:bodyPr/>
          <a:lstStyle/>
          <a:p>
            <a:endParaRPr lang="en-IN" dirty="0"/>
          </a:p>
        </p:txBody>
      </p:sp>
    </p:spTree>
    <p:extLst>
      <p:ext uri="{BB962C8B-B14F-4D97-AF65-F5344CB8AC3E}">
        <p14:creationId xmlns:p14="http://schemas.microsoft.com/office/powerpoint/2010/main" val="1808153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2237B-4602-4B11-BF43-9A9501F581A3}"/>
              </a:ext>
            </a:extLst>
          </p:cNvPr>
          <p:cNvSpPr>
            <a:spLocks noGrp="1"/>
          </p:cNvSpPr>
          <p:nvPr>
            <p:ph type="title"/>
          </p:nvPr>
        </p:nvSpPr>
        <p:spPr>
          <a:xfrm>
            <a:off x="1715785" y="624110"/>
            <a:ext cx="9788828" cy="1280890"/>
          </a:xfrm>
        </p:spPr>
        <p:txBody>
          <a:bodyPr/>
          <a:lstStyle/>
          <a:p>
            <a:r>
              <a:rPr lang="en-IN" b="1" dirty="0"/>
              <a:t>Introduction</a:t>
            </a:r>
            <a:endParaRPr lang="en-IN" dirty="0"/>
          </a:p>
        </p:txBody>
      </p:sp>
      <p:sp>
        <p:nvSpPr>
          <p:cNvPr id="3" name="Content Placeholder 2">
            <a:extLst>
              <a:ext uri="{FF2B5EF4-FFF2-40B4-BE49-F238E27FC236}">
                <a16:creationId xmlns:a16="http://schemas.microsoft.com/office/drawing/2014/main" id="{D236D35C-F1B5-431B-89B3-A30184C916B1}"/>
              </a:ext>
            </a:extLst>
          </p:cNvPr>
          <p:cNvSpPr>
            <a:spLocks noGrp="1"/>
          </p:cNvSpPr>
          <p:nvPr>
            <p:ph idx="1"/>
          </p:nvPr>
        </p:nvSpPr>
        <p:spPr>
          <a:xfrm>
            <a:off x="852755" y="1479479"/>
            <a:ext cx="10651857" cy="4431743"/>
          </a:xfrm>
        </p:spPr>
        <p:txBody>
          <a:bodyPr/>
          <a:lstStyle/>
          <a:p>
            <a:r>
              <a:rPr lang="en-US" dirty="0">
                <a:latin typeface="Arial" panose="020B0604020202020204" pitchFamily="34" charset="0"/>
                <a:cs typeface="Arial" panose="020B0604020202020204" pitchFamily="34" charset="0"/>
              </a:rPr>
              <a:t>The task of determining whether fabricated chips are fully functional is highly complex and can be very time-consuming.</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As the number of transistors integrated into a single chip increases, the task of chip testing to ensure correct functionality becomes increasingly more difficult.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However, in a production environment, many chips must be tested within a short time for timely delivery to customers. To overcome such difficult issues, design for testability has become ever more critical.</a:t>
            </a:r>
          </a:p>
          <a:p>
            <a:endParaRPr lang="en-IN" dirty="0"/>
          </a:p>
        </p:txBody>
      </p:sp>
      <p:sp>
        <p:nvSpPr>
          <p:cNvPr id="4" name="Footer Placeholder 3">
            <a:extLst>
              <a:ext uri="{FF2B5EF4-FFF2-40B4-BE49-F238E27FC236}">
                <a16:creationId xmlns:a16="http://schemas.microsoft.com/office/drawing/2014/main" id="{3D380FAC-29D2-45DE-8B04-B9B1180AF49E}"/>
              </a:ext>
            </a:extLst>
          </p:cNvPr>
          <p:cNvSpPr>
            <a:spLocks noGrp="1"/>
          </p:cNvSpPr>
          <p:nvPr>
            <p:ph type="ftr" sz="quarter" idx="11"/>
          </p:nvPr>
        </p:nvSpPr>
        <p:spPr>
          <a:xfrm>
            <a:off x="1428108" y="6135808"/>
            <a:ext cx="8781103" cy="46020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2746991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8C78A-DAC5-41D1-A2CF-CA5EC7BEFBA1}"/>
              </a:ext>
            </a:extLst>
          </p:cNvPr>
          <p:cNvSpPr>
            <a:spLocks noGrp="1"/>
          </p:cNvSpPr>
          <p:nvPr>
            <p:ph type="title"/>
          </p:nvPr>
        </p:nvSpPr>
        <p:spPr>
          <a:xfrm>
            <a:off x="1726059" y="624110"/>
            <a:ext cx="9778554" cy="1280890"/>
          </a:xfrm>
        </p:spPr>
        <p:txBody>
          <a:bodyPr/>
          <a:lstStyle/>
          <a:p>
            <a:r>
              <a:rPr kumimoji="0" lang="en-US" sz="3200" b="1" i="0" u="none" strike="noStrike" kern="1200" cap="none" spc="0" normalizeH="0" baseline="0" noProof="0" dirty="0">
                <a:ln>
                  <a:noFill/>
                </a:ln>
                <a:solidFill>
                  <a:prstClr val="black">
                    <a:lumMod val="85000"/>
                    <a:lumOff val="15000"/>
                  </a:prstClr>
                </a:solidFill>
                <a:effectLst/>
                <a:uLnTx/>
                <a:uFillTx/>
                <a:latin typeface="Century Gothic"/>
                <a:ea typeface="+mj-ea"/>
                <a:cs typeface="+mj-cs"/>
              </a:rPr>
              <a:t>Fault types and models</a:t>
            </a:r>
            <a:endParaRPr lang="en-IN" dirty="0"/>
          </a:p>
        </p:txBody>
      </p:sp>
      <p:sp>
        <p:nvSpPr>
          <p:cNvPr id="3" name="Content Placeholder 2">
            <a:extLst>
              <a:ext uri="{FF2B5EF4-FFF2-40B4-BE49-F238E27FC236}">
                <a16:creationId xmlns:a16="http://schemas.microsoft.com/office/drawing/2014/main" id="{AB0539FB-C122-419A-AF05-B6632579814E}"/>
              </a:ext>
            </a:extLst>
          </p:cNvPr>
          <p:cNvSpPr>
            <a:spLocks noGrp="1"/>
          </p:cNvSpPr>
          <p:nvPr>
            <p:ph idx="1"/>
          </p:nvPr>
        </p:nvSpPr>
        <p:spPr>
          <a:xfrm>
            <a:off x="318499" y="1212351"/>
            <a:ext cx="11527604" cy="5645649"/>
          </a:xfrm>
        </p:spPr>
        <p:txBody>
          <a:bodyPr>
            <a:normAutofit fontScale="92500" lnSpcReduction="20000"/>
          </a:bodyPr>
          <a:lstStyle/>
          <a:p>
            <a:pPr marL="342900" marR="0" lvl="0" indent="-342900" algn="just" defTabSz="457200" rtl="0" eaLnBrk="1" fontAlgn="auto" latinLnBrk="0" hangingPunct="1">
              <a:lnSpc>
                <a:spcPct val="100000"/>
              </a:lnSpc>
              <a:spcBef>
                <a:spcPts val="0"/>
              </a:spcBef>
              <a:spcAft>
                <a:spcPts val="0"/>
              </a:spcAft>
              <a:buClr>
                <a:srgbClr val="E78712"/>
              </a:buClr>
              <a:buSzTx/>
              <a:buFont typeface="Wingdings 3" charset="2"/>
              <a:buChar char=""/>
              <a:tabLst/>
              <a:defRPr/>
            </a:pPr>
            <a:r>
              <a:rPr kumimoji="0" lang="en-US" sz="21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Chip testing, in the conventional sense, is usually multi-purpose and attempts to detect faults in fabrication, design, and failures due to stressful operating condition.</a:t>
            </a:r>
          </a:p>
          <a:p>
            <a:pPr marL="342900" marR="0" lvl="0" indent="-342900" algn="just" defTabSz="457200" rtl="0" eaLnBrk="1" fontAlgn="auto" latinLnBrk="0" hangingPunct="1">
              <a:lnSpc>
                <a:spcPct val="100000"/>
              </a:lnSpc>
              <a:spcBef>
                <a:spcPts val="1000"/>
              </a:spcBef>
              <a:spcAft>
                <a:spcPts val="0"/>
              </a:spcAft>
              <a:buClr>
                <a:srgbClr val="E78712"/>
              </a:buClr>
              <a:buSzTx/>
              <a:buFont typeface="Wingdings 3" charset="2"/>
              <a:buChar char=""/>
              <a:tabLst/>
              <a:defRPr/>
            </a:pPr>
            <a:r>
              <a:rPr kumimoji="0" lang="en-US" sz="21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The main difficulty in testing is caused by the fact that only input and output pins of DUT are accessible.</a:t>
            </a:r>
          </a:p>
          <a:p>
            <a:pPr marL="342900" marR="0" lvl="0" indent="-342900" algn="just" defTabSz="457200" rtl="0" eaLnBrk="1" fontAlgn="auto" latinLnBrk="0" hangingPunct="1">
              <a:lnSpc>
                <a:spcPct val="100000"/>
              </a:lnSpc>
              <a:spcBef>
                <a:spcPts val="1000"/>
              </a:spcBef>
              <a:spcAft>
                <a:spcPts val="0"/>
              </a:spcAft>
              <a:buClr>
                <a:srgbClr val="E78712"/>
              </a:buClr>
              <a:buSzTx/>
              <a:buFont typeface="Wingdings 3" charset="2"/>
              <a:buChar char=""/>
              <a:tabLst/>
              <a:defRPr/>
            </a:pPr>
            <a:r>
              <a:rPr kumimoji="0" lang="en-US" sz="21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As the operating clock frequency of the chip's increases beyond several tens of megahertz, the at-speed test has also become a difficult problem.</a:t>
            </a:r>
          </a:p>
          <a:p>
            <a:pPr marL="342900" marR="0" lvl="0" indent="-342900" algn="just" defTabSz="457200" rtl="0" eaLnBrk="1" fontAlgn="auto" latinLnBrk="0" hangingPunct="1">
              <a:lnSpc>
                <a:spcPct val="100000"/>
              </a:lnSpc>
              <a:spcBef>
                <a:spcPts val="1000"/>
              </a:spcBef>
              <a:spcAft>
                <a:spcPts val="0"/>
              </a:spcAft>
              <a:buClr>
                <a:srgbClr val="E78712"/>
              </a:buClr>
              <a:buSzTx/>
              <a:buFont typeface="Wingdings 3" charset="2"/>
              <a:buChar char=""/>
              <a:tabLst/>
              <a:defRPr/>
            </a:pPr>
            <a:r>
              <a:rPr kumimoji="0" lang="en-US" sz="21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The tester to DUT and in detecting response signals from DUT due to impedance mismatch.</a:t>
            </a:r>
          </a:p>
          <a:p>
            <a:pPr marL="342900" marR="0" lvl="0" indent="-342900" algn="just" defTabSz="457200" rtl="0" eaLnBrk="1" fontAlgn="auto" latinLnBrk="0" hangingPunct="1">
              <a:lnSpc>
                <a:spcPct val="100000"/>
              </a:lnSpc>
              <a:spcBef>
                <a:spcPts val="1000"/>
              </a:spcBef>
              <a:spcAft>
                <a:spcPts val="0"/>
              </a:spcAft>
              <a:buClr>
                <a:srgbClr val="E78712"/>
              </a:buClr>
              <a:buSzTx/>
              <a:buFont typeface="Wingdings 3" charset="2"/>
              <a:buChar char=""/>
              <a:tabLst/>
              <a:defRPr/>
            </a:pPr>
            <a:r>
              <a:rPr kumimoji="0" lang="en-US" sz="21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In addition to the tester problem, the generation of correct test vectors to detect all modeled faults and design errors in complex chips, either manually or through an automatic test patter generator (ATPG).</a:t>
            </a:r>
          </a:p>
          <a:p>
            <a:pPr marL="342900" marR="0" lvl="0" indent="-342900" algn="just" defTabSz="457200" rtl="0" eaLnBrk="1" fontAlgn="auto" latinLnBrk="0" hangingPunct="1">
              <a:lnSpc>
                <a:spcPct val="100000"/>
              </a:lnSpc>
              <a:spcBef>
                <a:spcPts val="1000"/>
              </a:spcBef>
              <a:spcAft>
                <a:spcPts val="0"/>
              </a:spcAft>
              <a:buClr>
                <a:srgbClr val="E78712"/>
              </a:buClr>
              <a:buSzTx/>
              <a:buFont typeface="Wingdings 3" charset="2"/>
              <a:buChar char=""/>
              <a:tabLst/>
              <a:defRPr/>
            </a:pPr>
            <a:r>
              <a:rPr kumimoji="0" lang="en-US" sz="21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we will limit our discussion to faults caused by physical defects.</a:t>
            </a:r>
          </a:p>
          <a:p>
            <a:pPr marL="342900" marR="0" lvl="0" indent="-342900" algn="just" defTabSz="457200" rtl="0" eaLnBrk="1" fontAlgn="auto" latinLnBrk="0" hangingPunct="1">
              <a:lnSpc>
                <a:spcPct val="100000"/>
              </a:lnSpc>
              <a:spcBef>
                <a:spcPts val="1000"/>
              </a:spcBef>
              <a:spcAft>
                <a:spcPts val="0"/>
              </a:spcAft>
              <a:buClr>
                <a:srgbClr val="E78712"/>
              </a:buClr>
              <a:buSzTx/>
              <a:buFont typeface="Wingdings 3" charset="2"/>
              <a:buChar char=""/>
              <a:tabLst/>
              <a:defRPr/>
            </a:pPr>
            <a:r>
              <a:rPr kumimoji="0" lang="en-US" sz="21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Examples of physical defects include:</a:t>
            </a:r>
          </a:p>
          <a:p>
            <a:pPr marL="342900" marR="0" lvl="0" indent="-342900" algn="just" defTabSz="457200" rtl="0" eaLnBrk="1" fontAlgn="auto" latinLnBrk="0" hangingPunct="1">
              <a:lnSpc>
                <a:spcPct val="100000"/>
              </a:lnSpc>
              <a:spcBef>
                <a:spcPts val="1000"/>
              </a:spcBef>
              <a:spcAft>
                <a:spcPts val="0"/>
              </a:spcAft>
              <a:buClr>
                <a:srgbClr val="E78712"/>
              </a:buClr>
              <a:buSzTx/>
              <a:buFont typeface="Wingdings 3" charset="2"/>
              <a:buChar char=""/>
              <a:tabLst/>
              <a:defRPr/>
            </a:pPr>
            <a:endParaRPr kumimoji="0" lang="en-US" sz="21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endParaRPr>
          </a:p>
          <a:p>
            <a:pPr marL="342900" marR="0" lvl="0" indent="-342900" algn="just" defTabSz="457200" rtl="0" eaLnBrk="1" fontAlgn="auto" latinLnBrk="0" hangingPunct="1">
              <a:lnSpc>
                <a:spcPct val="100000"/>
              </a:lnSpc>
              <a:spcBef>
                <a:spcPts val="1000"/>
              </a:spcBef>
              <a:spcAft>
                <a:spcPts val="0"/>
              </a:spcAft>
              <a:buClr>
                <a:srgbClr val="E78712"/>
              </a:buClr>
              <a:buSzTx/>
              <a:buFont typeface="Wingdings 3" charset="2"/>
              <a:buChar char=""/>
              <a:tabLst/>
              <a:defRPr/>
            </a:pPr>
            <a:r>
              <a:rPr kumimoji="0" lang="en-US" sz="21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 Defects in silicon substrate</a:t>
            </a:r>
          </a:p>
          <a:p>
            <a:pPr marL="342900" marR="0" lvl="0" indent="-342900" algn="just" defTabSz="457200" rtl="0" eaLnBrk="1" fontAlgn="auto" latinLnBrk="0" hangingPunct="1">
              <a:lnSpc>
                <a:spcPct val="100000"/>
              </a:lnSpc>
              <a:spcBef>
                <a:spcPts val="1000"/>
              </a:spcBef>
              <a:spcAft>
                <a:spcPts val="0"/>
              </a:spcAft>
              <a:buClr>
                <a:srgbClr val="E78712"/>
              </a:buClr>
              <a:buSzTx/>
              <a:buFont typeface="Wingdings 3" charset="2"/>
              <a:buChar char=""/>
              <a:tabLst/>
              <a:defRPr/>
            </a:pPr>
            <a:r>
              <a:rPr kumimoji="0" lang="en-US" sz="21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 Photolithographic defects</a:t>
            </a:r>
          </a:p>
          <a:p>
            <a:pPr marL="342900" marR="0" lvl="0" indent="-342900" algn="just" defTabSz="457200" rtl="0" eaLnBrk="1" fontAlgn="auto" latinLnBrk="0" hangingPunct="1">
              <a:lnSpc>
                <a:spcPct val="100000"/>
              </a:lnSpc>
              <a:spcBef>
                <a:spcPts val="1000"/>
              </a:spcBef>
              <a:spcAft>
                <a:spcPts val="0"/>
              </a:spcAft>
              <a:buClr>
                <a:srgbClr val="E78712"/>
              </a:buClr>
              <a:buSzTx/>
              <a:buFont typeface="Wingdings 3" charset="2"/>
              <a:buChar char=""/>
              <a:tabLst/>
              <a:defRPr/>
            </a:pPr>
            <a:r>
              <a:rPr kumimoji="0" lang="en-US" sz="21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 Mask contamination and scratches</a:t>
            </a:r>
          </a:p>
          <a:p>
            <a:pPr marL="342900" marR="0" lvl="0" indent="-342900" algn="just" defTabSz="457200" rtl="0" eaLnBrk="1" fontAlgn="auto" latinLnBrk="0" hangingPunct="1">
              <a:lnSpc>
                <a:spcPct val="100000"/>
              </a:lnSpc>
              <a:spcBef>
                <a:spcPts val="1000"/>
              </a:spcBef>
              <a:spcAft>
                <a:spcPts val="0"/>
              </a:spcAft>
              <a:buClr>
                <a:srgbClr val="E78712"/>
              </a:buClr>
              <a:buSzTx/>
              <a:buFont typeface="Wingdings 3" charset="2"/>
              <a:buChar char=""/>
              <a:tabLst/>
              <a:defRPr/>
            </a:pPr>
            <a:r>
              <a:rPr kumimoji="0" lang="en-US" sz="21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 Process variations and abnormalities</a:t>
            </a:r>
          </a:p>
          <a:p>
            <a:pPr marL="342900" marR="0" lvl="0" indent="-342900" algn="just" defTabSz="457200" rtl="0" eaLnBrk="1" fontAlgn="auto" latinLnBrk="0" hangingPunct="1">
              <a:lnSpc>
                <a:spcPct val="100000"/>
              </a:lnSpc>
              <a:spcBef>
                <a:spcPts val="1000"/>
              </a:spcBef>
              <a:spcAft>
                <a:spcPts val="0"/>
              </a:spcAft>
              <a:buClr>
                <a:srgbClr val="E78712"/>
              </a:buClr>
              <a:buSzTx/>
              <a:buFont typeface="Wingdings 3" charset="2"/>
              <a:buChar char=""/>
              <a:tabLst/>
              <a:defRPr/>
            </a:pPr>
            <a:r>
              <a:rPr kumimoji="0" lang="en-US" sz="21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 Oxide defects</a:t>
            </a:r>
          </a:p>
          <a:p>
            <a:endParaRPr lang="en-IN" dirty="0"/>
          </a:p>
        </p:txBody>
      </p:sp>
      <p:sp>
        <p:nvSpPr>
          <p:cNvPr id="4" name="Footer Placeholder 3">
            <a:extLst>
              <a:ext uri="{FF2B5EF4-FFF2-40B4-BE49-F238E27FC236}">
                <a16:creationId xmlns:a16="http://schemas.microsoft.com/office/drawing/2014/main" id="{2546B219-080A-4469-895D-32CDBF8C9D1D}"/>
              </a:ext>
            </a:extLst>
          </p:cNvPr>
          <p:cNvSpPr>
            <a:spLocks noGrp="1"/>
          </p:cNvSpPr>
          <p:nvPr>
            <p:ph type="ftr" sz="quarter" idx="11"/>
          </p:nvPr>
        </p:nvSpPr>
        <p:spPr>
          <a:xfrm>
            <a:off x="6615336" y="6316900"/>
            <a:ext cx="7619999"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2737512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FE745-39A4-4698-878C-940D2589B1DE}"/>
              </a:ext>
            </a:extLst>
          </p:cNvPr>
          <p:cNvSpPr>
            <a:spLocks noGrp="1"/>
          </p:cNvSpPr>
          <p:nvPr>
            <p:ph type="title"/>
          </p:nvPr>
        </p:nvSpPr>
        <p:spPr>
          <a:xfrm>
            <a:off x="1777429" y="624110"/>
            <a:ext cx="9727183" cy="1280890"/>
          </a:xfrm>
        </p:spPr>
        <p:txBody>
          <a:bodyPr/>
          <a:lstStyle/>
          <a:p>
            <a:r>
              <a:rPr lang="en-IN" dirty="0"/>
              <a:t>Continued…..</a:t>
            </a:r>
          </a:p>
        </p:txBody>
      </p:sp>
      <p:sp>
        <p:nvSpPr>
          <p:cNvPr id="3" name="Content Placeholder 2">
            <a:extLst>
              <a:ext uri="{FF2B5EF4-FFF2-40B4-BE49-F238E27FC236}">
                <a16:creationId xmlns:a16="http://schemas.microsoft.com/office/drawing/2014/main" id="{B3B1A5AF-65E8-47B4-A400-B469A564A742}"/>
              </a:ext>
            </a:extLst>
          </p:cNvPr>
          <p:cNvSpPr>
            <a:spLocks noGrp="1"/>
          </p:cNvSpPr>
          <p:nvPr>
            <p:ph idx="1"/>
          </p:nvPr>
        </p:nvSpPr>
        <p:spPr>
          <a:xfrm>
            <a:off x="996593" y="1335640"/>
            <a:ext cx="10941978" cy="4800168"/>
          </a:xfrm>
        </p:spPr>
        <p:txBody>
          <a:bodyPr/>
          <a:lstStyle/>
          <a:p>
            <a:pPr marL="342900" marR="0" lvl="0" indent="-342900" algn="l"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solidFill>
                  <a:srgbClr val="000000"/>
                </a:solidFill>
                <a:effectLst/>
                <a:uLnTx/>
                <a:uFillTx/>
                <a:latin typeface="Arial"/>
                <a:ea typeface="+mn-ea"/>
                <a:cs typeface="+mn-cs"/>
              </a:rPr>
              <a:t>The physical defects can cause electrical faults and logical faults. The electrical faults include</a:t>
            </a:r>
          </a:p>
          <a:p>
            <a:pPr marL="342900" marR="0" lvl="0" indent="-342900" algn="l"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solidFill>
                  <a:srgbClr val="000000"/>
                </a:solidFill>
                <a:effectLst/>
                <a:uLnTx/>
                <a:uFillTx/>
                <a:latin typeface="Arial"/>
                <a:ea typeface="+mn-ea"/>
                <a:cs typeface="+mn-cs"/>
              </a:rPr>
              <a:t> Shorts (bridging faults)</a:t>
            </a:r>
          </a:p>
          <a:p>
            <a:pPr marL="342900" marR="0" lvl="0" indent="-342900" algn="l"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solidFill>
                  <a:srgbClr val="000000"/>
                </a:solidFill>
                <a:effectLst/>
                <a:uLnTx/>
                <a:uFillTx/>
                <a:latin typeface="Arial"/>
                <a:ea typeface="+mn-ea"/>
                <a:cs typeface="+mn-cs"/>
              </a:rPr>
              <a:t>* Opens</a:t>
            </a:r>
          </a:p>
          <a:p>
            <a:pPr marL="342900" marR="0" lvl="0" indent="-342900" algn="l"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solidFill>
                  <a:srgbClr val="000000"/>
                </a:solidFill>
                <a:effectLst/>
                <a:uLnTx/>
                <a:uFillTx/>
                <a:latin typeface="Arial"/>
                <a:ea typeface="+mn-ea"/>
                <a:cs typeface="+mn-cs"/>
              </a:rPr>
              <a:t>* Transistor stuck-on, stuck-open</a:t>
            </a:r>
          </a:p>
          <a:p>
            <a:pPr marL="342900" marR="0" lvl="0" indent="-342900" algn="l"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solidFill>
                  <a:srgbClr val="000000"/>
                </a:solidFill>
                <a:effectLst/>
                <a:uLnTx/>
                <a:uFillTx/>
                <a:latin typeface="Arial"/>
                <a:ea typeface="+mn-ea"/>
                <a:cs typeface="+mn-cs"/>
              </a:rPr>
              <a:t>* Resistive shorts and opens</a:t>
            </a:r>
          </a:p>
          <a:p>
            <a:pPr marL="342900" marR="0" lvl="0" indent="-342900" algn="l"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solidFill>
                  <a:srgbClr val="000000"/>
                </a:solidFill>
                <a:effectLst/>
                <a:uLnTx/>
                <a:uFillTx/>
                <a:latin typeface="Arial"/>
                <a:ea typeface="+mn-ea"/>
                <a:cs typeface="+mn-cs"/>
              </a:rPr>
              <a:t>* Excessive change in threshold voltage</a:t>
            </a:r>
          </a:p>
          <a:p>
            <a:pPr marL="342900" marR="0" lvl="0" indent="-342900" algn="l"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solidFill>
                  <a:srgbClr val="000000"/>
                </a:solidFill>
                <a:effectLst/>
                <a:uLnTx/>
                <a:uFillTx/>
                <a:latin typeface="Arial"/>
                <a:ea typeface="+mn-ea"/>
                <a:cs typeface="+mn-cs"/>
              </a:rPr>
              <a:t>* Excessive steady-state currents</a:t>
            </a:r>
          </a:p>
          <a:p>
            <a:pPr marL="342900" marR="0" lvl="0" indent="-342900" algn="l"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endParaRPr kumimoji="0" lang="en-US" b="0" i="0" u="none" strike="noStrike" kern="0" cap="none" spc="0" normalizeH="0" baseline="0" noProof="0" dirty="0">
              <a:ln>
                <a:noFill/>
              </a:ln>
              <a:solidFill>
                <a:srgbClr val="000000"/>
              </a:solidFill>
              <a:effectLst/>
              <a:uLnTx/>
              <a:uFillTx/>
              <a:latin typeface="Arial"/>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solidFill>
                  <a:srgbClr val="000000"/>
                </a:solidFill>
                <a:effectLst/>
                <a:uLnTx/>
                <a:uFillTx/>
                <a:latin typeface="Arial"/>
                <a:ea typeface="+mn-ea"/>
                <a:cs typeface="+mn-cs"/>
              </a:rPr>
              <a:t>The electrical faults in turn can be translated into logical faults. The logical faults include:</a:t>
            </a:r>
          </a:p>
          <a:p>
            <a:pPr marL="342900" marR="0" lvl="0" indent="-342900" algn="l"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endParaRPr kumimoji="0" lang="en-US" b="0" i="0" u="none" strike="noStrike" kern="0" cap="none" spc="0" normalizeH="0" baseline="0" noProof="0" dirty="0">
              <a:ln>
                <a:noFill/>
              </a:ln>
              <a:solidFill>
                <a:srgbClr val="000000"/>
              </a:solidFill>
              <a:effectLst/>
              <a:uLnTx/>
              <a:uFillTx/>
              <a:latin typeface="Arial"/>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solidFill>
                  <a:srgbClr val="000000"/>
                </a:solidFill>
                <a:effectLst/>
                <a:uLnTx/>
                <a:uFillTx/>
                <a:latin typeface="Arial"/>
                <a:ea typeface="+mn-ea"/>
                <a:cs typeface="+mn-cs"/>
              </a:rPr>
              <a:t>* Logical stuck-at-0 or stuck-at-1</a:t>
            </a:r>
          </a:p>
          <a:p>
            <a:pPr marL="342900" marR="0" lvl="0" indent="-342900" algn="l"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solidFill>
                  <a:srgbClr val="000000"/>
                </a:solidFill>
                <a:effectLst/>
                <a:uLnTx/>
                <a:uFillTx/>
                <a:latin typeface="Arial"/>
                <a:ea typeface="+mn-ea"/>
                <a:cs typeface="+mn-cs"/>
              </a:rPr>
              <a:t>* Slower transition (delay fault)</a:t>
            </a:r>
          </a:p>
          <a:p>
            <a:pPr marL="342900" marR="0" lvl="0" indent="-342900" algn="l"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solidFill>
                  <a:srgbClr val="000000"/>
                </a:solidFill>
                <a:effectLst/>
                <a:uLnTx/>
                <a:uFillTx/>
                <a:latin typeface="Arial"/>
                <a:ea typeface="+mn-ea"/>
                <a:cs typeface="+mn-cs"/>
              </a:rPr>
              <a:t>* AND-bridging, OR-bridging</a:t>
            </a:r>
          </a:p>
          <a:p>
            <a:endParaRPr lang="en-IN" dirty="0"/>
          </a:p>
        </p:txBody>
      </p:sp>
      <p:sp>
        <p:nvSpPr>
          <p:cNvPr id="4" name="Footer Placeholder 3">
            <a:extLst>
              <a:ext uri="{FF2B5EF4-FFF2-40B4-BE49-F238E27FC236}">
                <a16:creationId xmlns:a16="http://schemas.microsoft.com/office/drawing/2014/main" id="{EE962AB1-BE2F-4663-AC82-ECB289D5BD41}"/>
              </a:ext>
            </a:extLst>
          </p:cNvPr>
          <p:cNvSpPr>
            <a:spLocks noGrp="1"/>
          </p:cNvSpPr>
          <p:nvPr>
            <p:ph type="ftr" sz="quarter" idx="11"/>
          </p:nvPr>
        </p:nvSpPr>
        <p:spPr>
          <a:xfrm>
            <a:off x="1438382" y="6135808"/>
            <a:ext cx="8770829" cy="367734"/>
          </a:xfrm>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1573744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FE3618-8387-4153-870E-99EA1B9784F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DEC762-3F38-460D-A861-BBFFA3C59436}"/>
              </a:ext>
            </a:extLst>
          </p:cNvPr>
          <p:cNvSpPr>
            <a:spLocks noGrp="1"/>
          </p:cNvSpPr>
          <p:nvPr>
            <p:ph type="title"/>
          </p:nvPr>
        </p:nvSpPr>
        <p:spPr>
          <a:xfrm>
            <a:off x="649224" y="645106"/>
            <a:ext cx="3650279" cy="1259894"/>
          </a:xfrm>
        </p:spPr>
        <p:txBody>
          <a:bodyPr>
            <a:normAutofit/>
          </a:bodyPr>
          <a:lstStyle/>
          <a:p>
            <a:r>
              <a:rPr lang="en-IN" dirty="0">
                <a:latin typeface="Arial" panose="020B0604020202020204" pitchFamily="34" charset="0"/>
                <a:cs typeface="Arial" panose="020B0604020202020204" pitchFamily="34" charset="0"/>
              </a:rPr>
              <a:t>Continue…..</a:t>
            </a:r>
          </a:p>
        </p:txBody>
      </p:sp>
      <p:sp>
        <p:nvSpPr>
          <p:cNvPr id="12" name="Rectangle 11">
            <a:extLst>
              <a:ext uri="{FF2B5EF4-FFF2-40B4-BE49-F238E27FC236}">
                <a16:creationId xmlns:a16="http://schemas.microsoft.com/office/drawing/2014/main" id="{BB99A42A-5548-4BB8-9115-A05821C360A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EE7091E4-60C3-4F52-8019-0C132D0D31E3}"/>
              </a:ext>
            </a:extLst>
          </p:cNvPr>
          <p:cNvSpPr>
            <a:spLocks noGrp="1"/>
          </p:cNvSpPr>
          <p:nvPr>
            <p:ph idx="1"/>
          </p:nvPr>
        </p:nvSpPr>
        <p:spPr>
          <a:xfrm>
            <a:off x="649225" y="1428108"/>
            <a:ext cx="3650278" cy="4464745"/>
          </a:xfrm>
        </p:spPr>
        <p:txBody>
          <a:bodyPr>
            <a:normAutofit/>
          </a:bodyPr>
          <a:lstStyle/>
          <a:p>
            <a:r>
              <a:rPr lang="en-US" dirty="0">
                <a:latin typeface="Arial" panose="020B0604020202020204" pitchFamily="34" charset="0"/>
                <a:cs typeface="Arial" panose="020B0604020202020204" pitchFamily="34" charset="0"/>
              </a:rPr>
              <a:t>The relationships between physical defects, electrical faults, and logical faults can be explained using a simple NOR2 gate as shown in Fig. </a:t>
            </a:r>
          </a:p>
          <a:p>
            <a:endParaRPr lang="en-IN" dirty="0"/>
          </a:p>
        </p:txBody>
      </p:sp>
      <p:pic>
        <p:nvPicPr>
          <p:cNvPr id="5" name="Picture 3" descr="Diagram, engineering drawing&#10;&#10;Description automatically generated">
            <a:extLst>
              <a:ext uri="{FF2B5EF4-FFF2-40B4-BE49-F238E27FC236}">
                <a16:creationId xmlns:a16="http://schemas.microsoft.com/office/drawing/2014/main" id="{FA604AF7-C8D4-4F7E-9FD9-4E570FDD8B4D}"/>
              </a:ext>
            </a:extLst>
          </p:cNvPr>
          <p:cNvPicPr>
            <a:picLocks noChangeAspect="1" noChangeArrowheads="1"/>
          </p:cNvPicPr>
          <p:nvPr/>
        </p:nvPicPr>
        <p:blipFill>
          <a:blip r:embed="rId2"/>
          <a:stretch>
            <a:fillRect/>
          </a:stretch>
        </p:blipFill>
        <p:spPr bwMode="auto">
          <a:xfrm>
            <a:off x="5145335" y="640080"/>
            <a:ext cx="6536382" cy="5817380"/>
          </a:xfrm>
          <a:prstGeom prst="rect">
            <a:avLst/>
          </a:prstGeom>
          <a:noFill/>
        </p:spPr>
      </p:pic>
      <p:sp>
        <p:nvSpPr>
          <p:cNvPr id="14" name="Freeform 11">
            <a:extLst>
              <a:ext uri="{FF2B5EF4-FFF2-40B4-BE49-F238E27FC236}">
                <a16:creationId xmlns:a16="http://schemas.microsoft.com/office/drawing/2014/main" id="{D49441E5-946F-46B3-BDD2-BAD0885323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C22E7BAB-7889-4367-AADB-64968E755353}"/>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3052108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FE3618-8387-4153-870E-99EA1B9784F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20DCB9-F3DD-4F06-A519-10D235CFEB8B}"/>
              </a:ext>
            </a:extLst>
          </p:cNvPr>
          <p:cNvSpPr>
            <a:spLocks noGrp="1"/>
          </p:cNvSpPr>
          <p:nvPr>
            <p:ph type="title"/>
          </p:nvPr>
        </p:nvSpPr>
        <p:spPr>
          <a:xfrm>
            <a:off x="649224" y="645106"/>
            <a:ext cx="3650279" cy="1259894"/>
          </a:xfrm>
        </p:spPr>
        <p:txBody>
          <a:bodyPr>
            <a:normAutofit/>
          </a:bodyPr>
          <a:lstStyle/>
          <a:p>
            <a:r>
              <a:rPr kumimoji="0" lang="en-IN" b="0" i="0" u="none" strike="noStrike" kern="1200" cap="none" spc="0" normalizeH="0" baseline="0" noProof="0">
                <a:ln>
                  <a:noFill/>
                </a:ln>
                <a:effectLst/>
                <a:uLnTx/>
                <a:uFillTx/>
                <a:latin typeface="Arial" panose="020B0604020202020204" pitchFamily="34" charset="0"/>
                <a:ea typeface="+mj-ea"/>
                <a:cs typeface="Arial" panose="020B0604020202020204" pitchFamily="34" charset="0"/>
              </a:rPr>
              <a:t>Continue…..</a:t>
            </a:r>
            <a:endParaRPr lang="en-IN" dirty="0"/>
          </a:p>
        </p:txBody>
      </p:sp>
      <p:sp>
        <p:nvSpPr>
          <p:cNvPr id="12" name="Rectangle 11">
            <a:extLst>
              <a:ext uri="{FF2B5EF4-FFF2-40B4-BE49-F238E27FC236}">
                <a16:creationId xmlns:a16="http://schemas.microsoft.com/office/drawing/2014/main" id="{BB99A42A-5548-4BB8-9115-A05821C360A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756A0F0F-43E5-4ACC-8692-82E8813865BD}"/>
              </a:ext>
            </a:extLst>
          </p:cNvPr>
          <p:cNvSpPr>
            <a:spLocks noGrp="1"/>
          </p:cNvSpPr>
          <p:nvPr>
            <p:ph idx="1"/>
          </p:nvPr>
        </p:nvSpPr>
        <p:spPr>
          <a:xfrm>
            <a:off x="649225" y="1407560"/>
            <a:ext cx="3650278" cy="4485293"/>
          </a:xfrm>
        </p:spPr>
        <p:txBody>
          <a:bodyPr>
            <a:normAutofit lnSpcReduction="10000"/>
          </a:bodyPr>
          <a:lstStyle/>
          <a:p>
            <a:pPr marL="342900" marR="0" lvl="0" indent="-342900" algn="just"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Figure shows other types of faults in a CMOS circuit consisting of NOR2,NAND2, and inverter gates. In this circuit, the input line B can be stuck-at- 1 (s-a- 1), since some part of the input line is shorted to the power rail. The </a:t>
            </a:r>
            <a:r>
              <a:rPr kumimoji="0" lang="en-US" b="0" i="0" u="none" strike="noStrike" kern="0" cap="none" spc="0" normalizeH="0" baseline="0" noProof="0" dirty="0" err="1">
                <a:ln>
                  <a:noFill/>
                </a:ln>
                <a:effectLst/>
                <a:uLnTx/>
                <a:uFillTx/>
                <a:latin typeface="Arial"/>
                <a:ea typeface="+mn-ea"/>
                <a:cs typeface="+mn-cs"/>
              </a:rPr>
              <a:t>pMOS</a:t>
            </a:r>
            <a:r>
              <a:rPr kumimoji="0" lang="en-US" b="0" i="0" u="none" strike="noStrike" kern="0" cap="none" spc="0" normalizeH="0" baseline="0" noProof="0" dirty="0">
                <a:ln>
                  <a:noFill/>
                </a:ln>
                <a:effectLst/>
                <a:uLnTx/>
                <a:uFillTx/>
                <a:latin typeface="Arial"/>
                <a:ea typeface="+mn-ea"/>
                <a:cs typeface="+mn-cs"/>
              </a:rPr>
              <a:t> transistor of the first stage NOR2 gate is stuck-on due to a process problem that causes a short between its source and drain terminals. The top </a:t>
            </a:r>
            <a:r>
              <a:rPr kumimoji="0" lang="en-US" b="0" i="0" u="none" strike="noStrike" kern="0" cap="none" spc="0" normalizeH="0" baseline="0" noProof="0" dirty="0" err="1">
                <a:ln>
                  <a:noFill/>
                </a:ln>
                <a:effectLst/>
                <a:uLnTx/>
                <a:uFillTx/>
                <a:latin typeface="Arial"/>
                <a:ea typeface="+mn-ea"/>
                <a:cs typeface="+mn-cs"/>
              </a:rPr>
              <a:t>nMOS</a:t>
            </a:r>
            <a:r>
              <a:rPr kumimoji="0" lang="en-US" b="0" i="0" u="none" strike="noStrike" kern="0" cap="none" spc="0" normalizeH="0" baseline="0" noProof="0" dirty="0">
                <a:ln>
                  <a:noFill/>
                </a:ln>
                <a:effectLst/>
                <a:uLnTx/>
                <a:uFillTx/>
                <a:latin typeface="Arial"/>
                <a:ea typeface="+mn-ea"/>
                <a:cs typeface="+mn-cs"/>
              </a:rPr>
              <a:t> transistor in the NAND2 gate, on the other hand, is stuck-open due to either an incomplete contact (open) of the source or drain node.</a:t>
            </a:r>
          </a:p>
          <a:p>
            <a:pPr>
              <a:lnSpc>
                <a:spcPct val="90000"/>
              </a:lnSpc>
            </a:pPr>
            <a:endParaRPr lang="en-IN" sz="1500" dirty="0"/>
          </a:p>
        </p:txBody>
      </p:sp>
      <p:pic>
        <p:nvPicPr>
          <p:cNvPr id="5" name="Picture 2">
            <a:extLst>
              <a:ext uri="{FF2B5EF4-FFF2-40B4-BE49-F238E27FC236}">
                <a16:creationId xmlns:a16="http://schemas.microsoft.com/office/drawing/2014/main" id="{21568722-EAE5-471E-B4C6-242A9CEEE93E}"/>
              </a:ext>
            </a:extLst>
          </p:cNvPr>
          <p:cNvPicPr>
            <a:picLocks noChangeAspect="1" noChangeArrowheads="1"/>
          </p:cNvPicPr>
          <p:nvPr/>
        </p:nvPicPr>
        <p:blipFill>
          <a:blip r:embed="rId2"/>
          <a:stretch>
            <a:fillRect/>
          </a:stretch>
        </p:blipFill>
        <p:spPr bwMode="auto">
          <a:xfrm>
            <a:off x="6195266" y="1061588"/>
            <a:ext cx="5836414" cy="5252773"/>
          </a:xfrm>
          <a:prstGeom prst="rect">
            <a:avLst/>
          </a:prstGeom>
          <a:noFill/>
        </p:spPr>
      </p:pic>
      <p:sp>
        <p:nvSpPr>
          <p:cNvPr id="14" name="Freeform 11">
            <a:extLst>
              <a:ext uri="{FF2B5EF4-FFF2-40B4-BE49-F238E27FC236}">
                <a16:creationId xmlns:a16="http://schemas.microsoft.com/office/drawing/2014/main" id="{D49441E5-946F-46B3-BDD2-BAD0885323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0C006347-8338-4EB3-9039-7769E4128B85}"/>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3025152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FE3618-8387-4153-870E-99EA1B9784F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32A14C-84B3-4565-B9CB-2FE798D558EB}"/>
              </a:ext>
            </a:extLst>
          </p:cNvPr>
          <p:cNvSpPr>
            <a:spLocks noGrp="1"/>
          </p:cNvSpPr>
          <p:nvPr>
            <p:ph type="title"/>
          </p:nvPr>
        </p:nvSpPr>
        <p:spPr>
          <a:xfrm>
            <a:off x="649224" y="645106"/>
            <a:ext cx="3650279" cy="1259894"/>
          </a:xfrm>
        </p:spPr>
        <p:txBody>
          <a:bodyPr>
            <a:normAutofit/>
          </a:bodyPr>
          <a:lstStyle/>
          <a:p>
            <a:r>
              <a:rPr lang="en-IN" b="1" dirty="0"/>
              <a:t>Continue….</a:t>
            </a:r>
          </a:p>
        </p:txBody>
      </p:sp>
      <p:sp>
        <p:nvSpPr>
          <p:cNvPr id="12" name="Rectangle 11">
            <a:extLst>
              <a:ext uri="{FF2B5EF4-FFF2-40B4-BE49-F238E27FC236}">
                <a16:creationId xmlns:a16="http://schemas.microsoft.com/office/drawing/2014/main" id="{BB99A42A-5548-4BB8-9115-A05821C360A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B0AEDCAC-7144-439F-AD9E-448808396766}"/>
              </a:ext>
            </a:extLst>
          </p:cNvPr>
          <p:cNvSpPr>
            <a:spLocks noGrp="1"/>
          </p:cNvSpPr>
          <p:nvPr>
            <p:ph idx="1"/>
          </p:nvPr>
        </p:nvSpPr>
        <p:spPr>
          <a:xfrm>
            <a:off x="649225" y="2133600"/>
            <a:ext cx="3650278" cy="3759253"/>
          </a:xfrm>
        </p:spPr>
        <p:txBody>
          <a:bodyPr>
            <a:normAutofit/>
          </a:bodyPr>
          <a:lstStyle/>
          <a:p>
            <a:pPr marL="342900" marR="0" lvl="0" indent="-342900" defTabSz="914400" rtl="0" eaLnBrk="1" fontAlgn="base" latinLnBrk="0" hangingPunct="1">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The stuck-on and stuck-open faults are elaborated on in Fig.</a:t>
            </a:r>
          </a:p>
          <a:p>
            <a:endParaRPr lang="en-IN" dirty="0"/>
          </a:p>
        </p:txBody>
      </p:sp>
      <p:pic>
        <p:nvPicPr>
          <p:cNvPr id="5" name="Picture 5" descr="Diagram&#10;&#10;Description automatically generated">
            <a:extLst>
              <a:ext uri="{FF2B5EF4-FFF2-40B4-BE49-F238E27FC236}">
                <a16:creationId xmlns:a16="http://schemas.microsoft.com/office/drawing/2014/main" id="{73E14C79-4807-41AE-AD79-269200D09B67}"/>
              </a:ext>
            </a:extLst>
          </p:cNvPr>
          <p:cNvPicPr>
            <a:picLocks noChangeAspect="1" noChangeArrowheads="1"/>
          </p:cNvPicPr>
          <p:nvPr/>
        </p:nvPicPr>
        <p:blipFill>
          <a:blip r:embed="rId2"/>
          <a:stretch>
            <a:fillRect/>
          </a:stretch>
        </p:blipFill>
        <p:spPr bwMode="auto">
          <a:xfrm>
            <a:off x="5443415" y="640080"/>
            <a:ext cx="6099360" cy="5678527"/>
          </a:xfrm>
          <a:prstGeom prst="rect">
            <a:avLst/>
          </a:prstGeom>
          <a:noFill/>
        </p:spPr>
      </p:pic>
      <p:sp>
        <p:nvSpPr>
          <p:cNvPr id="14" name="Freeform 11">
            <a:extLst>
              <a:ext uri="{FF2B5EF4-FFF2-40B4-BE49-F238E27FC236}">
                <a16:creationId xmlns:a16="http://schemas.microsoft.com/office/drawing/2014/main" id="{D49441E5-946F-46B3-BDD2-BAD0885323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05B9DD6E-1886-46AD-942F-AC34BDF0902E}"/>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2662593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FCC04-62FC-4A85-8737-0CF1DB4AFA60}"/>
              </a:ext>
            </a:extLst>
          </p:cNvPr>
          <p:cNvSpPr>
            <a:spLocks noGrp="1"/>
          </p:cNvSpPr>
          <p:nvPr>
            <p:ph type="title"/>
          </p:nvPr>
        </p:nvSpPr>
        <p:spPr/>
        <p:txBody>
          <a:bodyPr/>
          <a:lstStyle/>
          <a:p>
            <a:r>
              <a:rPr lang="en-IN" dirty="0">
                <a:latin typeface="Arial" panose="020B0604020202020204" pitchFamily="34" charset="0"/>
                <a:cs typeface="Arial" panose="020B0604020202020204" pitchFamily="34" charset="0"/>
              </a:rPr>
              <a:t>Continue….</a:t>
            </a:r>
          </a:p>
        </p:txBody>
      </p:sp>
      <p:sp>
        <p:nvSpPr>
          <p:cNvPr id="3" name="Content Placeholder 2">
            <a:extLst>
              <a:ext uri="{FF2B5EF4-FFF2-40B4-BE49-F238E27FC236}">
                <a16:creationId xmlns:a16="http://schemas.microsoft.com/office/drawing/2014/main" id="{FB531809-D9A6-4BC2-9D09-0F3E080E2B71}"/>
              </a:ext>
            </a:extLst>
          </p:cNvPr>
          <p:cNvSpPr>
            <a:spLocks noGrp="1"/>
          </p:cNvSpPr>
          <p:nvPr>
            <p:ph idx="1"/>
          </p:nvPr>
        </p:nvSpPr>
        <p:spPr>
          <a:xfrm>
            <a:off x="821932" y="1366463"/>
            <a:ext cx="11065267" cy="4769345"/>
          </a:xfrm>
        </p:spPr>
        <p:txBody>
          <a:bodyPr>
            <a:normAutofit lnSpcReduction="10000"/>
          </a:bodyPr>
          <a:lstStyle/>
          <a:p>
            <a:pPr algn="just"/>
            <a:r>
              <a:rPr lang="en-US" dirty="0">
                <a:latin typeface="Arial" panose="020B0604020202020204" pitchFamily="34" charset="0"/>
                <a:cs typeface="Arial" panose="020B0604020202020204" pitchFamily="34" charset="0"/>
              </a:rPr>
              <a:t>The delay fault which causes timing failures at target speed can be due to several factors.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improper estimation of on-chip interconnect delays</a:t>
            </a:r>
          </a:p>
          <a:p>
            <a:pPr algn="just"/>
            <a:r>
              <a:rPr lang="en-US" dirty="0">
                <a:latin typeface="Arial" panose="020B0604020202020204" pitchFamily="34" charset="0"/>
                <a:cs typeface="Arial" panose="020B0604020202020204" pitchFamily="34" charset="0"/>
              </a:rPr>
              <a:t>excessive variations in the fabrication process</a:t>
            </a:r>
          </a:p>
          <a:p>
            <a:pPr algn="just"/>
            <a:r>
              <a:rPr lang="en-US" dirty="0">
                <a:latin typeface="Arial" panose="020B0604020202020204" pitchFamily="34" charset="0"/>
                <a:cs typeface="Arial" panose="020B0604020202020204" pitchFamily="34" charset="0"/>
              </a:rPr>
              <a:t>opens in metal lines connecting parallel transistors</a:t>
            </a:r>
          </a:p>
          <a:p>
            <a:pPr algn="just"/>
            <a:r>
              <a:rPr lang="en-US" dirty="0">
                <a:latin typeface="Arial" panose="020B0604020202020204" pitchFamily="34" charset="0"/>
                <a:cs typeface="Arial" panose="020B0604020202020204" pitchFamily="34" charset="0"/>
              </a:rPr>
              <a:t>aging effects such as hot-carrier induced delay increase.</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fault models mentioned above are used in fault simulation aimed at</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 Test generation,</a:t>
            </a:r>
          </a:p>
          <a:p>
            <a:pPr algn="just"/>
            <a:r>
              <a:rPr lang="en-US" dirty="0">
                <a:latin typeface="Arial" panose="020B0604020202020204" pitchFamily="34" charset="0"/>
                <a:cs typeface="Arial" panose="020B0604020202020204" pitchFamily="34" charset="0"/>
              </a:rPr>
              <a:t>* Construction of fault dictionaries, or</a:t>
            </a:r>
          </a:p>
          <a:p>
            <a:pPr algn="just"/>
            <a:r>
              <a:rPr lang="en-US" dirty="0">
                <a:latin typeface="Arial" panose="020B0604020202020204" pitchFamily="34" charset="0"/>
                <a:cs typeface="Arial" panose="020B0604020202020204" pitchFamily="34" charset="0"/>
              </a:rPr>
              <a:t>* Circuit analysis in the presence of faults.</a:t>
            </a:r>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F0F7193A-A4BF-4EA4-9EA4-F11DD98F4629}"/>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1786897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A27CF-F72D-42CB-BDB7-26067EAF41CB}"/>
              </a:ext>
            </a:extLst>
          </p:cNvPr>
          <p:cNvSpPr>
            <a:spLocks noGrp="1"/>
          </p:cNvSpPr>
          <p:nvPr>
            <p:ph type="title"/>
          </p:nvPr>
        </p:nvSpPr>
        <p:spPr>
          <a:xfrm>
            <a:off x="1643865" y="624110"/>
            <a:ext cx="10048126" cy="1280890"/>
          </a:xfrm>
        </p:spPr>
        <p:txBody>
          <a:bodyPr/>
          <a:lstStyle/>
          <a:p>
            <a:r>
              <a:rPr kumimoji="0" lang="en-IN" sz="32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j-ea"/>
                <a:cs typeface="Arial" panose="020B0604020202020204" pitchFamily="34" charset="0"/>
              </a:rPr>
              <a:t>Controllability and Observability </a:t>
            </a:r>
            <a:endParaRPr lang="en-IN" dirty="0"/>
          </a:p>
        </p:txBody>
      </p:sp>
      <p:sp>
        <p:nvSpPr>
          <p:cNvPr id="3" name="Content Placeholder 2">
            <a:extLst>
              <a:ext uri="{FF2B5EF4-FFF2-40B4-BE49-F238E27FC236}">
                <a16:creationId xmlns:a16="http://schemas.microsoft.com/office/drawing/2014/main" id="{E15257D8-A9E2-42FA-9C0A-65C2EF0FAED2}"/>
              </a:ext>
            </a:extLst>
          </p:cNvPr>
          <p:cNvSpPr>
            <a:spLocks noGrp="1"/>
          </p:cNvSpPr>
          <p:nvPr>
            <p:ph idx="1"/>
          </p:nvPr>
        </p:nvSpPr>
        <p:spPr>
          <a:xfrm>
            <a:off x="698644" y="1345915"/>
            <a:ext cx="11157734" cy="4789893"/>
          </a:xfrm>
        </p:spPr>
        <p:txBody>
          <a:bodyPr>
            <a:normAutofit/>
          </a:bodyPr>
          <a:lstStyle/>
          <a:p>
            <a:r>
              <a:rPr lang="en-US" sz="1900" u="sng" dirty="0">
                <a:solidFill>
                  <a:srgbClr val="FF0000"/>
                </a:solidFill>
                <a:latin typeface="Arial" panose="020B0604020202020204" pitchFamily="34" charset="0"/>
                <a:cs typeface="Arial" panose="020B0604020202020204" pitchFamily="34" charset="0"/>
              </a:rPr>
              <a:t>Controllability</a:t>
            </a:r>
          </a:p>
          <a:p>
            <a:r>
              <a:rPr lang="en-US" dirty="0">
                <a:latin typeface="Arial" panose="020B0604020202020204" pitchFamily="34" charset="0"/>
                <a:cs typeface="Arial" panose="020B0604020202020204" pitchFamily="34" charset="0"/>
              </a:rPr>
              <a:t>The controllability of a circuit is a measure of the ease (or difficulty) with which the controller (test engineer) can establish a specific signal value at each node by setting values at the circuit input terminals.</a:t>
            </a:r>
          </a:p>
          <a:p>
            <a:endParaRPr lang="en-US" dirty="0">
              <a:latin typeface="Arial" panose="020B0604020202020204" pitchFamily="34" charset="0"/>
              <a:cs typeface="Arial" panose="020B0604020202020204" pitchFamily="34" charset="0"/>
            </a:endParaRPr>
          </a:p>
          <a:p>
            <a:r>
              <a:rPr lang="en-US" sz="1900" u="sng" dirty="0">
                <a:solidFill>
                  <a:srgbClr val="FF0000"/>
                </a:solidFill>
                <a:latin typeface="Arial" panose="020B0604020202020204" pitchFamily="34" charset="0"/>
                <a:cs typeface="Arial" panose="020B0604020202020204" pitchFamily="34" charset="0"/>
              </a:rPr>
              <a:t>Observability</a:t>
            </a:r>
          </a:p>
          <a:p>
            <a:r>
              <a:rPr lang="en-US" dirty="0">
                <a:latin typeface="Arial" panose="020B0604020202020204" pitchFamily="34" charset="0"/>
                <a:cs typeface="Arial" panose="020B0604020202020204" pitchFamily="34" charset="0"/>
              </a:rPr>
              <a:t>The observability is a measure of the ease (or difficulty) with which one can determine the signal value at any logic node in the circuit by controlling its primary input and observing the primary output. Here the term primary refers to the I/O boundary of the circuit under test.</a:t>
            </a:r>
          </a:p>
          <a:p>
            <a:r>
              <a:rPr lang="en-US" dirty="0">
                <a:latin typeface="Arial" panose="020B0604020202020204" pitchFamily="34" charset="0"/>
                <a:cs typeface="Arial" panose="020B0604020202020204" pitchFamily="34" charset="0"/>
              </a:rPr>
              <a:t>There are deterministic procedures for test generation for combinational circuits, such as the D-algorithm. The D-algorithm requires a large amount of computer time.</a:t>
            </a:r>
          </a:p>
          <a:p>
            <a:r>
              <a:rPr lang="en-US" dirty="0">
                <a:latin typeface="Arial" panose="020B0604020202020204" pitchFamily="34" charset="0"/>
                <a:cs typeface="Arial" panose="020B0604020202020204" pitchFamily="34" charset="0"/>
              </a:rPr>
              <a:t>To overcome such shortcomings, many improved algorithms such as Path-Oriented Decision Making (PODEM) and </a:t>
            </a:r>
            <a:r>
              <a:rPr lang="en-US" dirty="0" err="1">
                <a:latin typeface="Arial" panose="020B0604020202020204" pitchFamily="34" charset="0"/>
                <a:cs typeface="Arial" panose="020B0604020202020204" pitchFamily="34" charset="0"/>
              </a:rPr>
              <a:t>FAN-out</a:t>
            </a:r>
            <a:r>
              <a:rPr lang="en-US" dirty="0">
                <a:latin typeface="Arial" panose="020B0604020202020204" pitchFamily="34" charset="0"/>
                <a:cs typeface="Arial" panose="020B0604020202020204" pitchFamily="34" charset="0"/>
              </a:rPr>
              <a:t>-oriented test generation (FAN) have been introduced.</a:t>
            </a:r>
          </a:p>
        </p:txBody>
      </p:sp>
      <p:sp>
        <p:nvSpPr>
          <p:cNvPr id="4" name="Footer Placeholder 3">
            <a:extLst>
              <a:ext uri="{FF2B5EF4-FFF2-40B4-BE49-F238E27FC236}">
                <a16:creationId xmlns:a16="http://schemas.microsoft.com/office/drawing/2014/main" id="{C5DC13BB-A61B-4EA6-9E12-1556FA636FE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16128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419E28B-721B-4D0D-A1D3-78EAC57253A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33A8D0-08E3-4204-AD10-529C03718432}"/>
              </a:ext>
            </a:extLst>
          </p:cNvPr>
          <p:cNvSpPr>
            <a:spLocks noGrp="1"/>
          </p:cNvSpPr>
          <p:nvPr>
            <p:ph type="title"/>
          </p:nvPr>
        </p:nvSpPr>
        <p:spPr>
          <a:xfrm>
            <a:off x="649224" y="645106"/>
            <a:ext cx="5122652" cy="1259894"/>
          </a:xfrm>
        </p:spPr>
        <p:txBody>
          <a:bodyPr>
            <a:normAutofit/>
          </a:bodyPr>
          <a:lstStyle/>
          <a:p>
            <a:r>
              <a:rPr lang="en-IN" dirty="0">
                <a:latin typeface="Arial" panose="020B0604020202020204" pitchFamily="34" charset="0"/>
                <a:cs typeface="Arial" panose="020B0604020202020204" pitchFamily="34" charset="0"/>
              </a:rPr>
              <a:t>Continue…</a:t>
            </a:r>
          </a:p>
        </p:txBody>
      </p:sp>
      <p:sp>
        <p:nvSpPr>
          <p:cNvPr id="17" name="Rectangle 16">
            <a:extLst>
              <a:ext uri="{FF2B5EF4-FFF2-40B4-BE49-F238E27FC236}">
                <a16:creationId xmlns:a16="http://schemas.microsoft.com/office/drawing/2014/main" id="{359E45B9-0D24-465E-84AD-FEDBA836B56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71396F31-514B-4DF7-936B-AB7932821167}"/>
              </a:ext>
            </a:extLst>
          </p:cNvPr>
          <p:cNvSpPr>
            <a:spLocks noGrp="1"/>
          </p:cNvSpPr>
          <p:nvPr>
            <p:ph idx="1"/>
          </p:nvPr>
        </p:nvSpPr>
        <p:spPr>
          <a:xfrm>
            <a:off x="649225" y="1335640"/>
            <a:ext cx="5122652" cy="4557213"/>
          </a:xfrm>
        </p:spPr>
        <p:txBody>
          <a:bodyPr>
            <a:noAutofit/>
          </a:bodyPr>
          <a:lstStyle/>
          <a:p>
            <a:pPr marL="342900" marR="0" lvl="0" indent="-342900" algn="just"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Let us now consider the simple circuit. To detect any defect on line 8, the primary inputs A and B must be set to logic 1.However, such a setting forces line 7  to logic 1.</a:t>
            </a:r>
          </a:p>
          <a:p>
            <a:pPr marL="342900" marR="0" lvl="0" indent="-342900" algn="just"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endParaRPr kumimoji="0" lang="en-US" b="0" i="0" u="none" strike="noStrike" kern="0" cap="none" spc="0" normalizeH="0" baseline="0" noProof="0" dirty="0">
              <a:ln>
                <a:noFill/>
              </a:ln>
              <a:effectLst/>
              <a:uLnTx/>
              <a:uFillTx/>
              <a:latin typeface="Arial"/>
              <a:ea typeface="+mn-ea"/>
              <a:cs typeface="+mn-cs"/>
            </a:endParaRPr>
          </a:p>
          <a:p>
            <a:pPr marL="342900" marR="0" lvl="0" indent="-342900" algn="just"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Thus, any stuck-at- (s-a- 1) fault on line 7 cannot be tested at the primary output, although in the absence of such a fault, the logic value on line 7 can be fully controllable through primary inputs B, C, and D. This circuit is not fully testable. </a:t>
            </a:r>
          </a:p>
          <a:p>
            <a:pPr marL="342900" marR="0" lvl="0" indent="-342900" algn="just"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endParaRPr kumimoji="0" lang="en-US" b="0" i="0" u="none" strike="noStrike" kern="0" cap="none" spc="0" normalizeH="0" baseline="0" noProof="0" dirty="0">
              <a:ln>
                <a:noFill/>
              </a:ln>
              <a:effectLst/>
              <a:uLnTx/>
              <a:uFillTx/>
              <a:latin typeface="Arial"/>
              <a:ea typeface="+mn-ea"/>
              <a:cs typeface="+mn-cs"/>
            </a:endParaRPr>
          </a:p>
          <a:p>
            <a:pPr marL="342900" marR="0" lvl="0" indent="-342900" algn="just"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The main cause of this difficulty in this circuit is the fact that input B fans out to lines 5 and 6, and then after the OR3 gate, both line signals are combined in the AND3 gate. Such a fanout is called </a:t>
            </a:r>
            <a:r>
              <a:rPr kumimoji="0" lang="en-US" b="0" i="0" u="none" strike="noStrike" kern="0" cap="none" spc="0" normalizeH="0" baseline="0" noProof="0" dirty="0" err="1">
                <a:ln>
                  <a:noFill/>
                </a:ln>
                <a:effectLst/>
                <a:uLnTx/>
                <a:uFillTx/>
                <a:latin typeface="Arial"/>
                <a:ea typeface="+mn-ea"/>
                <a:cs typeface="+mn-cs"/>
              </a:rPr>
              <a:t>reconvergent</a:t>
            </a:r>
            <a:r>
              <a:rPr kumimoji="0" lang="en-US" b="0" i="0" u="none" strike="noStrike" kern="0" cap="none" spc="0" normalizeH="0" baseline="0" noProof="0" dirty="0">
                <a:ln>
                  <a:noFill/>
                </a:ln>
                <a:effectLst/>
                <a:uLnTx/>
                <a:uFillTx/>
                <a:latin typeface="Arial"/>
                <a:ea typeface="+mn-ea"/>
                <a:cs typeface="+mn-cs"/>
              </a:rPr>
              <a:t> fanout. </a:t>
            </a:r>
          </a:p>
        </p:txBody>
      </p:sp>
      <p:pic>
        <p:nvPicPr>
          <p:cNvPr id="10" name="Picture 2" descr="Diagram&#10;&#10;Description automatically generated">
            <a:extLst>
              <a:ext uri="{FF2B5EF4-FFF2-40B4-BE49-F238E27FC236}">
                <a16:creationId xmlns:a16="http://schemas.microsoft.com/office/drawing/2014/main" id="{D936F05D-79DB-40C2-9F4F-5887D099F915}"/>
              </a:ext>
            </a:extLst>
          </p:cNvPr>
          <p:cNvPicPr>
            <a:picLocks noChangeAspect="1" noChangeArrowheads="1"/>
          </p:cNvPicPr>
          <p:nvPr/>
        </p:nvPicPr>
        <p:blipFill>
          <a:blip r:embed="rId2"/>
          <a:stretch>
            <a:fillRect/>
          </a:stretch>
        </p:blipFill>
        <p:spPr bwMode="auto">
          <a:xfrm>
            <a:off x="6666705" y="2052219"/>
            <a:ext cx="5451627" cy="2289682"/>
          </a:xfrm>
          <a:prstGeom prst="rect">
            <a:avLst/>
          </a:prstGeom>
          <a:noFill/>
        </p:spPr>
      </p:pic>
      <p:sp>
        <p:nvSpPr>
          <p:cNvPr id="19" name="Freeform 12">
            <a:extLst>
              <a:ext uri="{FF2B5EF4-FFF2-40B4-BE49-F238E27FC236}">
                <a16:creationId xmlns:a16="http://schemas.microsoft.com/office/drawing/2014/main" id="{1F36A2FB-17CD-4DA6-9D8A-BFD6ADF6A32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2E3146C8-D6C1-40EA-BB54-767F9949B4D7}"/>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3912911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10414-FE58-4428-8C31-2C0BEDC40DDD}"/>
              </a:ext>
            </a:extLst>
          </p:cNvPr>
          <p:cNvSpPr>
            <a:spLocks noGrp="1"/>
          </p:cNvSpPr>
          <p:nvPr>
            <p:ph type="title"/>
          </p:nvPr>
        </p:nvSpPr>
        <p:spPr>
          <a:xfrm>
            <a:off x="1627632" y="624109"/>
            <a:ext cx="2487168" cy="5614951"/>
          </a:xfrm>
        </p:spPr>
        <p:txBody>
          <a:bodyPr>
            <a:normAutofit/>
          </a:bodyPr>
          <a:lstStyle/>
          <a:p>
            <a:r>
              <a:rPr lang="en-IN" sz="3200" dirty="0">
                <a:latin typeface="Arial" panose="020B0604020202020204" pitchFamily="34" charset="0"/>
                <a:cs typeface="Arial" panose="020B0604020202020204" pitchFamily="34" charset="0"/>
              </a:rPr>
              <a:t>Ad Hoc Testable Design Techniques</a:t>
            </a:r>
          </a:p>
        </p:txBody>
      </p:sp>
      <p:sp>
        <p:nvSpPr>
          <p:cNvPr id="3" name="Content Placeholder 2">
            <a:extLst>
              <a:ext uri="{FF2B5EF4-FFF2-40B4-BE49-F238E27FC236}">
                <a16:creationId xmlns:a16="http://schemas.microsoft.com/office/drawing/2014/main" id="{99EAB3BB-B526-4245-B26F-6012F82BF0E3}"/>
              </a:ext>
            </a:extLst>
          </p:cNvPr>
          <p:cNvSpPr>
            <a:spLocks noGrp="1"/>
          </p:cNvSpPr>
          <p:nvPr>
            <p:ph idx="1"/>
          </p:nvPr>
        </p:nvSpPr>
        <p:spPr>
          <a:xfrm>
            <a:off x="5003515" y="219907"/>
            <a:ext cx="6804596" cy="3777622"/>
          </a:xfrm>
        </p:spPr>
        <p:txBody>
          <a:bodyPr>
            <a:normAutofit/>
          </a:bodyPr>
          <a:lstStyle/>
          <a:p>
            <a:pPr marL="342900" marR="0" lvl="0" indent="-342900" defTabSz="914400" rtl="0" eaLnBrk="1" fontAlgn="base" latinLnBrk="0" hangingPunct="1">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One way to increase the testability is to make nodes more accessible at some cost by physically inserting more access circuits to the original design.</a:t>
            </a:r>
          </a:p>
          <a:p>
            <a:pPr marL="342900" marR="0" lvl="0" indent="-342900" defTabSz="914400" rtl="0" eaLnBrk="1" fontAlgn="base" latinLnBrk="0" hangingPunct="1">
              <a:spcBef>
                <a:spcPct val="20000"/>
              </a:spcBef>
              <a:spcAft>
                <a:spcPct val="0"/>
              </a:spcAft>
              <a:buClr>
                <a:srgbClr val="CCCC99"/>
              </a:buClr>
              <a:buSzPct val="70000"/>
              <a:buFont typeface="Wingdings" pitchFamily="2" charset="2"/>
              <a:buChar char="l"/>
              <a:tabLst/>
              <a:defRPr/>
            </a:pPr>
            <a:endParaRPr kumimoji="0" lang="en-US" b="0" i="0" u="none" strike="noStrike" kern="0" cap="none" spc="0" normalizeH="0" baseline="0" noProof="0" dirty="0">
              <a:ln>
                <a:noFill/>
              </a:ln>
              <a:effectLst/>
              <a:uLnTx/>
              <a:uFillTx/>
              <a:latin typeface="Arial"/>
              <a:ea typeface="+mn-ea"/>
              <a:cs typeface="+mn-cs"/>
            </a:endParaRPr>
          </a:p>
          <a:p>
            <a:pPr marL="342900" marR="0" lvl="0" indent="-342900" defTabSz="914400" rtl="0" eaLnBrk="1" fontAlgn="base" latinLnBrk="0" hangingPunct="1">
              <a:spcBef>
                <a:spcPct val="20000"/>
              </a:spcBef>
              <a:spcAft>
                <a:spcPct val="0"/>
              </a:spcAft>
              <a:buClr>
                <a:srgbClr val="CCCC99"/>
              </a:buClr>
              <a:buSzPct val="70000"/>
              <a:buFont typeface="Wingdings" pitchFamily="2" charset="2"/>
              <a:buChar char="l"/>
              <a:tabLst/>
              <a:defRPr/>
            </a:pPr>
            <a:r>
              <a:rPr kumimoji="0" lang="en-US" b="1" u="sng" strike="noStrike" kern="0" cap="none" spc="0" normalizeH="0" baseline="0" noProof="0" dirty="0">
                <a:ln>
                  <a:noFill/>
                </a:ln>
                <a:effectLst/>
                <a:uLnTx/>
                <a:uFillTx/>
                <a:latin typeface="Arial"/>
                <a:ea typeface="+mn-ea"/>
                <a:cs typeface="+mn-cs"/>
              </a:rPr>
              <a:t>Partition-and-Mux Technique</a:t>
            </a:r>
            <a:endParaRPr kumimoji="0" lang="en-US" b="0" u="sng" strike="noStrike" kern="0" cap="none" spc="0" normalizeH="0" baseline="0" noProof="0" dirty="0">
              <a:ln>
                <a:noFill/>
              </a:ln>
              <a:effectLst/>
              <a:uLnTx/>
              <a:uFillTx/>
              <a:latin typeface="Arial"/>
              <a:ea typeface="+mn-ea"/>
              <a:cs typeface="+mn-cs"/>
            </a:endParaRPr>
          </a:p>
          <a:p>
            <a:pPr marL="342900" marR="0" lvl="0" indent="-342900" defTabSz="914400" rtl="0" eaLnBrk="1" fontAlgn="base" latinLnBrk="0" hangingPunct="1">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The sequence of many serial gates, functional blocks, or large circuits are difficult to test, such circuits can be partitioned and multiplexors (</a:t>
            </a:r>
            <a:r>
              <a:rPr kumimoji="0" lang="en-US" b="0" i="0" u="none" strike="noStrike" kern="0" cap="none" spc="0" normalizeH="0" baseline="0" noProof="0" dirty="0" err="1">
                <a:ln>
                  <a:noFill/>
                </a:ln>
                <a:effectLst/>
                <a:uLnTx/>
                <a:uFillTx/>
                <a:latin typeface="Arial"/>
                <a:ea typeface="+mn-ea"/>
                <a:cs typeface="+mn-cs"/>
              </a:rPr>
              <a:t>muxes</a:t>
            </a:r>
            <a:r>
              <a:rPr kumimoji="0" lang="en-US" b="0" i="0" u="none" strike="noStrike" kern="0" cap="none" spc="0" normalizeH="0" baseline="0" noProof="0" dirty="0">
                <a:ln>
                  <a:noFill/>
                </a:ln>
                <a:effectLst/>
                <a:uLnTx/>
                <a:uFillTx/>
                <a:latin typeface="Arial"/>
                <a:ea typeface="+mn-ea"/>
                <a:cs typeface="+mn-cs"/>
              </a:rPr>
              <a:t>) can be inserted such that some of the primary inputs can be fed to partitioned parts through multiplexers with accessible control </a:t>
            </a:r>
            <a:r>
              <a:rPr kumimoji="0" lang="en-US" b="0" i="0" u="none" strike="noStrike" kern="0" cap="none" spc="0" normalizeH="0" baseline="0" noProof="0" dirty="0" err="1">
                <a:ln>
                  <a:noFill/>
                </a:ln>
                <a:effectLst/>
                <a:uLnTx/>
                <a:uFillTx/>
                <a:latin typeface="Arial"/>
                <a:ea typeface="+mn-ea"/>
                <a:cs typeface="+mn-cs"/>
              </a:rPr>
              <a:t>signals.Circuit</a:t>
            </a:r>
            <a:r>
              <a:rPr kumimoji="0" lang="en-US" b="0" i="0" u="none" strike="noStrike" kern="0" cap="none" spc="0" normalizeH="0" baseline="0" noProof="0" dirty="0">
                <a:ln>
                  <a:noFill/>
                </a:ln>
                <a:effectLst/>
                <a:uLnTx/>
                <a:uFillTx/>
                <a:latin typeface="Arial"/>
                <a:ea typeface="+mn-ea"/>
                <a:cs typeface="+mn-cs"/>
              </a:rPr>
              <a:t> partitioning and addition of multiplexers may increase the chip area and circuit delay. </a:t>
            </a:r>
          </a:p>
          <a:p>
            <a:endParaRPr lang="en-IN" dirty="0"/>
          </a:p>
        </p:txBody>
      </p:sp>
      <p:pic>
        <p:nvPicPr>
          <p:cNvPr id="5" name="Picture 2" descr="Diagram, schematic&#10;&#10;Description automatically generated">
            <a:extLst>
              <a:ext uri="{FF2B5EF4-FFF2-40B4-BE49-F238E27FC236}">
                <a16:creationId xmlns:a16="http://schemas.microsoft.com/office/drawing/2014/main" id="{D9C62883-FB74-4390-B053-E68D49FEC603}"/>
              </a:ext>
            </a:extLst>
          </p:cNvPr>
          <p:cNvPicPr>
            <a:picLocks noChangeAspect="1" noChangeArrowheads="1"/>
          </p:cNvPicPr>
          <p:nvPr/>
        </p:nvPicPr>
        <p:blipFill>
          <a:blip r:embed="rId2"/>
          <a:stretch>
            <a:fillRect/>
          </a:stretch>
        </p:blipFill>
        <p:spPr bwMode="auto">
          <a:xfrm>
            <a:off x="5003515" y="4240976"/>
            <a:ext cx="6522771" cy="2397117"/>
          </a:xfrm>
          <a:prstGeom prst="rect">
            <a:avLst/>
          </a:prstGeom>
          <a:noFill/>
        </p:spPr>
      </p:pic>
      <p:sp>
        <p:nvSpPr>
          <p:cNvPr id="4" name="Footer Placeholder 3">
            <a:extLst>
              <a:ext uri="{FF2B5EF4-FFF2-40B4-BE49-F238E27FC236}">
                <a16:creationId xmlns:a16="http://schemas.microsoft.com/office/drawing/2014/main" id="{ACBD2CCD-3B72-43F4-9A6E-5A664D785416}"/>
              </a:ext>
            </a:extLst>
          </p:cNvPr>
          <p:cNvSpPr>
            <a:spLocks noGrp="1"/>
          </p:cNvSpPr>
          <p:nvPr>
            <p:ph type="ftr" sz="quarter" idx="11"/>
          </p:nvPr>
        </p:nvSpPr>
        <p:spPr>
          <a:xfrm>
            <a:off x="2589212" y="627296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2315544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9BD230D-0708-4782-93C2-6421485EDE4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0F9A64-9EBE-471E-A783-982B4FF07FAD}"/>
              </a:ext>
            </a:extLst>
          </p:cNvPr>
          <p:cNvSpPr>
            <a:spLocks noGrp="1"/>
          </p:cNvSpPr>
          <p:nvPr>
            <p:ph type="title"/>
          </p:nvPr>
        </p:nvSpPr>
        <p:spPr>
          <a:xfrm>
            <a:off x="649224" y="645106"/>
            <a:ext cx="6574536" cy="1259894"/>
          </a:xfrm>
        </p:spPr>
        <p:txBody>
          <a:bodyPr>
            <a:normAutofit/>
          </a:bodyPr>
          <a:lstStyle/>
          <a:p>
            <a:r>
              <a:rPr lang="en-IN" dirty="0"/>
              <a:t>Continue….. </a:t>
            </a:r>
          </a:p>
        </p:txBody>
      </p:sp>
      <p:sp>
        <p:nvSpPr>
          <p:cNvPr id="13" name="Rectangle 12">
            <a:extLst>
              <a:ext uri="{FF2B5EF4-FFF2-40B4-BE49-F238E27FC236}">
                <a16:creationId xmlns:a16="http://schemas.microsoft.com/office/drawing/2014/main" id="{D630D25A-547E-4D17-B65E-FA2B8889318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BD9CBCDB-FB82-4349-B315-C44970C28AFA}"/>
              </a:ext>
            </a:extLst>
          </p:cNvPr>
          <p:cNvSpPr>
            <a:spLocks noGrp="1"/>
          </p:cNvSpPr>
          <p:nvPr>
            <p:ph idx="1"/>
          </p:nvPr>
        </p:nvSpPr>
        <p:spPr>
          <a:xfrm>
            <a:off x="649224" y="1407560"/>
            <a:ext cx="6574535" cy="4485293"/>
          </a:xfrm>
        </p:spPr>
        <p:txBody>
          <a:bodyPr>
            <a:normAutofit/>
          </a:bodyPr>
          <a:lstStyle/>
          <a:p>
            <a:pPr marL="342900" marR="0" lvl="0" indent="-342900" algn="just"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r>
              <a:rPr kumimoji="0" lang="en-US" b="1" u="sng" strike="noStrike" kern="0" cap="none" spc="0" normalizeH="0" baseline="0" noProof="0" dirty="0">
                <a:ln>
                  <a:noFill/>
                </a:ln>
                <a:effectLst/>
                <a:uLnTx/>
                <a:uFillTx/>
                <a:latin typeface="Arial"/>
                <a:ea typeface="+mn-ea"/>
                <a:cs typeface="+mn-cs"/>
              </a:rPr>
              <a:t>Initialize Sequential Circuit</a:t>
            </a:r>
          </a:p>
          <a:p>
            <a:pPr marL="342900" marR="0" lvl="0" indent="-342900" algn="just"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When the sequential circuit is powered up, its initial state can be a random, unknown state. In this case, it is not possible to start the test sequence correctly.</a:t>
            </a:r>
          </a:p>
          <a:p>
            <a:pPr marL="342900" marR="0" lvl="0" indent="-342900" algn="just"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The state of a sequential circuit can be brought to a known state through </a:t>
            </a:r>
            <a:r>
              <a:rPr kumimoji="0" lang="en-US" b="0" i="1" u="none" strike="noStrike" kern="0" cap="none" spc="0" normalizeH="0" baseline="0" noProof="0" dirty="0">
                <a:ln>
                  <a:noFill/>
                </a:ln>
                <a:effectLst/>
                <a:uLnTx/>
                <a:uFillTx/>
                <a:latin typeface="Arial"/>
                <a:ea typeface="+mn-ea"/>
                <a:cs typeface="+mn-cs"/>
              </a:rPr>
              <a:t>initialization. </a:t>
            </a:r>
            <a:r>
              <a:rPr kumimoji="0" lang="en-US" b="0" i="0" u="none" strike="noStrike" kern="0" cap="none" spc="0" normalizeH="0" baseline="0" noProof="0" dirty="0">
                <a:ln>
                  <a:noFill/>
                </a:ln>
                <a:effectLst/>
                <a:uLnTx/>
                <a:uFillTx/>
                <a:latin typeface="Arial"/>
                <a:ea typeface="+mn-ea"/>
                <a:cs typeface="+mn-cs"/>
              </a:rPr>
              <a:t>In many designs, the</a:t>
            </a:r>
          </a:p>
          <a:p>
            <a:pPr marL="342900" marR="0" lvl="0" indent="-342900" algn="just"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initialization can be easily done by connecting asynchronous preset or clear-input signals</a:t>
            </a:r>
          </a:p>
          <a:p>
            <a:pPr marL="342900" marR="0" lvl="0" indent="-342900" algn="just"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endParaRPr kumimoji="0" lang="en-US" b="0" i="0" u="none" strike="noStrike" kern="0" cap="none" spc="0" normalizeH="0" baseline="0" noProof="0" dirty="0">
              <a:ln>
                <a:noFill/>
              </a:ln>
              <a:effectLst/>
              <a:uLnTx/>
              <a:uFillTx/>
              <a:latin typeface="Arial"/>
              <a:ea typeface="+mn-ea"/>
              <a:cs typeface="+mn-cs"/>
            </a:endParaRPr>
          </a:p>
          <a:p>
            <a:pPr marL="342900" marR="0" lvl="0" indent="-342900" algn="just"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r>
              <a:rPr kumimoji="0" lang="en-US" b="1" i="0" u="sng" strike="noStrike" kern="0" cap="none" spc="0" normalizeH="0" baseline="0" noProof="0" dirty="0">
                <a:ln>
                  <a:noFill/>
                </a:ln>
                <a:effectLst/>
                <a:uLnTx/>
                <a:uFillTx/>
                <a:latin typeface="Arial"/>
                <a:ea typeface="+mn-ea"/>
                <a:cs typeface="+mn-cs"/>
              </a:rPr>
              <a:t>Disable Internal Oscillators and Clocks</a:t>
            </a:r>
          </a:p>
          <a:p>
            <a:pPr marL="342900" marR="0" lvl="0" indent="-342900" algn="just"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To avoid synchronization problems during testing, internal oscillators and clocks should be </a:t>
            </a:r>
            <a:r>
              <a:rPr kumimoji="0" lang="en-US" b="0" i="0" u="none" strike="noStrike" kern="0" cap="none" spc="0" normalizeH="0" baseline="0" noProof="0" dirty="0" err="1">
                <a:ln>
                  <a:noFill/>
                </a:ln>
                <a:effectLst/>
                <a:uLnTx/>
                <a:uFillTx/>
                <a:latin typeface="Arial"/>
                <a:ea typeface="+mn-ea"/>
                <a:cs typeface="+mn-cs"/>
              </a:rPr>
              <a:t>disabled.For</a:t>
            </a:r>
            <a:r>
              <a:rPr kumimoji="0" lang="en-US" b="0" i="0" u="none" strike="noStrike" kern="0" cap="none" spc="0" normalizeH="0" baseline="0" noProof="0" dirty="0">
                <a:ln>
                  <a:noFill/>
                </a:ln>
                <a:effectLst/>
                <a:uLnTx/>
                <a:uFillTx/>
                <a:latin typeface="Arial"/>
                <a:ea typeface="+mn-ea"/>
                <a:cs typeface="+mn-cs"/>
              </a:rPr>
              <a:t> example, rather than connecting the circuit directly to the on-chip oscillator, the clock signal can be </a:t>
            </a:r>
            <a:r>
              <a:rPr kumimoji="0" lang="en-US" b="0" i="0" u="none" strike="noStrike" kern="0" cap="none" spc="0" normalizeH="0" baseline="0" noProof="0" dirty="0" err="1">
                <a:ln>
                  <a:noFill/>
                </a:ln>
                <a:effectLst/>
                <a:uLnTx/>
                <a:uFillTx/>
                <a:latin typeface="Arial"/>
                <a:ea typeface="+mn-ea"/>
                <a:cs typeface="+mn-cs"/>
              </a:rPr>
              <a:t>ORed</a:t>
            </a:r>
            <a:r>
              <a:rPr kumimoji="0" lang="en-US" b="0" i="0" u="none" strike="noStrike" kern="0" cap="none" spc="0" normalizeH="0" baseline="0" noProof="0" dirty="0">
                <a:ln>
                  <a:noFill/>
                </a:ln>
                <a:effectLst/>
                <a:uLnTx/>
                <a:uFillTx/>
                <a:latin typeface="Arial"/>
                <a:ea typeface="+mn-ea"/>
                <a:cs typeface="+mn-cs"/>
              </a:rPr>
              <a:t> with a disabling signal followed by an insertion of a testing signal as shown in Fig</a:t>
            </a:r>
            <a:endParaRPr kumimoji="0" lang="en-US" b="1" i="0" u="sng" strike="noStrike" kern="0" cap="none" spc="0" normalizeH="0" baseline="0" noProof="0" dirty="0">
              <a:ln>
                <a:noFill/>
              </a:ln>
              <a:effectLst/>
              <a:uLnTx/>
              <a:uFillTx/>
              <a:latin typeface="Arial"/>
              <a:ea typeface="+mn-ea"/>
              <a:cs typeface="+mn-cs"/>
            </a:endParaRPr>
          </a:p>
          <a:p>
            <a:pPr>
              <a:lnSpc>
                <a:spcPct val="90000"/>
              </a:lnSpc>
            </a:pPr>
            <a:endParaRPr lang="en-IN" sz="1500" dirty="0"/>
          </a:p>
        </p:txBody>
      </p:sp>
      <p:pic>
        <p:nvPicPr>
          <p:cNvPr id="6" name="Picture 5" descr="Diagram&#10;&#10;Description automatically generated">
            <a:extLst>
              <a:ext uri="{FF2B5EF4-FFF2-40B4-BE49-F238E27FC236}">
                <a16:creationId xmlns:a16="http://schemas.microsoft.com/office/drawing/2014/main" id="{821FCDF2-198F-432C-8BF6-FE2EF0B88359}"/>
              </a:ext>
            </a:extLst>
          </p:cNvPr>
          <p:cNvPicPr>
            <a:picLocks noChangeAspect="1"/>
          </p:cNvPicPr>
          <p:nvPr/>
        </p:nvPicPr>
        <p:blipFill>
          <a:blip r:embed="rId2"/>
          <a:stretch>
            <a:fillRect/>
          </a:stretch>
        </p:blipFill>
        <p:spPr>
          <a:xfrm>
            <a:off x="7562088" y="2137026"/>
            <a:ext cx="4611885" cy="1991656"/>
          </a:xfrm>
          <a:prstGeom prst="rect">
            <a:avLst/>
          </a:prstGeom>
        </p:spPr>
      </p:pic>
      <p:sp>
        <p:nvSpPr>
          <p:cNvPr id="15" name="Freeform 11">
            <a:extLst>
              <a:ext uri="{FF2B5EF4-FFF2-40B4-BE49-F238E27FC236}">
                <a16:creationId xmlns:a16="http://schemas.microsoft.com/office/drawing/2014/main" id="{F39C56FC-EE04-4CE0-8DE2-736A201E9A3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097524E0-651F-43D6-8566-0EE6681E1E96}"/>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1354614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9BD230D-0708-4782-93C2-6421485EDE4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DDBCFF-EB79-4EA0-940F-F881C1C38683}"/>
              </a:ext>
            </a:extLst>
          </p:cNvPr>
          <p:cNvSpPr>
            <a:spLocks noGrp="1"/>
          </p:cNvSpPr>
          <p:nvPr>
            <p:ph type="title"/>
          </p:nvPr>
        </p:nvSpPr>
        <p:spPr>
          <a:xfrm>
            <a:off x="649224" y="645106"/>
            <a:ext cx="6574536" cy="1259894"/>
          </a:xfrm>
        </p:spPr>
        <p:txBody>
          <a:bodyPr>
            <a:normAutofit/>
          </a:bodyPr>
          <a:lstStyle/>
          <a:p>
            <a:pPr marL="342900" marR="0" lvl="0" indent="-342900" defTabSz="914400" rtl="0" eaLnBrk="1" fontAlgn="base" latinLnBrk="0" hangingPunct="1">
              <a:lnSpc>
                <a:spcPct val="90000"/>
              </a:lnSpc>
              <a:spcBef>
                <a:spcPct val="20000"/>
              </a:spcBef>
              <a:spcAft>
                <a:spcPct val="0"/>
              </a:spcAft>
              <a:tabLst/>
              <a:defRPr/>
            </a:pPr>
            <a:r>
              <a:rPr kumimoji="0" lang="en-US" sz="2800" b="0" i="0" strike="noStrike" kern="0" cap="none" spc="0" normalizeH="0" baseline="0" noProof="0">
                <a:ln>
                  <a:noFill/>
                </a:ln>
                <a:effectLst/>
                <a:uLnTx/>
                <a:uFillTx/>
                <a:latin typeface="Arial"/>
                <a:ea typeface="+mn-ea"/>
                <a:cs typeface="+mn-cs"/>
              </a:rPr>
              <a:t>Avoid Asynchronous Logic and Redundant Logic</a:t>
            </a:r>
            <a:r>
              <a:rPr kumimoji="0" lang="en-US" sz="2800" b="0" i="0" u="sng" strike="noStrike" kern="0" cap="none" spc="0" normalizeH="0" baseline="0" noProof="0">
                <a:ln>
                  <a:noFill/>
                </a:ln>
                <a:effectLst/>
                <a:uLnTx/>
                <a:uFillTx/>
                <a:latin typeface="Arial"/>
                <a:ea typeface="+mn-ea"/>
                <a:cs typeface="+mn-cs"/>
              </a:rPr>
              <a:t/>
            </a:r>
            <a:br>
              <a:rPr kumimoji="0" lang="en-US" sz="2800" b="0" i="0" u="sng" strike="noStrike" kern="0" cap="none" spc="0" normalizeH="0" baseline="0" noProof="0">
                <a:ln>
                  <a:noFill/>
                </a:ln>
                <a:effectLst/>
                <a:uLnTx/>
                <a:uFillTx/>
                <a:latin typeface="Arial"/>
                <a:ea typeface="+mn-ea"/>
                <a:cs typeface="+mn-cs"/>
              </a:rPr>
            </a:br>
            <a:endParaRPr lang="en-IN" sz="2800"/>
          </a:p>
        </p:txBody>
      </p:sp>
      <p:sp>
        <p:nvSpPr>
          <p:cNvPr id="12" name="Rectangle 11">
            <a:extLst>
              <a:ext uri="{FF2B5EF4-FFF2-40B4-BE49-F238E27FC236}">
                <a16:creationId xmlns:a16="http://schemas.microsoft.com/office/drawing/2014/main" id="{D630D25A-547E-4D17-B65E-FA2B8889318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D2EA8E4D-891D-41E5-8696-596E592A7429}"/>
              </a:ext>
            </a:extLst>
          </p:cNvPr>
          <p:cNvSpPr>
            <a:spLocks noGrp="1"/>
          </p:cNvSpPr>
          <p:nvPr>
            <p:ph idx="1"/>
          </p:nvPr>
        </p:nvSpPr>
        <p:spPr>
          <a:xfrm>
            <a:off x="439549" y="1671374"/>
            <a:ext cx="6574535" cy="3759253"/>
          </a:xfrm>
        </p:spPr>
        <p:txBody>
          <a:bodyPr>
            <a:normAutofit/>
          </a:bodyPr>
          <a:lstStyle/>
          <a:p>
            <a:pPr marL="342900" marR="0" lvl="0" indent="-342900" algn="just" defTabSz="914400" rtl="0" eaLnBrk="1" fontAlgn="base" latinLnBrk="0" hangingPunct="1">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The design and test of an asynchronous logic circuit are more difficult than for a synchronous logic circuit, and its state transition times are difficult to predict. </a:t>
            </a:r>
          </a:p>
          <a:p>
            <a:pPr marL="342900" marR="0" lvl="0" indent="-342900" algn="just" defTabSz="914400" rtl="0" eaLnBrk="1" fontAlgn="base" latinLnBrk="0" hangingPunct="1">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The operation of an asynchronous logic circuit is sensitive to input test patterns, often causing race problems and hazards of having momentary signal values opposite to the expected values. </a:t>
            </a:r>
          </a:p>
          <a:p>
            <a:pPr marL="342900" marR="0" lvl="0" indent="-342900" algn="just" defTabSz="914400" rtl="0" eaLnBrk="1" fontAlgn="base" latinLnBrk="0" hangingPunct="1">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Figure  shows that the bottom NAND2 gate is redundant and the stuck-at- fault on its output line cannot be detected. If a fault is undetectable, the associated line or gate can be removed without changing the logic function.</a:t>
            </a:r>
          </a:p>
          <a:p>
            <a:pPr marL="342900" marR="0" lvl="0" indent="-342900" defTabSz="914400" rtl="0" eaLnBrk="1" fontAlgn="base" latinLnBrk="0" hangingPunct="1">
              <a:spcBef>
                <a:spcPct val="20000"/>
              </a:spcBef>
              <a:spcAft>
                <a:spcPct val="0"/>
              </a:spcAft>
              <a:buClr>
                <a:srgbClr val="CCCC99"/>
              </a:buClr>
              <a:buSzPct val="70000"/>
              <a:buFont typeface="Wingdings" pitchFamily="2" charset="2"/>
              <a:buChar char="l"/>
              <a:tabLst/>
              <a:defRPr/>
            </a:pPr>
            <a:endParaRPr kumimoji="0" lang="en-US" b="0" i="0" u="sng" strike="noStrike" kern="0" cap="none" spc="0" normalizeH="0" baseline="0" noProof="0" dirty="0">
              <a:ln>
                <a:noFill/>
              </a:ln>
              <a:effectLst/>
              <a:uLnTx/>
              <a:uFillTx/>
              <a:latin typeface="Arial"/>
              <a:ea typeface="+mn-ea"/>
              <a:cs typeface="+mn-cs"/>
            </a:endParaRPr>
          </a:p>
          <a:p>
            <a:endParaRPr lang="en-IN" dirty="0"/>
          </a:p>
        </p:txBody>
      </p:sp>
      <p:pic>
        <p:nvPicPr>
          <p:cNvPr id="5" name="Picture 3" descr="Diagram, engineering drawing&#10;&#10;Description automatically generated">
            <a:extLst>
              <a:ext uri="{FF2B5EF4-FFF2-40B4-BE49-F238E27FC236}">
                <a16:creationId xmlns:a16="http://schemas.microsoft.com/office/drawing/2014/main" id="{B9EC09F5-637C-4EBF-A95E-95980D75B06C}"/>
              </a:ext>
            </a:extLst>
          </p:cNvPr>
          <p:cNvPicPr>
            <a:picLocks noChangeAspect="1" noChangeArrowheads="1"/>
          </p:cNvPicPr>
          <p:nvPr/>
        </p:nvPicPr>
        <p:blipFill>
          <a:blip r:embed="rId2"/>
          <a:stretch>
            <a:fillRect/>
          </a:stretch>
        </p:blipFill>
        <p:spPr bwMode="auto">
          <a:xfrm>
            <a:off x="7197939" y="2085654"/>
            <a:ext cx="4907063" cy="2465798"/>
          </a:xfrm>
          <a:prstGeom prst="rect">
            <a:avLst/>
          </a:prstGeom>
          <a:noFill/>
        </p:spPr>
      </p:pic>
      <p:sp>
        <p:nvSpPr>
          <p:cNvPr id="14" name="Freeform 11">
            <a:extLst>
              <a:ext uri="{FF2B5EF4-FFF2-40B4-BE49-F238E27FC236}">
                <a16:creationId xmlns:a16="http://schemas.microsoft.com/office/drawing/2014/main" id="{F39C56FC-EE04-4CE0-8DE2-736A201E9A3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9E76EBC9-6B7A-4FD4-948A-7A57DB2562E4}"/>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2375809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95FD7-CF56-45CA-AE2F-E08B9A67F427}"/>
              </a:ext>
            </a:extLst>
          </p:cNvPr>
          <p:cNvSpPr>
            <a:spLocks noGrp="1"/>
          </p:cNvSpPr>
          <p:nvPr>
            <p:ph type="title"/>
          </p:nvPr>
        </p:nvSpPr>
        <p:spPr>
          <a:xfrm>
            <a:off x="1859623" y="624110"/>
            <a:ext cx="9644990" cy="1280890"/>
          </a:xfrm>
        </p:spPr>
        <p:txBody>
          <a:bodyPr/>
          <a:lstStyle/>
          <a:p>
            <a:r>
              <a:rPr lang="en-IN" dirty="0">
                <a:latin typeface="Arial" panose="020B0604020202020204" pitchFamily="34" charset="0"/>
                <a:cs typeface="Arial" panose="020B0604020202020204" pitchFamily="34" charset="0"/>
              </a:rPr>
              <a:t>Scan based Technique</a:t>
            </a:r>
          </a:p>
        </p:txBody>
      </p:sp>
      <p:sp>
        <p:nvSpPr>
          <p:cNvPr id="3" name="Content Placeholder 2">
            <a:extLst>
              <a:ext uri="{FF2B5EF4-FFF2-40B4-BE49-F238E27FC236}">
                <a16:creationId xmlns:a16="http://schemas.microsoft.com/office/drawing/2014/main" id="{9F9694CC-DC8D-450B-A1E8-D6E143CEC6A5}"/>
              </a:ext>
            </a:extLst>
          </p:cNvPr>
          <p:cNvSpPr>
            <a:spLocks noGrp="1"/>
          </p:cNvSpPr>
          <p:nvPr>
            <p:ph idx="1"/>
          </p:nvPr>
        </p:nvSpPr>
        <p:spPr>
          <a:xfrm>
            <a:off x="976045" y="1448656"/>
            <a:ext cx="10528567" cy="4462566"/>
          </a:xfrm>
        </p:spPr>
        <p:txBody>
          <a:bodyPr/>
          <a:lstStyle/>
          <a:p>
            <a:pPr marL="342900" marR="0" lvl="0" indent="-342900" algn="just"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solidFill>
                  <a:srgbClr val="000000"/>
                </a:solidFill>
                <a:effectLst/>
                <a:uLnTx/>
                <a:uFillTx/>
                <a:latin typeface="Arial"/>
                <a:ea typeface="+mn-ea"/>
                <a:cs typeface="+mn-cs"/>
              </a:rPr>
              <a:t>The scan design technique is a structured approach to design sequential circuits for </a:t>
            </a:r>
            <a:r>
              <a:rPr kumimoji="0" lang="en-US" b="0" i="0" u="none" strike="noStrike" kern="0" cap="none" spc="0" normalizeH="0" baseline="0" noProof="0" dirty="0" err="1">
                <a:ln>
                  <a:noFill/>
                </a:ln>
                <a:solidFill>
                  <a:srgbClr val="000000"/>
                </a:solidFill>
                <a:effectLst/>
                <a:uLnTx/>
                <a:uFillTx/>
                <a:latin typeface="Arial"/>
                <a:ea typeface="+mn-ea"/>
                <a:cs typeface="+mn-cs"/>
              </a:rPr>
              <a:t>testability.The</a:t>
            </a:r>
            <a:r>
              <a:rPr kumimoji="0" lang="en-US" b="0" i="0" u="none" strike="noStrike" kern="0" cap="none" spc="0" normalizeH="0" baseline="0" noProof="0" dirty="0">
                <a:ln>
                  <a:noFill/>
                </a:ln>
                <a:solidFill>
                  <a:srgbClr val="000000"/>
                </a:solidFill>
                <a:effectLst/>
                <a:uLnTx/>
                <a:uFillTx/>
                <a:latin typeface="Arial"/>
                <a:ea typeface="+mn-ea"/>
                <a:cs typeface="+mn-cs"/>
              </a:rPr>
              <a:t> storage cells in registers are used as observation points, control points, or both. By using the scan design techniques, the testing of a sequential circuit is reduced to the problem of testing a combinational circuit.</a:t>
            </a:r>
          </a:p>
          <a:p>
            <a:pPr marL="342900" marR="0" lvl="0" indent="-342900" algn="just"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endParaRPr kumimoji="0" lang="en-US" b="0" i="0" u="none" strike="noStrike" kern="0" cap="none" spc="0" normalizeH="0" baseline="0" noProof="0" dirty="0">
              <a:ln>
                <a:noFill/>
              </a:ln>
              <a:solidFill>
                <a:srgbClr val="000000"/>
              </a:solidFill>
              <a:effectLst/>
              <a:uLnTx/>
              <a:uFillTx/>
              <a:latin typeface="Arial"/>
              <a:ea typeface="+mn-ea"/>
              <a:cs typeface="+mn-cs"/>
            </a:endParaRPr>
          </a:p>
          <a:p>
            <a:pPr marL="342900" marR="0" lvl="0" indent="-342900" algn="just"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solidFill>
                  <a:srgbClr val="000000"/>
                </a:solidFill>
                <a:effectLst/>
                <a:uLnTx/>
                <a:uFillTx/>
                <a:latin typeface="Arial"/>
                <a:ea typeface="+mn-ea"/>
                <a:cs typeface="+mn-cs"/>
              </a:rPr>
              <a:t>In the scan-based design, the storage elements are connected to form a long serial shift register, the so-called scan path, by using multiplexors and a mode (test/ normal) control signal, as shown in </a:t>
            </a:r>
            <a:r>
              <a:rPr kumimoji="0" lang="en-US" b="0" i="0" u="none" strike="noStrike" kern="0" cap="none" spc="0" normalizeH="0" baseline="0" noProof="0" dirty="0" err="1">
                <a:ln>
                  <a:noFill/>
                </a:ln>
                <a:solidFill>
                  <a:srgbClr val="000000"/>
                </a:solidFill>
                <a:effectLst/>
                <a:uLnTx/>
                <a:uFillTx/>
                <a:latin typeface="Arial"/>
                <a:ea typeface="+mn-ea"/>
                <a:cs typeface="+mn-cs"/>
              </a:rPr>
              <a:t>Fig.In</a:t>
            </a:r>
            <a:r>
              <a:rPr kumimoji="0" lang="en-US" b="0" i="0" u="none" strike="noStrike" kern="0" cap="none" spc="0" normalizeH="0" baseline="0" noProof="0" dirty="0">
                <a:ln>
                  <a:noFill/>
                </a:ln>
                <a:solidFill>
                  <a:srgbClr val="000000"/>
                </a:solidFill>
                <a:effectLst/>
                <a:uLnTx/>
                <a:uFillTx/>
                <a:latin typeface="Arial"/>
                <a:ea typeface="+mn-ea"/>
                <a:cs typeface="+mn-cs"/>
              </a:rPr>
              <a:t> the test mode, the scan-in signal is clocked into the scan path, and the output </a:t>
            </a:r>
            <a:r>
              <a:rPr kumimoji="0" lang="en-US" b="0" i="0" u="none" strike="noStrike" kern="0" cap="none" spc="0" normalizeH="0" baseline="0" noProof="0" dirty="0" err="1">
                <a:ln>
                  <a:noFill/>
                </a:ln>
                <a:solidFill>
                  <a:srgbClr val="000000"/>
                </a:solidFill>
                <a:effectLst/>
                <a:uLnTx/>
                <a:uFillTx/>
                <a:latin typeface="Arial"/>
                <a:ea typeface="+mn-ea"/>
                <a:cs typeface="+mn-cs"/>
              </a:rPr>
              <a:t>ofthe</a:t>
            </a:r>
            <a:r>
              <a:rPr kumimoji="0" lang="en-US" b="0" i="0" u="none" strike="noStrike" kern="0" cap="none" spc="0" normalizeH="0" baseline="0" noProof="0" dirty="0">
                <a:ln>
                  <a:noFill/>
                </a:ln>
                <a:solidFill>
                  <a:srgbClr val="000000"/>
                </a:solidFill>
                <a:effectLst/>
                <a:uLnTx/>
                <a:uFillTx/>
                <a:latin typeface="Arial"/>
                <a:ea typeface="+mn-ea"/>
                <a:cs typeface="+mn-cs"/>
              </a:rPr>
              <a:t> last stage latch is scanned out.</a:t>
            </a:r>
          </a:p>
          <a:p>
            <a:r>
              <a:rPr lang="en-US" sz="1800" dirty="0">
                <a:latin typeface="Arial" panose="020B0604020202020204" pitchFamily="34" charset="0"/>
                <a:cs typeface="Arial" panose="020B0604020202020204" pitchFamily="34" charset="0"/>
              </a:rPr>
              <a:t>In the normal mode, the scan-in path is disabled and the circuit functions as a sequential circuit.</a:t>
            </a:r>
          </a:p>
          <a:p>
            <a:endParaRPr lang="en-IN" dirty="0"/>
          </a:p>
        </p:txBody>
      </p:sp>
      <p:sp>
        <p:nvSpPr>
          <p:cNvPr id="4" name="Footer Placeholder 3">
            <a:extLst>
              <a:ext uri="{FF2B5EF4-FFF2-40B4-BE49-F238E27FC236}">
                <a16:creationId xmlns:a16="http://schemas.microsoft.com/office/drawing/2014/main" id="{54F575E6-8549-48D6-8E77-7B73B4FE72FE}"/>
              </a:ext>
            </a:extLst>
          </p:cNvPr>
          <p:cNvSpPr>
            <a:spLocks noGrp="1"/>
          </p:cNvSpPr>
          <p:nvPr>
            <p:ph type="ftr" sz="quarter" idx="11"/>
          </p:nvPr>
        </p:nvSpPr>
        <p:spPr>
          <a:xfrm>
            <a:off x="1777430" y="6041204"/>
            <a:ext cx="8431782" cy="459729"/>
          </a:xfrm>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2907834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9BD230D-0708-4782-93C2-6421485EDE4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61D891-B378-477A-B79E-0DF141A3FB8A}"/>
              </a:ext>
            </a:extLst>
          </p:cNvPr>
          <p:cNvSpPr>
            <a:spLocks noGrp="1"/>
          </p:cNvSpPr>
          <p:nvPr>
            <p:ph type="title"/>
          </p:nvPr>
        </p:nvSpPr>
        <p:spPr>
          <a:xfrm>
            <a:off x="649224" y="645106"/>
            <a:ext cx="6574536" cy="1259894"/>
          </a:xfrm>
        </p:spPr>
        <p:txBody>
          <a:bodyPr>
            <a:normAutofit/>
          </a:bodyPr>
          <a:lstStyle/>
          <a:p>
            <a:r>
              <a:rPr lang="en-IN" dirty="0"/>
              <a:t>Continue…</a:t>
            </a:r>
          </a:p>
        </p:txBody>
      </p:sp>
      <p:sp>
        <p:nvSpPr>
          <p:cNvPr id="12" name="Rectangle 11">
            <a:extLst>
              <a:ext uri="{FF2B5EF4-FFF2-40B4-BE49-F238E27FC236}">
                <a16:creationId xmlns:a16="http://schemas.microsoft.com/office/drawing/2014/main" id="{D630D25A-547E-4D17-B65E-FA2B8889318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E24586CF-961B-4658-AE42-322437EF9504}"/>
              </a:ext>
            </a:extLst>
          </p:cNvPr>
          <p:cNvSpPr>
            <a:spLocks noGrp="1"/>
          </p:cNvSpPr>
          <p:nvPr>
            <p:ph idx="1"/>
          </p:nvPr>
        </p:nvSpPr>
        <p:spPr>
          <a:xfrm>
            <a:off x="365761" y="1345915"/>
            <a:ext cx="7844783" cy="5221585"/>
          </a:xfrm>
        </p:spPr>
        <p:txBody>
          <a:bodyPr>
            <a:normAutofit/>
          </a:bodyPr>
          <a:lstStyle/>
          <a:p>
            <a:pPr marL="342900" marR="0" lvl="0" indent="-342900" algn="l"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sz="1800" b="0" i="0" u="none" strike="noStrike" kern="0" cap="none" spc="0" normalizeH="0" baseline="0" noProof="0" dirty="0">
                <a:ln>
                  <a:noFill/>
                </a:ln>
                <a:solidFill>
                  <a:srgbClr val="000000"/>
                </a:solidFill>
                <a:effectLst/>
                <a:uLnTx/>
                <a:uFillTx/>
                <a:latin typeface="Arial"/>
                <a:ea typeface="+mn-ea"/>
                <a:cs typeface="+mn-cs"/>
              </a:rPr>
              <a:t>The testing sequence is as follows:</a:t>
            </a:r>
          </a:p>
          <a:p>
            <a:pPr marL="342900" marR="0" lvl="0" indent="-342900" algn="just"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sz="1800" b="0" i="0" u="none" strike="noStrike" kern="0" cap="none" spc="0" normalizeH="0" baseline="0" noProof="0" dirty="0">
                <a:ln>
                  <a:noFill/>
                </a:ln>
                <a:solidFill>
                  <a:srgbClr val="000000"/>
                </a:solidFill>
                <a:effectLst/>
                <a:uLnTx/>
                <a:uFillTx/>
                <a:latin typeface="Arial"/>
                <a:ea typeface="+mn-ea"/>
                <a:cs typeface="+mn-cs"/>
              </a:rPr>
              <a:t>Step 1: Set the mode to </a:t>
            </a:r>
            <a:r>
              <a:rPr kumimoji="0" lang="en-US" sz="1800" b="0" i="1" u="none" strike="noStrike" kern="0" cap="none" spc="0" normalizeH="0" baseline="0" noProof="0" dirty="0">
                <a:ln>
                  <a:noFill/>
                </a:ln>
                <a:solidFill>
                  <a:srgbClr val="000000"/>
                </a:solidFill>
                <a:effectLst/>
                <a:uLnTx/>
                <a:uFillTx/>
                <a:latin typeface="Arial"/>
                <a:ea typeface="+mn-ea"/>
                <a:cs typeface="+mn-cs"/>
              </a:rPr>
              <a:t>test and, let latches accept data from scan-in input,</a:t>
            </a:r>
          </a:p>
          <a:p>
            <a:pPr marL="342900" marR="0" lvl="0" indent="-342900" algn="just"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sz="1800" b="0" i="0" u="none" strike="noStrike" kern="0" cap="none" spc="0" normalizeH="0" baseline="0" noProof="0" dirty="0">
                <a:ln>
                  <a:noFill/>
                </a:ln>
                <a:solidFill>
                  <a:srgbClr val="000000"/>
                </a:solidFill>
                <a:effectLst/>
                <a:uLnTx/>
                <a:uFillTx/>
                <a:latin typeface="Arial"/>
                <a:ea typeface="+mn-ea"/>
                <a:cs typeface="+mn-cs"/>
              </a:rPr>
              <a:t>Step 2: Verify the scan path by shifting in and out the test data.</a:t>
            </a:r>
          </a:p>
          <a:p>
            <a:pPr marL="342900" marR="0" lvl="0" indent="-342900" algn="just"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sz="1800" b="0" i="0" u="none" strike="noStrike" kern="0" cap="none" spc="0" normalizeH="0" baseline="0" noProof="0" dirty="0">
                <a:ln>
                  <a:noFill/>
                </a:ln>
                <a:solidFill>
                  <a:srgbClr val="000000"/>
                </a:solidFill>
                <a:effectLst/>
                <a:uLnTx/>
                <a:uFillTx/>
                <a:latin typeface="Arial"/>
                <a:ea typeface="+mn-ea"/>
                <a:cs typeface="+mn-cs"/>
              </a:rPr>
              <a:t>Step 3: Scan in (shift in) the desired state vector into the shift register.</a:t>
            </a:r>
          </a:p>
          <a:p>
            <a:pPr marL="342900" marR="0" lvl="0" indent="-342900" algn="just"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sz="1800" b="0" i="0" u="none" strike="noStrike" kern="0" cap="none" spc="0" normalizeH="0" baseline="0" noProof="0" dirty="0">
                <a:ln>
                  <a:noFill/>
                </a:ln>
                <a:solidFill>
                  <a:srgbClr val="000000"/>
                </a:solidFill>
                <a:effectLst/>
                <a:uLnTx/>
                <a:uFillTx/>
                <a:latin typeface="Arial"/>
                <a:ea typeface="+mn-ea"/>
                <a:cs typeface="+mn-cs"/>
              </a:rPr>
              <a:t>Step 4: Apply the test pattern to the primary input pins. I : ;</a:t>
            </a:r>
          </a:p>
          <a:p>
            <a:pPr marL="342900" marR="0" lvl="0" indent="-342900" algn="just"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sz="1800" b="0" i="0" u="none" strike="noStrike" kern="0" cap="none" spc="0" normalizeH="0" baseline="0" noProof="0" dirty="0">
                <a:ln>
                  <a:noFill/>
                </a:ln>
                <a:solidFill>
                  <a:srgbClr val="000000"/>
                </a:solidFill>
                <a:effectLst/>
                <a:uLnTx/>
                <a:uFillTx/>
                <a:latin typeface="Arial"/>
                <a:ea typeface="+mn-ea"/>
                <a:cs typeface="+mn-cs"/>
              </a:rPr>
              <a:t>Step 5: Set the mode to </a:t>
            </a:r>
            <a:r>
              <a:rPr kumimoji="0" lang="en-US" sz="1800" b="0" i="1" u="none" strike="noStrike" kern="0" cap="none" spc="0" normalizeH="0" baseline="0" noProof="0" dirty="0">
                <a:ln>
                  <a:noFill/>
                </a:ln>
                <a:solidFill>
                  <a:srgbClr val="000000"/>
                </a:solidFill>
                <a:effectLst/>
                <a:uLnTx/>
                <a:uFillTx/>
                <a:latin typeface="Arial"/>
                <a:ea typeface="+mn-ea"/>
                <a:cs typeface="+mn-cs"/>
              </a:rPr>
              <a:t>normal and observe the primary outputs of the circuit after </a:t>
            </a:r>
            <a:r>
              <a:rPr kumimoji="0" lang="en-US" sz="1800" b="0" i="0" u="none" strike="noStrike" kern="0" cap="none" spc="0" normalizeH="0" baseline="0" noProof="0" dirty="0">
                <a:ln>
                  <a:noFill/>
                </a:ln>
                <a:solidFill>
                  <a:srgbClr val="000000"/>
                </a:solidFill>
                <a:effectLst/>
                <a:uLnTx/>
                <a:uFillTx/>
                <a:latin typeface="Arial"/>
                <a:ea typeface="+mn-ea"/>
                <a:cs typeface="+mn-cs"/>
              </a:rPr>
              <a:t>sufficient time for propagation.,</a:t>
            </a:r>
          </a:p>
          <a:p>
            <a:pPr marL="342900" marR="0" lvl="0" indent="-342900" algn="just"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sz="1800" b="0" i="0" u="none" strike="noStrike" kern="0" cap="none" spc="0" normalizeH="0" baseline="0" noProof="0" dirty="0">
                <a:ln>
                  <a:noFill/>
                </a:ln>
                <a:solidFill>
                  <a:srgbClr val="000000"/>
                </a:solidFill>
                <a:effectLst/>
                <a:uLnTx/>
                <a:uFillTx/>
                <a:latin typeface="Arial"/>
                <a:ea typeface="+mn-ea"/>
                <a:cs typeface="+mn-cs"/>
              </a:rPr>
              <a:t>Step 6: Assert the circuit clock, for one machine cycle to capture the outputs of the combinational logic into the registers.</a:t>
            </a:r>
          </a:p>
          <a:p>
            <a:pPr marL="342900" marR="0" lvl="0" indent="-342900" algn="just"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sz="1800" b="0" i="0" u="none" strike="noStrike" kern="0" cap="none" spc="0" normalizeH="0" baseline="0" noProof="0" dirty="0">
                <a:ln>
                  <a:noFill/>
                </a:ln>
                <a:solidFill>
                  <a:srgbClr val="000000"/>
                </a:solidFill>
                <a:effectLst/>
                <a:uLnTx/>
                <a:uFillTx/>
                <a:latin typeface="Arial"/>
                <a:ea typeface="+mn-ea"/>
                <a:cs typeface="+mn-cs"/>
              </a:rPr>
              <a:t>Step 7: Return to </a:t>
            </a:r>
            <a:r>
              <a:rPr kumimoji="0" lang="en-US" sz="1800" b="0" i="1" u="none" strike="noStrike" kern="0" cap="none" spc="0" normalizeH="0" baseline="0" noProof="0" dirty="0">
                <a:ln>
                  <a:noFill/>
                </a:ln>
                <a:solidFill>
                  <a:srgbClr val="000000"/>
                </a:solidFill>
                <a:effectLst/>
                <a:uLnTx/>
                <a:uFillTx/>
                <a:latin typeface="Arial"/>
                <a:ea typeface="+mn-ea"/>
                <a:cs typeface="+mn-cs"/>
              </a:rPr>
              <a:t>test mode; scan out the contents of the registers, and at the same time </a:t>
            </a:r>
            <a:r>
              <a:rPr kumimoji="0" lang="en-US" sz="1800" b="0" i="0" u="none" strike="noStrike" kern="0" cap="none" spc="0" normalizeH="0" baseline="0" noProof="0" dirty="0">
                <a:ln>
                  <a:noFill/>
                </a:ln>
                <a:solidFill>
                  <a:srgbClr val="000000"/>
                </a:solidFill>
                <a:effectLst/>
                <a:uLnTx/>
                <a:uFillTx/>
                <a:latin typeface="Arial"/>
                <a:ea typeface="+mn-ea"/>
                <a:cs typeface="+mn-cs"/>
              </a:rPr>
              <a:t>scan in the next pattern.</a:t>
            </a:r>
          </a:p>
          <a:p>
            <a:pPr marL="342900" marR="0" lvl="0" indent="-342900" algn="just" defTabSz="914400" rtl="0" eaLnBrk="1" fontAlgn="base" latinLnBrk="0" hangingPunct="1">
              <a:lnSpc>
                <a:spcPct val="100000"/>
              </a:lnSpc>
              <a:spcBef>
                <a:spcPct val="20000"/>
              </a:spcBef>
              <a:spcAft>
                <a:spcPct val="0"/>
              </a:spcAft>
              <a:buClr>
                <a:srgbClr val="CCCC99"/>
              </a:buClr>
              <a:buSzPct val="70000"/>
              <a:buFont typeface="Wingdings" pitchFamily="2" charset="2"/>
              <a:buChar char="l"/>
              <a:tabLst/>
              <a:defRPr/>
            </a:pPr>
            <a:r>
              <a:rPr kumimoji="0" lang="en-US" sz="1800" b="0" i="0" u="none" strike="noStrike" kern="0" cap="none" spc="0" normalizeH="0" baseline="0" noProof="0" dirty="0">
                <a:ln>
                  <a:noFill/>
                </a:ln>
                <a:solidFill>
                  <a:srgbClr val="000000"/>
                </a:solidFill>
                <a:effectLst/>
                <a:uLnTx/>
                <a:uFillTx/>
                <a:latin typeface="Arial"/>
                <a:ea typeface="+mn-ea"/>
                <a:cs typeface="+mn-cs"/>
              </a:rPr>
              <a:t>Step 8: Repeat steps 3-7 until all test patterns are applied.</a:t>
            </a:r>
          </a:p>
          <a:p>
            <a:endParaRPr lang="en-IN" dirty="0"/>
          </a:p>
        </p:txBody>
      </p:sp>
      <p:pic>
        <p:nvPicPr>
          <p:cNvPr id="5" name="Picture 3">
            <a:extLst>
              <a:ext uri="{FF2B5EF4-FFF2-40B4-BE49-F238E27FC236}">
                <a16:creationId xmlns:a16="http://schemas.microsoft.com/office/drawing/2014/main" id="{199949BC-FD6A-4216-8B3D-90A8D8E0681A}"/>
              </a:ext>
            </a:extLst>
          </p:cNvPr>
          <p:cNvPicPr>
            <a:picLocks noChangeAspect="1" noChangeArrowheads="1"/>
          </p:cNvPicPr>
          <p:nvPr/>
        </p:nvPicPr>
        <p:blipFill>
          <a:blip r:embed="rId2"/>
          <a:stretch>
            <a:fillRect/>
          </a:stretch>
        </p:blipFill>
        <p:spPr bwMode="auto">
          <a:xfrm>
            <a:off x="8210545" y="1246219"/>
            <a:ext cx="3981455" cy="4537270"/>
          </a:xfrm>
          <a:prstGeom prst="rect">
            <a:avLst/>
          </a:prstGeom>
          <a:noFill/>
        </p:spPr>
      </p:pic>
      <p:sp>
        <p:nvSpPr>
          <p:cNvPr id="14" name="Freeform 11">
            <a:extLst>
              <a:ext uri="{FF2B5EF4-FFF2-40B4-BE49-F238E27FC236}">
                <a16:creationId xmlns:a16="http://schemas.microsoft.com/office/drawing/2014/main" id="{F39C56FC-EE04-4CE0-8DE2-736A201E9A3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6099C4F9-2688-4A25-BDD7-54B7B7D4728F}"/>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2531529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BFE3618-8387-4153-870E-99EA1B9784F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1D314D-222A-49BD-BB00-C0A06FE5EFF5}"/>
              </a:ext>
            </a:extLst>
          </p:cNvPr>
          <p:cNvSpPr>
            <a:spLocks noGrp="1"/>
          </p:cNvSpPr>
          <p:nvPr>
            <p:ph type="title"/>
          </p:nvPr>
        </p:nvSpPr>
        <p:spPr>
          <a:xfrm>
            <a:off x="649224" y="645106"/>
            <a:ext cx="3650279" cy="1259894"/>
          </a:xfrm>
        </p:spPr>
        <p:txBody>
          <a:bodyPr>
            <a:normAutofit/>
          </a:bodyPr>
          <a:lstStyle/>
          <a:p>
            <a:r>
              <a:rPr lang="en-IN" dirty="0"/>
              <a:t>Boundary Scan design </a:t>
            </a:r>
          </a:p>
        </p:txBody>
      </p:sp>
      <p:sp>
        <p:nvSpPr>
          <p:cNvPr id="14" name="Rectangle 13">
            <a:extLst>
              <a:ext uri="{FF2B5EF4-FFF2-40B4-BE49-F238E27FC236}">
                <a16:creationId xmlns:a16="http://schemas.microsoft.com/office/drawing/2014/main" id="{BB99A42A-5548-4BB8-9115-A05821C360A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FDBB9A58-F36A-49C4-A199-89C9AC2C9D59}"/>
              </a:ext>
            </a:extLst>
          </p:cNvPr>
          <p:cNvSpPr>
            <a:spLocks noGrp="1"/>
          </p:cNvSpPr>
          <p:nvPr>
            <p:ph idx="1"/>
          </p:nvPr>
        </p:nvSpPr>
        <p:spPr>
          <a:xfrm>
            <a:off x="649224" y="1905000"/>
            <a:ext cx="5446776" cy="3987853"/>
          </a:xfrm>
        </p:spPr>
        <p:txBody>
          <a:bodyPr>
            <a:normAutofit/>
          </a:bodyPr>
          <a:lstStyle/>
          <a:p>
            <a:pPr algn="just">
              <a:lnSpc>
                <a:spcPct val="90000"/>
              </a:lnSpc>
            </a:pPr>
            <a:r>
              <a:rPr lang="en-IN" dirty="0">
                <a:latin typeface="Arial" panose="020B0604020202020204" pitchFamily="34" charset="0"/>
                <a:cs typeface="Arial" panose="020B0604020202020204" pitchFamily="34" charset="0"/>
              </a:rPr>
              <a:t>Testing circuit board was facilitated by the abundant availability of test points. </a:t>
            </a:r>
          </a:p>
          <a:p>
            <a:pPr algn="just">
              <a:lnSpc>
                <a:spcPct val="90000"/>
              </a:lnSpc>
            </a:pPr>
            <a:r>
              <a:rPr lang="en-IN" dirty="0">
                <a:latin typeface="Arial" panose="020B0604020202020204" pitchFamily="34" charset="0"/>
                <a:cs typeface="Arial" panose="020B0604020202020204" pitchFamily="34" charset="0"/>
              </a:rPr>
              <a:t>The through hole mounting approach made every pin of a package observable at the back side of the board .</a:t>
            </a:r>
          </a:p>
          <a:p>
            <a:pPr algn="just">
              <a:lnSpc>
                <a:spcPct val="90000"/>
              </a:lnSpc>
            </a:pPr>
            <a:r>
              <a:rPr lang="en-IN" dirty="0">
                <a:latin typeface="Arial" panose="020B0604020202020204" pitchFamily="34" charset="0"/>
                <a:cs typeface="Arial" panose="020B0604020202020204" pitchFamily="34" charset="0"/>
              </a:rPr>
              <a:t>For test it was sufficient to lower the board onto a set of test probes and apply and observe the signals of interest. </a:t>
            </a:r>
          </a:p>
          <a:p>
            <a:pPr algn="just">
              <a:lnSpc>
                <a:spcPct val="90000"/>
              </a:lnSpc>
            </a:pPr>
            <a:r>
              <a:rPr lang="en-IN" dirty="0">
                <a:latin typeface="Arial" panose="020B0604020202020204" pitchFamily="34" charset="0"/>
                <a:cs typeface="Arial" panose="020B0604020202020204" pitchFamily="34" charset="0"/>
              </a:rPr>
              <a:t>Controllability and observability are not as readily available anymore because the number of probe points is dramatically reduced. This problem can be addressed by extending the  Scan –based approach to the component and board levels. </a:t>
            </a:r>
          </a:p>
          <a:p>
            <a:pPr>
              <a:lnSpc>
                <a:spcPct val="90000"/>
              </a:lnSpc>
            </a:pPr>
            <a:endParaRPr lang="en-IN" sz="14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9413421A-5BCA-47A1-808F-2D92D79DDCAE}"/>
              </a:ext>
            </a:extLst>
          </p:cNvPr>
          <p:cNvPicPr>
            <a:picLocks noChangeAspect="1"/>
          </p:cNvPicPr>
          <p:nvPr/>
        </p:nvPicPr>
        <p:blipFill>
          <a:blip r:embed="rId2"/>
          <a:stretch>
            <a:fillRect/>
          </a:stretch>
        </p:blipFill>
        <p:spPr>
          <a:xfrm>
            <a:off x="6485700" y="1693951"/>
            <a:ext cx="5601534" cy="3556974"/>
          </a:xfrm>
          <a:prstGeom prst="rect">
            <a:avLst/>
          </a:prstGeom>
        </p:spPr>
      </p:pic>
      <p:sp>
        <p:nvSpPr>
          <p:cNvPr id="16" name="Freeform 11">
            <a:extLst>
              <a:ext uri="{FF2B5EF4-FFF2-40B4-BE49-F238E27FC236}">
                <a16:creationId xmlns:a16="http://schemas.microsoft.com/office/drawing/2014/main" id="{D49441E5-946F-46B3-BDD2-BAD0885323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C78431E1-3615-4725-AFD2-F8420330AC3B}"/>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1586134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07C9-4747-467B-BE51-BD86CED42647}"/>
              </a:ext>
            </a:extLst>
          </p:cNvPr>
          <p:cNvSpPr>
            <a:spLocks noGrp="1"/>
          </p:cNvSpPr>
          <p:nvPr>
            <p:ph type="title"/>
          </p:nvPr>
        </p:nvSpPr>
        <p:spPr>
          <a:xfrm>
            <a:off x="1797979" y="624110"/>
            <a:ext cx="9706634" cy="1280890"/>
          </a:xfrm>
        </p:spPr>
        <p:txBody>
          <a:bodyPr/>
          <a:lstStyle/>
          <a:p>
            <a:r>
              <a:rPr lang="en-IN" dirty="0"/>
              <a:t>Continue….</a:t>
            </a:r>
          </a:p>
        </p:txBody>
      </p:sp>
      <p:sp>
        <p:nvSpPr>
          <p:cNvPr id="3" name="Content Placeholder 2">
            <a:extLst>
              <a:ext uri="{FF2B5EF4-FFF2-40B4-BE49-F238E27FC236}">
                <a16:creationId xmlns:a16="http://schemas.microsoft.com/office/drawing/2014/main" id="{49F62C24-72D7-4FB4-8FBA-276B299A79D6}"/>
              </a:ext>
            </a:extLst>
          </p:cNvPr>
          <p:cNvSpPr>
            <a:spLocks noGrp="1"/>
          </p:cNvSpPr>
          <p:nvPr>
            <p:ph idx="1"/>
          </p:nvPr>
        </p:nvSpPr>
        <p:spPr>
          <a:xfrm>
            <a:off x="1232899" y="1438382"/>
            <a:ext cx="10271713" cy="4472840"/>
          </a:xfrm>
        </p:spPr>
        <p:txBody>
          <a:bodyPr/>
          <a:lstStyle/>
          <a:p>
            <a:pPr algn="just"/>
            <a:r>
              <a:rPr lang="en-IN" dirty="0">
                <a:latin typeface="Arial" panose="020B0604020202020204" pitchFamily="34" charset="0"/>
                <a:cs typeface="Arial" panose="020B0604020202020204" pitchFamily="34" charset="0"/>
              </a:rPr>
              <a:t>The resulting approach is called boundary scan and  has been standardized to ensure compatibility between vendors. </a:t>
            </a:r>
          </a:p>
          <a:p>
            <a:pPr algn="just"/>
            <a:r>
              <a:rPr lang="en-IN" dirty="0">
                <a:latin typeface="Arial" panose="020B0604020202020204" pitchFamily="34" charset="0"/>
                <a:cs typeface="Arial" panose="020B0604020202020204" pitchFamily="34" charset="0"/>
              </a:rPr>
              <a:t>In essence it connects the input-output pins of the components on a board into a serial scan chain.</a:t>
            </a:r>
          </a:p>
          <a:p>
            <a:pPr algn="just"/>
            <a:r>
              <a:rPr lang="en-IN" dirty="0">
                <a:latin typeface="Arial" panose="020B0604020202020204" pitchFamily="34" charset="0"/>
                <a:cs typeface="Arial" panose="020B0604020202020204" pitchFamily="34" charset="0"/>
              </a:rPr>
              <a:t>During normal operation the boundary scan pads act as normal input output devices. </a:t>
            </a:r>
          </a:p>
          <a:p>
            <a:pPr algn="just"/>
            <a:r>
              <a:rPr lang="en-IN" dirty="0">
                <a:latin typeface="Arial" panose="020B0604020202020204" pitchFamily="34" charset="0"/>
                <a:cs typeface="Arial" panose="020B0604020202020204" pitchFamily="34" charset="0"/>
              </a:rPr>
              <a:t>In test mode vectors can be scanned in and out of the pads providing controllability and observability at the boundary of components. </a:t>
            </a:r>
          </a:p>
        </p:txBody>
      </p:sp>
      <p:sp>
        <p:nvSpPr>
          <p:cNvPr id="4" name="Footer Placeholder 3">
            <a:extLst>
              <a:ext uri="{FF2B5EF4-FFF2-40B4-BE49-F238E27FC236}">
                <a16:creationId xmlns:a16="http://schemas.microsoft.com/office/drawing/2014/main" id="{6646BD17-5EBF-4583-8332-56CCDDBF9AC8}"/>
              </a:ext>
            </a:extLst>
          </p:cNvPr>
          <p:cNvSpPr>
            <a:spLocks noGrp="1"/>
          </p:cNvSpPr>
          <p:nvPr>
            <p:ph type="ftr" sz="quarter" idx="11"/>
          </p:nvPr>
        </p:nvSpPr>
        <p:spPr>
          <a:xfrm>
            <a:off x="1232900" y="6135808"/>
            <a:ext cx="8976312" cy="388282"/>
          </a:xfrm>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4153210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419E28B-721B-4D0D-A1D3-78EAC57253A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86F934-8015-422C-A361-D9D0A6CD0AFA}"/>
              </a:ext>
            </a:extLst>
          </p:cNvPr>
          <p:cNvSpPr>
            <a:spLocks noGrp="1"/>
          </p:cNvSpPr>
          <p:nvPr>
            <p:ph type="title"/>
          </p:nvPr>
        </p:nvSpPr>
        <p:spPr>
          <a:xfrm>
            <a:off x="649224" y="645106"/>
            <a:ext cx="5122652" cy="1259894"/>
          </a:xfrm>
        </p:spPr>
        <p:txBody>
          <a:bodyPr>
            <a:normAutofit/>
          </a:bodyPr>
          <a:lstStyle/>
          <a:p>
            <a:r>
              <a:rPr kumimoji="0" lang="en-US" i="0" u="none" strike="noStrike" kern="0" cap="none" spc="0" normalizeH="0" baseline="0" noProof="0" dirty="0">
                <a:ln>
                  <a:noFill/>
                </a:ln>
                <a:effectLst/>
                <a:uLnTx/>
                <a:uFillTx/>
                <a:latin typeface="Arial" panose="020B0604020202020204" pitchFamily="34" charset="0"/>
                <a:cs typeface="Arial" panose="020B0604020202020204" pitchFamily="34" charset="0"/>
              </a:rPr>
              <a:t>Built-In Self Test (BIST) Techniques</a:t>
            </a:r>
            <a:endParaRPr lang="en-IN" dirty="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359E45B9-0D24-465E-84AD-FEDBA836B56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649D373E-D364-45FB-AF02-26B839632AE4}"/>
              </a:ext>
            </a:extLst>
          </p:cNvPr>
          <p:cNvSpPr>
            <a:spLocks noGrp="1"/>
          </p:cNvSpPr>
          <p:nvPr>
            <p:ph idx="1"/>
          </p:nvPr>
        </p:nvSpPr>
        <p:spPr>
          <a:xfrm>
            <a:off x="502920" y="1905000"/>
            <a:ext cx="5268957" cy="3987853"/>
          </a:xfrm>
        </p:spPr>
        <p:txBody>
          <a:bodyPr>
            <a:normAutofit/>
          </a:bodyPr>
          <a:lstStyle/>
          <a:p>
            <a:pPr marL="342900" marR="0" lvl="0" indent="-342900"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In built-in self test (BIST) d sign, parts of the circuit are used to test the circuit itself.</a:t>
            </a:r>
          </a:p>
          <a:p>
            <a:pPr marL="342900" marR="0" lvl="0" indent="-342900"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endParaRPr kumimoji="0" lang="en-US" b="0" i="0" u="none" strike="noStrike" kern="0" cap="none" spc="0" normalizeH="0" baseline="0" noProof="0" dirty="0">
              <a:ln>
                <a:noFill/>
              </a:ln>
              <a:effectLst/>
              <a:uLnTx/>
              <a:uFillTx/>
              <a:latin typeface="Arial"/>
              <a:ea typeface="+mn-ea"/>
              <a:cs typeface="+mn-cs"/>
            </a:endParaRPr>
          </a:p>
          <a:p>
            <a:pPr marL="342900" marR="0" lvl="0" indent="-342900"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Online BIST is used to perform the test under normal operation, whereas off-line BIST </a:t>
            </a:r>
            <a:r>
              <a:rPr kumimoji="0" lang="en-US" b="0" i="0" u="none" strike="noStrike" kern="0" cap="none" spc="0" normalizeH="0" baseline="0" noProof="0" dirty="0" err="1">
                <a:ln>
                  <a:noFill/>
                </a:ln>
                <a:effectLst/>
                <a:uLnTx/>
                <a:uFillTx/>
                <a:latin typeface="Arial"/>
                <a:ea typeface="+mn-ea"/>
                <a:cs typeface="+mn-cs"/>
              </a:rPr>
              <a:t>isused</a:t>
            </a:r>
            <a:r>
              <a:rPr kumimoji="0" lang="en-US" b="0" i="0" u="none" strike="noStrike" kern="0" cap="none" spc="0" normalizeH="0" baseline="0" noProof="0" dirty="0">
                <a:ln>
                  <a:noFill/>
                </a:ln>
                <a:effectLst/>
                <a:uLnTx/>
                <a:uFillTx/>
                <a:latin typeface="Arial"/>
                <a:ea typeface="+mn-ea"/>
                <a:cs typeface="+mn-cs"/>
              </a:rPr>
              <a:t> to perform the test off-line.</a:t>
            </a:r>
          </a:p>
          <a:p>
            <a:pPr marL="342900" marR="0" lvl="0" indent="-342900"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endParaRPr kumimoji="0" lang="en-US" b="0" i="0" u="none" strike="noStrike" kern="0" cap="none" spc="0" normalizeH="0" baseline="0" noProof="0" dirty="0">
              <a:ln>
                <a:noFill/>
              </a:ln>
              <a:effectLst/>
              <a:uLnTx/>
              <a:uFillTx/>
              <a:latin typeface="Arial"/>
              <a:ea typeface="+mn-ea"/>
              <a:cs typeface="+mn-cs"/>
            </a:endParaRPr>
          </a:p>
          <a:p>
            <a:pPr marL="342900" marR="0" lvl="0" indent="-342900"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The essential circuit modules required for BIST include:</a:t>
            </a:r>
          </a:p>
          <a:p>
            <a:pPr marL="342900" marR="0" lvl="0" indent="-342900"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r>
              <a:rPr kumimoji="0" lang="sv-SE" b="0" i="0" u="none" strike="noStrike" kern="0" cap="none" spc="0" normalizeH="0" baseline="0" noProof="0" dirty="0">
                <a:ln>
                  <a:noFill/>
                </a:ln>
                <a:effectLst/>
                <a:uLnTx/>
                <a:uFillTx/>
                <a:latin typeface="Arial"/>
                <a:ea typeface="+mn-ea"/>
                <a:cs typeface="+mn-cs"/>
              </a:rPr>
              <a:t>* Pseudo random pattern generator (PRPG)</a:t>
            </a:r>
          </a:p>
          <a:p>
            <a:pPr marL="342900" marR="0" lvl="0" indent="-342900"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 Output response analyzer (ORA)</a:t>
            </a:r>
          </a:p>
          <a:p>
            <a:pPr marL="342900" marR="0" lvl="0" indent="-342900"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endParaRPr kumimoji="0" lang="en-US" b="0" i="0" u="none" strike="noStrike" kern="0" cap="none" spc="0" normalizeH="0" baseline="0" noProof="0" dirty="0">
              <a:ln>
                <a:noFill/>
              </a:ln>
              <a:effectLst/>
              <a:uLnTx/>
              <a:uFillTx/>
              <a:latin typeface="Arial"/>
              <a:ea typeface="+mn-ea"/>
              <a:cs typeface="+mn-cs"/>
            </a:endParaRPr>
          </a:p>
          <a:p>
            <a:pPr marL="342900" marR="0" lvl="0" indent="-342900" defTabSz="914400" rtl="0" eaLnBrk="1" fontAlgn="base" latinLnBrk="0" hangingPunct="1">
              <a:lnSpc>
                <a:spcPct val="90000"/>
              </a:lnSpc>
              <a:spcBef>
                <a:spcPct val="20000"/>
              </a:spcBef>
              <a:spcAft>
                <a:spcPct val="0"/>
              </a:spcAft>
              <a:buClr>
                <a:srgbClr val="CCCC99"/>
              </a:buClr>
              <a:buSzPct val="70000"/>
              <a:buFont typeface="Wingdings" pitchFamily="2" charset="2"/>
              <a:buChar char="l"/>
              <a:tabLst/>
              <a:defRPr/>
            </a:pPr>
            <a:r>
              <a:rPr kumimoji="0" lang="en-US" b="0" i="0" u="none" strike="noStrike" kern="0" cap="none" spc="0" normalizeH="0" baseline="0" noProof="0" dirty="0">
                <a:ln>
                  <a:noFill/>
                </a:ln>
                <a:effectLst/>
                <a:uLnTx/>
                <a:uFillTx/>
                <a:latin typeface="Arial"/>
                <a:ea typeface="+mn-ea"/>
                <a:cs typeface="+mn-cs"/>
              </a:rPr>
              <a:t>The roles of these two modules are illustrated in Fig  </a:t>
            </a:r>
            <a:endParaRPr lang="en-IN" dirty="0"/>
          </a:p>
        </p:txBody>
      </p:sp>
      <p:pic>
        <p:nvPicPr>
          <p:cNvPr id="5" name="Picture 2">
            <a:extLst>
              <a:ext uri="{FF2B5EF4-FFF2-40B4-BE49-F238E27FC236}">
                <a16:creationId xmlns:a16="http://schemas.microsoft.com/office/drawing/2014/main" id="{60CD6ACF-BCF8-4B7A-A019-BD3A4B15ABAE}"/>
              </a:ext>
            </a:extLst>
          </p:cNvPr>
          <p:cNvPicPr>
            <a:picLocks noChangeAspect="1" noChangeArrowheads="1"/>
          </p:cNvPicPr>
          <p:nvPr/>
        </p:nvPicPr>
        <p:blipFill>
          <a:blip r:embed="rId2"/>
          <a:stretch>
            <a:fillRect/>
          </a:stretch>
        </p:blipFill>
        <p:spPr bwMode="auto">
          <a:xfrm>
            <a:off x="6420125" y="1491738"/>
            <a:ext cx="5451627" cy="3843396"/>
          </a:xfrm>
          <a:prstGeom prst="rect">
            <a:avLst/>
          </a:prstGeom>
          <a:noFill/>
        </p:spPr>
      </p:pic>
      <p:sp>
        <p:nvSpPr>
          <p:cNvPr id="14" name="Freeform 12">
            <a:extLst>
              <a:ext uri="{FF2B5EF4-FFF2-40B4-BE49-F238E27FC236}">
                <a16:creationId xmlns:a16="http://schemas.microsoft.com/office/drawing/2014/main" id="{1F36A2FB-17CD-4DA6-9D8A-BFD6ADF6A32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2229FA5F-748B-4F95-B79C-83F0501518E1}"/>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2957084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50C06-C9FC-47DD-B9A9-1B284D54DDE3}"/>
              </a:ext>
            </a:extLst>
          </p:cNvPr>
          <p:cNvSpPr>
            <a:spLocks noGrp="1"/>
          </p:cNvSpPr>
          <p:nvPr>
            <p:ph type="title"/>
          </p:nvPr>
        </p:nvSpPr>
        <p:spPr>
          <a:xfrm>
            <a:off x="1880171" y="624110"/>
            <a:ext cx="9624441" cy="1280890"/>
          </a:xfrm>
        </p:spPr>
        <p:txBody>
          <a:bodyPr/>
          <a:lstStyle/>
          <a:p>
            <a:r>
              <a:rPr lang="en-IN" dirty="0"/>
              <a:t>LFSR(Linear Feedback Shift Register)</a:t>
            </a:r>
          </a:p>
        </p:txBody>
      </p:sp>
      <p:pic>
        <p:nvPicPr>
          <p:cNvPr id="6" name="Content Placeholder 5" descr="A picture containing diagram&#10;&#10;Description automatically generated">
            <a:extLst>
              <a:ext uri="{FF2B5EF4-FFF2-40B4-BE49-F238E27FC236}">
                <a16:creationId xmlns:a16="http://schemas.microsoft.com/office/drawing/2014/main" id="{72FCBF9F-12AF-4A07-AF38-5B684D456DD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20007" y="1500188"/>
            <a:ext cx="6185423" cy="4411662"/>
          </a:xfrm>
        </p:spPr>
      </p:pic>
      <p:sp>
        <p:nvSpPr>
          <p:cNvPr id="4" name="Footer Placeholder 3">
            <a:extLst>
              <a:ext uri="{FF2B5EF4-FFF2-40B4-BE49-F238E27FC236}">
                <a16:creationId xmlns:a16="http://schemas.microsoft.com/office/drawing/2014/main" id="{DDEAF7FB-741B-4DA5-8583-89337F9C77B3}"/>
              </a:ext>
            </a:extLst>
          </p:cNvPr>
          <p:cNvSpPr>
            <a:spLocks noGrp="1"/>
          </p:cNvSpPr>
          <p:nvPr>
            <p:ph type="ftr" sz="quarter" idx="11"/>
          </p:nvPr>
        </p:nvSpPr>
        <p:spPr>
          <a:xfrm>
            <a:off x="1623318" y="6135808"/>
            <a:ext cx="8585894" cy="501298"/>
          </a:xfrm>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4231150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4641" y="624110"/>
            <a:ext cx="9939972" cy="1280890"/>
          </a:xfrm>
        </p:spPr>
        <p:txBody>
          <a:bodyPr/>
          <a:lstStyle/>
          <a:p>
            <a:endParaRPr lang="en-IN" dirty="0">
              <a:solidFill>
                <a:schemeClr val="tx1"/>
              </a:solidFill>
            </a:endParaRPr>
          </a:p>
        </p:txBody>
      </p:sp>
      <p:sp>
        <p:nvSpPr>
          <p:cNvPr id="3" name="Content Placeholder 2"/>
          <p:cNvSpPr>
            <a:spLocks noGrp="1"/>
          </p:cNvSpPr>
          <p:nvPr>
            <p:ph idx="1"/>
          </p:nvPr>
        </p:nvSpPr>
        <p:spPr>
          <a:xfrm>
            <a:off x="1564640" y="2133600"/>
            <a:ext cx="9939972" cy="3777622"/>
          </a:xfrm>
        </p:spPr>
        <p:txBody>
          <a:bodyPr/>
          <a:lstStyle/>
          <a:p>
            <a:endParaRPr lang="en-IN" dirty="0">
              <a:solidFill>
                <a:srgbClr val="FF0000"/>
              </a:solidFill>
            </a:endParaRPr>
          </a:p>
        </p:txBody>
      </p:sp>
      <p:sp>
        <p:nvSpPr>
          <p:cNvPr id="4" name="Rectangle 3"/>
          <p:cNvSpPr/>
          <p:nvPr/>
        </p:nvSpPr>
        <p:spPr>
          <a:xfrm>
            <a:off x="4285251" y="2967335"/>
            <a:ext cx="4999426" cy="1200329"/>
          </a:xfrm>
          <a:prstGeom prst="rect">
            <a:avLst/>
          </a:prstGeom>
          <a:noFill/>
          <a:scene3d>
            <a:camera prst="obliqueBottomLeft"/>
            <a:lightRig rig="threePt" dir="t"/>
          </a:scene3d>
        </p:spPr>
        <p:txBody>
          <a:bodyPr wrap="square" lIns="91440" tIns="45720" rIns="91440" bIns="45720">
            <a:spAutoFit/>
          </a:bodyPr>
          <a:lstStyle/>
          <a:p>
            <a:pPr algn="ctr"/>
            <a:r>
              <a:rPr lang="en-US" sz="7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p>
        </p:txBody>
      </p:sp>
      <p:sp>
        <p:nvSpPr>
          <p:cNvPr id="5" name="Footer Placeholder 4">
            <a:extLst>
              <a:ext uri="{FF2B5EF4-FFF2-40B4-BE49-F238E27FC236}">
                <a16:creationId xmlns:a16="http://schemas.microsoft.com/office/drawing/2014/main" id="{5CB9775A-DA40-435C-881E-2A72176C381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66058031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TotalTime>
  <Words>1855</Words>
  <Application>Microsoft Office PowerPoint</Application>
  <PresentationFormat>Widescreen</PresentationFormat>
  <Paragraphs>148</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Century Gothic</vt:lpstr>
      <vt:lpstr>Wingdings</vt:lpstr>
      <vt:lpstr>Wingdings 3</vt:lpstr>
      <vt:lpstr>Wisp</vt:lpstr>
      <vt:lpstr>Design for Testability</vt:lpstr>
      <vt:lpstr>Introduction</vt:lpstr>
      <vt:lpstr>Fault types and models</vt:lpstr>
      <vt:lpstr>Continued…..</vt:lpstr>
      <vt:lpstr>Continue…..</vt:lpstr>
      <vt:lpstr>Continue…..</vt:lpstr>
      <vt:lpstr>Continue….</vt:lpstr>
      <vt:lpstr>Continue….</vt:lpstr>
      <vt:lpstr>Controllability and Observability </vt:lpstr>
      <vt:lpstr>Continue…</vt:lpstr>
      <vt:lpstr>Ad Hoc Testable Design Techniques</vt:lpstr>
      <vt:lpstr>Continue….. </vt:lpstr>
      <vt:lpstr>Avoid Asynchronous Logic and Redundant Logic </vt:lpstr>
      <vt:lpstr>Scan based Technique</vt:lpstr>
      <vt:lpstr>Continue…</vt:lpstr>
      <vt:lpstr>Boundary Scan design </vt:lpstr>
      <vt:lpstr>Continue….</vt:lpstr>
      <vt:lpstr>Built-In Self Test (BIST) Techniques</vt:lpstr>
      <vt:lpstr>LFSR(Linear Feedback Shift Register)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for Testability</dc:title>
  <dc:creator>Dr. Rohit Lorenzo</dc:creator>
  <cp:lastModifiedBy>Rohit Lorenzo</cp:lastModifiedBy>
  <cp:revision>3</cp:revision>
  <cp:lastPrinted>2021-05-21T10:10:58Z</cp:lastPrinted>
  <dcterms:created xsi:type="dcterms:W3CDTF">2020-11-26T17:37:30Z</dcterms:created>
  <dcterms:modified xsi:type="dcterms:W3CDTF">2026-04-17T11:41:30Z</dcterms:modified>
</cp:coreProperties>
</file>