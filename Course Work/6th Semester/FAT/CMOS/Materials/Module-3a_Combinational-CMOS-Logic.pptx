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53"/>
  </p:notesMasterIdLst>
  <p:sldIdLst>
    <p:sldId id="256" r:id="rId2"/>
    <p:sldId id="295" r:id="rId3"/>
    <p:sldId id="300" r:id="rId4"/>
    <p:sldId id="298" r:id="rId5"/>
    <p:sldId id="301" r:id="rId6"/>
    <p:sldId id="304" r:id="rId7"/>
    <p:sldId id="306" r:id="rId8"/>
    <p:sldId id="308" r:id="rId9"/>
    <p:sldId id="312" r:id="rId10"/>
    <p:sldId id="314" r:id="rId11"/>
    <p:sldId id="316" r:id="rId12"/>
    <p:sldId id="318" r:id="rId13"/>
    <p:sldId id="320" r:id="rId14"/>
    <p:sldId id="322" r:id="rId15"/>
    <p:sldId id="324" r:id="rId16"/>
    <p:sldId id="325" r:id="rId17"/>
    <p:sldId id="327" r:id="rId18"/>
    <p:sldId id="329" r:id="rId19"/>
    <p:sldId id="332" r:id="rId20"/>
    <p:sldId id="334" r:id="rId21"/>
    <p:sldId id="336" r:id="rId22"/>
    <p:sldId id="338" r:id="rId23"/>
    <p:sldId id="340" r:id="rId24"/>
    <p:sldId id="342" r:id="rId25"/>
    <p:sldId id="344" r:id="rId26"/>
    <p:sldId id="346" r:id="rId27"/>
    <p:sldId id="348" r:id="rId28"/>
    <p:sldId id="350" r:id="rId29"/>
    <p:sldId id="352" r:id="rId30"/>
    <p:sldId id="354" r:id="rId31"/>
    <p:sldId id="355" r:id="rId32"/>
    <p:sldId id="359" r:id="rId33"/>
    <p:sldId id="361" r:id="rId34"/>
    <p:sldId id="363" r:id="rId35"/>
    <p:sldId id="365" r:id="rId36"/>
    <p:sldId id="369" r:id="rId37"/>
    <p:sldId id="373" r:id="rId38"/>
    <p:sldId id="375" r:id="rId39"/>
    <p:sldId id="377" r:id="rId40"/>
    <p:sldId id="381" r:id="rId41"/>
    <p:sldId id="379" r:id="rId42"/>
    <p:sldId id="385" r:id="rId43"/>
    <p:sldId id="387" r:id="rId44"/>
    <p:sldId id="389" r:id="rId45"/>
    <p:sldId id="391" r:id="rId46"/>
    <p:sldId id="393" r:id="rId47"/>
    <p:sldId id="395" r:id="rId48"/>
    <p:sldId id="397" r:id="rId49"/>
    <p:sldId id="399" r:id="rId50"/>
    <p:sldId id="401" r:id="rId51"/>
    <p:sldId id="270"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0-09-03T05:09:50.54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89 71,'0'-18,"0"0,-18 1,0-1,-35 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08-04-2021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08-04-2021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08-04-2021</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08-04-2021</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08-04-2021</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08-04-2021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08-04-2021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08-04-2021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08-04-2021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08-04-2021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08-04-2021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08-04-2021</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t>Combinational Logic Gates in CMOS</a:t>
            </a:r>
            <a:endParaRPr lang="en-IN" sz="3000" b="1" dirty="0"/>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AD63-250F-4106-8276-29E747C57D11}"/>
              </a:ext>
            </a:extLst>
          </p:cNvPr>
          <p:cNvSpPr>
            <a:spLocks noGrp="1"/>
          </p:cNvSpPr>
          <p:nvPr>
            <p:ph type="title"/>
          </p:nvPr>
        </p:nvSpPr>
        <p:spPr>
          <a:xfrm>
            <a:off x="1731523" y="624110"/>
            <a:ext cx="9773089" cy="1280890"/>
          </a:xfrm>
        </p:spPr>
        <p:txBody>
          <a:bodyPr/>
          <a:lstStyle/>
          <a:p>
            <a:r>
              <a:rPr lang="en-IN" sz="3200" b="1" dirty="0"/>
              <a:t>Introduction </a:t>
            </a:r>
            <a:br>
              <a:rPr lang="en-IN" b="1" dirty="0"/>
            </a:br>
            <a:endParaRPr lang="en-IN" dirty="0"/>
          </a:p>
        </p:txBody>
      </p:sp>
      <p:sp>
        <p:nvSpPr>
          <p:cNvPr id="3" name="Content Placeholder 2">
            <a:extLst>
              <a:ext uri="{FF2B5EF4-FFF2-40B4-BE49-F238E27FC236}">
                <a16:creationId xmlns:a16="http://schemas.microsoft.com/office/drawing/2014/main" id="{174D21A1-6D28-40B9-8BF9-8E90C7235AFC}"/>
              </a:ext>
            </a:extLst>
          </p:cNvPr>
          <p:cNvSpPr>
            <a:spLocks noGrp="1"/>
          </p:cNvSpPr>
          <p:nvPr>
            <p:ph idx="1"/>
          </p:nvPr>
        </p:nvSpPr>
        <p:spPr>
          <a:xfrm>
            <a:off x="661481" y="1167319"/>
            <a:ext cx="11304377" cy="4968489"/>
          </a:xfrm>
        </p:spPr>
        <p:txBody>
          <a:bodyPr>
            <a:noAutofit/>
          </a:bodyPr>
          <a:lstStyle/>
          <a:p>
            <a:r>
              <a:rPr lang="en-US" dirty="0">
                <a:latin typeface="Arial" pitchFamily="34" charset="0"/>
                <a:cs typeface="Arial" pitchFamily="34" charset="0"/>
              </a:rPr>
              <a:t>The focus is on combinational logic (or non-regenerative) circuits; this is, circuits that have the property that at any point in time, the output of the circuit is related to its current input signals. </a:t>
            </a:r>
          </a:p>
          <a:p>
            <a:pPr algn="just"/>
            <a:r>
              <a:rPr lang="en-US" dirty="0">
                <a:latin typeface="Arial" pitchFamily="34" charset="0"/>
                <a:cs typeface="Arial" pitchFamily="34" charset="0"/>
              </a:rPr>
              <a:t>This is in contrast to another class of circuits, known as sequential or regenerative, for which the output is not only a function of the current input data, but also of previous values of the input signals. This is accomplished by connecting one or more outputs intentionally back to some inputs. Consequently, the circuit “remembers” past events and has a sense of history.</a:t>
            </a:r>
          </a:p>
          <a:p>
            <a:pPr>
              <a:buNone/>
            </a:pPr>
            <a:endParaRPr lang="en-US"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5A073A6F-A66A-46CE-86B4-9A31ED569E3B}"/>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32769" name="Picture 1"/>
          <p:cNvPicPr>
            <a:picLocks noChangeAspect="1" noChangeArrowheads="1"/>
          </p:cNvPicPr>
          <p:nvPr/>
        </p:nvPicPr>
        <p:blipFill>
          <a:blip r:embed="rId2" cstate="print"/>
          <a:srcRect/>
          <a:stretch>
            <a:fillRect/>
          </a:stretch>
        </p:blipFill>
        <p:spPr bwMode="auto">
          <a:xfrm>
            <a:off x="1731523" y="4188929"/>
            <a:ext cx="8804748" cy="2479078"/>
          </a:xfrm>
          <a:prstGeom prst="rect">
            <a:avLst/>
          </a:prstGeom>
          <a:noFill/>
          <a:ln w="9525">
            <a:noFill/>
            <a:miter lim="800000"/>
            <a:headEnd/>
            <a:tailEnd/>
          </a:ln>
        </p:spPr>
      </p:pic>
    </p:spTree>
    <p:extLst>
      <p:ext uri="{BB962C8B-B14F-4D97-AF65-F5344CB8AC3E}">
        <p14:creationId xmlns:p14="http://schemas.microsoft.com/office/powerpoint/2010/main" val="2008867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C775-5C5E-44C6-AF37-8862644FEE86}"/>
              </a:ext>
            </a:extLst>
          </p:cNvPr>
          <p:cNvSpPr>
            <a:spLocks noGrp="1"/>
          </p:cNvSpPr>
          <p:nvPr>
            <p:ph type="title"/>
          </p:nvPr>
        </p:nvSpPr>
        <p:spPr>
          <a:xfrm>
            <a:off x="1624519" y="624110"/>
            <a:ext cx="9880094" cy="1280890"/>
          </a:xfrm>
        </p:spPr>
        <p:txBody>
          <a:bodyPr>
            <a:normAutofit/>
          </a:bodyPr>
          <a:lstStyle/>
          <a:p>
            <a:r>
              <a:rPr lang="en-US" sz="3200" b="1" dirty="0"/>
              <a:t>Static and Dynamic Logic Design</a:t>
            </a:r>
            <a:endParaRPr lang="en-IN" sz="3200" b="1"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A54FE58-DD1F-4476-A9A2-0D08E6F93900}"/>
              </a:ext>
            </a:extLst>
          </p:cNvPr>
          <p:cNvSpPr>
            <a:spLocks noGrp="1"/>
          </p:cNvSpPr>
          <p:nvPr>
            <p:ph type="ftr" sz="quarter" idx="11"/>
          </p:nvPr>
        </p:nvSpPr>
        <p:spPr>
          <a:xfrm>
            <a:off x="1879600" y="6139822"/>
            <a:ext cx="8329611" cy="361111"/>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7" name="Content Placeholder 6"/>
          <p:cNvSpPr>
            <a:spLocks noGrp="1"/>
          </p:cNvSpPr>
          <p:nvPr>
            <p:ph idx="1"/>
          </p:nvPr>
        </p:nvSpPr>
        <p:spPr>
          <a:xfrm>
            <a:off x="457200" y="1215957"/>
            <a:ext cx="11371006" cy="5359941"/>
          </a:xfrm>
        </p:spPr>
        <p:txBody>
          <a:bodyPr>
            <a:normAutofit/>
          </a:bodyPr>
          <a:lstStyle/>
          <a:p>
            <a:pPr algn="just">
              <a:spcBef>
                <a:spcPts val="0"/>
              </a:spcBef>
              <a:buNone/>
            </a:pPr>
            <a:endParaRPr lang="en-US" dirty="0">
              <a:latin typeface="Arial" pitchFamily="34" charset="0"/>
              <a:cs typeface="Arial" pitchFamily="34" charset="0"/>
            </a:endParaRPr>
          </a:p>
          <a:p>
            <a:pPr algn="just">
              <a:lnSpc>
                <a:spcPct val="150000"/>
              </a:lnSpc>
              <a:spcBef>
                <a:spcPts val="0"/>
              </a:spcBef>
              <a:buNone/>
            </a:pPr>
            <a:r>
              <a:rPr lang="en-US" b="1" u="sng" dirty="0">
                <a:latin typeface="Arial" pitchFamily="34" charset="0"/>
                <a:cs typeface="Arial" pitchFamily="34" charset="0"/>
              </a:rPr>
              <a:t>Static  Design </a:t>
            </a:r>
            <a:r>
              <a:rPr lang="en-US" dirty="0">
                <a:latin typeface="Arial" pitchFamily="34" charset="0"/>
                <a:cs typeface="Arial" pitchFamily="34" charset="0"/>
              </a:rPr>
              <a:t>- At every point of time each gate output is either connected</a:t>
            </a:r>
          </a:p>
          <a:p>
            <a:pPr algn="just">
              <a:lnSpc>
                <a:spcPct val="150000"/>
              </a:lnSpc>
              <a:spcBef>
                <a:spcPts val="0"/>
              </a:spcBef>
              <a:buNone/>
            </a:pPr>
            <a:r>
              <a:rPr lang="en-US" dirty="0">
                <a:latin typeface="Arial" pitchFamily="34" charset="0"/>
                <a:cs typeface="Arial" pitchFamily="34" charset="0"/>
              </a:rPr>
              <a:t> to V</a:t>
            </a:r>
            <a:r>
              <a:rPr lang="en-US" baseline="-25000" dirty="0">
                <a:latin typeface="Arial" pitchFamily="34" charset="0"/>
                <a:cs typeface="Arial" pitchFamily="34" charset="0"/>
              </a:rPr>
              <a:t>DD</a:t>
            </a:r>
            <a:r>
              <a:rPr lang="en-US" dirty="0">
                <a:latin typeface="Arial" pitchFamily="34" charset="0"/>
                <a:cs typeface="Arial" pitchFamily="34" charset="0"/>
              </a:rPr>
              <a:t> or V</a:t>
            </a:r>
            <a:r>
              <a:rPr lang="en-US" baseline="-25000" dirty="0">
                <a:latin typeface="Arial" pitchFamily="34" charset="0"/>
                <a:cs typeface="Arial" pitchFamily="34" charset="0"/>
              </a:rPr>
              <a:t>SS</a:t>
            </a:r>
            <a:r>
              <a:rPr lang="en-US" dirty="0">
                <a:latin typeface="Arial" pitchFamily="34" charset="0"/>
                <a:cs typeface="Arial" pitchFamily="34" charset="0"/>
              </a:rPr>
              <a:t> via a low resistance path. The static CMOS style is really an </a:t>
            </a:r>
          </a:p>
          <a:p>
            <a:pPr algn="just">
              <a:lnSpc>
                <a:spcPct val="150000"/>
              </a:lnSpc>
              <a:spcBef>
                <a:spcPts val="0"/>
              </a:spcBef>
              <a:buNone/>
            </a:pPr>
            <a:r>
              <a:rPr lang="en-US" dirty="0">
                <a:latin typeface="Arial" pitchFamily="34" charset="0"/>
                <a:cs typeface="Arial" pitchFamily="34" charset="0"/>
              </a:rPr>
              <a:t> extension of the static CMOS inverter to multiple inputs. </a:t>
            </a:r>
          </a:p>
          <a:p>
            <a:pPr>
              <a:buNone/>
            </a:pPr>
            <a:endParaRPr lang="en-US" b="1" u="sng" dirty="0">
              <a:latin typeface="Arial" pitchFamily="34" charset="0"/>
              <a:cs typeface="Arial" pitchFamily="34" charset="0"/>
            </a:endParaRPr>
          </a:p>
          <a:p>
            <a:pPr>
              <a:buNone/>
            </a:pPr>
            <a:r>
              <a:rPr lang="en-US" b="1" u="sng" dirty="0">
                <a:latin typeface="Arial" pitchFamily="34" charset="0"/>
                <a:cs typeface="Arial" pitchFamily="34" charset="0"/>
              </a:rPr>
              <a:t>Dynamic  Design</a:t>
            </a:r>
            <a:r>
              <a:rPr lang="en-US" b="1" dirty="0">
                <a:latin typeface="Arial" pitchFamily="34" charset="0"/>
                <a:cs typeface="Arial" pitchFamily="34" charset="0"/>
              </a:rPr>
              <a:t> </a:t>
            </a:r>
            <a:r>
              <a:rPr lang="en-US" dirty="0">
                <a:latin typeface="Arial" pitchFamily="34" charset="0"/>
                <a:cs typeface="Arial" pitchFamily="34" charset="0"/>
              </a:rPr>
              <a:t>- This relies on temporary storage of signal values</a:t>
            </a:r>
          </a:p>
          <a:p>
            <a:pPr>
              <a:buNone/>
            </a:pPr>
            <a:r>
              <a:rPr lang="en-US" dirty="0">
                <a:latin typeface="Arial" pitchFamily="34" charset="0"/>
                <a:cs typeface="Arial" pitchFamily="34" charset="0"/>
              </a:rPr>
              <a:t>on the capacitance of high-impedance circuit nodes.</a:t>
            </a:r>
          </a:p>
          <a:p>
            <a:pPr>
              <a:buNone/>
            </a:pPr>
            <a:endParaRPr lang="en-US" dirty="0">
              <a:latin typeface="Arial" pitchFamily="34" charset="0"/>
              <a:cs typeface="Arial" pitchFamily="34" charset="0"/>
            </a:endParaRPr>
          </a:p>
          <a:p>
            <a:pPr algn="just">
              <a:buNone/>
            </a:pPr>
            <a:r>
              <a:rPr lang="en-US" b="1" u="sng" dirty="0">
                <a:latin typeface="Arial" pitchFamily="34" charset="0"/>
                <a:cs typeface="Arial" pitchFamily="34" charset="0"/>
              </a:rPr>
              <a:t>Complementary CMOS </a:t>
            </a:r>
            <a:r>
              <a:rPr lang="en-US" dirty="0">
                <a:latin typeface="Arial" pitchFamily="34" charset="0"/>
                <a:cs typeface="Arial" pitchFamily="34" charset="0"/>
              </a:rPr>
              <a:t>- A static CMOS gate is a combination of two </a:t>
            </a:r>
          </a:p>
          <a:p>
            <a:pPr algn="just">
              <a:buNone/>
            </a:pPr>
            <a:r>
              <a:rPr lang="en-US" dirty="0">
                <a:latin typeface="Arial" pitchFamily="34" charset="0"/>
                <a:cs typeface="Arial" pitchFamily="34" charset="0"/>
              </a:rPr>
              <a:t>networks, called the pull-up network (PUN) and the pull-down network (PDN).</a:t>
            </a:r>
          </a:p>
          <a:p>
            <a:pPr algn="just">
              <a:buNone/>
            </a:pPr>
            <a:r>
              <a:rPr lang="en-US" dirty="0">
                <a:latin typeface="Arial" pitchFamily="34" charset="0"/>
                <a:cs typeface="Arial" pitchFamily="34" charset="0"/>
              </a:rPr>
              <a:t>The function of the PUN is to provide a connection between the output </a:t>
            </a:r>
          </a:p>
          <a:p>
            <a:pPr algn="just">
              <a:buNone/>
            </a:pPr>
            <a:r>
              <a:rPr lang="en-US" dirty="0">
                <a:latin typeface="Arial" pitchFamily="34" charset="0"/>
                <a:cs typeface="Arial" pitchFamily="34" charset="0"/>
              </a:rPr>
              <a:t>and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b="1" i="1" baseline="-25000" dirty="0">
                <a:latin typeface="Arial" pitchFamily="34" charset="0"/>
                <a:cs typeface="Arial" pitchFamily="34" charset="0"/>
              </a:rPr>
              <a:t> </a:t>
            </a:r>
            <a:r>
              <a:rPr lang="en-US" i="1" baseline="-25000" dirty="0">
                <a:latin typeface="Arial" pitchFamily="34" charset="0"/>
                <a:cs typeface="Arial" pitchFamily="34" charset="0"/>
              </a:rPr>
              <a:t> . </a:t>
            </a:r>
            <a:r>
              <a:rPr lang="en-US" dirty="0">
                <a:latin typeface="Arial" pitchFamily="34" charset="0"/>
                <a:cs typeface="Arial" pitchFamily="34" charset="0"/>
              </a:rPr>
              <a:t>Similarly, the function of the PDN is to connect the output to </a:t>
            </a:r>
            <a:r>
              <a:rPr lang="en-US" b="1" dirty="0">
                <a:latin typeface="Arial" pitchFamily="34" charset="0"/>
                <a:cs typeface="Arial" pitchFamily="34" charset="0"/>
              </a:rPr>
              <a:t>V</a:t>
            </a:r>
            <a:r>
              <a:rPr lang="en-US" b="1" baseline="-25000" dirty="0">
                <a:latin typeface="Arial" pitchFamily="34" charset="0"/>
                <a:cs typeface="Arial" pitchFamily="34" charset="0"/>
              </a:rPr>
              <a:t>SS</a:t>
            </a:r>
            <a:r>
              <a:rPr lang="en-US" i="1" dirty="0">
                <a:latin typeface="Arial" pitchFamily="34" charset="0"/>
                <a:cs typeface="Arial" pitchFamily="34" charset="0"/>
              </a:rPr>
              <a:t>.</a:t>
            </a:r>
            <a:endParaRPr lang="en-US" baseline="-25000" dirty="0">
              <a:latin typeface="Arial" pitchFamily="34" charset="0"/>
              <a:cs typeface="Arial" pitchFamily="34" charset="0"/>
            </a:endParaRPr>
          </a:p>
          <a:p>
            <a:pPr>
              <a:buNone/>
            </a:pPr>
            <a:endParaRPr lang="en-US" dirty="0">
              <a:latin typeface="Arial" pitchFamily="34" charset="0"/>
              <a:cs typeface="Arial" pitchFamily="34" charset="0"/>
            </a:endParaRPr>
          </a:p>
          <a:p>
            <a:pPr algn="just">
              <a:buNone/>
            </a:pPr>
            <a:endParaRPr lang="en-IN" dirty="0">
              <a:latin typeface="Arial" pitchFamily="34" charset="0"/>
              <a:cs typeface="Arial" pitchFamily="34" charset="0"/>
            </a:endParaRPr>
          </a:p>
          <a:p>
            <a:pPr marL="324000">
              <a:spcBef>
                <a:spcPts val="0"/>
              </a:spcBef>
              <a:buFont typeface="Wingdings" pitchFamily="2" charset="2"/>
              <a:buChar char="Ø"/>
            </a:pPr>
            <a:endParaRPr lang="en-IN" dirty="0">
              <a:latin typeface="Arial" pitchFamily="34" charset="0"/>
              <a:cs typeface="Arial" pitchFamily="34" charset="0"/>
            </a:endParaRPr>
          </a:p>
          <a:p>
            <a:pPr algn="just">
              <a:buNone/>
            </a:pPr>
            <a:endParaRPr lang="en-IN" dirty="0">
              <a:latin typeface="Arial" pitchFamily="34" charset="0"/>
              <a:cs typeface="Arial" pitchFamily="34" charset="0"/>
            </a:endParaRPr>
          </a:p>
          <a:p>
            <a:pPr algn="just">
              <a:spcBef>
                <a:spcPts val="0"/>
              </a:spcBef>
              <a:buNone/>
            </a:pPr>
            <a:endParaRPr lang="en-IN" dirty="0"/>
          </a:p>
          <a:p>
            <a:pPr algn="just">
              <a:spcBef>
                <a:spcPts val="0"/>
              </a:spcBef>
              <a:buNone/>
            </a:pPr>
            <a:endParaRPr lang="en-IN" b="1" u="sng" dirty="0">
              <a:latin typeface="Arial" pitchFamily="34" charset="0"/>
              <a:cs typeface="Arial" pitchFamily="34" charset="0"/>
            </a:endParaRPr>
          </a:p>
          <a:p>
            <a:pPr algn="just">
              <a:buNone/>
            </a:pPr>
            <a:endParaRPr lang="en-IN" b="1" u="sng" dirty="0">
              <a:latin typeface="Arial" pitchFamily="34" charset="0"/>
              <a:cs typeface="Arial" pitchFamily="34" charset="0"/>
            </a:endParaRPr>
          </a:p>
        </p:txBody>
      </p:sp>
      <p:pic>
        <p:nvPicPr>
          <p:cNvPr id="31745" name="Picture 1"/>
          <p:cNvPicPr>
            <a:picLocks noChangeAspect="1" noChangeArrowheads="1"/>
          </p:cNvPicPr>
          <p:nvPr/>
        </p:nvPicPr>
        <p:blipFill>
          <a:blip r:embed="rId2" cstate="print"/>
          <a:srcRect/>
          <a:stretch>
            <a:fillRect/>
          </a:stretch>
        </p:blipFill>
        <p:spPr bwMode="auto">
          <a:xfrm>
            <a:off x="8424254" y="1319876"/>
            <a:ext cx="3767746" cy="3889286"/>
          </a:xfrm>
          <a:prstGeom prst="rect">
            <a:avLst/>
          </a:prstGeom>
          <a:noFill/>
          <a:ln w="9525">
            <a:noFill/>
            <a:miter lim="800000"/>
            <a:headEnd/>
            <a:tailEnd/>
          </a:ln>
        </p:spPr>
      </p:pic>
    </p:spTree>
    <p:extLst>
      <p:ext uri="{BB962C8B-B14F-4D97-AF65-F5344CB8AC3E}">
        <p14:creationId xmlns:p14="http://schemas.microsoft.com/office/powerpoint/2010/main" val="2490775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B2A-0814-40DA-956A-43B537D77CBF}"/>
              </a:ext>
            </a:extLst>
          </p:cNvPr>
          <p:cNvSpPr>
            <a:spLocks noGrp="1"/>
          </p:cNvSpPr>
          <p:nvPr>
            <p:ph type="title"/>
          </p:nvPr>
        </p:nvSpPr>
        <p:spPr>
          <a:xfrm>
            <a:off x="1634247" y="624110"/>
            <a:ext cx="9870366" cy="1280890"/>
          </a:xfrm>
        </p:spPr>
        <p:txBody>
          <a:bodyPr>
            <a:normAutofit/>
          </a:bodyPr>
          <a:lstStyle/>
          <a:p>
            <a:r>
              <a:rPr lang="en-US" sz="3200" b="1" dirty="0"/>
              <a:t>Choice of Network </a:t>
            </a:r>
            <a:endParaRPr lang="en-IN" sz="3200"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20CCCE38-9501-41BD-A653-793344110BEB}"/>
              </a:ext>
            </a:extLst>
          </p:cNvPr>
          <p:cNvSpPr>
            <a:spLocks noGrp="1"/>
          </p:cNvSpPr>
          <p:nvPr>
            <p:ph idx="1"/>
          </p:nvPr>
        </p:nvSpPr>
        <p:spPr>
          <a:xfrm>
            <a:off x="389107" y="1536971"/>
            <a:ext cx="11449456" cy="4659548"/>
          </a:xfrm>
        </p:spPr>
        <p:txBody>
          <a:bodyPr>
            <a:normAutofit/>
          </a:bodyPr>
          <a:lstStyle/>
          <a:p>
            <a:pPr algn="just"/>
            <a:r>
              <a:rPr lang="en-US" dirty="0">
                <a:latin typeface="Arial" pitchFamily="34" charset="0"/>
                <a:cs typeface="Arial" pitchFamily="34" charset="0"/>
              </a:rPr>
              <a:t>The PDN is constructed using NMOS devices, while PMOS transistors are used in the PUN. The primary reason for this choice is that NMOS transistors produce “strong zeros,” and PMOS devices generate “strong ones”. To illustrate this, consider the examples shown in Figure.</a:t>
            </a:r>
            <a:endParaRPr lang="en-IN"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A239F841-0985-43E5-840F-30D2F9F41ABB}"/>
              </a:ext>
            </a:extLst>
          </p:cNvPr>
          <p:cNvSpPr>
            <a:spLocks noGrp="1"/>
          </p:cNvSpPr>
          <p:nvPr>
            <p:ph type="ftr" sz="quarter" idx="11"/>
          </p:nvPr>
        </p:nvSpPr>
        <p:spPr>
          <a:xfrm>
            <a:off x="1889760" y="6116320"/>
            <a:ext cx="8319451" cy="384613"/>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30721" name="Picture 1"/>
          <p:cNvPicPr>
            <a:picLocks noChangeAspect="1" noChangeArrowheads="1"/>
          </p:cNvPicPr>
          <p:nvPr/>
        </p:nvPicPr>
        <p:blipFill>
          <a:blip r:embed="rId2" cstate="print"/>
          <a:srcRect/>
          <a:stretch>
            <a:fillRect/>
          </a:stretch>
        </p:blipFill>
        <p:spPr bwMode="auto">
          <a:xfrm>
            <a:off x="1933777" y="2538919"/>
            <a:ext cx="7429500" cy="4319081"/>
          </a:xfrm>
          <a:prstGeom prst="rect">
            <a:avLst/>
          </a:prstGeom>
          <a:noFill/>
          <a:ln w="9525">
            <a:noFill/>
            <a:miter lim="800000"/>
            <a:headEnd/>
            <a:tailEnd/>
          </a:ln>
        </p:spPr>
      </p:pic>
    </p:spTree>
    <p:extLst>
      <p:ext uri="{BB962C8B-B14F-4D97-AF65-F5344CB8AC3E}">
        <p14:creationId xmlns:p14="http://schemas.microsoft.com/office/powerpoint/2010/main" val="2527312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4247" y="624110"/>
            <a:ext cx="9870365" cy="1280890"/>
          </a:xfrm>
        </p:spPr>
        <p:txBody>
          <a:bodyPr>
            <a:normAutofit/>
          </a:bodyPr>
          <a:lstStyle/>
          <a:p>
            <a:r>
              <a:rPr lang="en-IN" sz="3200" b="1" dirty="0"/>
              <a:t>Logic Rules</a:t>
            </a:r>
            <a:endParaRPr lang="en-US" sz="3200" b="1" dirty="0">
              <a:latin typeface="Arial" pitchFamily="34" charset="0"/>
              <a:cs typeface="Arial" pitchFamily="34" charset="0"/>
            </a:endParaRPr>
          </a:p>
        </p:txBody>
      </p:sp>
      <p:sp>
        <p:nvSpPr>
          <p:cNvPr id="3" name="Content Placeholder 2"/>
          <p:cNvSpPr>
            <a:spLocks noGrp="1"/>
          </p:cNvSpPr>
          <p:nvPr>
            <p:ph idx="1"/>
          </p:nvPr>
        </p:nvSpPr>
        <p:spPr>
          <a:xfrm>
            <a:off x="515566" y="1361873"/>
            <a:ext cx="11322995" cy="4747098"/>
          </a:xfrm>
        </p:spPr>
        <p:txBody>
          <a:bodyPr/>
          <a:lstStyle/>
          <a:p>
            <a:pPr algn="just"/>
            <a:r>
              <a:rPr lang="en-US" dirty="0">
                <a:latin typeface="Arial" pitchFamily="34" charset="0"/>
                <a:cs typeface="Arial" pitchFamily="34" charset="0"/>
              </a:rPr>
              <a:t>A set of construction rules can be derived to construct logic functions NMOS devices connected in series corresponds to an AND function. With all the inputs high, the series combination conducts and the value at one end of the chain is transferred to the other end.</a:t>
            </a:r>
          </a:p>
          <a:p>
            <a:r>
              <a:rPr lang="en-US" dirty="0">
                <a:latin typeface="Arial" pitchFamily="34" charset="0"/>
                <a:cs typeface="Arial" pitchFamily="34" charset="0"/>
              </a:rPr>
              <a:t>Similarly, NMOS transistors connected in parallel represent an OR function. A conducting path exists between the output and input terminal if at least one of the inputs is high.</a:t>
            </a:r>
          </a:p>
          <a:p>
            <a:r>
              <a:rPr lang="en-US" dirty="0">
                <a:latin typeface="Arial" pitchFamily="34" charset="0"/>
                <a:cs typeface="Arial" pitchFamily="34" charset="0"/>
              </a:rPr>
              <a:t>A series connection of PMOS conducts if both inputs are low, representing a NOR function                      , while PMOS transistors in parallel implement a NAND (                  ) .</a:t>
            </a:r>
            <a:endParaRPr lang="en-IN" dirty="0">
              <a:latin typeface="Arial" pitchFamily="34" charset="0"/>
              <a:cs typeface="Arial" pitchFamily="34" charset="0"/>
            </a:endParaRPr>
          </a:p>
          <a:p>
            <a:endParaRPr lang="en-IN" dirty="0">
              <a:latin typeface="Arial" pitchFamily="34" charset="0"/>
              <a:cs typeface="Arial" pitchFamily="34" charset="0"/>
            </a:endParaRPr>
          </a:p>
          <a:p>
            <a:r>
              <a:rPr lang="en-US" dirty="0">
                <a:latin typeface="Arial" pitchFamily="34" charset="0"/>
                <a:cs typeface="Arial" pitchFamily="34" charset="0"/>
              </a:rPr>
              <a:t>.</a:t>
            </a:r>
            <a:endParaRPr lang="en-IN"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29698" name="Picture 2"/>
          <p:cNvPicPr>
            <a:picLocks noChangeAspect="1" noChangeArrowheads="1"/>
          </p:cNvPicPr>
          <p:nvPr/>
        </p:nvPicPr>
        <p:blipFill>
          <a:blip r:embed="rId2" cstate="print"/>
          <a:srcRect/>
          <a:stretch>
            <a:fillRect/>
          </a:stretch>
        </p:blipFill>
        <p:spPr bwMode="auto">
          <a:xfrm>
            <a:off x="10142301" y="3020540"/>
            <a:ext cx="1249912" cy="325775"/>
          </a:xfrm>
          <a:prstGeom prst="rect">
            <a:avLst/>
          </a:prstGeom>
          <a:noFill/>
          <a:ln w="9525">
            <a:noFill/>
            <a:miter lim="800000"/>
            <a:headEnd/>
            <a:tailEnd/>
          </a:ln>
        </p:spPr>
      </p:pic>
      <p:pic>
        <p:nvPicPr>
          <p:cNvPr id="29699" name="Picture 3"/>
          <p:cNvPicPr>
            <a:picLocks noChangeAspect="1" noChangeArrowheads="1"/>
          </p:cNvPicPr>
          <p:nvPr/>
        </p:nvPicPr>
        <p:blipFill>
          <a:blip r:embed="rId3" cstate="print"/>
          <a:srcRect/>
          <a:stretch>
            <a:fillRect/>
          </a:stretch>
        </p:blipFill>
        <p:spPr bwMode="auto">
          <a:xfrm>
            <a:off x="6477711" y="3287543"/>
            <a:ext cx="1148774" cy="302671"/>
          </a:xfrm>
          <a:prstGeom prst="rect">
            <a:avLst/>
          </a:prstGeom>
          <a:noFill/>
          <a:ln w="9525">
            <a:noFill/>
            <a:miter lim="800000"/>
            <a:headEnd/>
            <a:tailEnd/>
          </a:ln>
        </p:spPr>
      </p:pic>
      <p:pic>
        <p:nvPicPr>
          <p:cNvPr id="29700" name="Picture 4"/>
          <p:cNvPicPr>
            <a:picLocks noChangeAspect="1" noChangeArrowheads="1"/>
          </p:cNvPicPr>
          <p:nvPr/>
        </p:nvPicPr>
        <p:blipFill>
          <a:blip r:embed="rId4" cstate="print"/>
          <a:srcRect/>
          <a:stretch>
            <a:fillRect/>
          </a:stretch>
        </p:blipFill>
        <p:spPr bwMode="auto">
          <a:xfrm>
            <a:off x="1488332" y="4098142"/>
            <a:ext cx="9181796" cy="1780404"/>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5337" y="624110"/>
            <a:ext cx="9909276" cy="1280890"/>
          </a:xfrm>
        </p:spPr>
        <p:txBody>
          <a:bodyPr>
            <a:normAutofit/>
          </a:bodyPr>
          <a:lstStyle/>
          <a:p>
            <a:r>
              <a:rPr lang="en-US" sz="3200" b="1" dirty="0"/>
              <a:t>Problem - Two-input NAND Gate</a:t>
            </a:r>
            <a:endParaRPr lang="en-US" sz="3200" dirty="0"/>
          </a:p>
        </p:txBody>
      </p:sp>
      <p:sp>
        <p:nvSpPr>
          <p:cNvPr id="4" name="Footer Placeholder 3"/>
          <p:cNvSpPr>
            <a:spLocks noGrp="1"/>
          </p:cNvSpPr>
          <p:nvPr>
            <p:ph type="ftr" sz="quarter" idx="11"/>
          </p:nvPr>
        </p:nvSpPr>
        <p:spPr>
          <a:xfrm>
            <a:off x="2003898" y="6135808"/>
            <a:ext cx="8205313" cy="365125"/>
          </a:xfrm>
        </p:spPr>
        <p:txBody>
          <a:bodyPr/>
          <a:lstStyle/>
          <a:p>
            <a:r>
              <a:rPr lang="en-IN" sz="1400" dirty="0">
                <a:solidFill>
                  <a:srgbClr val="C00000"/>
                </a:solidFill>
                <a:latin typeface="Arial" panose="020B0604020202020204" pitchFamily="34" charset="0"/>
                <a:cs typeface="Arial" panose="020B0604020202020204" pitchFamily="34" charset="0"/>
              </a:rPr>
              <a:t>Rohit Lorenzo, VIT-AP</a:t>
            </a:r>
          </a:p>
        </p:txBody>
      </p:sp>
      <p:pic>
        <p:nvPicPr>
          <p:cNvPr id="28673" name="Picture 1"/>
          <p:cNvPicPr>
            <a:picLocks noGrp="1" noChangeAspect="1" noChangeArrowheads="1"/>
          </p:cNvPicPr>
          <p:nvPr>
            <p:ph idx="1"/>
          </p:nvPr>
        </p:nvPicPr>
        <p:blipFill>
          <a:blip r:embed="rId2" cstate="print"/>
          <a:srcRect/>
          <a:stretch>
            <a:fillRect/>
          </a:stretch>
        </p:blipFill>
        <p:spPr bwMode="auto">
          <a:xfrm>
            <a:off x="1595335" y="1673321"/>
            <a:ext cx="8161507" cy="426536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t>Synthesis of complex CMOS Gate</a:t>
            </a:r>
            <a:endParaRPr lang="en-US" sz="3200"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pic>
        <p:nvPicPr>
          <p:cNvPr id="27649" name="Picture 1"/>
          <p:cNvPicPr>
            <a:picLocks noGrp="1" noChangeAspect="1" noChangeArrowheads="1"/>
          </p:cNvPicPr>
          <p:nvPr>
            <p:ph idx="1"/>
          </p:nvPr>
        </p:nvPicPr>
        <p:blipFill>
          <a:blip r:embed="rId2" cstate="print"/>
          <a:srcRect/>
          <a:stretch>
            <a:fillRect/>
          </a:stretch>
        </p:blipFill>
        <p:spPr bwMode="auto">
          <a:xfrm>
            <a:off x="642026" y="1344282"/>
            <a:ext cx="10933889" cy="5513718"/>
          </a:xfrm>
          <a:prstGeom prst="rect">
            <a:avLst/>
          </a:prstGeom>
          <a:noFill/>
          <a:ln w="9525">
            <a:noFill/>
            <a:miter lim="800000"/>
            <a:headEnd/>
            <a:tailEnd/>
          </a:ln>
        </p:spPr>
      </p:pic>
      <p:pic>
        <p:nvPicPr>
          <p:cNvPr id="27650" name="Picture 2"/>
          <p:cNvPicPr>
            <a:picLocks noChangeAspect="1" noChangeArrowheads="1"/>
          </p:cNvPicPr>
          <p:nvPr/>
        </p:nvPicPr>
        <p:blipFill>
          <a:blip r:embed="rId3" cstate="print"/>
          <a:srcRect/>
          <a:stretch>
            <a:fillRect/>
          </a:stretch>
        </p:blipFill>
        <p:spPr bwMode="auto">
          <a:xfrm>
            <a:off x="745889" y="1512549"/>
            <a:ext cx="2295525" cy="44767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t>Static Properties of Complementary CMOS Gates</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651753" y="1303505"/>
            <a:ext cx="11138170" cy="4854103"/>
          </a:xfrm>
        </p:spPr>
        <p:txBody>
          <a:bodyPr>
            <a:normAutofit/>
          </a:bodyPr>
          <a:lstStyle/>
          <a:p>
            <a:pPr algn="just">
              <a:spcBef>
                <a:spcPts val="0"/>
              </a:spcBef>
              <a:buNone/>
            </a:pPr>
            <a:r>
              <a:rPr lang="en-US" dirty="0">
                <a:latin typeface="Arial" pitchFamily="34" charset="0"/>
                <a:cs typeface="Arial" pitchFamily="34" charset="0"/>
              </a:rPr>
              <a:t>The analysis of the DC voltage transfer characteristics and the noise margins is more complicated then for</a:t>
            </a:r>
          </a:p>
          <a:p>
            <a:pPr algn="just">
              <a:spcBef>
                <a:spcPts val="0"/>
              </a:spcBef>
              <a:buNone/>
            </a:pPr>
            <a:r>
              <a:rPr lang="en-US" dirty="0">
                <a:latin typeface="Arial" pitchFamily="34" charset="0"/>
                <a:cs typeface="Arial" pitchFamily="34" charset="0"/>
              </a:rPr>
              <a:t> the inverter, as these parameters depend upon the data input patterns applied to gate. </a:t>
            </a:r>
          </a:p>
          <a:p>
            <a:pPr algn="just">
              <a:spcBef>
                <a:spcPts val="0"/>
              </a:spcBef>
              <a:buNone/>
            </a:pPr>
            <a:endParaRPr lang="en-US" b="1" dirty="0">
              <a:latin typeface="Arial" pitchFamily="34" charset="0"/>
              <a:cs typeface="Arial" pitchFamily="34" charset="0"/>
            </a:endParaRPr>
          </a:p>
          <a:p>
            <a:pPr algn="just">
              <a:spcBef>
                <a:spcPts val="0"/>
              </a:spcBef>
              <a:buNone/>
            </a:pPr>
            <a:r>
              <a:rPr lang="en-US" dirty="0">
                <a:latin typeface="Arial" pitchFamily="34" charset="0"/>
                <a:cs typeface="Arial" pitchFamily="34" charset="0"/>
              </a:rPr>
              <a:t>Consider three possible inputs in NAND gate. Consequently, voltage transfer curves display significant</a:t>
            </a:r>
          </a:p>
          <a:p>
            <a:pPr algn="just">
              <a:spcBef>
                <a:spcPts val="0"/>
              </a:spcBef>
              <a:buNone/>
            </a:pPr>
            <a:r>
              <a:rPr lang="en-US" dirty="0">
                <a:latin typeface="Arial" pitchFamily="34" charset="0"/>
                <a:cs typeface="Arial" pitchFamily="34" charset="0"/>
              </a:rPr>
              <a:t> differences . The large variation between case (a) and the others (b &amp; c) is explained by the fact. The VTC</a:t>
            </a:r>
          </a:p>
          <a:p>
            <a:pPr algn="just">
              <a:spcBef>
                <a:spcPts val="0"/>
              </a:spcBef>
              <a:buNone/>
            </a:pPr>
            <a:r>
              <a:rPr lang="en-US" dirty="0">
                <a:latin typeface="Arial" pitchFamily="34" charset="0"/>
                <a:cs typeface="Arial" pitchFamily="34" charset="0"/>
              </a:rPr>
              <a:t> is shifted to the left as a result of the weaker PUN. </a:t>
            </a:r>
          </a:p>
          <a:p>
            <a:pPr algn="just">
              <a:spcBef>
                <a:spcPts val="0"/>
              </a:spcBef>
              <a:buNone/>
            </a:pPr>
            <a:endParaRPr lang="en-US" dirty="0">
              <a:latin typeface="Arial" pitchFamily="34" charset="0"/>
              <a:cs typeface="Arial" pitchFamily="34" charset="0"/>
            </a:endParaRPr>
          </a:p>
          <a:p>
            <a:pPr>
              <a:spcBef>
                <a:spcPts val="0"/>
              </a:spcBef>
              <a:buNone/>
            </a:pPr>
            <a:r>
              <a:rPr lang="en-US" dirty="0">
                <a:latin typeface="Arial" pitchFamily="34" charset="0"/>
                <a:cs typeface="Arial" pitchFamily="34" charset="0"/>
              </a:rPr>
              <a:t>The difference between (b) and (c) results</a:t>
            </a:r>
          </a:p>
          <a:p>
            <a:pPr>
              <a:spcBef>
                <a:spcPts val="0"/>
              </a:spcBef>
              <a:buNone/>
            </a:pPr>
            <a:r>
              <a:rPr lang="en-US" dirty="0">
                <a:latin typeface="Arial" pitchFamily="34" charset="0"/>
                <a:cs typeface="Arial" pitchFamily="34" charset="0"/>
              </a:rPr>
              <a:t> mainly from the state of the internal node</a:t>
            </a:r>
          </a:p>
          <a:p>
            <a:pPr>
              <a:spcBef>
                <a:spcPts val="0"/>
              </a:spcBef>
              <a:buNone/>
            </a:pPr>
            <a:r>
              <a:rPr lang="en-US" i="1" dirty="0" err="1">
                <a:latin typeface="Arial" pitchFamily="34" charset="0"/>
                <a:cs typeface="Arial" pitchFamily="34" charset="0"/>
              </a:rPr>
              <a:t>int</a:t>
            </a:r>
            <a:r>
              <a:rPr lang="en-US" dirty="0">
                <a:latin typeface="Arial" pitchFamily="34" charset="0"/>
                <a:cs typeface="Arial" pitchFamily="34" charset="0"/>
              </a:rPr>
              <a:t> between the two NMOS  devices. </a:t>
            </a:r>
          </a:p>
          <a:p>
            <a:pPr>
              <a:spcBef>
                <a:spcPts val="0"/>
              </a:spcBef>
              <a:buNone/>
            </a:pPr>
            <a:endParaRPr lang="en-US" dirty="0">
              <a:latin typeface="Arial" pitchFamily="34" charset="0"/>
              <a:cs typeface="Arial" pitchFamily="34" charset="0"/>
            </a:endParaRPr>
          </a:p>
          <a:p>
            <a:pPr>
              <a:spcBef>
                <a:spcPts val="0"/>
              </a:spcBef>
              <a:buNone/>
            </a:pPr>
            <a:r>
              <a:rPr lang="en-US" dirty="0">
                <a:latin typeface="Arial" pitchFamily="34" charset="0"/>
                <a:cs typeface="Arial" pitchFamily="34" charset="0"/>
              </a:rPr>
              <a:t>The NMOS devices to turn on, both gate</a:t>
            </a:r>
          </a:p>
          <a:p>
            <a:pPr>
              <a:spcBef>
                <a:spcPts val="0"/>
              </a:spcBef>
              <a:buNone/>
            </a:pPr>
            <a:r>
              <a:rPr lang="en-US" dirty="0">
                <a:latin typeface="Arial" pitchFamily="34" charset="0"/>
                <a:cs typeface="Arial" pitchFamily="34" charset="0"/>
              </a:rPr>
              <a:t>-to source voltages must be above</a:t>
            </a:r>
            <a:r>
              <a:rPr lang="en-US" b="1" dirty="0">
                <a:latin typeface="Arial" pitchFamily="34" charset="0"/>
                <a:cs typeface="Arial" pitchFamily="34" charset="0"/>
              </a:rPr>
              <a:t> </a:t>
            </a:r>
            <a:r>
              <a:rPr lang="en-US" b="1" dirty="0" err="1">
                <a:latin typeface="Arial" pitchFamily="34" charset="0"/>
                <a:cs typeface="Arial" pitchFamily="34" charset="0"/>
              </a:rPr>
              <a:t>V</a:t>
            </a:r>
            <a:r>
              <a:rPr lang="en-US" b="1" baseline="-25000" dirty="0" err="1">
                <a:latin typeface="Arial" pitchFamily="34" charset="0"/>
                <a:cs typeface="Arial" pitchFamily="34" charset="0"/>
              </a:rPr>
              <a:t>Tn</a:t>
            </a:r>
            <a:r>
              <a:rPr lang="en-US" b="1" baseline="-25000" dirty="0">
                <a:latin typeface="Arial" pitchFamily="34" charset="0"/>
                <a:cs typeface="Arial" pitchFamily="34" charset="0"/>
              </a:rPr>
              <a:t> </a:t>
            </a:r>
          </a:p>
          <a:p>
            <a:pPr>
              <a:spcBef>
                <a:spcPts val="0"/>
              </a:spcBef>
              <a:buNone/>
            </a:pPr>
            <a:r>
              <a:rPr lang="en-US" b="1" dirty="0">
                <a:latin typeface="Arial" pitchFamily="34" charset="0"/>
                <a:cs typeface="Arial" pitchFamily="34" charset="0"/>
              </a:rPr>
              <a:t> </a:t>
            </a:r>
            <a:r>
              <a:rPr lang="en-US" dirty="0">
                <a:latin typeface="Arial" pitchFamily="34" charset="0"/>
                <a:cs typeface="Arial" pitchFamily="34" charset="0"/>
              </a:rPr>
              <a:t>with  </a:t>
            </a:r>
            <a:r>
              <a:rPr lang="en-US" b="1" dirty="0">
                <a:latin typeface="Arial" pitchFamily="34" charset="0"/>
                <a:cs typeface="Arial" pitchFamily="34" charset="0"/>
              </a:rPr>
              <a:t>V</a:t>
            </a:r>
            <a:r>
              <a:rPr lang="en-US" b="1" baseline="-25000" dirty="0">
                <a:latin typeface="Arial" pitchFamily="34" charset="0"/>
                <a:cs typeface="Arial" pitchFamily="34" charset="0"/>
              </a:rPr>
              <a:t>GS2 </a:t>
            </a:r>
            <a:r>
              <a:rPr lang="en-US" b="1" dirty="0">
                <a:latin typeface="Arial" pitchFamily="34" charset="0"/>
                <a:cs typeface="Arial" pitchFamily="34" charset="0"/>
              </a:rPr>
              <a:t> = V</a:t>
            </a:r>
            <a:r>
              <a:rPr lang="en-US" b="1" baseline="-25000" dirty="0">
                <a:latin typeface="Arial" pitchFamily="34" charset="0"/>
                <a:cs typeface="Arial" pitchFamily="34" charset="0"/>
              </a:rPr>
              <a:t>A</a:t>
            </a:r>
            <a:r>
              <a:rPr lang="en-US" b="1" dirty="0">
                <a:latin typeface="Arial" pitchFamily="34" charset="0"/>
                <a:cs typeface="Arial" pitchFamily="34" charset="0"/>
              </a:rPr>
              <a:t>-V</a:t>
            </a:r>
            <a:r>
              <a:rPr lang="en-US" b="1" baseline="-25000" dirty="0">
                <a:latin typeface="Arial" pitchFamily="34" charset="0"/>
                <a:cs typeface="Arial" pitchFamily="34" charset="0"/>
              </a:rPr>
              <a:t>DS1</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a:latin typeface="Arial" pitchFamily="34" charset="0"/>
                <a:cs typeface="Arial" pitchFamily="34" charset="0"/>
              </a:rPr>
              <a:t>V</a:t>
            </a:r>
            <a:r>
              <a:rPr lang="en-US" b="1" baseline="-25000" dirty="0">
                <a:latin typeface="Arial" pitchFamily="34" charset="0"/>
                <a:cs typeface="Arial" pitchFamily="34" charset="0"/>
              </a:rPr>
              <a:t>GS1</a:t>
            </a:r>
            <a:r>
              <a:rPr lang="en-US" b="1" dirty="0">
                <a:latin typeface="Arial" pitchFamily="34" charset="0"/>
                <a:cs typeface="Arial" pitchFamily="34" charset="0"/>
              </a:rPr>
              <a:t> = V</a:t>
            </a:r>
            <a:r>
              <a:rPr lang="en-US" b="1" baseline="-25000" dirty="0">
                <a:latin typeface="Arial" pitchFamily="34" charset="0"/>
                <a:cs typeface="Arial" pitchFamily="34" charset="0"/>
              </a:rPr>
              <a:t>B</a:t>
            </a:r>
          </a:p>
          <a:p>
            <a:pPr>
              <a:spcBef>
                <a:spcPts val="0"/>
              </a:spcBef>
              <a:buNone/>
            </a:pPr>
            <a:endParaRPr lang="en-US" b="1" baseline="-25000" dirty="0">
              <a:latin typeface="Arial" pitchFamily="34" charset="0"/>
              <a:cs typeface="Arial" pitchFamily="34" charset="0"/>
            </a:endParaRPr>
          </a:p>
          <a:p>
            <a:pPr>
              <a:spcBef>
                <a:spcPts val="0"/>
              </a:spcBef>
              <a:buNone/>
            </a:pPr>
            <a:r>
              <a:rPr lang="en-US" dirty="0">
                <a:latin typeface="Arial" pitchFamily="34" charset="0"/>
                <a:cs typeface="Arial" pitchFamily="34" charset="0"/>
              </a:rPr>
              <a:t>The threshold voltage of M</a:t>
            </a:r>
            <a:r>
              <a:rPr lang="en-US" baseline="-25000" dirty="0">
                <a:latin typeface="Arial" pitchFamily="34" charset="0"/>
                <a:cs typeface="Arial" pitchFamily="34" charset="0"/>
              </a:rPr>
              <a:t>2</a:t>
            </a:r>
            <a:r>
              <a:rPr lang="en-US" dirty="0">
                <a:latin typeface="Arial" pitchFamily="34" charset="0"/>
                <a:cs typeface="Arial" pitchFamily="34" charset="0"/>
              </a:rPr>
              <a:t> will be higher </a:t>
            </a:r>
          </a:p>
          <a:p>
            <a:pPr>
              <a:spcBef>
                <a:spcPts val="0"/>
              </a:spcBef>
              <a:buNone/>
            </a:pPr>
            <a:r>
              <a:rPr lang="en-US" dirty="0">
                <a:latin typeface="Arial" pitchFamily="34" charset="0"/>
                <a:cs typeface="Arial" pitchFamily="34" charset="0"/>
              </a:rPr>
              <a:t>than M</a:t>
            </a:r>
            <a:r>
              <a:rPr lang="en-US" baseline="-25000" dirty="0">
                <a:latin typeface="Arial" pitchFamily="34" charset="0"/>
                <a:cs typeface="Arial" pitchFamily="34" charset="0"/>
              </a:rPr>
              <a:t>1</a:t>
            </a:r>
            <a:r>
              <a:rPr lang="en-US" dirty="0">
                <a:latin typeface="Arial" pitchFamily="34" charset="0"/>
                <a:cs typeface="Arial" pitchFamily="34" charset="0"/>
              </a:rPr>
              <a:t> due to body effect . </a:t>
            </a:r>
          </a:p>
          <a:p>
            <a:pPr algn="just"/>
            <a:endParaRPr lang="en-US" b="1" dirty="0">
              <a:latin typeface="Arial" pitchFamily="34" charset="0"/>
              <a:cs typeface="Arial" pitchFamily="34" charset="0"/>
            </a:endParaRPr>
          </a:p>
          <a:p>
            <a:pPr algn="just">
              <a:buNone/>
            </a:pPr>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6625" name="Picture 1"/>
          <p:cNvPicPr>
            <a:picLocks noChangeAspect="1" noChangeArrowheads="1"/>
          </p:cNvPicPr>
          <p:nvPr/>
        </p:nvPicPr>
        <p:blipFill>
          <a:blip r:embed="rId2" cstate="print"/>
          <a:srcRect/>
          <a:stretch>
            <a:fillRect/>
          </a:stretch>
        </p:blipFill>
        <p:spPr bwMode="auto">
          <a:xfrm>
            <a:off x="5199434" y="2965023"/>
            <a:ext cx="6992566" cy="3892977"/>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a:t>
            </a:r>
          </a:p>
        </p:txBody>
      </p:sp>
      <p:sp>
        <p:nvSpPr>
          <p:cNvPr id="3" name="Content Placeholder 2"/>
          <p:cNvSpPr>
            <a:spLocks noGrp="1"/>
          </p:cNvSpPr>
          <p:nvPr>
            <p:ph idx="1"/>
          </p:nvPr>
        </p:nvSpPr>
        <p:spPr>
          <a:xfrm>
            <a:off x="642026" y="1225685"/>
            <a:ext cx="11225719" cy="4931924"/>
          </a:xfrm>
        </p:spPr>
        <p:txBody>
          <a:bodyPr>
            <a:normAutofit/>
          </a:bodyPr>
          <a:lstStyle/>
          <a:p>
            <a:pPr>
              <a:buNone/>
            </a:pPr>
            <a:r>
              <a:rPr lang="en-US" dirty="0">
                <a:latin typeface="Arial" pitchFamily="34" charset="0"/>
                <a:cs typeface="Arial" pitchFamily="34" charset="0"/>
              </a:rPr>
              <a:t>The threshold voltages of the two devices are given by</a:t>
            </a: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lgn="just">
              <a:spcBef>
                <a:spcPts val="0"/>
              </a:spcBef>
              <a:buNone/>
            </a:pPr>
            <a:r>
              <a:rPr lang="en-US" dirty="0">
                <a:latin typeface="Arial" pitchFamily="34" charset="0"/>
                <a:cs typeface="Arial" pitchFamily="34" charset="0"/>
              </a:rPr>
              <a:t>For case (b), M</a:t>
            </a:r>
            <a:r>
              <a:rPr lang="en-US" baseline="-25000" dirty="0">
                <a:latin typeface="Arial" pitchFamily="34" charset="0"/>
                <a:cs typeface="Arial" pitchFamily="34" charset="0"/>
              </a:rPr>
              <a:t>3</a:t>
            </a:r>
            <a:r>
              <a:rPr lang="en-US" dirty="0">
                <a:latin typeface="Arial" pitchFamily="34" charset="0"/>
                <a:cs typeface="Arial" pitchFamily="34" charset="0"/>
              </a:rPr>
              <a:t> is turned off, and the gate voltage of M</a:t>
            </a:r>
            <a:r>
              <a:rPr lang="en-US" baseline="-25000" dirty="0">
                <a:latin typeface="Arial" pitchFamily="34" charset="0"/>
                <a:cs typeface="Arial" pitchFamily="34" charset="0"/>
              </a:rPr>
              <a:t>2</a:t>
            </a:r>
            <a:r>
              <a:rPr lang="en-US" dirty="0">
                <a:latin typeface="Arial" pitchFamily="34" charset="0"/>
                <a:cs typeface="Arial" pitchFamily="34" charset="0"/>
              </a:rPr>
              <a:t> is set to V</a:t>
            </a:r>
            <a:r>
              <a:rPr lang="en-US" baseline="-25000" dirty="0">
                <a:latin typeface="Arial" pitchFamily="34" charset="0"/>
                <a:cs typeface="Arial" pitchFamily="34" charset="0"/>
              </a:rPr>
              <a:t>DD</a:t>
            </a:r>
            <a:r>
              <a:rPr lang="en-US" dirty="0">
                <a:latin typeface="Arial" pitchFamily="34" charset="0"/>
                <a:cs typeface="Arial" pitchFamily="34" charset="0"/>
              </a:rPr>
              <a:t>. Since the drive on M</a:t>
            </a:r>
            <a:r>
              <a:rPr lang="en-US" baseline="-25000" dirty="0">
                <a:latin typeface="Arial" pitchFamily="34" charset="0"/>
                <a:cs typeface="Arial" pitchFamily="34" charset="0"/>
              </a:rPr>
              <a:t>2</a:t>
            </a:r>
            <a:r>
              <a:rPr lang="en-US" dirty="0">
                <a:latin typeface="Arial" pitchFamily="34" charset="0"/>
                <a:cs typeface="Arial" pitchFamily="34" charset="0"/>
              </a:rPr>
              <a:t> is </a:t>
            </a:r>
            <a:r>
              <a:rPr lang="en-US" dirty="0" err="1">
                <a:latin typeface="Arial" pitchFamily="34" charset="0"/>
                <a:cs typeface="Arial" pitchFamily="34" charset="0"/>
              </a:rPr>
              <a:t>large,this</a:t>
            </a:r>
            <a:endParaRPr lang="en-US" dirty="0">
              <a:latin typeface="Arial" pitchFamily="34" charset="0"/>
              <a:cs typeface="Arial" pitchFamily="34" charset="0"/>
            </a:endParaRPr>
          </a:p>
          <a:p>
            <a:pPr algn="just">
              <a:spcBef>
                <a:spcPts val="0"/>
              </a:spcBef>
              <a:buNone/>
            </a:pPr>
            <a:r>
              <a:rPr lang="en-US" dirty="0">
                <a:latin typeface="Arial" pitchFamily="34" charset="0"/>
                <a:cs typeface="Arial" pitchFamily="34" charset="0"/>
              </a:rPr>
              <a:t> resistance is small and has only a small effect on the voltage transfer characteristics. In case (c), transistor </a:t>
            </a:r>
          </a:p>
          <a:p>
            <a:pPr algn="just">
              <a:spcBef>
                <a:spcPts val="0"/>
              </a:spcBef>
              <a:buNone/>
            </a:pPr>
            <a:r>
              <a:rPr lang="en-US" dirty="0">
                <a:latin typeface="Arial" pitchFamily="34" charset="0"/>
                <a:cs typeface="Arial" pitchFamily="34" charset="0"/>
              </a:rPr>
              <a:t>M1 acts as a resistor, causing body effect in M2. The overall impact is quite small as seen from the plot.</a:t>
            </a:r>
          </a:p>
          <a:p>
            <a:pPr algn="just">
              <a:spcBef>
                <a:spcPts val="0"/>
              </a:spcBef>
              <a:buNone/>
            </a:pPr>
            <a:endParaRPr lang="en-US" dirty="0">
              <a:latin typeface="Arial" pitchFamily="34" charset="0"/>
              <a:cs typeface="Arial" pitchFamily="34" charset="0"/>
            </a:endParaRPr>
          </a:p>
          <a:p>
            <a:pPr algn="just">
              <a:spcBef>
                <a:spcPts val="0"/>
              </a:spcBef>
              <a:buNone/>
            </a:pPr>
            <a:r>
              <a:rPr lang="en-US" dirty="0">
                <a:latin typeface="Arial" pitchFamily="34" charset="0"/>
                <a:cs typeface="Arial" pitchFamily="34" charset="0"/>
              </a:rPr>
              <a:t>There are some conclusion from above analysis </a:t>
            </a:r>
          </a:p>
          <a:p>
            <a:pPr algn="just">
              <a:spcBef>
                <a:spcPts val="0"/>
              </a:spcBef>
              <a:buFont typeface="Arial" pitchFamily="34" charset="0"/>
              <a:buChar char="•"/>
            </a:pPr>
            <a:r>
              <a:rPr lang="en-US" dirty="0">
                <a:latin typeface="Arial" pitchFamily="34" charset="0"/>
                <a:cs typeface="Arial" pitchFamily="34" charset="0"/>
              </a:rPr>
              <a:t>Propagation delay is input dependent.</a:t>
            </a:r>
          </a:p>
          <a:p>
            <a:pPr algn="just">
              <a:spcBef>
                <a:spcPts val="0"/>
              </a:spcBef>
              <a:buFont typeface="Arial" pitchFamily="34" charset="0"/>
              <a:buChar char="•"/>
            </a:pPr>
            <a:r>
              <a:rPr lang="en-US" dirty="0">
                <a:latin typeface="Arial" pitchFamily="34" charset="0"/>
                <a:cs typeface="Arial" pitchFamily="34" charset="0"/>
              </a:rPr>
              <a:t>Noise margin is input dependent </a:t>
            </a:r>
          </a:p>
          <a:p>
            <a:pPr algn="just">
              <a:spcBef>
                <a:spcPts val="0"/>
              </a:spcBef>
              <a:buFont typeface="Arial" pitchFamily="34" charset="0"/>
              <a:buChar char="•"/>
            </a:pPr>
            <a:r>
              <a:rPr lang="en-US" b="1" dirty="0">
                <a:latin typeface="Arial" pitchFamily="34" charset="0"/>
                <a:cs typeface="Arial" pitchFamily="34" charset="0"/>
              </a:rPr>
              <a:t>PUN</a:t>
            </a:r>
            <a:r>
              <a:rPr lang="en-US" dirty="0">
                <a:latin typeface="Arial" pitchFamily="34" charset="0"/>
                <a:cs typeface="Arial" pitchFamily="34" charset="0"/>
              </a:rPr>
              <a:t> is stronger  means </a:t>
            </a:r>
            <a:r>
              <a:rPr lang="en-US" b="1" dirty="0">
                <a:latin typeface="Arial" pitchFamily="34" charset="0"/>
                <a:cs typeface="Arial" pitchFamily="34" charset="0"/>
              </a:rPr>
              <a:t>NM</a:t>
            </a:r>
            <a:r>
              <a:rPr lang="en-US" b="1" baseline="-25000" dirty="0">
                <a:latin typeface="Arial" pitchFamily="34" charset="0"/>
                <a:cs typeface="Arial" pitchFamily="34" charset="0"/>
              </a:rPr>
              <a:t>H</a:t>
            </a:r>
            <a:r>
              <a:rPr lang="en-US" dirty="0">
                <a:latin typeface="Arial" pitchFamily="34" charset="0"/>
                <a:cs typeface="Arial" pitchFamily="34" charset="0"/>
              </a:rPr>
              <a:t> is stronger.</a:t>
            </a:r>
          </a:p>
          <a:p>
            <a:pPr algn="just">
              <a:spcBef>
                <a:spcPts val="0"/>
              </a:spcBef>
              <a:buFont typeface="Arial" pitchFamily="34" charset="0"/>
              <a:buChar char="•"/>
            </a:pPr>
            <a:r>
              <a:rPr lang="en-US" b="1" dirty="0">
                <a:latin typeface="Arial" pitchFamily="34" charset="0"/>
                <a:cs typeface="Arial" pitchFamily="34" charset="0"/>
              </a:rPr>
              <a:t>PDN</a:t>
            </a:r>
            <a:r>
              <a:rPr lang="en-US" dirty="0">
                <a:latin typeface="Arial" pitchFamily="34" charset="0"/>
                <a:cs typeface="Arial" pitchFamily="34" charset="0"/>
              </a:rPr>
              <a:t> is stronger means </a:t>
            </a:r>
            <a:r>
              <a:rPr lang="en-US" b="1" dirty="0">
                <a:latin typeface="Arial" pitchFamily="34" charset="0"/>
                <a:cs typeface="Arial" pitchFamily="34" charset="0"/>
              </a:rPr>
              <a:t>NM</a:t>
            </a:r>
            <a:r>
              <a:rPr lang="en-US" b="1" baseline="-25000" dirty="0">
                <a:latin typeface="Arial" pitchFamily="34" charset="0"/>
                <a:cs typeface="Arial" pitchFamily="34" charset="0"/>
              </a:rPr>
              <a:t>L</a:t>
            </a:r>
            <a:r>
              <a:rPr lang="en-US" dirty="0">
                <a:latin typeface="Arial" pitchFamily="34" charset="0"/>
                <a:cs typeface="Arial" pitchFamily="34" charset="0"/>
              </a:rPr>
              <a:t> is stronger.  </a:t>
            </a:r>
          </a:p>
          <a:p>
            <a:pPr>
              <a:buNone/>
            </a:pPr>
            <a:endParaRPr lang="en-US" b="1" dirty="0">
              <a:latin typeface="Arial" pitchFamily="34" charset="0"/>
              <a:cs typeface="Arial" pitchFamily="34" charset="0"/>
            </a:endParaRPr>
          </a:p>
          <a:p>
            <a:pPr>
              <a:buNone/>
            </a:pPr>
            <a:endParaRPr lang="en-US" b="1" dirty="0">
              <a:latin typeface="Arial" pitchFamily="34" charset="0"/>
              <a:cs typeface="Arial" pitchFamily="34" charset="0"/>
            </a:endParaRPr>
          </a:p>
          <a:p>
            <a:pPr>
              <a:buNone/>
            </a:pPr>
            <a:endParaRPr lang="en-IN" b="1" dirty="0">
              <a:latin typeface="Arial" pitchFamily="34" charset="0"/>
              <a:cs typeface="Arial" pitchFamily="34" charset="0"/>
            </a:endParaRPr>
          </a:p>
          <a:p>
            <a:pPr algn="just"/>
            <a:endParaRPr lang="en-IN" b="1" dirty="0">
              <a:latin typeface="Arial" pitchFamily="34" charset="0"/>
              <a:cs typeface="Arial" pitchFamily="34" charset="0"/>
            </a:endParaRPr>
          </a:p>
          <a:p>
            <a:pPr>
              <a:buNone/>
            </a:pPr>
            <a:endParaRPr lang="en-US" b="1"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4577" name="Picture 1"/>
          <p:cNvPicPr>
            <a:picLocks noChangeAspect="1" noChangeArrowheads="1"/>
          </p:cNvPicPr>
          <p:nvPr/>
        </p:nvPicPr>
        <p:blipFill>
          <a:blip r:embed="rId2" cstate="print"/>
          <a:srcRect/>
          <a:stretch>
            <a:fillRect/>
          </a:stretch>
        </p:blipFill>
        <p:spPr bwMode="auto">
          <a:xfrm>
            <a:off x="3297673" y="1709025"/>
            <a:ext cx="3910519" cy="89798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a:t>
            </a:r>
            <a:r>
              <a:rPr lang="en-US" sz="3000" b="1" dirty="0">
                <a:latin typeface="Arial" pitchFamily="34" charset="0"/>
                <a:cs typeface="Arial" pitchFamily="34" charset="0"/>
              </a:rPr>
              <a:t>Propagation Delay of Complementary CMOS Gates</a:t>
            </a:r>
            <a:endParaRPr lang="en-US" sz="3000" dirty="0">
              <a:latin typeface="Arial" pitchFamily="34" charset="0"/>
              <a:cs typeface="Arial" pitchFamily="34" charset="0"/>
            </a:endParaRPr>
          </a:p>
        </p:txBody>
      </p:sp>
      <p:sp>
        <p:nvSpPr>
          <p:cNvPr id="3" name="Content Placeholder 2"/>
          <p:cNvSpPr>
            <a:spLocks noGrp="1"/>
          </p:cNvSpPr>
          <p:nvPr>
            <p:ph idx="1"/>
          </p:nvPr>
        </p:nvSpPr>
        <p:spPr>
          <a:xfrm>
            <a:off x="330740" y="1371599"/>
            <a:ext cx="11673192" cy="4786009"/>
          </a:xfrm>
        </p:spPr>
        <p:txBody>
          <a:bodyPr>
            <a:normAutofit/>
          </a:bodyPr>
          <a:lstStyle/>
          <a:p>
            <a:pPr algn="just">
              <a:buNone/>
            </a:pPr>
            <a:r>
              <a:rPr lang="en-US" dirty="0">
                <a:latin typeface="Arial" pitchFamily="34" charset="0"/>
                <a:cs typeface="Arial" pitchFamily="34" charset="0"/>
              </a:rPr>
              <a:t>The delay can be computed by considering each transistor is modeled as a resistor in series with an ideal  switch. The logic is transformed into an equivalent RC network that includes the effect of internal node  capacitances. The propagation delay depends upon the input patterns.</a:t>
            </a:r>
          </a:p>
          <a:p>
            <a:pPr>
              <a:buNone/>
            </a:pPr>
            <a:r>
              <a:rPr lang="en-US" dirty="0">
                <a:latin typeface="Arial" pitchFamily="34" charset="0"/>
                <a:cs typeface="Arial" pitchFamily="34" charset="0"/>
              </a:rPr>
              <a:t>If both inputs are driven low, the two PMOS devices are ON. The delay in this case is </a:t>
            </a:r>
            <a:r>
              <a:rPr lang="en-US" b="1" dirty="0">
                <a:latin typeface="Arial" pitchFamily="34" charset="0"/>
                <a:cs typeface="Arial" pitchFamily="34" charset="0"/>
              </a:rPr>
              <a:t>0.69× (</a:t>
            </a:r>
            <a:r>
              <a:rPr lang="en-US" b="1" dirty="0" err="1">
                <a:latin typeface="Arial" pitchFamily="34" charset="0"/>
                <a:cs typeface="Arial" pitchFamily="34" charset="0"/>
              </a:rPr>
              <a:t>R</a:t>
            </a:r>
            <a:r>
              <a:rPr lang="en-US" b="1" baseline="-25000" dirty="0" err="1">
                <a:latin typeface="Arial" pitchFamily="34" charset="0"/>
                <a:cs typeface="Arial" pitchFamily="34" charset="0"/>
              </a:rPr>
              <a:t>p</a:t>
            </a:r>
            <a:r>
              <a:rPr lang="en-US" b="1" dirty="0">
                <a:latin typeface="Arial" pitchFamily="34" charset="0"/>
                <a:cs typeface="Arial" pitchFamily="34" charset="0"/>
              </a:rPr>
              <a:t>/2) ×C</a:t>
            </a:r>
            <a:r>
              <a:rPr lang="en-US" b="1" baseline="-25000" dirty="0">
                <a:latin typeface="Arial" pitchFamily="34" charset="0"/>
                <a:cs typeface="Arial" pitchFamily="34" charset="0"/>
              </a:rPr>
              <a:t>L</a:t>
            </a:r>
            <a:r>
              <a:rPr lang="en-US" dirty="0">
                <a:latin typeface="Arial" pitchFamily="34" charset="0"/>
                <a:cs typeface="Arial" pitchFamily="34" charset="0"/>
              </a:rPr>
              <a:t>, since the two resistors are in parallel. The worst case occur when only one device is ON - </a:t>
            </a:r>
            <a:r>
              <a:rPr lang="en-US" b="1" dirty="0">
                <a:latin typeface="Arial" pitchFamily="34" charset="0"/>
                <a:cs typeface="Arial" pitchFamily="34" charset="0"/>
              </a:rPr>
              <a:t>0.69× </a:t>
            </a:r>
            <a:r>
              <a:rPr lang="en-US" b="1" dirty="0" err="1">
                <a:latin typeface="Arial" pitchFamily="34" charset="0"/>
                <a:cs typeface="Arial" pitchFamily="34" charset="0"/>
              </a:rPr>
              <a:t>R</a:t>
            </a:r>
            <a:r>
              <a:rPr lang="en-US" b="1" baseline="-25000" dirty="0" err="1">
                <a:latin typeface="Arial" pitchFamily="34" charset="0"/>
                <a:cs typeface="Arial" pitchFamily="34" charset="0"/>
              </a:rPr>
              <a:t>p</a:t>
            </a:r>
            <a:r>
              <a:rPr lang="en-US" b="1" dirty="0">
                <a:latin typeface="Arial" pitchFamily="34" charset="0"/>
                <a:cs typeface="Arial" pitchFamily="34" charset="0"/>
              </a:rPr>
              <a:t> ×C</a:t>
            </a:r>
            <a:r>
              <a:rPr lang="en-US" b="1" baseline="-25000" dirty="0">
                <a:latin typeface="Arial" pitchFamily="34" charset="0"/>
                <a:cs typeface="Arial" pitchFamily="34" charset="0"/>
              </a:rPr>
              <a:t>L</a:t>
            </a:r>
            <a:r>
              <a:rPr lang="en-US" dirty="0">
                <a:latin typeface="Arial" pitchFamily="34" charset="0"/>
                <a:cs typeface="Arial" pitchFamily="34" charset="0"/>
              </a:rPr>
              <a:t>.</a:t>
            </a:r>
          </a:p>
          <a:p>
            <a:endParaRPr lang="en-US" dirty="0"/>
          </a:p>
          <a:p>
            <a:pPr>
              <a:spcBef>
                <a:spcPts val="0"/>
              </a:spcBef>
              <a:buNone/>
            </a:pPr>
            <a:r>
              <a:rPr lang="en-US" dirty="0">
                <a:latin typeface="Arial" pitchFamily="34" charset="0"/>
                <a:cs typeface="Arial" pitchFamily="34" charset="0"/>
              </a:rPr>
              <a:t>The output is discharged only if both A and B are switched high, and</a:t>
            </a:r>
          </a:p>
          <a:p>
            <a:pPr>
              <a:spcBef>
                <a:spcPts val="0"/>
              </a:spcBef>
              <a:buNone/>
            </a:pPr>
            <a:r>
              <a:rPr lang="en-US" dirty="0">
                <a:latin typeface="Arial" pitchFamily="34" charset="0"/>
                <a:cs typeface="Arial" pitchFamily="34" charset="0"/>
              </a:rPr>
              <a:t>the delay is given by </a:t>
            </a:r>
            <a:r>
              <a:rPr lang="en-US" b="1" dirty="0">
                <a:latin typeface="Arial" pitchFamily="34" charset="0"/>
                <a:cs typeface="Arial" pitchFamily="34" charset="0"/>
              </a:rPr>
              <a:t>0.69 × 2R</a:t>
            </a:r>
            <a:r>
              <a:rPr lang="en-US" b="1" baseline="-25000" dirty="0">
                <a:latin typeface="Arial" pitchFamily="34" charset="0"/>
                <a:cs typeface="Arial" pitchFamily="34" charset="0"/>
              </a:rPr>
              <a:t>N</a:t>
            </a:r>
            <a:r>
              <a:rPr lang="en-US" b="1" dirty="0">
                <a:latin typeface="Arial" pitchFamily="34" charset="0"/>
                <a:cs typeface="Arial" pitchFamily="34" charset="0"/>
              </a:rPr>
              <a:t>  ×C</a:t>
            </a:r>
            <a:r>
              <a:rPr lang="en-US" b="1" baseline="-25000" dirty="0">
                <a:latin typeface="Arial" pitchFamily="34" charset="0"/>
                <a:cs typeface="Arial" pitchFamily="34" charset="0"/>
              </a:rPr>
              <a:t>L</a:t>
            </a:r>
            <a:r>
              <a:rPr lang="en-US" i="1" dirty="0">
                <a:latin typeface="Arial" pitchFamily="34" charset="0"/>
                <a:cs typeface="Arial" pitchFamily="34" charset="0"/>
              </a:rPr>
              <a:t>. </a:t>
            </a:r>
            <a:r>
              <a:rPr lang="en-US" dirty="0">
                <a:latin typeface="Arial" pitchFamily="34" charset="0"/>
                <a:cs typeface="Arial" pitchFamily="34" charset="0"/>
              </a:rPr>
              <a:t>In other words, adding devices in</a:t>
            </a:r>
          </a:p>
          <a:p>
            <a:pPr>
              <a:spcBef>
                <a:spcPts val="0"/>
              </a:spcBef>
              <a:buNone/>
            </a:pPr>
            <a:r>
              <a:rPr lang="en-US" dirty="0">
                <a:latin typeface="Arial" pitchFamily="34" charset="0"/>
                <a:cs typeface="Arial" pitchFamily="34" charset="0"/>
              </a:rPr>
              <a:t> series slows down the circuit, and devices must be made wider to avoid a</a:t>
            </a:r>
          </a:p>
          <a:p>
            <a:pPr>
              <a:spcBef>
                <a:spcPts val="0"/>
              </a:spcBef>
              <a:buNone/>
            </a:pPr>
            <a:r>
              <a:rPr lang="en-US" dirty="0">
                <a:latin typeface="Arial" pitchFamily="34" charset="0"/>
                <a:cs typeface="Arial" pitchFamily="34" charset="0"/>
              </a:rPr>
              <a:t> performance penalty.</a:t>
            </a:r>
          </a:p>
          <a:p>
            <a:pPr algn="just">
              <a:buNone/>
            </a:pPr>
            <a:r>
              <a:rPr lang="en-US" dirty="0">
                <a:latin typeface="Arial" pitchFamily="34" charset="0"/>
                <a:cs typeface="Arial" pitchFamily="34" charset="0"/>
              </a:rPr>
              <a:t> </a:t>
            </a:r>
          </a:p>
          <a:p>
            <a:pPr algn="just">
              <a:buNone/>
            </a:pPr>
            <a:endParaRPr lang="en-US" dirty="0">
              <a:latin typeface="Arial" pitchFamily="34" charset="0"/>
              <a:cs typeface="Arial" pitchFamily="34" charset="0"/>
            </a:endParaRPr>
          </a:p>
          <a:p>
            <a:pPr algn="just">
              <a:buNone/>
            </a:pPr>
            <a:endParaRPr lang="en-US" dirty="0">
              <a:latin typeface="Arial" pitchFamily="34" charset="0"/>
              <a:cs typeface="Arial" pitchFamily="34" charset="0"/>
            </a:endParaRPr>
          </a:p>
          <a:p>
            <a:pPr algn="just">
              <a:buNone/>
            </a:pPr>
            <a:endParaRPr lang="en-US" dirty="0">
              <a:latin typeface="Arial" pitchFamily="34" charset="0"/>
              <a:cs typeface="Arial" pitchFamily="34" charset="0"/>
            </a:endParaRPr>
          </a:p>
          <a:p>
            <a:pPr algn="just">
              <a:buNone/>
            </a:pPr>
            <a:endParaRPr lang="en-US" dirty="0">
              <a:latin typeface="Arial" pitchFamily="34" charset="0"/>
              <a:cs typeface="Arial" pitchFamily="34" charset="0"/>
            </a:endParaRPr>
          </a:p>
          <a:p>
            <a:pPr algn="just">
              <a:buNone/>
            </a:pPr>
            <a:endParaRPr lang="en-US" dirty="0">
              <a:latin typeface="Arial" pitchFamily="34" charset="0"/>
              <a:cs typeface="Arial" pitchFamily="34" charset="0"/>
            </a:endParaRPr>
          </a:p>
          <a:p>
            <a:pPr>
              <a:buNone/>
            </a:pPr>
            <a:endParaRPr lang="en-IN"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3553" name="Picture 1"/>
          <p:cNvPicPr>
            <a:picLocks noChangeAspect="1" noChangeArrowheads="1"/>
          </p:cNvPicPr>
          <p:nvPr/>
        </p:nvPicPr>
        <p:blipFill>
          <a:blip r:embed="rId2" cstate="print"/>
          <a:srcRect/>
          <a:stretch>
            <a:fillRect/>
          </a:stretch>
        </p:blipFill>
        <p:spPr bwMode="auto">
          <a:xfrm>
            <a:off x="8022988" y="3314669"/>
            <a:ext cx="4169012" cy="3543331"/>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a:t>
            </a:r>
            <a:r>
              <a:rPr lang="en-US" sz="3200" b="1" dirty="0"/>
              <a:t>Delay dependence on input patterns</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535021" y="1225685"/>
            <a:ext cx="11254902" cy="4931924"/>
          </a:xfrm>
        </p:spPr>
        <p:txBody>
          <a:bodyPr>
            <a:normAutofit/>
          </a:bodyPr>
          <a:lstStyle/>
          <a:p>
            <a:pPr>
              <a:spcBef>
                <a:spcPts val="0"/>
              </a:spcBef>
              <a:buNone/>
            </a:pPr>
            <a:r>
              <a:rPr lang="en-US" dirty="0">
                <a:latin typeface="Arial" pitchFamily="34" charset="0"/>
                <a:cs typeface="Arial" pitchFamily="34" charset="0"/>
              </a:rPr>
              <a:t>As expected, the case  where both inputs transition go low (A = B =1      0)  results in a smaller delay, compared to the case where only one input is driven low. </a:t>
            </a:r>
          </a:p>
          <a:p>
            <a:pPr algn="just">
              <a:spcBef>
                <a:spcPts val="0"/>
              </a:spcBef>
              <a:buFont typeface="Wingdings" pitchFamily="2" charset="2"/>
              <a:buChar char="Ø"/>
            </a:pPr>
            <a:r>
              <a:rPr lang="en-US" dirty="0">
                <a:latin typeface="Arial" pitchFamily="34" charset="0"/>
                <a:cs typeface="Arial" pitchFamily="34" charset="0"/>
              </a:rPr>
              <a:t>Notice that the worst-case low-to-high delay depends upon which input (A or B) goes low. For the case that B = 1 and A transitions from 1    0, the pull-up PMOS device only has to charge up the output node capacitance since M2 is turned off.</a:t>
            </a:r>
          </a:p>
          <a:p>
            <a:r>
              <a:rPr lang="en-US" dirty="0">
                <a:latin typeface="Arial" pitchFamily="34" charset="0"/>
                <a:cs typeface="Arial" pitchFamily="34" charset="0"/>
              </a:rPr>
              <a:t>On the other hand, for the case where A=1 and B transitions from 1     0, the pull-up PMOS device has to charge up the sum of the output and the internal node capacitances, which slows down the transition</a:t>
            </a:r>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cxnSp>
        <p:nvCxnSpPr>
          <p:cNvPr id="15" name="Straight Arrow Connector 14"/>
          <p:cNvCxnSpPr/>
          <p:nvPr/>
        </p:nvCxnSpPr>
        <p:spPr>
          <a:xfrm>
            <a:off x="7568120" y="1400781"/>
            <a:ext cx="301557" cy="97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4520138" y="2234107"/>
            <a:ext cx="301557" cy="97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7756314" y="2892363"/>
            <a:ext cx="301557" cy="97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22529" name="Picture 1"/>
          <p:cNvPicPr>
            <a:picLocks noChangeAspect="1" noChangeArrowheads="1"/>
          </p:cNvPicPr>
          <p:nvPr/>
        </p:nvPicPr>
        <p:blipFill>
          <a:blip r:embed="rId2" cstate="print"/>
          <a:srcRect/>
          <a:stretch>
            <a:fillRect/>
          </a:stretch>
        </p:blipFill>
        <p:spPr bwMode="auto">
          <a:xfrm>
            <a:off x="1691397" y="3463048"/>
            <a:ext cx="8454552" cy="303057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CMOS implementation of NOR gate</a:t>
            </a:r>
          </a:p>
        </p:txBody>
      </p:sp>
      <p:sp>
        <p:nvSpPr>
          <p:cNvPr id="3" name="Content Placeholder 2"/>
          <p:cNvSpPr>
            <a:spLocks noGrp="1"/>
          </p:cNvSpPr>
          <p:nvPr>
            <p:ph idx="1"/>
          </p:nvPr>
        </p:nvSpPr>
        <p:spPr>
          <a:xfrm>
            <a:off x="739302" y="1332689"/>
            <a:ext cx="11089532" cy="4824920"/>
          </a:xfrm>
        </p:spPr>
        <p:txBody>
          <a:bodyPr>
            <a:normAutofit/>
          </a:bodyPr>
          <a:lstStyle/>
          <a:p>
            <a:pPr algn="just"/>
            <a:r>
              <a:rPr lang="en-US" dirty="0">
                <a:latin typeface="Arial" pitchFamily="34" charset="0"/>
                <a:cs typeface="Arial" pitchFamily="34" charset="0"/>
              </a:rPr>
              <a:t>In case of NOR gate output of the network  is high if and only if both inputs A and B are low. The worst-case pull-down transition happens when only one of the NMOS devices turns ON (if either A or B is high). </a:t>
            </a:r>
          </a:p>
          <a:p>
            <a:pPr>
              <a:spcBef>
                <a:spcPts val="0"/>
              </a:spcBef>
            </a:pPr>
            <a:r>
              <a:rPr lang="en-US" dirty="0">
                <a:latin typeface="Arial" pitchFamily="34" charset="0"/>
                <a:cs typeface="Arial" pitchFamily="34" charset="0"/>
              </a:rPr>
              <a:t>Assume that the goal is to size the NOR gate such that  it has approximately the same delay as an inverter with  the following device sizes, NMOS 0.5</a:t>
            </a:r>
            <a:r>
              <a:rPr lang="el-GR" dirty="0">
                <a:latin typeface="Arial" pitchFamily="34" charset="0"/>
                <a:cs typeface="Arial" pitchFamily="34" charset="0"/>
              </a:rPr>
              <a:t>μ</a:t>
            </a:r>
            <a:r>
              <a:rPr lang="en-US" dirty="0">
                <a:latin typeface="Arial" pitchFamily="34" charset="0"/>
                <a:cs typeface="Arial" pitchFamily="34" charset="0"/>
              </a:rPr>
              <a:t>m/0.25</a:t>
            </a:r>
            <a:r>
              <a:rPr lang="el-GR" dirty="0">
                <a:latin typeface="Arial" pitchFamily="34" charset="0"/>
                <a:cs typeface="Arial" pitchFamily="34" charset="0"/>
              </a:rPr>
              <a:t>μ</a:t>
            </a:r>
            <a:r>
              <a:rPr lang="en-US" dirty="0">
                <a:latin typeface="Arial" pitchFamily="34" charset="0"/>
                <a:cs typeface="Arial" pitchFamily="34" charset="0"/>
              </a:rPr>
              <a:t>m and  PMOS 1.5</a:t>
            </a:r>
            <a:r>
              <a:rPr lang="el-GR" dirty="0">
                <a:latin typeface="Arial" pitchFamily="34" charset="0"/>
                <a:cs typeface="Arial" pitchFamily="34" charset="0"/>
              </a:rPr>
              <a:t>μ</a:t>
            </a:r>
            <a:r>
              <a:rPr lang="en-US" dirty="0">
                <a:latin typeface="Arial" pitchFamily="34" charset="0"/>
                <a:cs typeface="Arial" pitchFamily="34" charset="0"/>
              </a:rPr>
              <a:t>m/0.25</a:t>
            </a:r>
            <a:r>
              <a:rPr lang="el-GR" dirty="0">
                <a:latin typeface="Arial" pitchFamily="34" charset="0"/>
                <a:cs typeface="Arial" pitchFamily="34" charset="0"/>
              </a:rPr>
              <a:t>μ</a:t>
            </a:r>
            <a:r>
              <a:rPr lang="en-US" dirty="0">
                <a:latin typeface="Arial" pitchFamily="34" charset="0"/>
                <a:cs typeface="Arial" pitchFamily="34" charset="0"/>
              </a:rPr>
              <a:t>m.</a:t>
            </a:r>
          </a:p>
          <a:p>
            <a:pPr>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For the output to be pulled high, both devices must be turned on</a:t>
            </a:r>
          </a:p>
          <a:p>
            <a:pPr>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However, in more complex logic gates that have large</a:t>
            </a:r>
          </a:p>
          <a:p>
            <a:pPr>
              <a:spcBef>
                <a:spcPts val="0"/>
              </a:spcBef>
            </a:pPr>
            <a:r>
              <a:rPr lang="en-US" dirty="0">
                <a:latin typeface="Arial" pitchFamily="34" charset="0"/>
                <a:cs typeface="Arial" pitchFamily="34" charset="0"/>
              </a:rPr>
              <a:t> fan-in, the internal node capacitances can become</a:t>
            </a:r>
          </a:p>
          <a:p>
            <a:pPr>
              <a:spcBef>
                <a:spcPts val="0"/>
              </a:spcBef>
            </a:pPr>
            <a:r>
              <a:rPr lang="en-US" dirty="0">
                <a:latin typeface="Arial" pitchFamily="34" charset="0"/>
                <a:cs typeface="Arial" pitchFamily="34" charset="0"/>
              </a:rPr>
              <a:t> significant</a:t>
            </a: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6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6867" name="Rectangle 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6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6870" name="Rectangle 6"/>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72"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6873" name="Rectangle 9"/>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1506" name="Picture 2"/>
          <p:cNvPicPr>
            <a:picLocks noChangeAspect="1" noChangeArrowheads="1"/>
          </p:cNvPicPr>
          <p:nvPr/>
        </p:nvPicPr>
        <p:blipFill>
          <a:blip r:embed="rId2" cstate="print"/>
          <a:srcRect/>
          <a:stretch>
            <a:fillRect/>
          </a:stretch>
        </p:blipFill>
        <p:spPr bwMode="auto">
          <a:xfrm>
            <a:off x="7714034" y="3025302"/>
            <a:ext cx="4477965" cy="3832698"/>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t>Continue….</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447472" y="1225685"/>
            <a:ext cx="11527277" cy="4931924"/>
          </a:xfrm>
        </p:spPr>
        <p:txBody>
          <a:bodyPr>
            <a:normAutofit/>
          </a:bodyPr>
          <a:lstStyle/>
          <a:p>
            <a:pPr algn="just"/>
            <a:r>
              <a:rPr lang="en-US" dirty="0">
                <a:latin typeface="Arial" pitchFamily="34" charset="0"/>
                <a:cs typeface="Arial" pitchFamily="34" charset="0"/>
              </a:rPr>
              <a:t>The switching threshold, </a:t>
            </a:r>
            <a:r>
              <a:rPr lang="en-US" b="1" dirty="0">
                <a:latin typeface="Arial" pitchFamily="34" charset="0"/>
                <a:cs typeface="Arial" pitchFamily="34" charset="0"/>
              </a:rPr>
              <a:t>V</a:t>
            </a:r>
            <a:r>
              <a:rPr lang="en-US" b="1" baseline="-25000" dirty="0">
                <a:latin typeface="Arial" pitchFamily="34" charset="0"/>
                <a:cs typeface="Arial" pitchFamily="34" charset="0"/>
              </a:rPr>
              <a:t>M</a:t>
            </a:r>
            <a:r>
              <a:rPr lang="en-US" b="1" dirty="0">
                <a:latin typeface="Arial" pitchFamily="34" charset="0"/>
                <a:cs typeface="Arial" pitchFamily="34" charset="0"/>
              </a:rPr>
              <a:t>, </a:t>
            </a:r>
            <a:r>
              <a:rPr lang="en-US" dirty="0">
                <a:latin typeface="Arial" pitchFamily="34" charset="0"/>
                <a:cs typeface="Arial" pitchFamily="34" charset="0"/>
              </a:rPr>
              <a:t>is defined as the point where </a:t>
            </a:r>
            <a:r>
              <a:rPr lang="en-US" b="1" dirty="0">
                <a:latin typeface="Arial" pitchFamily="34" charset="0"/>
                <a:cs typeface="Arial" pitchFamily="34" charset="0"/>
              </a:rPr>
              <a:t>V</a:t>
            </a:r>
            <a:r>
              <a:rPr lang="en-US" b="1" baseline="-25000" dirty="0">
                <a:latin typeface="Arial" pitchFamily="34" charset="0"/>
                <a:cs typeface="Arial" pitchFamily="34" charset="0"/>
              </a:rPr>
              <a:t>in</a:t>
            </a:r>
            <a:r>
              <a:rPr lang="en-US" b="1" dirty="0">
                <a:latin typeface="Arial" pitchFamily="34" charset="0"/>
                <a:cs typeface="Arial" pitchFamily="34" charset="0"/>
              </a:rPr>
              <a:t> =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dirty="0">
                <a:latin typeface="Arial" pitchFamily="34" charset="0"/>
                <a:cs typeface="Arial" pitchFamily="34" charset="0"/>
              </a:rPr>
              <a:t>. Its value can be obtained graphically from the intersection of the VTC with the line given by </a:t>
            </a:r>
            <a:r>
              <a:rPr lang="en-US" b="1" dirty="0">
                <a:latin typeface="Arial" pitchFamily="34" charset="0"/>
                <a:cs typeface="Arial" pitchFamily="34" charset="0"/>
              </a:rPr>
              <a:t>V</a:t>
            </a:r>
            <a:r>
              <a:rPr lang="en-US" b="1" baseline="-25000" dirty="0">
                <a:latin typeface="Arial" pitchFamily="34" charset="0"/>
                <a:cs typeface="Arial" pitchFamily="34" charset="0"/>
              </a:rPr>
              <a:t>in </a:t>
            </a:r>
            <a:r>
              <a:rPr lang="en-US" b="1" dirty="0">
                <a:latin typeface="Arial" pitchFamily="34" charset="0"/>
                <a:cs typeface="Arial" pitchFamily="34" charset="0"/>
              </a:rPr>
              <a:t>=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b="1" baseline="-25000" dirty="0">
                <a:latin typeface="Arial" pitchFamily="34" charset="0"/>
                <a:cs typeface="Arial" pitchFamily="34" charset="0"/>
              </a:rPr>
              <a:t> </a:t>
            </a:r>
            <a:r>
              <a:rPr lang="en-US" b="1" dirty="0">
                <a:latin typeface="Arial" pitchFamily="34" charset="0"/>
                <a:cs typeface="Arial" pitchFamily="34" charset="0"/>
              </a:rPr>
              <a:t> . </a:t>
            </a:r>
            <a:r>
              <a:rPr lang="en-US" dirty="0">
                <a:latin typeface="Arial" pitchFamily="34" charset="0"/>
                <a:cs typeface="Arial" pitchFamily="34" charset="0"/>
              </a:rPr>
              <a:t>In this region, both PMOS and NMOS are always saturated. </a:t>
            </a:r>
          </a:p>
          <a:p>
            <a:r>
              <a:rPr lang="en-US" dirty="0">
                <a:latin typeface="Arial" pitchFamily="34" charset="0"/>
                <a:cs typeface="Arial" pitchFamily="34" charset="0"/>
              </a:rPr>
              <a:t>Consider a 4-input NAND gate as shown in Figure which  shows the equivalent RC model of the gate, including the internal node capacitances.</a:t>
            </a:r>
          </a:p>
          <a:p>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The delay analysis for such a circuit involves </a:t>
            </a:r>
          </a:p>
          <a:p>
            <a:pPr>
              <a:spcBef>
                <a:spcPts val="0"/>
              </a:spcBef>
            </a:pPr>
            <a:r>
              <a:rPr lang="en-US" dirty="0">
                <a:latin typeface="Arial" pitchFamily="34" charset="0"/>
                <a:cs typeface="Arial" pitchFamily="34" charset="0"/>
              </a:rPr>
              <a:t>Solving distributed RC networks.</a:t>
            </a:r>
          </a:p>
          <a:p>
            <a:pPr>
              <a:spcBef>
                <a:spcPts val="0"/>
              </a:spcBef>
            </a:pPr>
            <a:endParaRPr lang="en-IN" b="1" baseline="-25000" dirty="0">
              <a:latin typeface="Arial" pitchFamily="34" charset="0"/>
              <a:cs typeface="Arial" pitchFamily="34" charset="0"/>
            </a:endParaRPr>
          </a:p>
          <a:p>
            <a:pPr>
              <a:spcBef>
                <a:spcPts val="0"/>
              </a:spcBef>
            </a:pPr>
            <a:r>
              <a:rPr lang="en-US" dirty="0">
                <a:latin typeface="Arial" pitchFamily="34" charset="0"/>
                <a:cs typeface="Arial" pitchFamily="34" charset="0"/>
              </a:rPr>
              <a:t>Consider the pull-down delay of the circuit.</a:t>
            </a:r>
          </a:p>
          <a:p>
            <a:pPr>
              <a:spcBef>
                <a:spcPts val="0"/>
              </a:spcBef>
            </a:pPr>
            <a:r>
              <a:rPr lang="en-US" dirty="0">
                <a:latin typeface="Arial" pitchFamily="34" charset="0"/>
                <a:cs typeface="Arial" pitchFamily="34" charset="0"/>
              </a:rPr>
              <a:t>The output is discharged when all inputs are</a:t>
            </a:r>
          </a:p>
          <a:p>
            <a:pPr>
              <a:spcBef>
                <a:spcPts val="0"/>
              </a:spcBef>
            </a:pPr>
            <a:r>
              <a:rPr lang="en-US" dirty="0">
                <a:latin typeface="Arial" pitchFamily="34" charset="0"/>
                <a:cs typeface="Arial" pitchFamily="34" charset="0"/>
              </a:rPr>
              <a:t> driven high.</a:t>
            </a:r>
            <a:endParaRPr lang="en-IN" b="1" baseline="-25000" dirty="0">
              <a:latin typeface="Arial" pitchFamily="34" charset="0"/>
              <a:cs typeface="Arial" pitchFamily="34" charset="0"/>
            </a:endParaRPr>
          </a:p>
          <a:p>
            <a:pPr>
              <a:buNone/>
            </a:pPr>
            <a:endParaRPr lang="en-IN" sz="2400" b="1" baseline="-25000"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0482" name="Picture 2"/>
          <p:cNvPicPr>
            <a:picLocks noChangeAspect="1" noChangeArrowheads="1"/>
          </p:cNvPicPr>
          <p:nvPr/>
        </p:nvPicPr>
        <p:blipFill>
          <a:blip r:embed="rId2" cstate="print"/>
          <a:srcRect/>
          <a:stretch>
            <a:fillRect/>
          </a:stretch>
        </p:blipFill>
        <p:spPr bwMode="auto">
          <a:xfrm>
            <a:off x="6117685" y="2641630"/>
            <a:ext cx="6074315" cy="421637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a:t>
            </a:r>
          </a:p>
        </p:txBody>
      </p:sp>
      <p:sp>
        <p:nvSpPr>
          <p:cNvPr id="3" name="Content Placeholder 2"/>
          <p:cNvSpPr>
            <a:spLocks noGrp="1"/>
          </p:cNvSpPr>
          <p:nvPr>
            <p:ph idx="1"/>
          </p:nvPr>
        </p:nvSpPr>
        <p:spPr>
          <a:xfrm>
            <a:off x="573932" y="1225685"/>
            <a:ext cx="11352179" cy="4931924"/>
          </a:xfrm>
        </p:spPr>
        <p:txBody>
          <a:bodyPr>
            <a:normAutofit/>
          </a:bodyPr>
          <a:lstStyle/>
          <a:p>
            <a:r>
              <a:rPr lang="en-US" dirty="0">
                <a:latin typeface="Arial" pitchFamily="34" charset="0"/>
                <a:cs typeface="Arial" pitchFamily="34" charset="0"/>
              </a:rPr>
              <a:t>The propagation delay can be computed using the Elmore delay model and is approximated as:</a:t>
            </a:r>
          </a:p>
          <a:p>
            <a:endParaRPr lang="en-IN" b="1" baseline="-25000" dirty="0">
              <a:latin typeface="Arial" pitchFamily="34" charset="0"/>
              <a:cs typeface="Arial" pitchFamily="34" charset="0"/>
            </a:endParaRPr>
          </a:p>
          <a:p>
            <a:r>
              <a:rPr lang="en-IN" b="1" baseline="-25000" dirty="0">
                <a:latin typeface="Arial" pitchFamily="34" charset="0"/>
                <a:cs typeface="Arial" pitchFamily="34" charset="0"/>
              </a:rPr>
              <a:t>                                                                                                                                                                                                                          </a:t>
            </a:r>
            <a:r>
              <a:rPr lang="en-IN" sz="2400" b="1" baseline="-25000" dirty="0">
                <a:latin typeface="Arial" pitchFamily="34" charset="0"/>
                <a:cs typeface="Arial" pitchFamily="34" charset="0"/>
              </a:rPr>
              <a:t>……..(1)</a:t>
            </a:r>
          </a:p>
          <a:p>
            <a:r>
              <a:rPr lang="en-US" dirty="0">
                <a:latin typeface="Arial" pitchFamily="34" charset="0"/>
                <a:cs typeface="Arial" pitchFamily="34" charset="0"/>
              </a:rPr>
              <a:t>Assuming that all NMOS  devices have an equal size</a:t>
            </a:r>
            <a:endParaRPr lang="en-IN" b="1" baseline="-25000" dirty="0">
              <a:latin typeface="Arial" pitchFamily="34" charset="0"/>
              <a:cs typeface="Arial" pitchFamily="34" charset="0"/>
            </a:endParaRPr>
          </a:p>
          <a:p>
            <a:endParaRPr lang="en-IN" b="1" baseline="-25000" dirty="0">
              <a:latin typeface="Arial" pitchFamily="34" charset="0"/>
              <a:cs typeface="Arial" pitchFamily="34" charset="0"/>
            </a:endParaRPr>
          </a:p>
          <a:p>
            <a:pPr algn="just">
              <a:buNone/>
            </a:pPr>
            <a:r>
              <a:rPr lang="en-IN" b="1" dirty="0">
                <a:latin typeface="Arial" pitchFamily="34" charset="0"/>
                <a:cs typeface="Arial" pitchFamily="34" charset="0"/>
              </a:rPr>
              <a:t>                                                                                                          ………(2)</a:t>
            </a:r>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9457" name="Picture 1"/>
          <p:cNvPicPr>
            <a:picLocks noChangeAspect="1" noChangeArrowheads="1"/>
          </p:cNvPicPr>
          <p:nvPr/>
        </p:nvPicPr>
        <p:blipFill>
          <a:blip r:embed="rId2" cstate="print"/>
          <a:srcRect/>
          <a:stretch>
            <a:fillRect/>
          </a:stretch>
        </p:blipFill>
        <p:spPr bwMode="auto">
          <a:xfrm>
            <a:off x="1402506" y="1649751"/>
            <a:ext cx="8850447" cy="477271"/>
          </a:xfrm>
          <a:prstGeom prst="rect">
            <a:avLst/>
          </a:prstGeom>
          <a:noFill/>
          <a:ln w="9525">
            <a:noFill/>
            <a:miter lim="800000"/>
            <a:headEnd/>
            <a:tailEnd/>
          </a:ln>
        </p:spPr>
      </p:pic>
      <p:pic>
        <p:nvPicPr>
          <p:cNvPr id="19458" name="Picture 2"/>
          <p:cNvPicPr>
            <a:picLocks noChangeAspect="1" noChangeArrowheads="1"/>
          </p:cNvPicPr>
          <p:nvPr/>
        </p:nvPicPr>
        <p:blipFill>
          <a:blip r:embed="rId3" cstate="print"/>
          <a:srcRect/>
          <a:stretch>
            <a:fillRect/>
          </a:stretch>
        </p:blipFill>
        <p:spPr bwMode="auto">
          <a:xfrm>
            <a:off x="2231282" y="2797211"/>
            <a:ext cx="4762905" cy="460646"/>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Problems in CMOS</a:t>
            </a:r>
          </a:p>
        </p:txBody>
      </p:sp>
      <p:sp>
        <p:nvSpPr>
          <p:cNvPr id="3" name="Content Placeholder 2"/>
          <p:cNvSpPr>
            <a:spLocks noGrp="1"/>
          </p:cNvSpPr>
          <p:nvPr>
            <p:ph idx="1"/>
          </p:nvPr>
        </p:nvSpPr>
        <p:spPr>
          <a:xfrm>
            <a:off x="496111" y="1225685"/>
            <a:ext cx="11293812" cy="4931924"/>
          </a:xfrm>
        </p:spPr>
        <p:txBody>
          <a:bodyPr>
            <a:normAutofit/>
          </a:bodyPr>
          <a:lstStyle/>
          <a:p>
            <a:pPr algn="just"/>
            <a:r>
              <a:rPr lang="en-US" dirty="0">
                <a:latin typeface="Arial" pitchFamily="34" charset="0"/>
                <a:cs typeface="Arial" pitchFamily="34" charset="0"/>
              </a:rPr>
              <a:t>complementary CMOS is a very robust and simple approach for implementing logic gates. </a:t>
            </a:r>
          </a:p>
          <a:p>
            <a:pPr algn="just"/>
            <a:endParaRPr lang="en-US" dirty="0">
              <a:latin typeface="Arial" pitchFamily="34" charset="0"/>
              <a:cs typeface="Arial" pitchFamily="34" charset="0"/>
            </a:endParaRPr>
          </a:p>
          <a:p>
            <a:pPr algn="just">
              <a:buFont typeface="Wingdings" pitchFamily="2" charset="2"/>
              <a:buChar char="Ø"/>
            </a:pPr>
            <a:r>
              <a:rPr lang="en-US" dirty="0">
                <a:latin typeface="Arial" pitchFamily="34" charset="0"/>
                <a:cs typeface="Arial" pitchFamily="34" charset="0"/>
              </a:rPr>
              <a:t> First, the number of transistors required to implement an N fan-in gate is 2N. This can result in significant implementation area</a:t>
            </a:r>
            <a:r>
              <a:rPr lang="en-US" dirty="0"/>
              <a:t>. </a:t>
            </a:r>
          </a:p>
          <a:p>
            <a:pPr algn="just">
              <a:buFont typeface="Wingdings" pitchFamily="2" charset="2"/>
              <a:buChar char="Ø"/>
            </a:pPr>
            <a:r>
              <a:rPr lang="en-US" dirty="0">
                <a:latin typeface="Arial" pitchFamily="34" charset="0"/>
                <a:cs typeface="Arial" pitchFamily="34" charset="0"/>
              </a:rPr>
              <a:t>The large number of transistors (2N) increases the overall capacitance of the gate. </a:t>
            </a:r>
          </a:p>
          <a:p>
            <a:pPr algn="just">
              <a:buFont typeface="Wingdings" pitchFamily="2" charset="2"/>
              <a:buChar char="Ø"/>
            </a:pPr>
            <a:r>
              <a:rPr lang="en-US" dirty="0">
                <a:latin typeface="Arial" pitchFamily="34" charset="0"/>
                <a:cs typeface="Arial" pitchFamily="34" charset="0"/>
              </a:rPr>
              <a:t>Propagation delay of the gates deteriorate as a function of fan-in.</a:t>
            </a:r>
          </a:p>
          <a:p>
            <a:pPr algn="just">
              <a:buFont typeface="Wingdings" pitchFamily="2" charset="2"/>
              <a:buChar char="Ø"/>
            </a:pPr>
            <a:r>
              <a:rPr lang="en-US" dirty="0">
                <a:latin typeface="Arial" pitchFamily="34" charset="0"/>
                <a:cs typeface="Arial" pitchFamily="34" charset="0"/>
              </a:rPr>
              <a:t>The series connection of the transistor in either PUN or PDN network causes an additional slowdown.</a:t>
            </a:r>
          </a:p>
          <a:p>
            <a:pPr algn="just">
              <a:buFont typeface="Wingdings" pitchFamily="2" charset="2"/>
              <a:buChar char="Ø"/>
            </a:pPr>
            <a:r>
              <a:rPr lang="en-US" dirty="0">
                <a:latin typeface="Arial" pitchFamily="34" charset="0"/>
                <a:cs typeface="Arial" pitchFamily="34" charset="0"/>
              </a:rPr>
              <a:t>Therefore the delay becomes a quadratic function of fan-in.</a:t>
            </a:r>
          </a:p>
          <a:p>
            <a:pPr algn="just">
              <a:buFont typeface="Wingdings" pitchFamily="2" charset="2"/>
              <a:buChar char="Ø"/>
            </a:pPr>
            <a:r>
              <a:rPr lang="en-US" dirty="0">
                <a:latin typeface="Arial" pitchFamily="34" charset="0"/>
                <a:cs typeface="Arial" pitchFamily="34" charset="0"/>
              </a:rPr>
              <a:t>For an N-input NAND gate, the output capacitance increases linearly with the fan-in since the number of PMOS devices connected to the output node increases linearly with the fan-in. It also includes series connection of transistor  because the effective (</a:t>
            </a:r>
            <a:r>
              <a:rPr lang="en-US" dirty="0" err="1">
                <a:latin typeface="Arial" pitchFamily="34" charset="0"/>
                <a:cs typeface="Arial" pitchFamily="34" charset="0"/>
              </a:rPr>
              <a:t>dis</a:t>
            </a:r>
            <a:r>
              <a:rPr lang="en-US" dirty="0">
                <a:latin typeface="Arial" pitchFamily="34" charset="0"/>
                <a:cs typeface="Arial" pitchFamily="34" charset="0"/>
              </a:rPr>
              <a:t>)charging resistance is increased. So the overall high-to-low delay can increase in a quadratic fashion.</a:t>
            </a:r>
            <a:endParaRPr lang="en-IN" dirty="0">
              <a:latin typeface="Arial" pitchFamily="34" charset="0"/>
              <a:cs typeface="Arial" pitchFamily="34" charset="0"/>
            </a:endParaRPr>
          </a:p>
          <a:p>
            <a:pPr algn="just"/>
            <a:endParaRPr lang="en-IN" dirty="0">
              <a:latin typeface="Arial" pitchFamily="34" charset="0"/>
              <a:cs typeface="Arial" pitchFamily="34" charset="0"/>
            </a:endParaRPr>
          </a:p>
          <a:p>
            <a:pPr algn="just">
              <a:buNone/>
            </a:pPr>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3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39"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41"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42" name="Rectangle 6"/>
          <p:cNvSpPr>
            <a:spLocks noChangeArrowheads="1"/>
          </p:cNvSpPr>
          <p:nvPr/>
        </p:nvSpPr>
        <p:spPr bwMode="auto">
          <a:xfrm>
            <a:off x="0" y="10477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44"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45" name="Rectangle 9"/>
          <p:cNvSpPr>
            <a:spLocks noChangeArrowheads="1"/>
          </p:cNvSpPr>
          <p:nvPr/>
        </p:nvSpPr>
        <p:spPr bwMode="auto">
          <a:xfrm>
            <a:off x="0" y="11049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345" y="624110"/>
            <a:ext cx="9695267" cy="1280890"/>
          </a:xfrm>
        </p:spPr>
        <p:txBody>
          <a:bodyPr>
            <a:normAutofit/>
          </a:bodyPr>
          <a:lstStyle/>
          <a:p>
            <a:r>
              <a:rPr lang="en-IN" sz="3200" dirty="0">
                <a:latin typeface="Arial" pitchFamily="34" charset="0"/>
                <a:cs typeface="Arial" pitchFamily="34" charset="0"/>
              </a:rPr>
              <a:t>Propagation delay as a function of fan-in</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350196" y="1361872"/>
            <a:ext cx="11585641" cy="4815192"/>
          </a:xfrm>
        </p:spPr>
        <p:txBody>
          <a:bodyPr>
            <a:normAutofit/>
          </a:bodyPr>
          <a:lstStyle/>
          <a:p>
            <a:pPr algn="just"/>
            <a:r>
              <a:rPr lang="en-US" dirty="0">
                <a:latin typeface="Arial" pitchFamily="34" charset="0"/>
                <a:cs typeface="Arial" pitchFamily="34" charset="0"/>
              </a:rPr>
              <a:t>The </a:t>
            </a:r>
            <a:r>
              <a:rPr lang="en-US" dirty="0" err="1">
                <a:latin typeface="Arial" pitchFamily="34" charset="0"/>
                <a:cs typeface="Arial" pitchFamily="34" charset="0"/>
              </a:rPr>
              <a:t>t</a:t>
            </a:r>
            <a:r>
              <a:rPr lang="en-US" baseline="-25000" dirty="0" err="1">
                <a:latin typeface="Arial" pitchFamily="34" charset="0"/>
                <a:cs typeface="Arial" pitchFamily="34" charset="0"/>
              </a:rPr>
              <a:t>pLH</a:t>
            </a:r>
            <a:r>
              <a:rPr lang="en-US" baseline="-25000" dirty="0">
                <a:latin typeface="Arial" pitchFamily="34" charset="0"/>
                <a:cs typeface="Arial" pitchFamily="34" charset="0"/>
              </a:rPr>
              <a:t> </a:t>
            </a:r>
            <a:r>
              <a:rPr lang="en-US" dirty="0">
                <a:latin typeface="Arial" pitchFamily="34" charset="0"/>
                <a:cs typeface="Arial" pitchFamily="34" charset="0"/>
              </a:rPr>
              <a:t>increases linearly due to the linearly-increasing value of the output capacitance. </a:t>
            </a: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The simultaneous increase in the pull-down resistance and the load capacitance results in an approximately quadratic relationship for </a:t>
            </a:r>
            <a:r>
              <a:rPr lang="en-US" dirty="0" err="1">
                <a:latin typeface="Arial" pitchFamily="34" charset="0"/>
                <a:cs typeface="Arial" pitchFamily="34" charset="0"/>
              </a:rPr>
              <a:t>t</a:t>
            </a:r>
            <a:r>
              <a:rPr lang="en-US" baseline="-25000" dirty="0" err="1">
                <a:latin typeface="Arial" pitchFamily="34" charset="0"/>
                <a:cs typeface="Arial" pitchFamily="34" charset="0"/>
              </a:rPr>
              <a:t>pHL</a:t>
            </a:r>
            <a:r>
              <a:rPr lang="en-US" i="1" dirty="0">
                <a:latin typeface="Arial" pitchFamily="34" charset="0"/>
                <a:cs typeface="Arial" pitchFamily="34" charset="0"/>
              </a:rPr>
              <a:t>.</a:t>
            </a:r>
            <a:endParaRPr lang="en-US" b="1" dirty="0">
              <a:latin typeface="Arial" pitchFamily="34" charset="0"/>
              <a:cs typeface="Arial" pitchFamily="34" charset="0"/>
            </a:endParaRPr>
          </a:p>
          <a:p>
            <a:pPr>
              <a:buNone/>
            </a:pPr>
            <a:endParaRPr lang="en-IN" dirty="0"/>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828801" y="6164991"/>
            <a:ext cx="8292862" cy="365125"/>
          </a:xfrm>
        </p:spPr>
        <p:txBody>
          <a:bodyPr/>
          <a:lstStyle/>
          <a:p>
            <a:r>
              <a:rPr lang="en-IN" sz="1300" dirty="0">
                <a:solidFill>
                  <a:srgbClr val="C00000"/>
                </a:solidFill>
                <a:latin typeface="Arial" panose="020B0604020202020204" pitchFamily="34" charset="0"/>
                <a:cs typeface="Arial" panose="020B0604020202020204" pitchFamily="34" charset="0"/>
              </a:rPr>
              <a:t>Rohit Lorenzo, VIT-AP</a:t>
            </a:r>
          </a:p>
        </p:txBody>
      </p:sp>
      <p:sp>
        <p:nvSpPr>
          <p:cNvPr id="40962"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3" name="Rectangle 3"/>
          <p:cNvSpPr>
            <a:spLocks noChangeArrowheads="1"/>
          </p:cNvSpPr>
          <p:nvPr/>
        </p:nvSpPr>
        <p:spPr bwMode="auto">
          <a:xfrm>
            <a:off x="0" y="10795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0965"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6" name="Rectangle 6"/>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0968"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9" name="Rectangle 9"/>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843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435" name="Rectangle 3"/>
          <p:cNvSpPr>
            <a:spLocks noChangeArrowheads="1"/>
          </p:cNvSpPr>
          <p:nvPr/>
        </p:nvSpPr>
        <p:spPr bwMode="auto">
          <a:xfrm>
            <a:off x="0" y="10795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88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1"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88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4" name="Rectangle 6"/>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88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7" name="Rectangle 9"/>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7410" name="Picture 2"/>
          <p:cNvPicPr>
            <a:picLocks noChangeAspect="1" noChangeArrowheads="1"/>
          </p:cNvPicPr>
          <p:nvPr/>
        </p:nvPicPr>
        <p:blipFill>
          <a:blip r:embed="rId2" cstate="print"/>
          <a:srcRect/>
          <a:stretch>
            <a:fillRect/>
          </a:stretch>
        </p:blipFill>
        <p:spPr bwMode="auto">
          <a:xfrm>
            <a:off x="7208196" y="2554951"/>
            <a:ext cx="4983804" cy="4303049"/>
          </a:xfrm>
          <a:prstGeom prst="rect">
            <a:avLst/>
          </a:prstGeom>
          <a:noFill/>
          <a:ln w="9525">
            <a:noFill/>
            <a:miter lim="800000"/>
            <a:headEnd/>
            <a:tailEnd/>
          </a:ln>
        </p:spPr>
      </p:pic>
      <p:pic>
        <p:nvPicPr>
          <p:cNvPr id="21" name="Picture 1">
            <a:extLst>
              <a:ext uri="{FF2B5EF4-FFF2-40B4-BE49-F238E27FC236}">
                <a16:creationId xmlns:a16="http://schemas.microsoft.com/office/drawing/2014/main" id="{38C047DD-506A-4106-9F2A-474717E371E2}"/>
              </a:ext>
            </a:extLst>
          </p:cNvPr>
          <p:cNvPicPr>
            <a:picLocks noChangeAspect="1" noChangeArrowheads="1"/>
          </p:cNvPicPr>
          <p:nvPr/>
        </p:nvPicPr>
        <p:blipFill>
          <a:blip r:embed="rId3" cstate="print"/>
          <a:srcRect/>
          <a:stretch>
            <a:fillRect/>
          </a:stretch>
        </p:blipFill>
        <p:spPr bwMode="auto">
          <a:xfrm>
            <a:off x="1225010" y="2945525"/>
            <a:ext cx="4169012" cy="3543331"/>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Design Techniques for large Fan-in </a:t>
            </a:r>
          </a:p>
        </p:txBody>
      </p:sp>
      <p:sp>
        <p:nvSpPr>
          <p:cNvPr id="3" name="Content Placeholder 2"/>
          <p:cNvSpPr>
            <a:spLocks noGrp="1"/>
          </p:cNvSpPr>
          <p:nvPr>
            <p:ph idx="1"/>
          </p:nvPr>
        </p:nvSpPr>
        <p:spPr>
          <a:xfrm>
            <a:off x="972767" y="1225685"/>
            <a:ext cx="10817156" cy="4931924"/>
          </a:xfrm>
        </p:spPr>
        <p:txBody>
          <a:bodyPr>
            <a:normAutofit/>
          </a:bodyPr>
          <a:lstStyle/>
          <a:p>
            <a:pPr>
              <a:buNone/>
            </a:pPr>
            <a:r>
              <a:rPr lang="en-US" dirty="0">
                <a:latin typeface="Arial" pitchFamily="34" charset="0"/>
                <a:cs typeface="Arial" pitchFamily="34" charset="0"/>
              </a:rPr>
              <a:t>Several approaches may be used to reduce delays in large fan-in circuits. </a:t>
            </a:r>
          </a:p>
          <a:p>
            <a:pPr>
              <a:buNone/>
            </a:pPr>
            <a:r>
              <a:rPr lang="en-US" b="1" u="sng" dirty="0">
                <a:latin typeface="Arial" pitchFamily="34" charset="0"/>
                <a:cs typeface="Arial" pitchFamily="34" charset="0"/>
              </a:rPr>
              <a:t>Transistor Sizing</a:t>
            </a:r>
            <a:r>
              <a:rPr lang="en-US" b="1" dirty="0">
                <a:latin typeface="Arial" pitchFamily="34" charset="0"/>
                <a:cs typeface="Arial" pitchFamily="34" charset="0"/>
              </a:rPr>
              <a:t> - </a:t>
            </a:r>
          </a:p>
          <a:p>
            <a:pPr algn="just">
              <a:buFont typeface="Wingdings" pitchFamily="2" charset="2"/>
              <a:buChar char="Ø"/>
            </a:pPr>
            <a:r>
              <a:rPr lang="en-US" dirty="0">
                <a:latin typeface="Arial" pitchFamily="34" charset="0"/>
                <a:cs typeface="Arial" pitchFamily="34" charset="0"/>
              </a:rPr>
              <a:t>The most obvious solution is to increase the overall transistor size. This lowers the resistance of devices in series and lowers the time constant. However, increasing the transistor size, results in larger parasitic capacitors, which do not only affect the propagation delay of the gate in question. but also present a larger load to the preceding gate.</a:t>
            </a:r>
          </a:p>
          <a:p>
            <a:pPr algn="just">
              <a:buNone/>
            </a:pPr>
            <a:endParaRPr lang="en-US" b="1" dirty="0">
              <a:latin typeface="Arial" pitchFamily="34" charset="0"/>
              <a:cs typeface="Arial" pitchFamily="34" charset="0"/>
            </a:endParaRPr>
          </a:p>
          <a:p>
            <a:pPr algn="just">
              <a:buFont typeface="Wingdings" pitchFamily="2" charset="2"/>
              <a:buChar char="Ø"/>
            </a:pPr>
            <a:r>
              <a:rPr lang="en-US" dirty="0">
                <a:latin typeface="Arial" pitchFamily="34" charset="0"/>
                <a:cs typeface="Arial" pitchFamily="34" charset="0"/>
              </a:rPr>
              <a:t>This technique should, therefore, be used with caution. If the load capacitance is dominated by the intrinsic capacitance of the gate, widening the device only creates a “self-loading” effect, and the propagation delay is unaffected.</a:t>
            </a:r>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0" name="Rectangle 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1" name="Rectangle 7"/>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3" name="Rectangle 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4" name="Rectangle 10"/>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6" name="Rectangle 1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7" name="Rectangle 1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9" name="Rectangle 1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40" name="Rectangle 1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2" name="Rectangle 1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43" name="Rectangle 19"/>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5" name="Rectangle 2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46" name="Rectangle 22"/>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8" name="Rectangle 2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49" name="Rectangle 25"/>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Progressive Transistor Sizing</a:t>
            </a:r>
          </a:p>
        </p:txBody>
      </p:sp>
      <p:sp>
        <p:nvSpPr>
          <p:cNvPr id="3" name="Content Placeholder 2"/>
          <p:cNvSpPr>
            <a:spLocks noGrp="1"/>
          </p:cNvSpPr>
          <p:nvPr>
            <p:ph idx="1"/>
          </p:nvPr>
        </p:nvSpPr>
        <p:spPr>
          <a:xfrm>
            <a:off x="972767" y="1225685"/>
            <a:ext cx="10817156" cy="4931924"/>
          </a:xfrm>
        </p:spPr>
        <p:txBody>
          <a:bodyPr>
            <a:normAutofit/>
          </a:bodyPr>
          <a:lstStyle/>
          <a:p>
            <a:r>
              <a:rPr lang="en-US" dirty="0">
                <a:latin typeface="Arial" pitchFamily="34" charset="0"/>
                <a:cs typeface="Arial" pitchFamily="34" charset="0"/>
              </a:rPr>
              <a:t>An alternate approach to uniform sizing  is to use progressive transistor sizing – </a:t>
            </a:r>
          </a:p>
          <a:p>
            <a:r>
              <a:rPr lang="en-IN" dirty="0">
                <a:latin typeface="Arial" pitchFamily="34" charset="0"/>
                <a:cs typeface="Arial" pitchFamily="34" charset="0"/>
              </a:rPr>
              <a:t>Referring equation  1 </a:t>
            </a:r>
            <a:r>
              <a:rPr lang="en-US" dirty="0">
                <a:latin typeface="Arial" pitchFamily="34" charset="0"/>
                <a:cs typeface="Arial" pitchFamily="34" charset="0"/>
              </a:rPr>
              <a:t>we see that the resistance of M1 (R1) appears N times (4 times)  in the delay equation. the resistance of M2 (R2) appears N-1 times (3 times), etc.</a:t>
            </a:r>
          </a:p>
          <a:p>
            <a:pPr>
              <a:buNone/>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From the equation, it is clear that R1 should be made </a:t>
            </a:r>
          </a:p>
          <a:p>
            <a:pPr>
              <a:spcBef>
                <a:spcPts val="0"/>
              </a:spcBef>
              <a:buNone/>
            </a:pPr>
            <a:r>
              <a:rPr lang="en-US" dirty="0">
                <a:latin typeface="Arial" pitchFamily="34" charset="0"/>
                <a:cs typeface="Arial" pitchFamily="34" charset="0"/>
              </a:rPr>
              <a:t>      the smallest, R2 the next smallest, etc</a:t>
            </a:r>
            <a:r>
              <a:rPr lang="en-US" dirty="0"/>
              <a:t>.</a:t>
            </a:r>
          </a:p>
          <a:p>
            <a:pPr>
              <a:buNone/>
            </a:pPr>
            <a:endParaRPr lang="en-US" dirty="0"/>
          </a:p>
          <a:p>
            <a:pPr>
              <a:spcBef>
                <a:spcPts val="0"/>
              </a:spcBef>
            </a:pPr>
            <a:r>
              <a:rPr lang="en-US" dirty="0">
                <a:latin typeface="Arial" pitchFamily="34" charset="0"/>
                <a:cs typeface="Arial" pitchFamily="34" charset="0"/>
              </a:rPr>
              <a:t>Consequently, a progressive scaling of the transistors </a:t>
            </a:r>
          </a:p>
          <a:p>
            <a:pPr>
              <a:spcBef>
                <a:spcPts val="0"/>
              </a:spcBef>
              <a:buNone/>
            </a:pPr>
            <a:r>
              <a:rPr lang="en-US" dirty="0">
                <a:latin typeface="Arial" pitchFamily="34" charset="0"/>
                <a:cs typeface="Arial" pitchFamily="34" charset="0"/>
              </a:rPr>
              <a:t>      is beneficial: M</a:t>
            </a:r>
            <a:r>
              <a:rPr lang="en-US" baseline="-25000" dirty="0">
                <a:latin typeface="Arial" pitchFamily="34" charset="0"/>
                <a:cs typeface="Arial" pitchFamily="34" charset="0"/>
              </a:rPr>
              <a:t>1</a:t>
            </a:r>
            <a:r>
              <a:rPr lang="en-US" dirty="0">
                <a:latin typeface="Arial" pitchFamily="34" charset="0"/>
                <a:cs typeface="Arial" pitchFamily="34" charset="0"/>
              </a:rPr>
              <a:t>&gt;M</a:t>
            </a:r>
            <a:r>
              <a:rPr lang="en-US" baseline="-25000" dirty="0">
                <a:latin typeface="Arial" pitchFamily="34" charset="0"/>
                <a:cs typeface="Arial" pitchFamily="34" charset="0"/>
              </a:rPr>
              <a:t>2</a:t>
            </a:r>
            <a:r>
              <a:rPr lang="en-US" dirty="0">
                <a:latin typeface="Arial" pitchFamily="34" charset="0"/>
                <a:cs typeface="Arial" pitchFamily="34" charset="0"/>
              </a:rPr>
              <a:t>&gt;M</a:t>
            </a:r>
            <a:r>
              <a:rPr lang="en-US" baseline="-25000" dirty="0">
                <a:latin typeface="Arial" pitchFamily="34" charset="0"/>
                <a:cs typeface="Arial" pitchFamily="34" charset="0"/>
              </a:rPr>
              <a:t>3</a:t>
            </a:r>
            <a:r>
              <a:rPr lang="en-US" dirty="0">
                <a:latin typeface="Arial" pitchFamily="34" charset="0"/>
                <a:cs typeface="Arial" pitchFamily="34" charset="0"/>
              </a:rPr>
              <a:t>&gt;M</a:t>
            </a:r>
            <a:r>
              <a:rPr lang="en-US" baseline="-25000" dirty="0">
                <a:latin typeface="Arial" pitchFamily="34" charset="0"/>
                <a:cs typeface="Arial" pitchFamily="34" charset="0"/>
              </a:rPr>
              <a:t>N</a:t>
            </a:r>
            <a:r>
              <a:rPr lang="en-US" dirty="0">
                <a:latin typeface="Arial" pitchFamily="34" charset="0"/>
                <a:cs typeface="Arial" pitchFamily="34" charset="0"/>
              </a:rPr>
              <a:t>. </a:t>
            </a:r>
          </a:p>
          <a:p>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Basically, in this approach, the important resistance is </a:t>
            </a:r>
          </a:p>
          <a:p>
            <a:pPr>
              <a:spcBef>
                <a:spcPts val="0"/>
              </a:spcBef>
              <a:buNone/>
            </a:pPr>
            <a:r>
              <a:rPr lang="en-US" dirty="0">
                <a:latin typeface="Arial" pitchFamily="34" charset="0"/>
                <a:cs typeface="Arial" pitchFamily="34" charset="0"/>
              </a:rPr>
              <a:t>      reduced while reducing capacitance.</a:t>
            </a:r>
          </a:p>
          <a:p>
            <a:pPr>
              <a:spcBef>
                <a:spcPts val="0"/>
              </a:spcBef>
              <a:buNone/>
            </a:pPr>
            <a:r>
              <a:rPr lang="en-IN" dirty="0">
                <a:latin typeface="Arial" pitchFamily="34" charset="0"/>
                <a:cs typeface="Arial" pitchFamily="34" charset="0"/>
              </a:rPr>
              <a:t>                                                                                                                 </a:t>
            </a:r>
            <a:endParaRPr lang="en-US" dirty="0">
              <a:latin typeface="Arial" pitchFamily="34" charset="0"/>
              <a:cs typeface="Arial" pitchFamily="34" charset="0"/>
            </a:endParaRPr>
          </a:p>
          <a:p>
            <a:pPr>
              <a:buNone/>
            </a:pPr>
            <a:r>
              <a:rPr lang="en-IN" dirty="0">
                <a:latin typeface="Arial" pitchFamily="34" charset="0"/>
                <a:cs typeface="Arial" pitchFamily="34" charset="0"/>
              </a:rPr>
              <a:t>                                                                                                          </a:t>
            </a:r>
          </a:p>
          <a:p>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1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7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5779" name="Rectangle 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81"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5782" name="Rectangle 6"/>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84"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5785" name="Rectangle 9"/>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88" name="Rectangle 1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5789" name="Rectangle 1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5362" name="Picture 2"/>
          <p:cNvPicPr>
            <a:picLocks noChangeAspect="1" noChangeArrowheads="1"/>
          </p:cNvPicPr>
          <p:nvPr/>
        </p:nvPicPr>
        <p:blipFill>
          <a:blip r:embed="rId2" cstate="print"/>
          <a:srcRect/>
          <a:stretch>
            <a:fillRect/>
          </a:stretch>
        </p:blipFill>
        <p:spPr bwMode="auto">
          <a:xfrm>
            <a:off x="8249055" y="2247089"/>
            <a:ext cx="3942945" cy="4610911"/>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Input Re-Ordering</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651753" y="1225685"/>
            <a:ext cx="11138170" cy="4931924"/>
          </a:xfrm>
        </p:spPr>
        <p:txBody>
          <a:bodyPr>
            <a:normAutofit/>
          </a:bodyPr>
          <a:lstStyle/>
          <a:p>
            <a:pPr algn="just"/>
            <a:r>
              <a:rPr lang="en-US" dirty="0">
                <a:latin typeface="Arial" pitchFamily="34" charset="0"/>
                <a:cs typeface="Arial" pitchFamily="34" charset="0"/>
              </a:rPr>
              <a:t>An input signal to a gate is called critical if it is the last signal of all inputs to assume a stable value. The path through the logic which determines the ultimate speed of the structure is called the critical path.</a:t>
            </a:r>
          </a:p>
          <a:p>
            <a:r>
              <a:rPr lang="en-US" dirty="0">
                <a:latin typeface="Arial" pitchFamily="34" charset="0"/>
                <a:cs typeface="Arial" pitchFamily="34" charset="0"/>
              </a:rPr>
              <a:t>Putting the critical-path transistors closer to the output of the gate can result in a speedup. Assume also that </a:t>
            </a:r>
            <a:r>
              <a:rPr lang="en-US" b="1" dirty="0">
                <a:latin typeface="Arial" pitchFamily="34" charset="0"/>
                <a:cs typeface="Arial" pitchFamily="34" charset="0"/>
              </a:rPr>
              <a:t>C</a:t>
            </a:r>
            <a:r>
              <a:rPr lang="en-US" b="1" baseline="-25000" dirty="0">
                <a:latin typeface="Arial" pitchFamily="34" charset="0"/>
                <a:cs typeface="Arial" pitchFamily="34" charset="0"/>
              </a:rPr>
              <a:t>L</a:t>
            </a:r>
            <a:r>
              <a:rPr lang="en-US" i="1" dirty="0">
                <a:latin typeface="Arial" pitchFamily="34" charset="0"/>
                <a:cs typeface="Arial" pitchFamily="34" charset="0"/>
              </a:rPr>
              <a:t> </a:t>
            </a:r>
            <a:r>
              <a:rPr lang="en-US" dirty="0">
                <a:latin typeface="Arial" pitchFamily="34" charset="0"/>
                <a:cs typeface="Arial" pitchFamily="34" charset="0"/>
              </a:rPr>
              <a:t>is initially charged high. In case (a), no path to GND exists until M</a:t>
            </a:r>
            <a:r>
              <a:rPr lang="en-US" baseline="-25000" dirty="0">
                <a:latin typeface="Arial" pitchFamily="34" charset="0"/>
                <a:cs typeface="Arial" pitchFamily="34" charset="0"/>
              </a:rPr>
              <a:t>1</a:t>
            </a:r>
            <a:r>
              <a:rPr lang="en-US" dirty="0">
                <a:latin typeface="Arial" pitchFamily="34" charset="0"/>
                <a:cs typeface="Arial" pitchFamily="34" charset="0"/>
              </a:rPr>
              <a:t> is turned ON. </a:t>
            </a:r>
          </a:p>
          <a:p>
            <a:pPr algn="just"/>
            <a:r>
              <a:rPr lang="en-US" dirty="0">
                <a:latin typeface="Arial" pitchFamily="34" charset="0"/>
                <a:cs typeface="Arial" pitchFamily="34" charset="0"/>
              </a:rPr>
              <a:t>The delay between the arrival of In1 and the output is therefore determined by the time it takes to discharge C</a:t>
            </a:r>
            <a:r>
              <a:rPr lang="en-US" baseline="-25000" dirty="0">
                <a:latin typeface="Arial" pitchFamily="34" charset="0"/>
                <a:cs typeface="Arial" pitchFamily="34" charset="0"/>
              </a:rPr>
              <a:t>L</a:t>
            </a:r>
            <a:r>
              <a:rPr lang="en-US" dirty="0">
                <a:latin typeface="Arial" pitchFamily="34" charset="0"/>
                <a:cs typeface="Arial" pitchFamily="34" charset="0"/>
              </a:rPr>
              <a:t>, C</a:t>
            </a:r>
            <a:r>
              <a:rPr lang="en-US" baseline="-25000" dirty="0">
                <a:latin typeface="Arial" pitchFamily="34" charset="0"/>
                <a:cs typeface="Arial" pitchFamily="34" charset="0"/>
              </a:rPr>
              <a:t>1</a:t>
            </a:r>
            <a:r>
              <a:rPr lang="en-US" dirty="0">
                <a:latin typeface="Arial" pitchFamily="34" charset="0"/>
                <a:cs typeface="Arial" pitchFamily="34" charset="0"/>
              </a:rPr>
              <a:t> and C</a:t>
            </a:r>
            <a:r>
              <a:rPr lang="en-US" baseline="-25000" dirty="0">
                <a:latin typeface="Arial" pitchFamily="34" charset="0"/>
                <a:cs typeface="Arial" pitchFamily="34" charset="0"/>
              </a:rPr>
              <a:t>2</a:t>
            </a:r>
            <a:r>
              <a:rPr lang="en-US" dirty="0">
                <a:latin typeface="Arial" pitchFamily="34" charset="0"/>
                <a:cs typeface="Arial" pitchFamily="34" charset="0"/>
              </a:rPr>
              <a:t>. </a:t>
            </a:r>
          </a:p>
          <a:p>
            <a:pPr algn="just"/>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In the second case, C</a:t>
            </a:r>
            <a:r>
              <a:rPr lang="en-US" baseline="-25000" dirty="0">
                <a:latin typeface="Arial" pitchFamily="34" charset="0"/>
                <a:cs typeface="Arial" pitchFamily="34" charset="0"/>
              </a:rPr>
              <a:t>1</a:t>
            </a:r>
            <a:r>
              <a:rPr lang="en-US" dirty="0">
                <a:latin typeface="Arial" pitchFamily="34" charset="0"/>
                <a:cs typeface="Arial" pitchFamily="34" charset="0"/>
              </a:rPr>
              <a:t> and C</a:t>
            </a:r>
            <a:r>
              <a:rPr lang="en-US" baseline="-25000" dirty="0">
                <a:latin typeface="Arial" pitchFamily="34" charset="0"/>
                <a:cs typeface="Arial" pitchFamily="34" charset="0"/>
              </a:rPr>
              <a:t>2</a:t>
            </a:r>
            <a:r>
              <a:rPr lang="en-US" dirty="0">
                <a:latin typeface="Arial" pitchFamily="34" charset="0"/>
                <a:cs typeface="Arial" pitchFamily="34" charset="0"/>
              </a:rPr>
              <a:t> are already discharged when</a:t>
            </a:r>
          </a:p>
          <a:p>
            <a:pPr>
              <a:spcBef>
                <a:spcPts val="0"/>
              </a:spcBef>
            </a:pPr>
            <a:r>
              <a:rPr lang="en-US" dirty="0">
                <a:latin typeface="Arial" pitchFamily="34" charset="0"/>
                <a:cs typeface="Arial" pitchFamily="34" charset="0"/>
              </a:rPr>
              <a:t> In1 changes. Only C</a:t>
            </a:r>
            <a:r>
              <a:rPr lang="en-US" baseline="-25000" dirty="0">
                <a:latin typeface="Arial" pitchFamily="34" charset="0"/>
                <a:cs typeface="Arial" pitchFamily="34" charset="0"/>
              </a:rPr>
              <a:t>L</a:t>
            </a:r>
            <a:r>
              <a:rPr lang="en-US" dirty="0">
                <a:latin typeface="Arial" pitchFamily="34" charset="0"/>
                <a:cs typeface="Arial" pitchFamily="34" charset="0"/>
              </a:rPr>
              <a:t> still has to be discharged, resulting in</a:t>
            </a:r>
          </a:p>
          <a:p>
            <a:pPr>
              <a:spcBef>
                <a:spcPts val="0"/>
              </a:spcBef>
            </a:pPr>
            <a:r>
              <a:rPr lang="en-US" dirty="0">
                <a:latin typeface="Arial" pitchFamily="34" charset="0"/>
                <a:cs typeface="Arial" pitchFamily="34" charset="0"/>
              </a:rPr>
              <a:t> a smaller delay.</a:t>
            </a:r>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1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4340" name="Picture 4"/>
          <p:cNvPicPr>
            <a:picLocks noChangeAspect="1" noChangeArrowheads="1"/>
          </p:cNvPicPr>
          <p:nvPr/>
        </p:nvPicPr>
        <p:blipFill>
          <a:blip r:embed="rId2" cstate="print"/>
          <a:srcRect/>
          <a:stretch>
            <a:fillRect/>
          </a:stretch>
        </p:blipFill>
        <p:spPr bwMode="auto">
          <a:xfrm>
            <a:off x="7179013" y="2981975"/>
            <a:ext cx="5012987" cy="38760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Logic Restructuring</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651753" y="1225685"/>
            <a:ext cx="11138170" cy="4931924"/>
          </a:xfrm>
        </p:spPr>
        <p:txBody>
          <a:bodyPr>
            <a:normAutofit/>
          </a:bodyPr>
          <a:lstStyle/>
          <a:p>
            <a:r>
              <a:rPr lang="en-US" dirty="0">
                <a:latin typeface="Arial" pitchFamily="34" charset="0"/>
                <a:cs typeface="Arial" pitchFamily="34" charset="0"/>
              </a:rPr>
              <a:t>Manipulating the logic equations can reduce the fan-in requirements and hence reduce the gate delay as shown in figure. </a:t>
            </a:r>
          </a:p>
          <a:p>
            <a:r>
              <a:rPr lang="en-US" dirty="0">
                <a:latin typeface="Arial" pitchFamily="34" charset="0"/>
                <a:cs typeface="Arial" pitchFamily="34" charset="0"/>
              </a:rPr>
              <a:t>It is advisable to have symmetric  function to derive the signal at proper time. </a:t>
            </a:r>
          </a:p>
          <a:p>
            <a:r>
              <a:rPr lang="en-US" dirty="0">
                <a:latin typeface="Arial" pitchFamily="34" charset="0"/>
                <a:cs typeface="Arial" pitchFamily="34" charset="0"/>
              </a:rPr>
              <a:t>The quadratic dependency of the gate delay on</a:t>
            </a:r>
            <a:r>
              <a:rPr lang="en-US" i="1" dirty="0">
                <a:latin typeface="Arial" pitchFamily="34" charset="0"/>
                <a:cs typeface="Arial" pitchFamily="34" charset="0"/>
              </a:rPr>
              <a:t> fan-in </a:t>
            </a:r>
            <a:r>
              <a:rPr lang="en-US" dirty="0">
                <a:latin typeface="Arial" pitchFamily="34" charset="0"/>
                <a:cs typeface="Arial" pitchFamily="34" charset="0"/>
              </a:rPr>
              <a:t>makes the six-input NOR gate extremely slow.</a:t>
            </a:r>
          </a:p>
          <a:p>
            <a:r>
              <a:rPr lang="en-US" dirty="0">
                <a:latin typeface="Arial" pitchFamily="34" charset="0"/>
                <a:cs typeface="Arial" pitchFamily="34" charset="0"/>
              </a:rPr>
              <a:t>Partitioning the NOR-gate into two three input gates results in a significant speed-up, which offsets by far the extra delay.</a:t>
            </a: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b="1"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1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1682"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1683" name="Rectangle 3"/>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1685"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1686"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3314" name="Picture 2"/>
          <p:cNvPicPr>
            <a:picLocks noChangeAspect="1" noChangeArrowheads="1"/>
          </p:cNvPicPr>
          <p:nvPr/>
        </p:nvPicPr>
        <p:blipFill>
          <a:blip r:embed="rId2" cstate="print"/>
          <a:srcRect/>
          <a:stretch>
            <a:fillRect/>
          </a:stretch>
        </p:blipFill>
        <p:spPr bwMode="auto">
          <a:xfrm>
            <a:off x="4231532" y="4187960"/>
            <a:ext cx="4876800" cy="18478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Power Consumption in CMOS Logic Gates</a:t>
            </a:r>
          </a:p>
        </p:txBody>
      </p:sp>
      <p:sp>
        <p:nvSpPr>
          <p:cNvPr id="3" name="Content Placeholder 2"/>
          <p:cNvSpPr>
            <a:spLocks noGrp="1"/>
          </p:cNvSpPr>
          <p:nvPr>
            <p:ph idx="1"/>
          </p:nvPr>
        </p:nvSpPr>
        <p:spPr>
          <a:xfrm>
            <a:off x="739303" y="1313234"/>
            <a:ext cx="11186808" cy="4776281"/>
          </a:xfrm>
        </p:spPr>
        <p:txBody>
          <a:bodyPr>
            <a:normAutofit fontScale="92500" lnSpcReduction="20000"/>
          </a:bodyPr>
          <a:lstStyle/>
          <a:p>
            <a:r>
              <a:rPr lang="en-US" sz="1900" dirty="0">
                <a:latin typeface="Arial" pitchFamily="34" charset="0"/>
                <a:cs typeface="Arial" pitchFamily="34" charset="0"/>
              </a:rPr>
              <a:t> The dynamic power dissipation is given by</a:t>
            </a:r>
          </a:p>
          <a:p>
            <a:r>
              <a:rPr lang="en-US" sz="1900" dirty="0">
                <a:latin typeface="Arial" pitchFamily="34" charset="0"/>
                <a:cs typeface="Arial" pitchFamily="34" charset="0"/>
              </a:rPr>
              <a:t>                                                                                                  …….. (3)</a:t>
            </a:r>
          </a:p>
          <a:p>
            <a:pPr>
              <a:buNone/>
            </a:pPr>
            <a:endParaRPr lang="en-US" sz="1900" dirty="0">
              <a:latin typeface="Arial" pitchFamily="34" charset="0"/>
              <a:cs typeface="Arial" pitchFamily="34" charset="0"/>
            </a:endParaRPr>
          </a:p>
          <a:p>
            <a:r>
              <a:rPr lang="en-US" sz="1900" dirty="0">
                <a:latin typeface="Arial" pitchFamily="34" charset="0"/>
                <a:cs typeface="Arial" pitchFamily="34" charset="0"/>
              </a:rPr>
              <a:t>Here               is called the switching activity, which is having two components .</a:t>
            </a:r>
          </a:p>
          <a:p>
            <a:r>
              <a:rPr lang="en-US" sz="1900" dirty="0">
                <a:latin typeface="Arial" pitchFamily="34" charset="0"/>
                <a:cs typeface="Arial" pitchFamily="34" charset="0"/>
              </a:rPr>
              <a:t>1-  A static component that is only a function of the topology of the logic network.</a:t>
            </a:r>
          </a:p>
          <a:p>
            <a:pPr algn="just"/>
            <a:r>
              <a:rPr lang="en-US" sz="1900" dirty="0">
                <a:latin typeface="Arial" pitchFamily="34" charset="0"/>
                <a:cs typeface="Arial" pitchFamily="34" charset="0"/>
              </a:rPr>
              <a:t>2-  Dynamic one that results from the timing behavior of the circuit—the latter factor is also called </a:t>
            </a:r>
            <a:r>
              <a:rPr lang="en-US" sz="1900" dirty="0" err="1">
                <a:latin typeface="Arial" pitchFamily="34" charset="0"/>
                <a:cs typeface="Arial" pitchFamily="34" charset="0"/>
              </a:rPr>
              <a:t>glitching</a:t>
            </a:r>
            <a:r>
              <a:rPr lang="en-US" sz="1900" dirty="0">
                <a:latin typeface="Arial" pitchFamily="34" charset="0"/>
                <a:cs typeface="Arial" pitchFamily="34" charset="0"/>
              </a:rPr>
              <a:t>. </a:t>
            </a:r>
          </a:p>
          <a:p>
            <a:r>
              <a:rPr lang="en-US" sz="1900" dirty="0">
                <a:latin typeface="Arial" pitchFamily="34" charset="0"/>
                <a:cs typeface="Arial" pitchFamily="34" charset="0"/>
              </a:rPr>
              <a:t>The probability P</a:t>
            </a:r>
            <a:r>
              <a:rPr lang="en-US" sz="1900" baseline="-25000" dirty="0">
                <a:latin typeface="Arial" pitchFamily="34" charset="0"/>
                <a:cs typeface="Arial" pitchFamily="34" charset="0"/>
              </a:rPr>
              <a:t>0</a:t>
            </a:r>
            <a:r>
              <a:rPr lang="en-US" sz="1900" dirty="0">
                <a:latin typeface="Arial" pitchFamily="34" charset="0"/>
                <a:cs typeface="Arial" pitchFamily="34" charset="0"/>
              </a:rPr>
              <a:t> that the output will be in the zero state in one cycle, multiplied by the probability P</a:t>
            </a:r>
            <a:r>
              <a:rPr lang="en-US" sz="1900" baseline="-25000" dirty="0">
                <a:latin typeface="Arial" pitchFamily="34" charset="0"/>
                <a:cs typeface="Arial" pitchFamily="34" charset="0"/>
              </a:rPr>
              <a:t>1 </a:t>
            </a:r>
          </a:p>
          <a:p>
            <a:r>
              <a:rPr lang="en-US" sz="1900" dirty="0">
                <a:latin typeface="Arial" pitchFamily="34" charset="0"/>
                <a:cs typeface="Arial" pitchFamily="34" charset="0"/>
              </a:rPr>
              <a:t>that the output will be in the one state in the next cycle</a:t>
            </a:r>
          </a:p>
          <a:p>
            <a:pPr algn="just"/>
            <a:endParaRPr lang="en-US" dirty="0">
              <a:latin typeface="Arial" pitchFamily="34" charset="0"/>
              <a:cs typeface="Arial" pitchFamily="34" charset="0"/>
            </a:endParaRPr>
          </a:p>
          <a:p>
            <a:pPr algn="just">
              <a:buNone/>
            </a:pPr>
            <a:r>
              <a:rPr lang="en-US" dirty="0">
                <a:latin typeface="Arial" pitchFamily="34" charset="0"/>
                <a:cs typeface="Arial" pitchFamily="34" charset="0"/>
              </a:rPr>
              <a:t>                                                                                                                           …….. (4)</a:t>
            </a:r>
          </a:p>
          <a:p>
            <a:pPr algn="just"/>
            <a:endParaRPr lang="en-US" b="1" baseline="-25000" dirty="0">
              <a:latin typeface="Arial" pitchFamily="34" charset="0"/>
              <a:cs typeface="Arial" pitchFamily="34" charset="0"/>
            </a:endParaRPr>
          </a:p>
          <a:p>
            <a:endParaRPr lang="en-US" b="1" baseline="-25000" dirty="0">
              <a:latin typeface="Arial" pitchFamily="34" charset="0"/>
              <a:cs typeface="Arial" pitchFamily="34" charset="0"/>
            </a:endParaRPr>
          </a:p>
          <a:p>
            <a:pPr>
              <a:buNone/>
            </a:pPr>
            <a:r>
              <a:rPr lang="en-US" dirty="0">
                <a:latin typeface="Arial" pitchFamily="34" charset="0"/>
                <a:cs typeface="Arial" pitchFamily="34" charset="0"/>
              </a:rPr>
              <a: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2290" name="Picture 2"/>
          <p:cNvPicPr>
            <a:picLocks noChangeAspect="1" noChangeArrowheads="1"/>
          </p:cNvPicPr>
          <p:nvPr/>
        </p:nvPicPr>
        <p:blipFill>
          <a:blip r:embed="rId2" cstate="print"/>
          <a:srcRect/>
          <a:stretch>
            <a:fillRect/>
          </a:stretch>
        </p:blipFill>
        <p:spPr bwMode="auto">
          <a:xfrm>
            <a:off x="4291317" y="1659074"/>
            <a:ext cx="1983024" cy="441598"/>
          </a:xfrm>
          <a:prstGeom prst="rect">
            <a:avLst/>
          </a:prstGeom>
          <a:noFill/>
          <a:ln w="9525">
            <a:noFill/>
            <a:miter lim="800000"/>
            <a:headEnd/>
            <a:tailEnd/>
          </a:ln>
        </p:spPr>
      </p:pic>
      <p:pic>
        <p:nvPicPr>
          <p:cNvPr id="12296" name="Picture 8"/>
          <p:cNvPicPr>
            <a:picLocks noChangeAspect="1" noChangeArrowheads="1"/>
          </p:cNvPicPr>
          <p:nvPr/>
        </p:nvPicPr>
        <p:blipFill>
          <a:blip r:embed="rId3" cstate="print"/>
          <a:srcRect/>
          <a:stretch>
            <a:fillRect/>
          </a:stretch>
        </p:blipFill>
        <p:spPr bwMode="auto">
          <a:xfrm>
            <a:off x="1721086" y="2357438"/>
            <a:ext cx="695325" cy="314325"/>
          </a:xfrm>
          <a:prstGeom prst="rect">
            <a:avLst/>
          </a:prstGeom>
          <a:noFill/>
          <a:ln w="9525">
            <a:noFill/>
            <a:miter lim="800000"/>
            <a:headEnd/>
            <a:tailEnd/>
          </a:ln>
        </p:spPr>
      </p:pic>
      <p:pic>
        <p:nvPicPr>
          <p:cNvPr id="12297" name="Picture 9"/>
          <p:cNvPicPr>
            <a:picLocks noChangeAspect="1" noChangeArrowheads="1"/>
          </p:cNvPicPr>
          <p:nvPr/>
        </p:nvPicPr>
        <p:blipFill>
          <a:blip r:embed="rId4" cstate="print"/>
          <a:srcRect/>
          <a:stretch>
            <a:fillRect/>
          </a:stretch>
        </p:blipFill>
        <p:spPr bwMode="auto">
          <a:xfrm>
            <a:off x="3282883" y="4503907"/>
            <a:ext cx="4400550" cy="4572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Inter-signal Correlations</a:t>
            </a:r>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The probability that the node </a:t>
            </a:r>
            <a:r>
              <a:rPr lang="en-US" i="1" dirty="0">
                <a:latin typeface="Arial" pitchFamily="34" charset="0"/>
                <a:cs typeface="Arial" pitchFamily="34" charset="0"/>
              </a:rPr>
              <a:t>Z </a:t>
            </a:r>
            <a:r>
              <a:rPr lang="en-US" dirty="0">
                <a:latin typeface="Arial" pitchFamily="34" charset="0"/>
                <a:cs typeface="Arial" pitchFamily="34" charset="0"/>
              </a:rPr>
              <a:t>undergoes a power consuming transition is then determined using the AND-gate expression.</a:t>
            </a:r>
          </a:p>
          <a:p>
            <a:endParaRPr lang="en-US" dirty="0">
              <a:latin typeface="Arial" pitchFamily="34" charset="0"/>
              <a:cs typeface="Arial" pitchFamily="34" charset="0"/>
            </a:endParaRPr>
          </a:p>
          <a:p>
            <a:pPr algn="just"/>
            <a:r>
              <a:rPr lang="en-US" dirty="0">
                <a:latin typeface="Arial" pitchFamily="34" charset="0"/>
                <a:cs typeface="Arial" pitchFamily="34" charset="0"/>
              </a:rPr>
              <a:t>The first approach has two major limitation  (1)  it does not deal with circuits with feedback as found in sequential circuits (2) it assumes that the signal probabilities at the input of each gate are independent. </a:t>
            </a:r>
          </a:p>
          <a:p>
            <a:r>
              <a:rPr lang="en-US" dirty="0">
                <a:latin typeface="Arial" pitchFamily="34" charset="0"/>
                <a:cs typeface="Arial" pitchFamily="34" charset="0"/>
              </a:rPr>
              <a:t>If a dependency between the two exists a conditional probability has to be employed, such as</a:t>
            </a:r>
          </a:p>
          <a:p>
            <a:r>
              <a:rPr lang="en-US" dirty="0">
                <a:latin typeface="Arial" pitchFamily="34" charset="0"/>
                <a:cs typeface="Arial" pitchFamily="34" charset="0"/>
              </a:rPr>
              <a:t>                                                                                                           ……(3)</a:t>
            </a:r>
          </a:p>
          <a:p>
            <a:pPr>
              <a:buNone/>
            </a:pPr>
            <a:endParaRPr lang="en-IN" b="1" baseline="-25000"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7" name="Rectangle 3"/>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996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1266" name="Picture 2"/>
          <p:cNvPicPr>
            <a:picLocks noChangeAspect="1" noChangeArrowheads="1"/>
          </p:cNvPicPr>
          <p:nvPr/>
        </p:nvPicPr>
        <p:blipFill>
          <a:blip r:embed="rId2" cstate="print"/>
          <a:srcRect/>
          <a:stretch>
            <a:fillRect/>
          </a:stretch>
        </p:blipFill>
        <p:spPr bwMode="auto">
          <a:xfrm>
            <a:off x="1974714" y="4039101"/>
            <a:ext cx="8537237" cy="2818899"/>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2470523" y="1978464"/>
            <a:ext cx="6566474" cy="324379"/>
          </a:xfrm>
          <a:prstGeom prst="rect">
            <a:avLst/>
          </a:prstGeom>
          <a:noFill/>
          <a:ln w="9525">
            <a:noFill/>
            <a:miter lim="800000"/>
            <a:headEnd/>
            <a:tailEnd/>
          </a:ln>
        </p:spPr>
      </p:pic>
      <p:pic>
        <p:nvPicPr>
          <p:cNvPr id="11268" name="Picture 4"/>
          <p:cNvPicPr>
            <a:picLocks noChangeAspect="1" noChangeArrowheads="1"/>
          </p:cNvPicPr>
          <p:nvPr/>
        </p:nvPicPr>
        <p:blipFill>
          <a:blip r:embed="rId4" cstate="print"/>
          <a:srcRect/>
          <a:stretch>
            <a:fillRect/>
          </a:stretch>
        </p:blipFill>
        <p:spPr bwMode="auto">
          <a:xfrm>
            <a:off x="4279461" y="3443997"/>
            <a:ext cx="2704999" cy="38964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US" sz="3200" dirty="0">
                <a:latin typeface="Arial" pitchFamily="34" charset="0"/>
                <a:cs typeface="Arial" pitchFamily="34" charset="0"/>
              </a:rPr>
              <a:t>Dynamic or </a:t>
            </a:r>
            <a:r>
              <a:rPr lang="en-US" sz="3200" dirty="0" err="1">
                <a:latin typeface="Arial" pitchFamily="34" charset="0"/>
                <a:cs typeface="Arial" pitchFamily="34" charset="0"/>
              </a:rPr>
              <a:t>Glitching</a:t>
            </a:r>
            <a:r>
              <a:rPr lang="en-US" sz="3200" dirty="0">
                <a:latin typeface="Arial" pitchFamily="34" charset="0"/>
                <a:cs typeface="Arial" pitchFamily="34" charset="0"/>
              </a:rPr>
              <a:t> Transitions </a:t>
            </a:r>
            <a:br>
              <a:rPr lang="en-US" dirty="0"/>
            </a:br>
            <a:endParaRPr lang="en-US" dirty="0"/>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The finite propagation delay from one logic block to the next can cause spurious transitions, called glitches, critical races, or dynamic hazards.</a:t>
            </a:r>
          </a:p>
          <a:p>
            <a:pPr algn="just"/>
            <a:r>
              <a:rPr lang="en-US" dirty="0">
                <a:latin typeface="Arial" pitchFamily="34" charset="0"/>
                <a:cs typeface="Arial" pitchFamily="34" charset="0"/>
              </a:rPr>
              <a:t>We can see in the example for this particular transition, all the odd bits must transition to 0 while the even bits remain at the value of 1. Due to the finite propagation delay, the higher order even outputs start to discharge and the voltage drops.</a:t>
            </a:r>
          </a:p>
          <a:p>
            <a:pPr algn="just">
              <a:buNone/>
            </a:pPr>
            <a:endParaRPr lang="en-US" dirty="0">
              <a:latin typeface="Arial" pitchFamily="34" charset="0"/>
              <a:cs typeface="Arial" pitchFamily="34" charset="0"/>
            </a:endParaRPr>
          </a:p>
          <a:p>
            <a:pPr algn="just">
              <a:spcBef>
                <a:spcPts val="0"/>
              </a:spcBef>
            </a:pPr>
            <a:r>
              <a:rPr lang="en-US" dirty="0">
                <a:latin typeface="Arial" pitchFamily="34" charset="0"/>
                <a:cs typeface="Arial" pitchFamily="34" charset="0"/>
              </a:rPr>
              <a:t>Glitches contribute significantly to the power </a:t>
            </a:r>
          </a:p>
          <a:p>
            <a:pPr algn="just">
              <a:spcBef>
                <a:spcPts val="0"/>
              </a:spcBef>
            </a:pPr>
            <a:r>
              <a:rPr lang="en-US" dirty="0">
                <a:latin typeface="Arial" pitchFamily="34" charset="0"/>
                <a:cs typeface="Arial" pitchFamily="34" charset="0"/>
              </a:rPr>
              <a:t> dissipation.</a:t>
            </a:r>
          </a:p>
          <a:p>
            <a:pPr algn="just">
              <a:spcBef>
                <a:spcPts val="0"/>
              </a:spcBef>
            </a:pPr>
            <a:endParaRPr lang="en-US" dirty="0">
              <a:latin typeface="Arial" pitchFamily="34" charset="0"/>
              <a:cs typeface="Arial" pitchFamily="34" charset="0"/>
            </a:endParaRPr>
          </a:p>
          <a:p>
            <a:pPr algn="just">
              <a:spcBef>
                <a:spcPts val="0"/>
              </a:spcBef>
            </a:pPr>
            <a:r>
              <a:rPr lang="en-US" dirty="0">
                <a:latin typeface="Arial" pitchFamily="34" charset="0"/>
                <a:cs typeface="Arial" pitchFamily="34" charset="0"/>
              </a:rPr>
              <a:t>Long chains of gates often occur in important structures such as adders</a:t>
            </a:r>
          </a:p>
          <a:p>
            <a:pPr algn="just">
              <a:spcBef>
                <a:spcPts val="0"/>
              </a:spcBef>
            </a:pPr>
            <a:r>
              <a:rPr lang="en-US" dirty="0">
                <a:latin typeface="Arial" pitchFamily="34" charset="0"/>
                <a:cs typeface="Arial" pitchFamily="34" charset="0"/>
              </a:rPr>
              <a:t> and multipliers and the </a:t>
            </a:r>
            <a:r>
              <a:rPr lang="en-US" dirty="0" err="1">
                <a:latin typeface="Arial" pitchFamily="34" charset="0"/>
                <a:cs typeface="Arial" pitchFamily="34" charset="0"/>
              </a:rPr>
              <a:t>glitching</a:t>
            </a:r>
            <a:r>
              <a:rPr lang="en-US" dirty="0">
                <a:latin typeface="Arial" pitchFamily="34" charset="0"/>
                <a:cs typeface="Arial" pitchFamily="34" charset="0"/>
              </a:rPr>
              <a:t>  component</a:t>
            </a:r>
          </a:p>
          <a:p>
            <a:pPr algn="just">
              <a:spcBef>
                <a:spcPts val="0"/>
              </a:spcBef>
            </a:pPr>
            <a:r>
              <a:rPr lang="en-US" dirty="0">
                <a:latin typeface="Arial" pitchFamily="34" charset="0"/>
                <a:cs typeface="Arial" pitchFamily="34" charset="0"/>
              </a:rPr>
              <a:t> can easily dominate the overall power </a:t>
            </a:r>
          </a:p>
          <a:p>
            <a:pPr algn="just">
              <a:spcBef>
                <a:spcPts val="0"/>
              </a:spcBef>
            </a:pPr>
            <a:r>
              <a:rPr lang="en-US">
                <a:latin typeface="Arial" pitchFamily="34" charset="0"/>
                <a:cs typeface="Arial" pitchFamily="34" charset="0"/>
              </a:rPr>
              <a:t>Consumption.</a:t>
            </a:r>
            <a:endParaRPr lang="en-IN" dirty="0">
              <a:latin typeface="Arial" pitchFamily="34" charset="0"/>
              <a:cs typeface="Arial" pitchFamily="34" charset="0"/>
            </a:endParaRPr>
          </a:p>
          <a:p>
            <a:pPr algn="just">
              <a:spcBef>
                <a:spcPts val="0"/>
              </a:spcBef>
              <a:buNone/>
            </a:pPr>
            <a:r>
              <a:rPr lang="en-IN" b="1" baseline="-25000" dirty="0">
                <a:latin typeface="Arial" pitchFamily="34" charset="0"/>
                <a:cs typeface="Arial" pitchFamily="34" charset="0"/>
              </a:rPr>
              <a:t>                                                                                                                                                   </a:t>
            </a:r>
            <a:endParaRPr lang="en-US" baseline="-25000" dirty="0">
              <a:latin typeface="Arial" pitchFamily="34" charset="0"/>
              <a:cs typeface="Arial" pitchFamily="34" charset="0"/>
            </a:endParaRPr>
          </a:p>
          <a:p>
            <a:endParaRPr lang="en-US" dirty="0">
              <a:latin typeface="Arial" pitchFamily="34" charset="0"/>
              <a:cs typeface="Arial" pitchFamily="34" charset="0"/>
            </a:endParaRPr>
          </a:p>
          <a:p>
            <a:endParaRPr lang="en-US" dirty="0"/>
          </a:p>
          <a:p>
            <a:endParaRPr lang="en-IN" sz="2000" dirty="0">
              <a:latin typeface="Arial" pitchFamily="34" charset="0"/>
              <a:cs typeface="Arial" pitchFamily="34" charset="0"/>
            </a:endParaRPr>
          </a:p>
          <a:p>
            <a:endParaRPr lang="en-US" sz="1900"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b="1" baseline="-25000"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7" name="Rectangle 3"/>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996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1" name="Rectangle 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4" name="Rectangle 6"/>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7" name="Rectangle 9"/>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0" name="Rectangle 12"/>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2" name="Rectangle 1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4" name="Rectangle 1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5" name="Rectangle 17"/>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7" name="Rectangle 1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8" name="Rectangle 20"/>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50"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42" name="Picture 2"/>
          <p:cNvPicPr>
            <a:picLocks noChangeAspect="1" noChangeArrowheads="1"/>
          </p:cNvPicPr>
          <p:nvPr/>
        </p:nvPicPr>
        <p:blipFill>
          <a:blip r:embed="rId2" cstate="print"/>
          <a:srcRect/>
          <a:stretch>
            <a:fillRect/>
          </a:stretch>
        </p:blipFill>
        <p:spPr bwMode="auto">
          <a:xfrm>
            <a:off x="5797685" y="2820190"/>
            <a:ext cx="6394315" cy="403781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fontScale="90000"/>
          </a:bodyPr>
          <a:lstStyle/>
          <a:p>
            <a:r>
              <a:rPr lang="en-US" dirty="0">
                <a:latin typeface="Arial" pitchFamily="34" charset="0"/>
                <a:cs typeface="Arial" pitchFamily="34" charset="0"/>
              </a:rPr>
              <a:t>Design Techniques to Reduce Switching Activity</a:t>
            </a: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3" name="Content Placeholder 2"/>
          <p:cNvSpPr>
            <a:spLocks noGrp="1"/>
          </p:cNvSpPr>
          <p:nvPr>
            <p:ph idx="1"/>
          </p:nvPr>
        </p:nvSpPr>
        <p:spPr>
          <a:xfrm>
            <a:off x="739303" y="1313234"/>
            <a:ext cx="11186808" cy="4776281"/>
          </a:xfrm>
        </p:spPr>
        <p:txBody>
          <a:bodyPr>
            <a:normAutofit/>
          </a:bodyPr>
          <a:lstStyle/>
          <a:p>
            <a:pPr>
              <a:buNone/>
            </a:pPr>
            <a:r>
              <a:rPr lang="en-US" b="1" u="sng" dirty="0">
                <a:latin typeface="Arial" pitchFamily="34" charset="0"/>
                <a:cs typeface="Arial" pitchFamily="34" charset="0"/>
              </a:rPr>
              <a:t> Logic Restructuring </a:t>
            </a:r>
          </a:p>
          <a:p>
            <a:r>
              <a:rPr lang="en-US" dirty="0">
                <a:latin typeface="Arial" pitchFamily="34" charset="0"/>
                <a:cs typeface="Arial" pitchFamily="34" charset="0"/>
              </a:rPr>
              <a:t>Changing the topology of a logic network may reduce its power dissipation. Consider for instance two alternate implementations of F = A · B · C · D.</a:t>
            </a:r>
          </a:p>
          <a:p>
            <a:r>
              <a:rPr lang="en-US" dirty="0">
                <a:latin typeface="Arial" pitchFamily="34" charset="0"/>
                <a:cs typeface="Arial" pitchFamily="34" charset="0"/>
              </a:rPr>
              <a:t>In this example the tree topology will have lower (no) </a:t>
            </a:r>
            <a:r>
              <a:rPr lang="en-US" dirty="0" err="1">
                <a:latin typeface="Arial" pitchFamily="34" charset="0"/>
                <a:cs typeface="Arial" pitchFamily="34" charset="0"/>
              </a:rPr>
              <a:t>glitching</a:t>
            </a:r>
            <a:r>
              <a:rPr lang="en-US" dirty="0">
                <a:latin typeface="Arial" pitchFamily="34" charset="0"/>
                <a:cs typeface="Arial" pitchFamily="34" charset="0"/>
              </a:rPr>
              <a:t> activity since the signal paths are balanced to all the gates.0</a:t>
            </a:r>
            <a:endParaRPr lang="en-IN" dirty="0">
              <a:latin typeface="Arial" pitchFamily="34" charset="0"/>
              <a:cs typeface="Arial" pitchFamily="34" charset="0"/>
            </a:endParaRPr>
          </a:p>
          <a:p>
            <a:pPr>
              <a:buNone/>
            </a:pPr>
            <a:endParaRPr lang="en-US" dirty="0"/>
          </a:p>
          <a:p>
            <a:pPr>
              <a:buNone/>
            </a:pPr>
            <a:endParaRPr lang="en-IN" b="1" baseline="-25000" dirty="0">
              <a:latin typeface="Arial" pitchFamily="34" charset="0"/>
              <a:cs typeface="Arial" pitchFamily="34" charset="0"/>
            </a:endParaRPr>
          </a:p>
          <a:p>
            <a:endParaRPr lang="en-US" dirty="0">
              <a:latin typeface="Arial" pitchFamily="34" charset="0"/>
              <a:cs typeface="Arial" pitchFamily="34" charset="0"/>
            </a:endParaRPr>
          </a:p>
          <a:p>
            <a:endParaRPr lang="en-US" dirty="0"/>
          </a:p>
          <a:p>
            <a:pPr>
              <a:buNone/>
            </a:pPr>
            <a:r>
              <a:rPr lang="en-US" dirty="0"/>
              <a:t>       </a:t>
            </a: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7" name="Rectangle 3"/>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996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1" name="Rectangle 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4" name="Rectangle 6"/>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7" name="Rectangle 9"/>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0" name="Rectangle 12"/>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2" name="Rectangle 1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4" name="Rectangle 1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5" name="Rectangle 17"/>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7" name="Rectangle 1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8" name="Rectangle 20"/>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50"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7" name="Rectangle 3"/>
          <p:cNvSpPr>
            <a:spLocks noChangeArrowheads="1"/>
          </p:cNvSpPr>
          <p:nvPr/>
        </p:nvSpPr>
        <p:spPr bwMode="auto">
          <a:xfrm>
            <a:off x="0" y="11112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2"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3" name="Rectangle 9"/>
          <p:cNvSpPr>
            <a:spLocks noChangeArrowheads="1"/>
          </p:cNvSpPr>
          <p:nvPr/>
        </p:nvSpPr>
        <p:spPr bwMode="auto">
          <a:xfrm>
            <a:off x="0" y="11112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9218" name="Picture 2"/>
          <p:cNvPicPr>
            <a:picLocks noChangeAspect="1" noChangeArrowheads="1"/>
          </p:cNvPicPr>
          <p:nvPr/>
        </p:nvPicPr>
        <p:blipFill>
          <a:blip r:embed="rId2" cstate="print"/>
          <a:srcRect/>
          <a:stretch>
            <a:fillRect/>
          </a:stretch>
        </p:blipFill>
        <p:spPr bwMode="auto">
          <a:xfrm>
            <a:off x="962227" y="3530330"/>
            <a:ext cx="10287000" cy="31623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Input ordering</a:t>
            </a:r>
          </a:p>
        </p:txBody>
      </p:sp>
      <p:sp>
        <p:nvSpPr>
          <p:cNvPr id="3" name="Content Placeholder 2"/>
          <p:cNvSpPr>
            <a:spLocks noGrp="1"/>
          </p:cNvSpPr>
          <p:nvPr>
            <p:ph idx="1"/>
          </p:nvPr>
        </p:nvSpPr>
        <p:spPr>
          <a:xfrm>
            <a:off x="457200" y="1313234"/>
            <a:ext cx="11468911" cy="4776281"/>
          </a:xfrm>
        </p:spPr>
        <p:txBody>
          <a:bodyPr>
            <a:normAutofit/>
          </a:bodyPr>
          <a:lstStyle/>
          <a:p>
            <a:pPr>
              <a:spcBef>
                <a:spcPts val="0"/>
              </a:spcBef>
            </a:pPr>
            <a:r>
              <a:rPr lang="en-US" dirty="0">
                <a:latin typeface="Arial" pitchFamily="34" charset="0"/>
                <a:cs typeface="Arial" pitchFamily="34" charset="0"/>
              </a:rPr>
              <a:t>Consider the two static logic circuits of Figure. Both the circuits implement identical logic functionality</a:t>
            </a:r>
          </a:p>
          <a:p>
            <a:pPr>
              <a:spcBef>
                <a:spcPts val="0"/>
              </a:spcBef>
              <a:buNone/>
            </a:pPr>
            <a:r>
              <a:rPr lang="en-US" dirty="0">
                <a:latin typeface="Arial" pitchFamily="34" charset="0"/>
                <a:cs typeface="Arial" pitchFamily="34" charset="0"/>
              </a:rPr>
              <a:t>      and  have equal activity at the output node.</a:t>
            </a:r>
          </a:p>
          <a:p>
            <a:r>
              <a:rPr lang="en-US" dirty="0"/>
              <a:t>The difference is in the activity at the intermediate node. In the first circuit, this activity equals (1 - 0.5 × 0.2) (0.5 × 0.2) = 0.09. </a:t>
            </a:r>
          </a:p>
          <a:p>
            <a:r>
              <a:rPr lang="en-US" dirty="0"/>
              <a:t>In the second case, the probability that a 0        1 transition occurs equals (1 – 0.2 × 0.1) (0.2 × 0.1) = 0.0196.</a:t>
            </a:r>
            <a:endParaRPr lang="en-US" dirty="0">
              <a:latin typeface="Arial" pitchFamily="34" charset="0"/>
              <a:cs typeface="Arial" pitchFamily="34" charset="0"/>
            </a:endParaRPr>
          </a:p>
          <a:p>
            <a:pPr>
              <a:buNone/>
            </a:pPr>
            <a:endParaRPr lang="en-US" i="1"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8196" name="Picture 4"/>
          <p:cNvPicPr>
            <a:picLocks noChangeAspect="1" noChangeArrowheads="1"/>
          </p:cNvPicPr>
          <p:nvPr/>
        </p:nvPicPr>
        <p:blipFill>
          <a:blip r:embed="rId2" cstate="print"/>
          <a:srcRect/>
          <a:stretch>
            <a:fillRect/>
          </a:stretch>
        </p:blipFill>
        <p:spPr bwMode="auto">
          <a:xfrm>
            <a:off x="1165292" y="4048125"/>
            <a:ext cx="10172700" cy="2809875"/>
          </a:xfrm>
          <a:prstGeom prst="rect">
            <a:avLst/>
          </a:prstGeom>
          <a:noFill/>
          <a:ln w="9525">
            <a:noFill/>
            <a:miter lim="800000"/>
            <a:headEnd/>
            <a:tailEnd/>
          </a:ln>
        </p:spPr>
      </p:pic>
      <p:cxnSp>
        <p:nvCxnSpPr>
          <p:cNvPr id="16" name="Straight Arrow Connector 15"/>
          <p:cNvCxnSpPr/>
          <p:nvPr/>
        </p:nvCxnSpPr>
        <p:spPr>
          <a:xfrm flipV="1">
            <a:off x="5690681" y="2869660"/>
            <a:ext cx="437745" cy="97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8194" name="Ink 2"/>
              <p14:cNvContentPartPr>
                <a14:cpLocks xmlns:a14="http://schemas.microsoft.com/office/drawing/2010/main" noRot="1" noChangeAspect="1" noEditPoints="1" noChangeArrowheads="1" noChangeShapeType="1"/>
              </p14:cNvContentPartPr>
              <p14:nvPr/>
            </p14:nvContentPartPr>
            <p14:xfrm>
              <a:off x="9594850" y="4762500"/>
              <a:ext cx="31750" cy="25400"/>
            </p14:xfrm>
          </p:contentPart>
        </mc:Choice>
        <mc:Fallback xmlns="">
          <p:pic>
            <p:nvPicPr>
              <p:cNvPr id="8194" name="Ink 2"/>
              <p:cNvPicPr>
                <a:picLocks noRot="1" noChangeAspect="1" noEditPoints="1" noChangeArrowheads="1" noChangeShapeType="1"/>
              </p:cNvPicPr>
              <p:nvPr/>
            </p:nvPicPr>
            <p:blipFill>
              <a:blip r:embed="rId4"/>
              <a:stretch>
                <a:fillRect/>
              </a:stretch>
            </p:blipFill>
            <p:spPr>
              <a:xfrm>
                <a:off x="9585678" y="4753328"/>
                <a:ext cx="50094" cy="43744"/>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Time-multiplexing resources</a:t>
            </a:r>
          </a:p>
        </p:txBody>
      </p:sp>
      <p:sp>
        <p:nvSpPr>
          <p:cNvPr id="3" name="Content Placeholder 2"/>
          <p:cNvSpPr>
            <a:spLocks noGrp="1"/>
          </p:cNvSpPr>
          <p:nvPr>
            <p:ph idx="1"/>
          </p:nvPr>
        </p:nvSpPr>
        <p:spPr>
          <a:xfrm>
            <a:off x="739303" y="1313234"/>
            <a:ext cx="11186808" cy="4776281"/>
          </a:xfrm>
        </p:spPr>
        <p:txBody>
          <a:bodyPr>
            <a:normAutofit/>
          </a:bodyPr>
          <a:lstStyle/>
          <a:p>
            <a:pPr algn="just"/>
            <a:r>
              <a:rPr lang="en-US" dirty="0">
                <a:latin typeface="Arial" pitchFamily="34" charset="0"/>
                <a:cs typeface="Arial" pitchFamily="34" charset="0"/>
              </a:rPr>
              <a:t>Time-multiplexing a single hardware resource—such as a logic unit or a bus—over a number functions is an often used technique to minimize the implementation area. Unfortunately, the minimum area solution does not always result in the lowest switching activity.</a:t>
            </a:r>
          </a:p>
          <a:p>
            <a:pPr algn="just"/>
            <a:r>
              <a:rPr lang="en-US" dirty="0">
                <a:latin typeface="Arial" pitchFamily="34" charset="0"/>
                <a:cs typeface="Arial" pitchFamily="34" charset="0"/>
              </a:rPr>
              <a:t>The degree of time-multiplexing should not affect the switched capacitance, since the time-multiplexed solution has half the capacitance switched.</a:t>
            </a:r>
          </a:p>
          <a:p>
            <a:pPr algn="just">
              <a:buNone/>
            </a:pPr>
            <a:endParaRPr lang="en-US" dirty="0">
              <a:latin typeface="Arial" pitchFamily="34" charset="0"/>
              <a:cs typeface="Arial" pitchFamily="34" charset="0"/>
            </a:endParaRPr>
          </a:p>
          <a:p>
            <a:pPr>
              <a:buNone/>
            </a:pPr>
            <a:endParaRPr lang="en-IN" dirty="0">
              <a:latin typeface="Arial" pitchFamily="34" charset="0"/>
              <a:cs typeface="Arial" pitchFamily="34" charset="0"/>
            </a:endParaRPr>
          </a:p>
          <a:p>
            <a:endParaRPr lang="en-US" dirty="0">
              <a:latin typeface="Arial" pitchFamily="34" charset="0"/>
              <a:cs typeface="Arial" pitchFamily="34" charset="0"/>
            </a:endParaRPr>
          </a:p>
          <a:p>
            <a:endParaRPr lang="en-IN" b="1" u="sng"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1" name="Rectangle 9"/>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6" name="Picture 3"/>
          <p:cNvPicPr>
            <a:picLocks noChangeAspect="1" noChangeArrowheads="1"/>
          </p:cNvPicPr>
          <p:nvPr/>
        </p:nvPicPr>
        <p:blipFill>
          <a:blip r:embed="rId2" cstate="print"/>
          <a:srcRect/>
          <a:stretch>
            <a:fillRect/>
          </a:stretch>
        </p:blipFill>
        <p:spPr bwMode="auto">
          <a:xfrm>
            <a:off x="943583" y="3122579"/>
            <a:ext cx="10875523" cy="3735421"/>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Continue……</a:t>
            </a:r>
            <a:endParaRPr lang="en-US" dirty="0"/>
          </a:p>
        </p:txBody>
      </p:sp>
      <p:sp>
        <p:nvSpPr>
          <p:cNvPr id="3" name="Content Placeholder 2"/>
          <p:cNvSpPr>
            <a:spLocks noGrp="1"/>
          </p:cNvSpPr>
          <p:nvPr>
            <p:ph idx="1"/>
          </p:nvPr>
        </p:nvSpPr>
        <p:spPr>
          <a:xfrm>
            <a:off x="496111" y="1313234"/>
            <a:ext cx="11430000" cy="4776281"/>
          </a:xfrm>
        </p:spPr>
        <p:txBody>
          <a:bodyPr>
            <a:normAutofit/>
          </a:bodyPr>
          <a:lstStyle/>
          <a:p>
            <a:pPr algn="just">
              <a:spcBef>
                <a:spcPts val="0"/>
              </a:spcBef>
            </a:pPr>
            <a:r>
              <a:rPr lang="en-US" dirty="0">
                <a:latin typeface="Arial" pitchFamily="34" charset="0"/>
                <a:cs typeface="Arial" pitchFamily="34" charset="0"/>
              </a:rPr>
              <a:t>However if the data signals have some distinct properties (called temporal correlation),the power dissipation of the time-multiplexed solution can be significantly higher.</a:t>
            </a:r>
          </a:p>
          <a:p>
            <a:pPr algn="just">
              <a:spcBef>
                <a:spcPts val="0"/>
              </a:spcBef>
            </a:pPr>
            <a:endParaRPr lang="en-US" dirty="0">
              <a:latin typeface="Arial" pitchFamily="34" charset="0"/>
              <a:cs typeface="Arial" pitchFamily="34" charset="0"/>
            </a:endParaRPr>
          </a:p>
          <a:p>
            <a:pPr algn="just">
              <a:spcBef>
                <a:spcPts val="0"/>
              </a:spcBef>
            </a:pPr>
            <a:r>
              <a:rPr lang="en-US" dirty="0">
                <a:latin typeface="Arial" pitchFamily="34" charset="0"/>
                <a:cs typeface="Arial" pitchFamily="34" charset="0"/>
              </a:rPr>
              <a:t>Suppose, for instance, that A is always (or mostly) 1 and B is (mostly) 0. In the parallel solution, the switched capacitance is very low since there are very few transitions on the data bits. However, in the time-multiplexed solution, the bus toggles between 0 and 1.</a:t>
            </a:r>
            <a:endParaRPr lang="en-IN" baseline="-25000" dirty="0">
              <a:latin typeface="Arial" pitchFamily="34" charset="0"/>
              <a:cs typeface="Arial" pitchFamily="34" charset="0"/>
            </a:endParaRPr>
          </a:p>
          <a:p>
            <a:pPr algn="just">
              <a:buNone/>
            </a:pPr>
            <a:endParaRPr lang="en-IN" dirty="0">
              <a:latin typeface="Arial" pitchFamily="34" charset="0"/>
              <a:cs typeface="Arial" pitchFamily="34" charset="0"/>
            </a:endParaRPr>
          </a:p>
          <a:p>
            <a:endParaRPr lang="en-US" i="1" dirty="0">
              <a:latin typeface="Arial" pitchFamily="34" charset="0"/>
              <a:cs typeface="Arial" pitchFamily="34" charset="0"/>
            </a:endParaRPr>
          </a:p>
          <a:p>
            <a:endParaRPr lang="en-US" i="1"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4" name="Rectangle 6"/>
          <p:cNvSpPr>
            <a:spLocks noChangeArrowheads="1"/>
          </p:cNvSpPr>
          <p:nvPr/>
        </p:nvSpPr>
        <p:spPr bwMode="auto">
          <a:xfrm>
            <a:off x="0" y="9588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7" name="Rectangle 9"/>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60" name="Rectangle 12"/>
          <p:cNvSpPr>
            <a:spLocks noChangeArrowheads="1"/>
          </p:cNvSpPr>
          <p:nvPr/>
        </p:nvSpPr>
        <p:spPr bwMode="auto">
          <a:xfrm>
            <a:off x="0" y="1003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65" name="Rectangle 1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66" name="Rectangle 18"/>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err="1">
                <a:latin typeface="Arial" pitchFamily="34" charset="0"/>
                <a:cs typeface="Arial" pitchFamily="34" charset="0"/>
              </a:rPr>
              <a:t>Ratioed</a:t>
            </a:r>
            <a:r>
              <a:rPr lang="en-US" sz="3200" dirty="0">
                <a:latin typeface="Arial" pitchFamily="34" charset="0"/>
                <a:cs typeface="Arial" pitchFamily="34" charset="0"/>
              </a:rPr>
              <a:t> Logic</a:t>
            </a:r>
          </a:p>
        </p:txBody>
      </p:sp>
      <p:sp>
        <p:nvSpPr>
          <p:cNvPr id="3" name="Content Placeholder 2"/>
          <p:cNvSpPr>
            <a:spLocks noGrp="1"/>
          </p:cNvSpPr>
          <p:nvPr>
            <p:ph idx="1"/>
          </p:nvPr>
        </p:nvSpPr>
        <p:spPr>
          <a:xfrm>
            <a:off x="739303" y="1313234"/>
            <a:ext cx="11186808" cy="4776281"/>
          </a:xfrm>
        </p:spPr>
        <p:txBody>
          <a:bodyPr>
            <a:normAutofit/>
          </a:bodyPr>
          <a:lstStyle/>
          <a:p>
            <a:r>
              <a:rPr lang="en-US" dirty="0" err="1">
                <a:latin typeface="Arial" pitchFamily="34" charset="0"/>
                <a:cs typeface="Arial" pitchFamily="34" charset="0"/>
              </a:rPr>
              <a:t>Ratioed</a:t>
            </a:r>
            <a:r>
              <a:rPr lang="en-US" dirty="0">
                <a:latin typeface="Arial" pitchFamily="34" charset="0"/>
                <a:cs typeface="Arial" pitchFamily="34" charset="0"/>
              </a:rPr>
              <a:t> logic is used  to reduce the number of transistors count but  at the cost of extra power dissipation and  reduced robustness. </a:t>
            </a:r>
          </a:p>
          <a:p>
            <a:r>
              <a:rPr lang="en-US" dirty="0">
                <a:latin typeface="Arial" pitchFamily="34" charset="0"/>
                <a:cs typeface="Arial" pitchFamily="34" charset="0"/>
              </a:rPr>
              <a:t>In </a:t>
            </a:r>
            <a:r>
              <a:rPr lang="en-US" dirty="0" err="1">
                <a:latin typeface="Arial" pitchFamily="34" charset="0"/>
                <a:cs typeface="Arial" pitchFamily="34" charset="0"/>
              </a:rPr>
              <a:t>ratioed</a:t>
            </a:r>
            <a:r>
              <a:rPr lang="en-US" dirty="0">
                <a:latin typeface="Arial" pitchFamily="34" charset="0"/>
                <a:cs typeface="Arial" pitchFamily="34" charset="0"/>
              </a:rPr>
              <a:t> logic, the entire PUN is replaced with a single unconditional load device.</a:t>
            </a:r>
          </a:p>
          <a:p>
            <a:r>
              <a:rPr lang="en-IN" dirty="0">
                <a:latin typeface="Arial" pitchFamily="34" charset="0"/>
                <a:cs typeface="Arial" pitchFamily="34" charset="0"/>
              </a:rPr>
              <a:t>The nominal high voltage (V</a:t>
            </a:r>
            <a:r>
              <a:rPr lang="en-IN" baseline="-25000" dirty="0">
                <a:latin typeface="Arial" pitchFamily="34" charset="0"/>
                <a:cs typeface="Arial" pitchFamily="34" charset="0"/>
              </a:rPr>
              <a:t>OH</a:t>
            </a:r>
            <a:r>
              <a:rPr lang="en-IN" dirty="0">
                <a:latin typeface="Arial" pitchFamily="34" charset="0"/>
                <a:cs typeface="Arial" pitchFamily="34" charset="0"/>
              </a:rPr>
              <a:t>) is V</a:t>
            </a:r>
            <a:r>
              <a:rPr lang="en-IN" baseline="-25000" dirty="0">
                <a:latin typeface="Arial" pitchFamily="34" charset="0"/>
                <a:cs typeface="Arial" pitchFamily="34" charset="0"/>
              </a:rPr>
              <a:t>DD </a:t>
            </a:r>
            <a:r>
              <a:rPr lang="en-US" dirty="0">
                <a:latin typeface="Arial" pitchFamily="34" charset="0"/>
                <a:cs typeface="Arial" pitchFamily="34" charset="0"/>
              </a:rPr>
              <a:t> but the nominal low voltage (</a:t>
            </a:r>
            <a:r>
              <a:rPr lang="en-IN" dirty="0">
                <a:latin typeface="Arial" pitchFamily="34" charset="0"/>
                <a:cs typeface="Arial" pitchFamily="34" charset="0"/>
              </a:rPr>
              <a:t>V</a:t>
            </a:r>
            <a:r>
              <a:rPr lang="en-IN" baseline="-25000" dirty="0">
                <a:latin typeface="Arial" pitchFamily="34" charset="0"/>
                <a:cs typeface="Arial" pitchFamily="34" charset="0"/>
              </a:rPr>
              <a:t>OL</a:t>
            </a:r>
            <a:r>
              <a:rPr lang="en-US" dirty="0">
                <a:latin typeface="Arial" pitchFamily="34" charset="0"/>
                <a:cs typeface="Arial" pitchFamily="34" charset="0"/>
              </a:rPr>
              <a:t>)  is not zero which results a static power dissipation.</a:t>
            </a:r>
          </a:p>
          <a:p>
            <a:r>
              <a:rPr lang="en-IN" dirty="0">
                <a:latin typeface="Arial" pitchFamily="34" charset="0"/>
                <a:cs typeface="Arial" pitchFamily="34" charset="0"/>
              </a:rPr>
              <a:t>This also reduced the noise margin.</a:t>
            </a:r>
          </a:p>
          <a:p>
            <a:pPr>
              <a:buNone/>
            </a:pPr>
            <a:endParaRPr lang="en-IN" dirty="0">
              <a:latin typeface="Arial" pitchFamily="34" charset="0"/>
              <a:cs typeface="Arial" pitchFamily="34" charset="0"/>
            </a:endParaRPr>
          </a:p>
          <a:p>
            <a:pPr>
              <a:spcBef>
                <a:spcPts val="0"/>
              </a:spcBef>
            </a:pPr>
            <a:r>
              <a:rPr lang="en-IN" dirty="0">
                <a:latin typeface="Arial" pitchFamily="34" charset="0"/>
                <a:cs typeface="Arial" pitchFamily="34" charset="0"/>
              </a:rPr>
              <a:t>Since, the output voltage depends on the</a:t>
            </a:r>
          </a:p>
          <a:p>
            <a:pPr>
              <a:spcBef>
                <a:spcPts val="0"/>
              </a:spcBef>
              <a:buNone/>
            </a:pPr>
            <a:r>
              <a:rPr lang="en-IN" dirty="0">
                <a:latin typeface="Arial" pitchFamily="34" charset="0"/>
                <a:cs typeface="Arial" pitchFamily="34" charset="0"/>
              </a:rPr>
              <a:t>      sizes of the transistor so it is called </a:t>
            </a:r>
            <a:r>
              <a:rPr lang="en-IN" dirty="0" err="1">
                <a:latin typeface="Arial" pitchFamily="34" charset="0"/>
                <a:cs typeface="Arial" pitchFamily="34" charset="0"/>
              </a:rPr>
              <a:t>ratioed</a:t>
            </a:r>
            <a:r>
              <a:rPr lang="en-IN" dirty="0">
                <a:latin typeface="Arial" pitchFamily="34" charset="0"/>
                <a:cs typeface="Arial" pitchFamily="34" charset="0"/>
              </a:rPr>
              <a:t> logic. </a:t>
            </a:r>
            <a:endParaRPr lang="en-US" dirty="0"/>
          </a:p>
          <a:p>
            <a:endParaRPr lang="en-US" dirty="0"/>
          </a:p>
          <a:p>
            <a:endParaRPr lang="en-US" dirty="0"/>
          </a:p>
          <a:p>
            <a:pPr>
              <a:spcBef>
                <a:spcPts val="0"/>
              </a:spcBef>
            </a:pPr>
            <a:endParaRPr lang="en-US" dirty="0">
              <a:latin typeface="Arial" pitchFamily="34" charset="0"/>
              <a:cs typeface="Arial" pitchFamily="34" charset="0"/>
            </a:endParaRPr>
          </a:p>
          <a:p>
            <a:pPr>
              <a:spcBef>
                <a:spcPts val="0"/>
              </a:spcBef>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01"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102" name="Rectangle 6"/>
          <p:cNvSpPr>
            <a:spLocks noChangeArrowheads="1"/>
          </p:cNvSpPr>
          <p:nvPr/>
        </p:nvSpPr>
        <p:spPr bwMode="auto">
          <a:xfrm>
            <a:off x="0" y="7937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3251" name="Picture 3"/>
          <p:cNvPicPr>
            <a:picLocks noChangeAspect="1" noChangeArrowheads="1"/>
          </p:cNvPicPr>
          <p:nvPr/>
        </p:nvPicPr>
        <p:blipFill>
          <a:blip r:embed="rId2" cstate="print"/>
          <a:srcRect/>
          <a:stretch>
            <a:fillRect/>
          </a:stretch>
        </p:blipFill>
        <p:spPr bwMode="auto">
          <a:xfrm>
            <a:off x="6351426" y="2947481"/>
            <a:ext cx="5840574" cy="3910519"/>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Continue….. </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739303" y="1313234"/>
            <a:ext cx="11186808" cy="4776281"/>
          </a:xfrm>
        </p:spPr>
        <p:txBody>
          <a:bodyPr>
            <a:normAutofit/>
          </a:bodyPr>
          <a:lstStyle/>
          <a:p>
            <a:pPr algn="just"/>
            <a:r>
              <a:rPr lang="en-US" dirty="0">
                <a:latin typeface="Arial" pitchFamily="34" charset="0"/>
                <a:cs typeface="Arial" pitchFamily="34" charset="0"/>
              </a:rPr>
              <a:t>The sizing of the load device relative to the pull-down devices can be used to trade-off parameters such a noise margin, propagation delay and power dissipation. </a:t>
            </a:r>
          </a:p>
          <a:p>
            <a:r>
              <a:rPr lang="en-US" dirty="0">
                <a:latin typeface="Arial" pitchFamily="34" charset="0"/>
                <a:cs typeface="Arial" pitchFamily="34" charset="0"/>
              </a:rPr>
              <a:t>Since the voltage swing on the output and the overall functionality of the gate depends upon the ratio between the NMOS and PMOS sizes, the circuit is called </a:t>
            </a:r>
            <a:r>
              <a:rPr lang="en-US" dirty="0" err="1">
                <a:latin typeface="Arial" pitchFamily="34" charset="0"/>
                <a:cs typeface="Arial" pitchFamily="34" charset="0"/>
              </a:rPr>
              <a:t>ratioed</a:t>
            </a:r>
            <a:r>
              <a:rPr lang="en-US" dirty="0">
                <a:latin typeface="Arial" pitchFamily="34" charset="0"/>
                <a:cs typeface="Arial" pitchFamily="34" charset="0"/>
              </a:rPr>
              <a:t>.</a:t>
            </a:r>
          </a:p>
          <a:p>
            <a:endParaRPr lang="en-US"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pPr>
              <a:buNone/>
            </a:pP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5" name="Picture 3"/>
          <p:cNvPicPr>
            <a:picLocks noChangeAspect="1" noChangeArrowheads="1"/>
          </p:cNvPicPr>
          <p:nvPr/>
        </p:nvPicPr>
        <p:blipFill>
          <a:blip r:embed="rId2" cstate="print"/>
          <a:srcRect/>
          <a:stretch>
            <a:fillRect/>
          </a:stretch>
        </p:blipFill>
        <p:spPr bwMode="auto">
          <a:xfrm>
            <a:off x="291830" y="2745956"/>
            <a:ext cx="4654888" cy="4112044"/>
          </a:xfrm>
          <a:prstGeom prst="rect">
            <a:avLst/>
          </a:prstGeom>
          <a:noFill/>
          <a:ln w="9525">
            <a:noFill/>
            <a:miter lim="800000"/>
            <a:headEnd/>
            <a:tailEnd/>
          </a:ln>
        </p:spPr>
      </p:pic>
      <p:pic>
        <p:nvPicPr>
          <p:cNvPr id="54277" name="Picture 5"/>
          <p:cNvPicPr>
            <a:picLocks noChangeAspect="1" noChangeArrowheads="1"/>
          </p:cNvPicPr>
          <p:nvPr/>
        </p:nvPicPr>
        <p:blipFill>
          <a:blip r:embed="rId3" cstate="print"/>
          <a:srcRect/>
          <a:stretch>
            <a:fillRect/>
          </a:stretch>
        </p:blipFill>
        <p:spPr bwMode="auto">
          <a:xfrm>
            <a:off x="5074316" y="4056435"/>
            <a:ext cx="7117684" cy="2801566"/>
          </a:xfrm>
          <a:prstGeom prst="rect">
            <a:avLst/>
          </a:prstGeom>
          <a:noFill/>
          <a:ln w="9525">
            <a:noFill/>
            <a:miter lim="800000"/>
            <a:headEnd/>
            <a:tailEnd/>
          </a:ln>
        </p:spPr>
      </p:pic>
      <p:pic>
        <p:nvPicPr>
          <p:cNvPr id="54278" name="Picture 6"/>
          <p:cNvPicPr>
            <a:picLocks noChangeAspect="1" noChangeArrowheads="1"/>
          </p:cNvPicPr>
          <p:nvPr/>
        </p:nvPicPr>
        <p:blipFill>
          <a:blip r:embed="rId4" cstate="print"/>
          <a:srcRect/>
          <a:stretch>
            <a:fillRect/>
          </a:stretch>
        </p:blipFill>
        <p:spPr bwMode="auto">
          <a:xfrm>
            <a:off x="5368858" y="2821529"/>
            <a:ext cx="6629400" cy="9620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000" dirty="0">
                <a:latin typeface="Arial" pitchFamily="34" charset="0"/>
                <a:cs typeface="Arial" pitchFamily="34" charset="0"/>
              </a:rPr>
              <a:t>Differential Cascode Voltage Switch Logic </a:t>
            </a:r>
            <a:r>
              <a:rPr lang="en-US" sz="3200" dirty="0">
                <a:latin typeface="Arial" pitchFamily="34" charset="0"/>
                <a:cs typeface="Arial" pitchFamily="34" charset="0"/>
              </a:rPr>
              <a:t>(DCVSL)</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739303" y="1313234"/>
            <a:ext cx="11186808" cy="4776281"/>
          </a:xfrm>
        </p:spPr>
        <p:txBody>
          <a:bodyPr>
            <a:normAutofit/>
          </a:bodyPr>
          <a:lstStyle/>
          <a:p>
            <a:pPr algn="just">
              <a:buFont typeface="Wingdings" pitchFamily="2" charset="2"/>
              <a:buChar char="Ø"/>
            </a:pPr>
            <a:r>
              <a:rPr lang="en-US" dirty="0">
                <a:latin typeface="Arial" pitchFamily="34" charset="0"/>
                <a:cs typeface="Arial" pitchFamily="34" charset="0"/>
              </a:rPr>
              <a:t>It is possible to create a </a:t>
            </a:r>
            <a:r>
              <a:rPr lang="en-US" dirty="0" err="1">
                <a:latin typeface="Arial" pitchFamily="34" charset="0"/>
                <a:cs typeface="Arial" pitchFamily="34" charset="0"/>
              </a:rPr>
              <a:t>ratioed</a:t>
            </a:r>
            <a:r>
              <a:rPr lang="en-US" dirty="0">
                <a:latin typeface="Arial" pitchFamily="34" charset="0"/>
                <a:cs typeface="Arial" pitchFamily="34" charset="0"/>
              </a:rPr>
              <a:t> logic style that completely eliminates static currents and provides rail-to-rail swing. Such a gate combines two concepts: differential logic and positive feedback.</a:t>
            </a:r>
          </a:p>
          <a:p>
            <a:pPr algn="just">
              <a:buFont typeface="Wingdings" pitchFamily="2" charset="2"/>
              <a:buChar char="Ø"/>
            </a:pPr>
            <a:r>
              <a:rPr lang="en-US" dirty="0">
                <a:latin typeface="Arial" pitchFamily="34" charset="0"/>
                <a:cs typeface="Arial" pitchFamily="34" charset="0"/>
              </a:rPr>
              <a:t>A differential gate requires that each input is provided in complementary format, and produces complementary outputs. A example of such a logic family, called Differential Cascode Voltage Switch Logic (or DCVSL) is presented in figure. </a:t>
            </a:r>
          </a:p>
          <a:p>
            <a:pPr algn="just">
              <a:buNone/>
            </a:pPr>
            <a:endParaRPr lang="en-US" dirty="0">
              <a:latin typeface="Arial" pitchFamily="34" charset="0"/>
              <a:cs typeface="Arial" pitchFamily="34" charset="0"/>
            </a:endParaRPr>
          </a:p>
          <a:p>
            <a:pPr algn="just">
              <a:spcBef>
                <a:spcPts val="0"/>
              </a:spcBef>
              <a:buFont typeface="Wingdings" pitchFamily="2" charset="2"/>
              <a:buChar char="Ø"/>
            </a:pPr>
            <a:r>
              <a:rPr lang="en-US" dirty="0">
                <a:latin typeface="Arial" pitchFamily="34" charset="0"/>
                <a:cs typeface="Arial" pitchFamily="34" charset="0"/>
              </a:rPr>
              <a:t>when PDN1 conducts, PDN2 is off, and when</a:t>
            </a:r>
          </a:p>
          <a:p>
            <a:pPr algn="just">
              <a:spcBef>
                <a:spcPts val="0"/>
              </a:spcBef>
              <a:buNone/>
            </a:pPr>
            <a:r>
              <a:rPr lang="en-US" dirty="0">
                <a:latin typeface="Arial" pitchFamily="34" charset="0"/>
                <a:cs typeface="Arial" pitchFamily="34" charset="0"/>
              </a:rPr>
              <a:t>      PDN1 is off, PDN2 conducts.</a:t>
            </a:r>
          </a:p>
          <a:p>
            <a:pPr algn="just">
              <a:spcBef>
                <a:spcPts val="0"/>
              </a:spcBef>
              <a:buNone/>
            </a:pPr>
            <a:endParaRPr lang="en-US" dirty="0">
              <a:latin typeface="Arial" pitchFamily="34" charset="0"/>
              <a:cs typeface="Arial" pitchFamily="34" charset="0"/>
            </a:endParaRPr>
          </a:p>
          <a:p>
            <a:pPr>
              <a:spcBef>
                <a:spcPts val="0"/>
              </a:spcBef>
              <a:buFont typeface="Wingdings" pitchFamily="2" charset="2"/>
              <a:buChar char="Ø"/>
            </a:pPr>
            <a:r>
              <a:rPr lang="en-US" dirty="0">
                <a:latin typeface="Arial" pitchFamily="34" charset="0"/>
                <a:cs typeface="Arial" pitchFamily="34" charset="0"/>
              </a:rPr>
              <a:t>Assume now that, for a given set of inputs, PDN1</a:t>
            </a:r>
          </a:p>
          <a:p>
            <a:pPr>
              <a:spcBef>
                <a:spcPts val="0"/>
              </a:spcBef>
              <a:buNone/>
            </a:pPr>
            <a:r>
              <a:rPr lang="en-US" dirty="0">
                <a:latin typeface="Arial" pitchFamily="34" charset="0"/>
                <a:cs typeface="Arial" pitchFamily="34" charset="0"/>
              </a:rPr>
              <a:t>      conducts while PDN2 does not, and that Out </a:t>
            </a:r>
          </a:p>
          <a:p>
            <a:pPr>
              <a:spcBef>
                <a:spcPts val="0"/>
              </a:spcBef>
              <a:buNone/>
            </a:pPr>
            <a:r>
              <a:rPr lang="en-US" dirty="0">
                <a:latin typeface="Arial" pitchFamily="34" charset="0"/>
                <a:cs typeface="Arial" pitchFamily="34" charset="0"/>
              </a:rPr>
              <a:t>      and         are initially high and low, respectively.</a:t>
            </a:r>
          </a:p>
          <a:p>
            <a:pPr>
              <a:spcBef>
                <a:spcPts val="0"/>
              </a:spcBef>
              <a:buNone/>
            </a:pPr>
            <a:endParaRPr lang="en-US" dirty="0">
              <a:latin typeface="Arial" pitchFamily="34" charset="0"/>
              <a:cs typeface="Arial" pitchFamily="34" charset="0"/>
            </a:endParaRPr>
          </a:p>
          <a:p>
            <a:pPr>
              <a:spcBef>
                <a:spcPts val="0"/>
              </a:spcBef>
              <a:buFont typeface="Wingdings" pitchFamily="2" charset="2"/>
              <a:buChar char="Ø"/>
            </a:pPr>
            <a:r>
              <a:rPr lang="en-US" dirty="0">
                <a:latin typeface="Arial" pitchFamily="34" charset="0"/>
                <a:cs typeface="Arial" pitchFamily="34" charset="0"/>
              </a:rPr>
              <a:t>Turning on PDN1, causes Out to be pulled down,</a:t>
            </a:r>
          </a:p>
          <a:p>
            <a:pPr>
              <a:spcBef>
                <a:spcPts val="0"/>
              </a:spcBef>
              <a:buNone/>
            </a:pPr>
            <a:r>
              <a:rPr lang="en-US" dirty="0">
                <a:latin typeface="Arial" pitchFamily="34" charset="0"/>
                <a:cs typeface="Arial" pitchFamily="34" charset="0"/>
              </a:rPr>
              <a:t>      although there is still a fight between M1 and </a:t>
            </a:r>
          </a:p>
          <a:p>
            <a:pPr>
              <a:spcBef>
                <a:spcPts val="0"/>
              </a:spcBef>
              <a:buNone/>
            </a:pPr>
            <a:r>
              <a:rPr lang="en-US" dirty="0">
                <a:latin typeface="Arial" pitchFamily="34" charset="0"/>
                <a:cs typeface="Arial" pitchFamily="34" charset="0"/>
              </a:rPr>
              <a:t>      PDN1. </a:t>
            </a:r>
            <a:endParaRPr lang="en-IN" dirty="0">
              <a:latin typeface="Arial" pitchFamily="34" charset="0"/>
              <a:cs typeface="Arial" pitchFamily="34" charset="0"/>
            </a:endParaRPr>
          </a:p>
          <a:p>
            <a:pPr>
              <a:buNone/>
            </a:pPr>
            <a:endParaRPr lang="en-IN" dirty="0">
              <a:latin typeface="Arial" pitchFamily="34" charset="0"/>
              <a:cs typeface="Arial" pitchFamily="34" charset="0"/>
            </a:endParaRPr>
          </a:p>
          <a:p>
            <a:endParaRPr lang="en-IN" dirty="0">
              <a:latin typeface="Arial" pitchFamily="34" charset="0"/>
              <a:cs typeface="Arial" pitchFamily="34" charset="0"/>
            </a:endParaRPr>
          </a:p>
          <a:p>
            <a:pPr>
              <a:buNone/>
            </a:pPr>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2227" name="Picture 3"/>
          <p:cNvPicPr>
            <a:picLocks noChangeAspect="1" noChangeArrowheads="1"/>
          </p:cNvPicPr>
          <p:nvPr/>
        </p:nvPicPr>
        <p:blipFill>
          <a:blip r:embed="rId2" cstate="print"/>
          <a:srcRect/>
          <a:stretch>
            <a:fillRect/>
          </a:stretch>
        </p:blipFill>
        <p:spPr bwMode="auto">
          <a:xfrm>
            <a:off x="6750996" y="2694562"/>
            <a:ext cx="5441004" cy="4163438"/>
          </a:xfrm>
          <a:prstGeom prst="rect">
            <a:avLst/>
          </a:prstGeom>
          <a:noFill/>
          <a:ln w="9525">
            <a:noFill/>
            <a:miter lim="800000"/>
            <a:headEnd/>
            <a:tailEnd/>
          </a:ln>
        </p:spPr>
      </p:pic>
      <p:pic>
        <p:nvPicPr>
          <p:cNvPr id="52231" name="Picture 7"/>
          <p:cNvPicPr>
            <a:picLocks noChangeAspect="1" noChangeArrowheads="1"/>
          </p:cNvPicPr>
          <p:nvPr/>
        </p:nvPicPr>
        <p:blipFill>
          <a:blip r:embed="rId3" cstate="print"/>
          <a:srcRect/>
          <a:stretch>
            <a:fillRect/>
          </a:stretch>
        </p:blipFill>
        <p:spPr bwMode="auto">
          <a:xfrm>
            <a:off x="1670016" y="4590442"/>
            <a:ext cx="466725" cy="36195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Continue….</a:t>
            </a:r>
          </a:p>
        </p:txBody>
      </p:sp>
      <p:sp>
        <p:nvSpPr>
          <p:cNvPr id="3" name="Content Placeholder 2"/>
          <p:cNvSpPr>
            <a:spLocks noGrp="1"/>
          </p:cNvSpPr>
          <p:nvPr>
            <p:ph idx="1"/>
          </p:nvPr>
        </p:nvSpPr>
        <p:spPr>
          <a:xfrm>
            <a:off x="369651" y="1313234"/>
            <a:ext cx="11556460" cy="4776281"/>
          </a:xfrm>
        </p:spPr>
        <p:txBody>
          <a:bodyPr>
            <a:normAutofit/>
          </a:bodyPr>
          <a:lstStyle/>
          <a:p>
            <a:pPr algn="just"/>
            <a:r>
              <a:rPr lang="en-US" dirty="0">
                <a:latin typeface="Arial" pitchFamily="34" charset="0"/>
                <a:cs typeface="Arial" pitchFamily="34" charset="0"/>
              </a:rPr>
              <a:t>At one point M2 turns on and starts charging Out to V</a:t>
            </a:r>
            <a:r>
              <a:rPr lang="en-US" baseline="-25000" dirty="0">
                <a:latin typeface="Arial" pitchFamily="34" charset="0"/>
                <a:cs typeface="Arial" pitchFamily="34" charset="0"/>
              </a:rPr>
              <a:t>DD</a:t>
            </a:r>
            <a:r>
              <a:rPr lang="en-US" dirty="0">
                <a:latin typeface="Arial" pitchFamily="34" charset="0"/>
                <a:cs typeface="Arial" pitchFamily="34" charset="0"/>
              </a:rPr>
              <a:t>—eventually turning off M1. This in turn enables Out to discharge all the way to GND. </a:t>
            </a:r>
          </a:p>
          <a:p>
            <a:pPr algn="just"/>
            <a:r>
              <a:rPr lang="en-US" dirty="0">
                <a:latin typeface="Arial" pitchFamily="34" charset="0"/>
                <a:cs typeface="Arial" pitchFamily="34" charset="0"/>
              </a:rPr>
              <a:t>The resulting circuit exhibits a rail-to-rail swing, and the static power dissipation is eliminated. </a:t>
            </a:r>
          </a:p>
          <a:p>
            <a:pPr algn="just"/>
            <a:r>
              <a:rPr lang="en-US" dirty="0">
                <a:latin typeface="Arial" pitchFamily="34" charset="0"/>
                <a:cs typeface="Arial" pitchFamily="34" charset="0"/>
              </a:rPr>
              <a:t>The circuit is still </a:t>
            </a:r>
            <a:r>
              <a:rPr lang="en-US" dirty="0" err="1">
                <a:latin typeface="Arial" pitchFamily="34" charset="0"/>
                <a:cs typeface="Arial" pitchFamily="34" charset="0"/>
              </a:rPr>
              <a:t>ratioed</a:t>
            </a:r>
            <a:r>
              <a:rPr lang="en-US" dirty="0">
                <a:latin typeface="Arial" pitchFamily="34" charset="0"/>
                <a:cs typeface="Arial" pitchFamily="34" charset="0"/>
              </a:rPr>
              <a:t> since the sizing of the PMOS devices relative to the pull-down devices is critical. In addition to the problem of increase complexity in design. This circuit style still  has a power-dissipation problem.</a:t>
            </a:r>
            <a:endParaRPr lang="en-US" b="1" u="sng"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3250" name="Picture 2"/>
          <p:cNvPicPr>
            <a:picLocks noChangeAspect="1" noChangeArrowheads="1"/>
          </p:cNvPicPr>
          <p:nvPr/>
        </p:nvPicPr>
        <p:blipFill>
          <a:blip r:embed="rId2" cstate="print"/>
          <a:srcRect/>
          <a:stretch>
            <a:fillRect/>
          </a:stretch>
        </p:blipFill>
        <p:spPr bwMode="auto">
          <a:xfrm>
            <a:off x="7431932" y="3234684"/>
            <a:ext cx="4555787" cy="3623316"/>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2800" dirty="0">
                <a:latin typeface="Arial" pitchFamily="34" charset="0"/>
                <a:cs typeface="Arial" pitchFamily="34" charset="0"/>
              </a:rPr>
              <a:t>Design Consideration: Single-ended versus Differential</a:t>
            </a:r>
            <a:endParaRPr lang="en-US" sz="28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A distinct advantage in DCVSL,  it eliminates the need for an extra inverter to produce the complementary signal. It has been observed that a differential implementation of a complex function may reduce the number of gates required. </a:t>
            </a:r>
            <a:r>
              <a:rPr lang="en-IN" dirty="0">
                <a:latin typeface="Arial" pitchFamily="34" charset="0"/>
                <a:cs typeface="Arial" pitchFamily="34" charset="0"/>
              </a:rPr>
              <a:t>For example in some logic design </a:t>
            </a:r>
            <a:r>
              <a:rPr lang="en-US" dirty="0">
                <a:latin typeface="Arial" pitchFamily="34" charset="0"/>
                <a:cs typeface="Arial" pitchFamily="34" charset="0"/>
              </a:rPr>
              <a:t>it often happens that both a signal and its complement are needed simultaneously.</a:t>
            </a:r>
          </a:p>
          <a:p>
            <a:pPr algn="just"/>
            <a:r>
              <a:rPr lang="en-US" dirty="0">
                <a:latin typeface="Arial" pitchFamily="34" charset="0"/>
                <a:cs typeface="Arial" pitchFamily="34" charset="0"/>
              </a:rPr>
              <a:t> When the complementary signal is generated using an inverter, the inverted signal is delayed with respect to the original. This causes timing problems, especially in very high-speed designs. The differential output capability avoids this problem. </a:t>
            </a:r>
          </a:p>
          <a:p>
            <a:endParaRPr lang="en-US" dirty="0">
              <a:latin typeface="Arial" pitchFamily="34" charset="0"/>
              <a:cs typeface="Arial" pitchFamily="34" charset="0"/>
            </a:endParaRPr>
          </a:p>
          <a:p>
            <a:endParaRPr lang="en-IN" dirty="0">
              <a:latin typeface="Arial" pitchFamily="34" charset="0"/>
              <a:cs typeface="Arial" pitchFamily="34" charset="0"/>
            </a:endParaRPr>
          </a:p>
          <a:p>
            <a:pPr>
              <a:spcBef>
                <a:spcPts val="0"/>
              </a:spcBef>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5" name="Picture 3"/>
          <p:cNvPicPr>
            <a:picLocks noChangeAspect="1" noChangeArrowheads="1"/>
          </p:cNvPicPr>
          <p:nvPr/>
        </p:nvPicPr>
        <p:blipFill>
          <a:blip r:embed="rId2" cstate="print"/>
          <a:srcRect/>
          <a:stretch>
            <a:fillRect/>
          </a:stretch>
        </p:blipFill>
        <p:spPr bwMode="auto">
          <a:xfrm>
            <a:off x="4075889" y="3365770"/>
            <a:ext cx="7957226" cy="3375497"/>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With all these positive properties, why not always use differential logic? </a:t>
            </a:r>
          </a:p>
          <a:p>
            <a:r>
              <a:rPr lang="en-US" dirty="0">
                <a:latin typeface="Arial" pitchFamily="34" charset="0"/>
                <a:cs typeface="Arial" pitchFamily="34" charset="0"/>
              </a:rPr>
              <a:t>Well, the differential nature virtually doubles the number of wires that has to be routed, leading very often to unwieldy designs (on top of the additional implementation overhead in the individual gates). Additionally, the dynamic power dissipation is high</a:t>
            </a: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Pass Transistors Basics</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A popular and widely-used alternative to complementary CMOS is pass-transistor logic, which attempts to reduce the number of transistors. The reduced number of devices has the additional advantage of lower capacitance.</a:t>
            </a:r>
          </a:p>
          <a:p>
            <a:pPr algn="just"/>
            <a:r>
              <a:rPr lang="en-US" dirty="0">
                <a:latin typeface="Arial" pitchFamily="34" charset="0"/>
                <a:cs typeface="Arial" pitchFamily="34" charset="0"/>
              </a:rPr>
              <a:t>An implementation of the AND function constructed that way, using only NMOS transistors. In this gate, if the B input is high, the top transistor is turned on and copies the input A to the output F. When B is low, the bottom pass transistor is turned on and passes a 0.</a:t>
            </a:r>
          </a:p>
          <a:p>
            <a:pPr algn="just"/>
            <a:r>
              <a:rPr lang="en-US" dirty="0">
                <a:latin typeface="Arial" pitchFamily="34" charset="0"/>
                <a:cs typeface="Arial" pitchFamily="34" charset="0"/>
              </a:rPr>
              <a:t>The switch driven by    seems to be redundant at first glance. Its presence is essential to ensure that the gate is static, this is that a low-impedance path exists to the supply rails under all circumstances. </a:t>
            </a:r>
          </a:p>
          <a:p>
            <a:pPr algn="just">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Consider the case when the pass transistor is charging up a node with the</a:t>
            </a:r>
          </a:p>
          <a:p>
            <a:pPr>
              <a:spcBef>
                <a:spcPts val="0"/>
              </a:spcBef>
            </a:pPr>
            <a:r>
              <a:rPr lang="en-US" dirty="0">
                <a:latin typeface="Arial" pitchFamily="34" charset="0"/>
                <a:cs typeface="Arial" pitchFamily="34" charset="0"/>
              </a:rPr>
              <a:t> gate and drain terminals set at V</a:t>
            </a:r>
            <a:r>
              <a:rPr lang="en-US" baseline="-25000" dirty="0">
                <a:latin typeface="Arial" pitchFamily="34" charset="0"/>
                <a:cs typeface="Arial" pitchFamily="34" charset="0"/>
              </a:rPr>
              <a:t>DD </a:t>
            </a:r>
            <a:r>
              <a:rPr lang="en-US" dirty="0">
                <a:latin typeface="Arial" pitchFamily="34" charset="0"/>
                <a:cs typeface="Arial" pitchFamily="34" charset="0"/>
              </a:rPr>
              <a:t>. Let the source of the NMOS pass</a:t>
            </a:r>
          </a:p>
          <a:p>
            <a:pPr>
              <a:spcBef>
                <a:spcPts val="0"/>
              </a:spcBef>
            </a:pPr>
            <a:r>
              <a:rPr lang="en-US" dirty="0">
                <a:latin typeface="Arial" pitchFamily="34" charset="0"/>
                <a:cs typeface="Arial" pitchFamily="34" charset="0"/>
              </a:rPr>
              <a:t> transistor be labeled x. Node x will charge up to V</a:t>
            </a:r>
            <a:r>
              <a:rPr lang="en-US" baseline="-25000" dirty="0">
                <a:latin typeface="Arial" pitchFamily="34" charset="0"/>
                <a:cs typeface="Arial" pitchFamily="34" charset="0"/>
              </a:rPr>
              <a:t>DD</a:t>
            </a:r>
            <a:r>
              <a:rPr lang="en-US" dirty="0">
                <a:latin typeface="Arial" pitchFamily="34" charset="0"/>
                <a:cs typeface="Arial" pitchFamily="34" charset="0"/>
              </a:rPr>
              <a:t>-</a:t>
            </a:r>
            <a:r>
              <a:rPr lang="en-US" dirty="0" err="1">
                <a:latin typeface="Arial" pitchFamily="34" charset="0"/>
                <a:cs typeface="Arial" pitchFamily="34" charset="0"/>
              </a:rPr>
              <a:t>V</a:t>
            </a:r>
            <a:r>
              <a:rPr lang="en-US" baseline="-25000" dirty="0" err="1">
                <a:latin typeface="Arial" pitchFamily="34" charset="0"/>
                <a:cs typeface="Arial" pitchFamily="34" charset="0"/>
              </a:rPr>
              <a:t>Tn</a:t>
            </a:r>
            <a:r>
              <a:rPr lang="en-US" dirty="0">
                <a:latin typeface="Arial" pitchFamily="34" charset="0"/>
                <a:cs typeface="Arial" pitchFamily="34" charset="0"/>
              </a:rPr>
              <a:t>(</a:t>
            </a:r>
            <a:r>
              <a:rPr lang="en-US" dirty="0" err="1">
                <a:latin typeface="Arial" pitchFamily="34" charset="0"/>
                <a:cs typeface="Arial" pitchFamily="34" charset="0"/>
              </a:rPr>
              <a:t>V</a:t>
            </a:r>
            <a:r>
              <a:rPr lang="en-US" baseline="-25000" dirty="0" err="1">
                <a:latin typeface="Arial" pitchFamily="34" charset="0"/>
                <a:cs typeface="Arial" pitchFamily="34" charset="0"/>
              </a:rPr>
              <a:t>x</a:t>
            </a:r>
            <a:r>
              <a:rPr lang="en-US" dirty="0">
                <a:latin typeface="Arial" pitchFamily="34" charset="0"/>
                <a:cs typeface="Arial" pitchFamily="34" charset="0"/>
              </a:rPr>
              <a:t>):</a:t>
            </a:r>
            <a:r>
              <a:rPr lang="en-US" baseline="-25000" dirty="0">
                <a:latin typeface="Arial" pitchFamily="34" charset="0"/>
                <a:cs typeface="Arial" pitchFamily="34" charset="0"/>
              </a:rPr>
              <a:t>.</a:t>
            </a:r>
            <a:endParaRPr lang="en-IN"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5299" name="Picture 3"/>
          <p:cNvPicPr>
            <a:picLocks noChangeAspect="1" noChangeArrowheads="1"/>
          </p:cNvPicPr>
          <p:nvPr/>
        </p:nvPicPr>
        <p:blipFill>
          <a:blip r:embed="rId2" cstate="print"/>
          <a:srcRect/>
          <a:stretch>
            <a:fillRect/>
          </a:stretch>
        </p:blipFill>
        <p:spPr bwMode="auto">
          <a:xfrm>
            <a:off x="8553450" y="4057650"/>
            <a:ext cx="3638550" cy="2800350"/>
          </a:xfrm>
          <a:prstGeom prst="rect">
            <a:avLst/>
          </a:prstGeom>
          <a:noFill/>
          <a:ln w="9525">
            <a:noFill/>
            <a:miter lim="800000"/>
            <a:headEnd/>
            <a:tailEnd/>
          </a:ln>
        </p:spPr>
      </p:pic>
      <p:pic>
        <p:nvPicPr>
          <p:cNvPr id="55300" name="Picture 4"/>
          <p:cNvPicPr>
            <a:picLocks noChangeAspect="1" noChangeArrowheads="1"/>
          </p:cNvPicPr>
          <p:nvPr/>
        </p:nvPicPr>
        <p:blipFill>
          <a:blip r:embed="rId3" cstate="print"/>
          <a:srcRect/>
          <a:stretch>
            <a:fillRect/>
          </a:stretch>
        </p:blipFill>
        <p:spPr bwMode="auto">
          <a:xfrm>
            <a:off x="3058823" y="3200399"/>
            <a:ext cx="300058" cy="340669"/>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Continue….</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endParaRPr lang="en-IN" dirty="0">
              <a:latin typeface="Arial" pitchFamily="34" charset="0"/>
              <a:cs typeface="Arial" pitchFamily="34" charset="0"/>
            </a:endParaRPr>
          </a:p>
          <a:p>
            <a:endParaRPr lang="en-US" dirty="0"/>
          </a:p>
          <a:p>
            <a:pPr algn="just">
              <a:spcBef>
                <a:spcPts val="0"/>
              </a:spcBef>
              <a:buNone/>
            </a:pPr>
            <a:r>
              <a:rPr lang="en-IN" dirty="0">
                <a:latin typeface="Arial" pitchFamily="34" charset="0"/>
                <a:cs typeface="Arial" pitchFamily="34" charset="0"/>
              </a:rPr>
              <a:t>                                          </a:t>
            </a:r>
          </a:p>
          <a:p>
            <a:endParaRPr lang="en-IN" dirty="0">
              <a:latin typeface="Arial" pitchFamily="34" charset="0"/>
              <a:cs typeface="Arial" pitchFamily="34" charset="0"/>
            </a:endParaRPr>
          </a:p>
          <a:p>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endParaRPr lang="en-IN" sz="1500" dirty="0">
              <a:solidFill>
                <a:schemeClr val="tx1"/>
              </a:solidFill>
              <a:latin typeface="Arial" panose="020B0604020202020204" pitchFamily="34" charset="0"/>
              <a:cs typeface="Arial" panose="020B0604020202020204" pitchFamily="34" charset="0"/>
            </a:endParaRP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6323" name="Picture 3"/>
          <p:cNvPicPr>
            <a:picLocks noChangeAspect="1" noChangeArrowheads="1"/>
          </p:cNvPicPr>
          <p:nvPr/>
        </p:nvPicPr>
        <p:blipFill>
          <a:blip r:embed="rId2" cstate="print"/>
          <a:srcRect/>
          <a:stretch>
            <a:fillRect/>
          </a:stretch>
        </p:blipFill>
        <p:spPr bwMode="auto">
          <a:xfrm>
            <a:off x="1134286" y="1911485"/>
            <a:ext cx="10182225" cy="48006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Continue…</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above example demonstrates that pass-transistor gates cannot be cascaded by connecting</a:t>
            </a:r>
          </a:p>
          <a:p>
            <a:pPr>
              <a:buNone/>
            </a:pPr>
            <a:endParaRPr lang="en-IN" dirty="0">
              <a:latin typeface="Arial" pitchFamily="34" charset="0"/>
              <a:cs typeface="Arial" pitchFamily="34" charset="0"/>
            </a:endParaRPr>
          </a:p>
          <a:p>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7347" name="Picture 3"/>
          <p:cNvPicPr>
            <a:picLocks noChangeAspect="1" noChangeArrowheads="1"/>
          </p:cNvPicPr>
          <p:nvPr/>
        </p:nvPicPr>
        <p:blipFill>
          <a:blip r:embed="rId2" cstate="print"/>
          <a:srcRect/>
          <a:stretch>
            <a:fillRect/>
          </a:stretch>
        </p:blipFill>
        <p:spPr bwMode="auto">
          <a:xfrm>
            <a:off x="1301987" y="2294208"/>
            <a:ext cx="9763125" cy="351472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VTC of the pass transistor AND gate</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Similar to complementary CMOS, the VTC of pass transistor logic is data-dependent.</a:t>
            </a:r>
          </a:p>
          <a:p>
            <a:pPr algn="just"/>
            <a:r>
              <a:rPr lang="en-US" dirty="0">
                <a:latin typeface="Arial" pitchFamily="34" charset="0"/>
                <a:cs typeface="Arial" pitchFamily="34" charset="0"/>
              </a:rPr>
              <a:t> For the case when B = V</a:t>
            </a:r>
            <a:r>
              <a:rPr lang="en-US" baseline="-25000" dirty="0">
                <a:latin typeface="Arial" pitchFamily="34" charset="0"/>
                <a:cs typeface="Arial" pitchFamily="34" charset="0"/>
              </a:rPr>
              <a:t>DD</a:t>
            </a:r>
            <a:r>
              <a:rPr lang="en-US" dirty="0">
                <a:latin typeface="Arial" pitchFamily="34" charset="0"/>
                <a:cs typeface="Arial" pitchFamily="34" charset="0"/>
              </a:rPr>
              <a:t>, the top pass transistor is turned on, while the bottom one is turned off. In this case, the output just follows the input A until the input is high enough to turn off the top pass transistor ((i.e., reaches V</a:t>
            </a:r>
            <a:r>
              <a:rPr lang="en-US" baseline="-25000" dirty="0">
                <a:latin typeface="Arial" pitchFamily="34" charset="0"/>
                <a:cs typeface="Arial" pitchFamily="34" charset="0"/>
              </a:rPr>
              <a:t>DD</a:t>
            </a:r>
            <a:r>
              <a:rPr lang="en-US" dirty="0">
                <a:latin typeface="Arial" pitchFamily="34" charset="0"/>
                <a:cs typeface="Arial" pitchFamily="34" charset="0"/>
              </a:rPr>
              <a:t>-</a:t>
            </a:r>
            <a:r>
              <a:rPr lang="en-US" dirty="0" err="1">
                <a:latin typeface="Arial" pitchFamily="34" charset="0"/>
                <a:cs typeface="Arial" pitchFamily="34" charset="0"/>
              </a:rPr>
              <a:t>V</a:t>
            </a:r>
            <a:r>
              <a:rPr lang="en-US" baseline="-25000" dirty="0" err="1">
                <a:latin typeface="Arial" pitchFamily="34" charset="0"/>
                <a:cs typeface="Arial" pitchFamily="34" charset="0"/>
              </a:rPr>
              <a:t>Tn</a:t>
            </a:r>
            <a:r>
              <a:rPr lang="en-US" dirty="0">
                <a:latin typeface="Arial" pitchFamily="34" charset="0"/>
                <a:cs typeface="Arial" pitchFamily="34" charset="0"/>
              </a:rPr>
              <a:t>). </a:t>
            </a:r>
          </a:p>
          <a:p>
            <a:r>
              <a:rPr lang="en-US" dirty="0">
                <a:latin typeface="Arial" pitchFamily="34" charset="0"/>
                <a:cs typeface="Arial" pitchFamily="34" charset="0"/>
              </a:rPr>
              <a:t>Next consider the case when A=V</a:t>
            </a:r>
            <a:r>
              <a:rPr lang="en-US" baseline="-25000" dirty="0">
                <a:latin typeface="Arial" pitchFamily="34" charset="0"/>
                <a:cs typeface="Arial" pitchFamily="34" charset="0"/>
              </a:rPr>
              <a:t>DD</a:t>
            </a:r>
            <a:r>
              <a:rPr lang="en-US" dirty="0">
                <a:latin typeface="Arial" pitchFamily="34" charset="0"/>
                <a:cs typeface="Arial" pitchFamily="34" charset="0"/>
              </a:rPr>
              <a:t>, and B makes a transition from 0        1. the bottom pass transistor is turned on till then and the output  is close to zero.  </a:t>
            </a:r>
          </a:p>
          <a:p>
            <a:pPr>
              <a:buNone/>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A similar behavior is </a:t>
            </a:r>
          </a:p>
          <a:p>
            <a:pPr>
              <a:spcBef>
                <a:spcPts val="0"/>
              </a:spcBef>
            </a:pPr>
            <a:r>
              <a:rPr lang="en-US" dirty="0">
                <a:latin typeface="Arial" pitchFamily="34" charset="0"/>
                <a:cs typeface="Arial" pitchFamily="34" charset="0"/>
              </a:rPr>
              <a:t>observed when both inputs</a:t>
            </a:r>
          </a:p>
          <a:p>
            <a:pPr>
              <a:spcBef>
                <a:spcPts val="0"/>
              </a:spcBef>
            </a:pPr>
            <a:r>
              <a:rPr lang="en-US" dirty="0">
                <a:latin typeface="Arial" pitchFamily="34" charset="0"/>
                <a:cs typeface="Arial" pitchFamily="34" charset="0"/>
              </a:rPr>
              <a:t> A and B transition</a:t>
            </a:r>
          </a:p>
          <a:p>
            <a:pPr>
              <a:spcBef>
                <a:spcPts val="0"/>
              </a:spcBef>
            </a:pPr>
            <a:r>
              <a:rPr lang="en-US" dirty="0">
                <a:latin typeface="Arial" pitchFamily="34" charset="0"/>
                <a:cs typeface="Arial" pitchFamily="34" charset="0"/>
              </a:rPr>
              <a:t>from 0        1.</a:t>
            </a:r>
            <a:endParaRPr lang="en-US"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2227" name="Picture 3"/>
          <p:cNvPicPr>
            <a:picLocks noChangeAspect="1" noChangeArrowheads="1"/>
          </p:cNvPicPr>
          <p:nvPr/>
        </p:nvPicPr>
        <p:blipFill>
          <a:blip r:embed="rId2" cstate="print"/>
          <a:srcRect/>
          <a:stretch>
            <a:fillRect/>
          </a:stretch>
        </p:blipFill>
        <p:spPr bwMode="auto">
          <a:xfrm>
            <a:off x="3988340" y="3261199"/>
            <a:ext cx="8203660" cy="3596801"/>
          </a:xfrm>
          <a:prstGeom prst="rect">
            <a:avLst/>
          </a:prstGeom>
          <a:noFill/>
          <a:ln w="9525">
            <a:noFill/>
            <a:miter lim="800000"/>
            <a:headEnd/>
            <a:tailEnd/>
          </a:ln>
        </p:spPr>
      </p:pic>
      <p:cxnSp>
        <p:nvCxnSpPr>
          <p:cNvPr id="21" name="Straight Arrow Connector 20"/>
          <p:cNvCxnSpPr/>
          <p:nvPr/>
        </p:nvCxnSpPr>
        <p:spPr>
          <a:xfrm>
            <a:off x="7966953" y="2850204"/>
            <a:ext cx="321012" cy="97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582365" y="4627124"/>
            <a:ext cx="321012" cy="97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Pass-transistors require lower switching energy to charge up a node due to the reduced voltage swing. </a:t>
            </a:r>
          </a:p>
          <a:p>
            <a:pPr algn="just"/>
            <a:r>
              <a:rPr lang="en-US" dirty="0">
                <a:latin typeface="Arial" pitchFamily="34" charset="0"/>
                <a:cs typeface="Arial" pitchFamily="34" charset="0"/>
              </a:rPr>
              <a:t>For the pass transistor circuit in previous case assume that the drain voltage is at V</a:t>
            </a:r>
            <a:r>
              <a:rPr lang="en-US" baseline="-25000" dirty="0">
                <a:latin typeface="Arial" pitchFamily="34" charset="0"/>
                <a:cs typeface="Arial" pitchFamily="34" charset="0"/>
              </a:rPr>
              <a:t>DD</a:t>
            </a:r>
            <a:r>
              <a:rPr lang="en-US" dirty="0">
                <a:latin typeface="Arial" pitchFamily="34" charset="0"/>
                <a:cs typeface="Arial" pitchFamily="34" charset="0"/>
              </a:rPr>
              <a:t> and the gate voltage transitions to V</a:t>
            </a:r>
            <a:r>
              <a:rPr lang="en-US" baseline="-25000" dirty="0">
                <a:latin typeface="Arial" pitchFamily="34" charset="0"/>
                <a:cs typeface="Arial" pitchFamily="34" charset="0"/>
              </a:rPr>
              <a:t>DD</a:t>
            </a:r>
            <a:r>
              <a:rPr lang="en-US" dirty="0">
                <a:latin typeface="Arial" pitchFamily="34" charset="0"/>
                <a:cs typeface="Arial" pitchFamily="34" charset="0"/>
              </a:rPr>
              <a:t>. </a:t>
            </a:r>
          </a:p>
          <a:p>
            <a:pPr algn="just"/>
            <a:r>
              <a:rPr lang="en-US" dirty="0">
                <a:latin typeface="Arial" pitchFamily="34" charset="0"/>
                <a:cs typeface="Arial" pitchFamily="34" charset="0"/>
              </a:rPr>
              <a:t>The output node charges from 0V to V</a:t>
            </a:r>
            <a:r>
              <a:rPr lang="en-US" baseline="-25000" dirty="0">
                <a:latin typeface="Arial" pitchFamily="34" charset="0"/>
                <a:cs typeface="Arial" pitchFamily="34" charset="0"/>
              </a:rPr>
              <a:t>DD</a:t>
            </a:r>
            <a:r>
              <a:rPr lang="en-US" dirty="0">
                <a:latin typeface="Arial" pitchFamily="34" charset="0"/>
                <a:cs typeface="Arial" pitchFamily="34" charset="0"/>
              </a:rPr>
              <a:t>-</a:t>
            </a:r>
            <a:r>
              <a:rPr lang="en-US" dirty="0" err="1">
                <a:latin typeface="Arial" pitchFamily="34" charset="0"/>
                <a:cs typeface="Arial" pitchFamily="34" charset="0"/>
              </a:rPr>
              <a:t>V</a:t>
            </a:r>
            <a:r>
              <a:rPr lang="en-US" baseline="-25000" dirty="0" err="1">
                <a:latin typeface="Arial" pitchFamily="34" charset="0"/>
                <a:cs typeface="Arial" pitchFamily="34" charset="0"/>
              </a:rPr>
              <a:t>Tn</a:t>
            </a:r>
            <a:r>
              <a:rPr lang="en-US" dirty="0">
                <a:latin typeface="Arial" pitchFamily="34" charset="0"/>
                <a:cs typeface="Arial" pitchFamily="34" charset="0"/>
              </a:rPr>
              <a:t> (assuming that node x was initially at 0V). and the energy drawn from the power supply for charging the output of a pass transistor is given by:</a:t>
            </a:r>
          </a:p>
          <a:p>
            <a:pPr algn="just"/>
            <a:endParaRPr lang="en-IN" dirty="0">
              <a:latin typeface="Arial" pitchFamily="34" charset="0"/>
              <a:cs typeface="Arial" pitchFamily="34" charset="0"/>
            </a:endParaRPr>
          </a:p>
          <a:p>
            <a:pPr algn="just"/>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3251" name="Picture 3"/>
          <p:cNvPicPr>
            <a:picLocks noChangeAspect="1" noChangeArrowheads="1"/>
          </p:cNvPicPr>
          <p:nvPr/>
        </p:nvPicPr>
        <p:blipFill>
          <a:blip r:embed="rId2" cstate="print"/>
          <a:srcRect/>
          <a:stretch>
            <a:fillRect/>
          </a:stretch>
        </p:blipFill>
        <p:spPr bwMode="auto">
          <a:xfrm>
            <a:off x="1551561" y="3300920"/>
            <a:ext cx="8720847" cy="1351117"/>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Differential Pass Transistor Logic</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A differential pass-transistor logic family, called CPL or DPL, is commonly used. The basic idea (similar to DCVSL) is to accept true and complementary inputs and produce true and complementary outputs.</a:t>
            </a:r>
          </a:p>
          <a:p>
            <a:r>
              <a:rPr lang="en-US" dirty="0">
                <a:latin typeface="Arial" pitchFamily="34" charset="0"/>
                <a:cs typeface="Arial" pitchFamily="34" charset="0"/>
              </a:rPr>
              <a:t>A number of CPL gates (AND/NAND and XOR/NXOR) are shown in Figure                                                                                                                                 </a:t>
            </a: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4" name="Picture 2"/>
          <p:cNvPicPr>
            <a:picLocks noChangeAspect="1" noChangeArrowheads="1"/>
          </p:cNvPicPr>
          <p:nvPr/>
        </p:nvPicPr>
        <p:blipFill>
          <a:blip r:embed="rId2" cstate="print"/>
          <a:srcRect/>
          <a:stretch>
            <a:fillRect/>
          </a:stretch>
        </p:blipFill>
        <p:spPr bwMode="auto">
          <a:xfrm>
            <a:off x="211373" y="2840477"/>
            <a:ext cx="5138840" cy="4017524"/>
          </a:xfrm>
          <a:prstGeom prst="rect">
            <a:avLst/>
          </a:prstGeom>
          <a:noFill/>
          <a:ln w="9525">
            <a:noFill/>
            <a:miter lim="800000"/>
            <a:headEnd/>
            <a:tailEnd/>
          </a:ln>
        </p:spPr>
      </p:pic>
      <p:pic>
        <p:nvPicPr>
          <p:cNvPr id="21" name="Picture 3"/>
          <p:cNvPicPr>
            <a:picLocks noChangeAspect="1" noChangeArrowheads="1"/>
          </p:cNvPicPr>
          <p:nvPr/>
        </p:nvPicPr>
        <p:blipFill>
          <a:blip r:embed="rId3" cstate="print"/>
          <a:srcRect/>
          <a:stretch>
            <a:fillRect/>
          </a:stretch>
        </p:blipFill>
        <p:spPr bwMode="auto">
          <a:xfrm>
            <a:off x="5710136" y="2743200"/>
            <a:ext cx="6481864" cy="41148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Continue……</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These gates possess a number of interesting properties  -</a:t>
            </a:r>
          </a:p>
          <a:p>
            <a:pPr algn="just"/>
            <a:r>
              <a:rPr lang="en-US" dirty="0">
                <a:latin typeface="Arial" pitchFamily="34" charset="0"/>
                <a:cs typeface="Arial" pitchFamily="34" charset="0"/>
              </a:rPr>
              <a:t>Some complex gates such as XORs and adders can be realized efficiently with a small number of transistors. Furthermore, the availability of both polarities of every signal eliminates the need for extra inverters.    </a:t>
            </a:r>
          </a:p>
          <a:p>
            <a:pPr algn="just"/>
            <a:r>
              <a:rPr lang="en-US" dirty="0">
                <a:latin typeface="Arial" pitchFamily="34" charset="0"/>
                <a:cs typeface="Arial" pitchFamily="34" charset="0"/>
              </a:rPr>
              <a:t>CPL belongs to the class of static gates, because the output-defining nodes are always connected to either VDD or GND through a low resistance path. This is advantageous for the noise resilience.         </a:t>
            </a:r>
          </a:p>
          <a:p>
            <a:r>
              <a:rPr lang="en-US" dirty="0">
                <a:latin typeface="Arial" pitchFamily="34" charset="0"/>
                <a:cs typeface="Arial" pitchFamily="34" charset="0"/>
              </a:rPr>
              <a:t>The design is very modular. In effect, all gates use exactly the same topology. Only the inputs are permutated. This makes the design of a library of gates very simple.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Robust and Efficient Pass-Transistor Design</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fontScale="77500" lnSpcReduction="20000"/>
          </a:bodyPr>
          <a:lstStyle/>
          <a:p>
            <a:r>
              <a:rPr lang="en-US" sz="2300" dirty="0">
                <a:latin typeface="Arial" pitchFamily="34" charset="0"/>
                <a:cs typeface="Arial" pitchFamily="34" charset="0"/>
              </a:rPr>
              <a:t>Differential pass-transistor logic, like single-ended pass-transistor logic, suffers from static power dissipation and reduced noise margins. since the high input to the signal-restoring inverter only charges up to V</a:t>
            </a:r>
            <a:r>
              <a:rPr lang="en-US" sz="2300" baseline="-25000" dirty="0">
                <a:latin typeface="Arial" pitchFamily="34" charset="0"/>
                <a:cs typeface="Arial" pitchFamily="34" charset="0"/>
              </a:rPr>
              <a:t>DD</a:t>
            </a:r>
            <a:r>
              <a:rPr lang="en-US" sz="2300" dirty="0">
                <a:latin typeface="Arial" pitchFamily="34" charset="0"/>
                <a:cs typeface="Arial" pitchFamily="34" charset="0"/>
              </a:rPr>
              <a:t>-</a:t>
            </a:r>
            <a:r>
              <a:rPr lang="en-US" sz="2300" dirty="0" err="1">
                <a:latin typeface="Arial" pitchFamily="34" charset="0"/>
                <a:cs typeface="Arial" pitchFamily="34" charset="0"/>
              </a:rPr>
              <a:t>V</a:t>
            </a:r>
            <a:r>
              <a:rPr lang="en-US" sz="2300" baseline="-25000" dirty="0" err="1">
                <a:latin typeface="Arial" pitchFamily="34" charset="0"/>
                <a:cs typeface="Arial" pitchFamily="34" charset="0"/>
              </a:rPr>
              <a:t>Tn</a:t>
            </a:r>
            <a:r>
              <a:rPr lang="en-US" sz="2300" dirty="0">
                <a:latin typeface="Arial" pitchFamily="34" charset="0"/>
                <a:cs typeface="Arial" pitchFamily="34" charset="0"/>
              </a:rPr>
              <a:t>.</a:t>
            </a:r>
          </a:p>
          <a:p>
            <a:r>
              <a:rPr lang="en-US" sz="2300" dirty="0">
                <a:latin typeface="Arial" pitchFamily="34" charset="0"/>
                <a:cs typeface="Arial" pitchFamily="34" charset="0"/>
              </a:rPr>
              <a:t>There are several solutions proposed to deal with this problem as outlined below.</a:t>
            </a:r>
          </a:p>
          <a:p>
            <a:pPr>
              <a:buNone/>
            </a:pPr>
            <a:r>
              <a:rPr lang="en-US" sz="2300" b="1" dirty="0">
                <a:latin typeface="Arial" pitchFamily="34" charset="0"/>
                <a:cs typeface="Arial" pitchFamily="34" charset="0"/>
              </a:rPr>
              <a:t>       Solution 1: Level Restoration</a:t>
            </a:r>
            <a:r>
              <a:rPr lang="en-US" sz="2300" dirty="0">
                <a:latin typeface="Arial" pitchFamily="34" charset="0"/>
                <a:cs typeface="Arial" pitchFamily="34" charset="0"/>
              </a:rPr>
              <a:t>  </a:t>
            </a:r>
          </a:p>
          <a:p>
            <a:r>
              <a:rPr lang="en-US" sz="2300" dirty="0">
                <a:latin typeface="Arial" pitchFamily="34" charset="0"/>
                <a:cs typeface="Arial" pitchFamily="34" charset="0"/>
              </a:rPr>
              <a:t>A common solution to the voltage drop problem is the use of a level restorer, which is a single PMOS configured in a feedback path. </a:t>
            </a:r>
          </a:p>
          <a:p>
            <a:endParaRPr lang="en-US" sz="2300" dirty="0">
              <a:latin typeface="Arial" pitchFamily="34" charset="0"/>
              <a:cs typeface="Arial" pitchFamily="34" charset="0"/>
            </a:endParaRPr>
          </a:p>
          <a:p>
            <a:pPr algn="just">
              <a:lnSpc>
                <a:spcPct val="110000"/>
              </a:lnSpc>
              <a:spcBef>
                <a:spcPts val="0"/>
              </a:spcBef>
            </a:pPr>
            <a:r>
              <a:rPr lang="en-US" sz="2300" dirty="0">
                <a:latin typeface="Arial" pitchFamily="34" charset="0"/>
                <a:cs typeface="Arial" pitchFamily="34" charset="0"/>
              </a:rPr>
              <a:t>If input A makes a 0 to V</a:t>
            </a:r>
            <a:r>
              <a:rPr lang="en-US" sz="2300" baseline="-25000" dirty="0">
                <a:latin typeface="Arial" pitchFamily="34" charset="0"/>
                <a:cs typeface="Arial" pitchFamily="34" charset="0"/>
              </a:rPr>
              <a:t>DD</a:t>
            </a:r>
            <a:r>
              <a:rPr lang="en-US" sz="2300" dirty="0">
                <a:latin typeface="Arial" pitchFamily="34" charset="0"/>
                <a:cs typeface="Arial" pitchFamily="34" charset="0"/>
              </a:rPr>
              <a:t> transition, </a:t>
            </a:r>
            <a:r>
              <a:rPr lang="en-US" sz="2300" dirty="0" err="1">
                <a:latin typeface="Arial" pitchFamily="34" charset="0"/>
                <a:cs typeface="Arial" pitchFamily="34" charset="0"/>
              </a:rPr>
              <a:t>Mn</a:t>
            </a:r>
            <a:r>
              <a:rPr lang="en-US" sz="2300" dirty="0">
                <a:latin typeface="Arial" pitchFamily="34" charset="0"/>
                <a:cs typeface="Arial" pitchFamily="34" charset="0"/>
              </a:rPr>
              <a:t> only charges up node  X to V</a:t>
            </a:r>
            <a:r>
              <a:rPr lang="en-US" sz="2300" baseline="-25000" dirty="0">
                <a:latin typeface="Arial" pitchFamily="34" charset="0"/>
                <a:cs typeface="Arial" pitchFamily="34" charset="0"/>
              </a:rPr>
              <a:t>DD</a:t>
            </a:r>
            <a:r>
              <a:rPr lang="en-US" sz="2300" dirty="0">
                <a:latin typeface="Arial" pitchFamily="34" charset="0"/>
                <a:cs typeface="Arial" pitchFamily="34" charset="0"/>
              </a:rPr>
              <a:t>-</a:t>
            </a:r>
            <a:r>
              <a:rPr lang="en-US" sz="2300" dirty="0" err="1">
                <a:latin typeface="Arial" pitchFamily="34" charset="0"/>
                <a:cs typeface="Arial" pitchFamily="34" charset="0"/>
              </a:rPr>
              <a:t>V</a:t>
            </a:r>
            <a:r>
              <a:rPr lang="en-US" sz="2300" baseline="-25000" dirty="0" err="1">
                <a:latin typeface="Arial" pitchFamily="34" charset="0"/>
                <a:cs typeface="Arial" pitchFamily="34" charset="0"/>
              </a:rPr>
              <a:t>Tn</a:t>
            </a:r>
            <a:r>
              <a:rPr lang="en-US" sz="2300" dirty="0">
                <a:latin typeface="Arial" pitchFamily="34" charset="0"/>
                <a:cs typeface="Arial" pitchFamily="34" charset="0"/>
              </a:rPr>
              <a:t>. This is, however, enough to switch the output of the inverter low, turning on the feedback device  </a:t>
            </a:r>
            <a:r>
              <a:rPr lang="en-US" sz="2300" dirty="0" err="1">
                <a:latin typeface="Arial" pitchFamily="34" charset="0"/>
                <a:cs typeface="Arial" pitchFamily="34" charset="0"/>
              </a:rPr>
              <a:t>Mr</a:t>
            </a:r>
            <a:r>
              <a:rPr lang="en-US" sz="2300" dirty="0">
                <a:latin typeface="Arial" pitchFamily="34" charset="0"/>
                <a:cs typeface="Arial" pitchFamily="34" charset="0"/>
              </a:rPr>
              <a:t> and  pulling node X all the way to V</a:t>
            </a:r>
            <a:r>
              <a:rPr lang="en-US" sz="2300" baseline="-25000" dirty="0">
                <a:latin typeface="Arial" pitchFamily="34" charset="0"/>
                <a:cs typeface="Arial" pitchFamily="34" charset="0"/>
              </a:rPr>
              <a:t>DD</a:t>
            </a:r>
            <a:r>
              <a:rPr lang="en-US" sz="2300" dirty="0">
                <a:latin typeface="Arial" pitchFamily="34" charset="0"/>
                <a:cs typeface="Arial" pitchFamily="34" charset="0"/>
              </a:rPr>
              <a:t> . </a:t>
            </a:r>
          </a:p>
          <a:p>
            <a:pPr algn="just">
              <a:lnSpc>
                <a:spcPct val="110000"/>
              </a:lnSpc>
              <a:spcBef>
                <a:spcPts val="0"/>
              </a:spcBef>
              <a:buNone/>
            </a:pPr>
            <a:r>
              <a:rPr lang="en-US" sz="2100" dirty="0">
                <a:latin typeface="Arial" pitchFamily="34" charset="0"/>
                <a:cs typeface="Arial" pitchFamily="34" charset="0"/>
              </a:rPr>
              <a:t>      </a:t>
            </a:r>
          </a:p>
          <a:p>
            <a:pPr algn="just">
              <a:lnSpc>
                <a:spcPct val="110000"/>
              </a:lnSpc>
              <a:spcBef>
                <a:spcPts val="0"/>
              </a:spcBef>
              <a:buFont typeface="Wingdings" pitchFamily="2" charset="2"/>
              <a:buChar char="Ø"/>
            </a:pPr>
            <a:r>
              <a:rPr lang="en-US" sz="2300" dirty="0">
                <a:latin typeface="Arial" pitchFamily="34" charset="0"/>
                <a:cs typeface="Arial" pitchFamily="34" charset="0"/>
              </a:rPr>
              <a:t> This eliminates any static power dissipation in the inverter  because voltage levels are either at GND or VDD, and no </a:t>
            </a:r>
            <a:r>
              <a:rPr lang="en-US" sz="2300" dirty="0" err="1">
                <a:latin typeface="Arial" pitchFamily="34" charset="0"/>
                <a:cs typeface="Arial" pitchFamily="34" charset="0"/>
              </a:rPr>
              <a:t>staticpower</a:t>
            </a:r>
            <a:r>
              <a:rPr lang="en-US" sz="2300" dirty="0">
                <a:latin typeface="Arial" pitchFamily="34" charset="0"/>
                <a:cs typeface="Arial" pitchFamily="34" charset="0"/>
              </a:rPr>
              <a:t> is consumed. This solution add one complexity since the</a:t>
            </a:r>
          </a:p>
          <a:p>
            <a:pPr algn="just">
              <a:lnSpc>
                <a:spcPct val="110000"/>
              </a:lnSpc>
              <a:spcBef>
                <a:spcPts val="0"/>
              </a:spcBef>
              <a:buNone/>
            </a:pPr>
            <a:r>
              <a:rPr lang="en-US" sz="2300" dirty="0">
                <a:latin typeface="Arial" pitchFamily="34" charset="0"/>
                <a:cs typeface="Arial" pitchFamily="34" charset="0"/>
              </a:rPr>
              <a:t>      circuit  is now </a:t>
            </a:r>
            <a:r>
              <a:rPr lang="en-US" sz="2300" dirty="0" err="1">
                <a:latin typeface="Arial" pitchFamily="34" charset="0"/>
                <a:cs typeface="Arial" pitchFamily="34" charset="0"/>
              </a:rPr>
              <a:t>ratioed</a:t>
            </a:r>
            <a:r>
              <a:rPr lang="en-US" sz="2300" dirty="0">
                <a:latin typeface="Arial" pitchFamily="34" charset="0"/>
                <a:cs typeface="Arial" pitchFamily="34" charset="0"/>
              </a:rPr>
              <a:t>                                                                                      </a:t>
            </a:r>
          </a:p>
          <a:p>
            <a:pPr algn="just">
              <a:buNone/>
            </a:pPr>
            <a:r>
              <a:rPr lang="en-US" dirty="0">
                <a:latin typeface="Arial" pitchFamily="34" charset="0"/>
                <a:cs typeface="Arial" pitchFamily="34" charset="0"/>
              </a:rPr>
              <a:t>                                                </a:t>
            </a:r>
          </a:p>
          <a:p>
            <a:pPr>
              <a:buNone/>
            </a:pPr>
            <a:endParaRPr lang="en-US" dirty="0">
              <a:latin typeface="Arial" pitchFamily="34" charset="0"/>
              <a:cs typeface="Arial" pitchFamily="34" charset="0"/>
            </a:endParaRPr>
          </a:p>
          <a:p>
            <a:pPr>
              <a:buNone/>
            </a:pPr>
            <a:r>
              <a:rPr lang="en-US" dirty="0">
                <a:latin typeface="Arial" pitchFamily="34" charset="0"/>
                <a:cs typeface="Arial" pitchFamily="34" charset="0"/>
              </a:rPr>
              <a: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698852"/>
          </a:xfrm>
        </p:spPr>
        <p:txBody>
          <a:bodyPr>
            <a:normAutofit/>
          </a:bodyPr>
          <a:lstStyle/>
          <a:p>
            <a:r>
              <a:rPr lang="en-US" sz="3200"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If W/L ratio is large  it will transfer the charge at faster rate. Furthermore it will store more  value.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6" name="Picture 3"/>
          <p:cNvPicPr>
            <a:picLocks noChangeAspect="1" noChangeArrowheads="1"/>
          </p:cNvPicPr>
          <p:nvPr/>
        </p:nvPicPr>
        <p:blipFill>
          <a:blip r:embed="rId2" cstate="print"/>
          <a:srcRect/>
          <a:stretch>
            <a:fillRect/>
          </a:stretch>
        </p:blipFill>
        <p:spPr bwMode="auto">
          <a:xfrm>
            <a:off x="378699" y="2782111"/>
            <a:ext cx="5617191" cy="4075889"/>
          </a:xfrm>
          <a:prstGeom prst="rect">
            <a:avLst/>
          </a:prstGeom>
          <a:noFill/>
          <a:ln w="9525">
            <a:noFill/>
            <a:miter lim="800000"/>
            <a:headEnd/>
            <a:tailEnd/>
          </a:ln>
        </p:spPr>
      </p:pic>
      <p:pic>
        <p:nvPicPr>
          <p:cNvPr id="52227" name="Picture 3"/>
          <p:cNvPicPr>
            <a:picLocks noChangeAspect="1" noChangeArrowheads="1"/>
          </p:cNvPicPr>
          <p:nvPr/>
        </p:nvPicPr>
        <p:blipFill>
          <a:blip r:embed="rId3" cstate="print"/>
          <a:srcRect/>
          <a:stretch>
            <a:fillRect/>
          </a:stretch>
        </p:blipFill>
        <p:spPr bwMode="auto">
          <a:xfrm>
            <a:off x="6585626" y="2684834"/>
            <a:ext cx="5445226" cy="4007796"/>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Continue… </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We have consistently widened the PMOS transistor so that its resistance matches. The motivation behind this approach is to create an inverter with  symmetrical VTC. However, this does not imply that this ratio also yields the minimum overall propagation delay. </a:t>
            </a:r>
          </a:p>
          <a:p>
            <a:r>
              <a:rPr lang="en-US" dirty="0">
                <a:latin typeface="Arial" pitchFamily="34" charset="0"/>
                <a:cs typeface="Arial" pitchFamily="34" charset="0"/>
              </a:rPr>
              <a:t>If symmetry and  noise margins are not of prime concern it is actually possible to speed up the inverter by reducing the width of the PMOS device. </a:t>
            </a:r>
          </a:p>
          <a:p>
            <a:r>
              <a:rPr lang="en-US" dirty="0">
                <a:latin typeface="Arial" pitchFamily="34" charset="0"/>
                <a:cs typeface="Arial" pitchFamily="34" charset="0"/>
              </a:rPr>
              <a:t>This optimum ratio can be derived through the following simple analysis. Consider two identical, cascaded CMOS inverters. The load capacitance of the first gate equals approximately</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Sizing of level restorer</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sizing of </a:t>
            </a:r>
            <a:r>
              <a:rPr lang="en-US" b="1" dirty="0" err="1">
                <a:latin typeface="Arial" pitchFamily="34" charset="0"/>
                <a:cs typeface="Arial" pitchFamily="34" charset="0"/>
              </a:rPr>
              <a:t>M</a:t>
            </a:r>
            <a:r>
              <a:rPr lang="en-US" b="1" baseline="-25000" dirty="0" err="1">
                <a:latin typeface="Arial" pitchFamily="34" charset="0"/>
                <a:cs typeface="Arial" pitchFamily="34" charset="0"/>
              </a:rPr>
              <a:t>r</a:t>
            </a:r>
            <a:r>
              <a:rPr lang="en-US" b="1" baseline="-25000" dirty="0">
                <a:latin typeface="Arial" pitchFamily="34" charset="0"/>
                <a:cs typeface="Arial" pitchFamily="34" charset="0"/>
              </a:rPr>
              <a:t> </a:t>
            </a:r>
            <a:r>
              <a:rPr lang="en-US" dirty="0">
                <a:latin typeface="Arial" pitchFamily="34" charset="0"/>
                <a:cs typeface="Arial" pitchFamily="34" charset="0"/>
              </a:rPr>
              <a:t> and </a:t>
            </a:r>
            <a:r>
              <a:rPr lang="en-US" b="1" dirty="0" err="1">
                <a:latin typeface="Arial" pitchFamily="34" charset="0"/>
                <a:cs typeface="Arial" pitchFamily="34" charset="0"/>
              </a:rPr>
              <a:t>M</a:t>
            </a:r>
            <a:r>
              <a:rPr lang="en-US" b="1" baseline="-25000" dirty="0" err="1">
                <a:latin typeface="Arial" pitchFamily="34" charset="0"/>
                <a:cs typeface="Arial" pitchFamily="34" charset="0"/>
              </a:rPr>
              <a:t>n</a:t>
            </a:r>
            <a:r>
              <a:rPr lang="en-US" b="1" dirty="0">
                <a:latin typeface="Arial" pitchFamily="34" charset="0"/>
                <a:cs typeface="Arial" pitchFamily="34" charset="0"/>
              </a:rPr>
              <a:t> </a:t>
            </a:r>
            <a:r>
              <a:rPr lang="en-US" dirty="0">
                <a:latin typeface="Arial" pitchFamily="34" charset="0"/>
                <a:cs typeface="Arial" pitchFamily="34" charset="0"/>
              </a:rPr>
              <a:t> will change  the logic at point  </a:t>
            </a:r>
            <a:r>
              <a:rPr lang="en-US" b="1" dirty="0">
                <a:latin typeface="Arial" pitchFamily="34" charset="0"/>
                <a:cs typeface="Arial" pitchFamily="34" charset="0"/>
              </a:rPr>
              <a:t>‘x</a:t>
            </a:r>
            <a:r>
              <a:rPr lang="en-US" dirty="0">
                <a:latin typeface="Arial" pitchFamily="34" charset="0"/>
                <a:cs typeface="Arial" pitchFamily="34" charset="0"/>
              </a:rPr>
              <a:t>’ .</a:t>
            </a:r>
          </a:p>
          <a:p>
            <a:r>
              <a:rPr lang="en-IN" dirty="0">
                <a:latin typeface="Arial" pitchFamily="34" charset="0"/>
                <a:cs typeface="Arial" pitchFamily="34" charset="0"/>
              </a:rPr>
              <a:t>If  </a:t>
            </a:r>
            <a:r>
              <a:rPr lang="en-US" dirty="0">
                <a:latin typeface="Arial" pitchFamily="34" charset="0"/>
                <a:cs typeface="Arial" pitchFamily="34" charset="0"/>
              </a:rPr>
              <a:t> </a:t>
            </a:r>
            <a:r>
              <a:rPr lang="en-US" b="1" dirty="0" err="1">
                <a:latin typeface="Arial" pitchFamily="34" charset="0"/>
                <a:cs typeface="Arial" pitchFamily="34" charset="0"/>
              </a:rPr>
              <a:t>M</a:t>
            </a:r>
            <a:r>
              <a:rPr lang="en-US" b="1" baseline="-25000" dirty="0" err="1">
                <a:latin typeface="Arial" pitchFamily="34" charset="0"/>
                <a:cs typeface="Arial" pitchFamily="34" charset="0"/>
              </a:rPr>
              <a:t>r</a:t>
            </a:r>
            <a:r>
              <a:rPr lang="en-US" b="1" baseline="-25000" dirty="0">
                <a:latin typeface="Arial" pitchFamily="34" charset="0"/>
                <a:cs typeface="Arial" pitchFamily="34" charset="0"/>
              </a:rPr>
              <a:t> </a:t>
            </a:r>
            <a:r>
              <a:rPr lang="en-US" dirty="0">
                <a:latin typeface="Arial" pitchFamily="34" charset="0"/>
                <a:cs typeface="Arial" pitchFamily="34" charset="0"/>
              </a:rPr>
              <a:t>  is stronger than </a:t>
            </a:r>
            <a:r>
              <a:rPr lang="en-US" b="1" dirty="0" err="1">
                <a:latin typeface="Arial" pitchFamily="34" charset="0"/>
                <a:cs typeface="Arial" pitchFamily="34" charset="0"/>
              </a:rPr>
              <a:t>M</a:t>
            </a:r>
            <a:r>
              <a:rPr lang="en-US" b="1" baseline="-25000" dirty="0" err="1">
                <a:latin typeface="Arial" pitchFamily="34" charset="0"/>
                <a:cs typeface="Arial" pitchFamily="34" charset="0"/>
              </a:rPr>
              <a:t>n</a:t>
            </a:r>
            <a:r>
              <a:rPr lang="en-US" b="1" dirty="0">
                <a:latin typeface="Arial" pitchFamily="34" charset="0"/>
                <a:cs typeface="Arial" pitchFamily="34" charset="0"/>
              </a:rPr>
              <a:t> </a:t>
            </a:r>
            <a:r>
              <a:rPr lang="en-US" dirty="0">
                <a:latin typeface="Arial" pitchFamily="34" charset="0"/>
                <a:cs typeface="Arial" pitchFamily="34" charset="0"/>
              </a:rPr>
              <a:t> restoring at x is faster .</a:t>
            </a:r>
          </a:p>
          <a:p>
            <a:r>
              <a:rPr lang="en-IN" dirty="0">
                <a:latin typeface="Arial" pitchFamily="34" charset="0"/>
                <a:cs typeface="Arial" pitchFamily="34" charset="0"/>
              </a:rPr>
              <a:t>If </a:t>
            </a:r>
            <a:r>
              <a:rPr lang="en-US" b="1" dirty="0" err="1">
                <a:latin typeface="Arial" pitchFamily="34" charset="0"/>
                <a:cs typeface="Arial" pitchFamily="34" charset="0"/>
              </a:rPr>
              <a:t>M</a:t>
            </a:r>
            <a:r>
              <a:rPr lang="en-US" b="1" baseline="-25000" dirty="0" err="1">
                <a:latin typeface="Arial" pitchFamily="34" charset="0"/>
                <a:cs typeface="Arial" pitchFamily="34" charset="0"/>
              </a:rPr>
              <a:t>n</a:t>
            </a:r>
            <a:r>
              <a:rPr lang="en-US" b="1" baseline="-25000" dirty="0">
                <a:latin typeface="Arial" pitchFamily="34" charset="0"/>
                <a:cs typeface="Arial" pitchFamily="34" charset="0"/>
              </a:rPr>
              <a:t> </a:t>
            </a:r>
            <a:r>
              <a:rPr lang="en-US" dirty="0">
                <a:latin typeface="Arial" pitchFamily="34" charset="0"/>
                <a:cs typeface="Arial" pitchFamily="34" charset="0"/>
              </a:rPr>
              <a:t>  is stronger than </a:t>
            </a:r>
            <a:r>
              <a:rPr lang="en-US" b="1" dirty="0" err="1">
                <a:latin typeface="Arial" pitchFamily="34" charset="0"/>
                <a:cs typeface="Arial" pitchFamily="34" charset="0"/>
              </a:rPr>
              <a:t>M</a:t>
            </a:r>
            <a:r>
              <a:rPr lang="en-US" b="1" baseline="-25000" dirty="0" err="1">
                <a:latin typeface="Arial" pitchFamily="34" charset="0"/>
                <a:cs typeface="Arial" pitchFamily="34" charset="0"/>
              </a:rPr>
              <a:t>r</a:t>
            </a:r>
            <a:r>
              <a:rPr lang="en-US" b="1" dirty="0">
                <a:latin typeface="Arial" pitchFamily="34" charset="0"/>
                <a:cs typeface="Arial" pitchFamily="34" charset="0"/>
              </a:rPr>
              <a:t> </a:t>
            </a:r>
            <a:r>
              <a:rPr lang="en-US" dirty="0">
                <a:latin typeface="Arial" pitchFamily="34" charset="0"/>
                <a:cs typeface="Arial" pitchFamily="34" charset="0"/>
              </a:rPr>
              <a:t> de-storing at x is an important issue. </a:t>
            </a:r>
          </a:p>
          <a:p>
            <a:r>
              <a:rPr lang="en-IN" dirty="0">
                <a:latin typeface="Arial" pitchFamily="34" charset="0"/>
                <a:cs typeface="Arial" pitchFamily="34" charset="0"/>
              </a:rPr>
              <a:t>Power dissipation is very small – no static power dissipation. </a:t>
            </a:r>
          </a:p>
          <a:p>
            <a:r>
              <a:rPr lang="en-IN" dirty="0">
                <a:latin typeface="Arial" pitchFamily="34" charset="0"/>
                <a:cs typeface="Arial" pitchFamily="34" charset="0"/>
              </a:rPr>
              <a:t>Another concern if delay of inverter is more then </a:t>
            </a:r>
            <a:r>
              <a:rPr lang="en-US" b="1" dirty="0" err="1">
                <a:latin typeface="Arial" pitchFamily="34" charset="0"/>
                <a:cs typeface="Arial" pitchFamily="34" charset="0"/>
              </a:rPr>
              <a:t>M</a:t>
            </a:r>
            <a:r>
              <a:rPr lang="en-US" b="1" baseline="-25000" dirty="0" err="1">
                <a:latin typeface="Arial" pitchFamily="34" charset="0"/>
                <a:cs typeface="Arial" pitchFamily="34" charset="0"/>
              </a:rPr>
              <a:t>r</a:t>
            </a:r>
            <a:r>
              <a:rPr lang="en-US" b="1" baseline="-25000" dirty="0">
                <a:latin typeface="Arial" pitchFamily="34" charset="0"/>
                <a:cs typeface="Arial" pitchFamily="34" charset="0"/>
              </a:rPr>
              <a:t> </a:t>
            </a:r>
            <a:r>
              <a:rPr lang="en-IN" dirty="0">
                <a:latin typeface="Arial" pitchFamily="34" charset="0"/>
                <a:cs typeface="Arial" pitchFamily="34" charset="0"/>
              </a:rPr>
              <a:t> transistor will take more time to restore. </a:t>
            </a:r>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t>Swing-restored pass transistor logic</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A modification of the level-restorer, applicable in differential networks and known as swing-restored pass transistor logic. Instead of a simple inverter or half-latch at the output of the pass transistor network, two back-to-back inverters, configured in a cross-coupled fashion, are used for level restoration and performance improvement.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2227" name="Picture 3"/>
          <p:cNvPicPr>
            <a:picLocks noChangeAspect="1" noChangeArrowheads="1"/>
          </p:cNvPicPr>
          <p:nvPr/>
        </p:nvPicPr>
        <p:blipFill>
          <a:blip r:embed="rId2" cstate="print"/>
          <a:srcRect/>
          <a:stretch>
            <a:fillRect/>
          </a:stretch>
        </p:blipFill>
        <p:spPr bwMode="auto">
          <a:xfrm>
            <a:off x="2470825" y="2548647"/>
            <a:ext cx="7573287" cy="4182893"/>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Multiple-Threshold Transistors</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If we use  zero threshold devices for the NMOS pass-transistors eliminates most of the threshold drop, and passes a signal close to V</a:t>
            </a:r>
            <a:r>
              <a:rPr lang="en-US" baseline="-25000" dirty="0">
                <a:latin typeface="Arial" pitchFamily="34" charset="0"/>
                <a:cs typeface="Arial" pitchFamily="34" charset="0"/>
              </a:rPr>
              <a:t>DD</a:t>
            </a:r>
            <a:r>
              <a:rPr lang="en-US" dirty="0">
                <a:latin typeface="Arial" pitchFamily="34" charset="0"/>
                <a:cs typeface="Arial" pitchFamily="34" charset="0"/>
              </a:rPr>
              <a:t>.  </a:t>
            </a:r>
          </a:p>
          <a:p>
            <a:r>
              <a:rPr lang="en-US" dirty="0">
                <a:latin typeface="Arial" pitchFamily="34" charset="0"/>
                <a:cs typeface="Arial" pitchFamily="34" charset="0"/>
              </a:rPr>
              <a:t>The use of multiple-threshold transistors is becoming more common, and involves simple modifications to existing process flows. </a:t>
            </a:r>
          </a:p>
          <a:p>
            <a:pPr>
              <a:buNone/>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The use of zero-threshold transistors can be dangerous</a:t>
            </a:r>
          </a:p>
          <a:p>
            <a:pPr>
              <a:spcBef>
                <a:spcPts val="0"/>
              </a:spcBef>
            </a:pPr>
            <a:r>
              <a:rPr lang="en-US" dirty="0">
                <a:latin typeface="Arial" pitchFamily="34" charset="0"/>
                <a:cs typeface="Arial" pitchFamily="34" charset="0"/>
              </a:rPr>
              <a:t> due to the </a:t>
            </a:r>
            <a:r>
              <a:rPr lang="en-US" dirty="0" err="1">
                <a:latin typeface="Arial" pitchFamily="34" charset="0"/>
                <a:cs typeface="Arial" pitchFamily="34" charset="0"/>
              </a:rPr>
              <a:t>subthreshold</a:t>
            </a:r>
            <a:r>
              <a:rPr lang="en-US" dirty="0">
                <a:latin typeface="Arial" pitchFamily="34" charset="0"/>
                <a:cs typeface="Arial" pitchFamily="34" charset="0"/>
              </a:rPr>
              <a:t> currents that can flow through</a:t>
            </a:r>
          </a:p>
          <a:p>
            <a:pPr>
              <a:spcBef>
                <a:spcPts val="0"/>
              </a:spcBef>
            </a:pPr>
            <a:r>
              <a:rPr lang="en-US" dirty="0">
                <a:latin typeface="Arial" pitchFamily="34" charset="0"/>
                <a:cs typeface="Arial" pitchFamily="34" charset="0"/>
              </a:rPr>
              <a:t> the pass-transistors, even if VGS is slightly below V</a:t>
            </a:r>
            <a:r>
              <a:rPr lang="en-US" baseline="-25000" dirty="0">
                <a:latin typeface="Arial" pitchFamily="34" charset="0"/>
                <a:cs typeface="Arial" pitchFamily="34" charset="0"/>
              </a:rPr>
              <a:t>T</a:t>
            </a:r>
            <a:r>
              <a:rPr lang="en-US" dirty="0">
                <a:latin typeface="Arial" pitchFamily="34" charset="0"/>
                <a:cs typeface="Arial" pitchFamily="34" charset="0"/>
              </a:rPr>
              <a:t>.</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3251" name="Picture 3"/>
          <p:cNvPicPr>
            <a:picLocks noChangeAspect="1" noChangeArrowheads="1"/>
          </p:cNvPicPr>
          <p:nvPr/>
        </p:nvPicPr>
        <p:blipFill>
          <a:blip r:embed="rId2" cstate="print"/>
          <a:srcRect/>
          <a:stretch>
            <a:fillRect/>
          </a:stretch>
        </p:blipFill>
        <p:spPr bwMode="auto">
          <a:xfrm>
            <a:off x="7130706" y="2452079"/>
            <a:ext cx="5061294" cy="4405921"/>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Transmission Gate Logic</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most widely-used solution to deal with the voltage-drop problem is the use of transmission gates. </a:t>
            </a:r>
          </a:p>
          <a:p>
            <a:r>
              <a:rPr lang="en-US" dirty="0">
                <a:latin typeface="Arial" pitchFamily="34" charset="0"/>
                <a:cs typeface="Arial" pitchFamily="34" charset="0"/>
              </a:rPr>
              <a:t>The transmission gate combines the best of both device flavors by placing a NMOS device in parallel with a PMOS device. </a:t>
            </a:r>
          </a:p>
          <a:p>
            <a:r>
              <a:rPr lang="en-US" dirty="0">
                <a:latin typeface="Arial" pitchFamily="34" charset="0"/>
                <a:cs typeface="Arial" pitchFamily="34" charset="0"/>
              </a:rPr>
              <a:t>The transmission gate acts as a bidirectional switch controlled by the gate signal C. In short</a:t>
            </a:r>
            <a:endParaRPr lang="en-IN" dirty="0">
              <a:latin typeface="Arial" pitchFamily="34" charset="0"/>
              <a:cs typeface="Arial" pitchFamily="34" charset="0"/>
            </a:endParaRPr>
          </a:p>
          <a:p>
            <a:pPr>
              <a:spcBef>
                <a:spcPts val="0"/>
              </a:spcBef>
              <a:buNone/>
            </a:pPr>
            <a:r>
              <a:rPr lang="en-US" dirty="0">
                <a:latin typeface="Arial" pitchFamily="34" charset="0"/>
                <a:cs typeface="Arial" pitchFamily="34" charset="0"/>
              </a:rPr>
              <a:t>  </a:t>
            </a:r>
          </a:p>
          <a:p>
            <a:pPr>
              <a:spcBef>
                <a:spcPts val="0"/>
              </a:spcBef>
              <a:buNone/>
            </a:pPr>
            <a:r>
              <a:rPr lang="en-IN" dirty="0">
                <a:latin typeface="Arial" pitchFamily="34" charset="0"/>
                <a:cs typeface="Arial" pitchFamily="34" charset="0"/>
              </a:rPr>
              <a:t>                                                                                       </a:t>
            </a:r>
          </a:p>
          <a:p>
            <a:pPr>
              <a:spcBef>
                <a:spcPts val="0"/>
              </a:spcBef>
              <a:buNone/>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4" name="Picture 2"/>
          <p:cNvPicPr>
            <a:picLocks noChangeAspect="1" noChangeArrowheads="1"/>
          </p:cNvPicPr>
          <p:nvPr/>
        </p:nvPicPr>
        <p:blipFill>
          <a:blip r:embed="rId2" cstate="print"/>
          <a:srcRect/>
          <a:stretch>
            <a:fillRect/>
          </a:stretch>
        </p:blipFill>
        <p:spPr bwMode="auto">
          <a:xfrm>
            <a:off x="4159992" y="2776943"/>
            <a:ext cx="2308901" cy="374819"/>
          </a:xfrm>
          <a:prstGeom prst="rect">
            <a:avLst/>
          </a:prstGeom>
          <a:noFill/>
          <a:ln w="9525">
            <a:noFill/>
            <a:miter lim="800000"/>
            <a:headEnd/>
            <a:tailEnd/>
          </a:ln>
        </p:spPr>
      </p:pic>
      <p:pic>
        <p:nvPicPr>
          <p:cNvPr id="10" name="Picture 4"/>
          <p:cNvPicPr>
            <a:picLocks noChangeAspect="1" noChangeArrowheads="1"/>
          </p:cNvPicPr>
          <p:nvPr/>
        </p:nvPicPr>
        <p:blipFill>
          <a:blip r:embed="rId3" cstate="print"/>
          <a:srcRect/>
          <a:stretch>
            <a:fillRect/>
          </a:stretch>
        </p:blipFill>
        <p:spPr bwMode="auto">
          <a:xfrm>
            <a:off x="204281" y="3900791"/>
            <a:ext cx="4966067" cy="2957209"/>
          </a:xfrm>
          <a:prstGeom prst="rect">
            <a:avLst/>
          </a:prstGeom>
          <a:noFill/>
          <a:ln w="9525">
            <a:noFill/>
            <a:miter lim="800000"/>
            <a:headEnd/>
            <a:tailEnd/>
          </a:ln>
        </p:spPr>
      </p:pic>
      <p:pic>
        <p:nvPicPr>
          <p:cNvPr id="12" name="Picture 6"/>
          <p:cNvPicPr>
            <a:picLocks noChangeAspect="1" noChangeArrowheads="1"/>
          </p:cNvPicPr>
          <p:nvPr/>
        </p:nvPicPr>
        <p:blipFill>
          <a:blip r:embed="rId4" cstate="print"/>
          <a:srcRect/>
          <a:stretch>
            <a:fillRect/>
          </a:stretch>
        </p:blipFill>
        <p:spPr bwMode="auto">
          <a:xfrm>
            <a:off x="5373351" y="3939703"/>
            <a:ext cx="6624907" cy="2918298"/>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Transmission gates can be used to build some complex gates very efficiently . The gate either selects input A or B based on the value of the control signal S, which is equivalent to implementing the following Boolean function.</a:t>
            </a:r>
          </a:p>
          <a:p>
            <a:pPr algn="just"/>
            <a:endParaRPr lang="en-IN" dirty="0">
              <a:latin typeface="Arial" pitchFamily="34" charset="0"/>
              <a:cs typeface="Arial" pitchFamily="34" charset="0"/>
            </a:endParaRPr>
          </a:p>
          <a:p>
            <a:pPr algn="just"/>
            <a:endParaRPr lang="en-IN" dirty="0">
              <a:latin typeface="Arial" pitchFamily="34" charset="0"/>
              <a:cs typeface="Arial" pitchFamily="34" charset="0"/>
            </a:endParaRPr>
          </a:p>
          <a:p>
            <a:pPr algn="just">
              <a:spcBef>
                <a:spcPts val="0"/>
              </a:spcBef>
            </a:pPr>
            <a:r>
              <a:rPr lang="en-US" dirty="0">
                <a:latin typeface="Arial" pitchFamily="34" charset="0"/>
                <a:cs typeface="Arial" pitchFamily="34" charset="0"/>
              </a:rPr>
              <a:t>A complementary implementation of the gate requires eight</a:t>
            </a:r>
          </a:p>
          <a:p>
            <a:pPr algn="just">
              <a:spcBef>
                <a:spcPts val="0"/>
              </a:spcBef>
            </a:pPr>
            <a:r>
              <a:rPr lang="en-US" dirty="0">
                <a:latin typeface="Arial" pitchFamily="34" charset="0"/>
                <a:cs typeface="Arial" pitchFamily="34" charset="0"/>
              </a:rPr>
              <a:t> transistors instead of six</a:t>
            </a:r>
            <a:endParaRPr lang="en-IN"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5298" name="Picture 2"/>
          <p:cNvPicPr>
            <a:picLocks noChangeAspect="1" noChangeArrowheads="1"/>
          </p:cNvPicPr>
          <p:nvPr/>
        </p:nvPicPr>
        <p:blipFill>
          <a:blip r:embed="rId2" cstate="print"/>
          <a:srcRect/>
          <a:stretch>
            <a:fillRect/>
          </a:stretch>
        </p:blipFill>
        <p:spPr bwMode="auto">
          <a:xfrm>
            <a:off x="3974154" y="2120833"/>
            <a:ext cx="2307835" cy="418086"/>
          </a:xfrm>
          <a:prstGeom prst="rect">
            <a:avLst/>
          </a:prstGeom>
          <a:noFill/>
          <a:ln w="9525">
            <a:noFill/>
            <a:miter lim="800000"/>
            <a:headEnd/>
            <a:tailEnd/>
          </a:ln>
        </p:spPr>
      </p:pic>
      <p:pic>
        <p:nvPicPr>
          <p:cNvPr id="55300" name="Picture 4"/>
          <p:cNvPicPr>
            <a:picLocks noChangeAspect="1" noChangeArrowheads="1"/>
          </p:cNvPicPr>
          <p:nvPr/>
        </p:nvPicPr>
        <p:blipFill>
          <a:blip r:embed="rId3" cstate="print"/>
          <a:srcRect/>
          <a:stretch>
            <a:fillRect/>
          </a:stretch>
        </p:blipFill>
        <p:spPr bwMode="auto">
          <a:xfrm>
            <a:off x="7733489" y="2308320"/>
            <a:ext cx="4325263" cy="4429199"/>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Continue……</a:t>
            </a:r>
            <a:endParaRPr lang="en-US" sz="32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Another example of the effective use of transmission gates is the popular XOR circuit. </a:t>
            </a:r>
          </a:p>
          <a:p>
            <a:r>
              <a:rPr lang="en-US" dirty="0">
                <a:latin typeface="Arial" pitchFamily="34" charset="0"/>
                <a:cs typeface="Arial" pitchFamily="34" charset="0"/>
              </a:rPr>
              <a:t>To understand the operation of this circuit, we have to analyze the B = 0 and B = 1 cases separately.</a:t>
            </a:r>
          </a:p>
          <a:p>
            <a:pPr algn="just"/>
            <a:r>
              <a:rPr lang="en-US" dirty="0">
                <a:latin typeface="Arial" pitchFamily="34" charset="0"/>
                <a:cs typeface="Arial" pitchFamily="34" charset="0"/>
              </a:rPr>
              <a:t>For B = 1, transistors M1 and M2 act as an inverter while the transmission gate M3/M4 is off; hence F =  </a:t>
            </a:r>
          </a:p>
          <a:p>
            <a:pPr algn="just"/>
            <a:r>
              <a:rPr lang="en-US" dirty="0">
                <a:latin typeface="Arial" pitchFamily="34" charset="0"/>
                <a:cs typeface="Arial" pitchFamily="34" charset="0"/>
              </a:rPr>
              <a:t>In the opposite case, M1 and M2 are disabled, and the transmission gate is operational, or F =        The combination of both results in the XOR function.</a:t>
            </a:r>
            <a:endParaRPr lang="en-IN"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6322" name="Picture 2"/>
          <p:cNvPicPr>
            <a:picLocks noChangeAspect="1" noChangeArrowheads="1"/>
          </p:cNvPicPr>
          <p:nvPr/>
        </p:nvPicPr>
        <p:blipFill>
          <a:blip r:embed="rId2" cstate="print"/>
          <a:srcRect/>
          <a:stretch>
            <a:fillRect/>
          </a:stretch>
        </p:blipFill>
        <p:spPr bwMode="auto">
          <a:xfrm>
            <a:off x="11344478" y="2095603"/>
            <a:ext cx="377193" cy="297402"/>
          </a:xfrm>
          <a:prstGeom prst="rect">
            <a:avLst/>
          </a:prstGeom>
          <a:noFill/>
          <a:ln w="9525">
            <a:noFill/>
            <a:miter lim="800000"/>
            <a:headEnd/>
            <a:tailEnd/>
          </a:ln>
        </p:spPr>
      </p:pic>
      <p:pic>
        <p:nvPicPr>
          <p:cNvPr id="56323" name="Picture 3"/>
          <p:cNvPicPr>
            <a:picLocks noChangeAspect="1" noChangeArrowheads="1"/>
          </p:cNvPicPr>
          <p:nvPr/>
        </p:nvPicPr>
        <p:blipFill>
          <a:blip r:embed="rId3" cstate="print"/>
          <a:srcRect/>
          <a:stretch>
            <a:fillRect/>
          </a:stretch>
        </p:blipFill>
        <p:spPr bwMode="auto">
          <a:xfrm>
            <a:off x="10916664" y="2533752"/>
            <a:ext cx="445242" cy="371035"/>
          </a:xfrm>
          <a:prstGeom prst="rect">
            <a:avLst/>
          </a:prstGeom>
          <a:noFill/>
          <a:ln w="9525">
            <a:noFill/>
            <a:miter lim="800000"/>
            <a:headEnd/>
            <a:tailEnd/>
          </a:ln>
        </p:spPr>
      </p:pic>
      <p:pic>
        <p:nvPicPr>
          <p:cNvPr id="56325" name="Picture 5"/>
          <p:cNvPicPr>
            <a:picLocks noChangeAspect="1" noChangeArrowheads="1"/>
          </p:cNvPicPr>
          <p:nvPr/>
        </p:nvPicPr>
        <p:blipFill>
          <a:blip r:embed="rId4" cstate="print"/>
          <a:srcRect/>
          <a:stretch>
            <a:fillRect/>
          </a:stretch>
        </p:blipFill>
        <p:spPr bwMode="auto">
          <a:xfrm>
            <a:off x="6215974" y="3049825"/>
            <a:ext cx="5725945" cy="367665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2600" dirty="0">
                <a:latin typeface="Arial" pitchFamily="34" charset="0"/>
                <a:cs typeface="Arial" pitchFamily="34" charset="0"/>
              </a:rPr>
              <a:t>Performance of Pass-Transistor and Transmission Gate Logic</a:t>
            </a:r>
            <a:endParaRPr lang="en-US" sz="2600"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pass-transistor and the transmission gate are, unfortunately, not ideal switches, and have a series resistance associated with it.      </a:t>
            </a:r>
          </a:p>
          <a:p>
            <a:r>
              <a:rPr lang="en-US" dirty="0">
                <a:latin typeface="Arial" pitchFamily="34" charset="0"/>
                <a:cs typeface="Arial" pitchFamily="34" charset="0"/>
              </a:rPr>
              <a:t>The effective resistance is modeled as a parallel connection of </a:t>
            </a:r>
            <a:r>
              <a:rPr lang="en-US" b="1" dirty="0" err="1">
                <a:latin typeface="Arial" pitchFamily="34" charset="0"/>
                <a:cs typeface="Arial" pitchFamily="34" charset="0"/>
              </a:rPr>
              <a:t>R</a:t>
            </a:r>
            <a:r>
              <a:rPr lang="en-US" b="1" baseline="-25000" dirty="0" err="1">
                <a:latin typeface="Arial" pitchFamily="34" charset="0"/>
                <a:cs typeface="Arial" pitchFamily="34" charset="0"/>
              </a:rPr>
              <a:t>n</a:t>
            </a:r>
            <a:r>
              <a:rPr lang="en-US" b="1" dirty="0">
                <a:latin typeface="Arial" pitchFamily="34" charset="0"/>
                <a:cs typeface="Arial" pitchFamily="34" charset="0"/>
              </a:rPr>
              <a:t> </a:t>
            </a:r>
            <a:r>
              <a:rPr lang="en-US" dirty="0">
                <a:latin typeface="Arial" pitchFamily="34" charset="0"/>
                <a:cs typeface="Arial" pitchFamily="34" charset="0"/>
              </a:rPr>
              <a:t> and </a:t>
            </a:r>
            <a:r>
              <a:rPr lang="en-US" b="1" dirty="0" err="1">
                <a:latin typeface="Arial" pitchFamily="34" charset="0"/>
                <a:cs typeface="Arial" pitchFamily="34" charset="0"/>
              </a:rPr>
              <a:t>R</a:t>
            </a:r>
            <a:r>
              <a:rPr lang="en-US" b="1" baseline="-25000" dirty="0" err="1">
                <a:latin typeface="Arial" pitchFamily="34" charset="0"/>
                <a:cs typeface="Arial" pitchFamily="34" charset="0"/>
              </a:rPr>
              <a:t>p</a:t>
            </a:r>
            <a:r>
              <a:rPr lang="en-US" dirty="0">
                <a:latin typeface="Arial" pitchFamily="34" charset="0"/>
                <a:cs typeface="Arial" pitchFamily="34" charset="0"/>
              </a:rPr>
              <a:t>.                  </a:t>
            </a: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2227" name="Picture 3"/>
          <p:cNvPicPr>
            <a:picLocks noChangeAspect="1" noChangeArrowheads="1"/>
          </p:cNvPicPr>
          <p:nvPr/>
        </p:nvPicPr>
        <p:blipFill>
          <a:blip r:embed="rId2" cstate="print"/>
          <a:srcRect/>
          <a:stretch>
            <a:fillRect/>
          </a:stretch>
        </p:blipFill>
        <p:spPr bwMode="auto">
          <a:xfrm>
            <a:off x="355364" y="2388444"/>
            <a:ext cx="6220533" cy="1911181"/>
          </a:xfrm>
          <a:prstGeom prst="rect">
            <a:avLst/>
          </a:prstGeom>
          <a:noFill/>
          <a:ln w="9525">
            <a:noFill/>
            <a:miter lim="800000"/>
            <a:headEnd/>
            <a:tailEnd/>
          </a:ln>
        </p:spPr>
      </p:pic>
      <p:pic>
        <p:nvPicPr>
          <p:cNvPr id="52229" name="Picture 5"/>
          <p:cNvPicPr>
            <a:picLocks noChangeAspect="1" noChangeArrowheads="1"/>
          </p:cNvPicPr>
          <p:nvPr/>
        </p:nvPicPr>
        <p:blipFill>
          <a:blip r:embed="rId3" cstate="print"/>
          <a:srcRect/>
          <a:stretch>
            <a:fillRect/>
          </a:stretch>
        </p:blipFill>
        <p:spPr bwMode="auto">
          <a:xfrm>
            <a:off x="381913" y="4362450"/>
            <a:ext cx="2828925" cy="2495550"/>
          </a:xfrm>
          <a:prstGeom prst="rect">
            <a:avLst/>
          </a:prstGeom>
          <a:noFill/>
          <a:ln w="9525">
            <a:noFill/>
            <a:miter lim="800000"/>
            <a:headEnd/>
            <a:tailEnd/>
          </a:ln>
        </p:spPr>
      </p:pic>
      <p:pic>
        <p:nvPicPr>
          <p:cNvPr id="52231" name="Picture 7"/>
          <p:cNvPicPr>
            <a:picLocks noChangeAspect="1" noChangeArrowheads="1"/>
          </p:cNvPicPr>
          <p:nvPr/>
        </p:nvPicPr>
        <p:blipFill>
          <a:blip r:embed="rId4" cstate="print"/>
          <a:srcRect/>
          <a:stretch>
            <a:fillRect/>
          </a:stretch>
        </p:blipFill>
        <p:spPr bwMode="auto">
          <a:xfrm>
            <a:off x="7324928" y="2566068"/>
            <a:ext cx="4867072" cy="4291932"/>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solidFill>
                <a:schemeClr val="tx1"/>
              </a:solidFill>
            </a:endParaRPr>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15353</TotalTime>
  <Words>4721</Words>
  <Application>Microsoft Office PowerPoint</Application>
  <PresentationFormat>Widescreen</PresentationFormat>
  <Paragraphs>450</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Century Gothic</vt:lpstr>
      <vt:lpstr>Wingdings</vt:lpstr>
      <vt:lpstr>Wingdings 3</vt:lpstr>
      <vt:lpstr>Wisp</vt:lpstr>
      <vt:lpstr>Combinational Logic Gates in CMOS</vt:lpstr>
      <vt:lpstr>Introduction  </vt:lpstr>
      <vt:lpstr>Static and Dynamic Logic Design</vt:lpstr>
      <vt:lpstr>Choice of Network </vt:lpstr>
      <vt:lpstr>Logic Rules</vt:lpstr>
      <vt:lpstr>Problem - Two-input NAND Gate</vt:lpstr>
      <vt:lpstr>Synthesis of complex CMOS Gate</vt:lpstr>
      <vt:lpstr>Static Properties of Complementary CMOS Gates</vt:lpstr>
      <vt:lpstr> continue…..</vt:lpstr>
      <vt:lpstr> Propagation Delay of Complementary CMOS Gates</vt:lpstr>
      <vt:lpstr> Delay dependence on input patterns</vt:lpstr>
      <vt:lpstr>CMOS implementation of NOR gate</vt:lpstr>
      <vt:lpstr>Continue….</vt:lpstr>
      <vt:lpstr> continue…….</vt:lpstr>
      <vt:lpstr> Problems in CMOS</vt:lpstr>
      <vt:lpstr>Propagation delay as a function of fan-in</vt:lpstr>
      <vt:lpstr> Design Techniques for large Fan-in </vt:lpstr>
      <vt:lpstr>Progressive Transistor Sizing</vt:lpstr>
      <vt:lpstr>Input Re-Ordering</vt:lpstr>
      <vt:lpstr>Logic Restructuring</vt:lpstr>
      <vt:lpstr>Power Consumption in CMOS Logic Gates</vt:lpstr>
      <vt:lpstr>Inter-signal Correlations</vt:lpstr>
      <vt:lpstr>Dynamic or Glitching Transitions  </vt:lpstr>
      <vt:lpstr>Design Techniques to Reduce Switching Activity </vt:lpstr>
      <vt:lpstr>Input ordering</vt:lpstr>
      <vt:lpstr>Time-multiplexing resources</vt:lpstr>
      <vt:lpstr>Continue……</vt:lpstr>
      <vt:lpstr>Ratioed Logic</vt:lpstr>
      <vt:lpstr>Continue….. </vt:lpstr>
      <vt:lpstr>Differential Cascode Voltage Switch Logic (DCVSL)</vt:lpstr>
      <vt:lpstr>Continue….</vt:lpstr>
      <vt:lpstr>Design Consideration: Single-ended versus Differential</vt:lpstr>
      <vt:lpstr>Continue….</vt:lpstr>
      <vt:lpstr>Pass Transistors Basics</vt:lpstr>
      <vt:lpstr>Continue….</vt:lpstr>
      <vt:lpstr>Continue…</vt:lpstr>
      <vt:lpstr>VTC of the pass transistor AND gate</vt:lpstr>
      <vt:lpstr>Continue…..</vt:lpstr>
      <vt:lpstr>Differential Pass Transistor Logic</vt:lpstr>
      <vt:lpstr>Continue……</vt:lpstr>
      <vt:lpstr>Robust and Efficient Pass-Transistor Design</vt:lpstr>
      <vt:lpstr>Continue…</vt:lpstr>
      <vt:lpstr>Continue… </vt:lpstr>
      <vt:lpstr>Sizing of level restorer</vt:lpstr>
      <vt:lpstr>Swing-restored pass transistor logic</vt:lpstr>
      <vt:lpstr>Multiple-Threshold Transistors</vt:lpstr>
      <vt:lpstr>Transmission Gate Logic</vt:lpstr>
      <vt:lpstr>Continue……</vt:lpstr>
      <vt:lpstr>Continue……</vt:lpstr>
      <vt:lpstr>Performance of Pass-Transistor and Transmission Gate Logic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dc:title>
  <dc:creator>Rohit Lorenzo</dc:creator>
  <cp:lastModifiedBy>Dr. Rohit Lorenzo</cp:lastModifiedBy>
  <cp:revision>985</cp:revision>
  <dcterms:created xsi:type="dcterms:W3CDTF">2020-02-29T06:50:22Z</dcterms:created>
  <dcterms:modified xsi:type="dcterms:W3CDTF">2021-04-08T04:24:51Z</dcterms:modified>
</cp:coreProperties>
</file>