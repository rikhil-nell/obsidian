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4" r:id="rId4"/>
    <p:sldMasterId id="2147483891" r:id="rId5"/>
  </p:sldMasterIdLst>
  <p:notesMasterIdLst>
    <p:notesMasterId r:id="rId38"/>
  </p:notesMasterIdLst>
  <p:sldIdLst>
    <p:sldId id="256" r:id="rId6"/>
    <p:sldId id="257" r:id="rId7"/>
    <p:sldId id="295" r:id="rId8"/>
    <p:sldId id="296" r:id="rId9"/>
    <p:sldId id="298" r:id="rId10"/>
    <p:sldId id="300" r:id="rId11"/>
    <p:sldId id="301" r:id="rId12"/>
    <p:sldId id="324" r:id="rId13"/>
    <p:sldId id="322" r:id="rId14"/>
    <p:sldId id="303" r:id="rId15"/>
    <p:sldId id="325" r:id="rId16"/>
    <p:sldId id="306" r:id="rId17"/>
    <p:sldId id="318" r:id="rId18"/>
    <p:sldId id="327" r:id="rId19"/>
    <p:sldId id="329" r:id="rId20"/>
    <p:sldId id="328" r:id="rId21"/>
    <p:sldId id="330" r:id="rId22"/>
    <p:sldId id="331" r:id="rId23"/>
    <p:sldId id="332" r:id="rId24"/>
    <p:sldId id="333" r:id="rId25"/>
    <p:sldId id="335" r:id="rId26"/>
    <p:sldId id="336" r:id="rId27"/>
    <p:sldId id="339" r:id="rId28"/>
    <p:sldId id="343" r:id="rId29"/>
    <p:sldId id="341" r:id="rId30"/>
    <p:sldId id="337" r:id="rId31"/>
    <p:sldId id="338" r:id="rId32"/>
    <p:sldId id="345" r:id="rId33"/>
    <p:sldId id="347" r:id="rId34"/>
    <p:sldId id="349" r:id="rId35"/>
    <p:sldId id="350" r:id="rId36"/>
    <p:sldId id="270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AA12D6-A5F2-44BB-9DA9-CD0D4ABC2312}" v="36" dt="2020-10-05T05:19:15.0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Rohit Lorenzo" userId="2cb85bcf-ce28-47b5-8a42-4cca9187c887" providerId="ADAL" clId="{38AA12D6-A5F2-44BB-9DA9-CD0D4ABC2312}"/>
    <pc:docChg chg="undo custSel mod addSld delSld modSld">
      <pc:chgData name="Dr. Rohit Lorenzo" userId="2cb85bcf-ce28-47b5-8a42-4cca9187c887" providerId="ADAL" clId="{38AA12D6-A5F2-44BB-9DA9-CD0D4ABC2312}" dt="2020-10-05T05:19:15.071" v="299" actId="14100"/>
      <pc:docMkLst>
        <pc:docMk/>
      </pc:docMkLst>
      <pc:sldChg chg="modSp mod">
        <pc:chgData name="Dr. Rohit Lorenzo" userId="2cb85bcf-ce28-47b5-8a42-4cca9187c887" providerId="ADAL" clId="{38AA12D6-A5F2-44BB-9DA9-CD0D4ABC2312}" dt="2020-10-05T05:13:59.819" v="273" actId="2711"/>
        <pc:sldMkLst>
          <pc:docMk/>
          <pc:sldMk cId="3259453914" sldId="328"/>
        </pc:sldMkLst>
        <pc:spChg chg="mod">
          <ac:chgData name="Dr. Rohit Lorenzo" userId="2cb85bcf-ce28-47b5-8a42-4cca9187c887" providerId="ADAL" clId="{38AA12D6-A5F2-44BB-9DA9-CD0D4ABC2312}" dt="2020-10-05T05:13:59.819" v="273" actId="2711"/>
          <ac:spMkLst>
            <pc:docMk/>
            <pc:sldMk cId="3259453914" sldId="328"/>
            <ac:spMk id="2" creationId="{00000000-0000-0000-0000-000000000000}"/>
          </ac:spMkLst>
        </pc:spChg>
      </pc:sldChg>
      <pc:sldChg chg="addSp delSp modSp add mod setBg">
        <pc:chgData name="Dr. Rohit Lorenzo" userId="2cb85bcf-ce28-47b5-8a42-4cca9187c887" providerId="ADAL" clId="{38AA12D6-A5F2-44BB-9DA9-CD0D4ABC2312}" dt="2020-10-05T05:19:15.071" v="299" actId="14100"/>
        <pc:sldMkLst>
          <pc:docMk/>
          <pc:sldMk cId="1380902356" sldId="329"/>
        </pc:sldMkLst>
        <pc:spChg chg="mod ord">
          <ac:chgData name="Dr. Rohit Lorenzo" userId="2cb85bcf-ce28-47b5-8a42-4cca9187c887" providerId="ADAL" clId="{38AA12D6-A5F2-44BB-9DA9-CD0D4ABC2312}" dt="2020-10-05T05:13:40.065" v="265"/>
          <ac:spMkLst>
            <pc:docMk/>
            <pc:sldMk cId="1380902356" sldId="329"/>
            <ac:spMk id="2" creationId="{00000000-0000-0000-0000-000000000000}"/>
          </ac:spMkLst>
        </pc:spChg>
        <pc:spChg chg="add del mod">
          <ac:chgData name="Dr. Rohit Lorenzo" userId="2cb85bcf-ce28-47b5-8a42-4cca9187c887" providerId="ADAL" clId="{38AA12D6-A5F2-44BB-9DA9-CD0D4ABC2312}" dt="2020-10-05T05:18:41.031" v="296" actId="6549"/>
          <ac:spMkLst>
            <pc:docMk/>
            <pc:sldMk cId="1380902356" sldId="329"/>
            <ac:spMk id="3" creationId="{00000000-0000-0000-0000-000000000000}"/>
          </ac:spMkLst>
        </pc:spChg>
        <pc:spChg chg="mod">
          <ac:chgData name="Dr. Rohit Lorenzo" userId="2cb85bcf-ce28-47b5-8a42-4cca9187c887" providerId="ADAL" clId="{38AA12D6-A5F2-44BB-9DA9-CD0D4ABC2312}" dt="2020-10-05T05:12:08.189" v="263" actId="26606"/>
          <ac:spMkLst>
            <pc:docMk/>
            <pc:sldMk cId="1380902356" sldId="329"/>
            <ac:spMk id="4" creationId="{00000000-0000-0000-0000-000000000000}"/>
          </ac:spMkLst>
        </pc:spChg>
        <pc:spChg chg="add del">
          <ac:chgData name="Dr. Rohit Lorenzo" userId="2cb85bcf-ce28-47b5-8a42-4cca9187c887" providerId="ADAL" clId="{38AA12D6-A5F2-44BB-9DA9-CD0D4ABC2312}" dt="2020-10-05T05:12:08.189" v="263" actId="26606"/>
          <ac:spMkLst>
            <pc:docMk/>
            <pc:sldMk cId="1380902356" sldId="329"/>
            <ac:spMk id="73" creationId="{34CC774E-C0E8-47A4-A5E8-2895BE8C519D}"/>
          </ac:spMkLst>
        </pc:spChg>
        <pc:spChg chg="add del">
          <ac:chgData name="Dr. Rohit Lorenzo" userId="2cb85bcf-ce28-47b5-8a42-4cca9187c887" providerId="ADAL" clId="{38AA12D6-A5F2-44BB-9DA9-CD0D4ABC2312}" dt="2020-10-05T05:12:08.189" v="263" actId="26606"/>
          <ac:spMkLst>
            <pc:docMk/>
            <pc:sldMk cId="1380902356" sldId="329"/>
            <ac:spMk id="75" creationId="{D71BABF3-93EE-4E3B-B0B9-973CDBAF6E25}"/>
          </ac:spMkLst>
        </pc:spChg>
        <pc:spChg chg="add del">
          <ac:chgData name="Dr. Rohit Lorenzo" userId="2cb85bcf-ce28-47b5-8a42-4cca9187c887" providerId="ADAL" clId="{38AA12D6-A5F2-44BB-9DA9-CD0D4ABC2312}" dt="2020-10-05T05:12:08.189" v="263" actId="26606"/>
          <ac:spMkLst>
            <pc:docMk/>
            <pc:sldMk cId="1380902356" sldId="329"/>
            <ac:spMk id="77" creationId="{1B2F6E90-FF72-46FD-96BE-935B230A9BFD}"/>
          </ac:spMkLst>
        </pc:spChg>
        <pc:spChg chg="add del">
          <ac:chgData name="Dr. Rohit Lorenzo" userId="2cb85bcf-ce28-47b5-8a42-4cca9187c887" providerId="ADAL" clId="{38AA12D6-A5F2-44BB-9DA9-CD0D4ABC2312}" dt="2020-10-05T05:12:08.189" v="263" actId="26606"/>
          <ac:spMkLst>
            <pc:docMk/>
            <pc:sldMk cId="1380902356" sldId="329"/>
            <ac:spMk id="79" creationId="{8EDE6EDB-8E51-446D-8B6F-2DDEF9B72953}"/>
          </ac:spMkLst>
        </pc:spChg>
        <pc:graphicFrameChg chg="add del">
          <ac:chgData name="Dr. Rohit Lorenzo" userId="2cb85bcf-ce28-47b5-8a42-4cca9187c887" providerId="ADAL" clId="{38AA12D6-A5F2-44BB-9DA9-CD0D4ABC2312}" dt="2020-10-05T05:11:42.403" v="259" actId="26606"/>
          <ac:graphicFrameMkLst>
            <pc:docMk/>
            <pc:sldMk cId="1380902356" sldId="329"/>
            <ac:graphicFrameMk id="1030" creationId="{606EB4BF-F0E0-447A-8B7D-F898645CCD0F}"/>
          </ac:graphicFrameMkLst>
        </pc:graphicFrameChg>
        <pc:graphicFrameChg chg="add del">
          <ac:chgData name="Dr. Rohit Lorenzo" userId="2cb85bcf-ce28-47b5-8a42-4cca9187c887" providerId="ADAL" clId="{38AA12D6-A5F2-44BB-9DA9-CD0D4ABC2312}" dt="2020-10-05T05:11:57.158" v="261" actId="26606"/>
          <ac:graphicFrameMkLst>
            <pc:docMk/>
            <pc:sldMk cId="1380902356" sldId="329"/>
            <ac:graphicFrameMk id="1031" creationId="{18D44227-757C-4894-90CF-8EF7BBB6FB0C}"/>
          </ac:graphicFrameMkLst>
        </pc:graphicFrameChg>
        <pc:picChg chg="add mod">
          <ac:chgData name="Dr. Rohit Lorenzo" userId="2cb85bcf-ce28-47b5-8a42-4cca9187c887" providerId="ADAL" clId="{38AA12D6-A5F2-44BB-9DA9-CD0D4ABC2312}" dt="2020-10-05T05:19:15.071" v="299" actId="14100"/>
          <ac:picMkLst>
            <pc:docMk/>
            <pc:sldMk cId="1380902356" sldId="329"/>
            <ac:picMk id="5" creationId="{2981E5FC-B7A7-4C09-91DE-2F21A0E0B22E}"/>
          </ac:picMkLst>
        </pc:picChg>
        <pc:picChg chg="mod ord">
          <ac:chgData name="Dr. Rohit Lorenzo" userId="2cb85bcf-ce28-47b5-8a42-4cca9187c887" providerId="ADAL" clId="{38AA12D6-A5F2-44BB-9DA9-CD0D4ABC2312}" dt="2020-10-05T05:18:23.741" v="289" actId="14100"/>
          <ac:picMkLst>
            <pc:docMk/>
            <pc:sldMk cId="1380902356" sldId="329"/>
            <ac:picMk id="1026" creationId="{00000000-0000-0000-0000-000000000000}"/>
          </ac:picMkLst>
        </pc:picChg>
        <pc:picChg chg="mod">
          <ac:chgData name="Dr. Rohit Lorenzo" userId="2cb85bcf-ce28-47b5-8a42-4cca9187c887" providerId="ADAL" clId="{38AA12D6-A5F2-44BB-9DA9-CD0D4ABC2312}" dt="2020-10-05T05:18:30.115" v="291" actId="14100"/>
          <ac:picMkLst>
            <pc:docMk/>
            <pc:sldMk cId="1380902356" sldId="329"/>
            <ac:picMk id="1027" creationId="{00000000-0000-0000-0000-000000000000}"/>
          </ac:picMkLst>
        </pc:picChg>
        <pc:picChg chg="mod">
          <ac:chgData name="Dr. Rohit Lorenzo" userId="2cb85bcf-ce28-47b5-8a42-4cca9187c887" providerId="ADAL" clId="{38AA12D6-A5F2-44BB-9DA9-CD0D4ABC2312}" dt="2020-10-05T05:18:38.905" v="295" actId="14100"/>
          <ac:picMkLst>
            <pc:docMk/>
            <pc:sldMk cId="1380902356" sldId="329"/>
            <ac:picMk id="1028" creationId="{00000000-0000-0000-0000-000000000000}"/>
          </ac:picMkLst>
        </pc:picChg>
      </pc:sldChg>
      <pc:sldChg chg="del">
        <pc:chgData name="Dr. Rohit Lorenzo" userId="2cb85bcf-ce28-47b5-8a42-4cca9187c887" providerId="ADAL" clId="{38AA12D6-A5F2-44BB-9DA9-CD0D4ABC2312}" dt="2020-10-05T05:01:51.990" v="20" actId="2696"/>
        <pc:sldMkLst>
          <pc:docMk/>
          <pc:sldMk cId="1969184892" sldId="329"/>
        </pc:sldMkLst>
      </pc:sldChg>
      <pc:sldChg chg="modSp modAnim">
        <pc:chgData name="Dr. Rohit Lorenzo" userId="2cb85bcf-ce28-47b5-8a42-4cca9187c887" providerId="ADAL" clId="{38AA12D6-A5F2-44BB-9DA9-CD0D4ABC2312}" dt="2020-10-05T05:15:23.174" v="281" actId="20577"/>
        <pc:sldMkLst>
          <pc:docMk/>
          <pc:sldMk cId="4179540592" sldId="331"/>
        </pc:sldMkLst>
        <pc:spChg chg="mod">
          <ac:chgData name="Dr. Rohit Lorenzo" userId="2cb85bcf-ce28-47b5-8a42-4cca9187c887" providerId="ADAL" clId="{38AA12D6-A5F2-44BB-9DA9-CD0D4ABC2312}" dt="2020-10-05T05:15:23.174" v="281" actId="20577"/>
          <ac:spMkLst>
            <pc:docMk/>
            <pc:sldMk cId="4179540592" sldId="331"/>
            <ac:spMk id="3" creationId="{00000000-0000-0000-0000-000000000000}"/>
          </ac:spMkLst>
        </pc:spChg>
      </pc:sldChg>
      <pc:sldChg chg="new del">
        <pc:chgData name="Dr. Rohit Lorenzo" userId="2cb85bcf-ce28-47b5-8a42-4cca9187c887" providerId="ADAL" clId="{38AA12D6-A5F2-44BB-9DA9-CD0D4ABC2312}" dt="2020-10-05T05:03:15.286" v="23" actId="47"/>
        <pc:sldMkLst>
          <pc:docMk/>
          <pc:sldMk cId="4073792423" sldId="34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C73D7-7640-40F9-8434-A0F03C5760E6}" type="datetimeFigureOut">
              <a:rPr lang="en-IN" smtClean="0"/>
              <a:pPr/>
              <a:t>17-11-2023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2B883-0CBF-46F6-B001-F5F9F89E989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261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3FC6-7D19-42F4-A915-A22E318BB010}" type="datetime1">
              <a:rPr lang="en-IN" smtClean="0"/>
              <a:pPr/>
              <a:t>17-11-2023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Rohit Lorenzo , VIT-AP</a:t>
            </a:r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33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1B98C-9C5A-4162-993F-316E4E6C62BB}" type="datetime1">
              <a:rPr lang="en-IN" smtClean="0"/>
              <a:pPr/>
              <a:t>17-11-2023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Rohit Lorenzo , VIT-AP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345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ED1CE-D0E4-49F6-AA4E-0C3DE4D5CA9F}" type="datetime1">
              <a:rPr lang="en-IN" smtClean="0"/>
              <a:pPr/>
              <a:t>17-11-2023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Rohit Lorenzo , VIT-AP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757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DC15E-93BC-4995-B67D-673FA7BA3E92}" type="datetime1">
              <a:rPr lang="en-IN" smtClean="0"/>
              <a:pPr/>
              <a:t>17-11-2023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Rohit Lorenzo , VIT-AP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977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AC8C-1DD9-4769-A93E-CB9191A82FBE}" type="datetime1">
              <a:rPr lang="en-IN" smtClean="0"/>
              <a:pPr/>
              <a:t>17-11-2023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Rohit Lorenzo , VIT-AP</a:t>
            </a: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794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D4AB-23A7-43B1-AC37-7A69E1B162CB}" type="datetime1">
              <a:rPr lang="en-IN" smtClean="0"/>
              <a:pPr/>
              <a:t>17-11-2023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Rohit Lorenzo , VIT-AP</a:t>
            </a:r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461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FC48-1A3A-47F9-AB3E-F0A947B0BE83}" type="datetime1">
              <a:rPr lang="en-IN" smtClean="0"/>
              <a:pPr/>
              <a:t>17-11-2023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Rohit Lorenzo , VIT-AP</a:t>
            </a:r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23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7AB3-5AA6-4B2A-A848-6B9056B8F888}" type="datetime1">
              <a:rPr lang="en-IN" smtClean="0"/>
              <a:pPr/>
              <a:t>17-11-2023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Rohit Lorenzo , VIT-AP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837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2A0A8-2993-4F46-873E-B317420EEF1D}" type="datetime1">
              <a:rPr lang="en-IN" smtClean="0"/>
              <a:pPr/>
              <a:t>17-11-2023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Rohit Lorenzo , VIT-AP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223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AF5B2-9161-484D-941E-09E7D7D8822D}" type="datetime1">
              <a:rPr lang="en-IN" smtClean="0"/>
              <a:pPr/>
              <a:t>17-11-2023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Rohit Lorenzo , VIT-AP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654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EE73-49A5-4032-8312-39A4654D8975}" type="datetime1">
              <a:rPr lang="en-IN" smtClean="0"/>
              <a:pPr/>
              <a:t>17-11-2023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Rohit Lorenzo , VIT-AP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7853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B1249-61C8-4A7F-8E7B-53A384F44D16}" type="datetime1">
              <a:rPr lang="en-IN" smtClean="0"/>
              <a:pPr/>
              <a:t>17-11-2023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Rohit Lorenzo , VIT-AP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2598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59DD-5442-4AC6-B4D8-568940477A5F}" type="datetime1">
              <a:rPr lang="en-IN" smtClean="0"/>
              <a:pPr/>
              <a:t>17-11-2023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Rohit Lorenzo , VIT-AP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37447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93278-5D43-45AE-BD96-13E9B97C202A}" type="datetime1">
              <a:rPr lang="en-IN" smtClean="0"/>
              <a:pPr/>
              <a:t>17-11-2023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Rohit Lorenzo , VIT-AP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26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0D21C-79F6-4EA2-9761-2BBE3077020C}" type="datetime1">
              <a:rPr lang="en-IN" smtClean="0"/>
              <a:pPr/>
              <a:t>17-11-2023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Rohit Lorenzo , VIT-AP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7754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4E18-DFA2-43E5-8F6D-0DBE05038609}" type="datetime1">
              <a:rPr lang="en-IN" smtClean="0"/>
              <a:pPr/>
              <a:t>17-11-2023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Rohit Lorenzo , VIT-AP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9373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3FC6-7D19-42F4-A915-A22E318BB010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17-11-2023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Rohit Lorenzo , VIT-AP</a:t>
            </a:r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8190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1B98C-9C5A-4162-993F-316E4E6C62BB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17-11-2023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Rohit Lorenzo , VIT-AP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1283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ED1CE-D0E4-49F6-AA4E-0C3DE4D5CA9F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17-11-2023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Rohit Lorenzo , VIT-AP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580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DC15E-93BC-4995-B67D-673FA7BA3E92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17-11-2023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Rohit Lorenzo , VIT-AP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1097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AC8C-1DD9-4769-A93E-CB9191A82FBE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17-11-2023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Rohit Lorenzo , VIT-AP</a:t>
            </a: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15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D4AB-23A7-43B1-AC37-7A69E1B162CB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17-11-2023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Rohit Lorenzo , VIT-AP</a:t>
            </a:r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4004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FC48-1A3A-47F9-AB3E-F0A947B0BE83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17-11-2023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Rohit Lorenzo , VIT-AP</a:t>
            </a:r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4707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7AB3-5AA6-4B2A-A848-6B9056B8F888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17-11-2023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Rohit Lorenzo , VIT-AP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9674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2A0A8-2993-4F46-873E-B317420EEF1D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17-11-2023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Rohit Lorenzo , VIT-AP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4639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AF5B2-9161-484D-941E-09E7D7D8822D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17-11-2023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Rohit Lorenzo , VIT-AP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3252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EE73-49A5-4032-8312-39A4654D8975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17-11-2023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Rohit Lorenzo , VIT-AP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E78712"/>
                </a:solidFill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E78712"/>
                </a:solidFill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13479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B1249-61C8-4A7F-8E7B-53A384F44D16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17-11-2023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Rohit Lorenzo , VIT-AP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2400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59DD-5442-4AC6-B4D8-568940477A5F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17-11-2023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Rohit Lorenzo , VIT-AP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E78712"/>
                </a:solidFill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E78712"/>
                </a:solidFill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01840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93278-5D43-45AE-BD96-13E9B97C202A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17-11-2023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Rohit Lorenzo , VIT-AP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2789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0D21C-79F6-4EA2-9761-2BBE3077020C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17-11-2023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Rohit Lorenzo , VIT-AP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8590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4E18-DFA2-43E5-8F6D-0DBE05038609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17-11-2023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Rohit Lorenzo , VIT-AP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444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D4EE5-909F-48DF-A25F-F957D1B95CC9}" type="datetime1">
              <a:rPr lang="en-IN" smtClean="0"/>
              <a:pPr/>
              <a:t>17-11-2023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Rohit Lorenzo , VIT-AP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945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  <p:sldLayoutId id="2147483885" r:id="rId11"/>
    <p:sldLayoutId id="2147483886" r:id="rId12"/>
    <p:sldLayoutId id="2147483887" r:id="rId13"/>
    <p:sldLayoutId id="2147483888" r:id="rId14"/>
    <p:sldLayoutId id="2147483889" r:id="rId15"/>
    <p:sldLayoutId id="2147483890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D4EE5-909F-48DF-A25F-F957D1B95CC9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17-11-2023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Rohit Lorenzo , VIT-AP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0C73DF5-5965-4AE9-8750-706DE33B31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655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  <p:sldLayoutId id="2147483904" r:id="rId13"/>
    <p:sldLayoutId id="2147483905" r:id="rId14"/>
    <p:sldLayoutId id="2147483906" r:id="rId15"/>
    <p:sldLayoutId id="2147483907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0.emf"/><Relationship Id="rId4" Type="http://schemas.openxmlformats.org/officeDocument/2006/relationships/image" Target="../media/image39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/>
              <a:t>C</a:t>
            </a:r>
            <a:r>
              <a:rPr lang="en-IN" sz="3000" b="1" dirty="0"/>
              <a:t>MOS VLSI Design</a:t>
            </a:r>
            <a:br>
              <a:rPr lang="en-IN" sz="3000" b="1" dirty="0"/>
            </a:br>
            <a:r>
              <a:rPr lang="en-IN" sz="3000" b="1" dirty="0"/>
              <a:t>Topic – Logical Effort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0731" y="2133599"/>
            <a:ext cx="10278207" cy="4399085"/>
          </a:xfrm>
        </p:spPr>
        <p:txBody>
          <a:bodyPr/>
          <a:lstStyle/>
          <a:p>
            <a:pPr marL="0" indent="0" algn="ctr">
              <a:buNone/>
            </a:pPr>
            <a:r>
              <a:rPr lang="en-IN" b="1" dirty="0"/>
              <a:t>By</a:t>
            </a:r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2000" b="1" dirty="0" err="1"/>
              <a:t>Dr.Rohit</a:t>
            </a:r>
            <a:r>
              <a:rPr lang="en-IN" sz="2000" b="1" dirty="0"/>
              <a:t> Lorenzo</a:t>
            </a:r>
          </a:p>
          <a:p>
            <a:pPr marL="0" indent="0" algn="ctr">
              <a:buNone/>
            </a:pPr>
            <a:r>
              <a:rPr lang="en-IN" sz="2000" b="1" dirty="0"/>
              <a:t>Assistant Professor Sr. Grade -1</a:t>
            </a:r>
          </a:p>
          <a:p>
            <a:pPr marL="0" indent="0" algn="ctr">
              <a:buNone/>
            </a:pPr>
            <a:r>
              <a:rPr lang="en-IN" sz="2000" b="1" dirty="0"/>
              <a:t>School of Electronics Engineering (SENSE)</a:t>
            </a:r>
          </a:p>
          <a:p>
            <a:pPr marL="0" indent="0" algn="ctr">
              <a:buNone/>
            </a:pPr>
            <a:endParaRPr lang="en-IN" b="1" dirty="0"/>
          </a:p>
          <a:p>
            <a:pPr marL="0" indent="0" algn="ctr">
              <a:buNone/>
            </a:pPr>
            <a:r>
              <a:rPr lang="en-IN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D8A5F9-ED45-42EF-B008-2ACDB3324E2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18271" y="4206557"/>
            <a:ext cx="2143125" cy="2143125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579B1-487B-4D07-8C3A-2D1E584D4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Rohit Lorenzo , VIT-AP</a:t>
            </a:r>
          </a:p>
        </p:txBody>
      </p:sp>
    </p:spTree>
    <p:extLst>
      <p:ext uri="{BB962C8B-B14F-4D97-AF65-F5344CB8AC3E}">
        <p14:creationId xmlns:p14="http://schemas.microsoft.com/office/powerpoint/2010/main" val="180815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3200" b="1" dirty="0"/>
              <a:t>Topic – Logical Effort</a:t>
            </a:r>
            <a:br>
              <a:rPr lang="en-IN" sz="3200" b="1" dirty="0"/>
            </a:br>
            <a:r>
              <a:rPr lang="en-IN" sz="3200" b="1" dirty="0"/>
              <a:t>Talk Outline</a:t>
            </a:r>
            <a:br>
              <a:rPr lang="en-IN" sz="3200" b="1" dirty="0"/>
            </a:b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400" b="1" dirty="0"/>
          </a:p>
          <a:p>
            <a:r>
              <a:rPr lang="en-US" sz="2400" b="1" dirty="0"/>
              <a:t>Introduction </a:t>
            </a:r>
            <a:endParaRPr lang="en-IN" sz="2400" b="1" dirty="0"/>
          </a:p>
          <a:p>
            <a:r>
              <a:rPr lang="en-US" sz="2400" b="1" dirty="0"/>
              <a:t>Delay in logic gate</a:t>
            </a:r>
          </a:p>
          <a:p>
            <a:r>
              <a:rPr lang="en-US" sz="2400" b="1" dirty="0"/>
              <a:t>Multistage Logic Networks</a:t>
            </a:r>
          </a:p>
          <a:p>
            <a:r>
              <a:rPr lang="en-US" sz="2400" b="1" dirty="0"/>
              <a:t>Example</a:t>
            </a:r>
          </a:p>
          <a:p>
            <a:r>
              <a:rPr lang="en-US" sz="2400" b="1" dirty="0"/>
              <a:t>Summary</a:t>
            </a: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3AA7-0270-47EF-94A5-59AC9EA7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</p:spTree>
    <p:extLst>
      <p:ext uri="{BB962C8B-B14F-4D97-AF65-F5344CB8AC3E}">
        <p14:creationId xmlns:p14="http://schemas.microsoft.com/office/powerpoint/2010/main" val="1140214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0AD63-250F-4106-8276-29E747C57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0993" y="624110"/>
            <a:ext cx="9593619" cy="1280890"/>
          </a:xfrm>
        </p:spPr>
        <p:txBody>
          <a:bodyPr/>
          <a:lstStyle/>
          <a:p>
            <a:r>
              <a:rPr lang="en-IN" sz="3200" b="1" dirty="0"/>
              <a:t>Introduction</a:t>
            </a:r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D21A1-6D28-40B9-8BF9-8E90C7235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045" y="1676400"/>
            <a:ext cx="10854813" cy="445940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Chip designer  face number of choices like –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best topology for a function?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many stage of logic gives best function?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wide should the transistor be?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Logical effort is a method to take decisions - 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Uses a simple model of delay.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Helps make rapid comparisons between alternatives.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Emphasizes remarkable symmetries.</a:t>
            </a:r>
          </a:p>
          <a:p>
            <a:pPr marL="0" indent="0">
              <a:buNone/>
            </a:pPr>
            <a:endParaRPr lang="en-US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073A6F-A66A-46CE-86B4-9A31ED569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</p:spTree>
    <p:extLst>
      <p:ext uri="{BB962C8B-B14F-4D97-AF65-F5344CB8AC3E}">
        <p14:creationId xmlns:p14="http://schemas.microsoft.com/office/powerpoint/2010/main" val="2008867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71A4-B2AF-434D-AAB4-3FE5FFC26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471" y="613950"/>
            <a:ext cx="9715141" cy="1280890"/>
          </a:xfrm>
        </p:spPr>
        <p:txBody>
          <a:bodyPr>
            <a:normAutofit/>
          </a:bodyPr>
          <a:lstStyle/>
          <a:p>
            <a:r>
              <a:rPr lang="en-US" sz="3200" b="1" dirty="0"/>
              <a:t>Delay in a logic gate.</a:t>
            </a:r>
            <a:endParaRPr lang="en-IN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5AAD76-C957-42F4-8C63-C5632026DD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7388" y="1238865"/>
                <a:ext cx="11199812" cy="4896943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Express delay in process independent unit. </a:t>
                </a:r>
              </a:p>
              <a:p>
                <a:pPr marL="0" indent="0">
                  <a:buNone/>
                </a:pPr>
                <a:r>
                  <a:rPr lang="en-US" sz="3600" dirty="0">
                    <a:solidFill>
                      <a:srgbClr val="231F20"/>
                    </a:solidFill>
                    <a:cs typeface="Arial" panose="020B0604020202020204" pitchFamily="34" charset="0"/>
                  </a:rPr>
                  <a:t>    </a:t>
                </a:r>
                <a:r>
                  <a:rPr lang="en-US" sz="2400" dirty="0">
                    <a:solidFill>
                      <a:srgbClr val="231F20"/>
                    </a:solidFill>
                    <a:cs typeface="Arial" panose="020B0604020202020204" pitchFamily="34" charset="0"/>
                  </a:rPr>
                  <a:t> d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231F20"/>
                        </a:solidFill>
                        <a:latin typeface="Cambria Math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solidFill>
                              <a:srgbClr val="231F2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IN" sz="2400" b="0" i="1" baseline="-25000" smtClean="0">
                            <a:solidFill>
                              <a:srgbClr val="231F2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𝑎𝑏𝑠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l-GR" sz="2400" i="1" smtClean="0">
                            <a:solidFill>
                              <a:srgbClr val="231F2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τ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b="0" i="0" smtClean="0">
                        <a:solidFill>
                          <a:srgbClr val="231F20"/>
                        </a:solidFill>
                        <a:latin typeface="Cambria Math"/>
                        <a:cs typeface="Arial" panose="020B0604020202020204" pitchFamily="34" charset="0"/>
                      </a:rPr>
                      <m:t>                                                                  </m:t>
                    </m:r>
                    <m:r>
                      <a:rPr lang="en-IN" sz="2400" b="0" i="0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</m:t>
                    </m:r>
                    <m:r>
                      <a:rPr lang="en-IN" sz="2400" b="0" i="0" smtClean="0">
                        <a:solidFill>
                          <a:srgbClr val="231F20"/>
                        </a:solidFill>
                        <a:latin typeface="Cambria Math"/>
                        <a:cs typeface="Arial" panose="020B0604020202020204" pitchFamily="34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l-GR" sz="2400" i="1">
                        <a:solidFill>
                          <a:srgbClr val="231F20"/>
                        </a:solidFill>
                        <a:latin typeface="Cambria Math"/>
                        <a:cs typeface="Arial" panose="020B0604020202020204" pitchFamily="34" charset="0"/>
                      </a:rPr>
                      <m:t>τ</m:t>
                    </m:r>
                  </m:oMath>
                </a14:m>
                <a:r>
                  <a:rPr lang="en-US" sz="1600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3RC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                                                             ͌ </a:t>
                </a:r>
                <a:r>
                  <a:rPr lang="en-US" sz="1600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12ps in 180nm process</a:t>
                </a:r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                                                                                                       40ps in 0.6µm process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Delay has two  components 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</a:t>
                </a:r>
                <a:r>
                  <a:rPr lang="en-US" sz="2400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 = f + </a:t>
                </a:r>
                <a:r>
                  <a:rPr lang="en-US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 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Effort delay  f = </a:t>
                </a:r>
                <a:r>
                  <a:rPr lang="en-US" dirty="0" err="1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gh</a:t>
                </a:r>
                <a:r>
                  <a:rPr lang="en-US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 stage effort ) where h is electrical effort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 - again has two components.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g : logical effort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   -  Measure the relative ability to deliver the current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   - g =1 for inverter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D5AAD76-C957-42F4-8C63-C5632026DD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7388" y="1238865"/>
                <a:ext cx="11199812" cy="4896943"/>
              </a:xfrm>
              <a:blipFill>
                <a:blip r:embed="rId2" cstate="print"/>
                <a:stretch>
                  <a:fillRect l="-1688" t="-622" b="-1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8624A5-32E4-4ABB-B95B-4506A5BA0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</p:spTree>
    <p:extLst>
      <p:ext uri="{BB962C8B-B14F-4D97-AF65-F5344CB8AC3E}">
        <p14:creationId xmlns:p14="http://schemas.microsoft.com/office/powerpoint/2010/main" val="322127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CFB2A-0814-40DA-956A-43B537D77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en-IN" b="1" dirty="0"/>
              <a:t>Computing logical effort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CCE38-9501-41BD-A653-793344110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25362"/>
            <a:ext cx="5835121" cy="3785860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Definition: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 Logical effort is the ratio of the input capacitance of the gate to the input capacitance of an  inverter delivering the same output current.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Inverter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Logical Effort of basic gate  g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inverter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inverter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2unit + 1Unit = 3Unit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65DAAB-59EC-47E3-826F-6C2CA140BB3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651279" y="2129586"/>
            <a:ext cx="2833504" cy="373781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39F841-0985-43E5-840F-30D2F9F41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</p:spPr>
        <p:txBody>
          <a:bodyPr>
            <a:normAutofit/>
          </a:bodyPr>
          <a:lstStyle/>
          <a:p>
            <a:pPr lvl="0"/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</p:spTree>
    <p:extLst>
      <p:ext uri="{BB962C8B-B14F-4D97-AF65-F5344CB8AC3E}">
        <p14:creationId xmlns:p14="http://schemas.microsoft.com/office/powerpoint/2010/main" val="2527312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5785C52-8305-4C72-B1AA-4A7402DC26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8C7D29-077B-4F8D-BB03-2FA6D3A2A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6574536" cy="1259894"/>
          </a:xfrm>
        </p:spPr>
        <p:txBody>
          <a:bodyPr>
            <a:normAutofit/>
          </a:bodyPr>
          <a:lstStyle/>
          <a:p>
            <a:r>
              <a:rPr lang="en-IN" b="1"/>
              <a:t>Continue …</a:t>
            </a:r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BD26A6-67D8-449D-88A7-556B706A5B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8192F-F76B-4489-A27E-7BA410AA1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458930"/>
            <a:ext cx="6574535" cy="467213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2 input NAND gate</a:t>
            </a:r>
            <a:endParaRPr lang="en-US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NAND2 = 2unit(NMOS) + 2 unit(PMOS) = 4 Unit </a:t>
            </a:r>
          </a:p>
          <a:p>
            <a:pPr>
              <a:lnSpc>
                <a:spcPct val="9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NAND presents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4units of capacitance on each input.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inverter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=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4/3 </a:t>
            </a:r>
          </a:p>
          <a:p>
            <a:pPr>
              <a:lnSpc>
                <a:spcPct val="90000"/>
              </a:lnSpc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3 Input NAND Gate</a:t>
            </a:r>
          </a:p>
          <a:p>
            <a:pPr>
              <a:lnSpc>
                <a:spcPct val="90000"/>
              </a:lnSpc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NAND3 = 3unit(NMOS) + 2 unit(PMOS) = 5 Unit </a:t>
            </a:r>
          </a:p>
          <a:p>
            <a:pPr>
              <a:lnSpc>
                <a:spcPct val="9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NAND presents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5units of capacitance on each input.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inverter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=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5/3 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sz="2400" b="1" u="sng" baseline="30000" dirty="0">
                <a:latin typeface="Arial" panose="020B0604020202020204" pitchFamily="34" charset="0"/>
                <a:cs typeface="Arial" panose="020B0604020202020204" pitchFamily="34" charset="0"/>
              </a:rPr>
              <a:t>G for NAND Gate </a:t>
            </a:r>
          </a:p>
          <a:p>
            <a:pPr>
              <a:lnSpc>
                <a:spcPct val="90000"/>
              </a:lnSpc>
            </a:pP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(n+2)/3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where n is number of inputs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endParaRPr lang="en-US" b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b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IN" b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F0588678-C107-4850-8E16-AB4A86A72E5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831643" y="645106"/>
            <a:ext cx="1884303" cy="2541577"/>
          </a:xfrm>
          <a:prstGeom prst="rect">
            <a:avLst/>
          </a:prstGeom>
        </p:spPr>
      </p:pic>
      <p:pic>
        <p:nvPicPr>
          <p:cNvPr id="6" name="Picture 5" descr="A close up of a clock&#10;&#10;Description automatically generated">
            <a:extLst>
              <a:ext uri="{FF2B5EF4-FFF2-40B4-BE49-F238E27FC236}">
                <a16:creationId xmlns:a16="http://schemas.microsoft.com/office/drawing/2014/main" id="{26127E96-5004-400E-972D-48483CB2C3D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640566" y="3351275"/>
            <a:ext cx="2471600" cy="2541578"/>
          </a:xfrm>
          <a:prstGeom prst="rect">
            <a:avLst/>
          </a:prstGeom>
        </p:spPr>
      </p:pic>
      <p:sp>
        <p:nvSpPr>
          <p:cNvPr id="15" name="Freeform 11">
            <a:extLst>
              <a:ext uri="{FF2B5EF4-FFF2-40B4-BE49-F238E27FC236}">
                <a16:creationId xmlns:a16="http://schemas.microsoft.com/office/drawing/2014/main" id="{7B8C83C0-3F91-4191-A19A-4165F49AD8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B74B3-57C1-4BB8-9660-53BFBCF9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20916" y="6135808"/>
            <a:ext cx="7619999" cy="365125"/>
          </a:xfrm>
        </p:spPr>
        <p:txBody>
          <a:bodyPr>
            <a:normAutofit/>
          </a:bodyPr>
          <a:lstStyle/>
          <a:p>
            <a:pPr lvl="0"/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</p:spTree>
    <p:extLst>
      <p:ext uri="{BB962C8B-B14F-4D97-AF65-F5344CB8AC3E}">
        <p14:creationId xmlns:p14="http://schemas.microsoft.com/office/powerpoint/2010/main" val="137981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1">
            <a:extLst>
              <a:ext uri="{FF2B5EF4-FFF2-40B4-BE49-F238E27FC236}">
                <a16:creationId xmlns:a16="http://schemas.microsoft.com/office/drawing/2014/main" id="{85785C52-8305-4C72-B1AA-4A7402DC26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1A257-E411-4578-8219-677B66F26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6574536" cy="1259894"/>
          </a:xfrm>
        </p:spPr>
        <p:txBody>
          <a:bodyPr>
            <a:normAutofit/>
          </a:bodyPr>
          <a:lstStyle/>
          <a:p>
            <a:r>
              <a:rPr lang="en-IN" b="1"/>
              <a:t>Continue…..</a:t>
            </a:r>
            <a:endParaRPr lang="en-IN" dirty="0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3EBD26A6-67D8-449D-88A7-556B706A5B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3CF99B-89CE-4167-855E-755014B42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541124"/>
            <a:ext cx="6574536" cy="4351729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2 input NOR gate</a:t>
            </a:r>
            <a:endParaRPr lang="en-US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NOR2 = 1unit(NMOS) +  4unit(PMOS) = 5 Unit </a:t>
            </a:r>
          </a:p>
          <a:p>
            <a:pPr>
              <a:lnSpc>
                <a:spcPct val="9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NOR presents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5units of capacitance on each input.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inverter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=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5/3 </a:t>
            </a:r>
          </a:p>
          <a:p>
            <a:pPr>
              <a:lnSpc>
                <a:spcPct val="90000"/>
              </a:lnSpc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3 Input NOR Gate</a:t>
            </a:r>
          </a:p>
          <a:p>
            <a:pPr>
              <a:lnSpc>
                <a:spcPct val="90000"/>
              </a:lnSpc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NOR3 = 1unit(NMOS) + 6unit(PMOS) = 7Unit </a:t>
            </a:r>
          </a:p>
          <a:p>
            <a:pPr>
              <a:lnSpc>
                <a:spcPct val="9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NOR presents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5units of capacitance on each input.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inverter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=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7/3 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sz="2400" b="1" u="sng" baseline="30000" dirty="0">
                <a:latin typeface="Arial" panose="020B0604020202020204" pitchFamily="34" charset="0"/>
                <a:cs typeface="Arial" panose="020B0604020202020204" pitchFamily="34" charset="0"/>
              </a:rPr>
              <a:t>G for NOR Gate </a:t>
            </a:r>
          </a:p>
          <a:p>
            <a:pPr>
              <a:lnSpc>
                <a:spcPct val="90000"/>
              </a:lnSpc>
            </a:pP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(2n+1)/3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where n is number of inputs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IN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6904A6-8E56-4CAD-AE2B-834ACAF006D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50257" y="645106"/>
            <a:ext cx="2405116" cy="25415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06A0E4-6CB0-475C-8FE5-388DB6DC085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95651" y="3351275"/>
            <a:ext cx="3114327" cy="2541578"/>
          </a:xfrm>
          <a:prstGeom prst="rect">
            <a:avLst/>
          </a:prstGeom>
        </p:spPr>
      </p:pic>
      <p:sp>
        <p:nvSpPr>
          <p:cNvPr id="22" name="Freeform 11">
            <a:extLst>
              <a:ext uri="{FF2B5EF4-FFF2-40B4-BE49-F238E27FC236}">
                <a16:creationId xmlns:a16="http://schemas.microsoft.com/office/drawing/2014/main" id="{7B8C83C0-3F91-4191-A19A-4165F49AD8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BC85B-A428-4DC3-A854-61858082C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20916" y="6135808"/>
            <a:ext cx="7619999" cy="365125"/>
          </a:xfrm>
        </p:spPr>
        <p:txBody>
          <a:bodyPr>
            <a:normAutofit/>
          </a:bodyPr>
          <a:lstStyle/>
          <a:p>
            <a:pPr lvl="0">
              <a:spcAft>
                <a:spcPts val="600"/>
              </a:spcAft>
            </a:pP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</p:spTree>
    <p:extLst>
      <p:ext uri="{BB962C8B-B14F-4D97-AF65-F5344CB8AC3E}">
        <p14:creationId xmlns:p14="http://schemas.microsoft.com/office/powerpoint/2010/main" val="830705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7167" y="624110"/>
            <a:ext cx="9617446" cy="1280890"/>
          </a:xfrm>
        </p:spPr>
        <p:txBody>
          <a:bodyPr/>
          <a:lstStyle/>
          <a:p>
            <a:r>
              <a:rPr lang="en-IN" dirty="0">
                <a:latin typeface="Arial" pitchFamily="34" charset="0"/>
                <a:cs typeface="Arial" pitchFamily="34" charset="0"/>
              </a:rPr>
              <a:t>Logical Effort of Common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2340" y="1643974"/>
            <a:ext cx="9802272" cy="426724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612" y="1754919"/>
            <a:ext cx="9879652" cy="2282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0377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6C775-5C5E-44C6-AF37-8862644FE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8161" y="624110"/>
            <a:ext cx="9716452" cy="1280890"/>
          </a:xfrm>
        </p:spPr>
        <p:txBody>
          <a:bodyPr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Parasitic Delay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54FE58-DD1F-4476-A9A2-0D08E6F93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79600" y="6139822"/>
            <a:ext cx="8329611" cy="361111"/>
          </a:xfrm>
        </p:spPr>
        <p:txBody>
          <a:bodyPr/>
          <a:lstStyle/>
          <a:p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>
              <a:xfrm>
                <a:off x="1061884" y="1573161"/>
                <a:ext cx="10766322" cy="4535809"/>
              </a:xfrm>
            </p:spPr>
            <p:txBody>
              <a:bodyPr/>
              <a:lstStyle/>
              <a:p>
                <a:r>
                  <a:rPr lang="en-US" sz="24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 </a:t>
                </a: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–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parasitic delay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Represents delay of gate driving no load.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Set by internal parasitic capacitance.   </a:t>
                </a:r>
              </a:p>
              <a:p>
                <a:pPr marL="0" indent="0">
                  <a:buNone/>
                </a:pPr>
                <a:r>
                  <a:rPr lang="en-IN" sz="2400" dirty="0">
                    <a:cs typeface="Arial" panose="020B0604020202020204" pitchFamily="34" charset="0"/>
                  </a:rPr>
                  <a:t>          P </a:t>
                </a:r>
                <a14:m>
                  <m:oMath xmlns:m="http://schemas.openxmlformats.org/officeDocument/2006/math">
                    <m:r>
                      <a:rPr lang="en-IN" sz="2400" i="1" smtClean="0">
                        <a:latin typeface="Cambria Math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sz="2400" i="1">
                            <a:latin typeface="Cambria Math"/>
                            <a:cs typeface="Arial" panose="020B0604020202020204" pitchFamily="34" charset="0"/>
                          </a:rPr>
                          <m:t>𝐶</m:t>
                        </m:r>
                        <m:r>
                          <a:rPr lang="en-IN" sz="2400" i="1" baseline="-25000">
                            <a:latin typeface="Cambria Math"/>
                            <a:cs typeface="Arial" panose="020B0604020202020204" pitchFamily="34" charset="0"/>
                          </a:rPr>
                          <m:t>𝑖𝑛𝑡</m:t>
                        </m:r>
                        <m:r>
                          <a:rPr lang="en-IN" sz="2400" i="1">
                            <a:latin typeface="Cambria Math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IN" sz="2400" b="0" i="1" smtClean="0">
                            <a:latin typeface="Cambria Math"/>
                            <a:cs typeface="Arial" panose="020B0604020202020204" pitchFamily="34" charset="0"/>
                          </a:rPr>
                          <m:t>𝐺𝑎𝑡𝑒</m:t>
                        </m:r>
                      </m:num>
                      <m:den>
                        <m:r>
                          <a:rPr lang="en-IN" sz="2400" b="0" i="1" smtClean="0">
                            <a:latin typeface="Cambria Math"/>
                            <a:cs typeface="Arial" panose="020B0604020202020204" pitchFamily="34" charset="0"/>
                          </a:rPr>
                          <m:t>𝐶</m:t>
                        </m:r>
                        <m:r>
                          <a:rPr lang="en-IN" sz="2400" b="0" i="1" baseline="-25000" smtClean="0">
                            <a:latin typeface="Cambria Math"/>
                            <a:cs typeface="Arial" panose="020B0604020202020204" pitchFamily="34" charset="0"/>
                          </a:rPr>
                          <m:t>𝑖𝑛𝑡</m:t>
                        </m:r>
                        <m:r>
                          <a:rPr lang="en-IN" sz="2400" b="0" i="1" smtClean="0">
                            <a:latin typeface="Cambria Math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IN" sz="2400" b="0" i="1" smtClean="0">
                            <a:latin typeface="Cambria Math"/>
                            <a:cs typeface="Arial" panose="020B0604020202020204" pitchFamily="34" charset="0"/>
                          </a:rPr>
                          <m:t>𝐼𝑁𝑉</m:t>
                        </m:r>
                      </m:den>
                    </m:f>
                  </m:oMath>
                </a14:m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</a:p>
              <a:p>
                <a:pPr marL="0" indent="0">
                  <a:buNone/>
                </a:pPr>
                <a:r>
                  <a:rPr lang="en-IN" sz="2400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Inverter</a:t>
                </a: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IN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int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INV </a:t>
                </a:r>
                <a:r>
                  <a:rPr lang="en-IN">
                    <a:latin typeface="Arial" panose="020B0604020202020204" pitchFamily="34" charset="0"/>
                    <a:cs typeface="Arial" panose="020B0604020202020204" pitchFamily="34" charset="0"/>
                  </a:rPr>
                  <a:t>= 3</a:t>
                </a:r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IN" sz="2400" dirty="0">
                    <a:cs typeface="Arial" panose="020B0604020202020204" pitchFamily="34" charset="0"/>
                  </a:rPr>
                  <a:t>P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/>
                            <a:cs typeface="Arial" panose="020B0604020202020204" pitchFamily="34" charset="0"/>
                          </a:rPr>
                          <m:t>3</m:t>
                        </m:r>
                      </m:num>
                      <m:den>
                        <m:r>
                          <a:rPr lang="en-IN" sz="2400" b="0" i="1" smtClean="0">
                            <a:latin typeface="Cambria Math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=1</a:t>
                </a:r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1884" y="1573161"/>
                <a:ext cx="10766322" cy="4535809"/>
              </a:xfrm>
              <a:blipFill rotWithShape="1">
                <a:blip r:embed="rId2" cstate="print"/>
                <a:stretch>
                  <a:fillRect l="-849" t="-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5122" y="3742414"/>
            <a:ext cx="1847850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3341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C92DA-AC58-4B27-8E38-D6D5F5BB1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8641" y="613950"/>
            <a:ext cx="9685972" cy="1280890"/>
          </a:xfrm>
        </p:spPr>
        <p:txBody>
          <a:bodyPr/>
          <a:lstStyle/>
          <a:p>
            <a:r>
              <a:rPr lang="en-IN" sz="3200" b="1" dirty="0">
                <a:solidFill>
                  <a:prstClr val="black">
                    <a:lumMod val="85000"/>
                    <a:lumOff val="15000"/>
                  </a:prstClr>
                </a:solidFill>
              </a:rPr>
              <a:t>Continue….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F0488C-7A88-4A1F-84B5-B439F11A16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4080" y="1585608"/>
                <a:ext cx="10610532" cy="4449431"/>
              </a:xfrm>
            </p:spPr>
            <p:txBody>
              <a:bodyPr>
                <a:normAutofit/>
              </a:bodyPr>
              <a:lstStyle/>
              <a:p>
                <a:r>
                  <a:rPr lang="en-US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P (NAND2)</a:t>
                </a:r>
              </a:p>
              <a:p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US" sz="20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NAND2 = 2+2+2 = 6 </a:t>
                </a:r>
              </a:p>
              <a:p>
                <a:r>
                  <a:rPr lang="en-IN" sz="2000" dirty="0">
                    <a:cs typeface="Arial" panose="020B0604020202020204" pitchFamily="34" charset="0"/>
                  </a:rPr>
                  <a:t> P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sz="2000" i="1">
                            <a:latin typeface="Cambria Math"/>
                            <a:cs typeface="Arial" panose="020B0604020202020204" pitchFamily="34" charset="0"/>
                          </a:rPr>
                          <m:t>𝐶</m:t>
                        </m:r>
                        <m:r>
                          <a:rPr lang="en-IN" sz="2000" i="1" baseline="-25000">
                            <a:latin typeface="Cambria Math"/>
                            <a:cs typeface="Arial" panose="020B0604020202020204" pitchFamily="34" charset="0"/>
                          </a:rPr>
                          <m:t>𝑖𝑛𝑡</m:t>
                        </m:r>
                        <m:r>
                          <a:rPr lang="en-IN" sz="2000" i="1">
                            <a:latin typeface="Cambria Math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/>
                            <a:cs typeface="Arial" panose="020B0604020202020204" pitchFamily="34" charset="0"/>
                          </a:rPr>
                          <m:t>𝑁𝐴𝑁𝐷</m:t>
                        </m:r>
                        <m:r>
                          <a:rPr lang="en-IN" sz="2000" b="0" i="1" smtClean="0">
                            <a:latin typeface="Cambria Math"/>
                            <a:cs typeface="Arial" panose="020B0604020202020204" pitchFamily="34" charset="0"/>
                          </a:rPr>
                          <m:t>2</m:t>
                        </m:r>
                      </m:num>
                      <m:den>
                        <m:r>
                          <a:rPr lang="en-IN" sz="2000" i="1">
                            <a:latin typeface="Cambria Math"/>
                            <a:cs typeface="Arial" panose="020B0604020202020204" pitchFamily="34" charset="0"/>
                          </a:rPr>
                          <m:t>𝐶</m:t>
                        </m:r>
                        <m:r>
                          <a:rPr lang="en-IN" sz="2000" i="1" baseline="-25000">
                            <a:latin typeface="Cambria Math"/>
                            <a:cs typeface="Arial" panose="020B0604020202020204" pitchFamily="34" charset="0"/>
                          </a:rPr>
                          <m:t>𝑖𝑛𝑡</m:t>
                        </m:r>
                        <m:r>
                          <a:rPr lang="en-IN" sz="2000" i="1">
                            <a:latin typeface="Cambria Math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IN" sz="2000" i="1">
                            <a:latin typeface="Cambria Math"/>
                            <a:cs typeface="Arial" panose="020B0604020202020204" pitchFamily="34" charset="0"/>
                          </a:rPr>
                          <m:t>𝐼𝑁𝑉</m:t>
                        </m:r>
                      </m:den>
                    </m:f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/>
                            <a:cs typeface="Arial" panose="020B0604020202020204" pitchFamily="34" charset="0"/>
                          </a:rPr>
                          <m:t>6</m:t>
                        </m:r>
                      </m:num>
                      <m:den>
                        <m:r>
                          <a:rPr lang="en-IN" sz="2000" b="0" i="1" smtClean="0">
                            <a:latin typeface="Cambria Math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2</a:t>
                </a: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P (NOR3)</a:t>
                </a:r>
              </a:p>
              <a:p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US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NOR3 = 6+1+1+1 = 9 </a:t>
                </a:r>
              </a:p>
              <a:p>
                <a:r>
                  <a:rPr lang="en-IN" dirty="0">
                    <a:cs typeface="Arial" panose="020B0604020202020204" pitchFamily="34" charset="0"/>
                  </a:rPr>
                  <a:t> P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/>
                            <a:cs typeface="Arial" panose="020B0604020202020204" pitchFamily="34" charset="0"/>
                          </a:rPr>
                          <m:t>𝐶</m:t>
                        </m:r>
                        <m:r>
                          <a:rPr lang="en-IN" i="1" baseline="-25000">
                            <a:latin typeface="Cambria Math"/>
                            <a:cs typeface="Arial" panose="020B0604020202020204" pitchFamily="34" charset="0"/>
                          </a:rPr>
                          <m:t>𝑖𝑛𝑡</m:t>
                        </m:r>
                        <m:r>
                          <a:rPr lang="en-IN" i="1">
                            <a:latin typeface="Cambria Math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IN" i="1">
                            <a:latin typeface="Cambria Math"/>
                            <a:cs typeface="Arial" panose="020B0604020202020204" pitchFamily="34" charset="0"/>
                          </a:rPr>
                          <m:t>𝑁𝑂𝑟</m:t>
                        </m:r>
                        <m:r>
                          <a:rPr lang="en-IN" b="0" i="1" smtClean="0">
                            <a:latin typeface="Cambria Math"/>
                            <a:cs typeface="Arial" panose="020B0604020202020204" pitchFamily="34" charset="0"/>
                          </a:rPr>
                          <m:t>3</m:t>
                        </m:r>
                      </m:num>
                      <m:den>
                        <m:r>
                          <a:rPr lang="en-IN" i="1">
                            <a:latin typeface="Cambria Math"/>
                            <a:cs typeface="Arial" panose="020B0604020202020204" pitchFamily="34" charset="0"/>
                          </a:rPr>
                          <m:t>𝐶</m:t>
                        </m:r>
                        <m:r>
                          <a:rPr lang="en-IN" i="1" baseline="-25000">
                            <a:latin typeface="Cambria Math"/>
                            <a:cs typeface="Arial" panose="020B0604020202020204" pitchFamily="34" charset="0"/>
                          </a:rPr>
                          <m:t>𝑖𝑛𝑡</m:t>
                        </m:r>
                        <m:r>
                          <a:rPr lang="en-IN" i="1">
                            <a:latin typeface="Cambria Math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IN" i="1">
                            <a:latin typeface="Cambria Math"/>
                            <a:cs typeface="Arial" panose="020B0604020202020204" pitchFamily="34" charset="0"/>
                          </a:rPr>
                          <m:t>𝐼𝑁𝑉</m:t>
                        </m:r>
                      </m:den>
                    </m:f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/>
                            <a:cs typeface="Arial" panose="020B0604020202020204" pitchFamily="34" charset="0"/>
                          </a:rPr>
                          <m:t>9</m:t>
                        </m:r>
                      </m:num>
                      <m:den>
                        <m:r>
                          <a:rPr lang="en-IN" i="1">
                            <a:latin typeface="Cambria Math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= 3</a:t>
                </a:r>
              </a:p>
              <a:p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6BF0488C-7A88-4A1F-84B5-B439F11A16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4080" y="1585608"/>
                <a:ext cx="10610532" cy="4449431"/>
              </a:xfrm>
              <a:blipFill rotWithShape="1">
                <a:blip r:embed="rId2" cstate="print"/>
                <a:stretch>
                  <a:fillRect l="-575" t="-6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32451A-3766-4A92-9B93-0954750EC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89760" y="6139822"/>
            <a:ext cx="8319451" cy="361111"/>
          </a:xfrm>
        </p:spPr>
        <p:txBody>
          <a:bodyPr/>
          <a:lstStyle/>
          <a:p>
            <a:pPr lvl="0"/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F0588678-C107-4850-8E16-AB4A86A72E5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230478" y="849386"/>
            <a:ext cx="1884303" cy="25415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06A0E4-6CB0-475C-8FE5-388DB6DC085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000454" y="3837658"/>
            <a:ext cx="3114327" cy="254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89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Arial" pitchFamily="34" charset="0"/>
                <a:cs typeface="Arial" pitchFamily="34" charset="0"/>
              </a:rPr>
              <a:t>Parasitic Delay of Common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358" y="2199393"/>
            <a:ext cx="9498553" cy="226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6073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06C2B-9345-4381-8942-BD29C093D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9921" y="624110"/>
            <a:ext cx="9604692" cy="1280890"/>
          </a:xfrm>
        </p:spPr>
        <p:txBody>
          <a:bodyPr/>
          <a:lstStyle/>
          <a:p>
            <a:r>
              <a:rPr lang="en-IN" sz="3200" b="1" dirty="0"/>
              <a:t>Linear Delay Model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A7E6F-85EC-483B-8DF3-CD92F434C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75489" y="1376517"/>
                <a:ext cx="10629123" cy="4759292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Arial" pitchFamily="34" charset="0"/>
                    <a:cs typeface="Arial" pitchFamily="34" charset="0"/>
                  </a:rPr>
                  <a:t>In general, the normalized delay of a gate can be </a:t>
                </a:r>
                <a:r>
                  <a:rPr lang="en-IN" dirty="0">
                    <a:latin typeface="Arial" pitchFamily="34" charset="0"/>
                    <a:cs typeface="Arial" pitchFamily="34" charset="0"/>
                  </a:rPr>
                  <a:t>expressed as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i="1" dirty="0"/>
                  <a:t>       </a:t>
                </a:r>
                <a:r>
                  <a:rPr lang="en-IN" b="1" i="1" dirty="0"/>
                  <a:t>d </a:t>
                </a:r>
                <a:r>
                  <a:rPr lang="en-IN" b="1" dirty="0"/>
                  <a:t>= </a:t>
                </a:r>
                <a:r>
                  <a:rPr lang="en-IN" b="1" i="1" dirty="0"/>
                  <a:t>f </a:t>
                </a:r>
                <a:r>
                  <a:rPr lang="en-IN" b="1" dirty="0"/>
                  <a:t>+ </a:t>
                </a:r>
                <a:r>
                  <a:rPr lang="en-IN" b="1" i="1" dirty="0">
                    <a:latin typeface="Arial" pitchFamily="34" charset="0"/>
                    <a:cs typeface="Arial" pitchFamily="34" charset="0"/>
                  </a:rPr>
                  <a:t>p </a:t>
                </a:r>
              </a:p>
              <a:p>
                <a:endParaRPr lang="en-IN" i="1" dirty="0">
                  <a:latin typeface="Arial" pitchFamily="34" charset="0"/>
                  <a:cs typeface="Arial" pitchFamily="34" charset="0"/>
                </a:endParaRPr>
              </a:p>
              <a:p>
                <a:r>
                  <a:rPr lang="en-US" b="1" i="1" dirty="0">
                    <a:latin typeface="Arial" pitchFamily="34" charset="0"/>
                    <a:cs typeface="Arial" pitchFamily="34" charset="0"/>
                  </a:rPr>
                  <a:t>p </a:t>
                </a:r>
                <a:r>
                  <a:rPr lang="en-US" dirty="0">
                    <a:latin typeface="Arial" pitchFamily="34" charset="0"/>
                    <a:cs typeface="Arial" pitchFamily="34" charset="0"/>
                  </a:rPr>
                  <a:t>is the </a:t>
                </a:r>
                <a:r>
                  <a:rPr lang="en-US" i="1" dirty="0">
                    <a:latin typeface="Arial" pitchFamily="34" charset="0"/>
                    <a:cs typeface="Arial" pitchFamily="34" charset="0"/>
                  </a:rPr>
                  <a:t>parasitic delay,</a:t>
                </a:r>
                <a:r>
                  <a:rPr lang="en-US" b="1" i="1" dirty="0">
                    <a:latin typeface="Arial" pitchFamily="34" charset="0"/>
                    <a:cs typeface="Arial" pitchFamily="34" charset="0"/>
                  </a:rPr>
                  <a:t> f </a:t>
                </a:r>
                <a:r>
                  <a:rPr lang="en-US" dirty="0">
                    <a:latin typeface="Arial" pitchFamily="34" charset="0"/>
                    <a:cs typeface="Arial" pitchFamily="34" charset="0"/>
                  </a:rPr>
                  <a:t>is the </a:t>
                </a:r>
                <a:r>
                  <a:rPr lang="en-US" i="1" dirty="0">
                    <a:latin typeface="Arial" pitchFamily="34" charset="0"/>
                    <a:cs typeface="Arial" pitchFamily="34" charset="0"/>
                  </a:rPr>
                  <a:t>effort delay  or stage effort </a:t>
                </a:r>
              </a:p>
              <a:p>
                <a:r>
                  <a:rPr lang="en-IN" b="1" i="1" dirty="0"/>
                  <a:t>     f  </a:t>
                </a:r>
                <a:r>
                  <a:rPr lang="en-IN" b="1" dirty="0"/>
                  <a:t>= </a:t>
                </a:r>
                <a:r>
                  <a:rPr lang="en-IN" b="1" i="1" dirty="0" err="1"/>
                  <a:t>gh</a:t>
                </a:r>
                <a:r>
                  <a:rPr lang="en-IN" b="1" i="1" dirty="0"/>
                  <a:t> </a:t>
                </a:r>
              </a:p>
              <a:p>
                <a:r>
                  <a:rPr lang="en-US" dirty="0">
                    <a:latin typeface="Arial" pitchFamily="34" charset="0"/>
                    <a:cs typeface="Arial" pitchFamily="34" charset="0"/>
                  </a:rPr>
                  <a:t>The complexity is represented by the </a:t>
                </a:r>
                <a:r>
                  <a:rPr lang="en-US" i="1" dirty="0">
                    <a:latin typeface="Arial" pitchFamily="34" charset="0"/>
                    <a:cs typeface="Arial" pitchFamily="34" charset="0"/>
                  </a:rPr>
                  <a:t>logical effort</a:t>
                </a:r>
                <a:r>
                  <a:rPr lang="en-US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b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b="1" i="1" dirty="0">
                    <a:latin typeface="Arial" pitchFamily="34" charset="0"/>
                    <a:cs typeface="Arial" pitchFamily="34" charset="0"/>
                  </a:rPr>
                  <a:t>g </a:t>
                </a:r>
              </a:p>
              <a:p>
                <a:r>
                  <a:rPr lang="en-US" dirty="0">
                    <a:latin typeface="Arial" pitchFamily="34" charset="0"/>
                    <a:cs typeface="Arial" pitchFamily="34" charset="0"/>
                  </a:rPr>
                  <a:t>A gate driving</a:t>
                </a:r>
                <a:r>
                  <a:rPr lang="en-US" b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b="1" i="1" dirty="0">
                    <a:latin typeface="Arial" pitchFamily="34" charset="0"/>
                    <a:cs typeface="Arial" pitchFamily="34" charset="0"/>
                  </a:rPr>
                  <a:t>h </a:t>
                </a:r>
                <a:r>
                  <a:rPr lang="en-US" dirty="0">
                    <a:latin typeface="Arial" pitchFamily="34" charset="0"/>
                    <a:cs typeface="Arial" pitchFamily="34" charset="0"/>
                  </a:rPr>
                  <a:t>identical copies of itself is said to have a </a:t>
                </a:r>
                <a:r>
                  <a:rPr lang="en-US" i="1" dirty="0" err="1">
                    <a:latin typeface="Arial" pitchFamily="34" charset="0"/>
                    <a:cs typeface="Arial" pitchFamily="34" charset="0"/>
                  </a:rPr>
                  <a:t>fanout</a:t>
                </a:r>
                <a:r>
                  <a:rPr lang="en-US" i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dirty="0">
                    <a:latin typeface="Arial" pitchFamily="34" charset="0"/>
                    <a:cs typeface="Arial" pitchFamily="34" charset="0"/>
                  </a:rPr>
                  <a:t>or</a:t>
                </a:r>
              </a:p>
              <a:p>
                <a:pPr marL="0" indent="0">
                  <a:buNone/>
                </a:pPr>
                <a:r>
                  <a:rPr lang="en-IN" i="1" dirty="0">
                    <a:latin typeface="Arial" pitchFamily="34" charset="0"/>
                    <a:cs typeface="Arial" pitchFamily="34" charset="0"/>
                  </a:rPr>
                  <a:t>     electrical effort </a:t>
                </a:r>
                <a:r>
                  <a:rPr lang="en-IN" dirty="0">
                    <a:latin typeface="Arial" pitchFamily="34" charset="0"/>
                    <a:cs typeface="Arial" pitchFamily="34" charset="0"/>
                  </a:rPr>
                  <a:t>of </a:t>
                </a:r>
                <a:r>
                  <a:rPr lang="en-IN" b="1" i="1" dirty="0">
                    <a:latin typeface="Arial" pitchFamily="34" charset="0"/>
                    <a:cs typeface="Arial" pitchFamily="34" charset="0"/>
                  </a:rPr>
                  <a:t>h. </a:t>
                </a:r>
              </a:p>
              <a:p>
                <a:r>
                  <a:rPr lang="en-US" dirty="0">
                    <a:latin typeface="Arial" pitchFamily="34" charset="0"/>
                    <a:cs typeface="Arial" pitchFamily="34" charset="0"/>
                  </a:rPr>
                  <a:t>If the load does not contain identical copies of the gate, the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Arial" pitchFamily="34" charset="0"/>
                    <a:cs typeface="Arial" pitchFamily="34" charset="0"/>
                  </a:rPr>
                  <a:t>     electrical effort can be computed as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Arial" pitchFamily="34" charset="0"/>
                    <a:cs typeface="Arial" pitchFamily="34" charset="0"/>
                  </a:rPr>
                  <a:t>        </a:t>
                </a:r>
                <a:r>
                  <a:rPr lang="en-IN" dirty="0">
                    <a:cs typeface="Arial" panose="020B0604020202020204" pitchFamily="34" charset="0"/>
                  </a:rPr>
                  <a:t> </a:t>
                </a:r>
                <a:r>
                  <a:rPr lang="en-IN" sz="2400" b="1" dirty="0">
                    <a:cs typeface="Arial" panose="020B0604020202020204" pitchFamily="34" charset="0"/>
                  </a:rPr>
                  <a:t>h </a:t>
                </a:r>
                <a14:m>
                  <m:oMath xmlns:m="http://schemas.openxmlformats.org/officeDocument/2006/math">
                    <m:r>
                      <a:rPr lang="en-IN" sz="2400" b="1" i="1">
                        <a:latin typeface="Cambria Math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IN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sz="2400" b="1" i="1">
                            <a:latin typeface="Cambria Math"/>
                            <a:cs typeface="Arial" panose="020B0604020202020204" pitchFamily="34" charset="0"/>
                          </a:rPr>
                          <m:t>𝑪</m:t>
                        </m:r>
                        <m:r>
                          <a:rPr lang="en-IN" sz="2400" b="1" i="1" baseline="-25000" smtClean="0">
                            <a:latin typeface="Cambria Math"/>
                            <a:cs typeface="Arial" panose="020B0604020202020204" pitchFamily="34" charset="0"/>
                          </a:rPr>
                          <m:t>𝑶𝑼𝑻</m:t>
                        </m:r>
                      </m:num>
                      <m:den>
                        <m:r>
                          <a:rPr lang="en-IN" sz="2400" b="1" i="1">
                            <a:latin typeface="Cambria Math"/>
                            <a:cs typeface="Arial" panose="020B0604020202020204" pitchFamily="34" charset="0"/>
                          </a:rPr>
                          <m:t>𝑪</m:t>
                        </m:r>
                        <m:r>
                          <a:rPr lang="en-IN" sz="2400" b="1" i="1" baseline="-25000">
                            <a:latin typeface="Cambria Math"/>
                            <a:cs typeface="Arial" panose="020B0604020202020204" pitchFamily="34" charset="0"/>
                          </a:rPr>
                          <m:t>𝒊𝒏</m:t>
                        </m:r>
                      </m:den>
                    </m:f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sz="2400" b="1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5489" y="1376517"/>
                <a:ext cx="10629123" cy="4759292"/>
              </a:xfrm>
              <a:blipFill rotWithShape="1">
                <a:blip r:embed="rId2" cstate="print"/>
                <a:stretch>
                  <a:fillRect l="-402" t="-6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1776" y="1293779"/>
            <a:ext cx="3093245" cy="4750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798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BD230D-0708-4782-93C2-6421485EDE4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62D448-0CA8-4182-B455-53A1E60B1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6574536" cy="1259894"/>
          </a:xfrm>
        </p:spPr>
        <p:txBody>
          <a:bodyPr>
            <a:normAutofit/>
          </a:bodyPr>
          <a:lstStyle/>
          <a:p>
            <a:r>
              <a:rPr lang="en-US" b="1" dirty="0"/>
              <a:t>Problem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30D25A-547E-4D17-B65E-FA2B888931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C154A5-FE7D-4E0C-A33B-9C63EBDE17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9224" y="1797978"/>
                <a:ext cx="6574535" cy="4094875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>
                    <a:latin typeface="Arial" pitchFamily="34" charset="0"/>
                    <a:cs typeface="Arial" pitchFamily="34" charset="0"/>
                  </a:rPr>
                  <a:t>Q) Use the linear delay model to estimate the delay of the fanout-of-4 (FO4) inverter . Assume the inverter is constructed in a 65 nm process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>
                        <a:solidFill>
                          <a:srgbClr val="231F20"/>
                        </a:solidFill>
                        <a:latin typeface="Cambria Math"/>
                        <a:cs typeface="Arial" panose="020B0604020202020204" pitchFamily="34" charset="0"/>
                      </a:rPr>
                      <m:t>τ</m:t>
                    </m:r>
                  </m:oMath>
                </a14:m>
                <a:r>
                  <a:rPr lang="en-US" dirty="0">
                    <a:latin typeface="Arial" pitchFamily="34" charset="0"/>
                    <a:cs typeface="Arial" pitchFamily="34" charset="0"/>
                  </a:rPr>
                  <a:t> = 3 </a:t>
                </a:r>
                <a:r>
                  <a:rPr lang="en-US" dirty="0" err="1">
                    <a:latin typeface="Arial" pitchFamily="34" charset="0"/>
                    <a:cs typeface="Arial" pitchFamily="34" charset="0"/>
                  </a:rPr>
                  <a:t>ps</a:t>
                </a:r>
                <a:r>
                  <a:rPr lang="en-US" dirty="0">
                    <a:latin typeface="Arial" pitchFamily="34" charset="0"/>
                    <a:cs typeface="Arial" pitchFamily="34" charset="0"/>
                  </a:rPr>
                  <a:t>?</a:t>
                </a:r>
              </a:p>
              <a:p>
                <a:endParaRPr lang="en-US" b="1" u="sng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Solution </a:t>
                </a:r>
              </a:p>
              <a:p>
                <a:pPr algn="just"/>
                <a:r>
                  <a:rPr lang="en-US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logical effort of the inverter is g = 1, by definition. The electrical effort is 4 because the load is four gates of equal size. The parasitic delay of an inverter is </a:t>
                </a:r>
                <a:r>
                  <a:rPr lang="en-US" dirty="0" err="1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baseline="-25000" dirty="0" err="1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</a:t>
                </a:r>
                <a:r>
                  <a:rPr lang="en-US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=1. The total delay is d = </a:t>
                </a:r>
                <a:r>
                  <a:rPr lang="en-US" dirty="0" err="1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gh</a:t>
                </a:r>
                <a:r>
                  <a:rPr lang="en-US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+ p = 1 × 4 + 1 = 5 in normalized terms, or </a:t>
                </a:r>
                <a:r>
                  <a:rPr lang="en-US" dirty="0" err="1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US" baseline="-25000" dirty="0" err="1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pd</a:t>
                </a:r>
                <a:r>
                  <a:rPr lang="en-US" baseline="-25000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 15 </a:t>
                </a:r>
                <a:r>
                  <a:rPr lang="en-US" dirty="0" err="1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ps</a:t>
                </a:r>
                <a:r>
                  <a:rPr lang="en-US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absolute terms.</a:t>
                </a:r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4C154A5-FE7D-4E0C-A33B-9C63EBDE17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9224" y="1797978"/>
                <a:ext cx="6574535" cy="4094875"/>
              </a:xfrm>
              <a:blipFill rotWithShape="1">
                <a:blip r:embed="rId2" cstate="print"/>
                <a:stretch>
                  <a:fillRect l="-649" t="-744" r="-7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7783497-A9B7-4231-BB97-D46A9665F6E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62088" y="1975366"/>
            <a:ext cx="3981455" cy="2587227"/>
          </a:xfrm>
          <a:prstGeom prst="rect">
            <a:avLst/>
          </a:prstGeom>
        </p:spPr>
      </p:pic>
      <p:sp>
        <p:nvSpPr>
          <p:cNvPr id="14" name="Freeform 11">
            <a:extLst>
              <a:ext uri="{FF2B5EF4-FFF2-40B4-BE49-F238E27FC236}">
                <a16:creationId xmlns:a16="http://schemas.microsoft.com/office/drawing/2014/main" id="{F39C56FC-EE04-4CE0-8DE2-736A201E9A3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B7DA1D-9521-40AD-923B-FA17D4E5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20916" y="6135808"/>
            <a:ext cx="7619999" cy="365125"/>
          </a:xfrm>
        </p:spPr>
        <p:txBody>
          <a:bodyPr>
            <a:normAutofit/>
          </a:bodyPr>
          <a:lstStyle/>
          <a:p>
            <a:pPr lvl="0"/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</p:spTree>
    <p:extLst>
      <p:ext uri="{BB962C8B-B14F-4D97-AF65-F5344CB8AC3E}">
        <p14:creationId xmlns:p14="http://schemas.microsoft.com/office/powerpoint/2010/main" val="181836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BD230D-0708-4782-93C2-6421485EDE4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62D448-0CA8-4182-B455-53A1E60B1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6574536" cy="1259894"/>
          </a:xfrm>
        </p:spPr>
        <p:txBody>
          <a:bodyPr>
            <a:normAutofit/>
          </a:bodyPr>
          <a:lstStyle/>
          <a:p>
            <a:r>
              <a:rPr lang="en-US" b="1" dirty="0"/>
              <a:t>Problem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30D25A-547E-4D17-B65E-FA2B888931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154A5-FE7D-4E0C-A33B-9C63EBDE1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97978"/>
            <a:ext cx="6574535" cy="4094875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Q) A ring oscillator is constructed from an odd number of inverters, as shown in Figure . Estimate the frequency of an </a:t>
            </a:r>
            <a:r>
              <a:rPr lang="en-US" i="1" dirty="0">
                <a:latin typeface="Arial" pitchFamily="34" charset="0"/>
                <a:cs typeface="Arial" pitchFamily="34" charset="0"/>
              </a:rPr>
              <a:t>N</a:t>
            </a:r>
            <a:r>
              <a:rPr lang="en-US" dirty="0">
                <a:latin typeface="Arial" pitchFamily="34" charset="0"/>
                <a:cs typeface="Arial" pitchFamily="34" charset="0"/>
              </a:rPr>
              <a:t>-stage ring oscillator.?</a:t>
            </a:r>
          </a:p>
          <a:p>
            <a:endParaRPr lang="en-US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Solution </a:t>
            </a:r>
          </a:p>
          <a:p>
            <a:pPr algn="just"/>
            <a:r>
              <a:rPr lang="en-US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logical effort of the inverter is g = 1, by definition. The electrical effort of each inverter is also 1 because it drives a single identical load. The parasitic delay is also 1. The delay of each stage is d = </a:t>
            </a:r>
            <a:r>
              <a:rPr lang="en-US" dirty="0" err="1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gh</a:t>
            </a:r>
            <a:r>
              <a:rPr lang="en-US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p = 1 × 1 + 1 = 2. </a:t>
            </a:r>
            <a:r>
              <a:rPr lang="en-IN" dirty="0">
                <a:latin typeface="Arial" pitchFamily="34" charset="0"/>
                <a:cs typeface="Arial" pitchFamily="34" charset="0"/>
              </a:rPr>
              <a:t>An </a:t>
            </a:r>
            <a:r>
              <a:rPr lang="en-IN" i="1" dirty="0">
                <a:latin typeface="Arial" pitchFamily="34" charset="0"/>
                <a:cs typeface="Arial" pitchFamily="34" charset="0"/>
              </a:rPr>
              <a:t>N</a:t>
            </a:r>
            <a:r>
              <a:rPr lang="en-IN" dirty="0">
                <a:latin typeface="Arial" pitchFamily="34" charset="0"/>
                <a:cs typeface="Arial" pitchFamily="34" charset="0"/>
              </a:rPr>
              <a:t>-stage ring oscillator </a:t>
            </a:r>
            <a:r>
              <a:rPr lang="en-US" dirty="0">
                <a:latin typeface="Arial" pitchFamily="34" charset="0"/>
                <a:cs typeface="Arial" pitchFamily="34" charset="0"/>
              </a:rPr>
              <a:t>has a period of 2</a:t>
            </a:r>
            <a:r>
              <a:rPr lang="en-US" i="1" dirty="0">
                <a:latin typeface="Arial" pitchFamily="34" charset="0"/>
                <a:cs typeface="Arial" pitchFamily="34" charset="0"/>
              </a:rPr>
              <a:t>N </a:t>
            </a:r>
            <a:r>
              <a:rPr lang="en-US" dirty="0">
                <a:latin typeface="Arial" pitchFamily="34" charset="0"/>
                <a:cs typeface="Arial" pitchFamily="34" charset="0"/>
              </a:rPr>
              <a:t>stage delays because a value must propagate twice around the ring to regain the original polarity. Therefore, the period is </a:t>
            </a:r>
            <a:r>
              <a:rPr lang="en-US" i="1" dirty="0">
                <a:latin typeface="Arial" pitchFamily="34" charset="0"/>
                <a:cs typeface="Arial" pitchFamily="34" charset="0"/>
              </a:rPr>
              <a:t>T </a:t>
            </a:r>
            <a:r>
              <a:rPr lang="en-US" dirty="0">
                <a:latin typeface="Arial" pitchFamily="34" charset="0"/>
                <a:cs typeface="Arial" pitchFamily="34" charset="0"/>
              </a:rPr>
              <a:t>= 2 × 2</a:t>
            </a:r>
            <a:r>
              <a:rPr lang="en-US" i="1" dirty="0">
                <a:latin typeface="Arial" pitchFamily="34" charset="0"/>
                <a:cs typeface="Arial" pitchFamily="34" charset="0"/>
              </a:rPr>
              <a:t>N</a:t>
            </a:r>
            <a:r>
              <a:rPr lang="en-US" dirty="0">
                <a:latin typeface="Arial" pitchFamily="34" charset="0"/>
                <a:cs typeface="Arial" pitchFamily="34" charset="0"/>
              </a:rPr>
              <a:t>. The frequency is the reciprocal of the period, 1/4</a:t>
            </a:r>
            <a:r>
              <a:rPr lang="en-US" i="1" dirty="0">
                <a:latin typeface="Arial" pitchFamily="34" charset="0"/>
                <a:cs typeface="Arial" pitchFamily="34" charset="0"/>
              </a:rPr>
              <a:t>N</a:t>
            </a:r>
            <a:r>
              <a:rPr lang="en-US" dirty="0">
                <a:latin typeface="Arial" pitchFamily="34" charset="0"/>
                <a:cs typeface="Arial" pitchFamily="34" charset="0"/>
              </a:rPr>
              <a:t>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F39C56FC-EE04-4CE0-8DE2-736A201E9A3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B7DA1D-9521-40AD-923B-FA17D4E5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20916" y="6135808"/>
            <a:ext cx="7619999" cy="365125"/>
          </a:xfrm>
        </p:spPr>
        <p:txBody>
          <a:bodyPr>
            <a:normAutofit/>
          </a:bodyPr>
          <a:lstStyle/>
          <a:p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3324" y="1820218"/>
            <a:ext cx="4220386" cy="1001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28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4791" y="624110"/>
            <a:ext cx="9889821" cy="1280890"/>
          </a:xfrm>
        </p:spPr>
        <p:txBody>
          <a:bodyPr/>
          <a:lstStyle/>
          <a:p>
            <a:r>
              <a:rPr lang="en-US" b="1" dirty="0"/>
              <a:t>Logical Efforts in Multi-Stage Logic Network</a:t>
            </a: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5957" y="1468877"/>
            <a:ext cx="10288655" cy="464982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 effort ensures to get least overall delay by balancing the delay among stages .</a:t>
            </a:r>
          </a:p>
          <a:p>
            <a:r>
              <a:rPr lang="en-US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logical effort along a path compounds by multiplying  the logical efforts of all the logic gates </a:t>
            </a:r>
          </a:p>
          <a:p>
            <a:r>
              <a:rPr lang="en-US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i="1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path logical effort </a:t>
            </a:r>
            <a:r>
              <a:rPr lang="en-US" b="1" i="1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i="1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expressed as the products of the logical efforts of each </a:t>
            </a:r>
            <a:r>
              <a:rPr lang="en-IN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 along the path. </a:t>
            </a:r>
          </a:p>
          <a:p>
            <a:endParaRPr lang="en-US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i="1" dirty="0">
                <a:latin typeface="Arial" panose="020B0604020202020204" pitchFamily="34" charset="0"/>
                <a:cs typeface="Arial" pitchFamily="34" charset="0"/>
              </a:rPr>
              <a:t>path electrical effort H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i="1" dirty="0">
                <a:latin typeface="Arial" panose="020B0604020202020204" pitchFamily="34" charset="0"/>
                <a:cs typeface="Arial" pitchFamily="34" charset="0"/>
              </a:rPr>
              <a:t>path effort F </a:t>
            </a:r>
            <a:r>
              <a:rPr lang="en-US" dirty="0">
                <a:latin typeface="Arial" panose="020B0604020202020204" pitchFamily="34" charset="0"/>
                <a:cs typeface="Arial" pitchFamily="34" charset="0"/>
              </a:rPr>
              <a:t>is the product of the stage efforts of each stage. </a:t>
            </a:r>
            <a:r>
              <a:rPr lang="en-IN" dirty="0">
                <a:latin typeface="Arial" panose="020B0604020202020204" pitchFamily="34" charset="0"/>
                <a:cs typeface="Arial" pitchFamily="34" charset="0"/>
              </a:rPr>
              <a:t>Recall that the stage </a:t>
            </a:r>
            <a:r>
              <a:rPr lang="en-US" dirty="0">
                <a:latin typeface="Arial" panose="020B0604020202020204" pitchFamily="34" charset="0"/>
                <a:cs typeface="Arial" pitchFamily="34" charset="0"/>
              </a:rPr>
              <a:t>effort of a single stage is </a:t>
            </a:r>
            <a:r>
              <a:rPr lang="en-US" i="1" dirty="0">
                <a:latin typeface="Arial" panose="020B0604020202020204" pitchFamily="34" charset="0"/>
                <a:cs typeface="Arial" pitchFamily="34" charset="0"/>
              </a:rPr>
              <a:t>f </a:t>
            </a:r>
            <a:r>
              <a:rPr lang="en-US" dirty="0">
                <a:latin typeface="Arial" panose="020B0604020202020204" pitchFamily="34" charset="0"/>
                <a:cs typeface="Arial" pitchFamily="34" charset="0"/>
              </a:rPr>
              <a:t>= </a:t>
            </a:r>
            <a:r>
              <a:rPr lang="en-US" i="1" dirty="0" err="1">
                <a:latin typeface="Arial" panose="020B0604020202020204" pitchFamily="34" charset="0"/>
                <a:cs typeface="Arial" pitchFamily="34" charset="0"/>
              </a:rPr>
              <a:t>gh</a:t>
            </a:r>
            <a:r>
              <a:rPr lang="en-US" i="1" dirty="0">
                <a:latin typeface="Arial" panose="020B0604020202020204" pitchFamily="34" charset="0"/>
                <a:cs typeface="Arial" pitchFamily="34" charset="0"/>
              </a:rPr>
              <a:t>. </a:t>
            </a:r>
          </a:p>
          <a:p>
            <a:endParaRPr lang="en-US" i="1" dirty="0">
              <a:latin typeface="Arial" panose="020B0604020202020204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If a path has </a:t>
            </a:r>
            <a:r>
              <a:rPr lang="en-US" i="1" dirty="0">
                <a:latin typeface="Arial" pitchFamily="34" charset="0"/>
                <a:cs typeface="Arial" pitchFamily="34" charset="0"/>
              </a:rPr>
              <a:t>N </a:t>
            </a:r>
            <a:r>
              <a:rPr lang="en-US" dirty="0">
                <a:latin typeface="Arial" pitchFamily="34" charset="0"/>
                <a:cs typeface="Arial" pitchFamily="34" charset="0"/>
              </a:rPr>
              <a:t>stages and each bears the same effort, that effort must be</a:t>
            </a:r>
            <a:endParaRPr lang="en-IN" dirty="0">
              <a:latin typeface="Arial" panose="020B0604020202020204" pitchFamily="34" charset="0"/>
              <a:cs typeface="Arial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IN" sz="16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  <a:endParaRPr lang="en-IN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919" y="2563066"/>
            <a:ext cx="1296241" cy="62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302" y="3205636"/>
            <a:ext cx="1365698" cy="751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263" y="4567348"/>
            <a:ext cx="2090974" cy="508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2981E5FC-B7A7-4C09-91DE-2F21A0E0B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8328" y="5654120"/>
            <a:ext cx="1644483" cy="508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0902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431" y="624110"/>
            <a:ext cx="9841182" cy="1280890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Example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8681" y="1857983"/>
            <a:ext cx="10385931" cy="4212077"/>
          </a:xfrm>
        </p:spPr>
        <p:txBody>
          <a:bodyPr/>
          <a:lstStyle/>
          <a:p>
            <a:pPr algn="just"/>
            <a:r>
              <a:rPr lang="en-US" dirty="0">
                <a:solidFill>
                  <a:srgbClr val="231F20"/>
                </a:solidFill>
                <a:latin typeface="Arial" pitchFamily="34" charset="0"/>
                <a:cs typeface="Arial" pitchFamily="34" charset="0"/>
              </a:rPr>
              <a:t>Figure  shows the logical and electrical efforts of each stage in a multistage path as a function of the sizes of each stage. </a:t>
            </a:r>
            <a:r>
              <a:rPr lang="en-US" dirty="0">
                <a:latin typeface="Arial" pitchFamily="34" charset="0"/>
                <a:cs typeface="Arial" pitchFamily="34" charset="0"/>
              </a:rPr>
              <a:t>Observe that logical effort is independent of size, while electrical effort depends on sizes. 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838528" y="6135808"/>
            <a:ext cx="8370683" cy="365125"/>
          </a:xfrm>
        </p:spPr>
        <p:txBody>
          <a:bodyPr/>
          <a:lstStyle/>
          <a:p>
            <a:pPr lvl="0"/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8666" y="3302541"/>
            <a:ext cx="7343775" cy="218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9453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533" y="624110"/>
            <a:ext cx="9559080" cy="128089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itchFamily="34" charset="0"/>
                <a:cs typeface="Arial" pitchFamily="34" charset="0"/>
              </a:rPr>
              <a:t>Problem</a:t>
            </a:r>
            <a:endParaRPr lang="en-IN" sz="3200" b="1" dirty="0"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10511" y="1536970"/>
                <a:ext cx="10214042" cy="4591456"/>
              </a:xfrm>
            </p:spPr>
            <p:txBody>
              <a:bodyPr/>
              <a:lstStyle/>
              <a:p>
                <a:r>
                  <a:rPr lang="en-US" dirty="0">
                    <a:latin typeface="Arial" pitchFamily="34" charset="0"/>
                    <a:cs typeface="Arial" pitchFamily="34" charset="0"/>
                  </a:rPr>
                  <a:t>Q) Calculate  the size of each gate? </a:t>
                </a:r>
              </a:p>
              <a:p>
                <a:endParaRPr lang="en-US" dirty="0">
                  <a:latin typeface="Arial" pitchFamily="34" charset="0"/>
                  <a:cs typeface="Arial" pitchFamily="34" charset="0"/>
                </a:endParaRPr>
              </a:p>
              <a:p>
                <a:endParaRPr lang="en-US" dirty="0">
                  <a:latin typeface="Arial" pitchFamily="34" charset="0"/>
                  <a:cs typeface="Arial" pitchFamily="34" charset="0"/>
                </a:endParaRPr>
              </a:p>
              <a:p>
                <a:endParaRPr lang="en-US" dirty="0">
                  <a:latin typeface="Arial" pitchFamily="34" charset="0"/>
                  <a:cs typeface="Arial" pitchFamily="34" charset="0"/>
                </a:endParaRPr>
              </a:p>
              <a:p>
                <a:endParaRPr lang="en-US" dirty="0">
                  <a:latin typeface="Arial" pitchFamily="34" charset="0"/>
                  <a:cs typeface="Arial" pitchFamily="34" charset="0"/>
                </a:endParaRPr>
              </a:p>
              <a:p>
                <a:endParaRPr lang="en-US" dirty="0">
                  <a:latin typeface="Arial" pitchFamily="34" charset="0"/>
                  <a:cs typeface="Arial" pitchFamily="34" charset="0"/>
                </a:endParaRPr>
              </a:p>
              <a:p>
                <a:r>
                  <a:rPr lang="en-US" b="1" u="sng" dirty="0">
                    <a:latin typeface="Arial" pitchFamily="34" charset="0"/>
                    <a:cs typeface="Arial" pitchFamily="34" charset="0"/>
                  </a:rPr>
                  <a:t>Solution</a:t>
                </a:r>
                <a:r>
                  <a:rPr lang="en-US" b="1" dirty="0">
                    <a:latin typeface="Arial" pitchFamily="34" charset="0"/>
                    <a:cs typeface="Arial" pitchFamily="34" charset="0"/>
                  </a:rPr>
                  <a:t>  </a:t>
                </a:r>
              </a:p>
              <a:p>
                <a:r>
                  <a:rPr lang="en-IN" sz="2800" dirty="0">
                    <a:latin typeface="Arial" pitchFamily="34" charset="0"/>
                    <a:cs typeface="Arial" pitchFamily="34" charset="0"/>
                  </a:rPr>
                  <a:t>H</a:t>
                </a:r>
                <a:r>
                  <a:rPr lang="en-IN" sz="2800" dirty="0"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smtClean="0">
                        <a:latin typeface="Cambria Math"/>
                        <a:cs typeface="Arial" pitchFamily="34" charset="0"/>
                      </a:rPr>
                      <m:t>=</m:t>
                    </m:r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/>
                                <a:cs typeface="Arial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/>
                                <a:cs typeface="Arial" pitchFamily="34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80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/>
                                <a:cs typeface="Arial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/>
                                <a:cs typeface="Arial" pitchFamily="34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800" dirty="0">
                    <a:latin typeface="Arial" pitchFamily="34" charset="0"/>
                    <a:cs typeface="Arial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  <a:cs typeface="Arial" pitchFamily="34" charset="0"/>
                          </a:rPr>
                          <m:t>20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  <a:cs typeface="Arial" pitchFamily="34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IN" sz="2800" dirty="0">
                    <a:latin typeface="Arial" pitchFamily="34" charset="0"/>
                    <a:cs typeface="Arial" pitchFamily="34" charset="0"/>
                  </a:rPr>
                  <a:t>  </a:t>
                </a:r>
              </a:p>
              <a:p>
                <a:r>
                  <a:rPr lang="en-US" sz="2800" dirty="0">
                    <a:latin typeface="Arial" pitchFamily="34" charset="0"/>
                    <a:cs typeface="Arial" pitchFamily="34" charset="0"/>
                  </a:rPr>
                  <a:t>G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  <a:cs typeface="Arial" pitchFamily="34" charset="0"/>
                          </a:rPr>
                          <m:t>𝑔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  <a:cs typeface="Arial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  <a:cs typeface="Arial" pitchFamily="34" charset="0"/>
                          </a:rPr>
                          <m:t>×</m:t>
                        </m:r>
                        <m:r>
                          <a:rPr lang="en-US" sz="2800" i="1">
                            <a:latin typeface="Cambria Math"/>
                            <a:cs typeface="Arial" pitchFamily="34" charset="0"/>
                          </a:rPr>
                          <m:t>𝑔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  <a:cs typeface="Arial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  <a:cs typeface="Arial" pitchFamily="34" charset="0"/>
                          </a:rPr>
                          <m:t>×</m:t>
                        </m:r>
                        <m:r>
                          <a:rPr lang="en-US" sz="2800" i="1">
                            <a:latin typeface="Cambria Math"/>
                            <a:cs typeface="Arial" pitchFamily="34" charset="0"/>
                          </a:rPr>
                          <m:t>𝑔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  <a:cs typeface="Arial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  <a:cs typeface="Arial" pitchFamily="34" charset="0"/>
                          </a:rPr>
                          <m:t>×</m:t>
                        </m:r>
                        <m:r>
                          <a:rPr lang="en-US" sz="2800" i="1">
                            <a:latin typeface="Cambria Math"/>
                            <a:cs typeface="Arial" pitchFamily="34" charset="0"/>
                          </a:rPr>
                          <m:t>𝑔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  <a:cs typeface="Arial" pitchFamily="34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itchFamily="34" charset="0"/>
                    <a:cs typeface="Arial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/>
                        <a:cs typeface="Arial" pitchFamily="34" charset="0"/>
                      </a:rPr>
                      <m:t>1</m:t>
                    </m:r>
                    <m:r>
                      <a:rPr lang="en-US" sz="2800" i="1" dirty="0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/>
                        <a:cs typeface="Arial" pitchFamily="34" charset="0"/>
                      </a:rPr>
                      <m:t>×</m:t>
                    </m:r>
                    <m:f>
                      <m:fPr>
                        <m:ctrlPr>
                          <a:rPr lang="en-US" sz="2800" i="1" dirty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  <a:cs typeface="Arial" pitchFamily="34" charset="0"/>
                          </a:rPr>
                          <m:t>5</m:t>
                        </m:r>
                      </m:num>
                      <m:den>
                        <m:r>
                          <a:rPr lang="en-US" sz="2800" b="0" i="1" dirty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  <a:cs typeface="Arial" pitchFamily="34" charset="0"/>
                          </a:rPr>
                          <m:t>3</m:t>
                        </m:r>
                      </m:den>
                    </m:f>
                    <m:r>
                      <a:rPr lang="en-US" sz="2800" i="1" dirty="0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/>
                        <a:cs typeface="Arial" pitchFamily="34" charset="0"/>
                      </a:rPr>
                      <m:t>×</m:t>
                    </m:r>
                    <m:f>
                      <m:fPr>
                        <m:ctrlPr>
                          <a:rPr lang="en-US" sz="2800" i="1" dirty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  <a:cs typeface="Arial" pitchFamily="34" charset="0"/>
                          </a:rPr>
                          <m:t>4</m:t>
                        </m:r>
                      </m:num>
                      <m:den>
                        <m:r>
                          <a:rPr lang="en-US" sz="2800" b="0" i="1" dirty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  <a:cs typeface="Arial" pitchFamily="34" charset="0"/>
                          </a:rPr>
                          <m:t>3</m:t>
                        </m:r>
                      </m:den>
                    </m:f>
                    <m:r>
                      <a:rPr lang="en-US" sz="2800" i="1" dirty="0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/>
                        <a:cs typeface="Arial" pitchFamily="34" charset="0"/>
                      </a:rPr>
                      <m:t>×</m:t>
                    </m:r>
                  </m:oMath>
                </a14:m>
                <a:r>
                  <a:rPr lang="en-IN" sz="2800" dirty="0">
                    <a:latin typeface="Arial" pitchFamily="34" charset="0"/>
                    <a:cs typeface="Arial" pitchFamily="34" charset="0"/>
                  </a:rPr>
                  <a:t>1=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  <a:cs typeface="Arial" pitchFamily="34" charset="0"/>
                          </a:rPr>
                          <m:t>20</m:t>
                        </m:r>
                      </m:num>
                      <m:den>
                        <m:r>
                          <a:rPr lang="en-US" sz="2800" b="0" i="1" dirty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  <a:cs typeface="Arial" pitchFamily="34" charset="0"/>
                          </a:rPr>
                          <m:t>9</m:t>
                        </m:r>
                      </m:den>
                    </m:f>
                  </m:oMath>
                </a14:m>
                <a:endParaRPr lang="en-IN" sz="28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10511" y="1536970"/>
                <a:ext cx="10214042" cy="4591456"/>
              </a:xfrm>
              <a:blipFill rotWithShape="1">
                <a:blip r:embed="rId2" cstate="print"/>
                <a:stretch>
                  <a:fillRect l="-1074" t="-6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17" y="2093675"/>
            <a:ext cx="7477125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084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6153" y="624110"/>
            <a:ext cx="9938459" cy="1280890"/>
          </a:xfrm>
        </p:spPr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Continue….</a:t>
            </a:r>
            <a:endParaRPr lang="en-IN" dirty="0"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77047" y="1527243"/>
                <a:ext cx="10327565" cy="4383979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P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1+2+2+1=</m:t>
                    </m:r>
                    <m:r>
                      <a:rPr lang="en-US" sz="2400" b="0" i="1" smtClean="0">
                        <a:latin typeface="Cambria Math"/>
                      </a:rPr>
                      <m:t>6</m:t>
                    </m:r>
                  </m:oMath>
                </a14:m>
                <a:endParaRPr lang="en-US" sz="2400" b="0" dirty="0"/>
              </a:p>
              <a:p>
                <a:r>
                  <a:rPr lang="en-US" sz="2400" dirty="0"/>
                  <a:t>D = f + P</a:t>
                </a:r>
              </a:p>
              <a:p>
                <a:r>
                  <a:rPr lang="en-US" sz="2400" dirty="0"/>
                  <a:t>D = GH +P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/>
                          </a:rPr>
                          <m:t>20</m:t>
                        </m:r>
                      </m:num>
                      <m:den>
                        <m:r>
                          <a:rPr lang="en-US" sz="2400" b="0" i="1" smtClean="0">
                            <a:latin typeface="Cambria Math"/>
                          </a:rPr>
                          <m:t>9</m:t>
                        </m:r>
                      </m:den>
                    </m:f>
                    <m:r>
                      <a:rPr lang="en-US" sz="2400" i="1" smtClean="0">
                        <a:latin typeface="Cambria Math"/>
                      </a:rPr>
                      <m:t>×</m:t>
                    </m:r>
                    <m:r>
                      <a:rPr lang="en-US" sz="2400" b="0" i="1" smtClean="0">
                        <a:latin typeface="Cambria Math"/>
                      </a:rPr>
                      <m:t>2+6=10.44</m:t>
                    </m:r>
                  </m:oMath>
                </a14:m>
                <a:endParaRPr lang="en-IN" sz="2400" dirty="0"/>
              </a:p>
              <a:p>
                <a:pPr lvl="0">
                  <a:buClr>
                    <a:srgbClr val="E78712"/>
                  </a:buClr>
                </a:pPr>
                <a:r>
                  <a:rPr lang="en-US" sz="2400" dirty="0"/>
                  <a:t>F = GH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</a:rPr>
                          <m:t>20</m:t>
                        </m:r>
                      </m:num>
                      <m:den>
                        <m:r>
                          <a:rPr lang="en-US" sz="2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</a:rPr>
                          <m:t>9</m:t>
                        </m:r>
                      </m:den>
                    </m:f>
                    <m:r>
                      <a:rPr lang="en-US" sz="2400" i="1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/>
                      </a:rPr>
                      <m:t>×2=</m:t>
                    </m:r>
                    <m:r>
                      <a:rPr lang="en-US" sz="2400" b="0" i="1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/>
                      </a:rPr>
                      <m:t>4</m:t>
                    </m:r>
                    <m:r>
                      <a:rPr lang="en-US" sz="2400" i="1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/>
                      </a:rPr>
                      <m:t>.44</m:t>
                    </m:r>
                  </m:oMath>
                </a14:m>
                <a:endParaRPr lang="en-IN" sz="240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  <a:p>
                <a:r>
                  <a:rPr lang="en-US" sz="2400" dirty="0"/>
                  <a:t>N = 4</a:t>
                </a:r>
              </a:p>
              <a:p>
                <a:r>
                  <a:rPr lang="en-US" sz="2400" dirty="0"/>
                  <a:t>F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𝑁</m:t>
                        </m:r>
                      </m:sup>
                    </m:sSup>
                  </m:oMath>
                </a14:m>
                <a:endParaRPr lang="en-IN" sz="2400" dirty="0"/>
              </a:p>
              <a:p>
                <a:r>
                  <a:rPr lang="en-US" sz="2400" dirty="0"/>
                  <a:t> f=1.451</a:t>
                </a: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7047" y="1527243"/>
                <a:ext cx="10327565" cy="4383979"/>
              </a:xfrm>
              <a:blipFill>
                <a:blip r:embed="rId2"/>
                <a:stretch>
                  <a:fillRect l="-826" t="-11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</p:spTree>
    <p:extLst>
      <p:ext uri="{BB962C8B-B14F-4D97-AF65-F5344CB8AC3E}">
        <p14:creationId xmlns:p14="http://schemas.microsoft.com/office/powerpoint/2010/main" val="4179540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2341" y="624110"/>
            <a:ext cx="9802272" cy="1280890"/>
          </a:xfrm>
        </p:spPr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Continue….</a:t>
            </a:r>
            <a:endParaRPr lang="en-IN" dirty="0"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60706" y="1838528"/>
                <a:ext cx="9743906" cy="4072694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IN" sz="2400" dirty="0"/>
                  <a:t>×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IN" sz="24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IN" sz="2400" dirty="0"/>
                  <a:t>= 1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IN" sz="2400" dirty="0"/>
                  <a:t>=1.451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IN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/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  <m:r>
                          <a:rPr lang="en-US" sz="2400" b="0" i="1" smtClean="0">
                            <a:latin typeface="Cambria Math"/>
                          </a:rPr>
                          <m:t>.</m:t>
                        </m:r>
                        <m:r>
                          <a:rPr lang="en-US" sz="2400" b="0" i="1" smtClean="0">
                            <a:latin typeface="Cambria Math"/>
                          </a:rPr>
                          <m:t>451</m:t>
                        </m:r>
                      </m:num>
                      <m:den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den>
                    </m:f>
                  </m:oMath>
                </a14:m>
                <a:r>
                  <a:rPr lang="en-IN" sz="24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IN" sz="2400" dirty="0"/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/>
                          </a:rPr>
                          <m:t>20</m:t>
                        </m:r>
                      </m:num>
                      <m:den>
                        <m:r>
                          <a:rPr lang="en-US" sz="2400" b="0" i="1" smtClean="0">
                            <a:latin typeface="Cambria Math"/>
                          </a:rPr>
                          <m:t>𝑍</m:t>
                        </m:r>
                      </m:den>
                    </m:f>
                  </m:oMath>
                </a14:m>
                <a:r>
                  <a:rPr lang="en-IN" sz="2400" dirty="0"/>
                  <a:t> , Z</a:t>
                </a:r>
                <a:r>
                  <a:rPr lang="en-IN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</a:rPr>
                          <m:t>20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en-US" sz="2400" b="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sz="2400" b="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</a:rPr>
                          <m:t>45</m:t>
                        </m:r>
                      </m:den>
                    </m:f>
                  </m:oMath>
                </a14:m>
                <a:r>
                  <a:rPr lang="en-IN" sz="2400" dirty="0"/>
                  <a:t>=13.79</a:t>
                </a:r>
              </a:p>
              <a:p>
                <a:r>
                  <a:rPr lang="en-US" sz="2400" dirty="0"/>
                  <a:t>------------------------------------------------------</a:t>
                </a:r>
                <a:endParaRPr lang="en-IN" sz="2400" dirty="0"/>
              </a:p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400" dirty="0"/>
                  <a:t>×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4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400" dirty="0"/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US" sz="2400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400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400" dirty="0"/>
                  <a:t>=1.451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/>
                          </a:rPr>
                          <m:t>𝑍</m:t>
                        </m:r>
                      </m:num>
                      <m:den>
                        <m:r>
                          <a:rPr lang="en-US" sz="2400" b="0" i="1" smtClean="0">
                            <a:latin typeface="Cambria Math"/>
                          </a:rPr>
                          <m:t>𝑌</m:t>
                        </m:r>
                      </m:den>
                    </m:f>
                  </m:oMath>
                </a14:m>
                <a:r>
                  <a:rPr lang="en-IN" sz="2400" dirty="0"/>
                  <a:t>   </a:t>
                </a:r>
                <a:endParaRPr lang="en-US" sz="2400" i="1" dirty="0">
                  <a:latin typeface="Cambria Math"/>
                </a:endParaRPr>
              </a:p>
              <a:p>
                <a:r>
                  <a:rPr lang="en-IN" sz="2400" dirty="0"/>
                  <a:t>Y=12.67</a:t>
                </a:r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60706" y="1838528"/>
                <a:ext cx="9743906" cy="4072694"/>
              </a:xfrm>
              <a:blipFill rotWithShape="1">
                <a:blip r:embed="rId2" cstate="print"/>
                <a:stretch>
                  <a:fillRect l="-876" t="-11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</p:spTree>
    <p:extLst>
      <p:ext uri="{BB962C8B-B14F-4D97-AF65-F5344CB8AC3E}">
        <p14:creationId xmlns:p14="http://schemas.microsoft.com/office/powerpoint/2010/main" val="349170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9617" y="624110"/>
            <a:ext cx="9704995" cy="1280890"/>
          </a:xfrm>
        </p:spPr>
        <p:txBody>
          <a:bodyPr/>
          <a:lstStyle/>
          <a:p>
            <a:r>
              <a:rPr lang="en-US" b="1" dirty="0"/>
              <a:t>Continue…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buClr>
                    <a:srgbClr val="E78712"/>
                  </a:buClr>
                </a:pPr>
                <a:r>
                  <a:rPr lang="en-US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</a:rPr>
                  <a:t>×</a:t>
                </a:r>
                <a:r>
                  <a:rPr lang="en-US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</a:rPr>
                  <a:t> </a:t>
                </a:r>
              </a:p>
              <a:p>
                <a:pPr lvl="0">
                  <a:buClr>
                    <a:srgbClr val="E78712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US" sz="2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</a:rPr>
                  <a:t>=1.451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</a:rPr>
                          <m:t>𝑌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/>
                          </a:rPr>
                          <m:t>𝑋</m:t>
                        </m:r>
                      </m:den>
                    </m:f>
                  </m:oMath>
                </a14:m>
                <a:r>
                  <a:rPr lang="en-IN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</a:rPr>
                  <a:t>   </a:t>
                </a:r>
                <a:endParaRPr lang="en-US" sz="2400" i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mbria Math"/>
                </a:endParaRPr>
              </a:p>
              <a:p>
                <a:pPr lvl="0">
                  <a:buClr>
                    <a:srgbClr val="E78712"/>
                  </a:buClr>
                </a:pPr>
                <a:r>
                  <a:rPr lang="en-IN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</a:rPr>
                  <a:t>X = 14.55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 cstate="print"/>
                <a:stretch>
                  <a:fillRect l="-958" t="-12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1959" y="3921971"/>
            <a:ext cx="7762875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604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7167" y="624110"/>
            <a:ext cx="9617446" cy="1280890"/>
          </a:xfrm>
        </p:spPr>
        <p:txBody>
          <a:bodyPr/>
          <a:lstStyle/>
          <a:p>
            <a:r>
              <a:rPr lang="en-IN" dirty="0">
                <a:latin typeface="Arial" pitchFamily="34" charset="0"/>
                <a:cs typeface="Arial" pitchFamily="34" charset="0"/>
              </a:rPr>
              <a:t>Branching Effort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8056" y="1391056"/>
            <a:ext cx="10336770" cy="4805464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231F20"/>
                </a:solidFill>
                <a:latin typeface="Arial" pitchFamily="34" charset="0"/>
                <a:cs typeface="Arial" pitchFamily="34" charset="0"/>
              </a:rPr>
              <a:t>This </a:t>
            </a:r>
            <a:r>
              <a:rPr lang="en-US" i="1" dirty="0">
                <a:solidFill>
                  <a:srgbClr val="231F20"/>
                </a:solidFill>
                <a:latin typeface="Arial" pitchFamily="34" charset="0"/>
                <a:cs typeface="Arial" pitchFamily="34" charset="0"/>
              </a:rPr>
              <a:t>branching effort b </a:t>
            </a:r>
            <a:r>
              <a:rPr lang="en-US" dirty="0">
                <a:solidFill>
                  <a:srgbClr val="231F20"/>
                </a:solidFill>
                <a:latin typeface="Arial" pitchFamily="34" charset="0"/>
                <a:cs typeface="Arial" pitchFamily="34" charset="0"/>
              </a:rPr>
              <a:t>is the ratio of the total capacitance seen by a stage to the </a:t>
            </a:r>
            <a:r>
              <a:rPr lang="en-IN" dirty="0">
                <a:solidFill>
                  <a:srgbClr val="231F20"/>
                </a:solidFill>
                <a:latin typeface="Arial" pitchFamily="34" charset="0"/>
                <a:cs typeface="Arial" pitchFamily="34" charset="0"/>
              </a:rPr>
              <a:t>capacitance on the path. </a:t>
            </a:r>
          </a:p>
          <a:p>
            <a:pPr algn="just"/>
            <a:endParaRPr lang="en-IN" dirty="0">
              <a:solidFill>
                <a:srgbClr val="231F20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endParaRPr lang="en-IN" dirty="0">
              <a:solidFill>
                <a:srgbClr val="231F20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endParaRPr lang="en-IN" dirty="0">
              <a:solidFill>
                <a:srgbClr val="231F20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i="1" dirty="0">
                <a:latin typeface="Arial" pitchFamily="34" charset="0"/>
                <a:cs typeface="Arial" pitchFamily="34" charset="0"/>
              </a:rPr>
              <a:t>path branching effort B </a:t>
            </a:r>
            <a:r>
              <a:rPr lang="en-US" dirty="0">
                <a:latin typeface="Arial" pitchFamily="34" charset="0"/>
                <a:cs typeface="Arial" pitchFamily="34" charset="0"/>
              </a:rPr>
              <a:t>is the product of the branching efforts between stages. 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we can define the path effort </a:t>
            </a:r>
            <a:r>
              <a:rPr lang="en-US" i="1" dirty="0">
                <a:latin typeface="Arial" pitchFamily="34" charset="0"/>
                <a:cs typeface="Arial" pitchFamily="34" charset="0"/>
              </a:rPr>
              <a:t>F </a:t>
            </a:r>
            <a:r>
              <a:rPr lang="en-US" dirty="0">
                <a:latin typeface="Arial" pitchFamily="34" charset="0"/>
                <a:cs typeface="Arial" pitchFamily="34" charset="0"/>
              </a:rPr>
              <a:t>as the product of the logical, electrical, and branching </a:t>
            </a:r>
            <a:r>
              <a:rPr lang="en-IN" dirty="0">
                <a:latin typeface="Arial" pitchFamily="34" charset="0"/>
                <a:cs typeface="Arial" pitchFamily="34" charset="0"/>
              </a:rPr>
              <a:t>efforts of the path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931" y="1989309"/>
            <a:ext cx="25527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451" y="3701982"/>
            <a:ext cx="1323975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132" y="5383753"/>
            <a:ext cx="1314450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2953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5805" y="624110"/>
            <a:ext cx="9568808" cy="1280890"/>
          </a:xfrm>
        </p:spPr>
        <p:txBody>
          <a:bodyPr/>
          <a:lstStyle/>
          <a:p>
            <a:r>
              <a:rPr lang="en-IN" dirty="0">
                <a:latin typeface="Arial" pitchFamily="34" charset="0"/>
                <a:cs typeface="Arial" pitchFamily="34" charset="0"/>
              </a:rPr>
              <a:t>Continue…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2340" y="1274323"/>
            <a:ext cx="9802272" cy="48249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31F20"/>
                </a:solidFill>
                <a:latin typeface="Arial" pitchFamily="34" charset="0"/>
                <a:cs typeface="Arial" pitchFamily="34" charset="0"/>
              </a:rPr>
              <a:t>The path delay </a:t>
            </a:r>
            <a:r>
              <a:rPr lang="en-US" b="1" dirty="0">
                <a:solidFill>
                  <a:srgbClr val="231F20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lang="en-US" dirty="0">
                <a:solidFill>
                  <a:srgbClr val="231F20"/>
                </a:solidFill>
                <a:latin typeface="Arial" pitchFamily="34" charset="0"/>
                <a:cs typeface="Arial" pitchFamily="34" charset="0"/>
              </a:rPr>
              <a:t> is the sum of the delays of each stage. </a:t>
            </a:r>
            <a:r>
              <a:rPr lang="en-US" dirty="0">
                <a:latin typeface="Arial" pitchFamily="34" charset="0"/>
                <a:cs typeface="Arial" pitchFamily="34" charset="0"/>
              </a:rPr>
              <a:t>It can also be written as the sum of the path effort delay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D</a:t>
            </a:r>
            <a:r>
              <a:rPr lang="en-US" b="1" baseline="-25000" dirty="0">
                <a:latin typeface="Arial" pitchFamily="34" charset="0"/>
                <a:cs typeface="Arial" pitchFamily="34" charset="0"/>
              </a:rPr>
              <a:t>F</a:t>
            </a:r>
            <a:r>
              <a:rPr lang="en-US" baseline="-25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and  </a:t>
            </a:r>
            <a:r>
              <a:rPr lang="en-IN" dirty="0">
                <a:latin typeface="Arial" pitchFamily="34" charset="0"/>
                <a:cs typeface="Arial" pitchFamily="34" charset="0"/>
              </a:rPr>
              <a:t>path parasitic delay 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P</a:t>
            </a:r>
            <a:r>
              <a:rPr lang="en-IN" dirty="0">
                <a:latin typeface="Arial" pitchFamily="34" charset="0"/>
                <a:cs typeface="Arial" pitchFamily="34" charset="0"/>
              </a:rPr>
              <a:t>. </a:t>
            </a:r>
          </a:p>
          <a:p>
            <a:endParaRPr lang="en-IN" dirty="0">
              <a:latin typeface="Arial" pitchFamily="34" charset="0"/>
              <a:cs typeface="Arial" pitchFamily="34" charset="0"/>
            </a:endParaRPr>
          </a:p>
          <a:p>
            <a:endParaRPr lang="en-IN" dirty="0">
              <a:latin typeface="Arial" pitchFamily="34" charset="0"/>
              <a:cs typeface="Arial" pitchFamily="34" charset="0"/>
            </a:endParaRPr>
          </a:p>
          <a:p>
            <a:endParaRPr lang="en-IN" dirty="0">
              <a:latin typeface="Arial" pitchFamily="34" charset="0"/>
              <a:cs typeface="Arial" pitchFamily="34" charset="0"/>
            </a:endParaRPr>
          </a:p>
          <a:p>
            <a:endParaRPr lang="en-IN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If a path has </a:t>
            </a:r>
            <a:r>
              <a:rPr lang="en-US" i="1" dirty="0">
                <a:latin typeface="Arial" pitchFamily="34" charset="0"/>
                <a:cs typeface="Arial" pitchFamily="34" charset="0"/>
              </a:rPr>
              <a:t>N </a:t>
            </a:r>
            <a:r>
              <a:rPr lang="en-US" dirty="0">
                <a:latin typeface="Arial" pitchFamily="34" charset="0"/>
                <a:cs typeface="Arial" pitchFamily="34" charset="0"/>
              </a:rPr>
              <a:t>stages and each bears the same effort, that effort must be</a:t>
            </a:r>
            <a:endParaRPr lang="en-IN" dirty="0">
              <a:latin typeface="Arial" pitchFamily="34" charset="0"/>
              <a:cs typeface="Arial" pitchFamily="34" charset="0"/>
            </a:endParaRPr>
          </a:p>
          <a:p>
            <a:endParaRPr lang="en-IN" dirty="0">
              <a:latin typeface="Arial" pitchFamily="34" charset="0"/>
              <a:cs typeface="Arial" pitchFamily="34" charset="0"/>
            </a:endParaRPr>
          </a:p>
          <a:p>
            <a:endParaRPr lang="en-US" dirty="0">
              <a:solidFill>
                <a:srgbClr val="231F20"/>
              </a:solidFill>
              <a:latin typeface="ACaslon-Regular"/>
            </a:endParaRPr>
          </a:p>
          <a:p>
            <a:r>
              <a:rPr lang="en-US" dirty="0">
                <a:solidFill>
                  <a:srgbClr val="231F20"/>
                </a:solidFill>
                <a:latin typeface="ACaslon-Regular"/>
              </a:rPr>
              <a:t>the minimum possible delay of an </a:t>
            </a:r>
            <a:r>
              <a:rPr lang="en-US" i="1" dirty="0">
                <a:solidFill>
                  <a:srgbClr val="231F20"/>
                </a:solidFill>
                <a:latin typeface="ACaslon-Italic"/>
              </a:rPr>
              <a:t>N</a:t>
            </a:r>
            <a:r>
              <a:rPr lang="en-US" dirty="0">
                <a:solidFill>
                  <a:srgbClr val="231F20"/>
                </a:solidFill>
                <a:latin typeface="ACaslon-Regular"/>
              </a:rPr>
              <a:t>-stage path with path effort </a:t>
            </a:r>
            <a:r>
              <a:rPr lang="en-US" i="1" dirty="0">
                <a:solidFill>
                  <a:srgbClr val="231F20"/>
                </a:solidFill>
                <a:latin typeface="ACaslon-Italic"/>
              </a:rPr>
              <a:t>F </a:t>
            </a:r>
            <a:r>
              <a:rPr lang="en-US" dirty="0">
                <a:solidFill>
                  <a:srgbClr val="231F20"/>
                </a:solidFill>
                <a:latin typeface="ACaslon-Regular"/>
              </a:rPr>
              <a:t>and path parasitic</a:t>
            </a:r>
          </a:p>
          <a:p>
            <a:pPr marL="0" indent="0">
              <a:buNone/>
            </a:pPr>
            <a:r>
              <a:rPr lang="en-IN" dirty="0">
                <a:solidFill>
                  <a:srgbClr val="231F20"/>
                </a:solidFill>
                <a:latin typeface="ACaslon-Regular"/>
              </a:rPr>
              <a:t>    delay </a:t>
            </a:r>
            <a:r>
              <a:rPr lang="en-IN" i="1" dirty="0">
                <a:solidFill>
                  <a:srgbClr val="231F20"/>
                </a:solidFill>
                <a:latin typeface="ACaslon-Italic"/>
              </a:rPr>
              <a:t>P </a:t>
            </a:r>
            <a:r>
              <a:rPr lang="en-IN" dirty="0">
                <a:solidFill>
                  <a:srgbClr val="231F20"/>
                </a:solidFill>
                <a:latin typeface="ACaslon-Regular"/>
              </a:rPr>
              <a:t>is</a:t>
            </a: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013626" y="6118698"/>
            <a:ext cx="8195585" cy="382235"/>
          </a:xfrm>
        </p:spPr>
        <p:txBody>
          <a:bodyPr/>
          <a:lstStyle/>
          <a:p>
            <a:pPr lvl="0"/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649" y="1932720"/>
            <a:ext cx="2515613" cy="152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824" y="3948821"/>
            <a:ext cx="2124075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116" y="5315052"/>
            <a:ext cx="2105025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7184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10902" y="1741251"/>
                <a:ext cx="9393710" cy="4169971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  f= </a:t>
                </a:r>
                <a:r>
                  <a:rPr lang="en-US" sz="2400" dirty="0" err="1"/>
                  <a:t>gh</a:t>
                </a:r>
                <a:endParaRPr lang="en-US" sz="2400" dirty="0"/>
              </a:p>
              <a:p>
                <a:r>
                  <a:rPr lang="en-US" sz="2400" dirty="0"/>
                  <a:t>  h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𝑜𝑢𝑡</m:t>
                            </m:r>
                            <m:r>
                              <a:rPr lang="en-US" sz="2400" b="0" i="1" baseline="-25000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latin typeface="Cambria Math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𝑖𝑛</m:t>
                            </m:r>
                            <m:r>
                              <a:rPr lang="en-US" sz="2400" b="0" i="1" baseline="-25000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/>
                  <a:t>  </a:t>
                </a:r>
              </a:p>
              <a:p>
                <a:pPr algn="just"/>
                <a:r>
                  <a:rPr lang="en-IN" dirty="0">
                    <a:latin typeface="Arial" pitchFamily="34" charset="0"/>
                    <a:cs typeface="Arial" pitchFamily="34" charset="0"/>
                  </a:rPr>
                  <a:t>Combining </a:t>
                </a:r>
                <a:r>
                  <a:rPr lang="en-US" dirty="0">
                    <a:latin typeface="Arial" pitchFamily="34" charset="0"/>
                    <a:cs typeface="Arial" pitchFamily="34" charset="0"/>
                  </a:rPr>
                  <a:t>gives us the </a:t>
                </a:r>
                <a:r>
                  <a:rPr lang="en-US" i="1" dirty="0">
                    <a:latin typeface="Arial" pitchFamily="34" charset="0"/>
                    <a:cs typeface="Arial" pitchFamily="34" charset="0"/>
                  </a:rPr>
                  <a:t>capacitance transformation </a:t>
                </a:r>
                <a:r>
                  <a:rPr lang="en-US" dirty="0">
                    <a:latin typeface="Arial" pitchFamily="34" charset="0"/>
                    <a:cs typeface="Arial" pitchFamily="34" charset="0"/>
                  </a:rPr>
                  <a:t>formula to find the best input capacitance for a gate given the output capacitance it drives</a:t>
                </a:r>
                <a:r>
                  <a:rPr lang="en-US" sz="2400" dirty="0">
                    <a:latin typeface="Arial" pitchFamily="34" charset="0"/>
                    <a:cs typeface="Arial" pitchFamily="34" charset="0"/>
                  </a:rPr>
                  <a:t>.</a:t>
                </a:r>
                <a:endParaRPr lang="en-IN" sz="24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10902" y="1741251"/>
                <a:ext cx="9393710" cy="4169971"/>
              </a:xfrm>
              <a:blipFill>
                <a:blip r:embed="rId2"/>
                <a:stretch>
                  <a:fillRect l="-909" t="-1170" r="-12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217" y="3801084"/>
            <a:ext cx="1928508" cy="964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28645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47139DB-2F49-4FA4-88C3-67FA6DEA4E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0947" y="1264555"/>
            <a:ext cx="10995642" cy="490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1352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0163" y="624110"/>
            <a:ext cx="9724450" cy="1280890"/>
          </a:xfrm>
        </p:spPr>
        <p:txBody>
          <a:bodyPr/>
          <a:lstStyle/>
          <a:p>
            <a:r>
              <a:rPr lang="en-IN" b="1" dirty="0">
                <a:latin typeface="Arial" pitchFamily="34" charset="0"/>
                <a:cs typeface="Arial" pitchFamily="34" charset="0"/>
              </a:rPr>
              <a:t>Path branch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6153" y="1585609"/>
            <a:ext cx="9938459" cy="4325613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>
                <a:latin typeface="Arial" pitchFamily="34" charset="0"/>
                <a:cs typeface="Arial" pitchFamily="34" charset="0"/>
              </a:rPr>
              <a:t>Q Calculate  path effort  (F)  of a given circuit</a:t>
            </a:r>
            <a:r>
              <a:rPr lang="en-IN" dirty="0">
                <a:latin typeface="Arial" pitchFamily="34" charset="0"/>
                <a:cs typeface="Arial" pitchFamily="34" charset="0"/>
              </a:rPr>
              <a:t>?</a:t>
            </a:r>
          </a:p>
          <a:p>
            <a:pPr marL="0" indent="0">
              <a:buNone/>
            </a:pPr>
            <a:endParaRPr lang="en-IN" b="1" u="sn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2749" y="2507269"/>
            <a:ext cx="4574534" cy="309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99" y="2589973"/>
            <a:ext cx="4168099" cy="2876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224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5805" y="624110"/>
            <a:ext cx="9568808" cy="1280890"/>
          </a:xfrm>
        </p:spPr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Problem</a:t>
            </a: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2963" y="1643974"/>
            <a:ext cx="10181650" cy="426724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231F20"/>
                </a:solidFill>
                <a:latin typeface="ACaslon-Regular"/>
              </a:rPr>
              <a:t>Q) a) Estimate the minimum delay of the path from </a:t>
            </a:r>
            <a:r>
              <a:rPr lang="en-US" sz="2400" i="1" dirty="0">
                <a:solidFill>
                  <a:srgbClr val="231F20"/>
                </a:solidFill>
                <a:latin typeface="ACaslon-Italic"/>
              </a:rPr>
              <a:t>A </a:t>
            </a:r>
            <a:r>
              <a:rPr lang="en-US" sz="2400" dirty="0">
                <a:solidFill>
                  <a:srgbClr val="231F20"/>
                </a:solidFill>
                <a:latin typeface="ACaslon-Regular"/>
              </a:rPr>
              <a:t>to</a:t>
            </a:r>
            <a:r>
              <a:rPr lang="en-US" sz="2000" dirty="0">
                <a:solidFill>
                  <a:srgbClr val="231F20"/>
                </a:solidFill>
                <a:latin typeface="ACaslon-Regular"/>
              </a:rPr>
              <a:t> </a:t>
            </a:r>
            <a:r>
              <a:rPr lang="en-US" sz="2000" i="1" dirty="0">
                <a:solidFill>
                  <a:srgbClr val="231F20"/>
                </a:solidFill>
                <a:latin typeface="ACaslon-Italic"/>
              </a:rPr>
              <a:t>B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231F20"/>
                </a:solidFill>
                <a:latin typeface="ACaslon-Italic"/>
              </a:rPr>
              <a:t>      </a:t>
            </a:r>
            <a:r>
              <a:rPr lang="en-US" sz="2000" dirty="0">
                <a:solidFill>
                  <a:srgbClr val="231F20"/>
                </a:solidFill>
                <a:latin typeface="Arial" pitchFamily="34" charset="0"/>
                <a:cs typeface="Arial" pitchFamily="34" charset="0"/>
              </a:rPr>
              <a:t> b) </a:t>
            </a:r>
            <a:r>
              <a:rPr lang="en-US" sz="2400" dirty="0">
                <a:solidFill>
                  <a:srgbClr val="231F20"/>
                </a:solidFill>
                <a:latin typeface="Arial" pitchFamily="34" charset="0"/>
                <a:cs typeface="Arial" pitchFamily="34" charset="0"/>
              </a:rPr>
              <a:t>Choose the transistor size to achieve this delay.</a:t>
            </a:r>
          </a:p>
          <a:p>
            <a:pPr marL="0" indent="0">
              <a:buNone/>
            </a:pPr>
            <a:r>
              <a:rPr lang="en-US" sz="2000" b="1" u="sng" dirty="0">
                <a:solidFill>
                  <a:srgbClr val="231F20"/>
                </a:solidFill>
                <a:latin typeface="Arial" pitchFamily="34" charset="0"/>
                <a:cs typeface="Arial" pitchFamily="34" charset="0"/>
              </a:rPr>
              <a:t>Solution (a)</a:t>
            </a:r>
            <a:endParaRPr lang="en-IN" sz="2000" b="1" u="sn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047" y="2879387"/>
            <a:ext cx="4013671" cy="2396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505" y="3208338"/>
            <a:ext cx="6548337" cy="2781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481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7711" y="624110"/>
            <a:ext cx="9636901" cy="1280890"/>
          </a:xfrm>
        </p:spPr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Continue…</a:t>
            </a: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5260" y="1614791"/>
            <a:ext cx="9549352" cy="4296431"/>
          </a:xfrm>
        </p:spPr>
        <p:txBody>
          <a:bodyPr/>
          <a:lstStyle/>
          <a:p>
            <a:r>
              <a:rPr lang="en-US" b="1" u="sng" dirty="0">
                <a:solidFill>
                  <a:srgbClr val="231F20"/>
                </a:solidFill>
                <a:latin typeface="ACaslon-Regular"/>
              </a:rPr>
              <a:t>Solution b</a:t>
            </a:r>
            <a:endParaRPr lang="en-IN" b="1" u="sng" dirty="0">
              <a:solidFill>
                <a:srgbClr val="231F20"/>
              </a:solidFill>
              <a:latin typeface="ACaslon-Regular"/>
            </a:endParaRPr>
          </a:p>
          <a:p>
            <a:r>
              <a:rPr lang="en-IN" dirty="0">
                <a:solidFill>
                  <a:srgbClr val="231F20"/>
                </a:solidFill>
                <a:latin typeface="ACaslon-Regular"/>
              </a:rPr>
              <a:t>The </a:t>
            </a:r>
            <a:r>
              <a:rPr lang="en-US" dirty="0">
                <a:solidFill>
                  <a:srgbClr val="231F20"/>
                </a:solidFill>
                <a:latin typeface="ACaslon-Regular"/>
              </a:rPr>
              <a:t>gate sizes are computed with the capacitance transformation from working backward along the path  </a:t>
            </a:r>
          </a:p>
          <a:p>
            <a:r>
              <a:rPr lang="en-US" dirty="0">
                <a:solidFill>
                  <a:srgbClr val="231F20"/>
                </a:solidFill>
                <a:latin typeface="ACaslon-Regular"/>
              </a:rPr>
              <a:t> </a:t>
            </a:r>
            <a:r>
              <a:rPr lang="en-US" sz="2000" i="1" dirty="0">
                <a:solidFill>
                  <a:srgbClr val="231F20"/>
                </a:solidFill>
                <a:latin typeface="ACaslon-Italic"/>
              </a:rPr>
              <a:t>y </a:t>
            </a:r>
            <a:r>
              <a:rPr lang="en-US" sz="2000" dirty="0">
                <a:solidFill>
                  <a:srgbClr val="231F20"/>
                </a:solidFill>
                <a:latin typeface="Symbol"/>
              </a:rPr>
              <a:t>= </a:t>
            </a:r>
            <a:r>
              <a:rPr lang="en-US" sz="2000" dirty="0">
                <a:solidFill>
                  <a:srgbClr val="231F20"/>
                </a:solidFill>
                <a:latin typeface="ACaslon-Regular"/>
              </a:rPr>
              <a:t>45 </a:t>
            </a:r>
            <a:r>
              <a:rPr lang="en-IN" sz="2000" dirty="0"/>
              <a:t> × </a:t>
            </a:r>
            <a:r>
              <a:rPr lang="en-US" sz="2000" dirty="0">
                <a:solidFill>
                  <a:srgbClr val="231F20"/>
                </a:solidFill>
                <a:latin typeface="Symbol"/>
              </a:rPr>
              <a:t> </a:t>
            </a:r>
            <a:r>
              <a:rPr lang="en-US" sz="2000" dirty="0">
                <a:solidFill>
                  <a:srgbClr val="231F20"/>
                </a:solidFill>
                <a:latin typeface="ACaslon-Regular"/>
              </a:rPr>
              <a:t>(5/3)/5 </a:t>
            </a:r>
            <a:r>
              <a:rPr lang="en-US" sz="2000" dirty="0">
                <a:solidFill>
                  <a:srgbClr val="231F20"/>
                </a:solidFill>
                <a:latin typeface="Symbol"/>
              </a:rPr>
              <a:t>= </a:t>
            </a:r>
            <a:r>
              <a:rPr lang="en-US" sz="2000" dirty="0">
                <a:solidFill>
                  <a:srgbClr val="231F20"/>
                </a:solidFill>
                <a:latin typeface="ACaslon-Regular"/>
              </a:rPr>
              <a:t>15</a:t>
            </a:r>
          </a:p>
          <a:p>
            <a:r>
              <a:rPr lang="en-IN" sz="2000" i="1" dirty="0">
                <a:latin typeface="Arial" pitchFamily="34" charset="0"/>
                <a:cs typeface="Arial" pitchFamily="34" charset="0"/>
              </a:rPr>
              <a:t>x 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= (15 + 15) × (5/3)/5 = 10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</p:spTree>
    <p:extLst>
      <p:ext uri="{BB962C8B-B14F-4D97-AF65-F5344CB8AC3E}">
        <p14:creationId xmlns:p14="http://schemas.microsoft.com/office/powerpoint/2010/main" val="17474483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2D448-0CA8-4182-B455-53A1E60B1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6574536" cy="1259894"/>
          </a:xfrm>
        </p:spPr>
        <p:txBody>
          <a:bodyPr>
            <a:normAutofit/>
          </a:bodyPr>
          <a:lstStyle/>
          <a:p>
            <a:r>
              <a:rPr lang="en-US" b="1" dirty="0"/>
              <a:t>Problem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C154A5-FE7D-4E0C-A33B-9C63EBDE17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9224" y="1797978"/>
                <a:ext cx="6686524" cy="4414916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>
                    <a:latin typeface="Arial" pitchFamily="34" charset="0"/>
                    <a:cs typeface="Arial" pitchFamily="34" charset="0"/>
                  </a:rPr>
                  <a:t>Q) A ring oscillator is constructed from an odd number of inverters, as shown in Figure . Estimate the frequency of an </a:t>
                </a:r>
                <a:r>
                  <a:rPr lang="en-US" i="1" dirty="0">
                    <a:latin typeface="Arial" pitchFamily="34" charset="0"/>
                    <a:cs typeface="Arial" pitchFamily="34" charset="0"/>
                  </a:rPr>
                  <a:t>N</a:t>
                </a:r>
                <a:r>
                  <a:rPr lang="en-US" dirty="0">
                    <a:latin typeface="Arial" pitchFamily="34" charset="0"/>
                    <a:cs typeface="Arial" pitchFamily="34" charset="0"/>
                  </a:rPr>
                  <a:t>-stage ring oscillator by using path logical effort method ?</a:t>
                </a:r>
              </a:p>
              <a:p>
                <a:r>
                  <a:rPr lang="en-US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Solution </a:t>
                </a: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Logical effort  G = 1</a:t>
                </a: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Electrical effort H = 1</a:t>
                </a: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Branching effort  B =1</a:t>
                </a: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Path effort F = GBH = 1 </a:t>
                </a: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Parasitic delay P = 1</a:t>
                </a: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Delay D = F +P = GH+P </a:t>
                </a:r>
                <a:r>
                  <a:rPr lang="en-US">
                    <a:latin typeface="Arial" panose="020B0604020202020204" pitchFamily="34" charset="0"/>
                    <a:cs typeface="Arial" panose="020B0604020202020204" pitchFamily="34" charset="0"/>
                  </a:rPr>
                  <a:t>= 2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F</m:t>
                    </m:r>
                    <m:r>
                      <a:rPr lang="en-IN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ND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2×2×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N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N</m:t>
                        </m:r>
                      </m:den>
                    </m:f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C154A5-FE7D-4E0C-A33B-9C63EBDE17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9224" y="1797978"/>
                <a:ext cx="6686524" cy="4414916"/>
              </a:xfrm>
              <a:blipFill>
                <a:blip r:embed="rId2"/>
                <a:stretch>
                  <a:fillRect l="-639" t="-829" r="-17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B7DA1D-9521-40AD-923B-FA17D4E5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20916" y="6135808"/>
            <a:ext cx="7619999" cy="365125"/>
          </a:xfrm>
        </p:spPr>
        <p:txBody>
          <a:bodyPr>
            <a:normAutofit/>
          </a:bodyPr>
          <a:lstStyle/>
          <a:p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3324" y="1820218"/>
            <a:ext cx="4220386" cy="1001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189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4413" y="624110"/>
            <a:ext cx="9840199" cy="1280890"/>
          </a:xfrm>
        </p:spPr>
        <p:txBody>
          <a:bodyPr>
            <a:normAutofit/>
          </a:bodyPr>
          <a:lstStyle/>
          <a:p>
            <a:r>
              <a:rPr lang="en-US" sz="3200">
                <a:latin typeface="Arial" pitchFamily="34" charset="0"/>
                <a:cs typeface="Arial" pitchFamily="34" charset="0"/>
              </a:rPr>
              <a:t>Derivation for least possible delay for a logic block</a:t>
            </a:r>
            <a:endParaRPr lang="en-IN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4270" y="1335641"/>
            <a:ext cx="10500188" cy="5280916"/>
          </a:xfrm>
        </p:spPr>
        <p:txBody>
          <a:bodyPr>
            <a:normAutofit/>
          </a:bodyPr>
          <a:lstStyle/>
          <a:p>
            <a:pPr algn="just"/>
            <a:endParaRPr lang="en-US" sz="2000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0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0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0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 the circuit containing n number of stages, n1 is the number of stages are  in the logic block and N-n1 are the extra inverters. Least delay for the logic path will be </a:t>
            </a:r>
          </a:p>
          <a:p>
            <a:pPr algn="just"/>
            <a:endParaRPr lang="en-US" sz="2000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0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The first term is the delay obtained by distributing effort equally among the </a:t>
            </a:r>
            <a:r>
              <a:rPr lang="en-IN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stage. </a:t>
            </a:r>
            <a:r>
              <a:rPr lang="en-US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The second term is the parasitic delay of the logic stages, and the third term is the parasitic delay of the inverters</a:t>
            </a:r>
            <a:endParaRPr lang="en-US" sz="2000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0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Rohit Lorenzo, VIT-AP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6B6368-99F6-462A-B719-4988CE313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274" y="1313357"/>
            <a:ext cx="4543063" cy="13947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7A7765-FB56-4FE4-99D8-ABAF853A6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273" y="3863083"/>
            <a:ext cx="5141655" cy="89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168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4413" y="624110"/>
            <a:ext cx="9840199" cy="128089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Best stage effort</a:t>
            </a:r>
            <a:endParaRPr lang="en-IN" sz="3200" dirty="0"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84270" y="1335641"/>
                <a:ext cx="10500188" cy="5280916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000" dirty="0">
                    <a:solidFill>
                      <a:srgbClr val="231F2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Differentiating this expression with respect to N and setting the result to zero, we obtain:</a:t>
                </a:r>
              </a:p>
              <a:p>
                <a:pPr algn="just"/>
                <a:endParaRPr lang="en-US" sz="200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2000" b="0" i="0" u="none" strike="noStrike" baseline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Let us define  N is the number of stages  and  </a:t>
                </a:r>
                <a14:m>
                  <m:oMath xmlns:m="http://schemas.openxmlformats.org/officeDocument/2006/math">
                    <m:r>
                      <a:rPr lang="en-IN" sz="20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IN" sz="20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IN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p>
                        <m:f>
                          <m:fPr>
                            <m:type m:val="skw"/>
                            <m:ctrlPr>
                              <a:rPr lang="en-IN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000" b="0" i="0" u="none" strike="noStrike" baseline="0" dirty="0">
                    <a:latin typeface="Arial" panose="020B0604020202020204" pitchFamily="34" charset="0"/>
                    <a:cs typeface="Arial" panose="020B0604020202020204" pitchFamily="34" charset="0"/>
                  </a:rPr>
                  <a:t> be the effort borne by each stages . The solution of  the equation can be expressed as  </a:t>
                </a:r>
              </a:p>
              <a:p>
                <a:pPr algn="just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Equation has no closed for solution </a:t>
                </a:r>
              </a:p>
              <a:p>
                <a:pPr algn="just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For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Pinv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1 the value of </a:t>
                </a:r>
                <a:r>
                  <a:rPr lang="el-G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ρ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3.59. </a:t>
                </a:r>
              </a:p>
              <a:p>
                <a:pPr algn="just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Therefore, the best stage effort will be nearly 4. </a:t>
                </a:r>
              </a:p>
              <a:p>
                <a:pPr algn="just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2000" b="0" i="0" u="none" strike="noStrike" baseline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2000" b="0" i="0" u="none" strike="noStrike" baseline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2000" b="0" i="0" u="none" strike="noStrike" baseline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200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4270" y="1335641"/>
                <a:ext cx="10500188" cy="5280916"/>
              </a:xfrm>
              <a:blipFill>
                <a:blip r:embed="rId2"/>
                <a:stretch>
                  <a:fillRect l="-581" t="-462" r="-5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Rohit Lorenzo, VIT-AP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02C7C7-19C3-4E65-B026-B1953A5AF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946" y="3353868"/>
            <a:ext cx="3363505" cy="4854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76B106-D30E-444B-90DC-392B03880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145" y="1700441"/>
            <a:ext cx="4894455" cy="7448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0245A8-D689-4A85-B600-9BD71BFC99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4248" y="3429000"/>
            <a:ext cx="4514466" cy="340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6422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52C19-F5E7-46FD-A462-525CDC865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1267" y="624110"/>
            <a:ext cx="9583345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Asymmetric logic gates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93A69D-9838-42AB-9424-F0F266D282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56189" y="1356189"/>
                <a:ext cx="10148423" cy="4629150"/>
              </a:xfrm>
              <a:ln>
                <a:solidFill>
                  <a:schemeClr val="tx1"/>
                </a:solidFill>
                <a:prstDash val="solid"/>
              </a:ln>
            </p:spPr>
            <p:txBody>
              <a:bodyPr>
                <a:normAutofit lnSpcReduction="10000"/>
              </a:bodyPr>
              <a:lstStyle/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we will analyze an example in which the logical effort differs for different inputs. </a:t>
                </a:r>
              </a:p>
              <a:p>
                <a:r>
                  <a:rPr lang="en-I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For example </a:t>
                </a:r>
                <a:r>
                  <a:rPr lang="en-IN" sz="2400" dirty="0"/>
                  <a:t>x=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endParaRPr lang="en-IN" sz="2400" dirty="0"/>
              </a:p>
              <a:p>
                <a:endParaRPr lang="en-IN" dirty="0"/>
              </a:p>
              <a:p>
                <a:pPr>
                  <a:lnSpc>
                    <a:spcPct val="90000"/>
                  </a:lnSpc>
                </a:pPr>
                <a:r>
                  <a:rPr lang="en-US" sz="2000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AND –OR-INVERT </a:t>
                </a:r>
                <a:endParaRPr lang="en-US" sz="2000" u="sng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logical effort per unit input </a:t>
                </a:r>
              </a:p>
              <a:p>
                <a:r>
                  <a:rPr lang="en-I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solidFill>
                              <a:srgbClr val="030303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030303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4</m:t>
                        </m:r>
                        <m:r>
                          <a:rPr lang="en-IN" sz="2800" i="1">
                            <a:solidFill>
                              <a:srgbClr val="030303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030303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030303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=2</a:t>
                </a:r>
              </a:p>
              <a:p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500" i="1" smtClean="0">
                            <a:solidFill>
                              <a:srgbClr val="030303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sz="2500" i="1">
                            <a:solidFill>
                              <a:srgbClr val="030303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4</m:t>
                        </m:r>
                        <m:r>
                          <a:rPr lang="en-IN" sz="2500" i="1">
                            <a:solidFill>
                              <a:srgbClr val="030303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IN" sz="2500" i="1">
                            <a:solidFill>
                              <a:srgbClr val="030303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num>
                      <m:den>
                        <m:r>
                          <a:rPr lang="en-IN" sz="2500" i="1">
                            <a:solidFill>
                              <a:srgbClr val="030303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2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=2</a:t>
                </a:r>
              </a:p>
              <a:p>
                <a:pPr lvl="0">
                  <a:buClr>
                    <a:srgbClr val="E78712"/>
                  </a:buClr>
                </a:pPr>
                <a:r>
                  <a:rPr lang="en-I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solidFill>
                              <a:srgbClr val="030303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030303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030303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IN" sz="2400" b="0" i="1" smtClean="0">
                            <a:solidFill>
                              <a:srgbClr val="030303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030303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2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=</a:t>
                </a:r>
                <a:r>
                  <a:rPr lang="en-IN" sz="2400" dirty="0">
                    <a:solidFill>
                      <a:srgbClr val="030303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600" i="1">
                            <a:solidFill>
                              <a:srgbClr val="030303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sz="2600" b="0" i="1" smtClean="0">
                            <a:solidFill>
                              <a:srgbClr val="030303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5</m:t>
                        </m:r>
                      </m:num>
                      <m:den>
                        <m:r>
                          <a:rPr lang="en-IN" sz="2600" i="1">
                            <a:solidFill>
                              <a:srgbClr val="030303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lvl="0">
                  <a:buClr>
                    <a:srgbClr val="E78712"/>
                  </a:buClr>
                  <a:defRPr/>
                </a:pPr>
                <a:r>
                  <a:rPr lang="en-I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Total Logical effort = 2+2+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IN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3030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kumimoji="0" lang="en-IN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3030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5</m:t>
                        </m:r>
                      </m:num>
                      <m:den>
                        <m:r>
                          <a:rPr kumimoji="0" lang="en-IN" sz="2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3030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en-IN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600" i="1">
                            <a:solidFill>
                              <a:srgbClr val="030303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sz="2600" b="0" i="1" smtClean="0">
                            <a:solidFill>
                              <a:srgbClr val="030303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17</m:t>
                        </m:r>
                      </m:num>
                      <m:den>
                        <m:r>
                          <a:rPr lang="en-IN" sz="2600" i="1">
                            <a:solidFill>
                              <a:srgbClr val="030303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kumimoji="0" lang="en-IN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lvl="0">
                  <a:buClr>
                    <a:srgbClr val="E78712"/>
                  </a:buClr>
                </a:pPr>
                <a:endParaRPr lang="en-I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93A69D-9838-42AB-9424-F0F266D282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6189" y="1356189"/>
                <a:ext cx="10148423" cy="4629150"/>
              </a:xfrm>
              <a:blipFill>
                <a:blip r:embed="rId2"/>
                <a:stretch>
                  <a:fillRect l="-780" t="-1050"/>
                </a:stretch>
              </a:blipFill>
              <a:ln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E70CCC-6590-444D-8827-7E6F31E09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Rohit Lorenzo, VIT-AP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5AF8BA-4CCF-435A-B2B7-13C81C0AF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186" y="1905000"/>
            <a:ext cx="3448050" cy="462915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B05AF6A-BE71-431D-BF17-645C41A7B48A}"/>
              </a:ext>
            </a:extLst>
          </p:cNvPr>
          <p:cNvCxnSpPr/>
          <p:nvPr/>
        </p:nvCxnSpPr>
        <p:spPr>
          <a:xfrm>
            <a:off x="2085654" y="3626771"/>
            <a:ext cx="6575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358885-6F18-486E-BEE6-CEDF3B8D54D0}"/>
              </a:ext>
            </a:extLst>
          </p:cNvPr>
          <p:cNvCxnSpPr/>
          <p:nvPr/>
        </p:nvCxnSpPr>
        <p:spPr>
          <a:xfrm>
            <a:off x="2125040" y="4282613"/>
            <a:ext cx="6575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E72AC40-C031-42AE-BD82-CEC5E275A242}"/>
              </a:ext>
            </a:extLst>
          </p:cNvPr>
          <p:cNvCxnSpPr/>
          <p:nvPr/>
        </p:nvCxnSpPr>
        <p:spPr>
          <a:xfrm>
            <a:off x="2133604" y="4917897"/>
            <a:ext cx="6575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689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641" y="624110"/>
            <a:ext cx="9939972" cy="1280890"/>
          </a:xfrm>
        </p:spPr>
        <p:txBody>
          <a:bodyPr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4640" y="2133600"/>
            <a:ext cx="9939972" cy="3777622"/>
          </a:xfrm>
        </p:spPr>
        <p:txBody>
          <a:bodyPr/>
          <a:lstStyle/>
          <a:p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85251" y="2967335"/>
            <a:ext cx="4999426" cy="1200329"/>
          </a:xfrm>
          <a:prstGeom prst="rect">
            <a:avLst/>
          </a:prstGeom>
          <a:noFill/>
          <a:scene3d>
            <a:camera prst="obliqueBottomLeft"/>
            <a:lightRig rig="threePt" dir="t"/>
          </a:scene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9775A-DA40-435C-881E-2A72176C3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Rohit Lorenzo, VIT-AP</a:t>
            </a:r>
          </a:p>
        </p:txBody>
      </p:sp>
    </p:spTree>
    <p:extLst>
      <p:ext uri="{BB962C8B-B14F-4D97-AF65-F5344CB8AC3E}">
        <p14:creationId xmlns:p14="http://schemas.microsoft.com/office/powerpoint/2010/main" val="366058031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1_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0756998CAD1B4EB293EE4DCD69B2C2" ma:contentTypeVersion="4" ma:contentTypeDescription="Create a new document." ma:contentTypeScope="" ma:versionID="82bc3bc8aab54a109cf1a2cff9d664f7">
  <xsd:schema xmlns:xsd="http://www.w3.org/2001/XMLSchema" xmlns:xs="http://www.w3.org/2001/XMLSchema" xmlns:p="http://schemas.microsoft.com/office/2006/metadata/properties" xmlns:ns3="eebd1fa3-d47e-4769-b2a3-3aaddedcaff6" targetNamespace="http://schemas.microsoft.com/office/2006/metadata/properties" ma:root="true" ma:fieldsID="a6706e7333dbff81ec91de8ff8b75c2a" ns3:_="">
    <xsd:import namespace="eebd1fa3-d47e-4769-b2a3-3aaddedcaff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bd1fa3-d47e-4769-b2a3-3aaddedcaf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70B2DD5-E246-43BC-8E41-347E25B7C494}">
  <ds:schemaRefs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eebd1fa3-d47e-4769-b2a3-3aaddedcaff6"/>
  </ds:schemaRefs>
</ds:datastoreItem>
</file>

<file path=customXml/itemProps2.xml><?xml version="1.0" encoding="utf-8"?>
<ds:datastoreItem xmlns:ds="http://schemas.openxmlformats.org/officeDocument/2006/customXml" ds:itemID="{AF1C6B5E-4296-4953-84CF-60800F6CDF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22ABD6-3C99-4059-A264-1F231013D7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bd1fa3-d47e-4769-b2a3-3aaddedcaf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2201</Words>
  <Application>Microsoft Office PowerPoint</Application>
  <PresentationFormat>Widescreen</PresentationFormat>
  <Paragraphs>277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ACaslon-Italic</vt:lpstr>
      <vt:lpstr>ACaslon-Regular</vt:lpstr>
      <vt:lpstr>Arial</vt:lpstr>
      <vt:lpstr>Calibri</vt:lpstr>
      <vt:lpstr>Cambria Math</vt:lpstr>
      <vt:lpstr>Century Gothic</vt:lpstr>
      <vt:lpstr>Symbol</vt:lpstr>
      <vt:lpstr>Times New Roman</vt:lpstr>
      <vt:lpstr>Wingdings</vt:lpstr>
      <vt:lpstr>Wingdings 3</vt:lpstr>
      <vt:lpstr>Wisp</vt:lpstr>
      <vt:lpstr>1_Wisp</vt:lpstr>
      <vt:lpstr>CMOS VLSI Design Topic – Logical Effort</vt:lpstr>
      <vt:lpstr>Topic – Logical Effort Talk Outline </vt:lpstr>
      <vt:lpstr>Introduction </vt:lpstr>
      <vt:lpstr>Delay in a logic gate.</vt:lpstr>
      <vt:lpstr>Computing logical effort</vt:lpstr>
      <vt:lpstr>Continue …</vt:lpstr>
      <vt:lpstr>Continue…..</vt:lpstr>
      <vt:lpstr>Logical Effort of Common gate</vt:lpstr>
      <vt:lpstr>Parasitic Delay</vt:lpstr>
      <vt:lpstr>Continue….</vt:lpstr>
      <vt:lpstr>Parasitic Delay of Common Gate</vt:lpstr>
      <vt:lpstr>Linear Delay Model</vt:lpstr>
      <vt:lpstr>Problem</vt:lpstr>
      <vt:lpstr>Problem</vt:lpstr>
      <vt:lpstr>Logical Efforts in Multi-Stage Logic Network</vt:lpstr>
      <vt:lpstr>Example </vt:lpstr>
      <vt:lpstr>Problem</vt:lpstr>
      <vt:lpstr>Continue….</vt:lpstr>
      <vt:lpstr>Continue….</vt:lpstr>
      <vt:lpstr>Continue…</vt:lpstr>
      <vt:lpstr>Branching Effort </vt:lpstr>
      <vt:lpstr>Continue…</vt:lpstr>
      <vt:lpstr>Continue…</vt:lpstr>
      <vt:lpstr>Summary</vt:lpstr>
      <vt:lpstr>Path branch </vt:lpstr>
      <vt:lpstr>Problem</vt:lpstr>
      <vt:lpstr>Continue…</vt:lpstr>
      <vt:lpstr>Problem</vt:lpstr>
      <vt:lpstr>Derivation for least possible delay for a logic block</vt:lpstr>
      <vt:lpstr>Best stage effort</vt:lpstr>
      <vt:lpstr>Asymmetric logic gates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CMOS VLSI Design Topic – Logical Effort</dc:title>
  <dc:creator>Rohit Lorenzo</dc:creator>
  <cp:lastModifiedBy>Rohit Lorenzo</cp:lastModifiedBy>
  <cp:revision>69</cp:revision>
  <dcterms:created xsi:type="dcterms:W3CDTF">2020-03-03T04:33:16Z</dcterms:created>
  <dcterms:modified xsi:type="dcterms:W3CDTF">2023-11-17T11:22:10Z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0x010100C80756998CAD1B4EB293EE4DCD69B2C2</vt:lpwstr>
  </property>
</Properties>
</file>