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155"/>
  </p:notesMasterIdLst>
  <p:sldIdLst>
    <p:sldId id="256" r:id="rId2"/>
    <p:sldId id="555" r:id="rId3"/>
    <p:sldId id="257" r:id="rId4"/>
    <p:sldId id="264" r:id="rId5"/>
    <p:sldId id="263" r:id="rId6"/>
    <p:sldId id="681" r:id="rId7"/>
    <p:sldId id="259" r:id="rId8"/>
    <p:sldId id="260" r:id="rId9"/>
    <p:sldId id="296" r:id="rId10"/>
    <p:sldId id="294" r:id="rId11"/>
    <p:sldId id="295" r:id="rId12"/>
    <p:sldId id="297" r:id="rId13"/>
    <p:sldId id="300" r:id="rId14"/>
    <p:sldId id="301" r:id="rId15"/>
    <p:sldId id="298" r:id="rId16"/>
    <p:sldId id="302" r:id="rId17"/>
    <p:sldId id="303" r:id="rId18"/>
    <p:sldId id="558" r:id="rId19"/>
    <p:sldId id="559" r:id="rId20"/>
    <p:sldId id="589" r:id="rId21"/>
    <p:sldId id="588" r:id="rId22"/>
    <p:sldId id="590" r:id="rId23"/>
    <p:sldId id="591" r:id="rId24"/>
    <p:sldId id="592" r:id="rId25"/>
    <p:sldId id="593" r:id="rId26"/>
    <p:sldId id="594" r:id="rId27"/>
    <p:sldId id="595" r:id="rId28"/>
    <p:sldId id="596" r:id="rId29"/>
    <p:sldId id="597" r:id="rId30"/>
    <p:sldId id="598" r:id="rId31"/>
    <p:sldId id="599" r:id="rId32"/>
    <p:sldId id="608" r:id="rId33"/>
    <p:sldId id="609" r:id="rId34"/>
    <p:sldId id="601" r:id="rId35"/>
    <p:sldId id="557" r:id="rId36"/>
    <p:sldId id="605" r:id="rId37"/>
    <p:sldId id="606" r:id="rId38"/>
    <p:sldId id="607" r:id="rId39"/>
    <p:sldId id="602" r:id="rId40"/>
    <p:sldId id="603" r:id="rId41"/>
    <p:sldId id="610" r:id="rId42"/>
    <p:sldId id="611" r:id="rId43"/>
    <p:sldId id="612" r:id="rId44"/>
    <p:sldId id="613" r:id="rId45"/>
    <p:sldId id="614" r:id="rId46"/>
    <p:sldId id="615" r:id="rId47"/>
    <p:sldId id="616" r:id="rId48"/>
    <p:sldId id="536" r:id="rId49"/>
    <p:sldId id="537" r:id="rId50"/>
    <p:sldId id="538" r:id="rId51"/>
    <p:sldId id="539" r:id="rId52"/>
    <p:sldId id="540" r:id="rId53"/>
    <p:sldId id="541" r:id="rId54"/>
    <p:sldId id="542" r:id="rId55"/>
    <p:sldId id="543" r:id="rId56"/>
    <p:sldId id="544" r:id="rId57"/>
    <p:sldId id="551" r:id="rId58"/>
    <p:sldId id="552" r:id="rId59"/>
    <p:sldId id="677" r:id="rId60"/>
    <p:sldId id="678" r:id="rId61"/>
    <p:sldId id="679" r:id="rId62"/>
    <p:sldId id="680" r:id="rId63"/>
    <p:sldId id="576" r:id="rId64"/>
    <p:sldId id="577" r:id="rId65"/>
    <p:sldId id="578" r:id="rId66"/>
    <p:sldId id="579" r:id="rId67"/>
    <p:sldId id="617" r:id="rId68"/>
    <p:sldId id="618" r:id="rId69"/>
    <p:sldId id="619" r:id="rId70"/>
    <p:sldId id="620" r:id="rId71"/>
    <p:sldId id="587" r:id="rId72"/>
    <p:sldId id="560" r:id="rId73"/>
    <p:sldId id="561" r:id="rId74"/>
    <p:sldId id="562" r:id="rId75"/>
    <p:sldId id="563" r:id="rId76"/>
    <p:sldId id="564" r:id="rId77"/>
    <p:sldId id="565" r:id="rId78"/>
    <p:sldId id="566" r:id="rId79"/>
    <p:sldId id="567" r:id="rId80"/>
    <p:sldId id="568" r:id="rId81"/>
    <p:sldId id="569" r:id="rId82"/>
    <p:sldId id="570" r:id="rId83"/>
    <p:sldId id="571" r:id="rId84"/>
    <p:sldId id="572" r:id="rId85"/>
    <p:sldId id="573" r:id="rId86"/>
    <p:sldId id="574" r:id="rId87"/>
    <p:sldId id="575" r:id="rId88"/>
    <p:sldId id="621" r:id="rId89"/>
    <p:sldId id="580" r:id="rId90"/>
    <p:sldId id="581" r:id="rId91"/>
    <p:sldId id="582" r:id="rId92"/>
    <p:sldId id="583" r:id="rId93"/>
    <p:sldId id="584" r:id="rId94"/>
    <p:sldId id="585" r:id="rId95"/>
    <p:sldId id="586" r:id="rId96"/>
    <p:sldId id="622" r:id="rId97"/>
    <p:sldId id="623" r:id="rId98"/>
    <p:sldId id="624" r:id="rId99"/>
    <p:sldId id="626" r:id="rId100"/>
    <p:sldId id="625" r:id="rId101"/>
    <p:sldId id="627" r:id="rId102"/>
    <p:sldId id="628" r:id="rId103"/>
    <p:sldId id="629" r:id="rId104"/>
    <p:sldId id="630" r:id="rId105"/>
    <p:sldId id="631" r:id="rId106"/>
    <p:sldId id="632" r:id="rId107"/>
    <p:sldId id="633" r:id="rId108"/>
    <p:sldId id="634" r:id="rId109"/>
    <p:sldId id="635" r:id="rId110"/>
    <p:sldId id="636" r:id="rId111"/>
    <p:sldId id="637" r:id="rId112"/>
    <p:sldId id="638" r:id="rId113"/>
    <p:sldId id="430" r:id="rId114"/>
    <p:sldId id="639" r:id="rId115"/>
    <p:sldId id="640" r:id="rId116"/>
    <p:sldId id="641" r:id="rId117"/>
    <p:sldId id="530" r:id="rId118"/>
    <p:sldId id="642" r:id="rId119"/>
    <p:sldId id="643" r:id="rId120"/>
    <p:sldId id="644" r:id="rId121"/>
    <p:sldId id="645" r:id="rId122"/>
    <p:sldId id="646" r:id="rId123"/>
    <p:sldId id="647" r:id="rId124"/>
    <p:sldId id="648" r:id="rId125"/>
    <p:sldId id="653" r:id="rId126"/>
    <p:sldId id="654" r:id="rId127"/>
    <p:sldId id="655" r:id="rId128"/>
    <p:sldId id="656" r:id="rId129"/>
    <p:sldId id="657" r:id="rId130"/>
    <p:sldId id="658" r:id="rId131"/>
    <p:sldId id="649" r:id="rId132"/>
    <p:sldId id="650" r:id="rId133"/>
    <p:sldId id="660" r:id="rId134"/>
    <p:sldId id="661" r:id="rId135"/>
    <p:sldId id="662" r:id="rId136"/>
    <p:sldId id="663" r:id="rId137"/>
    <p:sldId id="664" r:id="rId138"/>
    <p:sldId id="665" r:id="rId139"/>
    <p:sldId id="659" r:id="rId140"/>
    <p:sldId id="651" r:id="rId141"/>
    <p:sldId id="652" r:id="rId142"/>
    <p:sldId id="666" r:id="rId143"/>
    <p:sldId id="667" r:id="rId144"/>
    <p:sldId id="668" r:id="rId145"/>
    <p:sldId id="669" r:id="rId146"/>
    <p:sldId id="670" r:id="rId147"/>
    <p:sldId id="671" r:id="rId148"/>
    <p:sldId id="672" r:id="rId149"/>
    <p:sldId id="673" r:id="rId150"/>
    <p:sldId id="674" r:id="rId151"/>
    <p:sldId id="675" r:id="rId152"/>
    <p:sldId id="676" r:id="rId153"/>
    <p:sldId id="270" r:id="rId1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76" autoAdjust="0"/>
    <p:restoredTop sz="94660"/>
  </p:normalViewPr>
  <p:slideViewPr>
    <p:cSldViewPr snapToGrid="0">
      <p:cViewPr varScale="1">
        <p:scale>
          <a:sx n="68" d="100"/>
          <a:sy n="68" d="100"/>
        </p:scale>
        <p:origin x="36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35:32.02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0,'0'53,"35"-18,-35 0,0-17,0 0,0-1,0 18,17 1,-17-19,18-17,0 0,-1 0,18 0,1-35,-1 17,-18 1,18-1,1-17,-19 0,-17-1,18 36</inkml:trace>
  <inkml:trace contextRef="#ctx0" brushRef="#br0" timeOffset="1264">334 352,'0'36,"0"16,0-34,0 53,0-54,17 54,1-54,-18 1,0 17,0-17,17-1,-17 19,0-19,0 1,0 0,0-1,0 1,0-1,0 1,0 17,0-70,0 17,0-17</inkml:trace>
  <inkml:trace contextRef="#ctx0" brushRef="#br0" timeOffset="2088">386 423,'18'-18,"0"18,-1 0,1 0,-1 0,1 0,-1 0,1 0,0 0,17 53,0-18,-17-17,-18 0,0-1,0 1,0 17,0-17,0-1,0 19,0-19,0 1,0-1,0 19,-18-19,0-17,1 0,-1 18,-17-18,17 0,-17 0</inkml:trace>
  <inkml:trace contextRef="#ctx0" brushRef="#br0" timeOffset="3832">914 440,'0'36,"0"-19,0 54,0-36,0-17,0-1,0 1,0 17,0-17,0-1,0 19,0-19,0 19,0-1,0-18,0 1,0 17,0-17,0-1,0 1,0 0,0-36,0-17,0-18,0 35,0 1</inkml:trace>
  <inkml:trace contextRef="#ctx0" brushRef="#br0" timeOffset="4800">896 388,'18'0,"-1"0,1 0,0 0,-1 0,1 0,-1 0,18 0,-17 0,0 0,-1 0,-17 35,18-18,-1 1,-17 0,0-1,0 1,18 0,-18-1,0 18,0 1,0-1,0-17,0-1,0 1,0 17,0-17,0 17,-18-17,18-1,0 1,-17-1,17 19,-18-19,1-17,17 18,-18-18,-17 0,17 0,-17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35:20.6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53 35,'-18'-17,"18"-1,18 18,0 0,-1 0,18 0,-17 0,0 0,-1 0,1 0,-1 0,1 0,0 0,17 0,-18 0,36 0,18 0,-1 0,18 0,-70 0,52 0</inkml:trace>
  <inkml:trace contextRef="#ctx0" brushRef="#br0" timeOffset="1367">0 141,'0'17,"35"1,18 0,-35-18,17 17,-17 1,-1-18,1 0,-1 0,19 0,-1 0,0 17,0-17,18 0,-35 0,-1 18</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34:59.84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687 1816,'0'18,"0"17,0 0,0 0,0 18,0-35,0 0,0 17,0 0,0 18,0-35,0-1,0 36,0-35,0-1,0 36,0-35,0 0,0 17,0-18,0 19,0-1,0-17,0-1,17 19,-17-19,0 1,0-1,0 36,0-17,0 16,0-34,0 53,0-18,0-36,0 18,0 1,0-1,0-17,0 35</inkml:trace>
  <inkml:trace contextRef="#ctx0" brushRef="#br0" timeOffset="2809">0 546,'0'-17,"35"17,-17 35,-1 0,1 1,0-19,-1 1,1-1,-1 19,1-36,0 17,-1-17,1-17,-1-1,1 18,0-53,-1 18,-17-36,35 36,-35-18,18 18,-18 0,0-1,0 1,18 0,-18 17,0-17,17-18,18-35,1 35,-36 35,0 1</inkml:trace>
  <inkml:trace contextRef="#ctx0" brushRef="#br0" timeOffset="3945">440 617,'0'18,"0"-1,0 18,0 1,0-1,0 18,0-18,0 0,0 18,0-35,0 35,0-36,0 36,0-35,0 35,0-35,0-1,0 1,0-1,0 1</inkml:trace>
  <inkml:trace contextRef="#ctx0" brushRef="#br0" timeOffset="4897">458 793,'17'-17,"1"34,-1 1,1-18,0 17,-1 1,18 35,-35-35,0-1,0 1,0 35,-17-18,-1 0,18-17,-17 0,-1-1</inkml:trace>
  <inkml:trace contextRef="#ctx0" brushRef="#br0" timeOffset="6761">704 758,'0'35,"18"-17,-18-1,0 36,0-17,0 17,0-18,0 18,0-18,0-17,0 17,0-17,0-1,0 18,0 1,0-19,0 36,0-35,0 17,0-17,0-1</inkml:trace>
  <inkml:trace contextRef="#ctx0" brushRef="#br0" timeOffset="7817">704 846,'0'-18,"18"18,-1 0,1 0,0 0,-1 0,1 0,-1 18,19 0,-36-1,17 19,1-19,-18 19,0-1,0-18,0 36,0-35,0 17,0-17,0 0,0-1,0 1,-35-1,17-17,-17 0,17 0,1 0</inkml:trace>
  <inkml:trace contextRef="#ctx0" brushRef="#br0" timeOffset="9897">1127 1022,'17'0,"36"0,-35 0</inkml:trace>
  <inkml:trace contextRef="#ctx0" brushRef="#br0" timeOffset="11616">1285 352,'0'18,"0"35,0 17,0-34,0 17,0-18,0 35,0-17,0 0,18-18,-18 18,0-17,0-1,17-17,-17-1,0 1,0 17,0-17,18 17,0 0,-1 1,-17-1,18 0,-1-17,1-18,17-18,-17 0,17-34,-17 16,-1 1,1-18,35 0,-18-17,-18-1,19 36,-19-18,1 53,-1-18,19-17,-36 17,0 1,0-1,17-35</inkml:trace>
  <inkml:trace contextRef="#ctx0" brushRef="#br0" timeOffset="13040">1655 1287,'-18'18,"18"-1,0 1,0 35,0-36,0 1,0 0,0-1,0 1,0 0,0-1,0 18,0-17,0 0,0 35,0-36,0 1,0 17,0-17,0-1,0 19,0-19,0 1,0 0,0 17</inkml:trace>
  <inkml:trace contextRef="#ctx0" brushRef="#br0" timeOffset="14312">1461 1428,'0'-18,"18"18,35-17,-36 17,1 0,17 0,-17 0,-1 0,1 0,-1 0,1 0,0 0,17-18,0 0,-17 1,-1-1,1 1,-1-1,-17 36,0-1,0 1,0 17,0-17,0-1,0 19,0-19,0 1,0 0,0-1,0 18,0-17,0 17,0-17,-17 0,17-1,0 1,0 0,-18-1,18 1,0 17,0-17,0-1,0-34,35-1,-17 0,0 18,17 0,-18 0,1 0,17 0,-17-17,-1-18,1 35,-18 17,18 18,-18 1,17-19,-17 36,0-35,0-1,0 19,0-19</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36:26.21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39,'0'18,"0"34,0-17,0 53,0-71,17 36,-17-18,0 18,0-36,0 1,0 34,0-34,0-1,0 18,0-17,0-1,0 18,0 0,0-17,0 17,0-18,0 1,0-1,0 1,0-36,0 1,0-18,0 0,0 17,17-17,18 0</inkml:trace>
  <inkml:trace contextRef="#ctx0" brushRef="#br0" timeOffset="1017">0 22,'17'0,"0"0,35-18,0 18,-35 0,0 0,1 0,16 0,1 0,-1 0,1 0,51 0,-52 0,18 0,-18 0,1 0,-18 0,0 0,18 0,-18 0,0 0,-17 18,0 17,0-18,0 18,0 0,0 0,0 18,0-18,0 18,0-1,0 1,0-18,-17 35,17-53,-17-17,17 35,-17-17,-1 17,1-18,0-17,0 0,-1 0,1 0,0 0,0 0,-18 0,1 0,16 0,1 0,0 0,0 0,-18 0,1 0,17 0,-1 0,1 0,0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36:29.90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881 80,'18'0,"-36"0,-18 0,0 0,19 0,-19 0,0-18,0 18,19 0,-1 0,0-17,-36 17,37 0,-19 0,-18-35,1 35,35 0,0 0,-17 0,17 0,-36 0,18 0,19 0,-37 0,36 0,0 0,-17 0,-1 35,18-35,18 17,-18 1,1-1,17 36,0-36,0 0,0 1,0-1,0 1,17 34,19-17,0-18,17 1,-17-18,35 35,-35 0,-18-35,0 0,0 0,-1 0,37 17,35 0,-89 1,18-18,0 0,0 0,-1 17,1-17,18 0,17 0,-17 18,0-18,-18 0,0 0,-1 17,-17 1,18-1,-18 0,36 18,-36-17,0-1,0 1,0 17,0-18,0 0,0 18,-18 0,0-17,0-1,1 0,-1 1,0-18,0 17,0 1,0-18,0 0,-35 17,35 1,-35-18,-1 0,18 0,-17 0,-1 0,19-18,-37 18,72-17,-18 17,-17 0,17 0,0-18,0 1,0-1,-17-51,35 51,-18 1</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41:21.91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1146,'0'0,"123"-70,1-36,-18 53,-18-53,35 0,-52 54,-18-19,-18 36,-17 17,-1 18,1-17,0-1,-1 0,-17 1,35-36,36 18,-18-18,-18-18,36 18,-36-17,35-18,-52 52,0 36</inkml:trace>
  <inkml:trace contextRef="#ctx0" brushRef="#br0" timeOffset="1591">3086 1446,'18'0,"-1"0,36 0,35-53,-35 18,71-18,-18 0,17 18,0-18,1 0,-1-18,-52 54,17-1,-17-52,-18 52,-36 0,36 1,-35-1,-1 0,19-17,-19 0,-17 17,18 1,-18-1</inkml:trace>
  <inkml:trace contextRef="#ctx0" brushRef="#br0" timeOffset="11311">70 3103,'18'0,"0"0,-1-18,19-17,-19 17,1-17,0 0,-1-18,1 35,-1 1,1-1,-18 0,0-17,53 0,-35 0,-18 17,0-17,17-18,-17 18,18-1,-18 19,0-36,18 35,-18 1,17-1,-17 0,18 18,-1-17,1-1,35-17,-35 17,17-17,-35 17,18-17</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42:10.16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392 0,'34'0,"34"0,-34 0,51 0,17 0,-33 0,33 0,34 0,-34 0,52 0,-52 0,-34 0,68 0,-67 0,-18 0,17 0,-34 0,-17 0,0 0,17 0,-17 0,0 0,0 0,17 0,0 0,0 0,1 0,-18 0,17 0,-85 0,16 0,-16 0,17 13,-51 0,-17 0,51-13,-17 0,16 13,1-13,0 0,34 0,-34 0,34 0,-17 26,17-26,0 0,-17 0,0 0,0 0,0 0,-1 0,-16 0,17 0,-17 0,17 0,-51 0,51 0,-17 0,34 0,-17 0,17 0,-18 0,1 0,-17 0,17 0,0 0,-17 0,34-13,0 13,0 0,-17 0,34-13,-17 13,0 0,-17 0,0 0,17 0,-35 0,18 0,-17 0,-17 0,51 0,-17 0,0 0,17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41:51.51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1040 0,'-18'0,"-52"0,17 18,35-18,-17 0,-18 0,35 0,-52 34,-18-34,53 17,-36-17,-17 0,35 0,-35 0,18 0,-36 0,71 0,-1 0,1 18</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41:53.13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1180 26,'0'-15,"-18"15,-35 0,17 0,-18 0,37 0,-19 0,-36 0,19 0,-1 0,0 0,18 0,1 0,-1 15,18-15,-36 0,36 0,1 0,-1 0,0 0,-18 0,-18 0,19 0,-55 0,37 0,-1 0,0 0,18 0,1-15,17 15,0 0,0 0,36 0,18 0,35 0,1 0,-72 15,36-15,17 0,-17 0,36 0,-19 0,-17 0,-18 0,35 0,-35 0,36 0,-36 0,36 0,-19 0,19 0,-18 0,35 0,-17 0,0 0,-19 0,1 0,18 31,-36-16,17 0,1 0,0-15</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01T06:42:12.89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706 134,'35'-35,"53"35,71-17,17 17,71 0,35 0,71 0,-1 0,-34 0,-36 0,-106 0,-70 0,-71 0,-70-18,0 1,0-1,17 1,0 17,-17 0,-53 0,-18 17,-35 18,-88 53,-53-71,52 106,-16-71</inkml:trace>
  <inkml:trace contextRef="#ctx0" brushRef="#br0" timeOffset="2295">0 2410,'18'0,"88"0,70 0,-35 0,35 0,71 0,0 0,-70 0,69 0,1 0,0 0,-35-52,52 34,-17-17,-106 18,0 17,-70-53,-54 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19-03-2026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82B883-0CBF-46F6-B001-F5F9F89E9899}" type="slidenum">
              <a:rPr lang="en-IN" smtClean="0"/>
              <a:pPr/>
              <a:t>29</a:t>
            </a:fld>
            <a:endParaRPr lang="en-IN"/>
          </a:p>
        </p:txBody>
      </p:sp>
    </p:spTree>
    <p:extLst>
      <p:ext uri="{BB962C8B-B14F-4D97-AF65-F5344CB8AC3E}">
        <p14:creationId xmlns:p14="http://schemas.microsoft.com/office/powerpoint/2010/main" val="2938115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82B883-0CBF-46F6-B001-F5F9F89E9899}" type="slidenum">
              <a:rPr lang="en-IN" smtClean="0"/>
              <a:pPr/>
              <a:t>33</a:t>
            </a:fld>
            <a:endParaRPr lang="en-IN"/>
          </a:p>
        </p:txBody>
      </p:sp>
    </p:spTree>
    <p:extLst>
      <p:ext uri="{BB962C8B-B14F-4D97-AF65-F5344CB8AC3E}">
        <p14:creationId xmlns:p14="http://schemas.microsoft.com/office/powerpoint/2010/main" val="3540945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19-03-2026</a:t>
            </a:fld>
            <a:endParaRPr lang="en-IN"/>
          </a:p>
        </p:txBody>
      </p:sp>
      <p:sp>
        <p:nvSpPr>
          <p:cNvPr id="8" name="Footer Placeholder 7"/>
          <p:cNvSpPr>
            <a:spLocks noGrp="1"/>
          </p:cNvSpPr>
          <p:nvPr>
            <p:ph type="ftr" sz="quarter" idx="11"/>
          </p:nvPr>
        </p:nvSpPr>
        <p:spPr/>
        <p:txBody>
          <a:bodyPr/>
          <a:lstStyle/>
          <a:p>
            <a:r>
              <a:rPr lang="en-IN" dirty="0"/>
              <a:t>Dr. Aruru Sai Kumar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19-03-2026</a:t>
            </a:fld>
            <a:endParaRPr lang="en-IN"/>
          </a:p>
        </p:txBody>
      </p:sp>
      <p:sp>
        <p:nvSpPr>
          <p:cNvPr id="4" name="Footer Placeholder 3"/>
          <p:cNvSpPr>
            <a:spLocks noGrp="1"/>
          </p:cNvSpPr>
          <p:nvPr>
            <p:ph type="ftr" sz="quarter" idx="11"/>
          </p:nvPr>
        </p:nvSpPr>
        <p:spPr/>
        <p:txBody>
          <a:bodyPr/>
          <a:lstStyle/>
          <a:p>
            <a:r>
              <a:rPr lang="en-IN" dirty="0"/>
              <a:t>Dr. Aruru Sai Kumar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19-03-2026</a:t>
            </a:fld>
            <a:endParaRPr lang="en-IN"/>
          </a:p>
        </p:txBody>
      </p:sp>
      <p:sp>
        <p:nvSpPr>
          <p:cNvPr id="3" name="Footer Placeholder 2"/>
          <p:cNvSpPr>
            <a:spLocks noGrp="1"/>
          </p:cNvSpPr>
          <p:nvPr>
            <p:ph type="ftr" sz="quarter" idx="11"/>
          </p:nvPr>
        </p:nvSpPr>
        <p:spPr/>
        <p:txBody>
          <a:bodyPr/>
          <a:lstStyle/>
          <a:p>
            <a:r>
              <a:rPr lang="en-IN" dirty="0"/>
              <a:t>Dr. Aruru Sai Kumar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19-03-2026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dirty="0"/>
              <a:t>Dr. Aruru Sai Kumar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customXml" Target="../ink/ink2.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customXml" Target="../ink/ink5.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200.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170.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190.png"/><Relationship Id="rId4" Type="http://schemas.openxmlformats.org/officeDocument/2006/relationships/image" Target="../media/image160.png"/><Relationship Id="rId9" Type="http://schemas.openxmlformats.org/officeDocument/2006/relationships/customXml" Target="../ink/ink9.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60.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40.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680.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3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750.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3367" y="997089"/>
            <a:ext cx="8911687" cy="1280890"/>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Low Power VLSI Design</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44299" y="1919285"/>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a:t>Dr. Aruru Sai Kumar</a:t>
            </a:r>
          </a:p>
          <a:p>
            <a:pPr marL="0" indent="0" algn="ctr">
              <a:buNone/>
            </a:pPr>
            <a:r>
              <a:rPr lang="en-IN" sz="2000" b="1" dirty="0"/>
              <a:t>Assistant Professor Sr. Grade -2</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4499811" y="4266526"/>
            <a:ext cx="4523874"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571C9-C039-148B-CA7E-95AEAE8ACB19}"/>
              </a:ext>
            </a:extLst>
          </p:cNvPr>
          <p:cNvSpPr>
            <a:spLocks noGrp="1"/>
          </p:cNvSpPr>
          <p:nvPr>
            <p:ph type="title"/>
          </p:nvPr>
        </p:nvSpPr>
        <p:spPr>
          <a:xfrm>
            <a:off x="1961147" y="624110"/>
            <a:ext cx="9543465" cy="1280890"/>
          </a:xfrm>
        </p:spPr>
        <p:txBody>
          <a:bodyPr/>
          <a:lstStyle/>
          <a:p>
            <a:r>
              <a:rPr lang="en-US" b="1" dirty="0">
                <a:latin typeface="Times New Roman" panose="02020603050405020304" pitchFamily="18" charset="0"/>
                <a:cs typeface="Times New Roman" panose="02020603050405020304" pitchFamily="18" charset="0"/>
              </a:rPr>
              <a:t>MODULE-3:Low-Voltage Low-Power circuits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2CCD1B-8B74-ED5C-E010-6188A0CEBF43}"/>
              </a:ext>
            </a:extLst>
          </p:cNvPr>
          <p:cNvSpPr>
            <a:spLocks noGrp="1"/>
          </p:cNvSpPr>
          <p:nvPr>
            <p:ph idx="1"/>
          </p:nvPr>
        </p:nvSpPr>
        <p:spPr>
          <a:xfrm>
            <a:off x="493295" y="2133600"/>
            <a:ext cx="11393905" cy="3777622"/>
          </a:xfrm>
        </p:spPr>
        <p:txBody>
          <a:bodyPr>
            <a:norm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Circuit design style-clocked and non-clocked logics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Leakage current in deep sub micrometer transistors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Deep sub micrometer device design issues.</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43C9909-D26C-760D-2ACC-7ED7F3D21ED5}"/>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15939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idx="1"/>
          </p:nvPr>
        </p:nvSpPr>
        <p:spPr>
          <a:xfrm>
            <a:off x="1825641" y="1649691"/>
            <a:ext cx="8915400" cy="4157836"/>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Circuit design style-clocked logic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Circuit design non-clocked logic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Leakage current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Deep sub micrometer device design issues.</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457200" lvl="1" indent="0" algn="just">
              <a:buNone/>
            </a:pPr>
            <a:r>
              <a:rPr lang="en-IN" sz="24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4021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C3D13-5CED-470A-AE9D-745DE8F532EB}"/>
              </a:ext>
            </a:extLst>
          </p:cNvPr>
          <p:cNvSpPr>
            <a:spLocks noGrp="1"/>
          </p:cNvSpPr>
          <p:nvPr>
            <p:ph type="title"/>
          </p:nvPr>
        </p:nvSpPr>
        <p:spPr>
          <a:xfrm>
            <a:off x="1676400" y="442799"/>
            <a:ext cx="10515600" cy="810532"/>
          </a:xfrm>
        </p:spPr>
        <p:txBody>
          <a:bodyPr/>
          <a:lstStyle/>
          <a:p>
            <a:r>
              <a:rPr lang="en-IN" b="1" dirty="0">
                <a:solidFill>
                  <a:srgbClr val="FF0000"/>
                </a:solidFill>
                <a:latin typeface="Times New Roman" panose="02020603050405020304" pitchFamily="18" charset="0"/>
                <a:cs typeface="Times New Roman" panose="02020603050405020304" pitchFamily="18" charset="0"/>
              </a:rPr>
              <a:t>3.1 CLOCKING PURPOSE</a:t>
            </a:r>
          </a:p>
        </p:txBody>
      </p:sp>
      <p:sp>
        <p:nvSpPr>
          <p:cNvPr id="3" name="Content Placeholder 2">
            <a:extLst>
              <a:ext uri="{FF2B5EF4-FFF2-40B4-BE49-F238E27FC236}">
                <a16:creationId xmlns:a16="http://schemas.microsoft.com/office/drawing/2014/main" id="{B32FAB36-F861-4DF2-88F7-67E6F13356E5}"/>
              </a:ext>
            </a:extLst>
          </p:cNvPr>
          <p:cNvSpPr>
            <a:spLocks noGrp="1"/>
          </p:cNvSpPr>
          <p:nvPr>
            <p:ph idx="1"/>
          </p:nvPr>
        </p:nvSpPr>
        <p:spPr>
          <a:xfrm>
            <a:off x="576943" y="1253331"/>
            <a:ext cx="11049000" cy="3673232"/>
          </a:xfrm>
        </p:spPr>
        <p:txBody>
          <a:bodyPr>
            <a:normAutofit/>
          </a:bodyPr>
          <a:lstStyle/>
          <a:p>
            <a:pPr algn="just"/>
            <a:r>
              <a:rPr lang="en-IN" b="1" dirty="0">
                <a:solidFill>
                  <a:srgbClr val="002060"/>
                </a:solidFill>
                <a:latin typeface="Times New Roman" panose="02020603050405020304" pitchFamily="18" charset="0"/>
                <a:cs typeface="Times New Roman" panose="02020603050405020304" pitchFamily="18" charset="0"/>
              </a:rPr>
              <a:t>Synchronous systems use a clock to keep operations in sequence</a:t>
            </a:r>
          </a:p>
          <a:p>
            <a:pPr lvl="1" algn="just"/>
            <a:r>
              <a:rPr lang="en-IN" b="1" dirty="0">
                <a:solidFill>
                  <a:srgbClr val="002060"/>
                </a:solidFill>
                <a:latin typeface="Times New Roman" panose="02020603050405020304" pitchFamily="18" charset="0"/>
                <a:cs typeface="Times New Roman" panose="02020603050405020304" pitchFamily="18" charset="0"/>
              </a:rPr>
              <a:t>Distinguish </a:t>
            </a:r>
            <a:r>
              <a:rPr lang="en-IN" b="1" i="1" dirty="0">
                <a:solidFill>
                  <a:srgbClr val="002060"/>
                </a:solidFill>
                <a:latin typeface="Times New Roman" panose="02020603050405020304" pitchFamily="18" charset="0"/>
                <a:cs typeface="Times New Roman" panose="02020603050405020304" pitchFamily="18" charset="0"/>
              </a:rPr>
              <a:t>this cycle </a:t>
            </a:r>
            <a:r>
              <a:rPr lang="en-IN" b="1" dirty="0">
                <a:solidFill>
                  <a:srgbClr val="002060"/>
                </a:solidFill>
                <a:latin typeface="Times New Roman" panose="02020603050405020304" pitchFamily="18" charset="0"/>
                <a:cs typeface="Times New Roman" panose="02020603050405020304" pitchFamily="18" charset="0"/>
              </a:rPr>
              <a:t>from </a:t>
            </a:r>
            <a:r>
              <a:rPr lang="en-IN" b="1" i="1" dirty="0">
                <a:solidFill>
                  <a:srgbClr val="0070C0"/>
                </a:solidFill>
                <a:latin typeface="Times New Roman" panose="02020603050405020304" pitchFamily="18" charset="0"/>
                <a:cs typeface="Times New Roman" panose="02020603050405020304" pitchFamily="18" charset="0"/>
              </a:rPr>
              <a:t>previous cycle </a:t>
            </a:r>
            <a:r>
              <a:rPr lang="en-IN" b="1" dirty="0">
                <a:solidFill>
                  <a:srgbClr val="0070C0"/>
                </a:solidFill>
                <a:latin typeface="Times New Roman" panose="02020603050405020304" pitchFamily="18" charset="0"/>
                <a:cs typeface="Times New Roman" panose="02020603050405020304" pitchFamily="18" charset="0"/>
              </a:rPr>
              <a:t>or </a:t>
            </a:r>
            <a:r>
              <a:rPr lang="en-IN" b="1" i="1" dirty="0">
                <a:solidFill>
                  <a:srgbClr val="0070C0"/>
                </a:solidFill>
                <a:latin typeface="Times New Roman" panose="02020603050405020304" pitchFamily="18" charset="0"/>
                <a:cs typeface="Times New Roman" panose="02020603050405020304" pitchFamily="18" charset="0"/>
              </a:rPr>
              <a:t>next cycle</a:t>
            </a:r>
          </a:p>
          <a:p>
            <a:pPr lvl="1" algn="just"/>
            <a:r>
              <a:rPr lang="en-IN" b="1" dirty="0">
                <a:solidFill>
                  <a:srgbClr val="0070C0"/>
                </a:solidFill>
                <a:latin typeface="Times New Roman" panose="02020603050405020304" pitchFamily="18" charset="0"/>
                <a:cs typeface="Times New Roman" panose="02020603050405020304" pitchFamily="18" charset="0"/>
              </a:rPr>
              <a:t>Determine speed </a:t>
            </a:r>
            <a:r>
              <a:rPr lang="en-IN" b="1" dirty="0">
                <a:solidFill>
                  <a:srgbClr val="002060"/>
                </a:solidFill>
                <a:latin typeface="Times New Roman" panose="02020603050405020304" pitchFamily="18" charset="0"/>
                <a:cs typeface="Times New Roman" panose="02020603050405020304" pitchFamily="18" charset="0"/>
              </a:rPr>
              <a:t>at which machine operates</a:t>
            </a:r>
          </a:p>
          <a:p>
            <a:pPr algn="just"/>
            <a:r>
              <a:rPr lang="en-IN" b="1" dirty="0">
                <a:solidFill>
                  <a:srgbClr val="002060"/>
                </a:solidFill>
                <a:latin typeface="Times New Roman" panose="02020603050405020304" pitchFamily="18" charset="0"/>
                <a:cs typeface="Times New Roman" panose="02020603050405020304" pitchFamily="18" charset="0"/>
              </a:rPr>
              <a:t>Clock must be distributed to all the sequencing elements</a:t>
            </a:r>
          </a:p>
          <a:p>
            <a:pPr lvl="1" algn="just"/>
            <a:r>
              <a:rPr lang="en-IN" b="1" dirty="0">
                <a:solidFill>
                  <a:srgbClr val="0070C0"/>
                </a:solidFill>
                <a:latin typeface="Times New Roman" panose="02020603050405020304" pitchFamily="18" charset="0"/>
                <a:cs typeface="Times New Roman" panose="02020603050405020304" pitchFamily="18" charset="0"/>
              </a:rPr>
              <a:t>Flip-flops and latches</a:t>
            </a:r>
          </a:p>
          <a:p>
            <a:pPr algn="just"/>
            <a:r>
              <a:rPr lang="en-IN" b="1" dirty="0">
                <a:solidFill>
                  <a:srgbClr val="002060"/>
                </a:solidFill>
                <a:latin typeface="Times New Roman" panose="02020603050405020304" pitchFamily="18" charset="0"/>
                <a:cs typeface="Times New Roman" panose="02020603050405020304" pitchFamily="18" charset="0"/>
              </a:rPr>
              <a:t>Also distribute clock to other elements</a:t>
            </a:r>
          </a:p>
          <a:p>
            <a:pPr lvl="1" algn="just"/>
            <a:r>
              <a:rPr lang="en-IN" b="1" dirty="0">
                <a:solidFill>
                  <a:srgbClr val="0070C0"/>
                </a:solidFill>
                <a:latin typeface="Times New Roman" panose="02020603050405020304" pitchFamily="18" charset="0"/>
                <a:cs typeface="Times New Roman" panose="02020603050405020304" pitchFamily="18" charset="0"/>
              </a:rPr>
              <a:t>Domino circuits and memories</a:t>
            </a:r>
          </a:p>
          <a:p>
            <a:pPr algn="just"/>
            <a:r>
              <a:rPr lang="en-IN" b="1" dirty="0">
                <a:solidFill>
                  <a:srgbClr val="002060"/>
                </a:solidFill>
                <a:latin typeface="Times New Roman" panose="02020603050405020304" pitchFamily="18" charset="0"/>
                <a:cs typeface="Times New Roman" panose="02020603050405020304" pitchFamily="18" charset="0"/>
              </a:rPr>
              <a:t>Clocking overhead </a:t>
            </a:r>
            <a:r>
              <a:rPr lang="en-IN" b="1" dirty="0">
                <a:solidFill>
                  <a:srgbClr val="0070C0"/>
                </a:solidFill>
                <a:latin typeface="Times New Roman" panose="02020603050405020304" pitchFamily="18" charset="0"/>
                <a:cs typeface="Times New Roman" panose="02020603050405020304" pitchFamily="18" charset="0"/>
              </a:rPr>
              <a:t>% increases as the frequency </a:t>
            </a:r>
            <a:r>
              <a:rPr lang="en-IN" b="1" dirty="0">
                <a:solidFill>
                  <a:srgbClr val="002060"/>
                </a:solidFill>
                <a:latin typeface="Times New Roman" panose="02020603050405020304" pitchFamily="18" charset="0"/>
                <a:cs typeface="Times New Roman" panose="02020603050405020304" pitchFamily="18" charset="0"/>
              </a:rPr>
              <a:t>is increased.</a:t>
            </a:r>
          </a:p>
          <a:p>
            <a:pPr marL="0" indent="0" algn="just">
              <a:buNone/>
            </a:pP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50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9BB80-2912-49C0-8EFA-C755A392602D}"/>
              </a:ext>
            </a:extLst>
          </p:cNvPr>
          <p:cNvSpPr>
            <a:spLocks noGrp="1"/>
          </p:cNvSpPr>
          <p:nvPr>
            <p:ph type="title"/>
          </p:nvPr>
        </p:nvSpPr>
        <p:spPr>
          <a:xfrm>
            <a:off x="838200" y="365126"/>
            <a:ext cx="10515600" cy="773210"/>
          </a:xfrm>
        </p:spPr>
        <p:txBody>
          <a:bodyPr/>
          <a:lstStyle/>
          <a:p>
            <a:r>
              <a:rPr lang="en-IN" b="1" dirty="0">
                <a:solidFill>
                  <a:srgbClr val="FF0000"/>
                </a:solidFill>
                <a:latin typeface="Times New Roman" panose="02020603050405020304" pitchFamily="18" charset="0"/>
                <a:cs typeface="Times New Roman" panose="02020603050405020304" pitchFamily="18" charset="0"/>
              </a:rPr>
              <a:t>CLOCK DISTRIBUTION</a:t>
            </a:r>
          </a:p>
        </p:txBody>
      </p:sp>
      <p:sp>
        <p:nvSpPr>
          <p:cNvPr id="3" name="Content Placeholder 2">
            <a:extLst>
              <a:ext uri="{FF2B5EF4-FFF2-40B4-BE49-F238E27FC236}">
                <a16:creationId xmlns:a16="http://schemas.microsoft.com/office/drawing/2014/main" id="{ED0F2EE7-14D0-45B2-98A2-7BF300DC884C}"/>
              </a:ext>
            </a:extLst>
          </p:cNvPr>
          <p:cNvSpPr>
            <a:spLocks noGrp="1"/>
          </p:cNvSpPr>
          <p:nvPr>
            <p:ph idx="1"/>
          </p:nvPr>
        </p:nvSpPr>
        <p:spPr>
          <a:xfrm>
            <a:off x="167952" y="1138336"/>
            <a:ext cx="5579706" cy="5501003"/>
          </a:xfrm>
        </p:spPr>
        <p:txBody>
          <a:bodyPr>
            <a:normAutofit/>
          </a:bodyPr>
          <a:lstStyle/>
          <a:p>
            <a:pPr algn="just"/>
            <a:r>
              <a:rPr lang="en-IN" sz="2400" b="1" dirty="0">
                <a:solidFill>
                  <a:srgbClr val="002060"/>
                </a:solidFill>
                <a:latin typeface="Times New Roman" panose="02020603050405020304" pitchFamily="18" charset="0"/>
                <a:cs typeface="Times New Roman" panose="02020603050405020304" pitchFamily="18" charset="0"/>
              </a:rPr>
              <a:t>On a small chip, the </a:t>
            </a:r>
            <a:r>
              <a:rPr lang="en-IN" sz="2400" b="1" dirty="0">
                <a:solidFill>
                  <a:srgbClr val="0070C0"/>
                </a:solidFill>
                <a:latin typeface="Times New Roman" panose="02020603050405020304" pitchFamily="18" charset="0"/>
                <a:cs typeface="Times New Roman" panose="02020603050405020304" pitchFamily="18" charset="0"/>
              </a:rPr>
              <a:t>clock distribution network</a:t>
            </a:r>
            <a:r>
              <a:rPr lang="en-IN" sz="2400" b="1" dirty="0">
                <a:solidFill>
                  <a:srgbClr val="002060"/>
                </a:solidFill>
                <a:latin typeface="Times New Roman" panose="02020603050405020304" pitchFamily="18" charset="0"/>
                <a:cs typeface="Times New Roman" panose="02020603050405020304" pitchFamily="18" charset="0"/>
              </a:rPr>
              <a:t> is just a </a:t>
            </a:r>
            <a:r>
              <a:rPr lang="en-IN" sz="2400" b="1" dirty="0">
                <a:solidFill>
                  <a:srgbClr val="0070C0"/>
                </a:solidFill>
                <a:latin typeface="Times New Roman" panose="02020603050405020304" pitchFamily="18" charset="0"/>
                <a:cs typeface="Times New Roman" panose="02020603050405020304" pitchFamily="18" charset="0"/>
              </a:rPr>
              <a:t>wire</a:t>
            </a:r>
          </a:p>
          <a:p>
            <a:pPr lvl="1" algn="just"/>
            <a:r>
              <a:rPr lang="en-IN" b="1" dirty="0">
                <a:solidFill>
                  <a:srgbClr val="002060"/>
                </a:solidFill>
                <a:latin typeface="Times New Roman" panose="02020603050405020304" pitchFamily="18" charset="0"/>
                <a:cs typeface="Times New Roman" panose="02020603050405020304" pitchFamily="18" charset="0"/>
              </a:rPr>
              <a:t>And possibly an </a:t>
            </a:r>
            <a:r>
              <a:rPr lang="en-IN" b="1" dirty="0">
                <a:solidFill>
                  <a:srgbClr val="0070C0"/>
                </a:solidFill>
                <a:latin typeface="Times New Roman" panose="02020603050405020304" pitchFamily="18" charset="0"/>
                <a:cs typeface="Times New Roman" panose="02020603050405020304" pitchFamily="18" charset="0"/>
              </a:rPr>
              <a:t>inverter for clk.</a:t>
            </a:r>
          </a:p>
          <a:p>
            <a:pPr algn="just"/>
            <a:r>
              <a:rPr lang="en-IN" sz="2400" b="1" dirty="0">
                <a:solidFill>
                  <a:srgbClr val="002060"/>
                </a:solidFill>
                <a:latin typeface="Times New Roman" panose="02020603050405020304" pitchFamily="18" charset="0"/>
                <a:cs typeface="Times New Roman" panose="02020603050405020304" pitchFamily="18" charset="0"/>
              </a:rPr>
              <a:t>On practical chips, the </a:t>
            </a:r>
            <a:r>
              <a:rPr lang="en-IN" sz="2400" b="1" dirty="0">
                <a:solidFill>
                  <a:srgbClr val="0070C0"/>
                </a:solidFill>
                <a:latin typeface="Times New Roman" panose="02020603050405020304" pitchFamily="18" charset="0"/>
                <a:cs typeface="Times New Roman" panose="02020603050405020304" pitchFamily="18" charset="0"/>
              </a:rPr>
              <a:t>RC delay </a:t>
            </a:r>
            <a:r>
              <a:rPr lang="en-IN" sz="2400" b="1" dirty="0">
                <a:solidFill>
                  <a:srgbClr val="002060"/>
                </a:solidFill>
                <a:latin typeface="Times New Roman" panose="02020603050405020304" pitchFamily="18" charset="0"/>
                <a:cs typeface="Times New Roman" panose="02020603050405020304" pitchFamily="18" charset="0"/>
              </a:rPr>
              <a:t>of the wire resistance and gate load is very </a:t>
            </a:r>
            <a:r>
              <a:rPr lang="en-IN" sz="2400" b="1" dirty="0">
                <a:solidFill>
                  <a:srgbClr val="0070C0"/>
                </a:solidFill>
                <a:latin typeface="Times New Roman" panose="02020603050405020304" pitchFamily="18" charset="0"/>
                <a:cs typeface="Times New Roman" panose="02020603050405020304" pitchFamily="18" charset="0"/>
              </a:rPr>
              <a:t>long</a:t>
            </a:r>
          </a:p>
          <a:p>
            <a:pPr lvl="1" algn="just"/>
            <a:r>
              <a:rPr lang="en-IN" b="1" dirty="0">
                <a:solidFill>
                  <a:srgbClr val="002060"/>
                </a:solidFill>
                <a:latin typeface="Times New Roman" panose="02020603050405020304" pitchFamily="18" charset="0"/>
                <a:cs typeface="Times New Roman" panose="02020603050405020304" pitchFamily="18" charset="0"/>
              </a:rPr>
              <a:t>Variations in this </a:t>
            </a:r>
            <a:r>
              <a:rPr lang="en-IN" b="1" dirty="0">
                <a:solidFill>
                  <a:srgbClr val="0070C0"/>
                </a:solidFill>
                <a:latin typeface="Times New Roman" panose="02020603050405020304" pitchFamily="18" charset="0"/>
                <a:cs typeface="Times New Roman" panose="02020603050405020304" pitchFamily="18" charset="0"/>
              </a:rPr>
              <a:t>delay </a:t>
            </a:r>
            <a:r>
              <a:rPr lang="en-IN" b="1" dirty="0">
                <a:solidFill>
                  <a:srgbClr val="002060"/>
                </a:solidFill>
                <a:latin typeface="Times New Roman" panose="02020603050405020304" pitchFamily="18" charset="0"/>
                <a:cs typeface="Times New Roman" panose="02020603050405020304" pitchFamily="18" charset="0"/>
              </a:rPr>
              <a:t>cause clock to get to different elements at </a:t>
            </a:r>
            <a:r>
              <a:rPr lang="en-IN" b="1" dirty="0">
                <a:solidFill>
                  <a:srgbClr val="0070C0"/>
                </a:solidFill>
                <a:latin typeface="Times New Roman" panose="02020603050405020304" pitchFamily="18" charset="0"/>
                <a:cs typeface="Times New Roman" panose="02020603050405020304" pitchFamily="18" charset="0"/>
              </a:rPr>
              <a:t>different times</a:t>
            </a:r>
          </a:p>
          <a:p>
            <a:pPr lvl="1" algn="just"/>
            <a:r>
              <a:rPr lang="en-IN" b="1" dirty="0">
                <a:solidFill>
                  <a:srgbClr val="002060"/>
                </a:solidFill>
                <a:latin typeface="Times New Roman" panose="02020603050405020304" pitchFamily="18" charset="0"/>
                <a:cs typeface="Times New Roman" panose="02020603050405020304" pitchFamily="18" charset="0"/>
              </a:rPr>
              <a:t>This is called </a:t>
            </a:r>
            <a:r>
              <a:rPr lang="en-IN" b="1" dirty="0">
                <a:solidFill>
                  <a:srgbClr val="0070C0"/>
                </a:solidFill>
                <a:latin typeface="Times New Roman" panose="02020603050405020304" pitchFamily="18" charset="0"/>
                <a:cs typeface="Times New Roman" panose="02020603050405020304" pitchFamily="18" charset="0"/>
              </a:rPr>
              <a:t>clock skew</a:t>
            </a:r>
          </a:p>
          <a:p>
            <a:pPr algn="just"/>
            <a:r>
              <a:rPr lang="en-IN" sz="2400" b="1" dirty="0">
                <a:solidFill>
                  <a:srgbClr val="002060"/>
                </a:solidFill>
                <a:latin typeface="Times New Roman" panose="02020603050405020304" pitchFamily="18" charset="0"/>
                <a:cs typeface="Times New Roman" panose="02020603050405020304" pitchFamily="18" charset="0"/>
              </a:rPr>
              <a:t>Most chips </a:t>
            </a:r>
            <a:r>
              <a:rPr lang="en-IN" sz="2400" b="1" dirty="0">
                <a:solidFill>
                  <a:srgbClr val="0070C0"/>
                </a:solidFill>
                <a:latin typeface="Times New Roman" panose="02020603050405020304" pitchFamily="18" charset="0"/>
                <a:cs typeface="Times New Roman" panose="02020603050405020304" pitchFamily="18" charset="0"/>
              </a:rPr>
              <a:t>use repeaters </a:t>
            </a:r>
            <a:r>
              <a:rPr lang="en-IN" sz="2400" b="1" dirty="0">
                <a:solidFill>
                  <a:srgbClr val="002060"/>
                </a:solidFill>
                <a:latin typeface="Times New Roman" panose="02020603050405020304" pitchFamily="18" charset="0"/>
                <a:cs typeface="Times New Roman" panose="02020603050405020304" pitchFamily="18" charset="0"/>
              </a:rPr>
              <a:t>to buffer the clock and </a:t>
            </a:r>
            <a:r>
              <a:rPr lang="en-IN" sz="2400" b="1" dirty="0">
                <a:solidFill>
                  <a:srgbClr val="0070C0"/>
                </a:solidFill>
                <a:latin typeface="Times New Roman" panose="02020603050405020304" pitchFamily="18" charset="0"/>
                <a:cs typeface="Times New Roman" panose="02020603050405020304" pitchFamily="18" charset="0"/>
              </a:rPr>
              <a:t>equalize the delay.</a:t>
            </a:r>
          </a:p>
          <a:p>
            <a:pPr lvl="1" algn="just"/>
            <a:r>
              <a:rPr lang="en-IN" b="1" dirty="0">
                <a:solidFill>
                  <a:srgbClr val="0070C0"/>
                </a:solidFill>
                <a:latin typeface="Times New Roman" panose="02020603050405020304" pitchFamily="18" charset="0"/>
                <a:cs typeface="Times New Roman" panose="02020603050405020304" pitchFamily="18" charset="0"/>
              </a:rPr>
              <a:t>Hence reduces</a:t>
            </a:r>
            <a:r>
              <a:rPr lang="en-IN" b="1" dirty="0">
                <a:solidFill>
                  <a:srgbClr val="002060"/>
                </a:solidFill>
                <a:latin typeface="Times New Roman" panose="02020603050405020304" pitchFamily="18" charset="0"/>
                <a:cs typeface="Times New Roman" panose="02020603050405020304" pitchFamily="18" charset="0"/>
              </a:rPr>
              <a:t> but does not eliminate skew.</a:t>
            </a:r>
            <a:endParaRPr lang="en-IN"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CFC1C4B-ACA4-4ECE-BDC1-A819137A86F2}"/>
              </a:ext>
            </a:extLst>
          </p:cNvPr>
          <p:cNvPicPr>
            <a:picLocks noChangeAspect="1"/>
          </p:cNvPicPr>
          <p:nvPr/>
        </p:nvPicPr>
        <p:blipFill>
          <a:blip r:embed="rId2"/>
          <a:stretch>
            <a:fillRect/>
          </a:stretch>
        </p:blipFill>
        <p:spPr>
          <a:xfrm>
            <a:off x="5747659" y="938341"/>
            <a:ext cx="6276390" cy="5238522"/>
          </a:xfrm>
          <a:prstGeom prst="rect">
            <a:avLst/>
          </a:prstGeom>
        </p:spPr>
      </p:pic>
      <p:sp>
        <p:nvSpPr>
          <p:cNvPr id="5" name="Title 1">
            <a:extLst>
              <a:ext uri="{FF2B5EF4-FFF2-40B4-BE49-F238E27FC236}">
                <a16:creationId xmlns:a16="http://schemas.microsoft.com/office/drawing/2014/main" id="{7BFD8D00-49B4-4F3A-9A16-641DFD511C27}"/>
              </a:ext>
            </a:extLst>
          </p:cNvPr>
          <p:cNvSpPr txBox="1">
            <a:spLocks/>
          </p:cNvSpPr>
          <p:nvPr/>
        </p:nvSpPr>
        <p:spPr>
          <a:xfrm>
            <a:off x="7366519" y="6084790"/>
            <a:ext cx="4147457" cy="5545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solidFill>
                  <a:srgbClr val="0070C0"/>
                </a:solidFill>
                <a:latin typeface="Times New Roman" panose="02020603050405020304" pitchFamily="18" charset="0"/>
                <a:cs typeface="Times New Roman" panose="02020603050405020304" pitchFamily="18" charset="0"/>
              </a:rPr>
              <a:t>CLOCK DEPENDANCE</a:t>
            </a:r>
          </a:p>
        </p:txBody>
      </p:sp>
    </p:spTree>
    <p:extLst>
      <p:ext uri="{BB962C8B-B14F-4D97-AF65-F5344CB8AC3E}">
        <p14:creationId xmlns:p14="http://schemas.microsoft.com/office/powerpoint/2010/main" val="401926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1116-CB8B-49C3-A111-A30D0BA2A353}"/>
              </a:ext>
            </a:extLst>
          </p:cNvPr>
          <p:cNvSpPr>
            <a:spLocks noGrp="1"/>
          </p:cNvSpPr>
          <p:nvPr>
            <p:ph type="title"/>
          </p:nvPr>
        </p:nvSpPr>
        <p:spPr>
          <a:xfrm>
            <a:off x="838200" y="365125"/>
            <a:ext cx="10515600" cy="973345"/>
          </a:xfrm>
        </p:spPr>
        <p:txBody>
          <a:bodyPr>
            <a:normAutofit/>
          </a:bodyPr>
          <a:lstStyle/>
          <a:p>
            <a:r>
              <a:rPr lang="en-IN" dirty="0">
                <a:solidFill>
                  <a:srgbClr val="FF0000"/>
                </a:solidFill>
                <a:latin typeface="Times New Roman" panose="02020603050405020304" pitchFamily="18" charset="0"/>
                <a:cs typeface="Times New Roman" panose="02020603050405020304" pitchFamily="18" charset="0"/>
              </a:rPr>
              <a:t>Power Dissipation in Clock Distribution</a:t>
            </a:r>
          </a:p>
        </p:txBody>
      </p:sp>
      <p:sp>
        <p:nvSpPr>
          <p:cNvPr id="3" name="Content Placeholder 2">
            <a:extLst>
              <a:ext uri="{FF2B5EF4-FFF2-40B4-BE49-F238E27FC236}">
                <a16:creationId xmlns:a16="http://schemas.microsoft.com/office/drawing/2014/main" id="{AFAE3FBD-C622-448F-81CF-91BF8653D350}"/>
              </a:ext>
            </a:extLst>
          </p:cNvPr>
          <p:cNvSpPr>
            <a:spLocks noGrp="1"/>
          </p:cNvSpPr>
          <p:nvPr>
            <p:ph idx="1"/>
          </p:nvPr>
        </p:nvSpPr>
        <p:spPr>
          <a:xfrm>
            <a:off x="838200" y="1338470"/>
            <a:ext cx="10515600" cy="5154405"/>
          </a:xfrm>
        </p:spPr>
        <p:txBody>
          <a:bodyPr>
            <a:normAutofit/>
          </a:bodyPr>
          <a:lstStyle/>
          <a:p>
            <a:pPr algn="just"/>
            <a:r>
              <a:rPr lang="en-IN" dirty="0">
                <a:solidFill>
                  <a:srgbClr val="0070C0"/>
                </a:solidFill>
                <a:latin typeface="Times New Roman" panose="02020603050405020304" pitchFamily="18" charset="0"/>
                <a:cs typeface="Times New Roman" panose="02020603050405020304" pitchFamily="18" charset="0"/>
              </a:rPr>
              <a:t>G Hz </a:t>
            </a:r>
            <a:r>
              <a:rPr lang="en-IN" dirty="0">
                <a:solidFill>
                  <a:srgbClr val="002060"/>
                </a:solidFill>
                <a:latin typeface="Times New Roman" panose="02020603050405020304" pitchFamily="18" charset="0"/>
                <a:cs typeface="Times New Roman" panose="02020603050405020304" pitchFamily="18" charset="0"/>
              </a:rPr>
              <a:t>range in submicron technology.</a:t>
            </a:r>
          </a:p>
          <a:p>
            <a:pPr algn="just"/>
            <a:r>
              <a:rPr lang="en-IN" dirty="0">
                <a:solidFill>
                  <a:srgbClr val="002060"/>
                </a:solidFill>
                <a:latin typeface="Times New Roman" panose="02020603050405020304" pitchFamily="18" charset="0"/>
                <a:cs typeface="Times New Roman" panose="02020603050405020304" pitchFamily="18" charset="0"/>
              </a:rPr>
              <a:t>PD is </a:t>
            </a:r>
            <a:r>
              <a:rPr lang="en-IN" dirty="0">
                <a:solidFill>
                  <a:srgbClr val="0070C0"/>
                </a:solidFill>
                <a:latin typeface="Times New Roman" panose="02020603050405020304" pitchFamily="18" charset="0"/>
                <a:cs typeface="Times New Roman" panose="02020603050405020304" pitchFamily="18" charset="0"/>
              </a:rPr>
              <a:t>limiting factor</a:t>
            </a:r>
            <a:r>
              <a:rPr lang="en-IN" dirty="0">
                <a:solidFill>
                  <a:srgbClr val="002060"/>
                </a:solidFill>
                <a:latin typeface="Times New Roman" panose="02020603050405020304" pitchFamily="18" charset="0"/>
                <a:cs typeface="Times New Roman" panose="02020603050405020304" pitchFamily="18" charset="0"/>
              </a:rPr>
              <a:t>.</a:t>
            </a:r>
          </a:p>
          <a:p>
            <a:pPr algn="just"/>
            <a:r>
              <a:rPr lang="en-IN" dirty="0">
                <a:solidFill>
                  <a:srgbClr val="0070C0"/>
                </a:solidFill>
                <a:latin typeface="Times New Roman" panose="02020603050405020304" pitchFamily="18" charset="0"/>
                <a:cs typeface="Times New Roman" panose="02020603050405020304" pitchFamily="18" charset="0"/>
              </a:rPr>
              <a:t>Power drain </a:t>
            </a:r>
            <a:r>
              <a:rPr lang="en-IN" dirty="0">
                <a:solidFill>
                  <a:srgbClr val="002060"/>
                </a:solidFill>
                <a:latin typeface="Times New Roman" panose="02020603050405020304" pitchFamily="18" charset="0"/>
                <a:cs typeface="Times New Roman" panose="02020603050405020304" pitchFamily="18" charset="0"/>
              </a:rPr>
              <a:t>can be seen in </a:t>
            </a:r>
            <a:r>
              <a:rPr lang="en-IN" dirty="0">
                <a:solidFill>
                  <a:srgbClr val="0070C0"/>
                </a:solidFill>
                <a:latin typeface="Times New Roman" panose="02020603050405020304" pitchFamily="18" charset="0"/>
                <a:cs typeface="Times New Roman" panose="02020603050405020304" pitchFamily="18" charset="0"/>
              </a:rPr>
              <a:t>portable device </a:t>
            </a:r>
            <a:r>
              <a:rPr lang="en-IN" dirty="0">
                <a:solidFill>
                  <a:srgbClr val="002060"/>
                </a:solidFill>
                <a:latin typeface="Times New Roman" panose="02020603050405020304" pitchFamily="18" charset="0"/>
                <a:cs typeface="Times New Roman" panose="02020603050405020304" pitchFamily="18" charset="0"/>
              </a:rPr>
              <a:t>like wireless computing and communication systems because of performance driven paradigm.</a:t>
            </a:r>
          </a:p>
          <a:p>
            <a:r>
              <a:rPr lang="en-IN" dirty="0">
                <a:solidFill>
                  <a:srgbClr val="002060"/>
                </a:solidFill>
                <a:latin typeface="Times New Roman" panose="02020603050405020304" pitchFamily="18" charset="0"/>
                <a:cs typeface="Times New Roman" panose="02020603050405020304" pitchFamily="18" charset="0"/>
              </a:rPr>
              <a:t>key stage in </a:t>
            </a:r>
            <a:r>
              <a:rPr lang="en-IN" dirty="0">
                <a:solidFill>
                  <a:srgbClr val="0070C0"/>
                </a:solidFill>
                <a:latin typeface="Times New Roman" panose="02020603050405020304" pitchFamily="18" charset="0"/>
                <a:cs typeface="Times New Roman" panose="02020603050405020304" pitchFamily="18" charset="0"/>
              </a:rPr>
              <a:t>optimizing the design </a:t>
            </a:r>
            <a:r>
              <a:rPr lang="en-IN" dirty="0">
                <a:solidFill>
                  <a:srgbClr val="002060"/>
                </a:solidFill>
                <a:latin typeface="Times New Roman" panose="02020603050405020304" pitchFamily="18" charset="0"/>
                <a:cs typeface="Times New Roman" panose="02020603050405020304" pitchFamily="18" charset="0"/>
              </a:rPr>
              <a:t>to achieve performance and cost goals is </a:t>
            </a:r>
            <a:r>
              <a:rPr lang="en-IN" dirty="0">
                <a:solidFill>
                  <a:srgbClr val="0070C0"/>
                </a:solidFill>
                <a:latin typeface="Times New Roman" panose="02020603050405020304" pitchFamily="18" charset="0"/>
                <a:cs typeface="Times New Roman" panose="02020603050405020304" pitchFamily="18" charset="0"/>
              </a:rPr>
              <a:t>Layout or Physical design</a:t>
            </a:r>
            <a:r>
              <a:rPr lang="en-IN" dirty="0">
                <a:solidFill>
                  <a:srgbClr val="002060"/>
                </a:solidFill>
                <a:latin typeface="Times New Roman" panose="02020603050405020304" pitchFamily="18" charset="0"/>
                <a:cs typeface="Times New Roman" panose="02020603050405020304" pitchFamily="18" charset="0"/>
              </a:rPr>
              <a:t>.</a:t>
            </a:r>
          </a:p>
          <a:p>
            <a:r>
              <a:rPr lang="en-IN" dirty="0">
                <a:solidFill>
                  <a:srgbClr val="002060"/>
                </a:solidFill>
                <a:latin typeface="Times New Roman" panose="02020603050405020304" pitchFamily="18" charset="0"/>
                <a:cs typeface="Times New Roman" panose="02020603050405020304" pitchFamily="18" charset="0"/>
              </a:rPr>
              <a:t>low power considerations were given in</a:t>
            </a:r>
          </a:p>
          <a:p>
            <a:pPr lvl="1"/>
            <a:r>
              <a:rPr lang="en-IN" sz="2800" dirty="0">
                <a:solidFill>
                  <a:srgbClr val="0070C0"/>
                </a:solidFill>
                <a:latin typeface="Times New Roman" panose="02020603050405020304" pitchFamily="18" charset="0"/>
                <a:cs typeface="Times New Roman" panose="02020603050405020304" pitchFamily="18" charset="0"/>
              </a:rPr>
              <a:t>floorplan stage</a:t>
            </a:r>
          </a:p>
          <a:p>
            <a:pPr lvl="1"/>
            <a:r>
              <a:rPr lang="en-IN" sz="2800" dirty="0">
                <a:solidFill>
                  <a:srgbClr val="0070C0"/>
                </a:solidFill>
                <a:latin typeface="Times New Roman" panose="02020603050405020304" pitchFamily="18" charset="0"/>
                <a:cs typeface="Times New Roman" panose="02020603050405020304" pitchFamily="18" charset="0"/>
              </a:rPr>
              <a:t>placement and routing techniques</a:t>
            </a:r>
          </a:p>
          <a:p>
            <a:r>
              <a:rPr lang="en-IN" dirty="0">
                <a:solidFill>
                  <a:srgbClr val="002060"/>
                </a:solidFill>
                <a:latin typeface="Times New Roman" panose="02020603050405020304" pitchFamily="18" charset="0"/>
                <a:cs typeface="Times New Roman" panose="02020603050405020304" pitchFamily="18" charset="0"/>
              </a:rPr>
              <a:t>The </a:t>
            </a:r>
            <a:r>
              <a:rPr lang="en-IN" dirty="0">
                <a:solidFill>
                  <a:srgbClr val="0070C0"/>
                </a:solidFill>
                <a:latin typeface="Times New Roman" panose="02020603050405020304" pitchFamily="18" charset="0"/>
                <a:cs typeface="Times New Roman" panose="02020603050405020304" pitchFamily="18" charset="0"/>
              </a:rPr>
              <a:t>synchronization of a digital system </a:t>
            </a:r>
            <a:r>
              <a:rPr lang="en-IN" dirty="0">
                <a:solidFill>
                  <a:srgbClr val="002060"/>
                </a:solidFill>
                <a:latin typeface="Times New Roman" panose="02020603050405020304" pitchFamily="18" charset="0"/>
                <a:cs typeface="Times New Roman" panose="02020603050405020304" pitchFamily="18" charset="0"/>
              </a:rPr>
              <a:t>requires one or more reference signals to coordinate and insure correct sequences of operations. </a:t>
            </a:r>
          </a:p>
          <a:p>
            <a:r>
              <a:rPr lang="en-IN" dirty="0">
                <a:solidFill>
                  <a:srgbClr val="002060"/>
                </a:solidFill>
                <a:latin typeface="Times New Roman" panose="02020603050405020304" pitchFamily="18" charset="0"/>
                <a:cs typeface="Times New Roman" panose="02020603050405020304" pitchFamily="18" charset="0"/>
              </a:rPr>
              <a:t>Fully synchronous operation with a </a:t>
            </a:r>
            <a:r>
              <a:rPr lang="en-IN" dirty="0">
                <a:solidFill>
                  <a:srgbClr val="0070C0"/>
                </a:solidFill>
                <a:latin typeface="Times New Roman" panose="02020603050405020304" pitchFamily="18" charset="0"/>
                <a:cs typeface="Times New Roman" panose="02020603050405020304" pitchFamily="18" charset="0"/>
              </a:rPr>
              <a:t>common clock </a:t>
            </a:r>
            <a:r>
              <a:rPr lang="en-IN" dirty="0">
                <a:solidFill>
                  <a:srgbClr val="002060"/>
                </a:solidFill>
                <a:latin typeface="Times New Roman" panose="02020603050405020304" pitchFamily="18" charset="0"/>
                <a:cs typeface="Times New Roman" panose="02020603050405020304" pitchFamily="18" charset="0"/>
              </a:rPr>
              <a:t>has been the dominant design approach for digital systems.</a:t>
            </a:r>
          </a:p>
          <a:p>
            <a:pPr algn="just"/>
            <a:endParaRPr lang="en-IN" dirty="0">
              <a:solidFill>
                <a:srgbClr val="002060"/>
              </a:solidFill>
              <a:latin typeface="Times New Roman" panose="02020603050405020304" pitchFamily="18" charset="0"/>
              <a:cs typeface="Times New Roman" panose="02020603050405020304" pitchFamily="18" charset="0"/>
            </a:endParaRPr>
          </a:p>
          <a:p>
            <a:pPr algn="just"/>
            <a:endParaRPr lang="en-IN" dirty="0">
              <a:solidFill>
                <a:srgbClr val="002060"/>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157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F3AE2-A460-4137-B85F-7495E9F4EC36}"/>
              </a:ext>
            </a:extLst>
          </p:cNvPr>
          <p:cNvSpPr>
            <a:spLocks noGrp="1"/>
          </p:cNvSpPr>
          <p:nvPr>
            <p:ph type="title"/>
          </p:nvPr>
        </p:nvSpPr>
        <p:spPr>
          <a:xfrm>
            <a:off x="838200" y="219353"/>
            <a:ext cx="10515600" cy="681797"/>
          </a:xfrm>
        </p:spPr>
        <p:txBody>
          <a:bodyPr>
            <a:normAutofit/>
          </a:bodyPr>
          <a:lstStyle/>
          <a:p>
            <a:r>
              <a:rPr lang="en-IN" dirty="0">
                <a:solidFill>
                  <a:srgbClr val="FF0000"/>
                </a:solidFill>
                <a:latin typeface="Times New Roman" panose="02020603050405020304" pitchFamily="18" charset="0"/>
                <a:cs typeface="Times New Roman" panose="02020603050405020304" pitchFamily="18" charset="0"/>
              </a:rPr>
              <a:t>Power Dissipation in Clock Distribution</a:t>
            </a:r>
          </a:p>
        </p:txBody>
      </p:sp>
      <p:sp>
        <p:nvSpPr>
          <p:cNvPr id="3" name="Content Placeholder 2">
            <a:extLst>
              <a:ext uri="{FF2B5EF4-FFF2-40B4-BE49-F238E27FC236}">
                <a16:creationId xmlns:a16="http://schemas.microsoft.com/office/drawing/2014/main" id="{B638AF4A-5241-48BF-9D17-5895F5CE8868}"/>
              </a:ext>
            </a:extLst>
          </p:cNvPr>
          <p:cNvSpPr>
            <a:spLocks noGrp="1"/>
          </p:cNvSpPr>
          <p:nvPr>
            <p:ph idx="1"/>
          </p:nvPr>
        </p:nvSpPr>
        <p:spPr>
          <a:xfrm>
            <a:off x="838200" y="1046922"/>
            <a:ext cx="10515600" cy="5130041"/>
          </a:xfrm>
        </p:spPr>
        <p:txBody>
          <a:bodyPr>
            <a:normAutofit/>
          </a:bodyPr>
          <a:lstStyle/>
          <a:p>
            <a:pPr algn="just"/>
            <a:r>
              <a:rPr lang="en-IN" dirty="0">
                <a:solidFill>
                  <a:srgbClr val="002060"/>
                </a:solidFill>
                <a:latin typeface="Times New Roman" panose="02020603050405020304" pitchFamily="18" charset="0"/>
                <a:cs typeface="Times New Roman" panose="02020603050405020304" pitchFamily="18" charset="0"/>
              </a:rPr>
              <a:t>A clock tree is usually constructed to </a:t>
            </a:r>
            <a:r>
              <a:rPr lang="en-IN" dirty="0">
                <a:solidFill>
                  <a:srgbClr val="0070C0"/>
                </a:solidFill>
                <a:latin typeface="Times New Roman" panose="02020603050405020304" pitchFamily="18" charset="0"/>
                <a:cs typeface="Times New Roman" panose="02020603050405020304" pitchFamily="18" charset="0"/>
              </a:rPr>
              <a:t>globally distribute</a:t>
            </a:r>
            <a:r>
              <a:rPr lang="en-IN" dirty="0">
                <a:solidFill>
                  <a:srgbClr val="002060"/>
                </a:solidFill>
                <a:latin typeface="Times New Roman" panose="02020603050405020304" pitchFamily="18" charset="0"/>
                <a:cs typeface="Times New Roman" panose="02020603050405020304" pitchFamily="18" charset="0"/>
              </a:rPr>
              <a:t> the clock signal to all modules throughout the system.</a:t>
            </a:r>
          </a:p>
          <a:p>
            <a:pPr algn="just"/>
            <a:r>
              <a:rPr lang="en-IN" dirty="0">
                <a:solidFill>
                  <a:srgbClr val="002060"/>
                </a:solidFill>
                <a:latin typeface="Times New Roman" panose="02020603050405020304" pitchFamily="18" charset="0"/>
                <a:cs typeface="Times New Roman" panose="02020603050405020304" pitchFamily="18" charset="0"/>
              </a:rPr>
              <a:t>The </a:t>
            </a:r>
            <a:r>
              <a:rPr lang="en-IN" dirty="0">
                <a:solidFill>
                  <a:srgbClr val="0070C0"/>
                </a:solidFill>
                <a:latin typeface="Times New Roman" panose="02020603050405020304" pitchFamily="18" charset="0"/>
                <a:cs typeface="Times New Roman" panose="02020603050405020304" pitchFamily="18" charset="0"/>
              </a:rPr>
              <a:t>transitions of clock signal </a:t>
            </a:r>
            <a:r>
              <a:rPr lang="en-IN" dirty="0">
                <a:solidFill>
                  <a:srgbClr val="002060"/>
                </a:solidFill>
                <a:latin typeface="Times New Roman" panose="02020603050405020304" pitchFamily="18" charset="0"/>
                <a:cs typeface="Times New Roman" panose="02020603050405020304" pitchFamily="18" charset="0"/>
              </a:rPr>
              <a:t>provide the reference time for each module to latch in data, trigger operations and transmit outputs. </a:t>
            </a:r>
          </a:p>
          <a:p>
            <a:pPr algn="just"/>
            <a:r>
              <a:rPr lang="en-IN" dirty="0">
                <a:solidFill>
                  <a:srgbClr val="0070C0"/>
                </a:solidFill>
                <a:latin typeface="Times New Roman" panose="02020603050405020304" pitchFamily="18" charset="0"/>
                <a:cs typeface="Times New Roman" panose="02020603050405020304" pitchFamily="18" charset="0"/>
              </a:rPr>
              <a:t>Clock</a:t>
            </a:r>
            <a:r>
              <a:rPr lang="en-IN" dirty="0">
                <a:solidFill>
                  <a:srgbClr val="002060"/>
                </a:solidFill>
                <a:latin typeface="Times New Roman" panose="02020603050405020304" pitchFamily="18" charset="0"/>
                <a:cs typeface="Times New Roman" panose="02020603050405020304" pitchFamily="18" charset="0"/>
              </a:rPr>
              <a:t> is the most important signal in determining system performance and total PD.</a:t>
            </a:r>
          </a:p>
          <a:p>
            <a:r>
              <a:rPr lang="en-IN" dirty="0">
                <a:solidFill>
                  <a:srgbClr val="002060"/>
                </a:solidFill>
                <a:latin typeface="Times New Roman" panose="02020603050405020304" pitchFamily="18" charset="0"/>
                <a:cs typeface="Times New Roman" panose="02020603050405020304" pitchFamily="18" charset="0"/>
              </a:rPr>
              <a:t>Example Typical Values for a chip (DEC Alpha Chip) uses a clock driver </a:t>
            </a:r>
          </a:p>
          <a:p>
            <a:pPr lvl="1"/>
            <a:r>
              <a:rPr lang="en-IN" dirty="0">
                <a:solidFill>
                  <a:srgbClr val="0070C0"/>
                </a:solidFill>
                <a:latin typeface="Times New Roman" panose="02020603050405020304" pitchFamily="18" charset="0"/>
                <a:cs typeface="Times New Roman" panose="02020603050405020304" pitchFamily="18" charset="0"/>
              </a:rPr>
              <a:t>C</a:t>
            </a:r>
            <a:r>
              <a:rPr lang="en-IN" sz="1400" dirty="0">
                <a:solidFill>
                  <a:srgbClr val="0070C0"/>
                </a:solidFill>
                <a:latin typeface="Times New Roman" panose="02020603050405020304" pitchFamily="18" charset="0"/>
                <a:cs typeface="Times New Roman" panose="02020603050405020304" pitchFamily="18" charset="0"/>
              </a:rPr>
              <a:t>L</a:t>
            </a:r>
            <a:r>
              <a:rPr lang="en-IN" dirty="0">
                <a:solidFill>
                  <a:srgbClr val="002060"/>
                </a:solidFill>
                <a:latin typeface="Times New Roman" panose="02020603050405020304" pitchFamily="18" charset="0"/>
                <a:cs typeface="Times New Roman" panose="02020603050405020304" pitchFamily="18" charset="0"/>
              </a:rPr>
              <a:t>=3250 pF </a:t>
            </a:r>
          </a:p>
          <a:p>
            <a:pPr lvl="1"/>
            <a:r>
              <a:rPr lang="en-IN" dirty="0">
                <a:solidFill>
                  <a:srgbClr val="0070C0"/>
                </a:solidFill>
                <a:latin typeface="Times New Roman" panose="02020603050405020304" pitchFamily="18" charset="0"/>
                <a:cs typeface="Times New Roman" panose="02020603050405020304" pitchFamily="18" charset="0"/>
              </a:rPr>
              <a:t>F</a:t>
            </a:r>
            <a:r>
              <a:rPr lang="en-IN" dirty="0">
                <a:solidFill>
                  <a:srgbClr val="002060"/>
                </a:solidFill>
                <a:latin typeface="Times New Roman" panose="02020603050405020304" pitchFamily="18" charset="0"/>
                <a:cs typeface="Times New Roman" panose="02020603050405020304" pitchFamily="18" charset="0"/>
              </a:rPr>
              <a:t>= 200 MHz, </a:t>
            </a:r>
          </a:p>
          <a:p>
            <a:pPr lvl="1"/>
            <a:r>
              <a:rPr lang="en-IN" dirty="0">
                <a:solidFill>
                  <a:srgbClr val="0070C0"/>
                </a:solidFill>
                <a:latin typeface="Times New Roman" panose="02020603050405020304" pitchFamily="18" charset="0"/>
                <a:cs typeface="Times New Roman" panose="02020603050405020304" pitchFamily="18" charset="0"/>
              </a:rPr>
              <a:t>Operating Voltage</a:t>
            </a:r>
            <a:r>
              <a:rPr lang="en-IN" dirty="0">
                <a:solidFill>
                  <a:srgbClr val="002060"/>
                </a:solidFill>
                <a:latin typeface="Times New Roman" panose="02020603050405020304" pitchFamily="18" charset="0"/>
                <a:cs typeface="Times New Roman" panose="02020603050405020304" pitchFamily="18" charset="0"/>
              </a:rPr>
              <a:t>= 3.3 V,</a:t>
            </a:r>
          </a:p>
          <a:p>
            <a:pPr lvl="1"/>
            <a:r>
              <a:rPr lang="en-IN" dirty="0" err="1">
                <a:solidFill>
                  <a:srgbClr val="0070C0"/>
                </a:solidFill>
                <a:latin typeface="Times New Roman" panose="02020603050405020304" pitchFamily="18" charset="0"/>
                <a:cs typeface="Times New Roman" panose="02020603050405020304" pitchFamily="18" charset="0"/>
              </a:rPr>
              <a:t>P</a:t>
            </a:r>
            <a:r>
              <a:rPr lang="en-IN" sz="1600" dirty="0" err="1">
                <a:solidFill>
                  <a:srgbClr val="0070C0"/>
                </a:solidFill>
                <a:latin typeface="Times New Roman" panose="02020603050405020304" pitchFamily="18" charset="0"/>
                <a:cs typeface="Times New Roman" panose="02020603050405020304" pitchFamily="18" charset="0"/>
              </a:rPr>
              <a:t>dynamic</a:t>
            </a:r>
            <a:r>
              <a:rPr lang="en-IN" sz="1600" dirty="0">
                <a:solidFill>
                  <a:srgbClr val="002060"/>
                </a:solidFill>
                <a:latin typeface="Times New Roman" panose="02020603050405020304" pitchFamily="18" charset="0"/>
                <a:cs typeface="Times New Roman" panose="02020603050405020304" pitchFamily="18" charset="0"/>
              </a:rPr>
              <a:t>=</a:t>
            </a:r>
            <a:r>
              <a:rPr lang="en-IN" dirty="0">
                <a:solidFill>
                  <a:srgbClr val="002060"/>
                </a:solidFill>
                <a:latin typeface="Times New Roman" panose="02020603050405020304" pitchFamily="18" charset="0"/>
                <a:cs typeface="Times New Roman" panose="02020603050405020304" pitchFamily="18" charset="0"/>
              </a:rPr>
              <a:t>7.08 W, </a:t>
            </a:r>
          </a:p>
          <a:p>
            <a:pPr lvl="1"/>
            <a:r>
              <a:rPr lang="en-IN" dirty="0">
                <a:solidFill>
                  <a:srgbClr val="0070C0"/>
                </a:solidFill>
                <a:latin typeface="Times New Roman" panose="02020603050405020304" pitchFamily="18" charset="0"/>
                <a:cs typeface="Times New Roman" panose="02020603050405020304" pitchFamily="18" charset="0"/>
              </a:rPr>
              <a:t>30% </a:t>
            </a:r>
            <a:r>
              <a:rPr lang="en-IN" dirty="0">
                <a:solidFill>
                  <a:srgbClr val="002060"/>
                </a:solidFill>
                <a:latin typeface="Times New Roman" panose="02020603050405020304" pitchFamily="18" charset="0"/>
                <a:cs typeface="Times New Roman" panose="02020603050405020304" pitchFamily="18" charset="0"/>
              </a:rPr>
              <a:t>of the chip's total power dissipation.</a:t>
            </a:r>
          </a:p>
        </p:txBody>
      </p:sp>
    </p:spTree>
    <p:extLst>
      <p:ext uri="{BB962C8B-B14F-4D97-AF65-F5344CB8AC3E}">
        <p14:creationId xmlns:p14="http://schemas.microsoft.com/office/powerpoint/2010/main" val="223228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1632B-1EB9-48A3-900E-246BFC48AEB7}"/>
              </a:ext>
            </a:extLst>
          </p:cNvPr>
          <p:cNvSpPr>
            <a:spLocks noGrp="1"/>
          </p:cNvSpPr>
          <p:nvPr>
            <p:ph type="title"/>
          </p:nvPr>
        </p:nvSpPr>
        <p:spPr>
          <a:xfrm>
            <a:off x="838200" y="171175"/>
            <a:ext cx="10515600" cy="695049"/>
          </a:xfrm>
        </p:spPr>
        <p:txBody>
          <a:bodyPr/>
          <a:lstStyle/>
          <a:p>
            <a:r>
              <a:rPr lang="en-IN" dirty="0">
                <a:solidFill>
                  <a:srgbClr val="FF0000"/>
                </a:solidFill>
                <a:latin typeface="Times New Roman" panose="02020603050405020304" pitchFamily="18" charset="0"/>
                <a:cs typeface="Times New Roman" panose="02020603050405020304" pitchFamily="18" charset="0"/>
              </a:rPr>
              <a:t>Power Dissipation in Clock Distribution</a:t>
            </a:r>
            <a:endParaRPr lang="en-IN" dirty="0"/>
          </a:p>
        </p:txBody>
      </p:sp>
      <p:sp>
        <p:nvSpPr>
          <p:cNvPr id="3" name="Content Placeholder 2">
            <a:extLst>
              <a:ext uri="{FF2B5EF4-FFF2-40B4-BE49-F238E27FC236}">
                <a16:creationId xmlns:a16="http://schemas.microsoft.com/office/drawing/2014/main" id="{ECF1B21F-1C9C-4945-A8A2-3816DE886196}"/>
              </a:ext>
            </a:extLst>
          </p:cNvPr>
          <p:cNvSpPr>
            <a:spLocks noGrp="1"/>
          </p:cNvSpPr>
          <p:nvPr>
            <p:ph idx="1"/>
          </p:nvPr>
        </p:nvSpPr>
        <p:spPr>
          <a:xfrm>
            <a:off x="838200" y="866223"/>
            <a:ext cx="10515600" cy="5820601"/>
          </a:xfrm>
        </p:spPr>
        <p:txBody>
          <a:bodyPr>
            <a:normAutofit lnSpcReduction="10000"/>
          </a:bodyPr>
          <a:lstStyle/>
          <a:p>
            <a:pPr algn="just"/>
            <a:r>
              <a:rPr lang="en-IN" dirty="0">
                <a:solidFill>
                  <a:srgbClr val="002060"/>
                </a:solidFill>
                <a:latin typeface="Times New Roman" panose="02020603050405020304" pitchFamily="18" charset="0"/>
                <a:cs typeface="Times New Roman" panose="02020603050405020304" pitchFamily="18" charset="0"/>
              </a:rPr>
              <a:t>Dynamic power dissipated by switching the clock</a:t>
            </a:r>
          </a:p>
          <a:p>
            <a:pPr algn="just"/>
            <a:endParaRPr lang="en-IN" dirty="0">
              <a:solidFill>
                <a:srgbClr val="002060"/>
              </a:solidFill>
              <a:latin typeface="Times New Roman" panose="02020603050405020304" pitchFamily="18" charset="0"/>
              <a:cs typeface="Times New Roman" panose="02020603050405020304" pitchFamily="18" charset="0"/>
            </a:endParaRPr>
          </a:p>
          <a:p>
            <a:pPr algn="just"/>
            <a:r>
              <a:rPr lang="en-IN" dirty="0">
                <a:solidFill>
                  <a:srgbClr val="002060"/>
                </a:solidFill>
                <a:latin typeface="Times New Roman" panose="02020603050405020304" pitchFamily="18" charset="0"/>
                <a:cs typeface="Times New Roman" panose="02020603050405020304" pitchFamily="18" charset="0"/>
              </a:rPr>
              <a:t>C</a:t>
            </a:r>
            <a:r>
              <a:rPr lang="en-IN" sz="1900" dirty="0">
                <a:solidFill>
                  <a:srgbClr val="002060"/>
                </a:solidFill>
                <a:latin typeface="Times New Roman" panose="02020603050405020304" pitchFamily="18" charset="0"/>
                <a:cs typeface="Times New Roman" panose="02020603050405020304" pitchFamily="18" charset="0"/>
              </a:rPr>
              <a:t>L</a:t>
            </a:r>
            <a:r>
              <a:rPr lang="en-IN" dirty="0">
                <a:solidFill>
                  <a:srgbClr val="002060"/>
                </a:solidFill>
                <a:latin typeface="Times New Roman" panose="02020603050405020304" pitchFamily="18" charset="0"/>
                <a:cs typeface="Times New Roman" panose="02020603050405020304" pitchFamily="18" charset="0"/>
              </a:rPr>
              <a:t>= Total Load</a:t>
            </a:r>
          </a:p>
          <a:p>
            <a:pPr algn="just"/>
            <a:r>
              <a:rPr lang="en-IN" dirty="0">
                <a:solidFill>
                  <a:srgbClr val="002060"/>
                </a:solidFill>
                <a:latin typeface="Times New Roman" panose="02020603050405020304" pitchFamily="18" charset="0"/>
                <a:cs typeface="Times New Roman" panose="02020603050405020304" pitchFamily="18" charset="0"/>
              </a:rPr>
              <a:t>C</a:t>
            </a:r>
            <a:r>
              <a:rPr lang="en-IN" sz="2200" dirty="0">
                <a:solidFill>
                  <a:srgbClr val="002060"/>
                </a:solidFill>
                <a:latin typeface="Times New Roman" panose="02020603050405020304" pitchFamily="18" charset="0"/>
                <a:cs typeface="Times New Roman" panose="02020603050405020304" pitchFamily="18" charset="0"/>
              </a:rPr>
              <a:t>d</a:t>
            </a:r>
            <a:r>
              <a:rPr lang="en-IN" dirty="0">
                <a:solidFill>
                  <a:srgbClr val="002060"/>
                </a:solidFill>
                <a:latin typeface="Times New Roman" panose="02020603050405020304" pitchFamily="18" charset="0"/>
                <a:cs typeface="Times New Roman" panose="02020603050405020304" pitchFamily="18" charset="0"/>
              </a:rPr>
              <a:t>= Clock driver capacitance</a:t>
            </a:r>
          </a:p>
          <a:p>
            <a:pPr algn="just"/>
            <a:endParaRPr lang="en-IN" dirty="0">
              <a:solidFill>
                <a:srgbClr val="002060"/>
              </a:solidFill>
              <a:latin typeface="Times New Roman" panose="02020603050405020304" pitchFamily="18" charset="0"/>
              <a:cs typeface="Times New Roman" panose="02020603050405020304" pitchFamily="18" charset="0"/>
            </a:endParaRPr>
          </a:p>
          <a:p>
            <a:pPr algn="just"/>
            <a:r>
              <a:rPr lang="en-IN" dirty="0">
                <a:solidFill>
                  <a:srgbClr val="002060"/>
                </a:solidFill>
                <a:latin typeface="Times New Roman" panose="02020603050405020304" pitchFamily="18" charset="0"/>
                <a:cs typeface="Times New Roman" panose="02020603050405020304" pitchFamily="18" charset="0"/>
              </a:rPr>
              <a:t>N= total No of clock terminals, Cg=input capacitance at each terminal</a:t>
            </a:r>
          </a:p>
          <a:p>
            <a:pPr algn="just"/>
            <a:r>
              <a:rPr lang="en-IN" dirty="0" err="1">
                <a:solidFill>
                  <a:srgbClr val="002060"/>
                </a:solidFill>
                <a:latin typeface="Times New Roman" panose="02020603050405020304" pitchFamily="18" charset="0"/>
                <a:cs typeface="Times New Roman" panose="02020603050405020304" pitchFamily="18" charset="0"/>
              </a:rPr>
              <a:t>Cw</a:t>
            </a:r>
            <a:r>
              <a:rPr lang="en-IN" dirty="0">
                <a:solidFill>
                  <a:srgbClr val="002060"/>
                </a:solidFill>
                <a:latin typeface="Times New Roman" panose="02020603050405020304" pitchFamily="18" charset="0"/>
                <a:cs typeface="Times New Roman" panose="02020603050405020304" pitchFamily="18" charset="0"/>
              </a:rPr>
              <a:t>=Unit Length wire capacitance, D= Chip dimension</a:t>
            </a:r>
          </a:p>
          <a:p>
            <a:pPr algn="just"/>
            <a:r>
              <a:rPr lang="en-IN" dirty="0">
                <a:solidFill>
                  <a:srgbClr val="002060"/>
                </a:solidFill>
                <a:latin typeface="Times New Roman" panose="02020603050405020304" pitchFamily="18" charset="0"/>
                <a:cs typeface="Times New Roman" panose="02020603050405020304" pitchFamily="18" charset="0"/>
              </a:rPr>
              <a:t>α= estimation factor depending on algorithm used for local clock routing.</a:t>
            </a:r>
          </a:p>
          <a:p>
            <a:pPr marL="0" indent="0" algn="just">
              <a:buNone/>
            </a:pPr>
            <a:r>
              <a:rPr lang="en-IN" b="1" dirty="0">
                <a:solidFill>
                  <a:srgbClr val="0070C0"/>
                </a:solidFill>
                <a:latin typeface="Times New Roman" panose="02020603050405020304" pitchFamily="18" charset="0"/>
                <a:cs typeface="Times New Roman" panose="02020603050405020304" pitchFamily="18" charset="0"/>
              </a:rPr>
              <a:t>Effect of </a:t>
            </a:r>
            <a:r>
              <a:rPr lang="en-IN" sz="3300" b="1" dirty="0">
                <a:solidFill>
                  <a:srgbClr val="0070C0"/>
                </a:solidFill>
                <a:latin typeface="Times New Roman" panose="02020603050405020304" pitchFamily="18" charset="0"/>
                <a:cs typeface="Times New Roman" panose="02020603050405020304" pitchFamily="18" charset="0"/>
              </a:rPr>
              <a:t>CLOCK</a:t>
            </a:r>
            <a:r>
              <a:rPr lang="en-IN" b="1" dirty="0">
                <a:solidFill>
                  <a:srgbClr val="0070C0"/>
                </a:solidFill>
                <a:latin typeface="Times New Roman" panose="02020603050405020304" pitchFamily="18" charset="0"/>
                <a:cs typeface="Times New Roman" panose="02020603050405020304" pitchFamily="18" charset="0"/>
              </a:rPr>
              <a:t> on chip</a:t>
            </a:r>
          </a:p>
          <a:p>
            <a:pPr algn="just"/>
            <a:r>
              <a:rPr lang="en-IN" dirty="0">
                <a:solidFill>
                  <a:srgbClr val="0070C0"/>
                </a:solidFill>
                <a:latin typeface="Times New Roman" panose="02020603050405020304" pitchFamily="18" charset="0"/>
                <a:cs typeface="Times New Roman" panose="02020603050405020304" pitchFamily="18" charset="0"/>
              </a:rPr>
              <a:t>PD increases </a:t>
            </a:r>
            <a:r>
              <a:rPr lang="en-IN" dirty="0">
                <a:solidFill>
                  <a:srgbClr val="002060"/>
                </a:solidFill>
                <a:latin typeface="Times New Roman" panose="02020603050405020304" pitchFamily="18" charset="0"/>
                <a:cs typeface="Times New Roman" panose="02020603050405020304" pitchFamily="18" charset="0"/>
              </a:rPr>
              <a:t>by clock as the </a:t>
            </a:r>
            <a:r>
              <a:rPr lang="en-IN" dirty="0">
                <a:solidFill>
                  <a:srgbClr val="0070C0"/>
                </a:solidFill>
                <a:latin typeface="Times New Roman" panose="02020603050405020304" pitchFamily="18" charset="0"/>
                <a:cs typeface="Times New Roman" panose="02020603050405020304" pitchFamily="18" charset="0"/>
              </a:rPr>
              <a:t>number of clocked devices </a:t>
            </a:r>
            <a:r>
              <a:rPr lang="en-IN" dirty="0">
                <a:solidFill>
                  <a:srgbClr val="002060"/>
                </a:solidFill>
                <a:latin typeface="Times New Roman" panose="02020603050405020304" pitchFamily="18" charset="0"/>
                <a:cs typeface="Times New Roman" panose="02020603050405020304" pitchFamily="18" charset="0"/>
              </a:rPr>
              <a:t>and </a:t>
            </a:r>
            <a:r>
              <a:rPr lang="en-IN" dirty="0">
                <a:solidFill>
                  <a:srgbClr val="0070C0"/>
                </a:solidFill>
                <a:latin typeface="Times New Roman" panose="02020603050405020304" pitchFamily="18" charset="0"/>
                <a:cs typeface="Times New Roman" panose="02020603050405020304" pitchFamily="18" charset="0"/>
              </a:rPr>
              <a:t>chip dimension increases.</a:t>
            </a:r>
          </a:p>
          <a:p>
            <a:pPr algn="just"/>
            <a:r>
              <a:rPr lang="en-IN" dirty="0">
                <a:solidFill>
                  <a:srgbClr val="0070C0"/>
                </a:solidFill>
                <a:latin typeface="Times New Roman" panose="02020603050405020304" pitchFamily="18" charset="0"/>
                <a:cs typeface="Times New Roman" panose="02020603050405020304" pitchFamily="18" charset="0"/>
              </a:rPr>
              <a:t>Global clock effects 30-40% </a:t>
            </a:r>
            <a:r>
              <a:rPr lang="en-IN" dirty="0">
                <a:solidFill>
                  <a:srgbClr val="002060"/>
                </a:solidFill>
                <a:latin typeface="Times New Roman" panose="02020603050405020304" pitchFamily="18" charset="0"/>
                <a:cs typeface="Times New Roman" panose="02020603050405020304" pitchFamily="18" charset="0"/>
              </a:rPr>
              <a:t>of the total system </a:t>
            </a:r>
            <a:r>
              <a:rPr lang="en-IN" dirty="0">
                <a:solidFill>
                  <a:srgbClr val="0070C0"/>
                </a:solidFill>
                <a:latin typeface="Times New Roman" panose="02020603050405020304" pitchFamily="18" charset="0"/>
                <a:cs typeface="Times New Roman" panose="02020603050405020304" pitchFamily="18" charset="0"/>
              </a:rPr>
              <a:t>PD.</a:t>
            </a:r>
          </a:p>
          <a:p>
            <a:pPr algn="just"/>
            <a:r>
              <a:rPr lang="en-IN" dirty="0">
                <a:solidFill>
                  <a:srgbClr val="002060"/>
                </a:solidFill>
                <a:latin typeface="Times New Roman" panose="02020603050405020304" pitchFamily="18" charset="0"/>
                <a:cs typeface="Times New Roman" panose="02020603050405020304" pitchFamily="18" charset="0"/>
              </a:rPr>
              <a:t>For </a:t>
            </a:r>
            <a:r>
              <a:rPr lang="en-IN" dirty="0">
                <a:solidFill>
                  <a:srgbClr val="0070C0"/>
                </a:solidFill>
                <a:latin typeface="Times New Roman" panose="02020603050405020304" pitchFamily="18" charset="0"/>
                <a:cs typeface="Times New Roman" panose="02020603050405020304" pitchFamily="18" charset="0"/>
              </a:rPr>
              <a:t>Low Power </a:t>
            </a:r>
            <a:r>
              <a:rPr lang="en-IN" dirty="0">
                <a:solidFill>
                  <a:srgbClr val="002060"/>
                </a:solidFill>
                <a:latin typeface="Times New Roman" panose="02020603050405020304" pitchFamily="18" charset="0"/>
                <a:cs typeface="Times New Roman" panose="02020603050405020304" pitchFamily="18" charset="0"/>
              </a:rPr>
              <a:t>clock distribution, </a:t>
            </a:r>
            <a:r>
              <a:rPr lang="en-IN" dirty="0">
                <a:solidFill>
                  <a:srgbClr val="0070C0"/>
                </a:solidFill>
                <a:latin typeface="Times New Roman" panose="02020603050405020304" pitchFamily="18" charset="0"/>
                <a:cs typeface="Times New Roman" panose="02020603050405020304" pitchFamily="18" charset="0"/>
              </a:rPr>
              <a:t>less N, less </a:t>
            </a:r>
            <a:r>
              <a:rPr lang="en-IN" dirty="0" err="1">
                <a:solidFill>
                  <a:srgbClr val="0070C0"/>
                </a:solidFill>
                <a:latin typeface="Times New Roman" panose="02020603050405020304" pitchFamily="18" charset="0"/>
                <a:cs typeface="Times New Roman" panose="02020603050405020304" pitchFamily="18" charset="0"/>
              </a:rPr>
              <a:t>Cw</a:t>
            </a:r>
            <a:r>
              <a:rPr lang="en-IN" dirty="0">
                <a:solidFill>
                  <a:srgbClr val="0070C0"/>
                </a:solidFill>
                <a:latin typeface="Times New Roman" panose="02020603050405020304" pitchFamily="18" charset="0"/>
                <a:cs typeface="Times New Roman" panose="02020603050405020304" pitchFamily="18" charset="0"/>
              </a:rPr>
              <a:t>, less Cd</a:t>
            </a:r>
            <a:r>
              <a:rPr lang="en-IN" dirty="0">
                <a:solidFill>
                  <a:srgbClr val="002060"/>
                </a:solidFill>
                <a:latin typeface="Times New Roman" panose="02020603050405020304" pitchFamily="18" charset="0"/>
                <a:cs typeface="Times New Roman" panose="02020603050405020304" pitchFamily="18" charset="0"/>
              </a:rPr>
              <a:t> were chosen.</a:t>
            </a:r>
          </a:p>
          <a:p>
            <a:pPr algn="just"/>
            <a:r>
              <a:rPr lang="en-IN" dirty="0">
                <a:solidFill>
                  <a:srgbClr val="0070C0"/>
                </a:solidFill>
                <a:latin typeface="Times New Roman" panose="02020603050405020304" pitchFamily="18" charset="0"/>
                <a:cs typeface="Times New Roman" panose="02020603050405020304" pitchFamily="18" charset="0"/>
              </a:rPr>
              <a:t>Controlled clock skews </a:t>
            </a:r>
            <a:r>
              <a:rPr lang="en-IN" dirty="0">
                <a:solidFill>
                  <a:srgbClr val="002060"/>
                </a:solidFill>
                <a:latin typeface="Times New Roman" panose="02020603050405020304" pitchFamily="18" charset="0"/>
                <a:cs typeface="Times New Roman" panose="02020603050405020304" pitchFamily="18" charset="0"/>
              </a:rPr>
              <a:t>within </a:t>
            </a:r>
            <a:r>
              <a:rPr lang="en-IN" dirty="0">
                <a:solidFill>
                  <a:srgbClr val="0070C0"/>
                </a:solidFill>
                <a:latin typeface="Times New Roman" panose="02020603050405020304" pitchFamily="18" charset="0"/>
                <a:cs typeface="Times New Roman" panose="02020603050405020304" pitchFamily="18" charset="0"/>
              </a:rPr>
              <a:t>small or tolerable values</a:t>
            </a:r>
            <a:r>
              <a:rPr lang="en-IN" dirty="0">
                <a:solidFill>
                  <a:srgbClr val="002060"/>
                </a:solidFill>
                <a:latin typeface="Times New Roman" panose="02020603050405020304" pitchFamily="18" charset="0"/>
                <a:cs typeface="Times New Roman" panose="02020603050405020304" pitchFamily="18" charset="0"/>
              </a:rPr>
              <a:t>.</a:t>
            </a:r>
          </a:p>
          <a:p>
            <a:pPr algn="just"/>
            <a:r>
              <a:rPr lang="en-IN" dirty="0">
                <a:solidFill>
                  <a:srgbClr val="0070C0"/>
                </a:solidFill>
                <a:latin typeface="Times New Roman" panose="02020603050405020304" pitchFamily="18" charset="0"/>
                <a:cs typeface="Times New Roman" panose="02020603050405020304" pitchFamily="18" charset="0"/>
              </a:rPr>
              <a:t>Clock phase delay </a:t>
            </a:r>
            <a:r>
              <a:rPr lang="en-IN" dirty="0">
                <a:solidFill>
                  <a:srgbClr val="002060"/>
                </a:solidFill>
                <a:latin typeface="Times New Roman" panose="02020603050405020304" pitchFamily="18" charset="0"/>
                <a:cs typeface="Times New Roman" panose="02020603050405020304" pitchFamily="18" charset="0"/>
              </a:rPr>
              <a:t>has to be controlled for better </a:t>
            </a:r>
            <a:r>
              <a:rPr lang="en-IN" dirty="0">
                <a:solidFill>
                  <a:srgbClr val="0070C0"/>
                </a:solidFill>
                <a:latin typeface="Times New Roman" panose="02020603050405020304" pitchFamily="18" charset="0"/>
                <a:cs typeface="Times New Roman" panose="02020603050405020304" pitchFamily="18" charset="0"/>
              </a:rPr>
              <a:t>system throughput</a:t>
            </a:r>
            <a:r>
              <a:rPr lang="en-IN" dirty="0">
                <a:solidFill>
                  <a:srgbClr val="002060"/>
                </a:solidFill>
                <a:latin typeface="Times New Roman" panose="02020603050405020304" pitchFamily="18" charset="0"/>
                <a:cs typeface="Times New Roman" panose="02020603050405020304" pitchFamily="18" charset="0"/>
              </a:rPr>
              <a:t>.</a:t>
            </a:r>
          </a:p>
          <a:p>
            <a:endParaRPr lang="en-IN"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5F5451A-5FEE-46B8-A678-CEB9024B8025}"/>
              </a:ext>
            </a:extLst>
          </p:cNvPr>
          <p:cNvPicPr>
            <a:picLocks noChangeAspect="1"/>
          </p:cNvPicPr>
          <p:nvPr/>
        </p:nvPicPr>
        <p:blipFill>
          <a:blip r:embed="rId2"/>
          <a:stretch>
            <a:fillRect/>
          </a:stretch>
        </p:blipFill>
        <p:spPr>
          <a:xfrm>
            <a:off x="3995590" y="1171964"/>
            <a:ext cx="2724150" cy="628650"/>
          </a:xfrm>
          <a:prstGeom prst="rect">
            <a:avLst/>
          </a:prstGeom>
        </p:spPr>
      </p:pic>
      <p:pic>
        <p:nvPicPr>
          <p:cNvPr id="5" name="Picture 4">
            <a:extLst>
              <a:ext uri="{FF2B5EF4-FFF2-40B4-BE49-F238E27FC236}">
                <a16:creationId xmlns:a16="http://schemas.microsoft.com/office/drawing/2014/main" id="{96CA58E5-B6B1-4EAB-B399-E3DE117441DC}"/>
              </a:ext>
            </a:extLst>
          </p:cNvPr>
          <p:cNvPicPr>
            <a:picLocks noChangeAspect="1"/>
          </p:cNvPicPr>
          <p:nvPr/>
        </p:nvPicPr>
        <p:blipFill>
          <a:blip r:embed="rId3"/>
          <a:stretch>
            <a:fillRect/>
          </a:stretch>
        </p:blipFill>
        <p:spPr>
          <a:xfrm>
            <a:off x="4920343" y="2106354"/>
            <a:ext cx="4791075" cy="552450"/>
          </a:xfrm>
          <a:prstGeom prst="rect">
            <a:avLst/>
          </a:prstGeom>
        </p:spPr>
      </p:pic>
    </p:spTree>
    <p:extLst>
      <p:ext uri="{BB962C8B-B14F-4D97-AF65-F5344CB8AC3E}">
        <p14:creationId xmlns:p14="http://schemas.microsoft.com/office/powerpoint/2010/main" val="1576758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9427"/>
          </a:xfrm>
        </p:spPr>
        <p:txBody>
          <a:bodyPr>
            <a:normAutofit fontScale="90000"/>
          </a:bodyPr>
          <a:lstStyle/>
          <a:p>
            <a:r>
              <a:rPr lang="en-IN" dirty="0">
                <a:solidFill>
                  <a:srgbClr val="FF0000"/>
                </a:solidFill>
                <a:latin typeface="Times New Roman" panose="02020603050405020304" pitchFamily="18" charset="0"/>
                <a:cs typeface="Times New Roman" panose="02020603050405020304" pitchFamily="18" charset="0"/>
              </a:rPr>
              <a:t>Clock Skew</a:t>
            </a:r>
            <a:endParaRPr lang="en-IN" dirty="0"/>
          </a:p>
        </p:txBody>
      </p:sp>
      <p:sp>
        <p:nvSpPr>
          <p:cNvPr id="3" name="Content Placeholder 2"/>
          <p:cNvSpPr>
            <a:spLocks noGrp="1"/>
          </p:cNvSpPr>
          <p:nvPr>
            <p:ph idx="1"/>
          </p:nvPr>
        </p:nvSpPr>
        <p:spPr>
          <a:xfrm>
            <a:off x="838200" y="1429555"/>
            <a:ext cx="10515600" cy="4546242"/>
          </a:xfrm>
        </p:spPr>
        <p:txBody>
          <a:bodyPr>
            <a:normAutofit fontScale="25000" lnSpcReduction="20000"/>
          </a:bodyPr>
          <a:lstStyle/>
          <a:p>
            <a:pPr fontAlgn="base"/>
            <a:r>
              <a:rPr lang="en-IN" sz="8000" dirty="0">
                <a:latin typeface="Times New Roman" panose="02020603050405020304" pitchFamily="18" charset="0"/>
                <a:cs typeface="Times New Roman" panose="02020603050405020304" pitchFamily="18" charset="0"/>
              </a:rPr>
              <a:t>The difference between arrival times of clocks at different devices is called Clock skew.</a:t>
            </a:r>
          </a:p>
          <a:p>
            <a:pPr fontAlgn="base"/>
            <a:r>
              <a:rPr lang="en-IN" sz="8000" b="1" dirty="0">
                <a:latin typeface="Times New Roman" panose="02020603050405020304" pitchFamily="18" charset="0"/>
                <a:cs typeface="Times New Roman" panose="02020603050405020304" pitchFamily="18" charset="0"/>
              </a:rPr>
              <a:t>Factors causing Clock Skew :</a:t>
            </a:r>
            <a:r>
              <a:rPr lang="en-IN" sz="8000" dirty="0">
                <a:latin typeface="Times New Roman" panose="02020603050405020304" pitchFamily="18" charset="0"/>
                <a:cs typeface="Times New Roman" panose="02020603050405020304" pitchFamily="18" charset="0"/>
              </a:rPr>
              <a:t>  </a:t>
            </a:r>
          </a:p>
          <a:p>
            <a:pPr lvl="1" fontAlgn="base"/>
            <a:r>
              <a:rPr lang="en-IN" sz="8000" dirty="0">
                <a:latin typeface="Times New Roman" panose="02020603050405020304" pitchFamily="18" charset="0"/>
                <a:cs typeface="Times New Roman" panose="02020603050405020304" pitchFamily="18" charset="0"/>
              </a:rPr>
              <a:t>Interconnect Length  </a:t>
            </a:r>
          </a:p>
          <a:p>
            <a:pPr lvl="1" fontAlgn="base"/>
            <a:r>
              <a:rPr lang="en-IN" sz="8000" dirty="0">
                <a:latin typeface="Times New Roman" panose="02020603050405020304" pitchFamily="18" charset="0"/>
                <a:cs typeface="Times New Roman" panose="02020603050405020304" pitchFamily="18" charset="0"/>
              </a:rPr>
              <a:t>Temperature Variations  </a:t>
            </a:r>
          </a:p>
          <a:p>
            <a:pPr lvl="1" fontAlgn="base"/>
            <a:r>
              <a:rPr lang="en-IN" sz="8000" dirty="0">
                <a:latin typeface="Times New Roman" panose="02020603050405020304" pitchFamily="18" charset="0"/>
                <a:cs typeface="Times New Roman" panose="02020603050405020304" pitchFamily="18" charset="0"/>
              </a:rPr>
              <a:t>Capacitive Coupling  </a:t>
            </a:r>
          </a:p>
          <a:p>
            <a:pPr lvl="1" fontAlgn="base"/>
            <a:r>
              <a:rPr lang="en-IN" sz="8000" dirty="0">
                <a:latin typeface="Times New Roman" panose="02020603050405020304" pitchFamily="18" charset="0"/>
                <a:cs typeface="Times New Roman" panose="02020603050405020304" pitchFamily="18" charset="0"/>
              </a:rPr>
              <a:t>Material Imperfections  </a:t>
            </a:r>
          </a:p>
          <a:p>
            <a:pPr lvl="1" fontAlgn="base"/>
            <a:r>
              <a:rPr lang="en-IN" sz="8000" dirty="0">
                <a:latin typeface="Times New Roman" panose="02020603050405020304" pitchFamily="18" charset="0"/>
                <a:cs typeface="Times New Roman" panose="02020603050405020304" pitchFamily="18" charset="0"/>
              </a:rPr>
              <a:t>Differences in input capacitance on the clock inputs  </a:t>
            </a:r>
          </a:p>
          <a:p>
            <a:pPr lvl="1" fontAlgn="base"/>
            <a:endParaRPr lang="en-IN" sz="8000" dirty="0">
              <a:latin typeface="Times New Roman" panose="02020603050405020304" pitchFamily="18" charset="0"/>
              <a:cs typeface="Times New Roman" panose="02020603050405020304" pitchFamily="18" charset="0"/>
            </a:endParaRPr>
          </a:p>
          <a:p>
            <a:pPr fontAlgn="base"/>
            <a:r>
              <a:rPr lang="en-IN" sz="8000" b="1" dirty="0">
                <a:latin typeface="Times New Roman" panose="02020603050405020304" pitchFamily="18" charset="0"/>
                <a:cs typeface="Times New Roman" panose="02020603050405020304" pitchFamily="18" charset="0"/>
              </a:rPr>
              <a:t>Types of Clock Skew :</a:t>
            </a:r>
            <a:r>
              <a:rPr lang="en-IN" sz="8000" dirty="0">
                <a:latin typeface="Times New Roman" panose="02020603050405020304" pitchFamily="18" charset="0"/>
                <a:cs typeface="Times New Roman" panose="02020603050405020304" pitchFamily="18" charset="0"/>
              </a:rPr>
              <a:t>  </a:t>
            </a:r>
          </a:p>
          <a:p>
            <a:pPr lvl="1" fontAlgn="base"/>
            <a:r>
              <a:rPr lang="en-IN" sz="7600" b="1" dirty="0">
                <a:latin typeface="Times New Roman" panose="02020603050405020304" pitchFamily="18" charset="0"/>
                <a:cs typeface="Times New Roman" panose="02020603050405020304" pitchFamily="18" charset="0"/>
              </a:rPr>
              <a:t>Positive Skew </a:t>
            </a:r>
            <a:r>
              <a:rPr lang="en-IN" sz="7600" dirty="0">
                <a:latin typeface="Times New Roman" panose="02020603050405020304" pitchFamily="18" charset="0"/>
                <a:cs typeface="Times New Roman" panose="02020603050405020304" pitchFamily="18" charset="0"/>
              </a:rPr>
              <a:t> </a:t>
            </a:r>
            <a:br>
              <a:rPr lang="en-IN" sz="7600" dirty="0">
                <a:latin typeface="Times New Roman" panose="02020603050405020304" pitchFamily="18" charset="0"/>
                <a:cs typeface="Times New Roman" panose="02020603050405020304" pitchFamily="18" charset="0"/>
              </a:rPr>
            </a:br>
            <a:r>
              <a:rPr lang="en-IN" sz="7600" dirty="0">
                <a:latin typeface="Times New Roman" panose="02020603050405020304" pitchFamily="18" charset="0"/>
                <a:cs typeface="Times New Roman" panose="02020603050405020304" pitchFamily="18" charset="0"/>
              </a:rPr>
              <a:t> </a:t>
            </a:r>
          </a:p>
          <a:p>
            <a:pPr lvl="1" fontAlgn="base"/>
            <a:r>
              <a:rPr lang="en-IN" sz="7600" b="1" dirty="0">
                <a:latin typeface="Times New Roman" panose="02020603050405020304" pitchFamily="18" charset="0"/>
                <a:cs typeface="Times New Roman" panose="02020603050405020304" pitchFamily="18" charset="0"/>
              </a:rPr>
              <a:t>Negative Skew</a:t>
            </a:r>
            <a:r>
              <a:rPr lang="en-IN" sz="7600" dirty="0">
                <a:latin typeface="Times New Roman" panose="02020603050405020304" pitchFamily="18" charset="0"/>
                <a:cs typeface="Times New Roman" panose="02020603050405020304" pitchFamily="18" charset="0"/>
              </a:rPr>
              <a:t> </a:t>
            </a:r>
            <a:br>
              <a:rPr lang="en-IN" sz="7600" dirty="0">
                <a:latin typeface="Times New Roman" panose="02020603050405020304" pitchFamily="18" charset="0"/>
                <a:cs typeface="Times New Roman" panose="02020603050405020304" pitchFamily="18" charset="0"/>
              </a:rPr>
            </a:br>
            <a:endParaRPr lang="en-IN" dirty="0"/>
          </a:p>
          <a:p>
            <a:endParaRPr lang="en-IN" dirty="0"/>
          </a:p>
        </p:txBody>
      </p:sp>
    </p:spTree>
    <p:extLst>
      <p:ext uri="{BB962C8B-B14F-4D97-AF65-F5344CB8AC3E}">
        <p14:creationId xmlns:p14="http://schemas.microsoft.com/office/powerpoint/2010/main" val="3840433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3669"/>
          </a:xfrm>
        </p:spPr>
        <p:txBody>
          <a:bodyPr>
            <a:normAutofit fontScale="90000"/>
          </a:bodyPr>
          <a:lstStyle/>
          <a:p>
            <a:endParaRPr lang="en-IN" dirty="0">
              <a:solidFill>
                <a:srgbClr val="FF0000"/>
              </a:solidFill>
              <a:latin typeface="Times New Roman" panose="02020603050405020304" pitchFamily="18" charset="0"/>
              <a:cs typeface="Times New Roman" panose="02020603050405020304" pitchFamily="18" charset="0"/>
            </a:endParaRPr>
          </a:p>
        </p:txBody>
      </p:sp>
      <p:pic>
        <p:nvPicPr>
          <p:cNvPr id="2050" name="Picture 2" descr="Positive clock Ske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2276" y="0"/>
            <a:ext cx="10728101" cy="613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678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098" name="Picture 2" descr="Negative clock Ske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701" y="180304"/>
            <a:ext cx="10534919" cy="5937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323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97736" y="1481068"/>
            <a:ext cx="9684912" cy="3915179"/>
          </a:xfrm>
          <a:prstGeom prst="rect">
            <a:avLst/>
          </a:prstGeom>
        </p:spPr>
      </p:pic>
      <p:sp>
        <p:nvSpPr>
          <p:cNvPr id="3" name="Title 1"/>
          <p:cNvSpPr>
            <a:spLocks noGrp="1"/>
          </p:cNvSpPr>
          <p:nvPr>
            <p:ph type="title"/>
          </p:nvPr>
        </p:nvSpPr>
        <p:spPr>
          <a:xfrm>
            <a:off x="838200" y="365125"/>
            <a:ext cx="10515600" cy="639427"/>
          </a:xfrm>
        </p:spPr>
        <p:txBody>
          <a:bodyPr>
            <a:normAutofit fontScale="90000"/>
          </a:bodyPr>
          <a:lstStyle/>
          <a:p>
            <a:r>
              <a:rPr lang="en-IN" dirty="0">
                <a:solidFill>
                  <a:srgbClr val="FF0000"/>
                </a:solidFill>
                <a:latin typeface="Times New Roman" panose="02020603050405020304" pitchFamily="18" charset="0"/>
                <a:cs typeface="Times New Roman" panose="02020603050405020304" pitchFamily="18" charset="0"/>
              </a:rPr>
              <a:t>Setup time Violation</a:t>
            </a:r>
            <a:endParaRPr lang="en-IN" dirty="0"/>
          </a:p>
        </p:txBody>
      </p:sp>
      <p:sp>
        <p:nvSpPr>
          <p:cNvPr id="5" name="TextBox 4">
            <a:extLst>
              <a:ext uri="{FF2B5EF4-FFF2-40B4-BE49-F238E27FC236}">
                <a16:creationId xmlns:a16="http://schemas.microsoft.com/office/drawing/2014/main" id="{5FAEA8D1-1191-7090-4B6B-09B9B944E51B}"/>
              </a:ext>
            </a:extLst>
          </p:cNvPr>
          <p:cNvSpPr txBox="1"/>
          <p:nvPr/>
        </p:nvSpPr>
        <p:spPr>
          <a:xfrm>
            <a:off x="1309352" y="5053766"/>
            <a:ext cx="9684912"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setup time violation</a:t>
            </a:r>
            <a:r>
              <a:rPr lang="en-US" dirty="0">
                <a:latin typeface="Times New Roman" panose="02020603050405020304" pitchFamily="18" charset="0"/>
                <a:cs typeface="Times New Roman" panose="02020603050405020304" pitchFamily="18" charset="0"/>
              </a:rPr>
              <a:t> occurs when the input data to a flip-flop does not remain stable for the required </a:t>
            </a:r>
            <a:r>
              <a:rPr lang="en-US" b="1" dirty="0">
                <a:latin typeface="Times New Roman" panose="02020603050405020304" pitchFamily="18" charset="0"/>
                <a:cs typeface="Times New Roman" panose="02020603050405020304" pitchFamily="18" charset="0"/>
              </a:rPr>
              <a:t>setup time (tₛᵤ)</a:t>
            </a:r>
            <a:r>
              <a:rPr lang="en-US" dirty="0">
                <a:latin typeface="Times New Roman" panose="02020603050405020304" pitchFamily="18" charset="0"/>
                <a:cs typeface="Times New Roman" panose="02020603050405020304" pitchFamily="18" charset="0"/>
              </a:rPr>
              <a:t> before the active clock edge.</a:t>
            </a:r>
          </a:p>
        </p:txBody>
      </p:sp>
    </p:spTree>
    <p:extLst>
      <p:ext uri="{BB962C8B-B14F-4D97-AF65-F5344CB8AC3E}">
        <p14:creationId xmlns:p14="http://schemas.microsoft.com/office/powerpoint/2010/main" val="2536556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CEFD41-3E5D-08C8-104B-C227DC038665}"/>
              </a:ext>
            </a:extLst>
          </p:cNvPr>
          <p:cNvPicPr>
            <a:picLocks noChangeAspect="1"/>
          </p:cNvPicPr>
          <p:nvPr/>
        </p:nvPicPr>
        <p:blipFill>
          <a:blip r:embed="rId2"/>
          <a:stretch>
            <a:fillRect/>
          </a:stretch>
        </p:blipFill>
        <p:spPr>
          <a:xfrm>
            <a:off x="1512711" y="831232"/>
            <a:ext cx="8252178" cy="5195535"/>
          </a:xfrm>
          <a:prstGeom prst="rect">
            <a:avLst/>
          </a:prstGeom>
        </p:spPr>
      </p:pic>
    </p:spTree>
    <p:extLst>
      <p:ext uri="{BB962C8B-B14F-4D97-AF65-F5344CB8AC3E}">
        <p14:creationId xmlns:p14="http://schemas.microsoft.com/office/powerpoint/2010/main" val="250906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BFCA4B3-0A45-92AF-23E8-ADD518B1E3AD}"/>
              </a:ext>
            </a:extLst>
          </p:cNvPr>
          <p:cNvSpPr txBox="1"/>
          <p:nvPr/>
        </p:nvSpPr>
        <p:spPr>
          <a:xfrm>
            <a:off x="1140178" y="338668"/>
            <a:ext cx="3826933" cy="618630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Causes of Setup Violation: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combinational delay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Large clock skew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Increased routing delay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operating frequency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Process/Voltage/Temperature (PVT) variations</a:t>
            </a: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Effects: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Wrong data captured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Metastability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Functional failure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crash in high-speed designs</a:t>
            </a:r>
          </a:p>
          <a:p>
            <a:pPr>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Methods to Fix Setup Violation:</a:t>
            </a:r>
          </a:p>
          <a:p>
            <a:pPr>
              <a:buNone/>
            </a:pPr>
            <a:r>
              <a:rPr lang="en-US" dirty="0">
                <a:latin typeface="Times New Roman" panose="02020603050405020304" pitchFamily="18" charset="0"/>
                <a:cs typeface="Times New Roman" panose="02020603050405020304" pitchFamily="18" charset="0"/>
              </a:rPr>
              <a:t>✔ Reduce combinational delay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Add pipeline registers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Reduce clock frequency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Improve clock skew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 faster cells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Optimize placement and routing</a:t>
            </a:r>
          </a:p>
        </p:txBody>
      </p:sp>
    </p:spTree>
    <p:extLst>
      <p:ext uri="{BB962C8B-B14F-4D97-AF65-F5344CB8AC3E}">
        <p14:creationId xmlns:p14="http://schemas.microsoft.com/office/powerpoint/2010/main" val="3966987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96980" y="1300766"/>
            <a:ext cx="9350062" cy="4072128"/>
          </a:xfrm>
          <a:prstGeom prst="rect">
            <a:avLst/>
          </a:prstGeom>
        </p:spPr>
      </p:pic>
      <p:sp>
        <p:nvSpPr>
          <p:cNvPr id="3" name="Title 1"/>
          <p:cNvSpPr>
            <a:spLocks noGrp="1"/>
          </p:cNvSpPr>
          <p:nvPr>
            <p:ph type="title"/>
          </p:nvPr>
        </p:nvSpPr>
        <p:spPr>
          <a:xfrm>
            <a:off x="838200" y="365125"/>
            <a:ext cx="10515600" cy="639427"/>
          </a:xfrm>
        </p:spPr>
        <p:txBody>
          <a:bodyPr>
            <a:normAutofit fontScale="90000"/>
          </a:bodyPr>
          <a:lstStyle/>
          <a:p>
            <a:r>
              <a:rPr lang="en-IN" dirty="0">
                <a:solidFill>
                  <a:srgbClr val="FF0000"/>
                </a:solidFill>
                <a:latin typeface="Times New Roman" panose="02020603050405020304" pitchFamily="18" charset="0"/>
                <a:cs typeface="Times New Roman" panose="02020603050405020304" pitchFamily="18" charset="0"/>
              </a:rPr>
              <a:t>Hold time Violation</a:t>
            </a:r>
            <a:endParaRPr lang="en-IN" dirty="0"/>
          </a:p>
        </p:txBody>
      </p:sp>
      <p:sp>
        <p:nvSpPr>
          <p:cNvPr id="5" name="TextBox 4">
            <a:extLst>
              <a:ext uri="{FF2B5EF4-FFF2-40B4-BE49-F238E27FC236}">
                <a16:creationId xmlns:a16="http://schemas.microsoft.com/office/drawing/2014/main" id="{6AA28ED4-7E4C-6CF4-3961-038A5548728E}"/>
              </a:ext>
            </a:extLst>
          </p:cNvPr>
          <p:cNvSpPr txBox="1"/>
          <p:nvPr/>
        </p:nvSpPr>
        <p:spPr>
          <a:xfrm>
            <a:off x="699912" y="5207443"/>
            <a:ext cx="9895108"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hold time violation</a:t>
            </a:r>
            <a:r>
              <a:rPr lang="en-US" sz="2000" dirty="0">
                <a:latin typeface="Times New Roman" panose="02020603050405020304" pitchFamily="18" charset="0"/>
                <a:cs typeface="Times New Roman" panose="02020603050405020304" pitchFamily="18" charset="0"/>
              </a:rPr>
              <a:t> occurs when the input data to a flip-flop changes too soon </a:t>
            </a:r>
            <a:r>
              <a:rPr lang="en-US" sz="2000" b="1" dirty="0">
                <a:latin typeface="Times New Roman" panose="02020603050405020304" pitchFamily="18" charset="0"/>
                <a:cs typeface="Times New Roman" panose="02020603050405020304" pitchFamily="18" charset="0"/>
              </a:rPr>
              <a:t>after</a:t>
            </a:r>
            <a:r>
              <a:rPr lang="en-US" sz="2000" dirty="0">
                <a:latin typeface="Times New Roman" panose="02020603050405020304" pitchFamily="18" charset="0"/>
                <a:cs typeface="Times New Roman" panose="02020603050405020304" pitchFamily="18" charset="0"/>
              </a:rPr>
              <a:t> the active clock edge, violating the required </a:t>
            </a:r>
            <a:r>
              <a:rPr lang="en-US" sz="2000" b="1" dirty="0">
                <a:latin typeface="Times New Roman" panose="02020603050405020304" pitchFamily="18" charset="0"/>
                <a:cs typeface="Times New Roman" panose="02020603050405020304" pitchFamily="18" charset="0"/>
              </a:rPr>
              <a:t>hold time (tₕ)</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7774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9DF315-641F-BC1D-ECF1-5862D9F03C0D}"/>
              </a:ext>
            </a:extLst>
          </p:cNvPr>
          <p:cNvPicPr>
            <a:picLocks noGrp="1" noChangeAspect="1"/>
          </p:cNvPicPr>
          <p:nvPr>
            <p:ph idx="1"/>
          </p:nvPr>
        </p:nvPicPr>
        <p:blipFill>
          <a:blip r:embed="rId2"/>
          <a:stretch>
            <a:fillRect/>
          </a:stretch>
        </p:blipFill>
        <p:spPr>
          <a:xfrm>
            <a:off x="1422399" y="1192125"/>
            <a:ext cx="8737599" cy="4757119"/>
          </a:xfrm>
          <a:prstGeom prst="rect">
            <a:avLst/>
          </a:prstGeom>
        </p:spPr>
      </p:pic>
    </p:spTree>
    <p:extLst>
      <p:ext uri="{BB962C8B-B14F-4D97-AF65-F5344CB8AC3E}">
        <p14:creationId xmlns:p14="http://schemas.microsoft.com/office/powerpoint/2010/main" val="3153231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FD1ED-B4BF-33B6-4C6D-D822921F279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258BA11-C9E1-C9E4-E0DB-2A554ABF05F1}"/>
              </a:ext>
            </a:extLst>
          </p:cNvPr>
          <p:cNvSpPr txBox="1"/>
          <p:nvPr/>
        </p:nvSpPr>
        <p:spPr>
          <a:xfrm>
            <a:off x="553156" y="477167"/>
            <a:ext cx="7010400" cy="5909310"/>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Causes of Hold Violation: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Very small combinational delay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 data path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Negative clock skew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Technology scaling (short channel effects)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PVT variations</a:t>
            </a: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Effects: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corruption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Metastability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Unstable system behavior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Difficult-to-debug timing errors</a:t>
            </a: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 Methods to Fix Hold Violation:</a:t>
            </a:r>
          </a:p>
          <a:p>
            <a:pPr>
              <a:buNone/>
            </a:pPr>
            <a:r>
              <a:rPr lang="en-US" dirty="0">
                <a:latin typeface="Times New Roman" panose="02020603050405020304" pitchFamily="18" charset="0"/>
                <a:cs typeface="Times New Roman" panose="02020603050405020304" pitchFamily="18" charset="0"/>
              </a:rPr>
              <a:t>✔ Add delay buffers in data path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Increase combinational delay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Adjust clock skew (reduce negative skew)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 slower cells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Routing delay insertion</a:t>
            </a:r>
          </a:p>
        </p:txBody>
      </p:sp>
    </p:spTree>
    <p:extLst>
      <p:ext uri="{BB962C8B-B14F-4D97-AF65-F5344CB8AC3E}">
        <p14:creationId xmlns:p14="http://schemas.microsoft.com/office/powerpoint/2010/main" val="3346991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AC18-5ACF-11E8-89CC-F397D559109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3.2 Introduction</a:t>
            </a:r>
          </a:p>
        </p:txBody>
      </p:sp>
      <p:sp>
        <p:nvSpPr>
          <p:cNvPr id="3" name="Content Placeholder 2">
            <a:extLst>
              <a:ext uri="{FF2B5EF4-FFF2-40B4-BE49-F238E27FC236}">
                <a16:creationId xmlns:a16="http://schemas.microsoft.com/office/drawing/2014/main" id="{CE255F26-0F37-F6C8-9ADD-0227829368A2}"/>
              </a:ext>
            </a:extLst>
          </p:cNvPr>
          <p:cNvSpPr>
            <a:spLocks noGrp="1"/>
          </p:cNvSpPr>
          <p:nvPr>
            <p:ph idx="1"/>
          </p:nvPr>
        </p:nvSpPr>
        <p:spPr>
          <a:xfrm>
            <a:off x="1055803" y="1747101"/>
            <a:ext cx="10774836" cy="3777622"/>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design of digital integrated circuits in VLSI systems can be realized using various logic design styles, each offering different trade-offs in terms of speed, power consumption, transistor count, area, noise immunity, and design complexity.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technology scales into deep submicron and nanometer regimes, the choice of logic style plays a critical role in determining overall system performance and energy efficiency.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Broadly, logic circuits are classified into:</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Clocked (Dynamic) Logic Design</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Non-Clocked (Static) Logic Design</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30F6C45-1AD6-F5AC-28B0-097122D6089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668838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C0180-0858-08FB-BF60-85DA2F90E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82B62-1B73-E1FF-0141-7ECC9FF99AB7}"/>
              </a:ext>
            </a:extLst>
          </p:cNvPr>
          <p:cNvSpPr>
            <a:spLocks noGrp="1"/>
          </p:cNvSpPr>
          <p:nvPr>
            <p:ph type="title"/>
          </p:nvPr>
        </p:nvSpPr>
        <p:spPr>
          <a:xfrm>
            <a:off x="1761134" y="466211"/>
            <a:ext cx="8911687" cy="665005"/>
          </a:xfrm>
        </p:spPr>
        <p:txBody>
          <a:bodyPr/>
          <a:lstStyle/>
          <a:p>
            <a:r>
              <a:rPr lang="en-IN" b="1" dirty="0">
                <a:latin typeface="Times New Roman" panose="02020603050405020304" pitchFamily="18" charset="0"/>
                <a:cs typeface="Times New Roman" panose="02020603050405020304" pitchFamily="18" charset="0"/>
              </a:rPr>
              <a:t>3.2.1 Non Clocked Logic Design</a:t>
            </a:r>
          </a:p>
        </p:txBody>
      </p:sp>
      <p:sp>
        <p:nvSpPr>
          <p:cNvPr id="3" name="Content Placeholder 2">
            <a:extLst>
              <a:ext uri="{FF2B5EF4-FFF2-40B4-BE49-F238E27FC236}">
                <a16:creationId xmlns:a16="http://schemas.microsoft.com/office/drawing/2014/main" id="{0771007F-DE9A-E494-912E-D15824C9C95B}"/>
              </a:ext>
            </a:extLst>
          </p:cNvPr>
          <p:cNvSpPr>
            <a:spLocks noGrp="1"/>
          </p:cNvSpPr>
          <p:nvPr>
            <p:ph idx="1"/>
          </p:nvPr>
        </p:nvSpPr>
        <p:spPr>
          <a:xfrm>
            <a:off x="1055803" y="1216058"/>
            <a:ext cx="10774836" cy="4732255"/>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Non-clocked logic design refers to digital circuit styles that operate without the use of a global clock signal, where the output depends solely on the instantaneous values of the input signals.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non-clocked logic circuits, computation occurs continuously and immediately after input transitions, eliminating the need for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and evaluation phases.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logic styles are typically implemented using static circuit techniques, where complementary pull-up and pull-down networks ensure full voltage swing and reliable logic levels.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clocked dynamic logic, non-clocked logic does not rely on charge storage on capacitive nodes, thereby providing better noise margins and improved robustness against leakage and charge sharing effects.</a:t>
            </a:r>
          </a:p>
          <a:p>
            <a:pPr marL="0" indent="0" algn="just">
              <a:buNone/>
            </a:pPr>
            <a:endParaRPr lang="en-IN"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B82FD23-83ED-90D4-9B35-EBAC83A9149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196941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5F12-E61B-FA62-93D7-E6DA9D148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FE18F-9180-A44A-AC7C-8CC516E3C12C}"/>
              </a:ext>
            </a:extLst>
          </p:cNvPr>
          <p:cNvSpPr>
            <a:spLocks noGrp="1"/>
          </p:cNvSpPr>
          <p:nvPr>
            <p:ph type="title"/>
          </p:nvPr>
        </p:nvSpPr>
        <p:spPr>
          <a:xfrm>
            <a:off x="1761134" y="466211"/>
            <a:ext cx="8911687" cy="665005"/>
          </a:xfrm>
        </p:spPr>
        <p:txBody>
          <a:bodyPr/>
          <a:lstStyle/>
          <a:p>
            <a:r>
              <a:rPr lang="en-IN" b="1" dirty="0">
                <a:latin typeface="Times New Roman" panose="02020603050405020304" pitchFamily="18" charset="0"/>
                <a:cs typeface="Times New Roman" panose="02020603050405020304" pitchFamily="18" charset="0"/>
              </a:rPr>
              <a:t>Non Clocked Logic Design</a:t>
            </a:r>
          </a:p>
        </p:txBody>
      </p:sp>
      <p:sp>
        <p:nvSpPr>
          <p:cNvPr id="3" name="Content Placeholder 2">
            <a:extLst>
              <a:ext uri="{FF2B5EF4-FFF2-40B4-BE49-F238E27FC236}">
                <a16:creationId xmlns:a16="http://schemas.microsoft.com/office/drawing/2014/main" id="{3CB50D3B-EF7B-9B0F-F5A2-F90FDCC79062}"/>
              </a:ext>
            </a:extLst>
          </p:cNvPr>
          <p:cNvSpPr>
            <a:spLocks noGrp="1"/>
          </p:cNvSpPr>
          <p:nvPr>
            <p:ph idx="1"/>
          </p:nvPr>
        </p:nvSpPr>
        <p:spPr>
          <a:xfrm>
            <a:off x="1055803" y="1216058"/>
            <a:ext cx="10774836" cy="4732255"/>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Non-clocked logic design generally exhibits higher reliability and simpler timing requirements, as there is no need for clock distribution, clock skew management, or synchronization constraints.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such logic styles may require a larger number of transistors compared to dynamic logic, especially in high fan-in implementations.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Common examples of non-clocked logic include fully complementary CMOS logic, NMOS logic, pseudo-NMOS logic, Differential Cascade Voltage Switch Logic (DCVSL), and Pass Transistor Logic.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their stability, simplicity, and robustness, non-clocked logic styles are widely used in general-purpose digital circuits and low-power applications.</a:t>
            </a:r>
          </a:p>
          <a:p>
            <a:pPr marL="0" indent="0" algn="just">
              <a:buNone/>
            </a:pPr>
            <a:endParaRPr lang="en-IN"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1A26FD6-DBCB-FC96-0961-49C76ADB573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124670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004DD-3F3F-599F-8C88-54F15AD1E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51F01-01BB-FE64-9295-1BE877FF732A}"/>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Non Clocked Logic Design</a:t>
            </a:r>
          </a:p>
        </p:txBody>
      </p:sp>
      <p:sp>
        <p:nvSpPr>
          <p:cNvPr id="3" name="Content Placeholder 2">
            <a:extLst>
              <a:ext uri="{FF2B5EF4-FFF2-40B4-BE49-F238E27FC236}">
                <a16:creationId xmlns:a16="http://schemas.microsoft.com/office/drawing/2014/main" id="{38B51F2B-C3C1-8A44-2794-1E8D9607A002}"/>
              </a:ext>
            </a:extLst>
          </p:cNvPr>
          <p:cNvSpPr>
            <a:spLocks noGrp="1"/>
          </p:cNvSpPr>
          <p:nvPr>
            <p:ph idx="1"/>
          </p:nvPr>
        </p:nvSpPr>
        <p:spPr>
          <a:xfrm>
            <a:off x="1055803" y="1747101"/>
            <a:ext cx="10774836" cy="4201212"/>
          </a:xfrm>
        </p:spPr>
        <p:txBody>
          <a:bodyPr>
            <a:noAutofit/>
          </a:bodyPr>
          <a:lstStyle/>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CMOS logic</a:t>
            </a:r>
          </a:p>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NMOS logic</a:t>
            </a:r>
          </a:p>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Pseudo NMOS logic</a:t>
            </a:r>
          </a:p>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Pass Transistor logic</a:t>
            </a:r>
          </a:p>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Differential cascade voltage switch logic</a:t>
            </a:r>
          </a:p>
          <a:p>
            <a:pPr marL="0" indent="0" algn="just">
              <a:buNone/>
            </a:pPr>
            <a:endParaRPr lang="en-IN"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7448588-95D0-FE0F-8B32-DE39A6510A62}"/>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966778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40547-2CB7-8532-C6B7-B604ECC0A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211DF-03F2-BF62-79BD-2D1584736FF5}"/>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1.CMOS Logic</a:t>
            </a:r>
          </a:p>
        </p:txBody>
      </p:sp>
      <p:sp>
        <p:nvSpPr>
          <p:cNvPr id="3" name="Content Placeholder 2">
            <a:extLst>
              <a:ext uri="{FF2B5EF4-FFF2-40B4-BE49-F238E27FC236}">
                <a16:creationId xmlns:a16="http://schemas.microsoft.com/office/drawing/2014/main" id="{647F7740-1D0C-D787-FDC1-C5BB879B85FE}"/>
              </a:ext>
            </a:extLst>
          </p:cNvPr>
          <p:cNvSpPr>
            <a:spLocks noGrp="1"/>
          </p:cNvSpPr>
          <p:nvPr>
            <p:ph idx="1"/>
          </p:nvPr>
        </p:nvSpPr>
        <p:spPr>
          <a:xfrm>
            <a:off x="1055803" y="1282045"/>
            <a:ext cx="10774836" cy="46662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static CMOS gate is a combination of two networks, called the pull-up network (PUN) and the pull-down network.</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function of the PUN is to provide a connection between the output and VDD anytime the output of the logic gate is meant to be 1 (based on the inputs).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Similarly, the function of the PDN is to connect the output to VSS when the output of the logic gate is meant to be 0.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PUN and PDN networks are constructed in a mutually exclusive fashion such that one and only one of the networks is conducting in steady state.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way, once the transients have settled, a path always exists between VDD and the output F, realizing a high output (“one”) or, alternatively, between VSS and F for a low output (“zero”).</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7A2D857-4B36-3FE7-BA93-E7095028BFA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462430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520926-15C1-4189-4113-7ACBE60BB764}"/>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DBF02C37-4704-862B-2961-0BF1ACB62735}"/>
              </a:ext>
            </a:extLst>
          </p:cNvPr>
          <p:cNvPicPr>
            <a:picLocks noChangeAspect="1"/>
          </p:cNvPicPr>
          <p:nvPr/>
        </p:nvPicPr>
        <p:blipFill>
          <a:blip r:embed="rId2"/>
          <a:stretch>
            <a:fillRect/>
          </a:stretch>
        </p:blipFill>
        <p:spPr>
          <a:xfrm>
            <a:off x="2076568" y="680865"/>
            <a:ext cx="9038103" cy="4214225"/>
          </a:xfrm>
          <a:prstGeom prst="rect">
            <a:avLst/>
          </a:prstGeom>
        </p:spPr>
      </p:pic>
      <p:sp>
        <p:nvSpPr>
          <p:cNvPr id="6" name="TextBox 5">
            <a:extLst>
              <a:ext uri="{FF2B5EF4-FFF2-40B4-BE49-F238E27FC236}">
                <a16:creationId xmlns:a16="http://schemas.microsoft.com/office/drawing/2014/main" id="{80FD8A11-235B-FB48-8473-6D4BE42BA16A}"/>
              </a:ext>
            </a:extLst>
          </p:cNvPr>
          <p:cNvSpPr txBox="1"/>
          <p:nvPr/>
        </p:nvSpPr>
        <p:spPr>
          <a:xfrm>
            <a:off x="1982788" y="5053784"/>
            <a:ext cx="9744155"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1: Complementary logic gate as a combination of a PUN (pull-up network) and a PDN (pull-down network).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274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DBEE-2466-07B3-9804-81486EDB3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0CF41-5A32-C089-4E78-9DF2653CC8AC}"/>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AFE687AF-76C9-F0B1-3EC5-A2D5BC443289}"/>
              </a:ext>
            </a:extLst>
          </p:cNvPr>
          <p:cNvSpPr>
            <a:spLocks noGrp="1"/>
          </p:cNvSpPr>
          <p:nvPr>
            <p:ph idx="1"/>
          </p:nvPr>
        </p:nvSpPr>
        <p:spPr>
          <a:xfrm>
            <a:off x="1055803" y="1282045"/>
            <a:ext cx="10774836" cy="46662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transistor can be thought of as a switch controlled by its gate signal.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NMOS switch is on when the controlling signal is high and is off when the controlling signal is low.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PMOS transistor acts as an inverse switch that is on when the controlling signal is low and off when the controlling signal is high.</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PDN is constructed using NMOS devices, while PMOS transistors are used in the PUN.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primary reason for this choice is that NMOS transistors produce “strong zeros,” and PMOS devices generate “strong ones”.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1CED4F2-2B98-5222-CE4C-D646966DDA7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13616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84CD6-CF30-53C4-3DFB-2A853DEBE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48639-172C-2D82-4F6A-C6B60AFC54B7}"/>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63BA844D-493F-9705-98DB-B7E2DB5C238A}"/>
              </a:ext>
            </a:extLst>
          </p:cNvPr>
          <p:cNvSpPr>
            <a:spLocks noGrp="1"/>
          </p:cNvSpPr>
          <p:nvPr>
            <p:ph idx="1"/>
          </p:nvPr>
        </p:nvSpPr>
        <p:spPr>
          <a:xfrm>
            <a:off x="1055803" y="1282045"/>
            <a:ext cx="10774836" cy="46662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NMOS device pulls the output all the way down to GND, while a PMOS lowers the output no further than |</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Tp</a:t>
            </a:r>
            <a:r>
              <a:rPr lang="en-US" sz="2400" dirty="0">
                <a:latin typeface="Times New Roman" panose="02020603050405020304" pitchFamily="18" charset="0"/>
                <a:cs typeface="Times New Roman" panose="02020603050405020304" pitchFamily="18" charset="0"/>
              </a:rPr>
              <a:t>| - the PMOS turns off at that point, and stops contributing dis charge current.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NMOS transistors are hence the preferred devices in the PDN.</a:t>
            </a: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C7F1C1D-8002-365C-B0D7-38A8CC43BA8D}"/>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69AEEE48-CCC0-B207-173B-B9F973DB6A58}"/>
              </a:ext>
            </a:extLst>
          </p:cNvPr>
          <p:cNvPicPr>
            <a:picLocks noChangeAspect="1"/>
          </p:cNvPicPr>
          <p:nvPr/>
        </p:nvPicPr>
        <p:blipFill>
          <a:blip r:embed="rId2"/>
          <a:stretch>
            <a:fillRect/>
          </a:stretch>
        </p:blipFill>
        <p:spPr>
          <a:xfrm>
            <a:off x="2400130" y="3229944"/>
            <a:ext cx="6637595" cy="1661304"/>
          </a:xfrm>
          <a:prstGeom prst="rect">
            <a:avLst/>
          </a:prstGeom>
        </p:spPr>
      </p:pic>
      <p:sp>
        <p:nvSpPr>
          <p:cNvPr id="8" name="TextBox 7">
            <a:extLst>
              <a:ext uri="{FF2B5EF4-FFF2-40B4-BE49-F238E27FC236}">
                <a16:creationId xmlns:a16="http://schemas.microsoft.com/office/drawing/2014/main" id="{F7EEB334-F7AF-F709-043E-55C41A198D7C}"/>
              </a:ext>
            </a:extLst>
          </p:cNvPr>
          <p:cNvSpPr txBox="1"/>
          <p:nvPr/>
        </p:nvSpPr>
        <p:spPr>
          <a:xfrm>
            <a:off x="2400130" y="5110900"/>
            <a:ext cx="794107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2: pulling down a node using NMOS and PMOS switches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1506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7A6F4-43D3-2B41-7020-505DB5ACE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928881-BA4F-2DC2-6A91-4C95FD3581C8}"/>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5451F49F-E9A0-9176-C2A8-E8BE5DB1F479}"/>
              </a:ext>
            </a:extLst>
          </p:cNvPr>
          <p:cNvSpPr>
            <a:spLocks noGrp="1"/>
          </p:cNvSpPr>
          <p:nvPr>
            <p:ph idx="1"/>
          </p:nvPr>
        </p:nvSpPr>
        <p:spPr>
          <a:xfrm>
            <a:off x="1055803" y="1282045"/>
            <a:ext cx="10774836" cy="46662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PMOS switch succeeds in charging the output all the way to VDD, while the NMOS device fails to raise the output above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Tn</a:t>
            </a:r>
            <a:r>
              <a:rPr lang="en-US"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This explains why PMOS transistors are preferentially used in a PUN.</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6D15FD0-A083-CC2F-524A-F8F467E8D6F5}"/>
              </a:ext>
            </a:extLst>
          </p:cNvPr>
          <p:cNvSpPr>
            <a:spLocks noGrp="1"/>
          </p:cNvSpPr>
          <p:nvPr>
            <p:ph type="ftr" sz="quarter" idx="11"/>
          </p:nvPr>
        </p:nvSpPr>
        <p:spPr/>
        <p:txBody>
          <a:bodyPr/>
          <a:lstStyle/>
          <a:p>
            <a:r>
              <a:rPr lang="en-IN" dirty="0"/>
              <a:t>Dr. Aruru Sai Kumar , VIT-AP</a:t>
            </a:r>
          </a:p>
        </p:txBody>
      </p:sp>
      <p:sp>
        <p:nvSpPr>
          <p:cNvPr id="8" name="TextBox 7">
            <a:extLst>
              <a:ext uri="{FF2B5EF4-FFF2-40B4-BE49-F238E27FC236}">
                <a16:creationId xmlns:a16="http://schemas.microsoft.com/office/drawing/2014/main" id="{2DED0C47-6E22-4B3A-135B-4DA257B371A8}"/>
              </a:ext>
            </a:extLst>
          </p:cNvPr>
          <p:cNvSpPr txBox="1"/>
          <p:nvPr/>
        </p:nvSpPr>
        <p:spPr>
          <a:xfrm>
            <a:off x="3041152" y="5035486"/>
            <a:ext cx="794107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3:  pulling up a node using NMOS and PMOS switches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07943C3-06A7-F297-240A-9673DB2FC5E9}"/>
              </a:ext>
            </a:extLst>
          </p:cNvPr>
          <p:cNvPicPr>
            <a:picLocks noChangeAspect="1"/>
          </p:cNvPicPr>
          <p:nvPr/>
        </p:nvPicPr>
        <p:blipFill>
          <a:blip r:embed="rId2"/>
          <a:stretch>
            <a:fillRect/>
          </a:stretch>
        </p:blipFill>
        <p:spPr>
          <a:xfrm>
            <a:off x="2811495" y="2828301"/>
            <a:ext cx="6569009" cy="1874682"/>
          </a:xfrm>
          <a:prstGeom prst="rect">
            <a:avLst/>
          </a:prstGeom>
        </p:spPr>
      </p:pic>
    </p:spTree>
    <p:extLst>
      <p:ext uri="{BB962C8B-B14F-4D97-AF65-F5344CB8AC3E}">
        <p14:creationId xmlns:p14="http://schemas.microsoft.com/office/powerpoint/2010/main" val="1288169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D7C6-C793-C5E9-62A5-4F0439644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7547-6B61-8579-037C-6C1B99C38E49}"/>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5B2C86EA-164B-0301-5B9C-E1D013ED5AAD}"/>
              </a:ext>
            </a:extLst>
          </p:cNvPr>
          <p:cNvSpPr>
            <a:spLocks noGrp="1"/>
          </p:cNvSpPr>
          <p:nvPr>
            <p:ph idx="1"/>
          </p:nvPr>
        </p:nvSpPr>
        <p:spPr>
          <a:xfrm>
            <a:off x="1055803" y="1282045"/>
            <a:ext cx="10774836" cy="46662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NMOS devices connected in series corresponds to an AND function. With all the inputs high, the series combination conducts and the value at one end of the chain is transferred to the other end.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Similarly, NMOS transistors connected in parallel rep resent an OR function.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conducting path exists between the output and input terminal if at least one of the inputs is high. Using similar arguments, construction rules for PMOS networks can be formulated.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series connection of PMOS conducts if both inputs are low, representing a NOR function (       =        ), while PMOS transistors in parallel implement a NAND </a:t>
            </a:r>
          </a:p>
          <a:p>
            <a:pPr marL="0" indent="0" algn="just">
              <a:buNone/>
            </a:pPr>
            <a:r>
              <a:rPr lang="en-US" sz="2400" dirty="0">
                <a:latin typeface="Times New Roman" panose="02020603050405020304" pitchFamily="18" charset="0"/>
                <a:cs typeface="Times New Roman" panose="02020603050405020304" pitchFamily="18" charset="0"/>
              </a:rPr>
              <a:t>(         =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FE7B356-C992-C8D4-ABFD-98BDF4C67821}"/>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D75A9293-477E-8951-233D-611911761077}"/>
              </a:ext>
            </a:extLst>
          </p:cNvPr>
          <p:cNvPicPr>
            <a:picLocks noChangeAspect="1"/>
          </p:cNvPicPr>
          <p:nvPr/>
        </p:nvPicPr>
        <p:blipFill>
          <a:blip r:embed="rId2"/>
          <a:stretch>
            <a:fillRect/>
          </a:stretch>
        </p:blipFill>
        <p:spPr>
          <a:xfrm>
            <a:off x="1325157" y="5193488"/>
            <a:ext cx="579170" cy="281964"/>
          </a:xfrm>
          <a:prstGeom prst="rect">
            <a:avLst/>
          </a:prstGeom>
        </p:spPr>
      </p:pic>
      <p:pic>
        <p:nvPicPr>
          <p:cNvPr id="8" name="Picture 7">
            <a:extLst>
              <a:ext uri="{FF2B5EF4-FFF2-40B4-BE49-F238E27FC236}">
                <a16:creationId xmlns:a16="http://schemas.microsoft.com/office/drawing/2014/main" id="{1A9BC944-B4EF-8301-474B-B34D665E60B7}"/>
              </a:ext>
            </a:extLst>
          </p:cNvPr>
          <p:cNvPicPr>
            <a:picLocks noChangeAspect="1"/>
          </p:cNvPicPr>
          <p:nvPr/>
        </p:nvPicPr>
        <p:blipFill>
          <a:blip r:embed="rId3"/>
          <a:stretch>
            <a:fillRect/>
          </a:stretch>
        </p:blipFill>
        <p:spPr>
          <a:xfrm>
            <a:off x="2173681" y="5208729"/>
            <a:ext cx="510584" cy="251482"/>
          </a:xfrm>
          <a:prstGeom prst="rect">
            <a:avLst/>
          </a:prstGeom>
        </p:spPr>
      </p:pic>
      <p:pic>
        <p:nvPicPr>
          <p:cNvPr id="12" name="Picture 11">
            <a:extLst>
              <a:ext uri="{FF2B5EF4-FFF2-40B4-BE49-F238E27FC236}">
                <a16:creationId xmlns:a16="http://schemas.microsoft.com/office/drawing/2014/main" id="{E196465D-3767-BA4A-8A3B-1CD9F277E0ED}"/>
              </a:ext>
            </a:extLst>
          </p:cNvPr>
          <p:cNvPicPr>
            <a:picLocks noChangeAspect="1"/>
          </p:cNvPicPr>
          <p:nvPr/>
        </p:nvPicPr>
        <p:blipFill>
          <a:blip r:embed="rId4"/>
          <a:stretch>
            <a:fillRect/>
          </a:stretch>
        </p:blipFill>
        <p:spPr>
          <a:xfrm>
            <a:off x="2684265" y="4679956"/>
            <a:ext cx="480102" cy="320068"/>
          </a:xfrm>
          <a:prstGeom prst="rect">
            <a:avLst/>
          </a:prstGeom>
        </p:spPr>
      </p:pic>
      <p:pic>
        <p:nvPicPr>
          <p:cNvPr id="14" name="Picture 13">
            <a:extLst>
              <a:ext uri="{FF2B5EF4-FFF2-40B4-BE49-F238E27FC236}">
                <a16:creationId xmlns:a16="http://schemas.microsoft.com/office/drawing/2014/main" id="{90BFEFEF-9B96-E791-3C0D-FB06FAEFF98E}"/>
              </a:ext>
            </a:extLst>
          </p:cNvPr>
          <p:cNvPicPr>
            <a:picLocks noChangeAspect="1"/>
          </p:cNvPicPr>
          <p:nvPr/>
        </p:nvPicPr>
        <p:blipFill>
          <a:blip r:embed="rId5"/>
          <a:stretch>
            <a:fillRect/>
          </a:stretch>
        </p:blipFill>
        <p:spPr>
          <a:xfrm>
            <a:off x="3389541" y="4710439"/>
            <a:ext cx="548688" cy="289585"/>
          </a:xfrm>
          <a:prstGeom prst="rect">
            <a:avLst/>
          </a:prstGeom>
        </p:spPr>
      </p:pic>
    </p:spTree>
    <p:extLst>
      <p:ext uri="{BB962C8B-B14F-4D97-AF65-F5344CB8AC3E}">
        <p14:creationId xmlns:p14="http://schemas.microsoft.com/office/powerpoint/2010/main" val="2871521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363C-8083-AAF6-5A2C-D57156DC8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D6782-DBF2-1752-9A7B-3F2A1931966B}"/>
              </a:ext>
            </a:extLst>
          </p:cNvPr>
          <p:cNvSpPr>
            <a:spLocks noGrp="1"/>
          </p:cNvSpPr>
          <p:nvPr>
            <p:ph type="title"/>
          </p:nvPr>
        </p:nvSpPr>
        <p:spPr>
          <a:xfrm>
            <a:off x="1761134" y="117419"/>
            <a:ext cx="8911687" cy="655579"/>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5D349E7C-E5EC-AFDB-807C-E14D4BA9537E}"/>
              </a:ext>
            </a:extLst>
          </p:cNvPr>
          <p:cNvSpPr>
            <a:spLocks noGrp="1"/>
          </p:cNvSpPr>
          <p:nvPr>
            <p:ph idx="1"/>
          </p:nvPr>
        </p:nvSpPr>
        <p:spPr>
          <a:xfrm>
            <a:off x="1093510" y="772998"/>
            <a:ext cx="10774836" cy="4666268"/>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parallel connection of transistors in the pull-up network corresponds to a series connection of the corresponding devices in the pull-down network, and vice versa.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Therefore, to construct a CMOS gate, one of the networks (e.g., PDN) is implemented using combinations of series and parallel devices.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complementary gate is naturally inverting, implementing only functions such as NAND, NOR, and XNOR. The realization of a non-inverting Boolean function (such as AND OR, or XOR) in a single stage is not possible, and requires the </a:t>
            </a:r>
            <a:r>
              <a:rPr lang="en-US" sz="2200" dirty="0" err="1">
                <a:latin typeface="Times New Roman" panose="02020603050405020304" pitchFamily="18" charset="0"/>
                <a:cs typeface="Times New Roman" panose="02020603050405020304" pitchFamily="18" charset="0"/>
              </a:rPr>
              <a:t>addi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tion</a:t>
            </a:r>
            <a:r>
              <a:rPr lang="en-US" sz="2200" dirty="0">
                <a:latin typeface="Times New Roman" panose="02020603050405020304" pitchFamily="18" charset="0"/>
                <a:cs typeface="Times New Roman" panose="02020603050405020304" pitchFamily="18" charset="0"/>
              </a:rPr>
              <a:t> of an extra inverter stage.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number of transistors required to implement an N-input logic gate is 2N.</a:t>
            </a: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E6C7346-97DB-E6F1-0A40-23BE6CCED6AA}"/>
              </a:ext>
            </a:extLst>
          </p:cNvPr>
          <p:cNvSpPr>
            <a:spLocks noGrp="1"/>
          </p:cNvSpPr>
          <p:nvPr>
            <p:ph type="ftr" sz="quarter" idx="11"/>
          </p:nvPr>
        </p:nvSpPr>
        <p:spPr/>
        <p:txBody>
          <a:bodyPr/>
          <a:lstStyle/>
          <a:p>
            <a:r>
              <a:rPr lang="en-IN" dirty="0"/>
              <a:t>Dr. Aruru Sai Kumar , VIT-AP</a:t>
            </a:r>
          </a:p>
        </p:txBody>
      </p:sp>
      <p:pic>
        <p:nvPicPr>
          <p:cNvPr id="8" name="Picture 7">
            <a:extLst>
              <a:ext uri="{FF2B5EF4-FFF2-40B4-BE49-F238E27FC236}">
                <a16:creationId xmlns:a16="http://schemas.microsoft.com/office/drawing/2014/main" id="{6D089583-3F09-B438-4BEC-ABE138E2C61C}"/>
              </a:ext>
            </a:extLst>
          </p:cNvPr>
          <p:cNvPicPr>
            <a:picLocks noChangeAspect="1"/>
          </p:cNvPicPr>
          <p:nvPr/>
        </p:nvPicPr>
        <p:blipFill>
          <a:blip r:embed="rId2"/>
          <a:stretch>
            <a:fillRect/>
          </a:stretch>
        </p:blipFill>
        <p:spPr>
          <a:xfrm>
            <a:off x="1217824" y="4273305"/>
            <a:ext cx="9998306" cy="2331922"/>
          </a:xfrm>
          <a:prstGeom prst="rect">
            <a:avLst/>
          </a:prstGeom>
        </p:spPr>
      </p:pic>
    </p:spTree>
    <p:extLst>
      <p:ext uri="{BB962C8B-B14F-4D97-AF65-F5344CB8AC3E}">
        <p14:creationId xmlns:p14="http://schemas.microsoft.com/office/powerpoint/2010/main" val="3236305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A0523A-EE5B-0339-CDC9-A7B71267E297}"/>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96CFCA91-BC2D-5214-6E6F-B78D0F88C504}"/>
              </a:ext>
            </a:extLst>
          </p:cNvPr>
          <p:cNvPicPr>
            <a:picLocks noChangeAspect="1"/>
          </p:cNvPicPr>
          <p:nvPr/>
        </p:nvPicPr>
        <p:blipFill>
          <a:blip r:embed="rId3"/>
          <a:stretch>
            <a:fillRect/>
          </a:stretch>
        </p:blipFill>
        <p:spPr>
          <a:xfrm>
            <a:off x="5064026" y="1515364"/>
            <a:ext cx="6763443" cy="3129279"/>
          </a:xfrm>
          <a:prstGeom prst="rect">
            <a:avLst/>
          </a:prstGeom>
        </p:spPr>
      </p:pic>
      <p:sp>
        <p:nvSpPr>
          <p:cNvPr id="6" name="TextBox 5">
            <a:extLst>
              <a:ext uri="{FF2B5EF4-FFF2-40B4-BE49-F238E27FC236}">
                <a16:creationId xmlns:a16="http://schemas.microsoft.com/office/drawing/2014/main" id="{5299C549-9E79-AA6C-BE11-7FD21D5DC39B}"/>
              </a:ext>
            </a:extLst>
          </p:cNvPr>
          <p:cNvSpPr txBox="1"/>
          <p:nvPr/>
        </p:nvSpPr>
        <p:spPr>
          <a:xfrm>
            <a:off x="5394487" y="5120145"/>
            <a:ext cx="8227243"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5: Two-input NAND gate in complementary static CMOS style.</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716E773-FB9D-1CF7-06F7-1FA1764DF904}"/>
              </a:ext>
            </a:extLst>
          </p:cNvPr>
          <p:cNvPicPr>
            <a:picLocks noChangeAspect="1"/>
          </p:cNvPicPr>
          <p:nvPr/>
        </p:nvPicPr>
        <p:blipFill>
          <a:blip r:embed="rId4"/>
          <a:stretch>
            <a:fillRect/>
          </a:stretch>
        </p:blipFill>
        <p:spPr>
          <a:xfrm>
            <a:off x="645284" y="1344534"/>
            <a:ext cx="3939987" cy="3470941"/>
          </a:xfrm>
          <a:prstGeom prst="rect">
            <a:avLst/>
          </a:prstGeom>
        </p:spPr>
      </p:pic>
      <p:sp>
        <p:nvSpPr>
          <p:cNvPr id="10" name="TextBox 9">
            <a:extLst>
              <a:ext uri="{FF2B5EF4-FFF2-40B4-BE49-F238E27FC236}">
                <a16:creationId xmlns:a16="http://schemas.microsoft.com/office/drawing/2014/main" id="{88355F02-D9DD-B9CC-9D8A-717D2BAC5325}"/>
              </a:ext>
            </a:extLst>
          </p:cNvPr>
          <p:cNvSpPr txBox="1"/>
          <p:nvPr/>
        </p:nvSpPr>
        <p:spPr>
          <a:xfrm>
            <a:off x="664965" y="5120145"/>
            <a:ext cx="3848493"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4: Inverter in complementary static CMOS style.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5684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5A53-9A01-8233-756B-EEB88D6B3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27139-8E45-68F9-AEC8-08B04D4E614A}"/>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C34FC542-8A12-DF20-AAD1-51102502D05C}"/>
              </a:ext>
            </a:extLst>
          </p:cNvPr>
          <p:cNvSpPr>
            <a:spLocks noGrp="1"/>
          </p:cNvSpPr>
          <p:nvPr>
            <p:ph idx="1"/>
          </p:nvPr>
        </p:nvSpPr>
        <p:spPr>
          <a:xfrm>
            <a:off x="1055803" y="1282045"/>
            <a:ext cx="10774836" cy="46662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a:t>
            </a:r>
          </a:p>
          <a:p>
            <a:pPr marL="0" indent="0">
              <a:buNone/>
            </a:pPr>
            <a:r>
              <a:rPr lang="en-US" sz="2200" b="1" dirty="0">
                <a:latin typeface="Times New Roman" panose="02020603050405020304" pitchFamily="18" charset="0"/>
                <a:cs typeface="Times New Roman" panose="02020603050405020304" pitchFamily="18" charset="0"/>
              </a:rPr>
              <a:t>1. Very Low Static Power Consumption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steady state (logic 0 or 1), either PMOS or NMOS is OFF, so ideally no direct current flows from VDD to GND.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Power is mainly consumed during switching (dynamic power).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makes CMOS ideal for battery-powered and portable devices.</a:t>
            </a:r>
          </a:p>
          <a:p>
            <a:pPr marL="0" indent="0">
              <a:buNone/>
            </a:pPr>
            <a:r>
              <a:rPr lang="en-US" sz="2200" b="1" dirty="0">
                <a:latin typeface="Times New Roman" panose="02020603050405020304" pitchFamily="18" charset="0"/>
                <a:cs typeface="Times New Roman" panose="02020603050405020304" pitchFamily="18" charset="0"/>
              </a:rPr>
              <a:t>2. High Noise Immunity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CMOS provides large noise margins.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Strong logic levels (full VDD for ‘1’ and 0V for ‘0’) reduce the chance of logic errors.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Very suitable for high-density integration.</a:t>
            </a:r>
          </a:p>
          <a:p>
            <a:pPr marL="0" indent="0">
              <a:buNone/>
            </a:pPr>
            <a:endParaRPr lang="en-US" sz="22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6AA167C-CC26-274F-430E-0F74E3D9D12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606150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C6AA-869D-E2D2-E111-FDD897E37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BC486-7BDE-70C9-2B0B-FBBCF10A1E8F}"/>
              </a:ext>
            </a:extLst>
          </p:cNvPr>
          <p:cNvSpPr>
            <a:spLocks noGrp="1"/>
          </p:cNvSpPr>
          <p:nvPr>
            <p:ph type="title"/>
          </p:nvPr>
        </p:nvSpPr>
        <p:spPr>
          <a:xfrm>
            <a:off x="1459476" y="173980"/>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E7ABC9F9-B94D-0EB5-2C5A-39AA0732FD0A}"/>
              </a:ext>
            </a:extLst>
          </p:cNvPr>
          <p:cNvSpPr>
            <a:spLocks noGrp="1"/>
          </p:cNvSpPr>
          <p:nvPr>
            <p:ph idx="1"/>
          </p:nvPr>
        </p:nvSpPr>
        <p:spPr>
          <a:xfrm>
            <a:off x="1621411" y="814425"/>
            <a:ext cx="10774836" cy="5171596"/>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3. High Input Impedance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MOSFET gates are insulated by oxide → almost zero DC input current.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Enables large fan-out capability.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Reduces loading effect on previous stages.</a:t>
            </a:r>
          </a:p>
          <a:p>
            <a:pPr marL="0" indent="0">
              <a:buNone/>
            </a:pPr>
            <a:r>
              <a:rPr lang="en-US" sz="2200" b="1" dirty="0">
                <a:latin typeface="Times New Roman" panose="02020603050405020304" pitchFamily="18" charset="0"/>
                <a:cs typeface="Times New Roman" panose="02020603050405020304" pitchFamily="18" charset="0"/>
              </a:rPr>
              <a:t>4. Rail-to-Rail Output Voltage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swings from 0 to V</a:t>
            </a:r>
            <a:r>
              <a:rPr lang="en-US" sz="2200" baseline="-25000" dirty="0">
                <a:latin typeface="Times New Roman" panose="02020603050405020304" pitchFamily="18" charset="0"/>
                <a:cs typeface="Times New Roman" panose="02020603050405020304" pitchFamily="18" charset="0"/>
              </a:rPr>
              <a:t>DD</a:t>
            </a:r>
            <a:r>
              <a:rPr lang="en-US" sz="22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Ensures strong logic levels and better signal integrity</a:t>
            </a:r>
            <a:r>
              <a:rPr lang="en-US" sz="2400" dirty="0"/>
              <a:t>.</a:t>
            </a:r>
          </a:p>
          <a:p>
            <a:pPr marL="0" indent="0">
              <a:buNone/>
            </a:pPr>
            <a:r>
              <a:rPr lang="en-US" sz="2200" b="1" dirty="0">
                <a:latin typeface="Times New Roman" panose="02020603050405020304" pitchFamily="18" charset="0"/>
                <a:cs typeface="Times New Roman" panose="02020603050405020304" pitchFamily="18" charset="0"/>
              </a:rPr>
              <a:t>5. High Packing Density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CMOS technology supports very small transistor sizes.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Enables integration of millions to billions of transistors on a single chip.</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Essential for modern microprocessors and SoCs.</a:t>
            </a:r>
          </a:p>
          <a:p>
            <a:pPr marL="0" indent="0">
              <a:buNone/>
            </a:pPr>
            <a:endParaRPr lang="en-US" sz="2400" dirty="0"/>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DF76136-3122-A830-4D02-C88A1E70FC72}"/>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670368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7B49-4080-5CA1-91C1-7F04AACC4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EC18F-506F-C50C-017B-03F721B9ED75}"/>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8F4D8AED-D63E-71A9-BECC-DC97BD1BDC91}"/>
              </a:ext>
            </a:extLst>
          </p:cNvPr>
          <p:cNvSpPr>
            <a:spLocks noGrp="1"/>
          </p:cNvSpPr>
          <p:nvPr>
            <p:ph idx="1"/>
          </p:nvPr>
        </p:nvSpPr>
        <p:spPr>
          <a:xfrm>
            <a:off x="1055803" y="1282045"/>
            <a:ext cx="10774836" cy="46662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a:t>
            </a:r>
          </a:p>
          <a:p>
            <a:pPr marL="0" indent="0">
              <a:buNone/>
            </a:pPr>
            <a:r>
              <a:rPr lang="en-US" sz="2200" b="1" dirty="0">
                <a:latin typeface="Times New Roman" panose="02020603050405020304" pitchFamily="18" charset="0"/>
                <a:cs typeface="Times New Roman" panose="02020603050405020304" pitchFamily="18" charset="0"/>
              </a:rPr>
              <a:t>1.Dynamic Power Consumption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Although static power is very low, CMOS consumes power during switching.</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Dynamic power:</a:t>
            </a:r>
          </a:p>
          <a:p>
            <a:pPr marL="0" indent="0">
              <a:buNone/>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At high frequency and large capacitance, power becomes significant.</a:t>
            </a:r>
          </a:p>
          <a:p>
            <a:pPr marL="0" indent="0">
              <a:buNone/>
            </a:pPr>
            <a:r>
              <a:rPr lang="en-US" sz="2200" b="1" dirty="0">
                <a:latin typeface="Times New Roman" panose="02020603050405020304" pitchFamily="18" charset="0"/>
                <a:cs typeface="Times New Roman" panose="02020603050405020304" pitchFamily="18" charset="0"/>
              </a:rPr>
              <a:t>2. Short-Circuit Power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During switching, both PMOS and NMOS may conduct simultaneously for a short time.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creates a direct path from VDD to GND → short-circuit current.</a:t>
            </a:r>
          </a:p>
          <a:p>
            <a:pPr marL="0" indent="0">
              <a:buNone/>
            </a:pPr>
            <a:endParaRPr lang="en-US" sz="22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1D2EDCB-E422-BCF3-9910-986CE880B67E}"/>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7002E3C2-9FCB-FB2C-61DD-BC9DB723AAA1}"/>
              </a:ext>
            </a:extLst>
          </p:cNvPr>
          <p:cNvPicPr>
            <a:picLocks noChangeAspect="1"/>
          </p:cNvPicPr>
          <p:nvPr/>
        </p:nvPicPr>
        <p:blipFill>
          <a:blip r:embed="rId2"/>
          <a:stretch>
            <a:fillRect/>
          </a:stretch>
        </p:blipFill>
        <p:spPr>
          <a:xfrm>
            <a:off x="4283551" y="3002243"/>
            <a:ext cx="1569856" cy="426757"/>
          </a:xfrm>
          <a:prstGeom prst="rect">
            <a:avLst/>
          </a:prstGeom>
        </p:spPr>
      </p:pic>
    </p:spTree>
    <p:extLst>
      <p:ext uri="{BB962C8B-B14F-4D97-AF65-F5344CB8AC3E}">
        <p14:creationId xmlns:p14="http://schemas.microsoft.com/office/powerpoint/2010/main" val="4259021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D57D-A8D3-7990-C2E4-EEAFF0484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1D8C7-396E-52C2-EB64-212A5DDF2A4F}"/>
              </a:ext>
            </a:extLst>
          </p:cNvPr>
          <p:cNvSpPr>
            <a:spLocks noGrp="1"/>
          </p:cNvSpPr>
          <p:nvPr>
            <p:ph type="title"/>
          </p:nvPr>
        </p:nvSpPr>
        <p:spPr>
          <a:xfrm>
            <a:off x="1640156" y="70286"/>
            <a:ext cx="8911687" cy="1280890"/>
          </a:xfrm>
        </p:spPr>
        <p:txBody>
          <a:bodyPr/>
          <a:lstStyle/>
          <a:p>
            <a:r>
              <a:rPr lang="en-IN" b="1" dirty="0">
                <a:latin typeface="Times New Roman" panose="02020603050405020304" pitchFamily="18" charset="0"/>
                <a:cs typeface="Times New Roman" panose="02020603050405020304" pitchFamily="18" charset="0"/>
              </a:rPr>
              <a:t>CMOS Logic</a:t>
            </a:r>
          </a:p>
        </p:txBody>
      </p:sp>
      <p:sp>
        <p:nvSpPr>
          <p:cNvPr id="3" name="Content Placeholder 2">
            <a:extLst>
              <a:ext uri="{FF2B5EF4-FFF2-40B4-BE49-F238E27FC236}">
                <a16:creationId xmlns:a16="http://schemas.microsoft.com/office/drawing/2014/main" id="{AB373DF2-6046-61FB-C9A1-BED001B96AAE}"/>
              </a:ext>
            </a:extLst>
          </p:cNvPr>
          <p:cNvSpPr>
            <a:spLocks noGrp="1"/>
          </p:cNvSpPr>
          <p:nvPr>
            <p:ph idx="1"/>
          </p:nvPr>
        </p:nvSpPr>
        <p:spPr>
          <a:xfrm>
            <a:off x="1102937" y="761008"/>
            <a:ext cx="10774836" cy="5470110"/>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a:t>
            </a:r>
          </a:p>
          <a:p>
            <a:pPr marL="0" indent="0">
              <a:buNone/>
            </a:pPr>
            <a:r>
              <a:rPr lang="en-US" sz="2200" b="1" dirty="0">
                <a:latin typeface="Times New Roman" panose="02020603050405020304" pitchFamily="18" charset="0"/>
                <a:cs typeface="Times New Roman" panose="02020603050405020304" pitchFamily="18" charset="0"/>
              </a:rPr>
              <a:t>3. Leakage Power (Advanced Nodes)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deep submicron technologies, leakage currents increase due to:</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Subthreshold leakage</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Gate oxide </a:t>
            </a:r>
            <a:r>
              <a:rPr lang="en-IN" sz="2200" dirty="0" err="1">
                <a:latin typeface="Times New Roman" panose="02020603050405020304" pitchFamily="18" charset="0"/>
                <a:cs typeface="Times New Roman" panose="02020603050405020304" pitchFamily="18" charset="0"/>
              </a:rPr>
              <a:t>tunneling</a:t>
            </a:r>
            <a:endParaRPr lang="en-IN" sz="2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Junction leakage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Leakage becomes a major issue in </a:t>
            </a:r>
            <a:r>
              <a:rPr lang="en-IN" sz="2400" dirty="0" err="1">
                <a:latin typeface="Times New Roman" panose="02020603050405020304" pitchFamily="18" charset="0"/>
                <a:cs typeface="Times New Roman" panose="02020603050405020304" pitchFamily="18" charset="0"/>
              </a:rPr>
              <a:t>nanometer</a:t>
            </a:r>
            <a:r>
              <a:rPr lang="en-IN" sz="2400" dirty="0">
                <a:latin typeface="Times New Roman" panose="02020603050405020304" pitchFamily="18" charset="0"/>
                <a:cs typeface="Times New Roman" panose="02020603050405020304" pitchFamily="18" charset="0"/>
              </a:rPr>
              <a:t> technologies.</a:t>
            </a: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4. Latch-Up Problem</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Parasitic bipolar transistors in CMOS structure can form a Silicon Controlled Rectifier (SCR).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If triggered, it creates a low-resistance path between VDD and GND.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Can permanently damage the chip.</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44CA6F2-AD28-162E-4408-145BA2F43FC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25275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A6768-16DA-499A-730F-986309FBA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BDE59-4829-C5EA-8B58-F2D130E32AE9}"/>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2. NMOS Logic</a:t>
            </a:r>
          </a:p>
        </p:txBody>
      </p:sp>
      <p:sp>
        <p:nvSpPr>
          <p:cNvPr id="3" name="Content Placeholder 2">
            <a:extLst>
              <a:ext uri="{FF2B5EF4-FFF2-40B4-BE49-F238E27FC236}">
                <a16:creationId xmlns:a16="http://schemas.microsoft.com/office/drawing/2014/main" id="{59D377D2-1428-0BBD-794C-6AE1825F2BD7}"/>
              </a:ext>
            </a:extLst>
          </p:cNvPr>
          <p:cNvSpPr>
            <a:spLocks noGrp="1"/>
          </p:cNvSpPr>
          <p:nvPr>
            <p:ph idx="1"/>
          </p:nvPr>
        </p:nvSpPr>
        <p:spPr>
          <a:xfrm>
            <a:off x="1055803" y="1282045"/>
            <a:ext cx="10774836" cy="4666268"/>
          </a:xfrm>
        </p:spPr>
        <p:txBody>
          <a:bodyPr>
            <a:noAutofit/>
          </a:bodyPr>
          <a:lstStyle/>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NMOS logic is a digital logic family that uses only NMOS (n-channel MOSFET) transistors to implement logic functions.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Logic is realized using pull-down networks (PDN).</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load (resistor or depletion NMOS) is used at the </a:t>
            </a:r>
          </a:p>
          <a:p>
            <a:pPr marL="0" indent="0" algn="just">
              <a:buNone/>
            </a:pPr>
            <a:r>
              <a:rPr lang="en-IN" sz="2400" dirty="0">
                <a:latin typeface="Times New Roman" panose="02020603050405020304" pitchFamily="18" charset="0"/>
                <a:cs typeface="Times New Roman" panose="02020603050405020304" pitchFamily="18" charset="0"/>
              </a:rPr>
              <a:t>  output.</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Popular before CMOS became dominant.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the input is 0, the NMOS transistor is OFF, </a:t>
            </a:r>
          </a:p>
          <a:p>
            <a:pPr marL="0" indent="0" algn="just">
              <a:buNone/>
            </a:pPr>
            <a:r>
              <a:rPr lang="en-US" sz="2400" dirty="0">
                <a:latin typeface="Times New Roman" panose="02020603050405020304" pitchFamily="18" charset="0"/>
                <a:cs typeface="Times New Roman" panose="02020603050405020304" pitchFamily="18" charset="0"/>
              </a:rPr>
              <a:t>    and the output is pulled HIGH through the load. </a:t>
            </a:r>
          </a:p>
          <a:p>
            <a:pPr marL="0" indent="0" algn="just">
              <a:buNone/>
            </a:pPr>
            <a:r>
              <a:rPr lang="en-US" sz="2400" dirty="0">
                <a:latin typeface="Times New Roman" panose="02020603050405020304" pitchFamily="18" charset="0"/>
                <a:cs typeface="Times New Roman" panose="02020603050405020304" pitchFamily="18" charset="0"/>
              </a:rPr>
              <a:t>    When the input is 1, the NMOS transistor is ON, </a:t>
            </a:r>
          </a:p>
          <a:p>
            <a:pPr marL="0" indent="0" algn="just">
              <a:buNone/>
            </a:pPr>
            <a:r>
              <a:rPr lang="en-US" sz="2400" dirty="0">
                <a:latin typeface="Times New Roman" panose="02020603050405020304" pitchFamily="18" charset="0"/>
                <a:cs typeface="Times New Roman" panose="02020603050405020304" pitchFamily="18" charset="0"/>
              </a:rPr>
              <a:t>    and the output is pulled LOW to ground.</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F63C4D1-5DEE-6DBC-0A24-B82ECC75430B}"/>
              </a:ext>
            </a:extLst>
          </p:cNvPr>
          <p:cNvSpPr>
            <a:spLocks noGrp="1"/>
          </p:cNvSpPr>
          <p:nvPr>
            <p:ph type="ftr" sz="quarter" idx="11"/>
          </p:nvPr>
        </p:nvSpPr>
        <p:spPr/>
        <p:txBody>
          <a:bodyPr/>
          <a:lstStyle/>
          <a:p>
            <a:r>
              <a:rPr lang="en-IN" dirty="0"/>
              <a:t>Dr. Aruru Sai Kumar , VIT-AP</a:t>
            </a:r>
          </a:p>
        </p:txBody>
      </p:sp>
      <p:pic>
        <p:nvPicPr>
          <p:cNvPr id="5" name="Picture 3">
            <a:extLst>
              <a:ext uri="{FF2B5EF4-FFF2-40B4-BE49-F238E27FC236}">
                <a16:creationId xmlns:a16="http://schemas.microsoft.com/office/drawing/2014/main" id="{AA7992DD-FE62-83E6-9B35-E254062B49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439" y="1828407"/>
            <a:ext cx="3505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0223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990FCBD4-269A-3FA5-7AEC-EB081E15D70E}"/>
              </a:ext>
            </a:extLst>
          </p:cNvPr>
          <p:cNvSpPr>
            <a:spLocks noGrp="1"/>
          </p:cNvSpPr>
          <p:nvPr>
            <p:ph idx="1"/>
          </p:nvPr>
        </p:nvSpPr>
        <p:spPr>
          <a:xfrm>
            <a:off x="1354317" y="306372"/>
            <a:ext cx="10972800" cy="4525963"/>
          </a:xfrm>
        </p:spPr>
        <p:txBody>
          <a:bodyPr>
            <a:normAutofit/>
          </a:bodyPr>
          <a:lstStyle/>
          <a:p>
            <a:pPr marL="0" indent="0" eaLnBrk="1" hangingPunct="1">
              <a:buNone/>
            </a:pPr>
            <a:r>
              <a:rPr lang="en-US" altLang="en-US" sz="2400" b="1" dirty="0" err="1">
                <a:latin typeface="Times New Roman" panose="02020603050405020304" pitchFamily="18" charset="0"/>
                <a:cs typeface="Times New Roman" panose="02020603050405020304" pitchFamily="18" charset="0"/>
              </a:rPr>
              <a:t>nMOS</a:t>
            </a:r>
            <a:r>
              <a:rPr lang="en-US" altLang="en-US" sz="2400" b="1" dirty="0">
                <a:latin typeface="Times New Roman" panose="02020603050405020304" pitchFamily="18" charset="0"/>
                <a:cs typeface="Times New Roman" panose="02020603050405020304" pitchFamily="18" charset="0"/>
              </a:rPr>
              <a:t> depletion mode transistor pull-up </a:t>
            </a:r>
            <a:endParaRPr lang="en-US" altLang="en-US" sz="2400" dirty="0">
              <a:latin typeface="Times New Roman" panose="02020603050405020304" pitchFamily="18" charset="0"/>
              <a:cs typeface="Times New Roman" panose="02020603050405020304" pitchFamily="18" charset="0"/>
            </a:endParaRPr>
          </a:p>
        </p:txBody>
      </p:sp>
      <p:pic>
        <p:nvPicPr>
          <p:cNvPr id="46083" name="Picture 2">
            <a:extLst>
              <a:ext uri="{FF2B5EF4-FFF2-40B4-BE49-F238E27FC236}">
                <a16:creationId xmlns:a16="http://schemas.microsoft.com/office/drawing/2014/main" id="{8146D674-392C-2C28-5295-ADFE8C7B4C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 y="1410928"/>
            <a:ext cx="10429875"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C2C08-6A5C-6A6C-901E-16CD8E1CC2FA}"/>
              </a:ext>
            </a:extLst>
          </p:cNvPr>
          <p:cNvSpPr>
            <a:spLocks noGrp="1"/>
          </p:cNvSpPr>
          <p:nvPr>
            <p:ph idx="1"/>
          </p:nvPr>
        </p:nvSpPr>
        <p:spPr>
          <a:xfrm>
            <a:off x="1750225" y="936396"/>
            <a:ext cx="9590219" cy="4832808"/>
          </a:xfrm>
        </p:spPr>
        <p:txBody>
          <a:bodyPr rtlCol="0">
            <a:normAutofit/>
          </a:bodyPr>
          <a:lstStyle/>
          <a:p>
            <a:pPr algn="just" eaLnBrk="1" fontAlgn="auto" hangingPunct="1">
              <a:spcAft>
                <a:spcPts val="0"/>
              </a:spcAft>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This arrangement consists of a depletion mode transistor as pull-up. In this type of arrangement we observe </a:t>
            </a:r>
          </a:p>
          <a:p>
            <a:pPr lvl="1" algn="just">
              <a:buNone/>
              <a:defRPr/>
            </a:pPr>
            <a:r>
              <a:rPr lang="en-US" sz="2400" dirty="0">
                <a:latin typeface="Times New Roman" panose="02020603050405020304" pitchFamily="18" charset="0"/>
                <a:cs typeface="Times New Roman" panose="02020603050405020304" pitchFamily="18" charset="0"/>
              </a:rPr>
              <a:t>(a) Dissipation is high , since rail to rail current flows when Vin = logical 1. </a:t>
            </a:r>
          </a:p>
          <a:p>
            <a:pPr lvl="1" algn="just">
              <a:buNone/>
              <a:defRPr/>
            </a:pPr>
            <a:r>
              <a:rPr lang="en-US" sz="2400" dirty="0">
                <a:latin typeface="Times New Roman" panose="02020603050405020304" pitchFamily="18" charset="0"/>
                <a:cs typeface="Times New Roman" panose="02020603050405020304" pitchFamily="18" charset="0"/>
              </a:rPr>
              <a:t>(b) Switching of output from 1 to 0 begins when Vin exceeds </a:t>
            </a:r>
            <a:r>
              <a:rPr lang="en-US" sz="2400" dirty="0" err="1">
                <a:latin typeface="Times New Roman" panose="02020603050405020304" pitchFamily="18" charset="0"/>
                <a:cs typeface="Times New Roman" panose="02020603050405020304" pitchFamily="18" charset="0"/>
              </a:rPr>
              <a:t>Vt</a:t>
            </a:r>
            <a:r>
              <a:rPr lang="en-US" sz="2400" dirty="0">
                <a:latin typeface="Times New Roman" panose="02020603050405020304" pitchFamily="18" charset="0"/>
                <a:cs typeface="Times New Roman" panose="02020603050405020304" pitchFamily="18" charset="0"/>
              </a:rPr>
              <a:t>, of pull-down device </a:t>
            </a:r>
          </a:p>
          <a:p>
            <a:pPr lvl="1" algn="just">
              <a:buNone/>
              <a:defRPr/>
            </a:pPr>
            <a:r>
              <a:rPr lang="en-US" sz="2400" dirty="0">
                <a:latin typeface="Times New Roman" panose="02020603050405020304" pitchFamily="18" charset="0"/>
                <a:cs typeface="Times New Roman" panose="02020603050405020304" pitchFamily="18" charset="0"/>
              </a:rPr>
              <a:t>(c) When switching the output from 1 to 0, the pull-up device is non-saturated initially and this presents lower resistance through which to charge capacitive loads . </a:t>
            </a:r>
          </a:p>
          <a:p>
            <a:pPr eaLnBrk="1" fontAlgn="auto" hangingPunct="1">
              <a:spcAft>
                <a:spcPts val="0"/>
              </a:spcAft>
              <a:buFont typeface="Arial" panose="020B0604020202020204" pitchFamily="34" charset="0"/>
              <a:buNone/>
              <a:defRPr/>
            </a:pPr>
            <a:endParaRPr lang="en-US" sz="2800" i="1" dirty="0">
              <a:latin typeface="+mj-lt"/>
            </a:endParaRPr>
          </a:p>
          <a:p>
            <a:pPr eaLnBrk="1" fontAlgn="auto" hangingPunct="1">
              <a:spcAft>
                <a:spcPts val="0"/>
              </a:spcAft>
              <a:defRPr/>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0E7E-C766-4FBF-9D0A-FDA72A39E4CA}"/>
              </a:ext>
            </a:extLst>
          </p:cNvPr>
          <p:cNvSpPr>
            <a:spLocks noGrp="1"/>
          </p:cNvSpPr>
          <p:nvPr>
            <p:ph type="title"/>
          </p:nvPr>
        </p:nvSpPr>
        <p:spPr>
          <a:xfrm>
            <a:off x="2319548" y="319310"/>
            <a:ext cx="8911687" cy="1280890"/>
          </a:xfrm>
        </p:spPr>
        <p:txBody>
          <a:bodyPr rtlCol="0">
            <a:normAutofit fontScale="90000"/>
          </a:bodyPr>
          <a:lstStyle/>
          <a:p>
            <a:pPr eaLnBrk="1" fontAlgn="auto" hangingPunct="1">
              <a:spcAft>
                <a:spcPts val="0"/>
              </a:spcAft>
              <a:defRPr/>
            </a:pPr>
            <a:br>
              <a:rPr lang="en-US" dirty="0">
                <a:latin typeface="Times New Roman" panose="02020603050405020304" pitchFamily="18" charset="0"/>
                <a:cs typeface="Times New Roman" panose="02020603050405020304" pitchFamily="18" charset="0"/>
              </a:rPr>
            </a:br>
            <a:r>
              <a:rPr lang="en-US" b="1" dirty="0" err="1">
                <a:latin typeface="Times New Roman" panose="02020603050405020304" pitchFamily="18" charset="0"/>
                <a:cs typeface="Times New Roman" panose="02020603050405020304" pitchFamily="18" charset="0"/>
              </a:rPr>
              <a:t>nMOS</a:t>
            </a:r>
            <a:r>
              <a:rPr lang="en-US" b="1" dirty="0">
                <a:latin typeface="Times New Roman" panose="02020603050405020304" pitchFamily="18" charset="0"/>
                <a:cs typeface="Times New Roman" panose="02020603050405020304" pitchFamily="18" charset="0"/>
              </a:rPr>
              <a:t> enhancement mode pull-up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8131" name="Picture 2">
            <a:extLst>
              <a:ext uri="{FF2B5EF4-FFF2-40B4-BE49-F238E27FC236}">
                <a16:creationId xmlns:a16="http://schemas.microsoft.com/office/drawing/2014/main" id="{27F1ACF0-8F61-A805-8BEA-B1EE2ED40B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600200"/>
            <a:ext cx="8915400" cy="4495800"/>
          </a:xfr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9795FE-B4EF-496D-4315-D20526F83A1D}"/>
              </a:ext>
            </a:extLst>
          </p:cNvPr>
          <p:cNvSpPr>
            <a:spLocks noGrp="1"/>
          </p:cNvSpPr>
          <p:nvPr>
            <p:ph idx="1"/>
          </p:nvPr>
        </p:nvSpPr>
        <p:spPr>
          <a:xfrm>
            <a:off x="923827" y="1671686"/>
            <a:ext cx="10580785" cy="3777622"/>
          </a:xfrm>
        </p:spPr>
        <p:txBody>
          <a:bodyPr rtlCol="0">
            <a:normAutofit/>
          </a:bodyPr>
          <a:lstStyle/>
          <a:p>
            <a:pPr algn="just" eaLnBrk="1" fontAlgn="auto" hangingPunct="1">
              <a:spcAft>
                <a:spcPts val="0"/>
              </a:spcAf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The important features of this arrangement are </a:t>
            </a:r>
          </a:p>
          <a:p>
            <a:pPr algn="just" eaLnBrk="1" fontAlgn="auto" hangingPunct="1">
              <a:spcAft>
                <a:spcPts val="0"/>
              </a:spcAf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(a) Dissipation is high since current flows when Vin =logical 1 (V</a:t>
            </a:r>
            <a:r>
              <a:rPr lang="en-US" sz="2400" baseline="-25000" dirty="0">
                <a:latin typeface="Times New Roman" panose="02020603050405020304" pitchFamily="18" charset="0"/>
                <a:cs typeface="Times New Roman" panose="02020603050405020304" pitchFamily="18" charset="0"/>
              </a:rPr>
              <a:t>GG</a:t>
            </a:r>
            <a:r>
              <a:rPr lang="en-US" sz="2400" dirty="0">
                <a:latin typeface="Times New Roman" panose="02020603050405020304" pitchFamily="18" charset="0"/>
                <a:cs typeface="Times New Roman" panose="02020603050405020304" pitchFamily="18" charset="0"/>
              </a:rPr>
              <a:t> is returned to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 </a:t>
            </a:r>
          </a:p>
          <a:p>
            <a:pPr algn="just" eaLnBrk="1" fontAlgn="auto" hangingPunct="1">
              <a:spcAft>
                <a:spcPts val="0"/>
              </a:spcAf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(b) </a:t>
            </a:r>
            <a:r>
              <a:rPr lang="en-US" sz="2400" dirty="0" err="1">
                <a:latin typeface="Times New Roman" panose="02020603050405020304" pitchFamily="18" charset="0"/>
                <a:cs typeface="Times New Roman" panose="02020603050405020304" pitchFamily="18" charset="0"/>
              </a:rPr>
              <a:t>Vout</a:t>
            </a:r>
            <a:r>
              <a:rPr lang="en-US" sz="2400" dirty="0">
                <a:latin typeface="Times New Roman" panose="02020603050405020304" pitchFamily="18" charset="0"/>
                <a:cs typeface="Times New Roman" panose="02020603050405020304" pitchFamily="18" charset="0"/>
              </a:rPr>
              <a:t> can never reach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(logical I) if V</a:t>
            </a:r>
            <a:r>
              <a:rPr lang="en-US" sz="2400" baseline="-25000" dirty="0">
                <a:latin typeface="Times New Roman" panose="02020603050405020304" pitchFamily="18" charset="0"/>
                <a:cs typeface="Times New Roman" panose="02020603050405020304" pitchFamily="18" charset="0"/>
              </a:rPr>
              <a:t>GG</a:t>
            </a:r>
            <a:r>
              <a:rPr lang="en-US" sz="2400" dirty="0">
                <a:latin typeface="Times New Roman" panose="02020603050405020304" pitchFamily="18" charset="0"/>
                <a:cs typeface="Times New Roman" panose="02020603050405020304" pitchFamily="18" charset="0"/>
              </a:rPr>
              <a:t> =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as is normally the case. </a:t>
            </a:r>
          </a:p>
          <a:p>
            <a:pPr algn="just" eaLnBrk="1" fontAlgn="auto" hangingPunct="1">
              <a:spcAft>
                <a:spcPts val="0"/>
              </a:spcAf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(c) V</a:t>
            </a:r>
            <a:r>
              <a:rPr lang="en-US" sz="2400" baseline="-25000" dirty="0">
                <a:latin typeface="Times New Roman" panose="02020603050405020304" pitchFamily="18" charset="0"/>
                <a:cs typeface="Times New Roman" panose="02020603050405020304" pitchFamily="18" charset="0"/>
              </a:rPr>
              <a:t>GG </a:t>
            </a:r>
            <a:r>
              <a:rPr lang="en-US" sz="2400" dirty="0">
                <a:latin typeface="Times New Roman" panose="02020603050405020304" pitchFamily="18" charset="0"/>
                <a:cs typeface="Times New Roman" panose="02020603050405020304" pitchFamily="18" charset="0"/>
              </a:rPr>
              <a:t>may be derived from a switching source, for example, one phase of a clock, so that dissipation can be greatly reduced. </a:t>
            </a:r>
          </a:p>
          <a:p>
            <a:pPr algn="just" eaLnBrk="1" fontAlgn="auto" hangingPunct="1">
              <a:spcAft>
                <a:spcPts val="0"/>
              </a:spcAft>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(d) If V</a:t>
            </a:r>
            <a:r>
              <a:rPr lang="en-US" sz="2400" baseline="-25000" dirty="0">
                <a:latin typeface="Times New Roman" panose="02020603050405020304" pitchFamily="18" charset="0"/>
                <a:cs typeface="Times New Roman" panose="02020603050405020304" pitchFamily="18" charset="0"/>
              </a:rPr>
              <a:t>GG</a:t>
            </a:r>
            <a:r>
              <a:rPr lang="en-US" sz="2400" dirty="0">
                <a:latin typeface="Times New Roman" panose="02020603050405020304" pitchFamily="18" charset="0"/>
                <a:cs typeface="Times New Roman" panose="02020603050405020304" pitchFamily="18" charset="0"/>
              </a:rPr>
              <a:t> is higher than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then an extra supply rail is required. </a:t>
            </a:r>
          </a:p>
          <a:p>
            <a:pPr eaLnBrk="1" fontAlgn="auto" hangingPunct="1">
              <a:spcAft>
                <a:spcPts val="0"/>
              </a:spcAft>
              <a:buFont typeface="Arial" panose="020B0604020202020204" pitchFamily="34" charset="0"/>
              <a:buNone/>
              <a:defRPr/>
            </a:pPr>
            <a:endParaRPr lang="en-US" sz="2800" i="1" dirty="0"/>
          </a:p>
          <a:p>
            <a:pPr eaLnBrk="1" fontAlgn="auto" hangingPunct="1">
              <a:spcAft>
                <a:spcPts val="0"/>
              </a:spcAft>
              <a:defRPr/>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253CD-1013-F2E4-18F5-4CAD904031F5}"/>
              </a:ext>
            </a:extLst>
          </p:cNvPr>
          <p:cNvSpPr>
            <a:spLocks noGrp="1"/>
          </p:cNvSpPr>
          <p:nvPr>
            <p:ph type="title"/>
          </p:nvPr>
        </p:nvSpPr>
        <p:spPr>
          <a:xfrm>
            <a:off x="1801074" y="501562"/>
            <a:ext cx="8911687" cy="695642"/>
          </a:xfrm>
        </p:spPr>
        <p:txBody>
          <a:bodyPr/>
          <a:lstStyle/>
          <a:p>
            <a:r>
              <a:rPr lang="en-IN" b="1" dirty="0">
                <a:latin typeface="Times New Roman" panose="02020603050405020304" pitchFamily="18" charset="0"/>
                <a:cs typeface="Times New Roman" panose="02020603050405020304" pitchFamily="18" charset="0"/>
              </a:rPr>
              <a:t>Characteristics of NMOS Logic</a:t>
            </a:r>
          </a:p>
        </p:txBody>
      </p:sp>
      <p:sp>
        <p:nvSpPr>
          <p:cNvPr id="3" name="Content Placeholder 2">
            <a:extLst>
              <a:ext uri="{FF2B5EF4-FFF2-40B4-BE49-F238E27FC236}">
                <a16:creationId xmlns:a16="http://schemas.microsoft.com/office/drawing/2014/main" id="{FE97C704-8427-8D10-4B19-47ADD3B36DDF}"/>
              </a:ext>
            </a:extLst>
          </p:cNvPr>
          <p:cNvSpPr>
            <a:spLocks noGrp="1"/>
          </p:cNvSpPr>
          <p:nvPr>
            <p:ph idx="1"/>
          </p:nvPr>
        </p:nvSpPr>
        <p:spPr>
          <a:xfrm>
            <a:off x="1008668" y="1294614"/>
            <a:ext cx="10482605" cy="506182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Uses Only NMOS Transistors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Simpler fabrication.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Smaller area compared to early CMOS.</a:t>
            </a:r>
          </a:p>
          <a:p>
            <a:pPr marL="0" indent="0" algn="just">
              <a:buNone/>
            </a:pPr>
            <a:r>
              <a:rPr lang="en-US" sz="2400" b="1" dirty="0">
                <a:latin typeface="Times New Roman" panose="02020603050405020304" pitchFamily="18" charset="0"/>
                <a:cs typeface="Times New Roman" panose="02020603050405020304" pitchFamily="18" charset="0"/>
              </a:rPr>
              <a:t> Faster Than PMOS Logic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Electrons (NMOS carriers) have higher mobility than holes (PMOS).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NMOS circuits are faster than PMOS-only logic.</a:t>
            </a:r>
          </a:p>
          <a:p>
            <a:pPr marL="0" indent="0" algn="just">
              <a:buNone/>
            </a:pPr>
            <a:r>
              <a:rPr lang="en-US" sz="2400" b="1" dirty="0">
                <a:latin typeface="Times New Roman" panose="02020603050405020304" pitchFamily="18" charset="0"/>
                <a:cs typeface="Times New Roman" panose="02020603050405020304" pitchFamily="18" charset="0"/>
              </a:rPr>
              <a:t> Static Power Dissipation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output is LOW → continuous current flows from VDD to GND.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Hence higher static power compared to CMOS.</a:t>
            </a:r>
          </a:p>
          <a:p>
            <a:pPr algn="just"/>
            <a:endParaRPr lang="en-IN" dirty="0"/>
          </a:p>
        </p:txBody>
      </p:sp>
      <p:sp>
        <p:nvSpPr>
          <p:cNvPr id="4" name="Footer Placeholder 3">
            <a:extLst>
              <a:ext uri="{FF2B5EF4-FFF2-40B4-BE49-F238E27FC236}">
                <a16:creationId xmlns:a16="http://schemas.microsoft.com/office/drawing/2014/main" id="{9BC39DEC-5877-343B-FA2B-C57F28AC4B5D}"/>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1002768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3FD5-11D1-8224-3861-E0059C460F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E79E3-C572-5766-EF25-D48EFA9A8550}"/>
              </a:ext>
            </a:extLst>
          </p:cNvPr>
          <p:cNvSpPr>
            <a:spLocks noGrp="1"/>
          </p:cNvSpPr>
          <p:nvPr>
            <p:ph idx="1"/>
          </p:nvPr>
        </p:nvSpPr>
        <p:spPr>
          <a:xfrm>
            <a:off x="1008668" y="1294614"/>
            <a:ext cx="10482605" cy="5061823"/>
          </a:xfrm>
        </p:spPr>
        <p:txBody>
          <a:bodyPr>
            <a:normAutofit lnSpcReduction="10000"/>
          </a:bodyPr>
          <a:lstStyle/>
          <a:p>
            <a:pPr marL="0" indent="0">
              <a:buNone/>
            </a:pPr>
            <a:r>
              <a:rPr lang="en-US" sz="2800" b="1" dirty="0">
                <a:latin typeface="Times New Roman" panose="02020603050405020304" pitchFamily="18" charset="0"/>
                <a:cs typeface="Times New Roman" panose="02020603050405020304" pitchFamily="18" charset="0"/>
              </a:rPr>
              <a:t>Advantages of NMOS Logic:</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Faster than PMOS logic.</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Requires fewer transistors than CMOS (in early implementations).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Simpler design structure.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Historically important in early microprocessor.</a:t>
            </a:r>
          </a:p>
          <a:p>
            <a:pPr marL="0" indent="0">
              <a:buNone/>
            </a:pPr>
            <a:r>
              <a:rPr lang="en-US" sz="2800" b="1" dirty="0">
                <a:latin typeface="Times New Roman" panose="02020603050405020304" pitchFamily="18" charset="0"/>
                <a:cs typeface="Times New Roman" panose="02020603050405020304" pitchFamily="18" charset="0"/>
              </a:rPr>
              <a:t>Disadvantages of NMOS Logic</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 static power consumption.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Poor noise margin compared to CMOS.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HIGH voltage is weaker (depends on load).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More heat generation.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Not suitable for battery-operated systems.</a:t>
            </a:r>
          </a:p>
          <a:p>
            <a:pPr marL="0" indent="0">
              <a:buNone/>
            </a:pPr>
            <a:endParaRPr lang="en-US" sz="2200" dirty="0">
              <a:latin typeface="Times New Roman" panose="02020603050405020304" pitchFamily="18" charset="0"/>
              <a:cs typeface="Times New Roman" panose="02020603050405020304" pitchFamily="18" charset="0"/>
            </a:endParaRPr>
          </a:p>
          <a:p>
            <a:pPr marL="0" indent="0" algn="just">
              <a:buNone/>
            </a:pPr>
            <a:endParaRPr lang="en-IN" dirty="0"/>
          </a:p>
        </p:txBody>
      </p:sp>
      <p:sp>
        <p:nvSpPr>
          <p:cNvPr id="4" name="Footer Placeholder 3">
            <a:extLst>
              <a:ext uri="{FF2B5EF4-FFF2-40B4-BE49-F238E27FC236}">
                <a16:creationId xmlns:a16="http://schemas.microsoft.com/office/drawing/2014/main" id="{CF8FB73D-73E1-B5C4-F8A1-EA24A828AA9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341041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A6881-16D5-7087-3CD7-D37461B80C21}"/>
              </a:ext>
            </a:extLst>
          </p:cNvPr>
          <p:cNvSpPr>
            <a:spLocks noGrp="1"/>
          </p:cNvSpPr>
          <p:nvPr>
            <p:ph type="title"/>
          </p:nvPr>
        </p:nvSpPr>
        <p:spPr>
          <a:xfrm>
            <a:off x="1744513" y="306333"/>
            <a:ext cx="8911687" cy="640445"/>
          </a:xfrm>
        </p:spPr>
        <p:txBody>
          <a:bodyPr/>
          <a:lstStyle/>
          <a:p>
            <a:r>
              <a:rPr lang="en-IN" b="1" dirty="0">
                <a:latin typeface="Times New Roman" panose="02020603050405020304" pitchFamily="18" charset="0"/>
                <a:cs typeface="Times New Roman" panose="02020603050405020304" pitchFamily="18" charset="0"/>
              </a:rPr>
              <a:t>3. Pseudo-NMOS Logic</a:t>
            </a:r>
          </a:p>
        </p:txBody>
      </p:sp>
      <p:sp>
        <p:nvSpPr>
          <p:cNvPr id="3" name="Content Placeholder 2">
            <a:extLst>
              <a:ext uri="{FF2B5EF4-FFF2-40B4-BE49-F238E27FC236}">
                <a16:creationId xmlns:a16="http://schemas.microsoft.com/office/drawing/2014/main" id="{4646F674-F0D9-D730-7E2C-DFF4EB246752}"/>
              </a:ext>
            </a:extLst>
          </p:cNvPr>
          <p:cNvSpPr>
            <a:spLocks noGrp="1"/>
          </p:cNvSpPr>
          <p:nvPr>
            <p:ph idx="1"/>
          </p:nvPr>
        </p:nvSpPr>
        <p:spPr>
          <a:xfrm>
            <a:off x="1293811" y="1426590"/>
            <a:ext cx="10508548" cy="3777622"/>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Ratioed logic is an attempt to reduce the number of transistors required to implement a given logic function, at the cost of reduced robustness and extra power dissipation.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purpose of the PUN in complementary CMOS is to provide a conditional path between VDD and the output when the PDN is turned off.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ratioed logic, the entire PUN is replaced with a single unconditional load device that pulls up the output for a high output.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Instead of a combination of active pull-down and pull-up networks, such a gate consists of an NMOS pull-down network that realizes the logic function, and a simple load device.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ratioed logic, which uses a grounded PMOS load and is referred to as a pseudo-NMOS gate. </a:t>
            </a: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4DFB734-6B87-F690-9DE3-C2052112C525}"/>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3501867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6903AC-B8E2-94D8-4D36-EF024992F5DB}"/>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FFC76C15-9C60-1016-5488-506A4DF71D66}"/>
              </a:ext>
            </a:extLst>
          </p:cNvPr>
          <p:cNvPicPr>
            <a:picLocks noChangeAspect="1"/>
          </p:cNvPicPr>
          <p:nvPr/>
        </p:nvPicPr>
        <p:blipFill>
          <a:blip r:embed="rId2"/>
          <a:stretch>
            <a:fillRect/>
          </a:stretch>
        </p:blipFill>
        <p:spPr>
          <a:xfrm>
            <a:off x="1823443" y="1272619"/>
            <a:ext cx="9607390" cy="3754715"/>
          </a:xfrm>
          <a:prstGeom prst="rect">
            <a:avLst/>
          </a:prstGeom>
        </p:spPr>
      </p:pic>
    </p:spTree>
    <p:extLst>
      <p:ext uri="{BB962C8B-B14F-4D97-AF65-F5344CB8AC3E}">
        <p14:creationId xmlns:p14="http://schemas.microsoft.com/office/powerpoint/2010/main" val="40507188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EDD12-5789-8D10-92C3-F94559EF3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A84DF-71D1-7AA6-1FD8-B531686AB5D5}"/>
              </a:ext>
            </a:extLst>
          </p:cNvPr>
          <p:cNvSpPr>
            <a:spLocks noGrp="1"/>
          </p:cNvSpPr>
          <p:nvPr>
            <p:ph type="title"/>
          </p:nvPr>
        </p:nvSpPr>
        <p:spPr>
          <a:xfrm>
            <a:off x="1744513" y="306333"/>
            <a:ext cx="8911687" cy="640445"/>
          </a:xfrm>
        </p:spPr>
        <p:txBody>
          <a:bodyPr/>
          <a:lstStyle/>
          <a:p>
            <a:r>
              <a:rPr lang="en-IN" b="1" dirty="0">
                <a:latin typeface="Times New Roman" panose="02020603050405020304" pitchFamily="18" charset="0"/>
                <a:cs typeface="Times New Roman" panose="02020603050405020304" pitchFamily="18" charset="0"/>
              </a:rPr>
              <a:t>Pseudo-NMOS Logic</a:t>
            </a:r>
          </a:p>
        </p:txBody>
      </p:sp>
      <p:sp>
        <p:nvSpPr>
          <p:cNvPr id="3" name="Content Placeholder 2">
            <a:extLst>
              <a:ext uri="{FF2B5EF4-FFF2-40B4-BE49-F238E27FC236}">
                <a16:creationId xmlns:a16="http://schemas.microsoft.com/office/drawing/2014/main" id="{5BB956AD-DF2F-9773-49A5-8C382120E696}"/>
              </a:ext>
            </a:extLst>
          </p:cNvPr>
          <p:cNvSpPr>
            <a:spLocks noGrp="1"/>
          </p:cNvSpPr>
          <p:nvPr>
            <p:ph idx="1"/>
          </p:nvPr>
        </p:nvSpPr>
        <p:spPr>
          <a:xfrm>
            <a:off x="1293811" y="1426590"/>
            <a:ext cx="10508548" cy="459713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clear advantage of pseudo-NMOS is the reduced number of transistors (N+1 versus 2N for complementary CMOS).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nominal high output voltage (V</a:t>
            </a:r>
            <a:r>
              <a:rPr lang="en-US" sz="2400" baseline="-25000" dirty="0">
                <a:latin typeface="Times New Roman" panose="02020603050405020304" pitchFamily="18" charset="0"/>
                <a:cs typeface="Times New Roman" panose="02020603050405020304" pitchFamily="18" charset="0"/>
              </a:rPr>
              <a:t>OH</a:t>
            </a:r>
            <a:r>
              <a:rPr lang="en-US" sz="2400" dirty="0">
                <a:latin typeface="Times New Roman" panose="02020603050405020304" pitchFamily="18" charset="0"/>
                <a:cs typeface="Times New Roman" panose="02020603050405020304" pitchFamily="18" charset="0"/>
              </a:rPr>
              <a:t>) for this gate is VDD since the pull-down devices are turned off when the output is pulled high (assuming that V</a:t>
            </a:r>
            <a:r>
              <a:rPr lang="en-US" sz="2400" baseline="-25000" dirty="0">
                <a:latin typeface="Times New Roman" panose="02020603050405020304" pitchFamily="18" charset="0"/>
                <a:cs typeface="Times New Roman" panose="02020603050405020304" pitchFamily="18" charset="0"/>
              </a:rPr>
              <a:t>OL</a:t>
            </a:r>
            <a:r>
              <a:rPr lang="en-US" sz="2400" dirty="0">
                <a:latin typeface="Times New Roman" panose="02020603050405020304" pitchFamily="18" charset="0"/>
                <a:cs typeface="Times New Roman" panose="02020603050405020304" pitchFamily="18" charset="0"/>
              </a:rPr>
              <a:t> is below </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Tn</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 the other hand, the nominal low output voltage is not 0 V since there is a fight between the devices in the PDN and the grounded PMOS load device.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This results in reduced noise margins and more importantly static power dissipation.</a:t>
            </a: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928FE56-5F35-45C7-651B-3539A40783B8}"/>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5036993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1725A-1620-FD56-263A-46E23DF6B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6AD66-AE23-861C-C684-6CB901D36D72}"/>
              </a:ext>
            </a:extLst>
          </p:cNvPr>
          <p:cNvSpPr>
            <a:spLocks noGrp="1"/>
          </p:cNvSpPr>
          <p:nvPr>
            <p:ph type="title"/>
          </p:nvPr>
        </p:nvSpPr>
        <p:spPr>
          <a:xfrm>
            <a:off x="1744513" y="306333"/>
            <a:ext cx="8911687" cy="640445"/>
          </a:xfrm>
        </p:spPr>
        <p:txBody>
          <a:bodyPr/>
          <a:lstStyle/>
          <a:p>
            <a:r>
              <a:rPr lang="en-IN" b="1" dirty="0">
                <a:latin typeface="Times New Roman" panose="02020603050405020304" pitchFamily="18" charset="0"/>
                <a:cs typeface="Times New Roman" panose="02020603050405020304" pitchFamily="18" charset="0"/>
              </a:rPr>
              <a:t>Pseudo-NMOS Logic</a:t>
            </a:r>
          </a:p>
        </p:txBody>
      </p:sp>
      <p:sp>
        <p:nvSpPr>
          <p:cNvPr id="3" name="Content Placeholder 2">
            <a:extLst>
              <a:ext uri="{FF2B5EF4-FFF2-40B4-BE49-F238E27FC236}">
                <a16:creationId xmlns:a16="http://schemas.microsoft.com/office/drawing/2014/main" id="{BF69E03E-F73B-B9EE-68E4-07A0BDE69D5E}"/>
              </a:ext>
            </a:extLst>
          </p:cNvPr>
          <p:cNvSpPr>
            <a:spLocks noGrp="1"/>
          </p:cNvSpPr>
          <p:nvPr>
            <p:ph idx="1"/>
          </p:nvPr>
        </p:nvSpPr>
        <p:spPr>
          <a:xfrm>
            <a:off x="1293811" y="1426590"/>
            <a:ext cx="10508548" cy="459713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sizing of the load device relative to the pull-down devices can be used to trade-off parameters such a noise margin, propagation delay and power dissipation.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the voltage swing on the output and the overall functionality of the gate depends upon the ratio between the NMOS and PMOS sizes, the circuit is called ratioed.</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4AED044-1683-5318-6F07-1D62E2D6C369}"/>
              </a:ext>
            </a:extLst>
          </p:cNvPr>
          <p:cNvSpPr>
            <a:spLocks noGrp="1"/>
          </p:cNvSpPr>
          <p:nvPr>
            <p:ph type="ftr" sz="quarter" idx="11"/>
          </p:nvPr>
        </p:nvSpPr>
        <p:spPr/>
        <p:txBody>
          <a:bodyPr/>
          <a:lstStyle/>
          <a:p>
            <a:r>
              <a:rPr lang="en-IN"/>
              <a:t>Dr. Aruru Sai Kumar , VIT-AP</a:t>
            </a:r>
            <a:endParaRPr lang="en-IN" dirty="0"/>
          </a:p>
        </p:txBody>
      </p:sp>
      <p:pic>
        <p:nvPicPr>
          <p:cNvPr id="11266" name="Picture 2" descr="Pseudo NMOS inverter | Download ...">
            <a:extLst>
              <a:ext uri="{FF2B5EF4-FFF2-40B4-BE49-F238E27FC236}">
                <a16:creationId xmlns:a16="http://schemas.microsoft.com/office/drawing/2014/main" id="{9458B00C-B2B3-1DF2-2AED-19C99FB8D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3837" y="3675668"/>
            <a:ext cx="4101752" cy="2625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058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528295-90CD-EC86-0407-A634A8DFE67F}"/>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B70A037-0FAA-C28F-DD55-B7C076B2DBEB}"/>
              </a:ext>
            </a:extLst>
          </p:cNvPr>
          <p:cNvPicPr>
            <a:picLocks noChangeAspect="1"/>
          </p:cNvPicPr>
          <p:nvPr/>
        </p:nvPicPr>
        <p:blipFill>
          <a:blip r:embed="rId2"/>
          <a:stretch>
            <a:fillRect/>
          </a:stretch>
        </p:blipFill>
        <p:spPr>
          <a:xfrm>
            <a:off x="1975417" y="1053958"/>
            <a:ext cx="8847587" cy="4244708"/>
          </a:xfrm>
          <a:prstGeom prst="rect">
            <a:avLst/>
          </a:prstGeom>
        </p:spPr>
      </p:pic>
    </p:spTree>
    <p:extLst>
      <p:ext uri="{BB962C8B-B14F-4D97-AF65-F5344CB8AC3E}">
        <p14:creationId xmlns:p14="http://schemas.microsoft.com/office/powerpoint/2010/main" val="644492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7F9A-1B18-0EEC-B0E7-60906FAE40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0B9DE-F028-669F-7B85-1668FEF59207}"/>
              </a:ext>
            </a:extLst>
          </p:cNvPr>
          <p:cNvSpPr>
            <a:spLocks noGrp="1"/>
          </p:cNvSpPr>
          <p:nvPr>
            <p:ph idx="1"/>
          </p:nvPr>
        </p:nvSpPr>
        <p:spPr>
          <a:xfrm>
            <a:off x="1008668" y="1294614"/>
            <a:ext cx="10482605" cy="506182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Advantages of Pseudo - NMOS Logic:</a:t>
            </a:r>
          </a:p>
          <a:p>
            <a:pPr marL="0" indent="0">
              <a:buNone/>
            </a:pPr>
            <a:r>
              <a:rPr lang="en-US" sz="2400" b="1" dirty="0">
                <a:latin typeface="Times New Roman" panose="02020603050405020304" pitchFamily="18" charset="0"/>
                <a:cs typeface="Times New Roman" panose="02020603050405020304" pitchFamily="18" charset="0"/>
              </a:rPr>
              <a:t>Reduced Transistor Count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Uses N + 1 transistors instead of 2N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Saves silicon area</a:t>
            </a:r>
          </a:p>
          <a:p>
            <a:pPr marL="0" indent="0">
              <a:buNone/>
            </a:pPr>
            <a:r>
              <a:rPr lang="en-US" sz="2400" b="1" dirty="0">
                <a:latin typeface="Times New Roman" panose="02020603050405020304" pitchFamily="18" charset="0"/>
                <a:cs typeface="Times New Roman" panose="02020603050405020304" pitchFamily="18" charset="0"/>
              </a:rPr>
              <a:t>Smaller Area</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Less routing complexity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Compact design</a:t>
            </a:r>
          </a:p>
          <a:p>
            <a:pPr marL="0" indent="0">
              <a:buNone/>
            </a:pPr>
            <a:r>
              <a:rPr lang="en-US" sz="2400" b="1" dirty="0">
                <a:latin typeface="Times New Roman" panose="02020603050405020304" pitchFamily="18" charset="0"/>
                <a:cs typeface="Times New Roman" panose="02020603050405020304" pitchFamily="18" charset="0"/>
              </a:rPr>
              <a:t>Potentially Faster Rise Time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one PMOS load (simpler pull-up structure)</a:t>
            </a:r>
          </a:p>
          <a:p>
            <a:pPr marL="0" indent="0">
              <a:buNone/>
            </a:pPr>
            <a:endParaRPr lang="en-US" sz="2200" dirty="0">
              <a:latin typeface="Times New Roman" panose="02020603050405020304" pitchFamily="18" charset="0"/>
              <a:cs typeface="Times New Roman" panose="02020603050405020304" pitchFamily="18" charset="0"/>
            </a:endParaRPr>
          </a:p>
          <a:p>
            <a:pPr marL="0" indent="0" algn="just">
              <a:buNone/>
            </a:pPr>
            <a:endParaRPr lang="en-IN" dirty="0"/>
          </a:p>
        </p:txBody>
      </p:sp>
      <p:sp>
        <p:nvSpPr>
          <p:cNvPr id="4" name="Footer Placeholder 3">
            <a:extLst>
              <a:ext uri="{FF2B5EF4-FFF2-40B4-BE49-F238E27FC236}">
                <a16:creationId xmlns:a16="http://schemas.microsoft.com/office/drawing/2014/main" id="{D2A678C6-1F42-86A5-E8BD-F7D2268C842F}"/>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60937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0AE6-E127-81B1-E917-789A99D862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B0BAC-8A8A-BC7E-3630-AECF0A8191A2}"/>
              </a:ext>
            </a:extLst>
          </p:cNvPr>
          <p:cNvSpPr>
            <a:spLocks noGrp="1"/>
          </p:cNvSpPr>
          <p:nvPr>
            <p:ph idx="1"/>
          </p:nvPr>
        </p:nvSpPr>
        <p:spPr>
          <a:xfrm>
            <a:off x="854697" y="506854"/>
            <a:ext cx="10482605" cy="5628954"/>
          </a:xfrm>
        </p:spPr>
        <p:txBody>
          <a:bodyPr>
            <a:normAutofit fontScale="85000" lnSpcReduction="20000"/>
          </a:bodyPr>
          <a:lstStyle/>
          <a:p>
            <a:pPr marL="0" indent="0" algn="just">
              <a:buNone/>
            </a:pPr>
            <a:r>
              <a:rPr lang="en-US" sz="2800" b="1" dirty="0">
                <a:latin typeface="Times New Roman" panose="02020603050405020304" pitchFamily="18" charset="0"/>
                <a:cs typeface="Times New Roman" panose="02020603050405020304" pitchFamily="18" charset="0"/>
              </a:rPr>
              <a:t>Disadvantages of Pseudo - NMOS Logic:</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Static Power Dissipation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LOW output, both PMOS and NMOS conduct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Direct current path from VDD to GND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static power consumption</a:t>
            </a:r>
          </a:p>
          <a:p>
            <a:pPr marL="0" indent="0" algn="just">
              <a:buNone/>
            </a:pPr>
            <a:r>
              <a:rPr lang="en-US" sz="2400" b="1" dirty="0">
                <a:latin typeface="Times New Roman" panose="02020603050405020304" pitchFamily="18" charset="0"/>
                <a:cs typeface="Times New Roman" panose="02020603050405020304" pitchFamily="18" charset="0"/>
              </a:rPr>
              <a:t>Reduced Noise Margins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LOW is not exactly 0 V</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Noise immunity is lower than CMOS</a:t>
            </a:r>
          </a:p>
          <a:p>
            <a:pPr marL="0" indent="0" algn="just">
              <a:buNone/>
            </a:pPr>
            <a:r>
              <a:rPr lang="en-US" sz="2400" b="1" dirty="0">
                <a:latin typeface="Times New Roman" panose="02020603050405020304" pitchFamily="18" charset="0"/>
                <a:cs typeface="Times New Roman" panose="02020603050405020304" pitchFamily="18" charset="0"/>
              </a:rPr>
              <a:t>Voltage Swing Degradation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LOW level depends on sizing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Not full rail-to-rail in worst cases</a:t>
            </a:r>
          </a:p>
          <a:p>
            <a:pPr marL="0" indent="0" algn="just">
              <a:buNone/>
            </a:pPr>
            <a:r>
              <a:rPr lang="en-US" sz="2400" b="1" dirty="0">
                <a:latin typeface="Times New Roman" panose="02020603050405020304" pitchFamily="18" charset="0"/>
                <a:cs typeface="Times New Roman" panose="02020603050405020304" pitchFamily="18" charset="0"/>
              </a:rPr>
              <a:t>Careful Sizing Required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Performance depends on transistor ratio</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Improper sizing → logic failure</a:t>
            </a:r>
          </a:p>
          <a:p>
            <a:pPr marL="0" indent="0" algn="just">
              <a:buNone/>
            </a:pPr>
            <a:endParaRPr lang="en-IN" dirty="0"/>
          </a:p>
        </p:txBody>
      </p:sp>
      <p:sp>
        <p:nvSpPr>
          <p:cNvPr id="4" name="Footer Placeholder 3">
            <a:extLst>
              <a:ext uri="{FF2B5EF4-FFF2-40B4-BE49-F238E27FC236}">
                <a16:creationId xmlns:a16="http://schemas.microsoft.com/office/drawing/2014/main" id="{396D791C-A91B-B806-1DF4-B031666C797B}"/>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4205323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7738AC08-9B71-0086-7C63-941F19C7B6BF}"/>
              </a:ext>
            </a:extLst>
          </p:cNvPr>
          <p:cNvSpPr>
            <a:spLocks noGrp="1"/>
          </p:cNvSpPr>
          <p:nvPr>
            <p:ph type="title"/>
          </p:nvPr>
        </p:nvSpPr>
        <p:spPr>
          <a:xfrm>
            <a:off x="2592388" y="623888"/>
            <a:ext cx="8912225" cy="823912"/>
          </a:xfrm>
        </p:spPr>
        <p:txBody>
          <a:bodyPr/>
          <a:lstStyle/>
          <a:p>
            <a:pPr eaLnBrk="1" hangingPunct="1"/>
            <a:r>
              <a:rPr lang="en-IN" altLang="en-US" b="1" dirty="0">
                <a:latin typeface="Times New Roman" panose="02020603050405020304" pitchFamily="18" charset="0"/>
                <a:cs typeface="Times New Roman" panose="02020603050405020304" pitchFamily="18" charset="0"/>
              </a:rPr>
              <a:t>4. Pass Transistor Logic (PTL)</a:t>
            </a:r>
          </a:p>
        </p:txBody>
      </p:sp>
      <p:sp>
        <p:nvSpPr>
          <p:cNvPr id="27651" name="Content Placeholder 2">
            <a:extLst>
              <a:ext uri="{FF2B5EF4-FFF2-40B4-BE49-F238E27FC236}">
                <a16:creationId xmlns:a16="http://schemas.microsoft.com/office/drawing/2014/main" id="{EDBA286F-9FED-C628-16E2-55B9CD255252}"/>
              </a:ext>
            </a:extLst>
          </p:cNvPr>
          <p:cNvSpPr>
            <a:spLocks noGrp="1"/>
          </p:cNvSpPr>
          <p:nvPr>
            <p:ph idx="1"/>
          </p:nvPr>
        </p:nvSpPr>
        <p:spPr>
          <a:xfrm>
            <a:off x="609600" y="1457325"/>
            <a:ext cx="11430000" cy="2733675"/>
          </a:xfrm>
        </p:spPr>
        <p:txBody>
          <a:bodyPr/>
          <a:lstStyle/>
          <a:p>
            <a:pPr eaLnBrk="1" hangingPunct="1"/>
            <a:r>
              <a:rPr lang="en-IN" altLang="en-US" sz="2400" dirty="0">
                <a:solidFill>
                  <a:srgbClr val="0C0809"/>
                </a:solidFill>
                <a:latin typeface="Times New Roman" panose="02020603050405020304" pitchFamily="18" charset="0"/>
              </a:rPr>
              <a:t>Unlike bipolar transistors, the isolated nature of the gate allows MOS transistors to be used as switches in series with lines carrying logic levels in a way that is similar to the use of relay contacts</a:t>
            </a:r>
            <a:r>
              <a:rPr lang="en-IN" altLang="en-US" sz="2400" dirty="0">
                <a:solidFill>
                  <a:srgbClr val="2E2424"/>
                </a:solidFill>
                <a:latin typeface="Times New Roman" panose="02020603050405020304" pitchFamily="18" charset="0"/>
              </a:rPr>
              <a:t>. </a:t>
            </a:r>
          </a:p>
          <a:p>
            <a:pPr eaLnBrk="1" hangingPunct="1"/>
            <a:r>
              <a:rPr lang="en-IN" altLang="en-US" sz="2400" dirty="0">
                <a:solidFill>
                  <a:srgbClr val="0C0809"/>
                </a:solidFill>
                <a:latin typeface="Times New Roman" panose="02020603050405020304" pitchFamily="18" charset="0"/>
              </a:rPr>
              <a:t>This application of the MOS device is called the Pass Transistor and switching logic arrays can be formed</a:t>
            </a:r>
            <a:endParaRPr lang="en-IN" altLang="en-US" sz="2400" dirty="0"/>
          </a:p>
        </p:txBody>
      </p:sp>
      <p:pic>
        <p:nvPicPr>
          <p:cNvPr id="27652" name="Picture 3">
            <a:extLst>
              <a:ext uri="{FF2B5EF4-FFF2-40B4-BE49-F238E27FC236}">
                <a16:creationId xmlns:a16="http://schemas.microsoft.com/office/drawing/2014/main" id="{0A119E1C-3FB2-BB91-7889-D6EF78089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810000"/>
            <a:ext cx="5514975"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Box 5">
            <a:extLst>
              <a:ext uri="{FF2B5EF4-FFF2-40B4-BE49-F238E27FC236}">
                <a16:creationId xmlns:a16="http://schemas.microsoft.com/office/drawing/2014/main" id="{87B233FC-4C0E-57D7-F5A9-AF2B1A9970FE}"/>
              </a:ext>
            </a:extLst>
          </p:cNvPr>
          <p:cNvSpPr txBox="1">
            <a:spLocks noChangeArrowheads="1"/>
          </p:cNvSpPr>
          <p:nvPr/>
        </p:nvSpPr>
        <p:spPr bwMode="auto">
          <a:xfrm>
            <a:off x="2832100" y="6049963"/>
            <a:ext cx="6099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IN" altLang="en-US" sz="1800" dirty="0">
                <a:solidFill>
                  <a:srgbClr val="0C0809"/>
                </a:solidFill>
                <a:latin typeface="Times New Roman" panose="02020603050405020304" pitchFamily="18" charset="0"/>
                <a:cs typeface="Times New Roman" panose="02020603050405020304" pitchFamily="18" charset="0"/>
              </a:rPr>
              <a:t>Figure 6 : Pass transistor AND gate</a:t>
            </a:r>
            <a:endParaRPr lang="en-IN" altLang="en-US"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5122" name="Ink 6">
                <a:extLst>
                  <a:ext uri="{FF2B5EF4-FFF2-40B4-BE49-F238E27FC236}">
                    <a16:creationId xmlns:a16="http://schemas.microsoft.com/office/drawing/2014/main" id="{81DD059D-9F89-5EE6-4395-5566BAE323DE}"/>
                  </a:ext>
                </a:extLst>
              </p14:cNvPr>
              <p14:cNvContentPartPr>
                <a14:cpLocks xmlns:a14="http://schemas.microsoft.com/office/drawing/2010/main" noRot="1" noChangeAspect="1" noEditPoints="1" noChangeArrowheads="1" noChangeShapeType="1"/>
              </p14:cNvContentPartPr>
              <p14:nvPr/>
            </p14:nvContentPartPr>
            <p14:xfrm>
              <a:off x="3644900" y="4889500"/>
              <a:ext cx="419100" cy="355600"/>
            </p14:xfrm>
          </p:contentPart>
        </mc:Choice>
        <mc:Fallback xmlns="">
          <p:pic>
            <p:nvPicPr>
              <p:cNvPr id="5122" name="Ink 6">
                <a:extLst>
                  <a:ext uri="{FF2B5EF4-FFF2-40B4-BE49-F238E27FC236}">
                    <a16:creationId xmlns:a16="http://schemas.microsoft.com/office/drawing/2014/main" id="{81DD059D-9F89-5EE6-4395-5566BAE323DE}"/>
                  </a:ext>
                </a:extLst>
              </p:cNvPr>
              <p:cNvPicPr>
                <a:picLocks noRot="1" noChangeAspect="1" noEditPoints="1" noChangeArrowheads="1" noChangeShapeType="1"/>
              </p:cNvPicPr>
              <p:nvPr/>
            </p:nvPicPr>
            <p:blipFill>
              <a:blip r:embed="rId4"/>
              <a:stretch>
                <a:fillRect/>
              </a:stretch>
            </p:blipFill>
            <p:spPr>
              <a:xfrm>
                <a:off x="3635539" y="4880142"/>
                <a:ext cx="437823" cy="37431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123" name="Ink 7">
                <a:extLst>
                  <a:ext uri="{FF2B5EF4-FFF2-40B4-BE49-F238E27FC236}">
                    <a16:creationId xmlns:a16="http://schemas.microsoft.com/office/drawing/2014/main" id="{BEEB4D0D-E2A9-A22E-BE65-9B08B2268571}"/>
                  </a:ext>
                </a:extLst>
              </p14:cNvPr>
              <p14:cNvContentPartPr>
                <a14:cpLocks xmlns:a14="http://schemas.microsoft.com/office/drawing/2010/main" noRot="1" noChangeAspect="1" noEditPoints="1" noChangeArrowheads="1" noChangeShapeType="1"/>
              </p14:cNvContentPartPr>
              <p14:nvPr/>
            </p14:nvContentPartPr>
            <p14:xfrm>
              <a:off x="4781550" y="4902200"/>
              <a:ext cx="241300" cy="95250"/>
            </p14:xfrm>
          </p:contentPart>
        </mc:Choice>
        <mc:Fallback xmlns="">
          <p:pic>
            <p:nvPicPr>
              <p:cNvPr id="5123" name="Ink 7">
                <a:extLst>
                  <a:ext uri="{FF2B5EF4-FFF2-40B4-BE49-F238E27FC236}">
                    <a16:creationId xmlns:a16="http://schemas.microsoft.com/office/drawing/2014/main" id="{BEEB4D0D-E2A9-A22E-BE65-9B08B2268571}"/>
                  </a:ext>
                </a:extLst>
              </p:cNvPr>
              <p:cNvPicPr>
                <a:picLocks noRot="1" noChangeAspect="1" noEditPoints="1" noChangeArrowheads="1" noChangeShapeType="1"/>
              </p:cNvPicPr>
              <p:nvPr/>
            </p:nvPicPr>
            <p:blipFill>
              <a:blip r:embed="rId6"/>
              <a:stretch>
                <a:fillRect/>
              </a:stretch>
            </p:blipFill>
            <p:spPr>
              <a:xfrm>
                <a:off x="4772186" y="4892855"/>
                <a:ext cx="260028" cy="11394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124" name="Ink 8">
                <a:extLst>
                  <a:ext uri="{FF2B5EF4-FFF2-40B4-BE49-F238E27FC236}">
                    <a16:creationId xmlns:a16="http://schemas.microsoft.com/office/drawing/2014/main" id="{F09BC3DB-078F-9788-DC1A-EBE24AAE3F2D}"/>
                  </a:ext>
                </a:extLst>
              </p14:cNvPr>
              <p14:cNvContentPartPr>
                <a14:cpLocks xmlns:a14="http://schemas.microsoft.com/office/drawing/2010/main" noRot="1" noChangeAspect="1" noEditPoints="1" noChangeArrowheads="1" noChangeShapeType="1"/>
              </p14:cNvContentPartPr>
              <p14:nvPr/>
            </p14:nvContentPartPr>
            <p14:xfrm>
              <a:off x="5048250" y="3187700"/>
              <a:ext cx="749300" cy="1111250"/>
            </p14:xfrm>
          </p:contentPart>
        </mc:Choice>
        <mc:Fallback xmlns="">
          <p:pic>
            <p:nvPicPr>
              <p:cNvPr id="5124" name="Ink 8">
                <a:extLst>
                  <a:ext uri="{FF2B5EF4-FFF2-40B4-BE49-F238E27FC236}">
                    <a16:creationId xmlns:a16="http://schemas.microsoft.com/office/drawing/2014/main" id="{F09BC3DB-078F-9788-DC1A-EBE24AAE3F2D}"/>
                  </a:ext>
                </a:extLst>
              </p:cNvPr>
              <p:cNvPicPr>
                <a:picLocks noRot="1" noChangeAspect="1" noEditPoints="1" noChangeArrowheads="1" noChangeShapeType="1"/>
              </p:cNvPicPr>
              <p:nvPr/>
            </p:nvPicPr>
            <p:blipFill>
              <a:blip r:embed="rId8"/>
              <a:stretch>
                <a:fillRect/>
              </a:stretch>
            </p:blipFill>
            <p:spPr>
              <a:xfrm>
                <a:off x="5038888" y="3178341"/>
                <a:ext cx="768023" cy="1129969"/>
              </a:xfrm>
              <a:prstGeom prst="rect">
                <a:avLst/>
              </a:prstGeom>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object 2">
            <a:extLst>
              <a:ext uri="{FF2B5EF4-FFF2-40B4-BE49-F238E27FC236}">
                <a16:creationId xmlns:a16="http://schemas.microsoft.com/office/drawing/2014/main" id="{586190F1-A8B6-9A4E-8196-B43DE71FDD96}"/>
              </a:ext>
            </a:extLst>
          </p:cNvPr>
          <p:cNvSpPr>
            <a:spLocks/>
          </p:cNvSpPr>
          <p:nvPr/>
        </p:nvSpPr>
        <p:spPr bwMode="auto">
          <a:xfrm>
            <a:off x="1676400" y="6697663"/>
            <a:ext cx="8839200" cy="7937"/>
          </a:xfrm>
          <a:custGeom>
            <a:avLst/>
            <a:gdLst>
              <a:gd name="T0" fmla="*/ 0 w 8839200"/>
              <a:gd name="T1" fmla="*/ 16527 h 7620"/>
              <a:gd name="T2" fmla="*/ 8839200 w 8839200"/>
              <a:gd name="T3" fmla="*/ 16527 h 7620"/>
              <a:gd name="T4" fmla="*/ 8839200 w 8839200"/>
              <a:gd name="T5" fmla="*/ 0 h 7620"/>
              <a:gd name="T6" fmla="*/ 0 w 8839200"/>
              <a:gd name="T7" fmla="*/ 0 h 7620"/>
              <a:gd name="T8" fmla="*/ 0 w 8839200"/>
              <a:gd name="T9" fmla="*/ 16527 h 7620"/>
              <a:gd name="T10" fmla="*/ 0 60000 65536"/>
              <a:gd name="T11" fmla="*/ 0 60000 65536"/>
              <a:gd name="T12" fmla="*/ 0 60000 65536"/>
              <a:gd name="T13" fmla="*/ 0 60000 65536"/>
              <a:gd name="T14" fmla="*/ 0 60000 65536"/>
              <a:gd name="T15" fmla="*/ 0 w 8839200"/>
              <a:gd name="T16" fmla="*/ 0 h 7620"/>
              <a:gd name="T17" fmla="*/ 8839200 w 8839200"/>
              <a:gd name="T18" fmla="*/ 7620 h 7620"/>
            </a:gdLst>
            <a:ahLst/>
            <a:cxnLst>
              <a:cxn ang="T10">
                <a:pos x="T0" y="T1"/>
              </a:cxn>
              <a:cxn ang="T11">
                <a:pos x="T2" y="T3"/>
              </a:cxn>
              <a:cxn ang="T12">
                <a:pos x="T4" y="T5"/>
              </a:cxn>
              <a:cxn ang="T13">
                <a:pos x="T6" y="T7"/>
              </a:cxn>
              <a:cxn ang="T14">
                <a:pos x="T8" y="T9"/>
              </a:cxn>
            </a:cxnLst>
            <a:rect l="T15" t="T16" r="T17" b="T18"/>
            <a:pathLst>
              <a:path w="8839200" h="7620">
                <a:moveTo>
                  <a:pt x="0" y="7619"/>
                </a:moveTo>
                <a:lnTo>
                  <a:pt x="8839200" y="7619"/>
                </a:lnTo>
                <a:lnTo>
                  <a:pt x="8839200" y="0"/>
                </a:lnTo>
                <a:lnTo>
                  <a:pt x="0" y="0"/>
                </a:lnTo>
                <a:lnTo>
                  <a:pt x="0" y="7619"/>
                </a:lnTo>
                <a:close/>
              </a:path>
            </a:pathLst>
          </a:custGeom>
          <a:solidFill>
            <a:srgbClr val="DEF5F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28675" name="object 3">
            <a:extLst>
              <a:ext uri="{FF2B5EF4-FFF2-40B4-BE49-F238E27FC236}">
                <a16:creationId xmlns:a16="http://schemas.microsoft.com/office/drawing/2014/main" id="{50A4CF9D-3882-5363-66D5-24E8A1DB5225}"/>
              </a:ext>
            </a:extLst>
          </p:cNvPr>
          <p:cNvSpPr>
            <a:spLocks/>
          </p:cNvSpPr>
          <p:nvPr/>
        </p:nvSpPr>
        <p:spPr bwMode="auto">
          <a:xfrm>
            <a:off x="1676400" y="6705600"/>
            <a:ext cx="8839200" cy="152400"/>
          </a:xfrm>
          <a:custGeom>
            <a:avLst/>
            <a:gdLst>
              <a:gd name="T0" fmla="*/ 0 w 8839200"/>
              <a:gd name="T1" fmla="*/ 152400 h 152400"/>
              <a:gd name="T2" fmla="*/ 8839200 w 8839200"/>
              <a:gd name="T3" fmla="*/ 152400 h 152400"/>
              <a:gd name="T4" fmla="*/ 8839200 w 8839200"/>
              <a:gd name="T5" fmla="*/ 0 h 152400"/>
              <a:gd name="T6" fmla="*/ 0 w 8839200"/>
              <a:gd name="T7" fmla="*/ 0 h 152400"/>
              <a:gd name="T8" fmla="*/ 0 w 8839200"/>
              <a:gd name="T9" fmla="*/ 152400 h 152400"/>
              <a:gd name="T10" fmla="*/ 0 60000 65536"/>
              <a:gd name="T11" fmla="*/ 0 60000 65536"/>
              <a:gd name="T12" fmla="*/ 0 60000 65536"/>
              <a:gd name="T13" fmla="*/ 0 60000 65536"/>
              <a:gd name="T14" fmla="*/ 0 60000 65536"/>
              <a:gd name="T15" fmla="*/ 0 w 8839200"/>
              <a:gd name="T16" fmla="*/ 0 h 152400"/>
              <a:gd name="T17" fmla="*/ 8839200 w 8839200"/>
              <a:gd name="T18" fmla="*/ 152400 h 152400"/>
            </a:gdLst>
            <a:ahLst/>
            <a:cxnLst>
              <a:cxn ang="T10">
                <a:pos x="T0" y="T1"/>
              </a:cxn>
              <a:cxn ang="T11">
                <a:pos x="T2" y="T3"/>
              </a:cxn>
              <a:cxn ang="T12">
                <a:pos x="T4" y="T5"/>
              </a:cxn>
              <a:cxn ang="T13">
                <a:pos x="T6" y="T7"/>
              </a:cxn>
              <a:cxn ang="T14">
                <a:pos x="T8" y="T9"/>
              </a:cxn>
            </a:cxnLst>
            <a:rect l="T15" t="T16" r="T17" b="T18"/>
            <a:pathLst>
              <a:path w="8839200" h="152400">
                <a:moveTo>
                  <a:pt x="0" y="152400"/>
                </a:moveTo>
                <a:lnTo>
                  <a:pt x="8839200" y="152400"/>
                </a:lnTo>
                <a:lnTo>
                  <a:pt x="8839200" y="0"/>
                </a:lnTo>
                <a:lnTo>
                  <a:pt x="0" y="0"/>
                </a:lnTo>
                <a:lnTo>
                  <a:pt x="0" y="1524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28676" name="object 10">
            <a:extLst>
              <a:ext uri="{FF2B5EF4-FFF2-40B4-BE49-F238E27FC236}">
                <a16:creationId xmlns:a16="http://schemas.microsoft.com/office/drawing/2014/main" id="{BACC9230-FDAD-C008-9F64-BAD7FAD0004E}"/>
              </a:ext>
            </a:extLst>
          </p:cNvPr>
          <p:cNvSpPr>
            <a:spLocks/>
          </p:cNvSpPr>
          <p:nvPr/>
        </p:nvSpPr>
        <p:spPr bwMode="auto">
          <a:xfrm>
            <a:off x="5791200" y="955675"/>
            <a:ext cx="609600" cy="609600"/>
          </a:xfrm>
          <a:custGeom>
            <a:avLst/>
            <a:gdLst>
              <a:gd name="T0" fmla="*/ 304800 w 609600"/>
              <a:gd name="T1" fmla="*/ 0 h 609600"/>
              <a:gd name="T2" fmla="*/ 255374 w 609600"/>
              <a:gd name="T3" fmla="*/ 3990 h 609600"/>
              <a:gd name="T4" fmla="*/ 208483 w 609600"/>
              <a:gd name="T5" fmla="*/ 15544 h 609600"/>
              <a:gd name="T6" fmla="*/ 164753 w 609600"/>
              <a:gd name="T7" fmla="*/ 34032 h 609600"/>
              <a:gd name="T8" fmla="*/ 124815 w 609600"/>
              <a:gd name="T9" fmla="*/ 58826 h 609600"/>
              <a:gd name="T10" fmla="*/ 89296 w 609600"/>
              <a:gd name="T11" fmla="*/ 89296 h 609600"/>
              <a:gd name="T12" fmla="*/ 58826 w 609600"/>
              <a:gd name="T13" fmla="*/ 124815 h 609600"/>
              <a:gd name="T14" fmla="*/ 34032 w 609600"/>
              <a:gd name="T15" fmla="*/ 164753 h 609600"/>
              <a:gd name="T16" fmla="*/ 15544 w 609600"/>
              <a:gd name="T17" fmla="*/ 208483 h 609600"/>
              <a:gd name="T18" fmla="*/ 3990 w 609600"/>
              <a:gd name="T19" fmla="*/ 255374 h 609600"/>
              <a:gd name="T20" fmla="*/ 0 w 609600"/>
              <a:gd name="T21" fmla="*/ 304800 h 609600"/>
              <a:gd name="T22" fmla="*/ 3990 w 609600"/>
              <a:gd name="T23" fmla="*/ 354225 h 609600"/>
              <a:gd name="T24" fmla="*/ 15544 w 609600"/>
              <a:gd name="T25" fmla="*/ 401116 h 609600"/>
              <a:gd name="T26" fmla="*/ 34032 w 609600"/>
              <a:gd name="T27" fmla="*/ 444846 h 609600"/>
              <a:gd name="T28" fmla="*/ 58826 w 609600"/>
              <a:gd name="T29" fmla="*/ 484784 h 609600"/>
              <a:gd name="T30" fmla="*/ 89296 w 609600"/>
              <a:gd name="T31" fmla="*/ 520303 h 609600"/>
              <a:gd name="T32" fmla="*/ 124815 w 609600"/>
              <a:gd name="T33" fmla="*/ 550773 h 609600"/>
              <a:gd name="T34" fmla="*/ 164753 w 609600"/>
              <a:gd name="T35" fmla="*/ 575567 h 609600"/>
              <a:gd name="T36" fmla="*/ 208483 w 609600"/>
              <a:gd name="T37" fmla="*/ 594055 h 609600"/>
              <a:gd name="T38" fmla="*/ 255374 w 609600"/>
              <a:gd name="T39" fmla="*/ 605609 h 609600"/>
              <a:gd name="T40" fmla="*/ 304800 w 609600"/>
              <a:gd name="T41" fmla="*/ 609600 h 609600"/>
              <a:gd name="T42" fmla="*/ 354225 w 609600"/>
              <a:gd name="T43" fmla="*/ 605609 h 609600"/>
              <a:gd name="T44" fmla="*/ 401116 w 609600"/>
              <a:gd name="T45" fmla="*/ 594055 h 609600"/>
              <a:gd name="T46" fmla="*/ 444846 w 609600"/>
              <a:gd name="T47" fmla="*/ 575567 h 609600"/>
              <a:gd name="T48" fmla="*/ 484784 w 609600"/>
              <a:gd name="T49" fmla="*/ 550773 h 609600"/>
              <a:gd name="T50" fmla="*/ 520303 w 609600"/>
              <a:gd name="T51" fmla="*/ 520303 h 609600"/>
              <a:gd name="T52" fmla="*/ 550773 w 609600"/>
              <a:gd name="T53" fmla="*/ 484784 h 609600"/>
              <a:gd name="T54" fmla="*/ 575567 w 609600"/>
              <a:gd name="T55" fmla="*/ 444846 h 609600"/>
              <a:gd name="T56" fmla="*/ 594055 w 609600"/>
              <a:gd name="T57" fmla="*/ 401116 h 609600"/>
              <a:gd name="T58" fmla="*/ 605609 w 609600"/>
              <a:gd name="T59" fmla="*/ 354225 h 609600"/>
              <a:gd name="T60" fmla="*/ 609600 w 609600"/>
              <a:gd name="T61" fmla="*/ 304800 h 609600"/>
              <a:gd name="T62" fmla="*/ 605609 w 609600"/>
              <a:gd name="T63" fmla="*/ 255374 h 609600"/>
              <a:gd name="T64" fmla="*/ 594055 w 609600"/>
              <a:gd name="T65" fmla="*/ 208483 h 609600"/>
              <a:gd name="T66" fmla="*/ 575567 w 609600"/>
              <a:gd name="T67" fmla="*/ 164753 h 609600"/>
              <a:gd name="T68" fmla="*/ 550773 w 609600"/>
              <a:gd name="T69" fmla="*/ 124815 h 609600"/>
              <a:gd name="T70" fmla="*/ 520303 w 609600"/>
              <a:gd name="T71" fmla="*/ 89296 h 609600"/>
              <a:gd name="T72" fmla="*/ 484784 w 609600"/>
              <a:gd name="T73" fmla="*/ 58826 h 609600"/>
              <a:gd name="T74" fmla="*/ 444846 w 609600"/>
              <a:gd name="T75" fmla="*/ 34032 h 609600"/>
              <a:gd name="T76" fmla="*/ 401116 w 609600"/>
              <a:gd name="T77" fmla="*/ 15544 h 609600"/>
              <a:gd name="T78" fmla="*/ 354225 w 609600"/>
              <a:gd name="T79" fmla="*/ 3990 h 609600"/>
              <a:gd name="T80" fmla="*/ 304800 w 609600"/>
              <a:gd name="T81" fmla="*/ 0 h 6096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09600"/>
              <a:gd name="T124" fmla="*/ 0 h 609600"/>
              <a:gd name="T125" fmla="*/ 609600 w 609600"/>
              <a:gd name="T126" fmla="*/ 609600 h 60960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28677" name="object 13">
            <a:extLst>
              <a:ext uri="{FF2B5EF4-FFF2-40B4-BE49-F238E27FC236}">
                <a16:creationId xmlns:a16="http://schemas.microsoft.com/office/drawing/2014/main" id="{104F0A79-A61C-5391-5169-47DA8B0BECB9}"/>
              </a:ext>
            </a:extLst>
          </p:cNvPr>
          <p:cNvSpPr txBox="1">
            <a:spLocks noChangeArrowheads="1"/>
          </p:cNvSpPr>
          <p:nvPr/>
        </p:nvSpPr>
        <p:spPr bwMode="auto">
          <a:xfrm>
            <a:off x="685800" y="1474788"/>
            <a:ext cx="10965730" cy="97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8265" rIns="0" bIns="0">
            <a:spAutoFit/>
          </a:bodyPr>
          <a:lstStyle>
            <a:lvl1pPr marL="285750" indent="-273050">
              <a:spcBef>
                <a:spcPct val="20000"/>
              </a:spcBef>
              <a:buFont typeface="Arial" panose="020B0604020202020204" pitchFamily="34" charset="0"/>
              <a:buChar char="•"/>
              <a:tabLst>
                <a:tab pos="2857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2857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2857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9pPr>
          </a:lstStyle>
          <a:p>
            <a:pPr algn="just">
              <a:lnSpc>
                <a:spcPct val="80000"/>
              </a:lnSpc>
              <a:spcBef>
                <a:spcPts val="70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PTL uses a NMOS or PMOS transistor to transfer charge  from input node to the output node, under the control of  gate voltage. The output remains in High impedance  state when gate voltage is zero.</a:t>
            </a:r>
          </a:p>
        </p:txBody>
      </p:sp>
      <p:sp>
        <p:nvSpPr>
          <p:cNvPr id="28678" name="object 14">
            <a:extLst>
              <a:ext uri="{FF2B5EF4-FFF2-40B4-BE49-F238E27FC236}">
                <a16:creationId xmlns:a16="http://schemas.microsoft.com/office/drawing/2014/main" id="{3819D11C-347D-7859-29CB-28DC8E0DDEDB}"/>
              </a:ext>
            </a:extLst>
          </p:cNvPr>
          <p:cNvSpPr txBox="1">
            <a:spLocks noChangeArrowheads="1"/>
          </p:cNvSpPr>
          <p:nvPr/>
        </p:nvSpPr>
        <p:spPr bwMode="auto">
          <a:xfrm>
            <a:off x="1905000" y="5438775"/>
            <a:ext cx="9564688" cy="680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8265" rIns="0" bIns="0">
            <a:spAutoFit/>
          </a:bodyPr>
          <a:lstStyle>
            <a:lvl1pPr marL="285750" indent="-273050">
              <a:spcBef>
                <a:spcPct val="20000"/>
              </a:spcBef>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285750" algn="l"/>
                <a:tab pos="1095375" algn="l"/>
                <a:tab pos="2727325" algn="l"/>
                <a:tab pos="3946525" algn="l"/>
                <a:tab pos="4570413" algn="l"/>
                <a:tab pos="5661025" algn="l"/>
                <a:tab pos="6497638" algn="l"/>
                <a:tab pos="6961188" algn="l"/>
                <a:tab pos="8058150" algn="l"/>
              </a:tabLst>
              <a:defRPr sz="2000">
                <a:solidFill>
                  <a:schemeClr val="tx1"/>
                </a:solidFill>
                <a:latin typeface="Calibri" panose="020F0502020204030204" pitchFamily="34" charset="0"/>
              </a:defRPr>
            </a:lvl9pPr>
          </a:lstStyle>
          <a:p>
            <a:pPr>
              <a:lnSpc>
                <a:spcPct val="80000"/>
              </a:lnSpc>
              <a:spcBef>
                <a:spcPts val="70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Pass	Transistor	circuits	are	widely	used	in	design	of  ROMs, PLAs, multiplexers </a:t>
            </a:r>
            <a:r>
              <a:rPr lang="en-US" altLang="en-US" sz="2400" dirty="0" err="1">
                <a:latin typeface="Times New Roman" panose="02020603050405020304" pitchFamily="18" charset="0"/>
                <a:cs typeface="Times New Roman" panose="02020603050405020304" pitchFamily="18" charset="0"/>
              </a:rPr>
              <a:t>etc</a:t>
            </a:r>
            <a:endParaRPr lang="en-US" altLang="en-US" sz="2400" dirty="0">
              <a:latin typeface="Times New Roman" panose="02020603050405020304" pitchFamily="18" charset="0"/>
              <a:cs typeface="Times New Roman" panose="02020603050405020304" pitchFamily="18" charset="0"/>
            </a:endParaRPr>
          </a:p>
        </p:txBody>
      </p:sp>
      <p:sp>
        <p:nvSpPr>
          <p:cNvPr id="28679" name="object 15">
            <a:extLst>
              <a:ext uri="{FF2B5EF4-FFF2-40B4-BE49-F238E27FC236}">
                <a16:creationId xmlns:a16="http://schemas.microsoft.com/office/drawing/2014/main" id="{2B70B36D-A3E3-7635-3657-C2BA55B1686A}"/>
              </a:ext>
            </a:extLst>
          </p:cNvPr>
          <p:cNvSpPr>
            <a:spLocks noChangeArrowheads="1"/>
          </p:cNvSpPr>
          <p:nvPr/>
        </p:nvSpPr>
        <p:spPr bwMode="auto">
          <a:xfrm>
            <a:off x="2819400" y="3276600"/>
            <a:ext cx="5791200" cy="207645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
        <p:nvSpPr>
          <p:cNvPr id="28680" name="Title 1">
            <a:extLst>
              <a:ext uri="{FF2B5EF4-FFF2-40B4-BE49-F238E27FC236}">
                <a16:creationId xmlns:a16="http://schemas.microsoft.com/office/drawing/2014/main" id="{DE08B683-71B1-44D6-BDF7-1AD854FCABD5}"/>
              </a:ext>
            </a:extLst>
          </p:cNvPr>
          <p:cNvSpPr txBox="1">
            <a:spLocks noChangeArrowheads="1"/>
          </p:cNvSpPr>
          <p:nvPr/>
        </p:nvSpPr>
        <p:spPr bwMode="auto">
          <a:xfrm>
            <a:off x="2592388" y="623888"/>
            <a:ext cx="89122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N" altLang="en-US" sz="3600" b="1" dirty="0">
                <a:solidFill>
                  <a:srgbClr val="262626"/>
                </a:solidFill>
                <a:latin typeface="Times New Roman" panose="02020603050405020304" pitchFamily="18" charset="0"/>
                <a:cs typeface="Times New Roman" panose="02020603050405020304" pitchFamily="18" charset="0"/>
              </a:rPr>
              <a:t>Pass Transistor Logic (PTL)</a:t>
            </a:r>
          </a:p>
        </p:txBody>
      </p:sp>
      <mc:AlternateContent xmlns:mc="http://schemas.openxmlformats.org/markup-compatibility/2006" xmlns:p14="http://schemas.microsoft.com/office/powerpoint/2010/main">
        <mc:Choice Requires="p14">
          <p:contentPart p14:bwMode="auto" r:id="rId3">
            <p14:nvContentPartPr>
              <p14:cNvPr id="6146" name="Ink 9">
                <a:extLst>
                  <a:ext uri="{FF2B5EF4-FFF2-40B4-BE49-F238E27FC236}">
                    <a16:creationId xmlns:a16="http://schemas.microsoft.com/office/drawing/2014/main" id="{034820FC-D80C-B0ED-7087-AA8E307851E4}"/>
                  </a:ext>
                </a:extLst>
              </p14:cNvPr>
              <p14:cNvContentPartPr>
                <a14:cpLocks xmlns:a14="http://schemas.microsoft.com/office/drawing/2010/main" noRot="1" noChangeAspect="1" noEditPoints="1" noChangeArrowheads="1" noChangeShapeType="1"/>
              </p14:cNvContentPartPr>
              <p14:nvPr/>
            </p14:nvContentPartPr>
            <p14:xfrm>
              <a:off x="3200400" y="3702050"/>
              <a:ext cx="247650" cy="279400"/>
            </p14:xfrm>
          </p:contentPart>
        </mc:Choice>
        <mc:Fallback xmlns="">
          <p:pic>
            <p:nvPicPr>
              <p:cNvPr id="6146" name="Ink 9">
                <a:extLst>
                  <a:ext uri="{FF2B5EF4-FFF2-40B4-BE49-F238E27FC236}">
                    <a16:creationId xmlns:a16="http://schemas.microsoft.com/office/drawing/2014/main" id="{034820FC-D80C-B0ED-7087-AA8E307851E4}"/>
                  </a:ext>
                </a:extLst>
              </p:cNvPr>
              <p:cNvPicPr>
                <a:picLocks noRot="1" noChangeAspect="1" noEditPoints="1" noChangeArrowheads="1" noChangeShapeType="1"/>
              </p:cNvPicPr>
              <p:nvPr/>
            </p:nvPicPr>
            <p:blipFill>
              <a:blip r:embed="rId4"/>
              <a:stretch>
                <a:fillRect/>
              </a:stretch>
            </p:blipFill>
            <p:spPr>
              <a:xfrm>
                <a:off x="3191041" y="3692689"/>
                <a:ext cx="266368" cy="29812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147" name="Ink 10">
                <a:extLst>
                  <a:ext uri="{FF2B5EF4-FFF2-40B4-BE49-F238E27FC236}">
                    <a16:creationId xmlns:a16="http://schemas.microsoft.com/office/drawing/2014/main" id="{83B8F6E2-E798-8664-EA1B-F5878FE9A8BB}"/>
                  </a:ext>
                </a:extLst>
              </p14:cNvPr>
              <p14:cNvContentPartPr>
                <a14:cpLocks xmlns:a14="http://schemas.microsoft.com/office/drawing/2010/main" noRot="1" noChangeAspect="1" noEditPoints="1" noChangeArrowheads="1" noChangeShapeType="1"/>
              </p14:cNvContentPartPr>
              <p14:nvPr/>
            </p14:nvContentPartPr>
            <p14:xfrm>
              <a:off x="8204200" y="3848100"/>
              <a:ext cx="317500" cy="342900"/>
            </p14:xfrm>
          </p:contentPart>
        </mc:Choice>
        <mc:Fallback xmlns="">
          <p:pic>
            <p:nvPicPr>
              <p:cNvPr id="6147" name="Ink 10">
                <a:extLst>
                  <a:ext uri="{FF2B5EF4-FFF2-40B4-BE49-F238E27FC236}">
                    <a16:creationId xmlns:a16="http://schemas.microsoft.com/office/drawing/2014/main" id="{83B8F6E2-E798-8664-EA1B-F5878FE9A8BB}"/>
                  </a:ext>
                </a:extLst>
              </p:cNvPr>
              <p:cNvPicPr>
                <a:picLocks noRot="1" noChangeAspect="1" noEditPoints="1" noChangeArrowheads="1" noChangeShapeType="1"/>
              </p:cNvPicPr>
              <p:nvPr/>
            </p:nvPicPr>
            <p:blipFill>
              <a:blip r:embed="rId6"/>
              <a:stretch>
                <a:fillRect/>
              </a:stretch>
            </p:blipFill>
            <p:spPr>
              <a:xfrm>
                <a:off x="8194830" y="3838745"/>
                <a:ext cx="336240" cy="361610"/>
              </a:xfrm>
              <a:prstGeom prst="rect">
                <a:avLst/>
              </a:prstGeom>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A728DED-8DDD-BE60-72D3-C49BD3CEB64B}"/>
              </a:ext>
            </a:extLst>
          </p:cNvPr>
          <p:cNvSpPr txBox="1">
            <a:spLocks noGrp="1"/>
          </p:cNvSpPr>
          <p:nvPr>
            <p:ph type="title"/>
          </p:nvPr>
        </p:nvSpPr>
        <p:spPr>
          <a:xfrm>
            <a:off x="1600200" y="412750"/>
            <a:ext cx="7788275" cy="566738"/>
          </a:xfrm>
        </p:spPr>
        <p:txBody>
          <a:bodyPr lIns="0" tIns="12700" rIns="0" bIns="0" rtlCol="0">
            <a:spAutoFit/>
          </a:bodyPr>
          <a:lstStyle/>
          <a:p>
            <a:pPr marL="12700" eaLnBrk="1" fontAlgn="auto" hangingPunct="1">
              <a:spcBef>
                <a:spcPts val="100"/>
              </a:spcBef>
              <a:spcAft>
                <a:spcPts val="0"/>
              </a:spcAft>
              <a:defRPr/>
            </a:pPr>
            <a:r>
              <a:rPr b="1" spc="-5" dirty="0">
                <a:latin typeface="Times New Roman" panose="02020603050405020304" pitchFamily="18" charset="0"/>
                <a:cs typeface="Times New Roman" panose="02020603050405020304" pitchFamily="18" charset="0"/>
              </a:rPr>
              <a:t>Defining STRONG </a:t>
            </a:r>
            <a:r>
              <a:rPr b="1" dirty="0">
                <a:latin typeface="Times New Roman" panose="02020603050405020304" pitchFamily="18" charset="0"/>
                <a:cs typeface="Times New Roman" panose="02020603050405020304" pitchFamily="18" charset="0"/>
              </a:rPr>
              <a:t>and WEAK</a:t>
            </a:r>
            <a:r>
              <a:rPr b="1" spc="-85" dirty="0">
                <a:latin typeface="Times New Roman" panose="02020603050405020304" pitchFamily="18" charset="0"/>
                <a:cs typeface="Times New Roman" panose="02020603050405020304" pitchFamily="18" charset="0"/>
              </a:rPr>
              <a:t> </a:t>
            </a:r>
            <a:r>
              <a:rPr b="1" spc="-5" dirty="0">
                <a:latin typeface="Times New Roman" panose="02020603050405020304" pitchFamily="18" charset="0"/>
                <a:cs typeface="Times New Roman" panose="02020603050405020304" pitchFamily="18" charset="0"/>
              </a:rPr>
              <a:t>logic</a:t>
            </a:r>
          </a:p>
        </p:txBody>
      </p:sp>
      <p:sp>
        <p:nvSpPr>
          <p:cNvPr id="3" name="object 3">
            <a:extLst>
              <a:ext uri="{FF2B5EF4-FFF2-40B4-BE49-F238E27FC236}">
                <a16:creationId xmlns:a16="http://schemas.microsoft.com/office/drawing/2014/main" id="{F19C61C6-A15F-005A-8BFE-A29C9C5181A9}"/>
              </a:ext>
            </a:extLst>
          </p:cNvPr>
          <p:cNvSpPr txBox="1"/>
          <p:nvPr/>
        </p:nvSpPr>
        <p:spPr>
          <a:xfrm>
            <a:off x="1866900" y="1495425"/>
            <a:ext cx="7921625" cy="2166619"/>
          </a:xfrm>
          <a:prstGeom prst="rect">
            <a:avLst/>
          </a:prstGeom>
        </p:spPr>
        <p:txBody>
          <a:bodyPr lIns="0" tIns="12065" rIns="0" bIns="0">
            <a:spAutoFit/>
          </a:bodyPr>
          <a:lstStyle/>
          <a:p>
            <a:pPr marL="325120" indent="-274320">
              <a:spcBef>
                <a:spcPts val="95"/>
              </a:spcBef>
              <a:buClr>
                <a:srgbClr val="2CA1BE"/>
              </a:buClr>
              <a:buSzPct val="84210"/>
              <a:buFont typeface="Wingdings 2"/>
              <a:buChar char=""/>
              <a:tabLst>
                <a:tab pos="324485" algn="l"/>
                <a:tab pos="325120" algn="l"/>
              </a:tabLst>
              <a:defRPr/>
            </a:pPr>
            <a:r>
              <a:rPr sz="2000" spc="-5" dirty="0">
                <a:latin typeface="Times New Roman" panose="02020603050405020304" pitchFamily="18" charset="0"/>
                <a:cs typeface="Times New Roman" panose="02020603050405020304" pitchFamily="18" charset="0"/>
              </a:rPr>
              <a:t>Strong ‘1’: An </a:t>
            </a:r>
            <a:r>
              <a:rPr sz="2000" spc="-10" dirty="0">
                <a:latin typeface="Times New Roman" panose="02020603050405020304" pitchFamily="18" charset="0"/>
                <a:cs typeface="Times New Roman" panose="02020603050405020304" pitchFamily="18" charset="0"/>
              </a:rPr>
              <a:t>output very close </a:t>
            </a:r>
            <a:r>
              <a:rPr sz="2000" dirty="0">
                <a:latin typeface="Times New Roman" panose="02020603050405020304" pitchFamily="18" charset="0"/>
                <a:cs typeface="Times New Roman" panose="02020603050405020304" pitchFamily="18" charset="0"/>
              </a:rPr>
              <a:t>to </a:t>
            </a:r>
            <a:r>
              <a:rPr sz="2000" spc="-5" dirty="0">
                <a:latin typeface="Times New Roman" panose="02020603050405020304" pitchFamily="18" charset="0"/>
                <a:cs typeface="Times New Roman" panose="02020603050405020304" pitchFamily="18" charset="0"/>
              </a:rPr>
              <a:t>the </a:t>
            </a:r>
            <a:r>
              <a:rPr sz="2000" spc="-10" dirty="0">
                <a:latin typeface="Times New Roman" panose="02020603050405020304" pitchFamily="18" charset="0"/>
                <a:cs typeface="Times New Roman" panose="02020603050405020304" pitchFamily="18" charset="0"/>
              </a:rPr>
              <a:t>positive supply </a:t>
            </a:r>
            <a:r>
              <a:rPr sz="2000" spc="-5" dirty="0">
                <a:latin typeface="Times New Roman" panose="02020603050405020304" pitchFamily="18" charset="0"/>
                <a:cs typeface="Times New Roman" panose="02020603050405020304" pitchFamily="18" charset="0"/>
              </a:rPr>
              <a:t>rail</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a:t>
            </a:r>
            <a:r>
              <a:rPr sz="2000" baseline="-20000" dirty="0">
                <a:latin typeface="Times New Roman" panose="02020603050405020304" pitchFamily="18" charset="0"/>
                <a:cs typeface="Times New Roman" panose="02020603050405020304" pitchFamily="18" charset="0"/>
              </a:rPr>
              <a:t>DD</a:t>
            </a:r>
            <a:r>
              <a:rPr sz="2000" dirty="0">
                <a:latin typeface="Times New Roman" panose="02020603050405020304" pitchFamily="18" charset="0"/>
                <a:cs typeface="Times New Roman" panose="02020603050405020304" pitchFamily="18" charset="0"/>
              </a:rPr>
              <a:t>)</a:t>
            </a:r>
          </a:p>
          <a:p>
            <a:pPr>
              <a:spcBef>
                <a:spcPts val="40"/>
              </a:spcBef>
              <a:buClr>
                <a:srgbClr val="2CA1BE"/>
              </a:buClr>
              <a:buFont typeface="Wingdings 2"/>
              <a:buChar char=""/>
              <a:defRPr/>
            </a:pPr>
            <a:endParaRPr sz="2000" dirty="0">
              <a:latin typeface="Times New Roman" panose="02020603050405020304" pitchFamily="18" charset="0"/>
              <a:cs typeface="Times New Roman" panose="02020603050405020304" pitchFamily="18" charset="0"/>
            </a:endParaRPr>
          </a:p>
          <a:p>
            <a:pPr marL="325120" indent="-274320">
              <a:buClr>
                <a:srgbClr val="2CA1BE"/>
              </a:buClr>
              <a:buSzPct val="84210"/>
              <a:buFont typeface="Wingdings 2"/>
              <a:buChar char=""/>
              <a:tabLst>
                <a:tab pos="324485" algn="l"/>
                <a:tab pos="325120" algn="l"/>
              </a:tabLst>
              <a:defRPr/>
            </a:pPr>
            <a:r>
              <a:rPr sz="2000" spc="-5" dirty="0">
                <a:latin typeface="Times New Roman" panose="02020603050405020304" pitchFamily="18" charset="0"/>
                <a:cs typeface="Times New Roman" panose="02020603050405020304" pitchFamily="18" charset="0"/>
              </a:rPr>
              <a:t>Weak ‘1’: An </a:t>
            </a:r>
            <a:r>
              <a:rPr sz="2000" spc="-10" dirty="0">
                <a:latin typeface="Times New Roman" panose="02020603050405020304" pitchFamily="18" charset="0"/>
                <a:cs typeface="Times New Roman" panose="02020603050405020304" pitchFamily="18" charset="0"/>
              </a:rPr>
              <a:t>output voltage </a:t>
            </a:r>
            <a:r>
              <a:rPr sz="2000" spc="-5" dirty="0">
                <a:latin typeface="Times New Roman" panose="02020603050405020304" pitchFamily="18" charset="0"/>
                <a:cs typeface="Times New Roman" panose="02020603050405020304" pitchFamily="18" charset="0"/>
              </a:rPr>
              <a:t>that is above </a:t>
            </a:r>
            <a:r>
              <a:rPr sz="2000" dirty="0">
                <a:latin typeface="Times New Roman" panose="02020603050405020304" pitchFamily="18" charset="0"/>
                <a:cs typeface="Times New Roman" panose="02020603050405020304" pitchFamily="18" charset="0"/>
              </a:rPr>
              <a:t>V</a:t>
            </a:r>
            <a:r>
              <a:rPr sz="2000" baseline="-20000" dirty="0">
                <a:latin typeface="Times New Roman" panose="02020603050405020304" pitchFamily="18" charset="0"/>
                <a:cs typeface="Times New Roman" panose="02020603050405020304" pitchFamily="18" charset="0"/>
              </a:rPr>
              <a:t>IH </a:t>
            </a:r>
            <a:r>
              <a:rPr sz="2000" spc="-10" dirty="0">
                <a:latin typeface="Times New Roman" panose="02020603050405020304" pitchFamily="18" charset="0"/>
                <a:cs typeface="Times New Roman" panose="02020603050405020304" pitchFamily="18" charset="0"/>
              </a:rPr>
              <a:t>but lower </a:t>
            </a:r>
            <a:r>
              <a:rPr sz="2000" spc="-5" dirty="0">
                <a:latin typeface="Times New Roman" panose="02020603050405020304" pitchFamily="18" charset="0"/>
                <a:cs typeface="Times New Roman" panose="02020603050405020304" pitchFamily="18" charset="0"/>
              </a:rPr>
              <a:t>than a Strong</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‘1’</a:t>
            </a:r>
            <a:endParaRPr sz="2000" dirty="0">
              <a:latin typeface="Times New Roman" panose="02020603050405020304" pitchFamily="18" charset="0"/>
              <a:cs typeface="Times New Roman" panose="02020603050405020304" pitchFamily="18" charset="0"/>
            </a:endParaRPr>
          </a:p>
          <a:p>
            <a:pPr>
              <a:spcBef>
                <a:spcPts val="35"/>
              </a:spcBef>
              <a:buClr>
                <a:srgbClr val="2CA1BE"/>
              </a:buClr>
              <a:buFont typeface="Wingdings 2"/>
              <a:buChar char=""/>
              <a:defRPr/>
            </a:pPr>
            <a:endParaRPr sz="2000" dirty="0">
              <a:latin typeface="Times New Roman" panose="02020603050405020304" pitchFamily="18" charset="0"/>
              <a:cs typeface="Times New Roman" panose="02020603050405020304" pitchFamily="18" charset="0"/>
            </a:endParaRPr>
          </a:p>
          <a:p>
            <a:pPr marL="325120" indent="-274320">
              <a:spcBef>
                <a:spcPts val="5"/>
              </a:spcBef>
              <a:buClr>
                <a:srgbClr val="2CA1BE"/>
              </a:buClr>
              <a:buSzPct val="84210"/>
              <a:buFont typeface="Wingdings 2"/>
              <a:buChar char=""/>
              <a:tabLst>
                <a:tab pos="324485" algn="l"/>
                <a:tab pos="325120" algn="l"/>
              </a:tabLst>
              <a:defRPr/>
            </a:pPr>
            <a:r>
              <a:rPr sz="2000" spc="-5" dirty="0">
                <a:latin typeface="Times New Roman" panose="02020603050405020304" pitchFamily="18" charset="0"/>
                <a:cs typeface="Times New Roman" panose="02020603050405020304" pitchFamily="18" charset="0"/>
              </a:rPr>
              <a:t>Strong ‘0’: An </a:t>
            </a:r>
            <a:r>
              <a:rPr sz="2000" spc="-10" dirty="0">
                <a:latin typeface="Times New Roman" panose="02020603050405020304" pitchFamily="18" charset="0"/>
                <a:cs typeface="Times New Roman" panose="02020603050405020304" pitchFamily="18" charset="0"/>
              </a:rPr>
              <a:t>output very close </a:t>
            </a:r>
            <a:r>
              <a:rPr sz="2000" dirty="0">
                <a:latin typeface="Times New Roman" panose="02020603050405020304" pitchFamily="18" charset="0"/>
                <a:cs typeface="Times New Roman" panose="02020603050405020304" pitchFamily="18" charset="0"/>
              </a:rPr>
              <a:t>to </a:t>
            </a:r>
            <a:r>
              <a:rPr sz="2000" spc="-5" dirty="0">
                <a:latin typeface="Times New Roman" panose="02020603050405020304" pitchFamily="18" charset="0"/>
                <a:cs typeface="Times New Roman" panose="02020603050405020304" pitchFamily="18" charset="0"/>
              </a:rPr>
              <a:t>the </a:t>
            </a:r>
            <a:r>
              <a:rPr sz="2000" spc="-10" dirty="0">
                <a:latin typeface="Times New Roman" panose="02020603050405020304" pitchFamily="18" charset="0"/>
                <a:cs typeface="Times New Roman" panose="02020603050405020304" pitchFamily="18" charset="0"/>
              </a:rPr>
              <a:t>negative supply </a:t>
            </a:r>
            <a:r>
              <a:rPr sz="2000" spc="-5" dirty="0">
                <a:latin typeface="Times New Roman" panose="02020603050405020304" pitchFamily="18" charset="0"/>
                <a:cs typeface="Times New Roman" panose="02020603050405020304" pitchFamily="18" charset="0"/>
              </a:rPr>
              <a:t>rail </a:t>
            </a:r>
            <a:r>
              <a:rPr sz="2000" dirty="0">
                <a:latin typeface="Times New Roman" panose="02020603050405020304" pitchFamily="18" charset="0"/>
                <a:cs typeface="Times New Roman" panose="02020603050405020304" pitchFamily="18" charset="0"/>
              </a:rPr>
              <a:t>(V</a:t>
            </a:r>
            <a:r>
              <a:rPr sz="2000" baseline="-20000" dirty="0">
                <a:latin typeface="Times New Roman" panose="02020603050405020304" pitchFamily="18" charset="0"/>
                <a:cs typeface="Times New Roman" panose="02020603050405020304" pitchFamily="18" charset="0"/>
              </a:rPr>
              <a:t>ss</a:t>
            </a:r>
            <a:r>
              <a:rPr sz="2000" dirty="0">
                <a:latin typeface="Times New Roman" panose="02020603050405020304" pitchFamily="18" charset="0"/>
                <a:cs typeface="Times New Roman" panose="02020603050405020304" pitchFamily="18" charset="0"/>
              </a:rPr>
              <a:t>)or</a:t>
            </a:r>
            <a:r>
              <a:rPr sz="2000" spc="1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Gnd</a:t>
            </a:r>
            <a:endParaRPr sz="2000" dirty="0">
              <a:latin typeface="Times New Roman" panose="02020603050405020304" pitchFamily="18" charset="0"/>
              <a:cs typeface="Times New Roman" panose="02020603050405020304" pitchFamily="18" charset="0"/>
            </a:endParaRPr>
          </a:p>
          <a:p>
            <a:pPr>
              <a:spcBef>
                <a:spcPts val="35"/>
              </a:spcBef>
              <a:buClr>
                <a:srgbClr val="2CA1BE"/>
              </a:buClr>
              <a:buFont typeface="Wingdings 2"/>
              <a:buChar char=""/>
              <a:defRPr/>
            </a:pPr>
            <a:endParaRPr sz="2000" dirty="0">
              <a:latin typeface="Times New Roman" panose="02020603050405020304" pitchFamily="18" charset="0"/>
              <a:cs typeface="Times New Roman" panose="02020603050405020304" pitchFamily="18" charset="0"/>
            </a:endParaRPr>
          </a:p>
          <a:p>
            <a:pPr marL="325120" indent="-274320">
              <a:buClr>
                <a:srgbClr val="2CA1BE"/>
              </a:buClr>
              <a:buSzPct val="84210"/>
              <a:buFont typeface="Wingdings 2"/>
              <a:buChar char=""/>
              <a:tabLst>
                <a:tab pos="324485" algn="l"/>
                <a:tab pos="325120" algn="l"/>
              </a:tabLst>
              <a:defRPr/>
            </a:pPr>
            <a:r>
              <a:rPr sz="2000" spc="-5" dirty="0">
                <a:latin typeface="Times New Roman" panose="02020603050405020304" pitchFamily="18" charset="0"/>
                <a:cs typeface="Times New Roman" panose="02020603050405020304" pitchFamily="18" charset="0"/>
              </a:rPr>
              <a:t>Weak ‘0’: An </a:t>
            </a:r>
            <a:r>
              <a:rPr sz="2000" spc="-10" dirty="0">
                <a:latin typeface="Times New Roman" panose="02020603050405020304" pitchFamily="18" charset="0"/>
                <a:cs typeface="Times New Roman" panose="02020603050405020304" pitchFamily="18" charset="0"/>
              </a:rPr>
              <a:t>output </a:t>
            </a:r>
            <a:r>
              <a:rPr sz="2000" spc="-5" dirty="0">
                <a:latin typeface="Times New Roman" panose="02020603050405020304" pitchFamily="18" charset="0"/>
                <a:cs typeface="Times New Roman" panose="02020603050405020304" pitchFamily="18" charset="0"/>
              </a:rPr>
              <a:t>that is </a:t>
            </a:r>
            <a:r>
              <a:rPr sz="2000" spc="-10" dirty="0">
                <a:latin typeface="Times New Roman" panose="02020603050405020304" pitchFamily="18" charset="0"/>
                <a:cs typeface="Times New Roman" panose="02020603050405020304" pitchFamily="18" charset="0"/>
              </a:rPr>
              <a:t>below </a:t>
            </a:r>
            <a:r>
              <a:rPr sz="2000" dirty="0">
                <a:latin typeface="Times New Roman" panose="02020603050405020304" pitchFamily="18" charset="0"/>
                <a:cs typeface="Times New Roman" panose="02020603050405020304" pitchFamily="18" charset="0"/>
              </a:rPr>
              <a:t>V</a:t>
            </a:r>
            <a:r>
              <a:rPr sz="2000" baseline="-20000" dirty="0">
                <a:latin typeface="Times New Roman" panose="02020603050405020304" pitchFamily="18" charset="0"/>
                <a:cs typeface="Times New Roman" panose="02020603050405020304" pitchFamily="18" charset="0"/>
              </a:rPr>
              <a:t>IL </a:t>
            </a:r>
            <a:r>
              <a:rPr sz="2000" spc="-10" dirty="0">
                <a:latin typeface="Times New Roman" panose="02020603050405020304" pitchFamily="18" charset="0"/>
                <a:cs typeface="Times New Roman" panose="02020603050405020304" pitchFamily="18" charset="0"/>
              </a:rPr>
              <a:t>but higher </a:t>
            </a:r>
            <a:r>
              <a:rPr sz="2000" spc="-5" dirty="0">
                <a:latin typeface="Times New Roman" panose="02020603050405020304" pitchFamily="18" charset="0"/>
                <a:cs typeface="Times New Roman" panose="02020603050405020304" pitchFamily="18" charset="0"/>
              </a:rPr>
              <a:t>than a Strong</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‘0’</a:t>
            </a:r>
            <a:endParaRPr sz="2000" dirty="0">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90C222B5-4631-9466-1BD8-275488D1020A}"/>
              </a:ext>
            </a:extLst>
          </p:cNvPr>
          <p:cNvSpPr txBox="1"/>
          <p:nvPr/>
        </p:nvSpPr>
        <p:spPr>
          <a:xfrm>
            <a:off x="1905000" y="4970463"/>
            <a:ext cx="90488" cy="314325"/>
          </a:xfrm>
          <a:prstGeom prst="rect">
            <a:avLst/>
          </a:prstGeom>
        </p:spPr>
        <p:txBody>
          <a:bodyPr lIns="0" tIns="12065" rIns="0" bIns="0">
            <a:spAutoFit/>
          </a:bodyPr>
          <a:lstStyle/>
          <a:p>
            <a:pPr marL="12700">
              <a:spcBef>
                <a:spcPts val="95"/>
              </a:spcBef>
              <a:defRPr/>
            </a:pPr>
            <a:r>
              <a:rPr sz="1900" spc="-5" dirty="0">
                <a:solidFill>
                  <a:srgbClr val="FFFFFF"/>
                </a:solidFill>
                <a:latin typeface="Georgia"/>
                <a:cs typeface="Georgia"/>
              </a:rPr>
              <a:t>.</a:t>
            </a:r>
            <a:endParaRPr sz="1900">
              <a:latin typeface="Georgia"/>
              <a:cs typeface="Georgia"/>
            </a:endParaRPr>
          </a:p>
        </p:txBody>
      </p:sp>
      <p:graphicFrame>
        <p:nvGraphicFramePr>
          <p:cNvPr id="5" name="object 5">
            <a:extLst>
              <a:ext uri="{FF2B5EF4-FFF2-40B4-BE49-F238E27FC236}">
                <a16:creationId xmlns:a16="http://schemas.microsoft.com/office/drawing/2014/main" id="{1E8FAB07-B4CC-A12B-54BF-87ACDA5B5A3E}"/>
              </a:ext>
            </a:extLst>
          </p:cNvPr>
          <p:cNvGraphicFramePr>
            <a:graphicFrameLocks noGrp="1"/>
          </p:cNvGraphicFramePr>
          <p:nvPr/>
        </p:nvGraphicFramePr>
        <p:xfrm>
          <a:off x="3041650" y="3956050"/>
          <a:ext cx="6096000" cy="1854198"/>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39">
                <a:tc>
                  <a:txBody>
                    <a:bodyPr/>
                    <a:lstStyle/>
                    <a:p>
                      <a:pPr marL="91440">
                        <a:lnSpc>
                          <a:spcPct val="100000"/>
                        </a:lnSpc>
                        <a:spcBef>
                          <a:spcPts val="305"/>
                        </a:spcBef>
                      </a:pPr>
                      <a:r>
                        <a:rPr sz="1800" b="1" spc="-5" dirty="0">
                          <a:solidFill>
                            <a:srgbClr val="FFFFFF"/>
                          </a:solidFill>
                          <a:latin typeface="Georgia"/>
                          <a:cs typeface="Georgia"/>
                        </a:rPr>
                        <a:t>Signal</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A1BE"/>
                    </a:solidFill>
                  </a:tcPr>
                </a:tc>
                <a:tc>
                  <a:txBody>
                    <a:bodyPr/>
                    <a:lstStyle/>
                    <a:p>
                      <a:pPr marL="92075">
                        <a:lnSpc>
                          <a:spcPct val="100000"/>
                        </a:lnSpc>
                        <a:spcBef>
                          <a:spcPts val="305"/>
                        </a:spcBef>
                      </a:pPr>
                      <a:r>
                        <a:rPr sz="1800" b="1" spc="-5" dirty="0">
                          <a:solidFill>
                            <a:srgbClr val="FFFFFF"/>
                          </a:solidFill>
                          <a:latin typeface="Georgia"/>
                          <a:cs typeface="Georgia"/>
                        </a:rPr>
                        <a:t>Range </a:t>
                      </a:r>
                      <a:r>
                        <a:rPr sz="1800" b="1" dirty="0">
                          <a:solidFill>
                            <a:srgbClr val="FFFFFF"/>
                          </a:solidFill>
                          <a:latin typeface="Georgia"/>
                          <a:cs typeface="Georgia"/>
                        </a:rPr>
                        <a:t>(in </a:t>
                      </a:r>
                      <a:r>
                        <a:rPr sz="1800" b="1" spc="-5" dirty="0">
                          <a:solidFill>
                            <a:srgbClr val="FFFFFF"/>
                          </a:solidFill>
                          <a:latin typeface="Georgia"/>
                          <a:cs typeface="Georgia"/>
                        </a:rPr>
                        <a:t>Volts)</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A1BE"/>
                    </a:solidFill>
                  </a:tcPr>
                </a:tc>
                <a:extLst>
                  <a:ext uri="{0D108BD9-81ED-4DB2-BD59-A6C34878D82A}">
                    <a16:rowId xmlns:a16="http://schemas.microsoft.com/office/drawing/2014/main" val="10000"/>
                  </a:ext>
                </a:extLst>
              </a:tr>
              <a:tr h="370840">
                <a:tc>
                  <a:txBody>
                    <a:bodyPr/>
                    <a:lstStyle/>
                    <a:p>
                      <a:pPr marL="91440">
                        <a:lnSpc>
                          <a:spcPct val="100000"/>
                        </a:lnSpc>
                        <a:spcBef>
                          <a:spcPts val="305"/>
                        </a:spcBef>
                      </a:pPr>
                      <a:r>
                        <a:rPr sz="1800" spc="-5" dirty="0">
                          <a:latin typeface="Georgia"/>
                          <a:cs typeface="Georgia"/>
                        </a:rPr>
                        <a:t>Strong ‘1’</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FE8"/>
                    </a:solidFill>
                  </a:tcPr>
                </a:tc>
                <a:tc>
                  <a:txBody>
                    <a:bodyPr/>
                    <a:lstStyle/>
                    <a:p>
                      <a:pPr marL="92075">
                        <a:lnSpc>
                          <a:spcPct val="100000"/>
                        </a:lnSpc>
                        <a:spcBef>
                          <a:spcPts val="305"/>
                        </a:spcBef>
                      </a:pPr>
                      <a:r>
                        <a:rPr sz="1800" spc="-5" dirty="0">
                          <a:latin typeface="Georgia"/>
                          <a:cs typeface="Georgia"/>
                        </a:rPr>
                        <a:t>4.5-5</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FE8"/>
                    </a:solidFill>
                  </a:tcPr>
                </a:tc>
                <a:extLst>
                  <a:ext uri="{0D108BD9-81ED-4DB2-BD59-A6C34878D82A}">
                    <a16:rowId xmlns:a16="http://schemas.microsoft.com/office/drawing/2014/main" val="10001"/>
                  </a:ext>
                </a:extLst>
              </a:tr>
              <a:tr h="370839">
                <a:tc>
                  <a:txBody>
                    <a:bodyPr/>
                    <a:lstStyle/>
                    <a:p>
                      <a:pPr marL="91440">
                        <a:lnSpc>
                          <a:spcPct val="100000"/>
                        </a:lnSpc>
                        <a:spcBef>
                          <a:spcPts val="309"/>
                        </a:spcBef>
                      </a:pPr>
                      <a:r>
                        <a:rPr sz="1800" dirty="0">
                          <a:latin typeface="Georgia"/>
                          <a:cs typeface="Georgia"/>
                        </a:rPr>
                        <a:t>Weal</a:t>
                      </a:r>
                      <a:r>
                        <a:rPr sz="1800" spc="-10" dirty="0">
                          <a:latin typeface="Georgia"/>
                          <a:cs typeface="Georgia"/>
                        </a:rPr>
                        <a:t> </a:t>
                      </a:r>
                      <a:r>
                        <a:rPr sz="1800" spc="-5" dirty="0">
                          <a:latin typeface="Georgia"/>
                          <a:cs typeface="Georgia"/>
                        </a:rPr>
                        <a:t>‘1’</a:t>
                      </a:r>
                      <a:endParaRPr sz="1800">
                        <a:latin typeface="Georgia"/>
                        <a:cs typeface="Georg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marL="92075">
                        <a:lnSpc>
                          <a:spcPct val="100000"/>
                        </a:lnSpc>
                        <a:spcBef>
                          <a:spcPts val="309"/>
                        </a:spcBef>
                      </a:pPr>
                      <a:r>
                        <a:rPr sz="1800" spc="-5" dirty="0">
                          <a:latin typeface="Georgia"/>
                          <a:cs typeface="Georgia"/>
                        </a:rPr>
                        <a:t>3.5-4.5</a:t>
                      </a:r>
                      <a:endParaRPr sz="1800">
                        <a:latin typeface="Georgia"/>
                        <a:cs typeface="Georg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extLst>
                  <a:ext uri="{0D108BD9-81ED-4DB2-BD59-A6C34878D82A}">
                    <a16:rowId xmlns:a16="http://schemas.microsoft.com/office/drawing/2014/main" val="10002"/>
                  </a:ext>
                </a:extLst>
              </a:tr>
              <a:tr h="370840">
                <a:tc>
                  <a:txBody>
                    <a:bodyPr/>
                    <a:lstStyle/>
                    <a:p>
                      <a:pPr marL="91440">
                        <a:lnSpc>
                          <a:spcPct val="100000"/>
                        </a:lnSpc>
                        <a:spcBef>
                          <a:spcPts val="305"/>
                        </a:spcBef>
                      </a:pPr>
                      <a:r>
                        <a:rPr sz="1800" spc="-5" dirty="0">
                          <a:latin typeface="Georgia"/>
                          <a:cs typeface="Georgia"/>
                        </a:rPr>
                        <a:t>Weak ‘0’</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marL="92075">
                        <a:lnSpc>
                          <a:spcPct val="100000"/>
                        </a:lnSpc>
                        <a:spcBef>
                          <a:spcPts val="305"/>
                        </a:spcBef>
                      </a:pPr>
                      <a:r>
                        <a:rPr sz="1800" spc="-10" dirty="0">
                          <a:latin typeface="Georgia"/>
                          <a:cs typeface="Georgia"/>
                        </a:rPr>
                        <a:t>0.5-1.5</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extLst>
                  <a:ext uri="{0D108BD9-81ED-4DB2-BD59-A6C34878D82A}">
                    <a16:rowId xmlns:a16="http://schemas.microsoft.com/office/drawing/2014/main" val="10003"/>
                  </a:ext>
                </a:extLst>
              </a:tr>
              <a:tr h="370840">
                <a:tc>
                  <a:txBody>
                    <a:bodyPr/>
                    <a:lstStyle/>
                    <a:p>
                      <a:pPr marL="91440">
                        <a:lnSpc>
                          <a:spcPct val="100000"/>
                        </a:lnSpc>
                        <a:spcBef>
                          <a:spcPts val="305"/>
                        </a:spcBef>
                      </a:pPr>
                      <a:r>
                        <a:rPr sz="1800" spc="-5" dirty="0">
                          <a:latin typeface="Georgia"/>
                          <a:cs typeface="Georgia"/>
                        </a:rPr>
                        <a:t>Strong </a:t>
                      </a:r>
                      <a:r>
                        <a:rPr sz="1800" dirty="0">
                          <a:latin typeface="Georgia"/>
                          <a:cs typeface="Georgia"/>
                        </a:rPr>
                        <a:t>‘0’</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marL="92075">
                        <a:lnSpc>
                          <a:spcPct val="100000"/>
                        </a:lnSpc>
                        <a:spcBef>
                          <a:spcPts val="305"/>
                        </a:spcBef>
                      </a:pPr>
                      <a:r>
                        <a:rPr sz="1800" spc="-5" dirty="0">
                          <a:latin typeface="Georgia"/>
                          <a:cs typeface="Georgia"/>
                        </a:rPr>
                        <a:t>0.0-</a:t>
                      </a:r>
                      <a:r>
                        <a:rPr sz="1800" spc="5" dirty="0">
                          <a:latin typeface="Georgia"/>
                          <a:cs typeface="Georgia"/>
                        </a:rPr>
                        <a:t> </a:t>
                      </a:r>
                      <a:r>
                        <a:rPr sz="1800" spc="-5" dirty="0">
                          <a:latin typeface="Georgia"/>
                          <a:cs typeface="Georgia"/>
                        </a:rPr>
                        <a:t>0.5</a:t>
                      </a:r>
                      <a:endParaRPr sz="1800">
                        <a:latin typeface="Georgia"/>
                        <a:cs typeface="Georg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699DDAC-20A4-E854-45C9-C60207B5A261}"/>
              </a:ext>
            </a:extLst>
          </p:cNvPr>
          <p:cNvSpPr txBox="1">
            <a:spLocks noGrp="1"/>
          </p:cNvSpPr>
          <p:nvPr>
            <p:ph type="title"/>
          </p:nvPr>
        </p:nvSpPr>
        <p:spPr>
          <a:xfrm>
            <a:off x="2047875" y="492125"/>
            <a:ext cx="9305925" cy="442913"/>
          </a:xfrm>
        </p:spPr>
        <p:txBody>
          <a:bodyPr lIns="0" tIns="12065" rIns="0" bIns="0" rtlCol="0">
            <a:spAutoFit/>
          </a:bodyPr>
          <a:lstStyle/>
          <a:p>
            <a:pPr marL="12700" eaLnBrk="1" fontAlgn="auto" hangingPunct="1">
              <a:spcBef>
                <a:spcPts val="95"/>
              </a:spcBef>
              <a:spcAft>
                <a:spcPts val="0"/>
              </a:spcAft>
              <a:defRPr/>
            </a:pPr>
            <a:r>
              <a:rPr sz="2800" b="1" spc="-10" dirty="0">
                <a:latin typeface="Times New Roman" panose="02020603050405020304" pitchFamily="18" charset="0"/>
                <a:cs typeface="Times New Roman" panose="02020603050405020304" pitchFamily="18" charset="0"/>
              </a:rPr>
              <a:t>NMOS pass </a:t>
            </a:r>
            <a:r>
              <a:rPr sz="2800" b="1" spc="-5" dirty="0">
                <a:latin typeface="Times New Roman" panose="02020603050405020304" pitchFamily="18" charset="0"/>
                <a:cs typeface="Times New Roman" panose="02020603050405020304" pitchFamily="18" charset="0"/>
              </a:rPr>
              <a:t>transistor </a:t>
            </a:r>
            <a:r>
              <a:rPr sz="2800" b="1" spc="-10" dirty="0">
                <a:latin typeface="Times New Roman" panose="02020603050405020304" pitchFamily="18" charset="0"/>
                <a:cs typeface="Times New Roman" panose="02020603050405020304" pitchFamily="18" charset="0"/>
              </a:rPr>
              <a:t>passes Strong </a:t>
            </a:r>
            <a:r>
              <a:rPr sz="2800" b="1" spc="-5" dirty="0">
                <a:latin typeface="Times New Roman" panose="02020603050405020304" pitchFamily="18" charset="0"/>
                <a:cs typeface="Times New Roman" panose="02020603050405020304" pitchFamily="18" charset="0"/>
              </a:rPr>
              <a:t>‘0’ </a:t>
            </a:r>
            <a:r>
              <a:rPr sz="2800" b="1" spc="-10" dirty="0">
                <a:latin typeface="Times New Roman" panose="02020603050405020304" pitchFamily="18" charset="0"/>
                <a:cs typeface="Times New Roman" panose="02020603050405020304" pitchFamily="18" charset="0"/>
              </a:rPr>
              <a:t>but </a:t>
            </a:r>
            <a:r>
              <a:rPr sz="2800" b="1" spc="-5" dirty="0">
                <a:latin typeface="Times New Roman" panose="02020603050405020304" pitchFamily="18" charset="0"/>
                <a:cs typeface="Times New Roman" panose="02020603050405020304" pitchFamily="18" charset="0"/>
              </a:rPr>
              <a:t>weak</a:t>
            </a:r>
            <a:r>
              <a:rPr sz="2800" b="1" spc="170"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‘1’</a:t>
            </a:r>
            <a:endParaRPr sz="2800" b="1" dirty="0">
              <a:latin typeface="Times New Roman" panose="02020603050405020304" pitchFamily="18" charset="0"/>
              <a:cs typeface="Times New Roman" panose="02020603050405020304" pitchFamily="18" charset="0"/>
            </a:endParaRPr>
          </a:p>
        </p:txBody>
      </p:sp>
      <p:sp>
        <p:nvSpPr>
          <p:cNvPr id="30723" name="object 3">
            <a:extLst>
              <a:ext uri="{FF2B5EF4-FFF2-40B4-BE49-F238E27FC236}">
                <a16:creationId xmlns:a16="http://schemas.microsoft.com/office/drawing/2014/main" id="{FE42E2AE-6D1C-8AD2-B18D-921DE0EC1E37}"/>
              </a:ext>
            </a:extLst>
          </p:cNvPr>
          <p:cNvSpPr txBox="1">
            <a:spLocks noChangeArrowheads="1"/>
          </p:cNvSpPr>
          <p:nvPr/>
        </p:nvSpPr>
        <p:spPr bwMode="auto">
          <a:xfrm>
            <a:off x="1905000" y="1474788"/>
            <a:ext cx="94488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8265" rIns="0" bIns="0">
            <a:spAutoFit/>
          </a:bodyPr>
          <a:lstStyle>
            <a:lvl1pPr marL="285750" indent="-273050">
              <a:spcBef>
                <a:spcPct val="20000"/>
              </a:spcBef>
              <a:buFont typeface="Arial" panose="020B0604020202020204" pitchFamily="34" charset="0"/>
              <a:buChar char="•"/>
              <a:tabLst>
                <a:tab pos="2857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2857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2857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9pPr>
          </a:lstStyle>
          <a:p>
            <a:pPr algn="just">
              <a:lnSpc>
                <a:spcPct val="80000"/>
              </a:lnSpc>
              <a:spcBef>
                <a:spcPts val="70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An NMOS pass-transistor can pull down to the negative  rail, but it can pull-up to a threshold voltage below the  positive rail.</a:t>
            </a:r>
          </a:p>
          <a:p>
            <a:pPr algn="just">
              <a:spcBef>
                <a:spcPct val="0"/>
              </a:spcBef>
              <a:buFontTx/>
              <a:buNone/>
            </a:pPr>
            <a:r>
              <a:rPr lang="en-US" altLang="en-US" sz="2400" dirty="0">
                <a:solidFill>
                  <a:srgbClr val="2CA1BE"/>
                </a:solidFill>
                <a:latin typeface="Times New Roman" panose="02020603050405020304" pitchFamily="18" charset="0"/>
                <a:ea typeface="Wingdings 2" panose="05020102010507070707" pitchFamily="18" charset="2"/>
                <a:cs typeface="Times New Roman" panose="02020603050405020304" pitchFamily="18" charset="0"/>
              </a:rPr>
              <a:t></a:t>
            </a:r>
            <a:r>
              <a:rPr lang="en-US" altLang="en-US" sz="2400" dirty="0">
                <a:solidFill>
                  <a:srgbClr val="2CA1BE"/>
                </a:solidFill>
                <a:latin typeface="Times New Roman" panose="02020603050405020304" pitchFamily="18" charset="0"/>
                <a:cs typeface="Times New Roman" panose="02020603050405020304" pitchFamily="18" charset="0"/>
              </a:rPr>
              <a:t> </a:t>
            </a:r>
            <a:r>
              <a:rPr lang="en-US" altLang="en-US" sz="2400" dirty="0">
                <a:solidFill>
                  <a:srgbClr val="C00000"/>
                </a:solidFill>
                <a:latin typeface="Times New Roman" panose="02020603050405020304" pitchFamily="18" charset="0"/>
                <a:ea typeface="Georgia" panose="02040502050405020303" pitchFamily="18" charset="0"/>
                <a:cs typeface="Times New Roman" panose="02020603050405020304" pitchFamily="18" charset="0"/>
              </a:rPr>
              <a:t>=&gt; It can output a strong zero, but a weak one</a:t>
            </a:r>
            <a:r>
              <a:rPr lang="en-US" altLang="en-US" sz="2500" dirty="0">
                <a:solidFill>
                  <a:srgbClr val="C00000"/>
                </a:solidFill>
                <a:latin typeface="Georgia" panose="02040502050405020303" pitchFamily="18" charset="0"/>
                <a:ea typeface="Georgia" panose="02040502050405020303" pitchFamily="18" charset="0"/>
                <a:cs typeface="Georgia" panose="02040502050405020303" pitchFamily="18" charset="0"/>
              </a:rPr>
              <a:t>.</a:t>
            </a:r>
            <a:endParaRPr lang="en-US" altLang="en-US" sz="2500" dirty="0">
              <a:latin typeface="Georgia" panose="02040502050405020303" pitchFamily="18" charset="0"/>
              <a:ea typeface="Georgia" panose="02040502050405020303" pitchFamily="18" charset="0"/>
              <a:cs typeface="Georgia" panose="02040502050405020303" pitchFamily="18" charset="0"/>
            </a:endParaRPr>
          </a:p>
        </p:txBody>
      </p:sp>
      <p:sp>
        <p:nvSpPr>
          <p:cNvPr id="30724" name="object 5">
            <a:extLst>
              <a:ext uri="{FF2B5EF4-FFF2-40B4-BE49-F238E27FC236}">
                <a16:creationId xmlns:a16="http://schemas.microsoft.com/office/drawing/2014/main" id="{0E56C955-1BD6-7289-BB39-1BC6E152F27C}"/>
              </a:ext>
            </a:extLst>
          </p:cNvPr>
          <p:cNvSpPr>
            <a:spLocks noChangeArrowheads="1"/>
          </p:cNvSpPr>
          <p:nvPr/>
        </p:nvSpPr>
        <p:spPr bwMode="auto">
          <a:xfrm>
            <a:off x="2590800" y="2971800"/>
            <a:ext cx="7137400" cy="25019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AA35A71-52BE-3BEF-E980-94843E761525}"/>
              </a:ext>
            </a:extLst>
          </p:cNvPr>
          <p:cNvSpPr txBox="1">
            <a:spLocks noGrp="1"/>
          </p:cNvSpPr>
          <p:nvPr>
            <p:ph type="title"/>
          </p:nvPr>
        </p:nvSpPr>
        <p:spPr>
          <a:xfrm>
            <a:off x="2047875" y="492125"/>
            <a:ext cx="8924925" cy="442913"/>
          </a:xfrm>
        </p:spPr>
        <p:txBody>
          <a:bodyPr lIns="0" tIns="12065" rIns="0" bIns="0" rtlCol="0">
            <a:spAutoFit/>
          </a:bodyPr>
          <a:lstStyle/>
          <a:p>
            <a:pPr marL="12700" eaLnBrk="1" fontAlgn="auto" hangingPunct="1">
              <a:spcBef>
                <a:spcPts val="95"/>
              </a:spcBef>
              <a:spcAft>
                <a:spcPts val="0"/>
              </a:spcAft>
              <a:defRPr/>
            </a:pPr>
            <a:r>
              <a:rPr sz="2800" b="1" spc="-10" dirty="0">
                <a:latin typeface="Times New Roman" panose="02020603050405020304" pitchFamily="18" charset="0"/>
                <a:cs typeface="Times New Roman" panose="02020603050405020304" pitchFamily="18" charset="0"/>
              </a:rPr>
              <a:t>NMOS pass </a:t>
            </a:r>
            <a:r>
              <a:rPr sz="2800" b="1" spc="-5" dirty="0">
                <a:latin typeface="Times New Roman" panose="02020603050405020304" pitchFamily="18" charset="0"/>
                <a:cs typeface="Times New Roman" panose="02020603050405020304" pitchFamily="18" charset="0"/>
              </a:rPr>
              <a:t>transistor </a:t>
            </a:r>
            <a:r>
              <a:rPr sz="2800" b="1" spc="-10" dirty="0">
                <a:latin typeface="Times New Roman" panose="02020603050405020304" pitchFamily="18" charset="0"/>
                <a:cs typeface="Times New Roman" panose="02020603050405020304" pitchFamily="18" charset="0"/>
              </a:rPr>
              <a:t>passes Strong </a:t>
            </a:r>
            <a:r>
              <a:rPr sz="2800" b="1" spc="-5" dirty="0">
                <a:latin typeface="Times New Roman" panose="02020603050405020304" pitchFamily="18" charset="0"/>
                <a:cs typeface="Times New Roman" panose="02020603050405020304" pitchFamily="18" charset="0"/>
              </a:rPr>
              <a:t>‘0’ </a:t>
            </a:r>
            <a:r>
              <a:rPr sz="2800" b="1" spc="-10" dirty="0">
                <a:latin typeface="Times New Roman" panose="02020603050405020304" pitchFamily="18" charset="0"/>
                <a:cs typeface="Times New Roman" panose="02020603050405020304" pitchFamily="18" charset="0"/>
              </a:rPr>
              <a:t>but </a:t>
            </a:r>
            <a:r>
              <a:rPr sz="2800" b="1" spc="-5" dirty="0">
                <a:latin typeface="Times New Roman" panose="02020603050405020304" pitchFamily="18" charset="0"/>
                <a:cs typeface="Times New Roman" panose="02020603050405020304" pitchFamily="18" charset="0"/>
              </a:rPr>
              <a:t>weak</a:t>
            </a:r>
            <a:r>
              <a:rPr sz="2800" b="1" spc="170"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‘1’</a:t>
            </a:r>
            <a:endParaRPr sz="2800" b="1" dirty="0">
              <a:latin typeface="Times New Roman" panose="02020603050405020304" pitchFamily="18" charset="0"/>
              <a:cs typeface="Times New Roman" panose="02020603050405020304" pitchFamily="18" charset="0"/>
            </a:endParaRPr>
          </a:p>
        </p:txBody>
      </p:sp>
      <p:sp>
        <p:nvSpPr>
          <p:cNvPr id="31747" name="object 3">
            <a:extLst>
              <a:ext uri="{FF2B5EF4-FFF2-40B4-BE49-F238E27FC236}">
                <a16:creationId xmlns:a16="http://schemas.microsoft.com/office/drawing/2014/main" id="{266879B0-7D00-703E-497E-D94255477302}"/>
              </a:ext>
            </a:extLst>
          </p:cNvPr>
          <p:cNvSpPr txBox="1">
            <a:spLocks noChangeArrowheads="1"/>
          </p:cNvSpPr>
          <p:nvPr/>
        </p:nvSpPr>
        <p:spPr bwMode="auto">
          <a:xfrm>
            <a:off x="1854200" y="1508125"/>
            <a:ext cx="10023573" cy="3516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8419" rIns="0" bIns="0">
            <a:spAutoFit/>
          </a:bodyPr>
          <a:lstStyle>
            <a:lvl1pPr marL="336550" indent="-273050">
              <a:spcBef>
                <a:spcPct val="20000"/>
              </a:spcBef>
              <a:buFont typeface="Arial" panose="020B0604020202020204" pitchFamily="34" charset="0"/>
              <a:buChar char="•"/>
              <a:tabLst>
                <a:tab pos="3365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3365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3365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3365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3365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9pPr>
          </a:lstStyle>
          <a:p>
            <a:pPr>
              <a:lnSpc>
                <a:spcPts val="2925"/>
              </a:lnSpc>
              <a:spcBef>
                <a:spcPts val="463"/>
              </a:spcBef>
              <a:buClr>
                <a:srgbClr val="2CA1BE"/>
              </a:buClr>
              <a:buSzPct val="85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For an NMOS to pass Logic ‘1’, the node Vs gets  gradually charged from 0 towards 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DD </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t>
            </a:r>
          </a:p>
          <a:p>
            <a:pPr>
              <a:spcBef>
                <a:spcPts val="50"/>
              </a:spcBef>
              <a:buClr>
                <a:srgbClr val="2CA1BE"/>
              </a:buClr>
              <a:buFont typeface="Wingdings 2" panose="05020102010507070707" pitchFamily="18" charset="2"/>
              <a:buChar char=""/>
            </a:pPr>
            <a:endParaRPr lang="en-US" altLang="en-US" sz="2400" dirty="0">
              <a:latin typeface="Times New Roman" panose="02020603050405020304" pitchFamily="18" charset="0"/>
              <a:cs typeface="Times New Roman" panose="02020603050405020304" pitchFamily="18" charset="0"/>
            </a:endParaRPr>
          </a:p>
          <a:p>
            <a:pPr>
              <a:spcBef>
                <a:spcPct val="0"/>
              </a:spcBef>
              <a:buClr>
                <a:srgbClr val="2CA1BE"/>
              </a:buClr>
              <a:buSzPct val="85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When Vs reaches 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DD</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t,n</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 </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then</a:t>
            </a:r>
          </a:p>
          <a:p>
            <a:pPr algn="ctr">
              <a:spcBef>
                <a:spcPts val="325"/>
              </a:spcBef>
              <a:buFontTx/>
              <a:buNone/>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GS</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G</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 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S</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 = 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DD</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DD</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t,n</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 = </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t,n</a:t>
            </a:r>
            <a:endPar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endParaRPr>
          </a:p>
          <a:p>
            <a:pPr>
              <a:lnSpc>
                <a:spcPts val="2925"/>
              </a:lnSpc>
              <a:spcBef>
                <a:spcPts val="688"/>
              </a:spcBef>
              <a:buFontTx/>
              <a:buNone/>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which is the minimum voltage required for the  NMOS to be ON state for a current to flow.</a:t>
            </a:r>
          </a:p>
          <a:p>
            <a:pPr>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a:lnSpc>
                <a:spcPts val="2925"/>
              </a:lnSpc>
              <a:spcBef>
                <a:spcPct val="0"/>
              </a:spcBef>
              <a:buClr>
                <a:srgbClr val="2CA1BE"/>
              </a:buClr>
              <a:buSzPct val="85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So node out reaching to a potential more than 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DD</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  </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t,n</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 </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turns off the NMOS.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D38876D-BA69-60A1-85C2-A15525E926B8}"/>
              </a:ext>
            </a:extLst>
          </p:cNvPr>
          <p:cNvSpPr txBox="1">
            <a:spLocks noGrp="1"/>
          </p:cNvSpPr>
          <p:nvPr>
            <p:ph type="title"/>
          </p:nvPr>
        </p:nvSpPr>
        <p:spPr>
          <a:xfrm>
            <a:off x="2076450" y="492125"/>
            <a:ext cx="9201150" cy="442913"/>
          </a:xfrm>
        </p:spPr>
        <p:txBody>
          <a:bodyPr lIns="0" tIns="12065" rIns="0" bIns="0" rtlCol="0">
            <a:spAutoFit/>
          </a:bodyPr>
          <a:lstStyle/>
          <a:p>
            <a:pPr marL="12700" eaLnBrk="1" fontAlgn="auto" hangingPunct="1">
              <a:spcBef>
                <a:spcPts val="95"/>
              </a:spcBef>
              <a:spcAft>
                <a:spcPts val="0"/>
              </a:spcAft>
              <a:defRPr/>
            </a:pPr>
            <a:r>
              <a:rPr sz="2800" b="1" spc="-5" dirty="0">
                <a:latin typeface="Times New Roman" panose="02020603050405020304" pitchFamily="18" charset="0"/>
                <a:cs typeface="Times New Roman" panose="02020603050405020304" pitchFamily="18" charset="0"/>
              </a:rPr>
              <a:t>PMOS </a:t>
            </a:r>
            <a:r>
              <a:rPr sz="2800" b="1" spc="-10" dirty="0">
                <a:latin typeface="Times New Roman" panose="02020603050405020304" pitchFamily="18" charset="0"/>
                <a:cs typeface="Times New Roman" panose="02020603050405020304" pitchFamily="18" charset="0"/>
              </a:rPr>
              <a:t>pass </a:t>
            </a:r>
            <a:r>
              <a:rPr sz="2800" b="1" spc="-5" dirty="0">
                <a:latin typeface="Times New Roman" panose="02020603050405020304" pitchFamily="18" charset="0"/>
                <a:cs typeface="Times New Roman" panose="02020603050405020304" pitchFamily="18" charset="0"/>
              </a:rPr>
              <a:t>transistor passes Strong ‘1’ </a:t>
            </a:r>
            <a:r>
              <a:rPr sz="2800" b="1" spc="-10" dirty="0">
                <a:latin typeface="Times New Roman" panose="02020603050405020304" pitchFamily="18" charset="0"/>
                <a:cs typeface="Times New Roman" panose="02020603050405020304" pitchFamily="18" charset="0"/>
              </a:rPr>
              <a:t>but </a:t>
            </a:r>
            <a:r>
              <a:rPr sz="2800" b="1" spc="-5" dirty="0">
                <a:latin typeface="Times New Roman" panose="02020603050405020304" pitchFamily="18" charset="0"/>
                <a:cs typeface="Times New Roman" panose="02020603050405020304" pitchFamily="18" charset="0"/>
              </a:rPr>
              <a:t>weak</a:t>
            </a:r>
            <a:r>
              <a:rPr sz="2800" b="1" spc="145"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‘0’</a:t>
            </a:r>
            <a:endParaRPr sz="2800" b="1" dirty="0">
              <a:latin typeface="Times New Roman" panose="02020603050405020304" pitchFamily="18" charset="0"/>
              <a:cs typeface="Times New Roman" panose="02020603050405020304" pitchFamily="18" charset="0"/>
            </a:endParaRPr>
          </a:p>
        </p:txBody>
      </p:sp>
      <p:sp>
        <p:nvSpPr>
          <p:cNvPr id="32771" name="object 3">
            <a:extLst>
              <a:ext uri="{FF2B5EF4-FFF2-40B4-BE49-F238E27FC236}">
                <a16:creationId xmlns:a16="http://schemas.microsoft.com/office/drawing/2014/main" id="{31C54004-6BDF-F6FF-9745-BD3386995AD5}"/>
              </a:ext>
            </a:extLst>
          </p:cNvPr>
          <p:cNvSpPr txBox="1">
            <a:spLocks noChangeArrowheads="1"/>
          </p:cNvSpPr>
          <p:nvPr/>
        </p:nvSpPr>
        <p:spPr bwMode="auto">
          <a:xfrm>
            <a:off x="1905000" y="1508125"/>
            <a:ext cx="9372600" cy="112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3975" rIns="0" bIns="0">
            <a:spAutoFit/>
          </a:bodyPr>
          <a:lstStyle>
            <a:lvl1pPr marL="285750" indent="-273050">
              <a:spcBef>
                <a:spcPct val="20000"/>
              </a:spcBef>
              <a:buFont typeface="Arial" panose="020B0604020202020204" pitchFamily="34" charset="0"/>
              <a:buChar char="•"/>
              <a:tabLst>
                <a:tab pos="2857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2857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2857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9pPr>
          </a:lstStyle>
          <a:p>
            <a:pPr algn="just">
              <a:lnSpc>
                <a:spcPct val="90000"/>
              </a:lnSpc>
              <a:spcBef>
                <a:spcPts val="425"/>
              </a:spcBef>
              <a:buClr>
                <a:srgbClr val="2CA1BE"/>
              </a:buClr>
              <a:buSzPct val="85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An NMOS pass-transistor can pull down to the  positive supply rail, but it can only pull-down to a  threshold voltage above the negative rail.</a:t>
            </a:r>
          </a:p>
          <a:p>
            <a:pPr algn="just">
              <a:spcBef>
                <a:spcPts val="325"/>
              </a:spcBef>
              <a:buFontTx/>
              <a:buNone/>
            </a:pPr>
            <a:r>
              <a:rPr lang="en-US" altLang="en-US" sz="2400" dirty="0">
                <a:solidFill>
                  <a:srgbClr val="2CA1BE"/>
                </a:solidFill>
                <a:latin typeface="Times New Roman" panose="02020603050405020304" pitchFamily="18" charset="0"/>
                <a:ea typeface="Wingdings 2" panose="05020102010507070707" pitchFamily="18" charset="2"/>
                <a:cs typeface="Times New Roman" panose="02020603050405020304" pitchFamily="18" charset="0"/>
              </a:rPr>
              <a:t></a:t>
            </a:r>
            <a:r>
              <a:rPr lang="en-US" altLang="en-US" sz="2400" dirty="0">
                <a:solidFill>
                  <a:srgbClr val="2CA1BE"/>
                </a:solidFill>
                <a:latin typeface="Times New Roman" panose="02020603050405020304" pitchFamily="18" charset="0"/>
                <a:cs typeface="Times New Roman" panose="02020603050405020304" pitchFamily="18" charset="0"/>
              </a:rPr>
              <a:t> </a:t>
            </a:r>
            <a:r>
              <a:rPr lang="en-US" altLang="en-US" sz="2400" dirty="0">
                <a:solidFill>
                  <a:srgbClr val="C00000"/>
                </a:solidFill>
                <a:latin typeface="Times New Roman" panose="02020603050405020304" pitchFamily="18" charset="0"/>
                <a:ea typeface="Georgia" panose="02040502050405020303" pitchFamily="18" charset="0"/>
                <a:cs typeface="Times New Roman" panose="02020603050405020304" pitchFamily="18" charset="0"/>
              </a:rPr>
              <a:t>=&gt; It can output a strong zero, but a weak one.</a:t>
            </a:r>
            <a:endParaRPr lang="en-US" altLang="en-US" sz="2400" dirty="0">
              <a:latin typeface="Times New Roman" panose="02020603050405020304" pitchFamily="18" charset="0"/>
              <a:ea typeface="Georgia" panose="02040502050405020303" pitchFamily="18" charset="0"/>
              <a:cs typeface="Times New Roman" panose="02020603050405020304" pitchFamily="18" charset="0"/>
            </a:endParaRPr>
          </a:p>
        </p:txBody>
      </p:sp>
      <p:sp>
        <p:nvSpPr>
          <p:cNvPr id="32772" name="object 5">
            <a:extLst>
              <a:ext uri="{FF2B5EF4-FFF2-40B4-BE49-F238E27FC236}">
                <a16:creationId xmlns:a16="http://schemas.microsoft.com/office/drawing/2014/main" id="{79F910E8-BA83-EC81-9B15-F86F517298F9}"/>
              </a:ext>
            </a:extLst>
          </p:cNvPr>
          <p:cNvSpPr>
            <a:spLocks noChangeArrowheads="1"/>
          </p:cNvSpPr>
          <p:nvPr/>
        </p:nvSpPr>
        <p:spPr bwMode="auto">
          <a:xfrm>
            <a:off x="2717277" y="3129699"/>
            <a:ext cx="6229350" cy="13716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bject 2">
            <a:extLst>
              <a:ext uri="{FF2B5EF4-FFF2-40B4-BE49-F238E27FC236}">
                <a16:creationId xmlns:a16="http://schemas.microsoft.com/office/drawing/2014/main" id="{8456C191-9317-BBE0-C8F4-AD0DFE4C8CC1}"/>
              </a:ext>
            </a:extLst>
          </p:cNvPr>
          <p:cNvSpPr>
            <a:spLocks/>
          </p:cNvSpPr>
          <p:nvPr/>
        </p:nvSpPr>
        <p:spPr bwMode="auto">
          <a:xfrm>
            <a:off x="1676400" y="6697663"/>
            <a:ext cx="8839200" cy="7937"/>
          </a:xfrm>
          <a:custGeom>
            <a:avLst/>
            <a:gdLst>
              <a:gd name="T0" fmla="*/ 0 w 8839200"/>
              <a:gd name="T1" fmla="*/ 16527 h 7620"/>
              <a:gd name="T2" fmla="*/ 8839200 w 8839200"/>
              <a:gd name="T3" fmla="*/ 16527 h 7620"/>
              <a:gd name="T4" fmla="*/ 8839200 w 8839200"/>
              <a:gd name="T5" fmla="*/ 0 h 7620"/>
              <a:gd name="T6" fmla="*/ 0 w 8839200"/>
              <a:gd name="T7" fmla="*/ 0 h 7620"/>
              <a:gd name="T8" fmla="*/ 0 w 8839200"/>
              <a:gd name="T9" fmla="*/ 16527 h 7620"/>
              <a:gd name="T10" fmla="*/ 0 60000 65536"/>
              <a:gd name="T11" fmla="*/ 0 60000 65536"/>
              <a:gd name="T12" fmla="*/ 0 60000 65536"/>
              <a:gd name="T13" fmla="*/ 0 60000 65536"/>
              <a:gd name="T14" fmla="*/ 0 60000 65536"/>
              <a:gd name="T15" fmla="*/ 0 w 8839200"/>
              <a:gd name="T16" fmla="*/ 0 h 7620"/>
              <a:gd name="T17" fmla="*/ 8839200 w 8839200"/>
              <a:gd name="T18" fmla="*/ 7620 h 7620"/>
            </a:gdLst>
            <a:ahLst/>
            <a:cxnLst>
              <a:cxn ang="T10">
                <a:pos x="T0" y="T1"/>
              </a:cxn>
              <a:cxn ang="T11">
                <a:pos x="T2" y="T3"/>
              </a:cxn>
              <a:cxn ang="T12">
                <a:pos x="T4" y="T5"/>
              </a:cxn>
              <a:cxn ang="T13">
                <a:pos x="T6" y="T7"/>
              </a:cxn>
              <a:cxn ang="T14">
                <a:pos x="T8" y="T9"/>
              </a:cxn>
            </a:cxnLst>
            <a:rect l="T15" t="T16" r="T17" b="T18"/>
            <a:pathLst>
              <a:path w="8839200" h="7620">
                <a:moveTo>
                  <a:pt x="0" y="7619"/>
                </a:moveTo>
                <a:lnTo>
                  <a:pt x="8839200" y="7619"/>
                </a:lnTo>
                <a:lnTo>
                  <a:pt x="8839200" y="0"/>
                </a:lnTo>
                <a:lnTo>
                  <a:pt x="0" y="0"/>
                </a:lnTo>
                <a:lnTo>
                  <a:pt x="0" y="7619"/>
                </a:lnTo>
                <a:close/>
              </a:path>
            </a:pathLst>
          </a:custGeom>
          <a:solidFill>
            <a:srgbClr val="DEF5F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33795" name="object 13">
            <a:extLst>
              <a:ext uri="{FF2B5EF4-FFF2-40B4-BE49-F238E27FC236}">
                <a16:creationId xmlns:a16="http://schemas.microsoft.com/office/drawing/2014/main" id="{0D4B0464-9EE2-D4E9-7816-FEF37FA5556D}"/>
              </a:ext>
            </a:extLst>
          </p:cNvPr>
          <p:cNvSpPr txBox="1">
            <a:spLocks noChangeArrowheads="1"/>
          </p:cNvSpPr>
          <p:nvPr/>
        </p:nvSpPr>
        <p:spPr bwMode="auto">
          <a:xfrm>
            <a:off x="381000" y="1512888"/>
            <a:ext cx="11569700" cy="2916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0165" rIns="0" bIns="0">
            <a:spAutoFit/>
          </a:bodyPr>
          <a:lstStyle>
            <a:lvl1pPr marL="336550" indent="-273050">
              <a:spcBef>
                <a:spcPct val="20000"/>
              </a:spcBef>
              <a:buFont typeface="Arial" panose="020B0604020202020204" pitchFamily="34" charset="0"/>
              <a:buChar char="•"/>
              <a:tabLst>
                <a:tab pos="3365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3365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3365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3365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3365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336550" algn="l"/>
              </a:tabLst>
              <a:defRPr sz="2000">
                <a:solidFill>
                  <a:schemeClr val="tx1"/>
                </a:solidFill>
                <a:latin typeface="Calibri" panose="020F0502020204030204" pitchFamily="34" charset="0"/>
              </a:defRPr>
            </a:lvl9pPr>
          </a:lstStyle>
          <a:p>
            <a:pPr algn="just">
              <a:lnSpc>
                <a:spcPct val="90000"/>
              </a:lnSpc>
              <a:spcBef>
                <a:spcPts val="40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Similarly for a PMOS to pass logic ‘0’, gate should be  logic 0 and the output node should be gradually  discharged from its previous value to zero potential.</a:t>
            </a:r>
          </a:p>
          <a:p>
            <a:pPr algn="just">
              <a:spcBef>
                <a:spcPts val="38"/>
              </a:spcBef>
              <a:buClr>
                <a:srgbClr val="2CA1BE"/>
              </a:buClr>
              <a:buFont typeface="Wingdings 2" panose="05020102010507070707" pitchFamily="18" charset="2"/>
              <a:buChar char=""/>
            </a:pPr>
            <a:endParaRPr lang="en-US" altLang="en-US" sz="2400" dirty="0">
              <a:latin typeface="Times New Roman" panose="02020603050405020304" pitchFamily="18" charset="0"/>
              <a:cs typeface="Times New Roman" panose="02020603050405020304" pitchFamily="18" charset="0"/>
            </a:endParaRPr>
          </a:p>
          <a:p>
            <a:pPr algn="just">
              <a:lnSpc>
                <a:spcPts val="2850"/>
              </a:lnSpc>
              <a:spcBef>
                <a:spcPct val="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In this process when output node reaches |</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t,p</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 then |V</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SG</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 reaches (|</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t,p</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|-0) which is the minimum voltage  required for the PMOS to be ON state for a current to  flow. So node out reaching to a potential less than </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t,p</a:t>
            </a:r>
            <a:r>
              <a:rPr lang="en-US" altLang="en-US" sz="2400" baseline="-20000" dirty="0">
                <a:latin typeface="Times New Roman" panose="02020603050405020304" pitchFamily="18" charset="0"/>
                <a:ea typeface="Georgia" panose="02040502050405020303" pitchFamily="18" charset="0"/>
                <a:cs typeface="Times New Roman" panose="02020603050405020304" pitchFamily="18" charset="0"/>
              </a:rPr>
              <a:t>  </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turns off the PMOS.</a:t>
            </a:r>
          </a:p>
          <a:p>
            <a:pPr algn="just">
              <a:spcBef>
                <a:spcPts val="25"/>
              </a:spcBef>
              <a:buFontTx/>
              <a:buNone/>
            </a:pPr>
            <a:endParaRPr lang="en-US" altLang="en-US" sz="2400" dirty="0">
              <a:latin typeface="Times New Roman" panose="02020603050405020304" pitchFamily="18" charset="0"/>
              <a:cs typeface="Times New Roman" panose="02020603050405020304" pitchFamily="18" charset="0"/>
            </a:endParaRPr>
          </a:p>
          <a:p>
            <a:pPr algn="just">
              <a:lnSpc>
                <a:spcPts val="2700"/>
              </a:lnSpc>
              <a:spcBef>
                <a:spcPct val="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So the maximum voltage level that the output node can  be discharged to is |</a:t>
            </a:r>
            <a:r>
              <a:rPr lang="en-US" altLang="en-US" sz="2400" dirty="0" err="1">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0000" dirty="0" err="1">
                <a:latin typeface="Times New Roman" panose="02020603050405020304" pitchFamily="18" charset="0"/>
                <a:ea typeface="Georgia" panose="02040502050405020303" pitchFamily="18" charset="0"/>
                <a:cs typeface="Times New Roman" panose="02020603050405020304" pitchFamily="18" charset="0"/>
              </a:rPr>
              <a:t>t,p</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t>
            </a:r>
          </a:p>
        </p:txBody>
      </p:sp>
      <p:sp>
        <p:nvSpPr>
          <p:cNvPr id="14" name="object 2">
            <a:extLst>
              <a:ext uri="{FF2B5EF4-FFF2-40B4-BE49-F238E27FC236}">
                <a16:creationId xmlns:a16="http://schemas.microsoft.com/office/drawing/2014/main" id="{CE10DC98-56ED-E927-DEC1-806A08036280}"/>
              </a:ext>
            </a:extLst>
          </p:cNvPr>
          <p:cNvSpPr txBox="1">
            <a:spLocks/>
          </p:cNvSpPr>
          <p:nvPr/>
        </p:nvSpPr>
        <p:spPr>
          <a:xfrm>
            <a:off x="2076450" y="492125"/>
            <a:ext cx="9201150" cy="442913"/>
          </a:xfrm>
          <a:prstGeom prst="rect">
            <a:avLst/>
          </a:prstGeom>
        </p:spPr>
        <p:txBody>
          <a:bodyPr lIns="0" tIns="12065" rIns="0" bIns="0">
            <a:spAutoFit/>
          </a:bodyPr>
          <a:lstStyle>
            <a:lvl1pPr algn="l" defTabSz="457200" rtl="0" eaLnBrk="0" fontAlgn="base" hangingPunct="0">
              <a:spcBef>
                <a:spcPct val="0"/>
              </a:spcBef>
              <a:spcAft>
                <a:spcPct val="0"/>
              </a:spcAft>
              <a:defRPr sz="3600" kern="1200">
                <a:solidFill>
                  <a:srgbClr val="262626"/>
                </a:solidFill>
                <a:latin typeface="+mj-lt"/>
                <a:ea typeface="+mj-ea"/>
                <a:cs typeface="+mj-cs"/>
              </a:defRPr>
            </a:lvl1pPr>
            <a:lvl2pPr algn="l" defTabSz="457200" rtl="0" eaLnBrk="0" fontAlgn="base" hangingPunct="0">
              <a:spcBef>
                <a:spcPct val="0"/>
              </a:spcBef>
              <a:spcAft>
                <a:spcPct val="0"/>
              </a:spcAft>
              <a:defRPr sz="3600">
                <a:solidFill>
                  <a:srgbClr val="262626"/>
                </a:solidFill>
                <a:latin typeface="Century Gothic" panose="020B0502020202020204" pitchFamily="34" charset="0"/>
              </a:defRPr>
            </a:lvl2pPr>
            <a:lvl3pPr algn="l" defTabSz="457200" rtl="0" eaLnBrk="0" fontAlgn="base" hangingPunct="0">
              <a:spcBef>
                <a:spcPct val="0"/>
              </a:spcBef>
              <a:spcAft>
                <a:spcPct val="0"/>
              </a:spcAft>
              <a:defRPr sz="3600">
                <a:solidFill>
                  <a:srgbClr val="262626"/>
                </a:solidFill>
                <a:latin typeface="Century Gothic" panose="020B0502020202020204" pitchFamily="34" charset="0"/>
              </a:defRPr>
            </a:lvl3pPr>
            <a:lvl4pPr algn="l" defTabSz="457200" rtl="0" eaLnBrk="0" fontAlgn="base" hangingPunct="0">
              <a:spcBef>
                <a:spcPct val="0"/>
              </a:spcBef>
              <a:spcAft>
                <a:spcPct val="0"/>
              </a:spcAft>
              <a:defRPr sz="3600">
                <a:solidFill>
                  <a:srgbClr val="262626"/>
                </a:solidFill>
                <a:latin typeface="Century Gothic" panose="020B0502020202020204" pitchFamily="34" charset="0"/>
              </a:defRPr>
            </a:lvl4pPr>
            <a:lvl5pPr algn="l" defTabSz="457200" rtl="0" eaLnBrk="0" fontAlgn="base" hangingPunct="0">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95"/>
              </a:spcBef>
              <a:defRPr/>
            </a:pPr>
            <a:r>
              <a:rPr lang="en-IN" sz="2800" b="1" spc="-5" dirty="0">
                <a:latin typeface="Times New Roman" panose="02020603050405020304" pitchFamily="18" charset="0"/>
                <a:cs typeface="Times New Roman" panose="02020603050405020304" pitchFamily="18" charset="0"/>
              </a:rPr>
              <a:t>PMOS </a:t>
            </a:r>
            <a:r>
              <a:rPr lang="en-IN" sz="2800" b="1" spc="-10" dirty="0">
                <a:latin typeface="Times New Roman" panose="02020603050405020304" pitchFamily="18" charset="0"/>
                <a:cs typeface="Times New Roman" panose="02020603050405020304" pitchFamily="18" charset="0"/>
              </a:rPr>
              <a:t>pass </a:t>
            </a:r>
            <a:r>
              <a:rPr lang="en-IN" sz="2800" b="1" spc="-5" dirty="0">
                <a:latin typeface="Times New Roman" panose="02020603050405020304" pitchFamily="18" charset="0"/>
                <a:cs typeface="Times New Roman" panose="02020603050405020304" pitchFamily="18" charset="0"/>
              </a:rPr>
              <a:t>transistor passes Strong ‘1’ </a:t>
            </a:r>
            <a:r>
              <a:rPr lang="en-IN" sz="2800" b="1" spc="-10" dirty="0">
                <a:latin typeface="Times New Roman" panose="02020603050405020304" pitchFamily="18" charset="0"/>
                <a:cs typeface="Times New Roman" panose="02020603050405020304" pitchFamily="18" charset="0"/>
              </a:rPr>
              <a:t>but </a:t>
            </a:r>
            <a:r>
              <a:rPr lang="en-IN" sz="2800" b="1" spc="-5" dirty="0">
                <a:latin typeface="Times New Roman" panose="02020603050405020304" pitchFamily="18" charset="0"/>
                <a:cs typeface="Times New Roman" panose="02020603050405020304" pitchFamily="18" charset="0"/>
              </a:rPr>
              <a:t>weak</a:t>
            </a:r>
            <a:r>
              <a:rPr lang="en-IN" sz="2800" b="1" spc="145" dirty="0">
                <a:latin typeface="Times New Roman" panose="02020603050405020304" pitchFamily="18" charset="0"/>
                <a:cs typeface="Times New Roman" panose="02020603050405020304" pitchFamily="18" charset="0"/>
              </a:rPr>
              <a:t> </a:t>
            </a:r>
            <a:r>
              <a:rPr lang="en-IN" sz="2800" b="1" spc="-5" dirty="0">
                <a:latin typeface="Times New Roman" panose="02020603050405020304" pitchFamily="18" charset="0"/>
                <a:cs typeface="Times New Roman" panose="02020603050405020304" pitchFamily="18" charset="0"/>
              </a:rPr>
              <a:t>‘0’</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6BFC3B9-F6AC-FC4C-E96B-AE1656A585B2}"/>
              </a:ext>
            </a:extLst>
          </p:cNvPr>
          <p:cNvSpPr txBox="1">
            <a:spLocks noGrp="1"/>
          </p:cNvSpPr>
          <p:nvPr>
            <p:ph type="title"/>
          </p:nvPr>
        </p:nvSpPr>
        <p:spPr>
          <a:xfrm>
            <a:off x="1639888" y="223838"/>
            <a:ext cx="8912225" cy="566737"/>
          </a:xfrm>
        </p:spPr>
        <p:txBody>
          <a:bodyPr lIns="0" tIns="12700" rIns="0" bIns="0" rtlCol="0">
            <a:spAutoFit/>
          </a:bodyPr>
          <a:lstStyle/>
          <a:p>
            <a:pPr marL="13970" eaLnBrk="1" fontAlgn="auto" hangingPunct="1">
              <a:spcBef>
                <a:spcPts val="100"/>
              </a:spcBef>
              <a:spcAft>
                <a:spcPts val="0"/>
              </a:spcAft>
              <a:defRPr/>
            </a:pPr>
            <a:r>
              <a:rPr b="1" spc="-5" dirty="0">
                <a:latin typeface="Times New Roman" panose="02020603050405020304" pitchFamily="18" charset="0"/>
                <a:cs typeface="Times New Roman" panose="02020603050405020304" pitchFamily="18" charset="0"/>
              </a:rPr>
              <a:t>Strong </a:t>
            </a:r>
            <a:r>
              <a:rPr b="1" dirty="0">
                <a:latin typeface="Times New Roman" panose="02020603050405020304" pitchFamily="18" charset="0"/>
                <a:cs typeface="Times New Roman" panose="02020603050405020304" pitchFamily="18" charset="0"/>
              </a:rPr>
              <a:t>and Weak Logic</a:t>
            </a:r>
            <a:r>
              <a:rPr b="1" spc="-70"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Summary</a:t>
            </a:r>
          </a:p>
        </p:txBody>
      </p:sp>
      <p:sp>
        <p:nvSpPr>
          <p:cNvPr id="34819" name="object 3">
            <a:extLst>
              <a:ext uri="{FF2B5EF4-FFF2-40B4-BE49-F238E27FC236}">
                <a16:creationId xmlns:a16="http://schemas.microsoft.com/office/drawing/2014/main" id="{455A7E74-B5F2-2C9B-F505-6B131836F04F}"/>
              </a:ext>
            </a:extLst>
          </p:cNvPr>
          <p:cNvSpPr>
            <a:spLocks noChangeArrowheads="1"/>
          </p:cNvSpPr>
          <p:nvPr/>
        </p:nvSpPr>
        <p:spPr bwMode="auto">
          <a:xfrm>
            <a:off x="1905000" y="1295400"/>
            <a:ext cx="9144000" cy="47244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
        <p:nvSpPr>
          <p:cNvPr id="4" name="object 4">
            <a:extLst>
              <a:ext uri="{FF2B5EF4-FFF2-40B4-BE49-F238E27FC236}">
                <a16:creationId xmlns:a16="http://schemas.microsoft.com/office/drawing/2014/main" id="{74A66EBE-3C62-FE42-CF5B-C1ED1AC560D9}"/>
              </a:ext>
            </a:extLst>
          </p:cNvPr>
          <p:cNvSpPr txBox="1"/>
          <p:nvPr/>
        </p:nvSpPr>
        <p:spPr>
          <a:xfrm>
            <a:off x="914400" y="6351588"/>
            <a:ext cx="10668000" cy="288925"/>
          </a:xfrm>
          <a:prstGeom prst="rect">
            <a:avLst/>
          </a:prstGeom>
        </p:spPr>
        <p:txBody>
          <a:bodyPr lIns="0" tIns="12700" rIns="0" bIns="0">
            <a:spAutoFit/>
          </a:bodyPr>
          <a:lstStyle/>
          <a:p>
            <a:pPr marL="12700">
              <a:spcBef>
                <a:spcPts val="100"/>
              </a:spcBef>
              <a:defRPr/>
            </a:pPr>
            <a:r>
              <a:rPr b="1" dirty="0">
                <a:solidFill>
                  <a:srgbClr val="FF0000"/>
                </a:solidFill>
                <a:latin typeface="Times New Roman" panose="02020603050405020304" pitchFamily="18" charset="0"/>
                <a:cs typeface="Times New Roman" panose="02020603050405020304" pitchFamily="18" charset="0"/>
              </a:rPr>
              <a:t>nMOS </a:t>
            </a:r>
            <a:r>
              <a:rPr b="1" spc="-5" dirty="0">
                <a:solidFill>
                  <a:srgbClr val="FF0000"/>
                </a:solidFill>
                <a:latin typeface="Times New Roman" panose="02020603050405020304" pitchFamily="18" charset="0"/>
                <a:cs typeface="Times New Roman" panose="02020603050405020304" pitchFamily="18" charset="0"/>
              </a:rPr>
              <a:t>passes </a:t>
            </a:r>
            <a:r>
              <a:rPr b="1" dirty="0">
                <a:solidFill>
                  <a:srgbClr val="FF0000"/>
                </a:solidFill>
                <a:latin typeface="Times New Roman" panose="02020603050405020304" pitchFamily="18" charset="0"/>
                <a:cs typeface="Times New Roman" panose="02020603050405020304" pitchFamily="18" charset="0"/>
              </a:rPr>
              <a:t>a </a:t>
            </a:r>
            <a:r>
              <a:rPr b="1" spc="-5" dirty="0">
                <a:solidFill>
                  <a:srgbClr val="FF0000"/>
                </a:solidFill>
                <a:latin typeface="Times New Roman" panose="02020603050405020304" pitchFamily="18" charset="0"/>
                <a:cs typeface="Times New Roman" panose="02020603050405020304" pitchFamily="18" charset="0"/>
              </a:rPr>
              <a:t>strong Logic </a:t>
            </a:r>
            <a:r>
              <a:rPr b="1" dirty="0">
                <a:solidFill>
                  <a:srgbClr val="FF0000"/>
                </a:solidFill>
                <a:latin typeface="Times New Roman" panose="02020603050405020304" pitchFamily="18" charset="0"/>
                <a:cs typeface="Times New Roman" panose="02020603050405020304" pitchFamily="18" charset="0"/>
              </a:rPr>
              <a:t>‘0’ </a:t>
            </a:r>
            <a:r>
              <a:rPr b="1" spc="-5" dirty="0">
                <a:solidFill>
                  <a:srgbClr val="FF0000"/>
                </a:solidFill>
                <a:latin typeface="Times New Roman" panose="02020603050405020304" pitchFamily="18" charset="0"/>
                <a:cs typeface="Times New Roman" panose="02020603050405020304" pitchFamily="18" charset="0"/>
              </a:rPr>
              <a:t>but </a:t>
            </a:r>
            <a:r>
              <a:rPr b="1" dirty="0">
                <a:solidFill>
                  <a:srgbClr val="FF0000"/>
                </a:solidFill>
                <a:latin typeface="Times New Roman" panose="02020603050405020304" pitchFamily="18" charset="0"/>
                <a:cs typeface="Times New Roman" panose="02020603050405020304" pitchFamily="18" charset="0"/>
              </a:rPr>
              <a:t>a </a:t>
            </a:r>
            <a:r>
              <a:rPr b="1" spc="-5" dirty="0">
                <a:solidFill>
                  <a:srgbClr val="FF0000"/>
                </a:solidFill>
                <a:latin typeface="Times New Roman" panose="02020603050405020304" pitchFamily="18" charset="0"/>
                <a:cs typeface="Times New Roman" panose="02020603050405020304" pitchFamily="18" charset="0"/>
              </a:rPr>
              <a:t>degraded Logic ‘1’. </a:t>
            </a:r>
            <a:r>
              <a:rPr b="1" dirty="0">
                <a:solidFill>
                  <a:srgbClr val="FF0000"/>
                </a:solidFill>
                <a:latin typeface="Times New Roman" panose="02020603050405020304" pitchFamily="18" charset="0"/>
                <a:cs typeface="Times New Roman" panose="02020603050405020304" pitchFamily="18" charset="0"/>
              </a:rPr>
              <a:t>The </a:t>
            </a:r>
            <a:r>
              <a:rPr b="1" spc="-5" dirty="0">
                <a:solidFill>
                  <a:srgbClr val="FF0000"/>
                </a:solidFill>
                <a:latin typeface="Times New Roman" panose="02020603050405020304" pitchFamily="18" charset="0"/>
                <a:cs typeface="Times New Roman" panose="02020603050405020304" pitchFamily="18" charset="0"/>
              </a:rPr>
              <a:t>opposite </a:t>
            </a:r>
            <a:r>
              <a:rPr b="1" dirty="0">
                <a:solidFill>
                  <a:srgbClr val="FF0000"/>
                </a:solidFill>
                <a:latin typeface="Times New Roman" panose="02020603050405020304" pitchFamily="18" charset="0"/>
                <a:cs typeface="Times New Roman" panose="02020603050405020304" pitchFamily="18" charset="0"/>
              </a:rPr>
              <a:t>is </a:t>
            </a:r>
            <a:r>
              <a:rPr b="1" spc="-5" dirty="0">
                <a:solidFill>
                  <a:srgbClr val="FF0000"/>
                </a:solidFill>
                <a:latin typeface="Times New Roman" panose="02020603050405020304" pitchFamily="18" charset="0"/>
                <a:cs typeface="Times New Roman" panose="02020603050405020304" pitchFamily="18" charset="0"/>
              </a:rPr>
              <a:t>true for</a:t>
            </a:r>
            <a:r>
              <a:rPr b="1" spc="140" dirty="0">
                <a:solidFill>
                  <a:srgbClr val="FF0000"/>
                </a:solidFill>
                <a:latin typeface="Times New Roman" panose="02020603050405020304" pitchFamily="18" charset="0"/>
                <a:cs typeface="Times New Roman" panose="02020603050405020304" pitchFamily="18" charset="0"/>
              </a:rPr>
              <a:t> </a:t>
            </a:r>
            <a:r>
              <a:rPr b="1" spc="-5" dirty="0">
                <a:solidFill>
                  <a:srgbClr val="FF0000"/>
                </a:solidFill>
                <a:latin typeface="Times New Roman" panose="02020603050405020304" pitchFamily="18" charset="0"/>
                <a:cs typeface="Times New Roman" panose="02020603050405020304" pitchFamily="18" charset="0"/>
              </a:rPr>
              <a:t>pMOS</a:t>
            </a:r>
            <a:endParaRPr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object 2">
            <a:extLst>
              <a:ext uri="{FF2B5EF4-FFF2-40B4-BE49-F238E27FC236}">
                <a16:creationId xmlns:a16="http://schemas.microsoft.com/office/drawing/2014/main" id="{4E2CC19D-3E33-9D05-DB6A-1E4C0C65A756}"/>
              </a:ext>
            </a:extLst>
          </p:cNvPr>
          <p:cNvSpPr>
            <a:spLocks/>
          </p:cNvSpPr>
          <p:nvPr/>
        </p:nvSpPr>
        <p:spPr bwMode="auto">
          <a:xfrm>
            <a:off x="1676400" y="6697663"/>
            <a:ext cx="8839200" cy="7937"/>
          </a:xfrm>
          <a:custGeom>
            <a:avLst/>
            <a:gdLst>
              <a:gd name="T0" fmla="*/ 0 w 8839200"/>
              <a:gd name="T1" fmla="*/ 16527 h 7620"/>
              <a:gd name="T2" fmla="*/ 8839200 w 8839200"/>
              <a:gd name="T3" fmla="*/ 16527 h 7620"/>
              <a:gd name="T4" fmla="*/ 8839200 w 8839200"/>
              <a:gd name="T5" fmla="*/ 0 h 7620"/>
              <a:gd name="T6" fmla="*/ 0 w 8839200"/>
              <a:gd name="T7" fmla="*/ 0 h 7620"/>
              <a:gd name="T8" fmla="*/ 0 w 8839200"/>
              <a:gd name="T9" fmla="*/ 16527 h 7620"/>
              <a:gd name="T10" fmla="*/ 0 60000 65536"/>
              <a:gd name="T11" fmla="*/ 0 60000 65536"/>
              <a:gd name="T12" fmla="*/ 0 60000 65536"/>
              <a:gd name="T13" fmla="*/ 0 60000 65536"/>
              <a:gd name="T14" fmla="*/ 0 60000 65536"/>
              <a:gd name="T15" fmla="*/ 0 w 8839200"/>
              <a:gd name="T16" fmla="*/ 0 h 7620"/>
              <a:gd name="T17" fmla="*/ 8839200 w 8839200"/>
              <a:gd name="T18" fmla="*/ 7620 h 7620"/>
            </a:gdLst>
            <a:ahLst/>
            <a:cxnLst>
              <a:cxn ang="T10">
                <a:pos x="T0" y="T1"/>
              </a:cxn>
              <a:cxn ang="T11">
                <a:pos x="T2" y="T3"/>
              </a:cxn>
              <a:cxn ang="T12">
                <a:pos x="T4" y="T5"/>
              </a:cxn>
              <a:cxn ang="T13">
                <a:pos x="T6" y="T7"/>
              </a:cxn>
              <a:cxn ang="T14">
                <a:pos x="T8" y="T9"/>
              </a:cxn>
            </a:cxnLst>
            <a:rect l="T15" t="T16" r="T17" b="T18"/>
            <a:pathLst>
              <a:path w="8839200" h="7620">
                <a:moveTo>
                  <a:pt x="0" y="7619"/>
                </a:moveTo>
                <a:lnTo>
                  <a:pt x="8839200" y="7619"/>
                </a:lnTo>
                <a:lnTo>
                  <a:pt x="8839200" y="0"/>
                </a:lnTo>
                <a:lnTo>
                  <a:pt x="0" y="0"/>
                </a:lnTo>
                <a:lnTo>
                  <a:pt x="0" y="7619"/>
                </a:lnTo>
                <a:close/>
              </a:path>
            </a:pathLst>
          </a:custGeom>
          <a:solidFill>
            <a:srgbClr val="DEF5F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35843" name="object 13">
            <a:extLst>
              <a:ext uri="{FF2B5EF4-FFF2-40B4-BE49-F238E27FC236}">
                <a16:creationId xmlns:a16="http://schemas.microsoft.com/office/drawing/2014/main" id="{1EEACCA6-CAD0-34FF-6B28-3FC523EDF31E}"/>
              </a:ext>
            </a:extLst>
          </p:cNvPr>
          <p:cNvSpPr txBox="1">
            <a:spLocks noChangeArrowheads="1"/>
          </p:cNvSpPr>
          <p:nvPr/>
        </p:nvSpPr>
        <p:spPr bwMode="auto">
          <a:xfrm>
            <a:off x="1676399" y="1038225"/>
            <a:ext cx="8839199" cy="38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311150" indent="-273050">
              <a:spcBef>
                <a:spcPct val="20000"/>
              </a:spcBef>
              <a:buFont typeface="Arial" panose="020B0604020202020204" pitchFamily="34" charset="0"/>
              <a:buChar char="•"/>
              <a:tabLst>
                <a:tab pos="3111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3111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3111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3111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3111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311150" algn="l"/>
              </a:tabLst>
              <a:defRPr sz="2000">
                <a:solidFill>
                  <a:schemeClr val="tx1"/>
                </a:solidFill>
                <a:latin typeface="Calibri" panose="020F0502020204030204" pitchFamily="34" charset="0"/>
              </a:defRPr>
            </a:lvl9pPr>
          </a:lstStyle>
          <a:p>
            <a:pPr algn="just">
              <a:spcBef>
                <a:spcPts val="100"/>
              </a:spcBef>
              <a:buClr>
                <a:srgbClr val="2CA1BE"/>
              </a:buClr>
              <a:buSzPct val="84000"/>
              <a:buFont typeface="Wingdings 2" panose="05020102010507070707" pitchFamily="18" charset="2"/>
              <a:buChar char=""/>
            </a:pP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The source voltage is always the lower of voltages  V</a:t>
            </a:r>
            <a:r>
              <a:rPr lang="en-US" altLang="en-US" sz="2400" baseline="-21000" dirty="0">
                <a:latin typeface="Times New Roman" panose="02020603050405020304" pitchFamily="18" charset="0"/>
                <a:ea typeface="Georgia" panose="02040502050405020303" pitchFamily="18" charset="0"/>
                <a:cs typeface="Times New Roman" panose="02020603050405020304" pitchFamily="18" charset="0"/>
              </a:rPr>
              <a:t>D </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and V</a:t>
            </a:r>
            <a:r>
              <a:rPr lang="en-US" altLang="en-US" sz="2400" baseline="-21000" dirty="0">
                <a:latin typeface="Times New Roman" panose="02020603050405020304" pitchFamily="18" charset="0"/>
                <a:ea typeface="Georgia" panose="02040502050405020303" pitchFamily="18" charset="0"/>
                <a:cs typeface="Times New Roman" panose="02020603050405020304" pitchFamily="18" charset="0"/>
              </a:rPr>
              <a:t>G</a:t>
            </a:r>
            <a:r>
              <a:rPr lang="en-US" altLang="en-US" sz="2400" dirty="0">
                <a:latin typeface="Times New Roman" panose="02020603050405020304" pitchFamily="18" charset="0"/>
                <a:ea typeface="Georgia" panose="02040502050405020303" pitchFamily="18" charset="0"/>
                <a:cs typeface="Times New Roman" panose="02020603050405020304" pitchFamily="18" charset="0"/>
              </a:rPr>
              <a:t>-V</a:t>
            </a:r>
            <a:r>
              <a:rPr lang="en-US" altLang="en-US" sz="2400" baseline="-21000" dirty="0">
                <a:latin typeface="Times New Roman" panose="02020603050405020304" pitchFamily="18" charset="0"/>
                <a:ea typeface="Georgia" panose="02040502050405020303" pitchFamily="18" charset="0"/>
                <a:cs typeface="Times New Roman" panose="02020603050405020304" pitchFamily="18" charset="0"/>
              </a:rPr>
              <a:t>T</a:t>
            </a:r>
          </a:p>
        </p:txBody>
      </p:sp>
      <p:sp>
        <p:nvSpPr>
          <p:cNvPr id="35844" name="object 14">
            <a:extLst>
              <a:ext uri="{FF2B5EF4-FFF2-40B4-BE49-F238E27FC236}">
                <a16:creationId xmlns:a16="http://schemas.microsoft.com/office/drawing/2014/main" id="{52244B73-B859-2353-06FF-18C758BD098D}"/>
              </a:ext>
            </a:extLst>
          </p:cNvPr>
          <p:cNvSpPr>
            <a:spLocks noChangeArrowheads="1"/>
          </p:cNvSpPr>
          <p:nvPr/>
        </p:nvSpPr>
        <p:spPr bwMode="auto">
          <a:xfrm>
            <a:off x="1295400" y="2181225"/>
            <a:ext cx="3124200" cy="363855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
        <p:nvSpPr>
          <p:cNvPr id="35845" name="object 15">
            <a:extLst>
              <a:ext uri="{FF2B5EF4-FFF2-40B4-BE49-F238E27FC236}">
                <a16:creationId xmlns:a16="http://schemas.microsoft.com/office/drawing/2014/main" id="{B9B7F475-C0A9-F8E2-251C-79868A9ABC93}"/>
              </a:ext>
            </a:extLst>
          </p:cNvPr>
          <p:cNvSpPr>
            <a:spLocks noChangeArrowheads="1"/>
          </p:cNvSpPr>
          <p:nvPr/>
        </p:nvSpPr>
        <p:spPr bwMode="auto">
          <a:xfrm>
            <a:off x="5486400" y="2084388"/>
            <a:ext cx="6553200" cy="283368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8707A65-35DA-4490-CB0B-F67C4188BB67}"/>
              </a:ext>
            </a:extLst>
          </p:cNvPr>
          <p:cNvSpPr txBox="1">
            <a:spLocks noGrp="1"/>
          </p:cNvSpPr>
          <p:nvPr>
            <p:ph type="title"/>
          </p:nvPr>
        </p:nvSpPr>
        <p:spPr>
          <a:xfrm>
            <a:off x="1600200" y="292100"/>
            <a:ext cx="6743700" cy="566738"/>
          </a:xfrm>
        </p:spPr>
        <p:txBody>
          <a:bodyPr lIns="0" tIns="12700" rIns="0" bIns="0" rtlCol="0">
            <a:spAutoFit/>
          </a:bodyPr>
          <a:lstStyle/>
          <a:p>
            <a:pPr marL="12700" eaLnBrk="1" fontAlgn="auto" hangingPunct="1">
              <a:spcBef>
                <a:spcPts val="100"/>
              </a:spcBef>
              <a:spcAft>
                <a:spcPts val="0"/>
              </a:spcAft>
              <a:defRPr/>
            </a:pPr>
            <a:r>
              <a:rPr b="1" dirty="0">
                <a:latin typeface="Times New Roman" panose="02020603050405020304" pitchFamily="18" charset="0"/>
                <a:cs typeface="Times New Roman" panose="02020603050405020304" pitchFamily="18" charset="0"/>
              </a:rPr>
              <a:t>Advantages</a:t>
            </a:r>
            <a:endParaRPr b="1" spc="-5" dirty="0">
              <a:latin typeface="Times New Roman" panose="02020603050405020304" pitchFamily="18" charset="0"/>
              <a:cs typeface="Times New Roman" panose="02020603050405020304" pitchFamily="18" charset="0"/>
            </a:endParaRPr>
          </a:p>
        </p:txBody>
      </p:sp>
      <p:sp>
        <p:nvSpPr>
          <p:cNvPr id="36867" name="object 3">
            <a:extLst>
              <a:ext uri="{FF2B5EF4-FFF2-40B4-BE49-F238E27FC236}">
                <a16:creationId xmlns:a16="http://schemas.microsoft.com/office/drawing/2014/main" id="{B3EF3366-150C-6A8A-08FC-56640A870162}"/>
              </a:ext>
            </a:extLst>
          </p:cNvPr>
          <p:cNvSpPr txBox="1">
            <a:spLocks noChangeArrowheads="1"/>
          </p:cNvSpPr>
          <p:nvPr/>
        </p:nvSpPr>
        <p:spPr bwMode="auto">
          <a:xfrm>
            <a:off x="685800" y="1089025"/>
            <a:ext cx="10591800"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285750" indent="-273050">
              <a:spcBef>
                <a:spcPct val="20000"/>
              </a:spcBef>
              <a:buFont typeface="Arial" panose="020B0604020202020204" pitchFamily="34" charset="0"/>
              <a:buChar char="•"/>
              <a:tabLst>
                <a:tab pos="2857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2857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2857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9pPr>
          </a:lstStyle>
          <a:p>
            <a:pPr algn="just">
              <a:spcBef>
                <a:spcPts val="100"/>
              </a:spcBef>
              <a:buClr>
                <a:srgbClr val="2CA1BE"/>
              </a:buClr>
              <a:buSzPct val="85000"/>
              <a:buFont typeface="Wingdings 2" panose="05020102010507070707" pitchFamily="18" charset="2"/>
              <a:buChar char=""/>
            </a:pPr>
            <a:r>
              <a:rPr lang="en-US" altLang="en-US" sz="2700" dirty="0">
                <a:latin typeface="Times New Roman" panose="02020603050405020304" pitchFamily="18" charset="0"/>
                <a:ea typeface="Georgia" panose="02040502050405020303" pitchFamily="18" charset="0"/>
                <a:cs typeface="Times New Roman" panose="02020603050405020304" pitchFamily="18" charset="0"/>
              </a:rPr>
              <a:t>They are not ratioed devices and can be minimum  geometry</a:t>
            </a:r>
          </a:p>
          <a:p>
            <a:pPr algn="just">
              <a:spcBef>
                <a:spcPts val="650"/>
              </a:spcBef>
              <a:buClr>
                <a:srgbClr val="2CA1BE"/>
              </a:buClr>
              <a:buSzPct val="85000"/>
              <a:buFont typeface="Wingdings 2" panose="05020102010507070707" pitchFamily="18" charset="2"/>
              <a:buChar char=""/>
            </a:pPr>
            <a:r>
              <a:rPr lang="en-US" altLang="en-US" sz="2700" dirty="0">
                <a:latin typeface="Times New Roman" panose="02020603050405020304" pitchFamily="18" charset="0"/>
                <a:ea typeface="Georgia" panose="02040502050405020303" pitchFamily="18" charset="0"/>
                <a:cs typeface="Times New Roman" panose="02020603050405020304" pitchFamily="18" charset="0"/>
              </a:rPr>
              <a:t>They do not have a path from VDD to ground and do  not dissipate stand-by power</a:t>
            </a:r>
          </a:p>
        </p:txBody>
      </p:sp>
      <p:sp>
        <p:nvSpPr>
          <p:cNvPr id="4" name="object 2">
            <a:extLst>
              <a:ext uri="{FF2B5EF4-FFF2-40B4-BE49-F238E27FC236}">
                <a16:creationId xmlns:a16="http://schemas.microsoft.com/office/drawing/2014/main" id="{FEDB5544-81B3-F178-D7BE-5BE1863981C9}"/>
              </a:ext>
            </a:extLst>
          </p:cNvPr>
          <p:cNvSpPr txBox="1">
            <a:spLocks/>
          </p:cNvSpPr>
          <p:nvPr/>
        </p:nvSpPr>
        <p:spPr bwMode="auto">
          <a:xfrm>
            <a:off x="1565275" y="2427288"/>
            <a:ext cx="5657850" cy="566737"/>
          </a:xfrm>
          <a:prstGeom prst="rect">
            <a:avLst/>
          </a:prstGeom>
          <a:noFill/>
          <a:ln>
            <a:noFill/>
          </a:ln>
        </p:spPr>
        <p:txBody>
          <a:bodyPr lIns="0" tIns="12700" rIns="0" bIns="0">
            <a:spAutoFit/>
          </a:bodyPr>
          <a:lstStyle>
            <a:lvl1pPr algn="l" defTabSz="457200" rtl="0" eaLnBrk="0" fontAlgn="base" hangingPunct="0">
              <a:spcBef>
                <a:spcPct val="0"/>
              </a:spcBef>
              <a:spcAft>
                <a:spcPct val="0"/>
              </a:spcAft>
              <a:defRPr sz="3600" kern="1200">
                <a:solidFill>
                  <a:srgbClr val="262626"/>
                </a:solidFill>
                <a:latin typeface="+mj-lt"/>
                <a:ea typeface="+mj-ea"/>
                <a:cs typeface="+mj-cs"/>
              </a:defRPr>
            </a:lvl1pPr>
            <a:lvl2pPr algn="l" defTabSz="457200" rtl="0" eaLnBrk="0" fontAlgn="base" hangingPunct="0">
              <a:spcBef>
                <a:spcPct val="0"/>
              </a:spcBef>
              <a:spcAft>
                <a:spcPct val="0"/>
              </a:spcAft>
              <a:defRPr sz="3600">
                <a:solidFill>
                  <a:srgbClr val="262626"/>
                </a:solidFill>
                <a:latin typeface="Century Gothic" panose="020B0502020202020204" pitchFamily="34" charset="0"/>
              </a:defRPr>
            </a:lvl2pPr>
            <a:lvl3pPr algn="l" defTabSz="457200" rtl="0" eaLnBrk="0" fontAlgn="base" hangingPunct="0">
              <a:spcBef>
                <a:spcPct val="0"/>
              </a:spcBef>
              <a:spcAft>
                <a:spcPct val="0"/>
              </a:spcAft>
              <a:defRPr sz="3600">
                <a:solidFill>
                  <a:srgbClr val="262626"/>
                </a:solidFill>
                <a:latin typeface="Century Gothic" panose="020B0502020202020204" pitchFamily="34" charset="0"/>
              </a:defRPr>
            </a:lvl3pPr>
            <a:lvl4pPr algn="l" defTabSz="457200" rtl="0" eaLnBrk="0" fontAlgn="base" hangingPunct="0">
              <a:spcBef>
                <a:spcPct val="0"/>
              </a:spcBef>
              <a:spcAft>
                <a:spcPct val="0"/>
              </a:spcAft>
              <a:defRPr sz="3600">
                <a:solidFill>
                  <a:srgbClr val="262626"/>
                </a:solidFill>
                <a:latin typeface="Century Gothic" panose="020B0502020202020204" pitchFamily="34" charset="0"/>
              </a:defRPr>
            </a:lvl4pPr>
            <a:lvl5pPr algn="l" defTabSz="457200" rtl="0" eaLnBrk="0" fontAlgn="base" hangingPunct="0">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defRPr/>
            </a:pPr>
            <a:r>
              <a:rPr lang="en-IN" b="1" spc="-5" dirty="0">
                <a:latin typeface="Times New Roman" panose="02020603050405020304" pitchFamily="18" charset="0"/>
                <a:cs typeface="Times New Roman" panose="02020603050405020304" pitchFamily="18" charset="0"/>
              </a:rPr>
              <a:t>Limitations</a:t>
            </a:r>
          </a:p>
        </p:txBody>
      </p:sp>
      <p:sp>
        <p:nvSpPr>
          <p:cNvPr id="36869" name="object 3">
            <a:extLst>
              <a:ext uri="{FF2B5EF4-FFF2-40B4-BE49-F238E27FC236}">
                <a16:creationId xmlns:a16="http://schemas.microsoft.com/office/drawing/2014/main" id="{D5F39AFF-9B1B-7A2A-78A7-1213E28359A1}"/>
              </a:ext>
            </a:extLst>
          </p:cNvPr>
          <p:cNvSpPr txBox="1">
            <a:spLocks noChangeArrowheads="1"/>
          </p:cNvSpPr>
          <p:nvPr/>
        </p:nvSpPr>
        <p:spPr bwMode="auto">
          <a:xfrm>
            <a:off x="685800" y="3041650"/>
            <a:ext cx="11201400" cy="84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285750" indent="-273050">
              <a:spcBef>
                <a:spcPct val="20000"/>
              </a:spcBef>
              <a:buFont typeface="Arial" panose="020B0604020202020204" pitchFamily="34" charset="0"/>
              <a:buChar char="•"/>
              <a:tabLst>
                <a:tab pos="2857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2857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2857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2857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285750" algn="l"/>
              </a:tabLst>
              <a:defRPr sz="2000">
                <a:solidFill>
                  <a:schemeClr val="tx1"/>
                </a:solidFill>
                <a:latin typeface="Calibri" panose="020F0502020204030204" pitchFamily="34" charset="0"/>
              </a:defRPr>
            </a:lvl9pPr>
          </a:lstStyle>
          <a:p>
            <a:pPr algn="just">
              <a:spcBef>
                <a:spcPts val="100"/>
              </a:spcBef>
              <a:buClr>
                <a:srgbClr val="2CA1BE"/>
              </a:buClr>
              <a:buSzPct val="85000"/>
              <a:buFont typeface="Wingdings 2" panose="05020102010507070707" pitchFamily="18" charset="2"/>
              <a:buChar char=""/>
            </a:pPr>
            <a:r>
              <a:rPr lang="en-US" altLang="en-US" sz="2700" dirty="0">
                <a:latin typeface="Times New Roman" panose="02020603050405020304" pitchFamily="18" charset="0"/>
                <a:ea typeface="Georgia" panose="02040502050405020303" pitchFamily="18" charset="0"/>
                <a:cs typeface="Times New Roman" panose="02020603050405020304" pitchFamily="18" charset="0"/>
              </a:rPr>
              <a:t>A sneak path is created when two pass-transistors  are both ON at the same time and one is connected  to VDD and the other is connected to ground.</a:t>
            </a:r>
          </a:p>
        </p:txBody>
      </p:sp>
      <p:sp>
        <p:nvSpPr>
          <p:cNvPr id="36870" name="object 4">
            <a:extLst>
              <a:ext uri="{FF2B5EF4-FFF2-40B4-BE49-F238E27FC236}">
                <a16:creationId xmlns:a16="http://schemas.microsoft.com/office/drawing/2014/main" id="{2D8D8468-48E2-07C8-5B67-DBBF878A06CA}"/>
              </a:ext>
            </a:extLst>
          </p:cNvPr>
          <p:cNvSpPr>
            <a:spLocks noChangeArrowheads="1"/>
          </p:cNvSpPr>
          <p:nvPr/>
        </p:nvSpPr>
        <p:spPr bwMode="auto">
          <a:xfrm>
            <a:off x="3765550" y="4038600"/>
            <a:ext cx="5041900" cy="27051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entury Gothic" panose="020B0502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a:extLst>
              <a:ext uri="{FF2B5EF4-FFF2-40B4-BE49-F238E27FC236}">
                <a16:creationId xmlns:a16="http://schemas.microsoft.com/office/drawing/2014/main" id="{5FFB2497-D64D-6CFC-FBB9-FD54CCC8B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713" y="1447800"/>
            <a:ext cx="10696575"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2">
            <a:extLst>
              <a:ext uri="{FF2B5EF4-FFF2-40B4-BE49-F238E27FC236}">
                <a16:creationId xmlns:a16="http://schemas.microsoft.com/office/drawing/2014/main" id="{5268C6DD-00FF-66E9-BCB0-D2E5075D5178}"/>
              </a:ext>
            </a:extLst>
          </p:cNvPr>
          <p:cNvSpPr txBox="1">
            <a:spLocks noGrp="1"/>
          </p:cNvSpPr>
          <p:nvPr>
            <p:ph type="title"/>
          </p:nvPr>
        </p:nvSpPr>
        <p:spPr>
          <a:xfrm>
            <a:off x="1600200" y="292100"/>
            <a:ext cx="6743700" cy="566738"/>
          </a:xfrm>
        </p:spPr>
        <p:txBody>
          <a:bodyPr lIns="0" tIns="12700" rIns="0" bIns="0" rtlCol="0">
            <a:spAutoFit/>
          </a:bodyPr>
          <a:lstStyle/>
          <a:p>
            <a:pPr marL="12700" eaLnBrk="1" fontAlgn="auto" hangingPunct="1">
              <a:spcBef>
                <a:spcPts val="100"/>
              </a:spcBef>
              <a:spcAft>
                <a:spcPts val="0"/>
              </a:spcAft>
              <a:defRPr/>
            </a:pPr>
            <a:r>
              <a:rPr lang="en-IN" b="1" dirty="0"/>
              <a:t>PMOS vs NMOS PTL</a:t>
            </a:r>
            <a:endParaRPr b="1" spc="-5" dirty="0"/>
          </a:p>
        </p:txBody>
      </p:sp>
      <mc:AlternateContent xmlns:mc="http://schemas.openxmlformats.org/markup-compatibility/2006" xmlns:p14="http://schemas.microsoft.com/office/powerpoint/2010/main">
        <mc:Choice Requires="p14">
          <p:contentPart p14:bwMode="auto" r:id="rId3">
            <p14:nvContentPartPr>
              <p14:cNvPr id="7170" name="Ink 4">
                <a:extLst>
                  <a:ext uri="{FF2B5EF4-FFF2-40B4-BE49-F238E27FC236}">
                    <a16:creationId xmlns:a16="http://schemas.microsoft.com/office/drawing/2014/main" id="{514C0D29-E3AF-A701-46E9-19E44A0C0B9E}"/>
                  </a:ext>
                </a:extLst>
              </p14:cNvPr>
              <p14:cNvContentPartPr>
                <a14:cpLocks xmlns:a14="http://schemas.microsoft.com/office/drawing/2010/main" noRot="1" noChangeAspect="1" noEditPoints="1" noChangeArrowheads="1" noChangeShapeType="1"/>
              </p14:cNvContentPartPr>
              <p14:nvPr/>
            </p14:nvContentPartPr>
            <p14:xfrm>
              <a:off x="1231900" y="3194050"/>
              <a:ext cx="1619250" cy="1117600"/>
            </p14:xfrm>
          </p:contentPart>
        </mc:Choice>
        <mc:Fallback xmlns="">
          <p:pic>
            <p:nvPicPr>
              <p:cNvPr id="7170" name="Ink 4">
                <a:extLst>
                  <a:ext uri="{FF2B5EF4-FFF2-40B4-BE49-F238E27FC236}">
                    <a16:creationId xmlns:a16="http://schemas.microsoft.com/office/drawing/2014/main" id="{514C0D29-E3AF-A701-46E9-19E44A0C0B9E}"/>
                  </a:ext>
                </a:extLst>
              </p:cNvPr>
              <p:cNvPicPr>
                <a:picLocks noRot="1" noChangeAspect="1" noEditPoints="1" noChangeArrowheads="1" noChangeShapeType="1"/>
              </p:cNvPicPr>
              <p:nvPr/>
            </p:nvPicPr>
            <p:blipFill>
              <a:blip r:embed="rId4"/>
              <a:stretch>
                <a:fillRect/>
              </a:stretch>
            </p:blipFill>
            <p:spPr>
              <a:xfrm>
                <a:off x="1222540" y="3184689"/>
                <a:ext cx="1637970" cy="113632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171" name="Ink 5">
                <a:extLst>
                  <a:ext uri="{FF2B5EF4-FFF2-40B4-BE49-F238E27FC236}">
                    <a16:creationId xmlns:a16="http://schemas.microsoft.com/office/drawing/2014/main" id="{1FBEFDC0-DEC7-55D5-0E99-0BEA7B6598C2}"/>
                  </a:ext>
                </a:extLst>
              </p14:cNvPr>
              <p14:cNvContentPartPr>
                <a14:cpLocks xmlns:a14="http://schemas.microsoft.com/office/drawing/2010/main" noRot="1" noChangeAspect="1" noEditPoints="1" noChangeArrowheads="1" noChangeShapeType="1"/>
              </p14:cNvContentPartPr>
              <p14:nvPr/>
            </p14:nvContentPartPr>
            <p14:xfrm>
              <a:off x="1111250" y="5086350"/>
              <a:ext cx="787400" cy="38100"/>
            </p14:xfrm>
          </p:contentPart>
        </mc:Choice>
        <mc:Fallback xmlns="">
          <p:pic>
            <p:nvPicPr>
              <p:cNvPr id="7171" name="Ink 5">
                <a:extLst>
                  <a:ext uri="{FF2B5EF4-FFF2-40B4-BE49-F238E27FC236}">
                    <a16:creationId xmlns:a16="http://schemas.microsoft.com/office/drawing/2014/main" id="{1FBEFDC0-DEC7-55D5-0E99-0BEA7B6598C2}"/>
                  </a:ext>
                </a:extLst>
              </p:cNvPr>
              <p:cNvPicPr>
                <a:picLocks noRot="1" noChangeAspect="1" noEditPoints="1" noChangeArrowheads="1" noChangeShapeType="1"/>
              </p:cNvPicPr>
              <p:nvPr/>
            </p:nvPicPr>
            <p:blipFill>
              <a:blip r:embed="rId6"/>
              <a:stretch>
                <a:fillRect/>
              </a:stretch>
            </p:blipFill>
            <p:spPr>
              <a:xfrm>
                <a:off x="1101893" y="5077092"/>
                <a:ext cx="806113" cy="5661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172" name="Ink 6">
                <a:extLst>
                  <a:ext uri="{FF2B5EF4-FFF2-40B4-BE49-F238E27FC236}">
                    <a16:creationId xmlns:a16="http://schemas.microsoft.com/office/drawing/2014/main" id="{85E15C27-1D83-804E-079E-6E0133DFC736}"/>
                  </a:ext>
                </a:extLst>
              </p14:cNvPr>
              <p14:cNvContentPartPr>
                <a14:cpLocks xmlns:a14="http://schemas.microsoft.com/office/drawing/2010/main" noRot="1" noChangeAspect="1" noEditPoints="1" noChangeArrowheads="1" noChangeShapeType="1"/>
              </p14:cNvContentPartPr>
              <p14:nvPr/>
            </p14:nvContentPartPr>
            <p14:xfrm>
              <a:off x="8826500" y="4775200"/>
              <a:ext cx="374650" cy="31750"/>
            </p14:xfrm>
          </p:contentPart>
        </mc:Choice>
        <mc:Fallback xmlns="">
          <p:pic>
            <p:nvPicPr>
              <p:cNvPr id="7172" name="Ink 6">
                <a:extLst>
                  <a:ext uri="{FF2B5EF4-FFF2-40B4-BE49-F238E27FC236}">
                    <a16:creationId xmlns:a16="http://schemas.microsoft.com/office/drawing/2014/main" id="{85E15C27-1D83-804E-079E-6E0133DFC736}"/>
                  </a:ext>
                </a:extLst>
              </p:cNvPr>
              <p:cNvPicPr>
                <a:picLocks noRot="1" noChangeAspect="1" noEditPoints="1" noChangeArrowheads="1" noChangeShapeType="1"/>
              </p:cNvPicPr>
              <p:nvPr/>
            </p:nvPicPr>
            <p:blipFill>
              <a:blip r:embed="rId8"/>
              <a:stretch>
                <a:fillRect/>
              </a:stretch>
            </p:blipFill>
            <p:spPr>
              <a:xfrm>
                <a:off x="8817143" y="4765819"/>
                <a:ext cx="393365" cy="5051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173" name="Ink 7">
                <a:extLst>
                  <a:ext uri="{FF2B5EF4-FFF2-40B4-BE49-F238E27FC236}">
                    <a16:creationId xmlns:a16="http://schemas.microsoft.com/office/drawing/2014/main" id="{B01D866A-283E-8300-FAF1-9A243E87B06B}"/>
                  </a:ext>
                </a:extLst>
              </p14:cNvPr>
              <p14:cNvContentPartPr>
                <a14:cpLocks xmlns:a14="http://schemas.microsoft.com/office/drawing/2010/main" noRot="1" noChangeAspect="1" noEditPoints="1" noChangeArrowheads="1" noChangeShapeType="1"/>
              </p14:cNvContentPartPr>
              <p14:nvPr/>
            </p14:nvContentPartPr>
            <p14:xfrm>
              <a:off x="7397750" y="3860800"/>
              <a:ext cx="444500" cy="38100"/>
            </p14:xfrm>
          </p:contentPart>
        </mc:Choice>
        <mc:Fallback xmlns="">
          <p:pic>
            <p:nvPicPr>
              <p:cNvPr id="7173" name="Ink 7">
                <a:extLst>
                  <a:ext uri="{FF2B5EF4-FFF2-40B4-BE49-F238E27FC236}">
                    <a16:creationId xmlns:a16="http://schemas.microsoft.com/office/drawing/2014/main" id="{B01D866A-283E-8300-FAF1-9A243E87B06B}"/>
                  </a:ext>
                </a:extLst>
              </p:cNvPr>
              <p:cNvPicPr>
                <a:picLocks noRot="1" noChangeAspect="1" noEditPoints="1" noChangeArrowheads="1" noChangeShapeType="1"/>
              </p:cNvPicPr>
              <p:nvPr/>
            </p:nvPicPr>
            <p:blipFill>
              <a:blip r:embed="rId10"/>
              <a:stretch>
                <a:fillRect/>
              </a:stretch>
            </p:blipFill>
            <p:spPr>
              <a:xfrm>
                <a:off x="7388392" y="3851455"/>
                <a:ext cx="463216" cy="5679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174" name="Ink 8">
                <a:extLst>
                  <a:ext uri="{FF2B5EF4-FFF2-40B4-BE49-F238E27FC236}">
                    <a16:creationId xmlns:a16="http://schemas.microsoft.com/office/drawing/2014/main" id="{5B417B56-73D2-9474-2D20-492BA009FCC0}"/>
                  </a:ext>
                </a:extLst>
              </p14:cNvPr>
              <p14:cNvContentPartPr>
                <a14:cpLocks xmlns:a14="http://schemas.microsoft.com/office/drawing/2010/main" noRot="1" noChangeAspect="1" noEditPoints="1" noChangeArrowheads="1" noChangeShapeType="1"/>
              </p14:cNvContentPartPr>
              <p14:nvPr/>
            </p14:nvContentPartPr>
            <p14:xfrm>
              <a:off x="3371850" y="5194300"/>
              <a:ext cx="1193800" cy="869950"/>
            </p14:xfrm>
          </p:contentPart>
        </mc:Choice>
        <mc:Fallback xmlns="">
          <p:pic>
            <p:nvPicPr>
              <p:cNvPr id="7174" name="Ink 8">
                <a:extLst>
                  <a:ext uri="{FF2B5EF4-FFF2-40B4-BE49-F238E27FC236}">
                    <a16:creationId xmlns:a16="http://schemas.microsoft.com/office/drawing/2014/main" id="{5B417B56-73D2-9474-2D20-492BA009FCC0}"/>
                  </a:ext>
                </a:extLst>
              </p:cNvPr>
              <p:cNvPicPr>
                <a:picLocks noRot="1" noChangeAspect="1" noEditPoints="1" noChangeArrowheads="1" noChangeShapeType="1"/>
              </p:cNvPicPr>
              <p:nvPr/>
            </p:nvPicPr>
            <p:blipFill>
              <a:blip r:embed="rId12"/>
              <a:stretch>
                <a:fillRect/>
              </a:stretch>
            </p:blipFill>
            <p:spPr>
              <a:xfrm>
                <a:off x="3362490" y="5184942"/>
                <a:ext cx="1212521" cy="888666"/>
              </a:xfrm>
              <a:prstGeom prst="rect">
                <a:avLst/>
              </a:prstGeom>
            </p:spPr>
          </p:pic>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99A71F-904A-357D-DECB-4A340011D5B4}"/>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F231B8F-EB93-D594-3D2C-0C7D62AC9334}"/>
              </a:ext>
            </a:extLst>
          </p:cNvPr>
          <p:cNvPicPr>
            <a:picLocks noChangeAspect="1"/>
          </p:cNvPicPr>
          <p:nvPr/>
        </p:nvPicPr>
        <p:blipFill>
          <a:blip r:embed="rId2"/>
          <a:stretch>
            <a:fillRect/>
          </a:stretch>
        </p:blipFill>
        <p:spPr>
          <a:xfrm>
            <a:off x="1433643" y="1288746"/>
            <a:ext cx="10078857" cy="4582164"/>
          </a:xfrm>
          <a:prstGeom prst="rect">
            <a:avLst/>
          </a:prstGeom>
        </p:spPr>
      </p:pic>
    </p:spTree>
    <p:extLst>
      <p:ext uri="{BB962C8B-B14F-4D97-AF65-F5344CB8AC3E}">
        <p14:creationId xmlns:p14="http://schemas.microsoft.com/office/powerpoint/2010/main" val="25552499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110F7A-C271-D7E5-B369-001C5844F1A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9E0226EE-5234-631E-F04E-B3ADA2E116F9}"/>
              </a:ext>
            </a:extLst>
          </p:cNvPr>
          <p:cNvPicPr>
            <a:picLocks noChangeAspect="1"/>
          </p:cNvPicPr>
          <p:nvPr/>
        </p:nvPicPr>
        <p:blipFill>
          <a:blip r:embed="rId2"/>
          <a:stretch>
            <a:fillRect/>
          </a:stretch>
        </p:blipFill>
        <p:spPr>
          <a:xfrm>
            <a:off x="3322801" y="-92680"/>
            <a:ext cx="5755212" cy="6719490"/>
          </a:xfrm>
          <a:prstGeom prst="rect">
            <a:avLst/>
          </a:prstGeom>
        </p:spPr>
      </p:pic>
    </p:spTree>
    <p:extLst>
      <p:ext uri="{BB962C8B-B14F-4D97-AF65-F5344CB8AC3E}">
        <p14:creationId xmlns:p14="http://schemas.microsoft.com/office/powerpoint/2010/main" val="32147367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AE30A-82BC-55A3-7158-1123F3B690E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D38469-BFE0-9EA1-DA01-64E27619D231}"/>
              </a:ext>
            </a:extLst>
          </p:cNvPr>
          <p:cNvSpPr>
            <a:spLocks noGrp="1"/>
          </p:cNvSpPr>
          <p:nvPr>
            <p:ph type="ftr" sz="quarter" idx="11"/>
          </p:nvPr>
        </p:nvSpPr>
        <p:spPr/>
        <p:txBody>
          <a:bodyPr/>
          <a:lstStyle/>
          <a:p>
            <a:r>
              <a:rPr lang="en-IN"/>
              <a:t>Dr. Aruru Sai Kumar , VIT-AP</a:t>
            </a:r>
            <a:endParaRPr lang="en-IN" dirty="0"/>
          </a:p>
        </p:txBody>
      </p:sp>
      <p:pic>
        <p:nvPicPr>
          <p:cNvPr id="5" name="Picture 4">
            <a:extLst>
              <a:ext uri="{FF2B5EF4-FFF2-40B4-BE49-F238E27FC236}">
                <a16:creationId xmlns:a16="http://schemas.microsoft.com/office/drawing/2014/main" id="{728787FF-B42E-C341-4BAE-108795BF0DA2}"/>
              </a:ext>
            </a:extLst>
          </p:cNvPr>
          <p:cNvPicPr>
            <a:picLocks noChangeAspect="1"/>
          </p:cNvPicPr>
          <p:nvPr/>
        </p:nvPicPr>
        <p:blipFill>
          <a:blip r:embed="rId2"/>
          <a:stretch>
            <a:fillRect/>
          </a:stretch>
        </p:blipFill>
        <p:spPr>
          <a:xfrm>
            <a:off x="3444952" y="686881"/>
            <a:ext cx="5774462" cy="5484238"/>
          </a:xfrm>
          <a:prstGeom prst="rect">
            <a:avLst/>
          </a:prstGeom>
        </p:spPr>
      </p:pic>
    </p:spTree>
    <p:extLst>
      <p:ext uri="{BB962C8B-B14F-4D97-AF65-F5344CB8AC3E}">
        <p14:creationId xmlns:p14="http://schemas.microsoft.com/office/powerpoint/2010/main" val="733006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1829-E425-05B3-0F26-515C68B005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125CFC-A7E7-BCDD-F695-B39205471E44}"/>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E09C1E6C-E9AD-9A28-7848-971515C3EB86}"/>
              </a:ext>
            </a:extLst>
          </p:cNvPr>
          <p:cNvPicPr>
            <a:picLocks noChangeAspect="1"/>
          </p:cNvPicPr>
          <p:nvPr/>
        </p:nvPicPr>
        <p:blipFill>
          <a:blip r:embed="rId2"/>
          <a:stretch>
            <a:fillRect/>
          </a:stretch>
        </p:blipFill>
        <p:spPr>
          <a:xfrm>
            <a:off x="2903592" y="109290"/>
            <a:ext cx="6221553" cy="6639419"/>
          </a:xfrm>
          <a:prstGeom prst="rect">
            <a:avLst/>
          </a:prstGeom>
        </p:spPr>
      </p:pic>
    </p:spTree>
    <p:extLst>
      <p:ext uri="{BB962C8B-B14F-4D97-AF65-F5344CB8AC3E}">
        <p14:creationId xmlns:p14="http://schemas.microsoft.com/office/powerpoint/2010/main" val="20207915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6160-3A62-352F-ECCD-E4F676B53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A4A93-E6EB-96FE-D03C-34BD7200926B}"/>
              </a:ext>
            </a:extLst>
          </p:cNvPr>
          <p:cNvSpPr>
            <a:spLocks noGrp="1"/>
          </p:cNvSpPr>
          <p:nvPr>
            <p:ph type="title"/>
          </p:nvPr>
        </p:nvSpPr>
        <p:spPr>
          <a:xfrm>
            <a:off x="1761134" y="466211"/>
            <a:ext cx="8911687" cy="1280890"/>
          </a:xfrm>
        </p:spPr>
        <p:txBody>
          <a:bodyPr/>
          <a:lstStyle/>
          <a:p>
            <a:r>
              <a:rPr lang="en-US" b="1" dirty="0">
                <a:latin typeface="Times New Roman" panose="02020603050405020304" pitchFamily="18" charset="0"/>
                <a:cs typeface="Times New Roman" panose="02020603050405020304" pitchFamily="18" charset="0"/>
              </a:rPr>
              <a:t>5. Differential </a:t>
            </a:r>
            <a:r>
              <a:rPr lang="en-US" b="1" dirty="0" err="1">
                <a:latin typeface="Times New Roman" panose="02020603050405020304" pitchFamily="18" charset="0"/>
                <a:cs typeface="Times New Roman" panose="02020603050405020304" pitchFamily="18" charset="0"/>
              </a:rPr>
              <a:t>Cascode</a:t>
            </a:r>
            <a:r>
              <a:rPr lang="en-US" b="1" dirty="0">
                <a:latin typeface="Times New Roman" panose="02020603050405020304" pitchFamily="18" charset="0"/>
                <a:cs typeface="Times New Roman" panose="02020603050405020304" pitchFamily="18" charset="0"/>
              </a:rPr>
              <a:t> Voltage Switch Logic</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92141B-5B8B-173D-5F38-0CF01C977DE4}"/>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possible to create a ratioed logic style that completely eliminates static currents and provides rail-to-rail swing.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Such a gate combines two concepts: differential logic and positive feedback.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differential gate requires that each input is provided in complementary format, and produces complementary outputs in turn. The feedback mechanism ensures that the load device is turned off when not needed.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example of such a logic family, called Differential </a:t>
            </a:r>
            <a:r>
              <a:rPr lang="en-US" sz="2400" dirty="0" err="1">
                <a:latin typeface="Times New Roman" panose="02020603050405020304" pitchFamily="18" charset="0"/>
                <a:cs typeface="Times New Roman" panose="02020603050405020304" pitchFamily="18" charset="0"/>
              </a:rPr>
              <a:t>Cascode</a:t>
            </a:r>
            <a:r>
              <a:rPr lang="en-US" sz="2400" dirty="0">
                <a:latin typeface="Times New Roman" panose="02020603050405020304" pitchFamily="18" charset="0"/>
                <a:cs typeface="Times New Roman" panose="02020603050405020304" pitchFamily="18" charset="0"/>
              </a:rPr>
              <a:t> Voltage Switch Logic (or DCVSL).</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D14429A-AAFD-040F-0271-BBB4F7BBD04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3921258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A6D60C-3A38-21D5-9A28-6E1F89AF416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B7949CF9-7E70-8A0C-FF00-4D5D6DB7B8A7}"/>
              </a:ext>
            </a:extLst>
          </p:cNvPr>
          <p:cNvPicPr>
            <a:picLocks noChangeAspect="1"/>
          </p:cNvPicPr>
          <p:nvPr/>
        </p:nvPicPr>
        <p:blipFill>
          <a:blip r:embed="rId2"/>
          <a:stretch>
            <a:fillRect/>
          </a:stretch>
        </p:blipFill>
        <p:spPr>
          <a:xfrm>
            <a:off x="1930991" y="914401"/>
            <a:ext cx="9551932" cy="4449451"/>
          </a:xfrm>
          <a:prstGeom prst="rect">
            <a:avLst/>
          </a:prstGeom>
        </p:spPr>
      </p:pic>
      <p:sp>
        <p:nvSpPr>
          <p:cNvPr id="6" name="TextBox 5">
            <a:extLst>
              <a:ext uri="{FF2B5EF4-FFF2-40B4-BE49-F238E27FC236}">
                <a16:creationId xmlns:a16="http://schemas.microsoft.com/office/drawing/2014/main" id="{2B44A2D4-2791-9424-A7B6-CDD116B1F4AF}"/>
              </a:ext>
            </a:extLst>
          </p:cNvPr>
          <p:cNvSpPr txBox="1"/>
          <p:nvPr/>
        </p:nvSpPr>
        <p:spPr>
          <a:xfrm>
            <a:off x="4527223" y="5641098"/>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7: DCVSL logic gate.</a:t>
            </a:r>
          </a:p>
        </p:txBody>
      </p:sp>
    </p:spTree>
    <p:extLst>
      <p:ext uri="{BB962C8B-B14F-4D97-AF65-F5344CB8AC3E}">
        <p14:creationId xmlns:p14="http://schemas.microsoft.com/office/powerpoint/2010/main" val="16829648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4FB8-5582-3A22-9196-78C6A580B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E30A0-D81B-B815-B8F6-7432ACA8216B}"/>
              </a:ext>
            </a:extLst>
          </p:cNvPr>
          <p:cNvSpPr>
            <a:spLocks noGrp="1"/>
          </p:cNvSpPr>
          <p:nvPr>
            <p:ph type="title"/>
          </p:nvPr>
        </p:nvSpPr>
        <p:spPr>
          <a:xfrm>
            <a:off x="1761134" y="466211"/>
            <a:ext cx="8911687" cy="1280890"/>
          </a:xfrm>
        </p:spPr>
        <p:txBody>
          <a:bodyPr/>
          <a:lstStyle/>
          <a:p>
            <a:r>
              <a:rPr lang="en-US" b="1" dirty="0">
                <a:latin typeface="Times New Roman" panose="02020603050405020304" pitchFamily="18" charset="0"/>
                <a:cs typeface="Times New Roman" panose="02020603050405020304" pitchFamily="18" charset="0"/>
              </a:rPr>
              <a:t>Differential </a:t>
            </a:r>
            <a:r>
              <a:rPr lang="en-US" b="1" dirty="0" err="1">
                <a:latin typeface="Times New Roman" panose="02020603050405020304" pitchFamily="18" charset="0"/>
                <a:cs typeface="Times New Roman" panose="02020603050405020304" pitchFamily="18" charset="0"/>
              </a:rPr>
              <a:t>Cascode</a:t>
            </a:r>
            <a:r>
              <a:rPr lang="en-US" b="1" dirty="0">
                <a:latin typeface="Times New Roman" panose="02020603050405020304" pitchFamily="18" charset="0"/>
                <a:cs typeface="Times New Roman" panose="02020603050405020304" pitchFamily="18" charset="0"/>
              </a:rPr>
              <a:t> Voltage Switch Logic</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233ED3-23C0-E035-2D72-EE4E7F78597D}"/>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some logic functions such as XOR/XNOR, transistors can be shared between PDN1 and PDN2. This reduces total transistor count, silicon area, and parasitic capacitance, leading to improved speed and lower implementation cost.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addition to the problem of increase complexity in design, this circuit style still has a power-dissipation problem that is due to cross-over currents.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the transition, there is a period of time when PMOS and PDN are turned on simultaneously, producing a short circuit path. </a:t>
            </a:r>
          </a:p>
        </p:txBody>
      </p:sp>
      <p:sp>
        <p:nvSpPr>
          <p:cNvPr id="4" name="Footer Placeholder 3">
            <a:extLst>
              <a:ext uri="{FF2B5EF4-FFF2-40B4-BE49-F238E27FC236}">
                <a16:creationId xmlns:a16="http://schemas.microsoft.com/office/drawing/2014/main" id="{B4C4A90E-7283-CFD1-D44E-D8B22FA029D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9638102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A526-A4BE-CFE4-094A-07AC3F4B3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9DE23-5D0D-5145-AEFB-8402C2261C9F}"/>
              </a:ext>
            </a:extLst>
          </p:cNvPr>
          <p:cNvSpPr>
            <a:spLocks noGrp="1"/>
          </p:cNvSpPr>
          <p:nvPr>
            <p:ph type="title"/>
          </p:nvPr>
        </p:nvSpPr>
        <p:spPr>
          <a:xfrm>
            <a:off x="1761134" y="466211"/>
            <a:ext cx="8911687" cy="1280890"/>
          </a:xfrm>
        </p:spPr>
        <p:txBody>
          <a:bodyPr/>
          <a:lstStyle/>
          <a:p>
            <a:r>
              <a:rPr lang="en-US" b="1" dirty="0">
                <a:latin typeface="Times New Roman" panose="02020603050405020304" pitchFamily="18" charset="0"/>
                <a:cs typeface="Times New Roman" panose="02020603050405020304" pitchFamily="18" charset="0"/>
              </a:rPr>
              <a:t>Differential </a:t>
            </a:r>
            <a:r>
              <a:rPr lang="en-US" b="1" dirty="0" err="1">
                <a:latin typeface="Times New Roman" panose="02020603050405020304" pitchFamily="18" charset="0"/>
                <a:cs typeface="Times New Roman" panose="02020603050405020304" pitchFamily="18" charset="0"/>
              </a:rPr>
              <a:t>Cascode</a:t>
            </a:r>
            <a:r>
              <a:rPr lang="en-US" b="1" dirty="0">
                <a:latin typeface="Times New Roman" panose="02020603050405020304" pitchFamily="18" charset="0"/>
                <a:cs typeface="Times New Roman" panose="02020603050405020304" pitchFamily="18" charset="0"/>
              </a:rPr>
              <a:t> Voltage Switch Logic</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3CBD1-D8AC-91C9-4246-4B35DE606ECB}"/>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pull-down networks PDN1 and PDN2 use NMOS devices and are mutually exclusive (this is, when PDN1 conducts, PDN2 is off, and when PDN1 is off, PDN2 conducts), such that the required logic function and its inverse are simultaneously implemented.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Assume now that, for a given set of inputs, PDN1 conducts while PDN2 does not, and that Out and </a:t>
                </a:r>
                <a14:m>
                  <m:oMath xmlns:m="http://schemas.openxmlformats.org/officeDocument/2006/math">
                    <m:acc>
                      <m:accPr>
                        <m:chr m:val="̅"/>
                        <m:ctrlPr>
                          <a:rPr lang="en-US" sz="2400" i="1" smtClean="0">
                            <a:latin typeface="Cambria Math" panose="02040503050406030204" pitchFamily="18" charset="0"/>
                          </a:rPr>
                        </m:ctrlPr>
                      </m:accPr>
                      <m:e>
                        <m:r>
                          <a:rPr lang="en-IN" sz="2400" b="0" i="1" smtClean="0">
                            <a:latin typeface="Cambria Math" panose="02040503050406030204" pitchFamily="18" charset="0"/>
                          </a:rPr>
                          <m:t>𝑂𝑢𝑡</m:t>
                        </m:r>
                        <m:r>
                          <a:rPr lang="en-IN" sz="2400" b="0" i="1" smtClean="0">
                            <a:latin typeface="Cambria Math" panose="02040503050406030204" pitchFamily="18" charset="0"/>
                          </a:rPr>
                          <m:t> </m:t>
                        </m:r>
                      </m:e>
                    </m:acc>
                  </m:oMath>
                </a14:m>
                <a:r>
                  <a:rPr lang="en-US" sz="2400" dirty="0">
                    <a:latin typeface="Times New Roman" panose="02020603050405020304" pitchFamily="18" charset="0"/>
                    <a:cs typeface="Times New Roman" panose="02020603050405020304" pitchFamily="18" charset="0"/>
                  </a:rPr>
                  <a:t>are initially high and low, respectively.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Turning on PDN1, causes Out to be pulled down, although there is still a fight between M</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and PDN1.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 is in a high impedance state, as M</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and PDN2 are both turned off. PDN1 must be strong enough to bring Out below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VTp</a:t>
                </a:r>
                <a:r>
                  <a:rPr lang="en-US" sz="2400" dirty="0">
                    <a:latin typeface="Times New Roman" panose="02020603050405020304" pitchFamily="18" charset="0"/>
                    <a:cs typeface="Times New Roman" panose="02020603050405020304" pitchFamily="18" charset="0"/>
                  </a:rPr>
                  <a:t>|, the point at which M</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turns on and starts charging. Out to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—eventually turning off M</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This in turn enables Out to discharge all the way to GND.</a:t>
                </a:r>
                <a:endParaRPr lang="en-IN"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8A3CBD1-D8AC-91C9-4246-4B35DE606ECB}"/>
                  </a:ext>
                </a:extLst>
              </p:cNvPr>
              <p:cNvSpPr>
                <a:spLocks noGrp="1" noRot="1" noChangeAspect="1" noMove="1" noResize="1" noEditPoints="1" noAdjustHandles="1" noChangeArrowheads="1" noChangeShapeType="1" noTextEdit="1"/>
              </p:cNvSpPr>
              <p:nvPr>
                <p:ph idx="1"/>
              </p:nvPr>
            </p:nvSpPr>
            <p:spPr>
              <a:xfrm>
                <a:off x="999243" y="1234646"/>
                <a:ext cx="10774836" cy="4388707"/>
              </a:xfrm>
              <a:blipFill>
                <a:blip r:embed="rId2"/>
                <a:stretch>
                  <a:fillRect l="-792" t="-1113" r="-905" b="-14186"/>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CD51A1EF-DEDC-2A8C-FC6E-465713E6A44A}"/>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9790879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ACBEA-A148-9110-0D19-7E5137AC8E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F8702-82D8-995F-98B5-6776907F4A8C}"/>
              </a:ext>
            </a:extLst>
          </p:cNvPr>
          <p:cNvSpPr>
            <a:spLocks noGrp="1"/>
          </p:cNvSpPr>
          <p:nvPr>
            <p:ph idx="1"/>
          </p:nvPr>
        </p:nvSpPr>
        <p:spPr>
          <a:xfrm>
            <a:off x="1605701" y="357067"/>
            <a:ext cx="10482605" cy="5873009"/>
          </a:xfrm>
        </p:spPr>
        <p:txBody>
          <a:bodyPr>
            <a:normAutofit/>
          </a:bodyPr>
          <a:lstStyle/>
          <a:p>
            <a:pPr marL="0" indent="0">
              <a:buNone/>
            </a:pPr>
            <a:r>
              <a:rPr lang="en-US" sz="3400" b="1" dirty="0">
                <a:latin typeface="Times New Roman" panose="02020603050405020304" pitchFamily="18" charset="0"/>
                <a:cs typeface="Times New Roman" panose="02020603050405020304" pitchFamily="18" charset="0"/>
              </a:rPr>
              <a:t>Advantages of DCVSL:</a:t>
            </a:r>
          </a:p>
          <a:p>
            <a:pPr marL="0" indent="0">
              <a:buNone/>
            </a:pPr>
            <a:r>
              <a:rPr lang="en-US" sz="2200" b="1" dirty="0">
                <a:latin typeface="Times New Roman" panose="02020603050405020304" pitchFamily="18" charset="0"/>
                <a:cs typeface="Times New Roman" panose="02020603050405020304" pitchFamily="18" charset="0"/>
              </a:rPr>
              <a:t>High Speed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Only NMOS devices are used in the pull-down path.</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NMOS has higher electron mobility → faster switching.</a:t>
            </a:r>
          </a:p>
          <a:p>
            <a:pPr marL="0" indent="0">
              <a:buNone/>
            </a:pPr>
            <a:r>
              <a:rPr lang="en-US" sz="2200" b="1" dirty="0">
                <a:latin typeface="Times New Roman" panose="02020603050405020304" pitchFamily="18" charset="0"/>
                <a:cs typeface="Times New Roman" panose="02020603050405020304" pitchFamily="18" charset="0"/>
              </a:rPr>
              <a:t>Differential Outputs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Generates both </a:t>
            </a:r>
            <a:r>
              <a:rPr lang="en-US" sz="2200" b="1" dirty="0">
                <a:latin typeface="Times New Roman" panose="02020603050405020304" pitchFamily="18" charset="0"/>
                <a:cs typeface="Times New Roman" panose="02020603050405020304" pitchFamily="18" charset="0"/>
              </a:rPr>
              <a:t>F and F̅</a:t>
            </a:r>
            <a:r>
              <a:rPr lang="en-US" sz="2200" dirty="0">
                <a:latin typeface="Times New Roman" panose="02020603050405020304" pitchFamily="18" charset="0"/>
                <a:cs typeface="Times New Roman" panose="02020603050405020304" pitchFamily="18" charset="0"/>
              </a:rPr>
              <a:t> simultaneously.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Eliminates need for extra inverter.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Useful in high-speed and noise-sensitive designs.</a:t>
            </a:r>
          </a:p>
          <a:p>
            <a:pPr marL="0" indent="0">
              <a:buNone/>
            </a:pPr>
            <a:r>
              <a:rPr lang="en-US" sz="2200" b="1" dirty="0">
                <a:latin typeface="Times New Roman" panose="02020603050405020304" pitchFamily="18" charset="0"/>
                <a:cs typeface="Times New Roman" panose="02020603050405020304" pitchFamily="18" charset="0"/>
              </a:rPr>
              <a:t>Good Noise Immunity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Differential operation improves noise rejection.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Better common-mode noise suppression.</a:t>
            </a:r>
            <a:br>
              <a:rPr lang="en-US" sz="2400" dirty="0"/>
            </a:br>
            <a:endParaRPr lang="en-US" sz="2400" dirty="0"/>
          </a:p>
          <a:p>
            <a:pPr marL="0" indent="0" algn="just">
              <a:buNone/>
            </a:pPr>
            <a:endParaRPr lang="en-IN" dirty="0"/>
          </a:p>
        </p:txBody>
      </p:sp>
      <p:sp>
        <p:nvSpPr>
          <p:cNvPr id="4" name="Footer Placeholder 3">
            <a:extLst>
              <a:ext uri="{FF2B5EF4-FFF2-40B4-BE49-F238E27FC236}">
                <a16:creationId xmlns:a16="http://schemas.microsoft.com/office/drawing/2014/main" id="{ED129D09-D3C3-5ADD-35AA-311207D44C3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6485870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06809-485D-4131-A2F5-08076054FA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5111A-0B20-0711-76EE-2425BE3653DB}"/>
              </a:ext>
            </a:extLst>
          </p:cNvPr>
          <p:cNvSpPr>
            <a:spLocks noGrp="1"/>
          </p:cNvSpPr>
          <p:nvPr>
            <p:ph idx="1"/>
          </p:nvPr>
        </p:nvSpPr>
        <p:spPr>
          <a:xfrm>
            <a:off x="1605701" y="357067"/>
            <a:ext cx="10482605" cy="5873009"/>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No Static Power Dissipation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Like CMOS, it is a </a:t>
            </a:r>
            <a:r>
              <a:rPr lang="en-US" sz="2400" b="1" dirty="0">
                <a:latin typeface="Times New Roman" panose="02020603050405020304" pitchFamily="18" charset="0"/>
                <a:cs typeface="Times New Roman" panose="02020603050405020304" pitchFamily="18" charset="0"/>
              </a:rPr>
              <a:t>static logic family</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direct path from VDD to GND in steady state.</a:t>
            </a:r>
          </a:p>
          <a:p>
            <a:pPr marL="0" indent="0">
              <a:buNone/>
            </a:pPr>
            <a:r>
              <a:rPr lang="en-US" sz="2400" b="1" dirty="0">
                <a:latin typeface="Times New Roman" panose="02020603050405020304" pitchFamily="18" charset="0"/>
                <a:cs typeface="Times New Roman" panose="02020603050405020304" pitchFamily="18" charset="0"/>
              </a:rPr>
              <a:t>Fast Switching Due to Positive Feedback</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Cross-coupled PMOS provides regenerative action.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transition speed.</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br>
              <a:rPr lang="en-US" sz="2400" dirty="0"/>
            </a:br>
            <a:endParaRPr lang="en-US" sz="2400" dirty="0"/>
          </a:p>
          <a:p>
            <a:pPr marL="0" indent="0" algn="just">
              <a:buNone/>
            </a:pPr>
            <a:endParaRPr lang="en-IN" dirty="0"/>
          </a:p>
        </p:txBody>
      </p:sp>
      <p:sp>
        <p:nvSpPr>
          <p:cNvPr id="4" name="Footer Placeholder 3">
            <a:extLst>
              <a:ext uri="{FF2B5EF4-FFF2-40B4-BE49-F238E27FC236}">
                <a16:creationId xmlns:a16="http://schemas.microsoft.com/office/drawing/2014/main" id="{B7A74028-1463-2787-A532-B1928D6056F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6206818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4E60-66C1-553F-6442-037A7BC8DD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747469-6C9A-19F6-CB3F-E3471DA0AEA4}"/>
              </a:ext>
            </a:extLst>
          </p:cNvPr>
          <p:cNvSpPr>
            <a:spLocks noGrp="1"/>
          </p:cNvSpPr>
          <p:nvPr>
            <p:ph idx="1"/>
          </p:nvPr>
        </p:nvSpPr>
        <p:spPr>
          <a:xfrm>
            <a:off x="1530287" y="611591"/>
            <a:ext cx="10482605" cy="6246409"/>
          </a:xfrm>
        </p:spPr>
        <p:txBody>
          <a:bodyPr>
            <a:normAutofit lnSpcReduction="10000"/>
          </a:bodyPr>
          <a:lstStyle/>
          <a:p>
            <a:pPr marL="0" indent="0">
              <a:buNone/>
            </a:pPr>
            <a:r>
              <a:rPr lang="en-US" sz="3300" b="1" dirty="0">
                <a:latin typeface="Times New Roman" panose="02020603050405020304" pitchFamily="18" charset="0"/>
                <a:cs typeface="Times New Roman" panose="02020603050405020304" pitchFamily="18" charset="0"/>
              </a:rPr>
              <a:t>Disadvantages of DCVSL:</a:t>
            </a:r>
          </a:p>
          <a:p>
            <a:pPr marL="0" indent="0">
              <a:buNone/>
            </a:pPr>
            <a:r>
              <a:rPr lang="en-US" sz="2400" b="1" dirty="0">
                <a:latin typeface="Times New Roman" panose="02020603050405020304" pitchFamily="18" charset="0"/>
                <a:cs typeface="Times New Roman" panose="02020603050405020304" pitchFamily="18" charset="0"/>
              </a:rPr>
              <a:t>Higher Transistor Count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duplicated pull-down networks.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Larger area compared to simple CMOS gate.</a:t>
            </a:r>
          </a:p>
          <a:p>
            <a:pPr marL="0" indent="0">
              <a:buNone/>
            </a:pPr>
            <a:r>
              <a:rPr lang="en-US" sz="2400" b="1" dirty="0">
                <a:latin typeface="Times New Roman" panose="02020603050405020304" pitchFamily="18" charset="0"/>
                <a:cs typeface="Times New Roman" panose="02020603050405020304" pitchFamily="18" charset="0"/>
              </a:rPr>
              <a:t>Increased Design Complexity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More complex layout.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Careful matching required for symmetry.</a:t>
            </a:r>
          </a:p>
          <a:p>
            <a:pPr marL="0" indent="0">
              <a:buNone/>
            </a:pPr>
            <a:r>
              <a:rPr lang="en-US" sz="2400" b="1" dirty="0">
                <a:latin typeface="Times New Roman" panose="02020603050405020304" pitchFamily="18" charset="0"/>
                <a:cs typeface="Times New Roman" panose="02020603050405020304" pitchFamily="18" charset="0"/>
              </a:rPr>
              <a:t>Higher Input Capacitance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More transistors → larger input loading.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slow down previous stages.</a:t>
            </a:r>
          </a:p>
          <a:p>
            <a:pPr marL="0" indent="0">
              <a:buNone/>
            </a:pPr>
            <a:br>
              <a:rPr lang="en-US" dirty="0"/>
            </a:br>
            <a:endParaRPr lang="en-US" dirty="0"/>
          </a:p>
          <a:p>
            <a:pPr marL="0" indent="0">
              <a:buNone/>
            </a:pPr>
            <a:br>
              <a:rPr lang="en-US" sz="2400" dirty="0"/>
            </a:br>
            <a:endParaRPr lang="en-US" sz="2400" dirty="0"/>
          </a:p>
          <a:p>
            <a:pPr marL="0" indent="0" algn="just">
              <a:buNone/>
            </a:pPr>
            <a:endParaRPr lang="en-IN" dirty="0"/>
          </a:p>
        </p:txBody>
      </p:sp>
      <p:sp>
        <p:nvSpPr>
          <p:cNvPr id="4" name="Footer Placeholder 3">
            <a:extLst>
              <a:ext uri="{FF2B5EF4-FFF2-40B4-BE49-F238E27FC236}">
                <a16:creationId xmlns:a16="http://schemas.microsoft.com/office/drawing/2014/main" id="{6185B1F7-9775-C59E-5A27-5D5ED56EB46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8474873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E5AA9-346B-EDE7-E00B-5344BB5E90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F79DB7-9DB6-7CCD-C7B4-3F4D6441106B}"/>
              </a:ext>
            </a:extLst>
          </p:cNvPr>
          <p:cNvSpPr>
            <a:spLocks noGrp="1"/>
          </p:cNvSpPr>
          <p:nvPr>
            <p:ph idx="1"/>
          </p:nvPr>
        </p:nvSpPr>
        <p:spPr>
          <a:xfrm>
            <a:off x="1530287" y="611591"/>
            <a:ext cx="10482605" cy="6246409"/>
          </a:xfrm>
        </p:spPr>
        <p:txBody>
          <a:bodyPr>
            <a:normAutofit/>
          </a:bodyPr>
          <a:lstStyle/>
          <a:p>
            <a:pPr marL="0" indent="0">
              <a:buNone/>
            </a:pPr>
            <a:r>
              <a:rPr lang="en-US" sz="3300" b="1" dirty="0">
                <a:latin typeface="Times New Roman" panose="02020603050405020304" pitchFamily="18" charset="0"/>
                <a:cs typeface="Times New Roman" panose="02020603050405020304" pitchFamily="18" charset="0"/>
              </a:rPr>
              <a:t>Disadvantages of DCVSL:</a:t>
            </a:r>
          </a:p>
          <a:p>
            <a:pPr marL="0" indent="0">
              <a:buNone/>
            </a:pPr>
            <a:r>
              <a:rPr lang="en-US" sz="2200" b="1" dirty="0">
                <a:latin typeface="Times New Roman" panose="02020603050405020304" pitchFamily="18" charset="0"/>
                <a:cs typeface="Times New Roman" panose="02020603050405020304" pitchFamily="18" charset="0"/>
              </a:rPr>
              <a:t>Power Consumption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Dynamic power can be higher due to:</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Charging/discharging two output nodes.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Additional internal nodes.</a:t>
            </a:r>
          </a:p>
          <a:p>
            <a:pPr marL="0" indent="0">
              <a:buNone/>
            </a:pPr>
            <a:br>
              <a:rPr lang="en-US" dirty="0"/>
            </a:br>
            <a:endParaRPr lang="en-US" dirty="0"/>
          </a:p>
          <a:p>
            <a:pPr marL="0" indent="0">
              <a:buNone/>
            </a:pPr>
            <a:br>
              <a:rPr lang="en-US" sz="2400" dirty="0"/>
            </a:br>
            <a:endParaRPr lang="en-US" sz="2400" dirty="0"/>
          </a:p>
          <a:p>
            <a:pPr marL="0" indent="0" algn="just">
              <a:buNone/>
            </a:pPr>
            <a:endParaRPr lang="en-IN" dirty="0"/>
          </a:p>
        </p:txBody>
      </p:sp>
      <p:sp>
        <p:nvSpPr>
          <p:cNvPr id="4" name="Footer Placeholder 3">
            <a:extLst>
              <a:ext uri="{FF2B5EF4-FFF2-40B4-BE49-F238E27FC236}">
                <a16:creationId xmlns:a16="http://schemas.microsoft.com/office/drawing/2014/main" id="{DB462D7E-18C2-ACA8-65FC-9E3EB55CDE5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1892510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C6292-816E-C6FD-8F4F-1F5B2ECD0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57015-5F19-BABE-BBAE-89FFF34A456D}"/>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3.2.2 Clocked (Dynamic) Logic Design</a:t>
            </a:r>
          </a:p>
        </p:txBody>
      </p:sp>
      <p:sp>
        <p:nvSpPr>
          <p:cNvPr id="3" name="Content Placeholder 2">
            <a:extLst>
              <a:ext uri="{FF2B5EF4-FFF2-40B4-BE49-F238E27FC236}">
                <a16:creationId xmlns:a16="http://schemas.microsoft.com/office/drawing/2014/main" id="{A45A0A27-FE68-95B6-416B-043729A46C44}"/>
              </a:ext>
            </a:extLst>
          </p:cNvPr>
          <p:cNvSpPr>
            <a:spLocks noGrp="1"/>
          </p:cNvSpPr>
          <p:nvPr>
            <p:ph idx="1"/>
          </p:nvPr>
        </p:nvSpPr>
        <p:spPr>
          <a:xfrm>
            <a:off x="1055803" y="1747100"/>
            <a:ext cx="10774836" cy="4196499"/>
          </a:xfrm>
        </p:spPr>
        <p:txBody>
          <a:bodyPr>
            <a:noAutofit/>
          </a:bodyPr>
          <a:lstStyle/>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Static CMOS logic with fan-in N requires 2N transistors (N PMOS + N NMOS).</a:t>
            </a:r>
          </a:p>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reduce transistor count, alternative logic styles were introduced:</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Pseudo-NMOS logic</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Pass Transistor Logic (PTL)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Pseudo-NMOS logic requires only N + 1 transistors for an N-input gate.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pseudo-NMOS suffers from static power dissipation due to a direct current path between VDD and GND.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overcome this limitation, an alternative logic style called Dynamic Logic was introduced.</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4575F53-3EE7-325A-E505-7BC69724AF8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1705721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AB758-DF61-FDB8-6857-A9D9CE92C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28C0-3613-EF56-AB56-460004BDB03D}"/>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1. Clocked (Dynamic) Logic Design</a:t>
            </a:r>
          </a:p>
        </p:txBody>
      </p:sp>
      <p:sp>
        <p:nvSpPr>
          <p:cNvPr id="3" name="Content Placeholder 2">
            <a:extLst>
              <a:ext uri="{FF2B5EF4-FFF2-40B4-BE49-F238E27FC236}">
                <a16:creationId xmlns:a16="http://schemas.microsoft.com/office/drawing/2014/main" id="{18A375E3-019B-4289-4D24-6F14664D2CAD}"/>
              </a:ext>
            </a:extLst>
          </p:cNvPr>
          <p:cNvSpPr>
            <a:spLocks noGrp="1"/>
          </p:cNvSpPr>
          <p:nvPr>
            <p:ph idx="1"/>
          </p:nvPr>
        </p:nvSpPr>
        <p:spPr>
          <a:xfrm>
            <a:off x="1055803" y="1747101"/>
            <a:ext cx="10774836" cy="3777622"/>
          </a:xfrm>
        </p:spPr>
        <p:txBody>
          <a:bodyPr>
            <a:noAutofit/>
          </a:bodyPr>
          <a:lstStyle/>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Dynamic logic achieves reduced transistor count similar to pseudo-NMOS.</a:t>
            </a:r>
          </a:p>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Unlike pseudo-NMOS, dynamic logic avoids static power consumption.</a:t>
            </a:r>
          </a:p>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Dynamic logic requires the addition of a clock input.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The PDN (pull-down network) is constructed exactly as in complementary CMOS.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operation of this circuit is divided into two major phases: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and evaluation, with the mode of operation determined by the clock signal CLK. </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34090A9-5AF6-A484-9BCA-7E9FE5A141B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5235107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02E4C5B-6923-D791-63FB-28C38B069474}"/>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72025289-A03D-B026-C5E7-6520835C2468}"/>
              </a:ext>
            </a:extLst>
          </p:cNvPr>
          <p:cNvPicPr>
            <a:picLocks noChangeAspect="1"/>
          </p:cNvPicPr>
          <p:nvPr/>
        </p:nvPicPr>
        <p:blipFill>
          <a:blip r:embed="rId2"/>
          <a:stretch>
            <a:fillRect/>
          </a:stretch>
        </p:blipFill>
        <p:spPr>
          <a:xfrm>
            <a:off x="2354256" y="757887"/>
            <a:ext cx="7483488" cy="4267570"/>
          </a:xfrm>
          <a:prstGeom prst="rect">
            <a:avLst/>
          </a:prstGeom>
        </p:spPr>
      </p:pic>
      <p:sp>
        <p:nvSpPr>
          <p:cNvPr id="8" name="TextBox 7">
            <a:extLst>
              <a:ext uri="{FF2B5EF4-FFF2-40B4-BE49-F238E27FC236}">
                <a16:creationId xmlns:a16="http://schemas.microsoft.com/office/drawing/2014/main" id="{F6DC3332-599D-6881-453C-AC45FB08B6B9}"/>
              </a:ext>
            </a:extLst>
          </p:cNvPr>
          <p:cNvSpPr txBox="1"/>
          <p:nvPr/>
        </p:nvSpPr>
        <p:spPr>
          <a:xfrm>
            <a:off x="3471421" y="5311160"/>
            <a:ext cx="609442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8: Basic concepts of a dynamic gate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2631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32BF9-5C3A-AE4D-3B4D-850F63306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B378C-9F0F-5FA0-91FA-0CFF04946028}"/>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Clocked (Dynamic) Logic Design</a:t>
            </a:r>
          </a:p>
        </p:txBody>
      </p:sp>
      <p:sp>
        <p:nvSpPr>
          <p:cNvPr id="3" name="Content Placeholder 2">
            <a:extLst>
              <a:ext uri="{FF2B5EF4-FFF2-40B4-BE49-F238E27FC236}">
                <a16:creationId xmlns:a16="http://schemas.microsoft.com/office/drawing/2014/main" id="{28F279F0-9729-3311-C46D-88640C01FC95}"/>
              </a:ext>
            </a:extLst>
          </p:cNvPr>
          <p:cNvSpPr>
            <a:spLocks noGrp="1"/>
          </p:cNvSpPr>
          <p:nvPr>
            <p:ph idx="1"/>
          </p:nvPr>
        </p:nvSpPr>
        <p:spPr>
          <a:xfrm>
            <a:off x="1055803" y="1747101"/>
            <a:ext cx="10774836" cy="3777622"/>
          </a:xfrm>
        </p:spPr>
        <p:txBody>
          <a:bodyPr>
            <a:noAutofit/>
          </a:bodyPr>
          <a:lstStyle/>
          <a:p>
            <a:pPr marL="0" indent="0" algn="just">
              <a:buNone/>
            </a:pPr>
            <a:r>
              <a:rPr lang="en-US" sz="2200" b="1" dirty="0" err="1">
                <a:latin typeface="Times New Roman" panose="02020603050405020304" pitchFamily="18" charset="0"/>
                <a:cs typeface="Times New Roman" panose="02020603050405020304" pitchFamily="18" charset="0"/>
              </a:rPr>
              <a:t>Precharge</a:t>
            </a:r>
            <a:r>
              <a:rPr lang="en-US" sz="2200"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When CLK = 0, the output node Out is </a:t>
            </a:r>
            <a:r>
              <a:rPr lang="en-US" sz="2200" dirty="0" err="1">
                <a:latin typeface="Times New Roman" panose="02020603050405020304" pitchFamily="18" charset="0"/>
                <a:cs typeface="Times New Roman" panose="02020603050405020304" pitchFamily="18" charset="0"/>
              </a:rPr>
              <a:t>precharged</a:t>
            </a:r>
            <a:r>
              <a:rPr lang="en-US" sz="2200" dirty="0">
                <a:latin typeface="Times New Roman" panose="02020603050405020304" pitchFamily="18" charset="0"/>
                <a:cs typeface="Times New Roman" panose="02020603050405020304" pitchFamily="18" charset="0"/>
              </a:rPr>
              <a:t> to VDD by the PMOS transistor </a:t>
            </a:r>
            <a:r>
              <a:rPr lang="en-US" sz="2200" dirty="0" err="1">
                <a:latin typeface="Times New Roman" panose="02020603050405020304" pitchFamily="18" charset="0"/>
                <a:cs typeface="Times New Roman" panose="02020603050405020304" pitchFamily="18" charset="0"/>
              </a:rPr>
              <a:t>Mp</a:t>
            </a:r>
            <a:r>
              <a:rPr lang="en-US" sz="22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During that time, the evaluate NMOS transistor Me is off, so that the pull-down path is disabled.</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evaluation FET eliminates any static power that would be consumed during the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period (this is, static current would flow between the supplies if both the pull down and the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device were turned on simultaneously).</a:t>
            </a:r>
          </a:p>
          <a:p>
            <a:pPr marL="0" indent="0" algn="just">
              <a:buNone/>
            </a:pPr>
            <a:r>
              <a:rPr lang="en-IN" sz="2200" b="1" dirty="0">
                <a:latin typeface="Times New Roman" panose="02020603050405020304" pitchFamily="18" charset="0"/>
                <a:cs typeface="Times New Roman" panose="02020603050405020304" pitchFamily="18" charset="0"/>
              </a:rPr>
              <a:t>Evaluation: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For CLK = 1, the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transistor </a:t>
            </a:r>
            <a:r>
              <a:rPr lang="en-US" sz="2200" dirty="0" err="1">
                <a:latin typeface="Times New Roman" panose="02020603050405020304" pitchFamily="18" charset="0"/>
                <a:cs typeface="Times New Roman" panose="02020603050405020304" pitchFamily="18" charset="0"/>
              </a:rPr>
              <a:t>Mp</a:t>
            </a:r>
            <a:r>
              <a:rPr lang="en-US" sz="2200" dirty="0">
                <a:latin typeface="Times New Roman" panose="02020603050405020304" pitchFamily="18" charset="0"/>
                <a:cs typeface="Times New Roman" panose="02020603050405020304" pitchFamily="18" charset="0"/>
              </a:rPr>
              <a:t> is off, and the evaluation transistor Me is turned on. </a:t>
            </a: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77FBAD5-6C3E-F870-7A50-DE99B888A29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7642504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9D00C-B860-709E-0D8F-515FD8A0C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13882-1127-FD6A-51E2-9BBDB96235EB}"/>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Clocked (Dynamic) Logic Design</a:t>
            </a:r>
          </a:p>
        </p:txBody>
      </p:sp>
      <p:sp>
        <p:nvSpPr>
          <p:cNvPr id="3" name="Content Placeholder 2">
            <a:extLst>
              <a:ext uri="{FF2B5EF4-FFF2-40B4-BE49-F238E27FC236}">
                <a16:creationId xmlns:a16="http://schemas.microsoft.com/office/drawing/2014/main" id="{191C1E4F-7CB5-AF95-604D-F22AFFA1AAD5}"/>
              </a:ext>
            </a:extLst>
          </p:cNvPr>
          <p:cNvSpPr>
            <a:spLocks noGrp="1"/>
          </p:cNvSpPr>
          <p:nvPr>
            <p:ph idx="1"/>
          </p:nvPr>
        </p:nvSpPr>
        <p:spPr>
          <a:xfrm>
            <a:off x="1055803" y="1747101"/>
            <a:ext cx="10774836" cy="3777622"/>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output is conditionally discharged based on the input values and the pull-down topology.</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If the inputs are such that the PDN conducts, then a low resistance path exists between Out and GND and the output is discharged to GND.</a:t>
            </a:r>
            <a:endParaRPr lang="en-IN" sz="2200" b="1"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4FC7F2F-D259-CEF6-293E-B03527340D0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7216086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B098-3263-78D5-0CA1-4A69F7542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FAFD2-C514-2316-42A1-3B5EE283B3D7}"/>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Cascading Dynamic Logic Gates</a:t>
            </a:r>
          </a:p>
        </p:txBody>
      </p:sp>
      <p:sp>
        <p:nvSpPr>
          <p:cNvPr id="3" name="Content Placeholder 2">
            <a:extLst>
              <a:ext uri="{FF2B5EF4-FFF2-40B4-BE49-F238E27FC236}">
                <a16:creationId xmlns:a16="http://schemas.microsoft.com/office/drawing/2014/main" id="{7143BFF5-9037-3438-7E26-F33F9812F52B}"/>
              </a:ext>
            </a:extLst>
          </p:cNvPr>
          <p:cNvSpPr>
            <a:spLocks noGrp="1"/>
          </p:cNvSpPr>
          <p:nvPr>
            <p:ph idx="1"/>
          </p:nvPr>
        </p:nvSpPr>
        <p:spPr>
          <a:xfrm>
            <a:off x="999243" y="1549137"/>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Besides the signal integrity issues, there is one major catch that complicates the design of dynamic circuits: straightforward cascading of dynamic gates to create more complex structures does not work.</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phase (i.e., CLK =0), the outputs of both inverters are </a:t>
            </a:r>
            <a:r>
              <a:rPr lang="en-US" sz="2400" dirty="0" err="1">
                <a:latin typeface="Times New Roman" panose="02020603050405020304" pitchFamily="18" charset="0"/>
                <a:cs typeface="Times New Roman" panose="02020603050405020304" pitchFamily="18" charset="0"/>
              </a:rPr>
              <a:t>precharged</a:t>
            </a:r>
            <a:r>
              <a:rPr lang="en-US" sz="2400" dirty="0">
                <a:latin typeface="Times New Roman" panose="02020603050405020304" pitchFamily="18" charset="0"/>
                <a:cs typeface="Times New Roman" panose="02020603050405020304" pitchFamily="18" charset="0"/>
              </a:rPr>
              <a:t> to VDD. Assume that the primary input In makes a 0 → 1 transition.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 the rising edge of the clock, output Out1 starts to discharge.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second output should remain in the </a:t>
            </a:r>
            <a:r>
              <a:rPr lang="en-US" sz="2400" dirty="0" err="1">
                <a:latin typeface="Times New Roman" panose="02020603050405020304" pitchFamily="18" charset="0"/>
                <a:cs typeface="Times New Roman" panose="02020603050405020304" pitchFamily="18" charset="0"/>
              </a:rPr>
              <a:t>precharged</a:t>
            </a:r>
            <a:r>
              <a:rPr lang="en-US" sz="2400" dirty="0">
                <a:latin typeface="Times New Roman" panose="02020603050405020304" pitchFamily="18" charset="0"/>
                <a:cs typeface="Times New Roman" panose="02020603050405020304" pitchFamily="18" charset="0"/>
              </a:rPr>
              <a:t> state of VDD as its expected value is 1 (Out1 transitions to 0 during evaluation).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there is a finite propagation delay for the input to discharge Out1 to GND. Therefore, the second output also starts to discharge.</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E2A4CFD-6482-89CC-F3A6-46DE20441F3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3954597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7DBB2-611F-A953-A158-9610448E9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26AF8-D5FD-B2BB-45B8-A10D82CE30B5}"/>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Cascading Dynamic Logic Gates</a:t>
            </a:r>
          </a:p>
        </p:txBody>
      </p:sp>
      <p:sp>
        <p:nvSpPr>
          <p:cNvPr id="3" name="Content Placeholder 2">
            <a:extLst>
              <a:ext uri="{FF2B5EF4-FFF2-40B4-BE49-F238E27FC236}">
                <a16:creationId xmlns:a16="http://schemas.microsoft.com/office/drawing/2014/main" id="{894789E8-71A9-1EA9-9C3D-09A7BB11CD11}"/>
              </a:ext>
            </a:extLst>
          </p:cNvPr>
          <p:cNvSpPr>
            <a:spLocks noGrp="1"/>
          </p:cNvSpPr>
          <p:nvPr>
            <p:ph idx="1"/>
          </p:nvPr>
        </p:nvSpPr>
        <p:spPr>
          <a:xfrm>
            <a:off x="999243" y="1549137"/>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long as Out1 exceeds the switching threshold of the second gate, which approximately equals </a:t>
            </a:r>
            <a:r>
              <a:rPr lang="en-US" sz="2400" dirty="0" err="1">
                <a:latin typeface="Times New Roman" panose="02020603050405020304" pitchFamily="18" charset="0"/>
                <a:cs typeface="Times New Roman" panose="02020603050405020304" pitchFamily="18" charset="0"/>
              </a:rPr>
              <a:t>VTn</a:t>
            </a:r>
            <a:r>
              <a:rPr lang="en-US" sz="2400" dirty="0">
                <a:latin typeface="Times New Roman" panose="02020603050405020304" pitchFamily="18" charset="0"/>
                <a:cs typeface="Times New Roman" panose="02020603050405020304" pitchFamily="18" charset="0"/>
              </a:rPr>
              <a:t>, a conducting path exists between Out2 and GND, and precious charge is lost at Out2.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conducting path is only disabled once Out1 reaches </a:t>
            </a:r>
            <a:r>
              <a:rPr lang="en-US" sz="2400" dirty="0" err="1">
                <a:latin typeface="Times New Roman" panose="02020603050405020304" pitchFamily="18" charset="0"/>
                <a:cs typeface="Times New Roman" panose="02020603050405020304" pitchFamily="18" charset="0"/>
              </a:rPr>
              <a:t>VTn</a:t>
            </a:r>
            <a:r>
              <a:rPr lang="en-US" sz="2400" dirty="0">
                <a:latin typeface="Times New Roman" panose="02020603050405020304" pitchFamily="18" charset="0"/>
                <a:cs typeface="Times New Roman" panose="02020603050405020304" pitchFamily="18" charset="0"/>
              </a:rPr>
              <a:t>, and turns off the NMOS pull-down transistor.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leaves Out2 at an intermediate voltage level. The correct level will not be recovered, as dynamic gates rely on capacitive storage in contrast to static gates, which have dc restoration.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charge loss leads to reduced noise margins and potential malfunctioning.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EE88908-A1F8-C0D1-11CE-0C0DA890892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6796602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BF842C-D673-1B52-0FB9-D017733ECC28}"/>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D26AF32F-8D8F-5013-FA67-17E26E26FFA7}"/>
              </a:ext>
            </a:extLst>
          </p:cNvPr>
          <p:cNvPicPr>
            <a:picLocks noChangeAspect="1"/>
          </p:cNvPicPr>
          <p:nvPr/>
        </p:nvPicPr>
        <p:blipFill>
          <a:blip r:embed="rId2"/>
          <a:stretch>
            <a:fillRect/>
          </a:stretch>
        </p:blipFill>
        <p:spPr>
          <a:xfrm>
            <a:off x="2004989" y="1015206"/>
            <a:ext cx="9388654" cy="4092295"/>
          </a:xfrm>
          <a:prstGeom prst="rect">
            <a:avLst/>
          </a:prstGeom>
        </p:spPr>
      </p:pic>
      <p:sp>
        <p:nvSpPr>
          <p:cNvPr id="6" name="TextBox 5">
            <a:extLst>
              <a:ext uri="{FF2B5EF4-FFF2-40B4-BE49-F238E27FC236}">
                <a16:creationId xmlns:a16="http://schemas.microsoft.com/office/drawing/2014/main" id="{ADC8B21A-BD4F-8EBF-27F8-670844446439}"/>
              </a:ext>
            </a:extLst>
          </p:cNvPr>
          <p:cNvSpPr txBox="1"/>
          <p:nvPr/>
        </p:nvSpPr>
        <p:spPr>
          <a:xfrm>
            <a:off x="3905054" y="5252322"/>
            <a:ext cx="609442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9: Cascade of dynamic n−type blocks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097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435AB-A666-E38F-0183-BB054E0CB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17705-43A0-62BF-A46E-6702A427591F}"/>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2. Domino Logic</a:t>
            </a:r>
          </a:p>
        </p:txBody>
      </p:sp>
      <p:sp>
        <p:nvSpPr>
          <p:cNvPr id="3" name="Content Placeholder 2">
            <a:extLst>
              <a:ext uri="{FF2B5EF4-FFF2-40B4-BE49-F238E27FC236}">
                <a16:creationId xmlns:a16="http://schemas.microsoft.com/office/drawing/2014/main" id="{8232AD3D-01C0-2723-4D64-CC1BAB3403FA}"/>
              </a:ext>
            </a:extLst>
          </p:cNvPr>
          <p:cNvSpPr>
            <a:spLocks noGrp="1"/>
          </p:cNvSpPr>
          <p:nvPr>
            <p:ph idx="1"/>
          </p:nvPr>
        </p:nvSpPr>
        <p:spPr>
          <a:xfrm>
            <a:off x="999243" y="1549137"/>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Domino logic module consists of an n-type dynamic logic block followed by a static inverter.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dynamic stage performs conditional discharge based on input combinations, while the inverter restores full logic levels and provides strong output drive.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the output of the n type dynamic gate is charged up to VDD, and the output of the inverter is set to 0.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During evaluation, the dynamic gate conditionally discharges, and the output of the inverter makes a conditional transition from 0 → 1.</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rising transitions occur during evaluation, ensuring stable cascading operation.</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2CF8497-384D-7FC3-E783-D7352D07B63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8311025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6A542-A2E2-F587-FBC9-3309CABA1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29E50-012E-3F5C-136C-FE25529AB7AF}"/>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13D4DE-7763-8B7A-BB15-0796C0E9CE13}"/>
                  </a:ext>
                </a:extLst>
              </p:cNvPr>
              <p:cNvSpPr>
                <a:spLocks noGrp="1"/>
              </p:cNvSpPr>
              <p:nvPr>
                <p:ph idx="1"/>
              </p:nvPr>
            </p:nvSpPr>
            <p:spPr>
              <a:xfrm>
                <a:off x="999243" y="1121791"/>
                <a:ext cx="10774836" cy="4816054"/>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cascaded Domino stages, all inputs are reset to 0 during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During evaluation, if the first stage evaluates to logic 1, it triggers the next stage, and this propagation continues sequentially.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sequential switching resembles falling dominoes, which gives Domino logic its name.</a:t>
                </a:r>
              </a:p>
              <a:p>
                <a:pPr marL="0" indent="0" algn="just">
                  <a:buNone/>
                </a:pPr>
                <a:r>
                  <a:rPr lang="en-US" sz="2400" b="1" dirty="0">
                    <a:latin typeface="Times New Roman" panose="02020603050405020304" pitchFamily="18" charset="0"/>
                    <a:cs typeface="Times New Roman" panose="02020603050405020304" pitchFamily="18" charset="0"/>
                  </a:rPr>
                  <a:t>Advantages:</a:t>
                </a:r>
              </a:p>
              <a:p>
                <a:pPr marL="0" indent="0" algn="just">
                  <a:buNone/>
                </a:pPr>
                <a:r>
                  <a:rPr lang="en-US" sz="2400" dirty="0">
                    <a:latin typeface="Times New Roman" panose="02020603050405020304" pitchFamily="18" charset="0"/>
                    <a:cs typeface="Times New Roman" panose="02020603050405020304" pitchFamily="18" charset="0"/>
                  </a:rPr>
                  <a:t>Domino logic achieves very high speed because only one transition delay (low-to-high at the inverter output) dominates.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𝑡</m:t>
                        </m:r>
                      </m:e>
                      <m:sub>
                        <m:r>
                          <a:rPr lang="en-IN" sz="2400" b="0" i="1" smtClean="0">
                            <a:latin typeface="Cambria Math" panose="02040503050406030204" pitchFamily="18" charset="0"/>
                            <a:cs typeface="Times New Roman" panose="02020603050405020304" pitchFamily="18" charset="0"/>
                          </a:rPr>
                          <m:t>𝑃𝐻𝐿</m:t>
                        </m:r>
                      </m:sub>
                    </m:sSub>
                  </m:oMath>
                </a14:m>
                <a:r>
                  <a:rPr lang="en-US" sz="2400" dirty="0">
                    <a:latin typeface="Times New Roman" panose="02020603050405020304" pitchFamily="18" charset="0"/>
                    <a:cs typeface="Times New Roman" panose="02020603050405020304" pitchFamily="18" charset="0"/>
                  </a:rPr>
                  <a:t> equals zero.)</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introduction of the static inverter has the additional advantage that the fan-out of the gate is driven by a static inverter with a low impedance output, which increases noise immunity. </a:t>
                </a: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213D4DE-7763-8B7A-BB15-0796C0E9CE13}"/>
                  </a:ext>
                </a:extLst>
              </p:cNvPr>
              <p:cNvSpPr>
                <a:spLocks noGrp="1" noRot="1" noChangeAspect="1" noMove="1" noResize="1" noEditPoints="1" noAdjustHandles="1" noChangeArrowheads="1" noChangeShapeType="1" noTextEdit="1"/>
              </p:cNvSpPr>
              <p:nvPr>
                <p:ph idx="1"/>
              </p:nvPr>
            </p:nvSpPr>
            <p:spPr>
              <a:xfrm>
                <a:off x="999243" y="1121791"/>
                <a:ext cx="10774836" cy="4816054"/>
              </a:xfrm>
              <a:blipFill>
                <a:blip r:embed="rId2"/>
                <a:stretch>
                  <a:fillRect l="-905" t="-1013" r="-1698"/>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AEDA9D54-0F84-E70C-A566-EA1E0A36144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5809602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B79A-0F0F-52EB-DDBB-7BCD7FA43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15C9D-F79D-0C01-9112-CAA5423E540F}"/>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p:sp>
        <p:nvSpPr>
          <p:cNvPr id="3" name="Content Placeholder 2">
            <a:extLst>
              <a:ext uri="{FF2B5EF4-FFF2-40B4-BE49-F238E27FC236}">
                <a16:creationId xmlns:a16="http://schemas.microsoft.com/office/drawing/2014/main" id="{1CB3259D-A197-52E2-7BA3-7832F8EB9370}"/>
              </a:ext>
            </a:extLst>
          </p:cNvPr>
          <p:cNvSpPr>
            <a:spLocks noGrp="1"/>
          </p:cNvSpPr>
          <p:nvPr>
            <p:ph idx="1"/>
          </p:nvPr>
        </p:nvSpPr>
        <p:spPr>
          <a:xfrm>
            <a:off x="999243" y="1549137"/>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buffer furthermore reduces the capacitance of the dynamic output node by separating internal and load capacitances. </a:t>
            </a:r>
          </a:p>
          <a:p>
            <a:pPr marL="0" indent="0" algn="just">
              <a:buNone/>
            </a:pPr>
            <a:r>
              <a:rPr lang="en-IN" sz="2400" b="1" dirty="0">
                <a:latin typeface="Times New Roman" panose="02020603050405020304" pitchFamily="18" charset="0"/>
                <a:cs typeface="Times New Roman" panose="02020603050405020304" pitchFamily="18" charset="0"/>
              </a:rPr>
              <a:t>Limitation: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Domino logic inherently supports only non-inverting logic functions because the dynamic stage is always followed by an inverter. Implementing inverting logic requires additional design techniques, which increases complexity.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this limitation, pure Domino logic is less common in modern large-scale digital systems.</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C27D352-E067-1361-1357-40346DD0C49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6173621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6DDDAC-9C8B-7011-A7D7-40EAE503B95A}"/>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738250A-8F5C-6479-21DC-0A3326630F35}"/>
              </a:ext>
            </a:extLst>
          </p:cNvPr>
          <p:cNvPicPr>
            <a:picLocks noChangeAspect="1"/>
          </p:cNvPicPr>
          <p:nvPr/>
        </p:nvPicPr>
        <p:blipFill>
          <a:blip r:embed="rId2"/>
          <a:stretch>
            <a:fillRect/>
          </a:stretch>
        </p:blipFill>
        <p:spPr>
          <a:xfrm>
            <a:off x="1825285" y="1287966"/>
            <a:ext cx="9502964" cy="3848433"/>
          </a:xfrm>
          <a:prstGeom prst="rect">
            <a:avLst/>
          </a:prstGeom>
        </p:spPr>
      </p:pic>
      <p:sp>
        <p:nvSpPr>
          <p:cNvPr id="6" name="TextBox 5">
            <a:extLst>
              <a:ext uri="{FF2B5EF4-FFF2-40B4-BE49-F238E27FC236}">
                <a16:creationId xmlns:a16="http://schemas.microsoft.com/office/drawing/2014/main" id="{F944CC1D-7B2C-3361-6808-B8F86212CB26}"/>
              </a:ext>
            </a:extLst>
          </p:cNvPr>
          <p:cNvSpPr txBox="1"/>
          <p:nvPr/>
        </p:nvSpPr>
        <p:spPr>
          <a:xfrm>
            <a:off x="3782506" y="5385368"/>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10: Domino CMOS logic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2972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F124-432F-1B75-E4C8-B6BD08099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4C5D3-3708-6712-3752-D3EBDDB66C92}"/>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p:sp>
        <p:nvSpPr>
          <p:cNvPr id="3" name="Content Placeholder 2">
            <a:extLst>
              <a:ext uri="{FF2B5EF4-FFF2-40B4-BE49-F238E27FC236}">
                <a16:creationId xmlns:a16="http://schemas.microsoft.com/office/drawing/2014/main" id="{26C04925-603F-CDC3-BD94-9B3D12666DFD}"/>
              </a:ext>
            </a:extLst>
          </p:cNvPr>
          <p:cNvSpPr>
            <a:spLocks noGrp="1"/>
          </p:cNvSpPr>
          <p:nvPr>
            <p:ph idx="1"/>
          </p:nvPr>
        </p:nvSpPr>
        <p:spPr>
          <a:xfrm>
            <a:off x="999243" y="1549137"/>
            <a:ext cx="10774836" cy="4388707"/>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Importance of Evaluation Transistor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all inputs of a Domino gate are forced to LOW during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phase, it may appear that the evaluation transistor is unnecessary.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Removing this transistor seems attractive because it reduces the clock loading and improves the pull-down drive strength, potentially increasing evaluation speed.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However, eliminating the evaluation device introduces serious timing and power penalties that degrade overall circuit performance.</a:t>
            </a:r>
          </a:p>
          <a:p>
            <a:pPr marL="0" indent="0" algn="just">
              <a:buNone/>
            </a:pPr>
            <a:r>
              <a:rPr lang="en-IN" sz="2400" b="1" dirty="0">
                <a:latin typeface="Times New Roman" panose="02020603050405020304" pitchFamily="18" charset="0"/>
                <a:cs typeface="Times New Roman" panose="02020603050405020304" pitchFamily="18" charset="0"/>
              </a:rPr>
              <a:t>Impact on </a:t>
            </a:r>
            <a:r>
              <a:rPr lang="en-IN" sz="2400" b="1" dirty="0" err="1">
                <a:latin typeface="Times New Roman" panose="02020603050405020304" pitchFamily="18" charset="0"/>
                <a:cs typeface="Times New Roman" panose="02020603050405020304" pitchFamily="18" charset="0"/>
              </a:rPr>
              <a:t>Precharge</a:t>
            </a:r>
            <a:r>
              <a:rPr lang="en-IN" sz="2400" b="1" dirty="0">
                <a:latin typeface="Times New Roman" panose="02020603050405020304" pitchFamily="18" charset="0"/>
                <a:cs typeface="Times New Roman" panose="02020603050405020304" pitchFamily="18" charset="0"/>
              </a:rPr>
              <a:t> operation: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the evaluation transistor is removed,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operation no longer occurs simultaneously across all stages</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CD420B9-A00F-2321-43F6-23FA666D3C6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5183702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8DC63-DD5D-C17F-3555-CD7E2430B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C9A6C-F430-0E23-8E52-4EA8052C629B}"/>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p:sp>
        <p:nvSpPr>
          <p:cNvPr id="3" name="Content Placeholder 2">
            <a:extLst>
              <a:ext uri="{FF2B5EF4-FFF2-40B4-BE49-F238E27FC236}">
                <a16:creationId xmlns:a16="http://schemas.microsoft.com/office/drawing/2014/main" id="{4F191DEA-C729-25AE-D24F-2BC0D3401DC7}"/>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Instead,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must propagate sequentially through the logic network.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happens because the pull-down network may remain active during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phase, preventing the dynamic node from charging immediately.</a:t>
            </a:r>
          </a:p>
          <a:p>
            <a:pPr algn="just">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C66AC3F-7C2D-A1B8-14B5-21C24D1EA9EC}"/>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0780C79C-E323-2CC5-8A3F-B1249B75D636}"/>
              </a:ext>
            </a:extLst>
          </p:cNvPr>
          <p:cNvPicPr>
            <a:picLocks noChangeAspect="1"/>
          </p:cNvPicPr>
          <p:nvPr/>
        </p:nvPicPr>
        <p:blipFill>
          <a:blip r:embed="rId2"/>
          <a:stretch>
            <a:fillRect/>
          </a:stretch>
        </p:blipFill>
        <p:spPr>
          <a:xfrm>
            <a:off x="1238905" y="2658624"/>
            <a:ext cx="10295512" cy="3048264"/>
          </a:xfrm>
          <a:prstGeom prst="rect">
            <a:avLst/>
          </a:prstGeom>
        </p:spPr>
      </p:pic>
      <p:sp>
        <p:nvSpPr>
          <p:cNvPr id="8" name="TextBox 7">
            <a:extLst>
              <a:ext uri="{FF2B5EF4-FFF2-40B4-BE49-F238E27FC236}">
                <a16:creationId xmlns:a16="http://schemas.microsoft.com/office/drawing/2014/main" id="{DEC8B711-5E90-8F68-345B-C7AEF4624109}"/>
              </a:ext>
            </a:extLst>
          </p:cNvPr>
          <p:cNvSpPr txBox="1"/>
          <p:nvPr/>
        </p:nvSpPr>
        <p:spPr>
          <a:xfrm>
            <a:off x="1784701" y="5812642"/>
            <a:ext cx="9989377"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11 : Effect of ripple </a:t>
            </a:r>
            <a:r>
              <a:rPr lang="en-US" dirty="0" err="1">
                <a:latin typeface="Times New Roman" panose="02020603050405020304" pitchFamily="18" charset="0"/>
                <a:cs typeface="Times New Roman" panose="02020603050405020304" pitchFamily="18" charset="0"/>
              </a:rPr>
              <a:t>precharge</a:t>
            </a:r>
            <a:r>
              <a:rPr lang="en-US" dirty="0">
                <a:latin typeface="Times New Roman" panose="02020603050405020304" pitchFamily="18" charset="0"/>
                <a:cs typeface="Times New Roman" panose="02020603050405020304" pitchFamily="18" charset="0"/>
              </a:rPr>
              <a:t> when the evaluation transistor is removed.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3346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59D7A-D385-D58F-CE9A-0EEA2780B9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A3849-D77A-35E5-5B04-957A90DDDC6B}"/>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p:sp>
        <p:nvSpPr>
          <p:cNvPr id="3" name="Content Placeholder 2">
            <a:extLst>
              <a:ext uri="{FF2B5EF4-FFF2-40B4-BE49-F238E27FC236}">
                <a16:creationId xmlns:a16="http://schemas.microsoft.com/office/drawing/2014/main" id="{16B01645-C3C1-51FA-A67A-EA639C0142E6}"/>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primary input In1 is 1 during evaluation, the output of each dynamic gate is 0 and the output of each static inverter is 1.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 the falling edge of the clock,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operation is started.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Assume further that In1 makes a high-to-low transition. The input to the second gate is initially high, and it takes two gate delays before In2 is driven low.</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that time, the sec </a:t>
            </a:r>
            <a:r>
              <a:rPr lang="en-US" sz="2400" dirty="0" err="1">
                <a:latin typeface="Times New Roman" panose="02020603050405020304" pitchFamily="18" charset="0"/>
                <a:cs typeface="Times New Roman" panose="02020603050405020304" pitchFamily="18" charset="0"/>
              </a:rPr>
              <a:t>ond</a:t>
            </a:r>
            <a:r>
              <a:rPr lang="en-US" sz="2400" dirty="0">
                <a:latin typeface="Times New Roman" panose="02020603050405020304" pitchFamily="18" charset="0"/>
                <a:cs typeface="Times New Roman" panose="02020603050405020304" pitchFamily="18" charset="0"/>
              </a:rPr>
              <a:t> gate cannot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its output, as the pull-down network is fighting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device.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Similarly, the third gate has to wait till the second gate </a:t>
            </a:r>
            <a:r>
              <a:rPr lang="en-US" sz="2400" dirty="0" err="1">
                <a:latin typeface="Times New Roman" panose="02020603050405020304" pitchFamily="18" charset="0"/>
                <a:cs typeface="Times New Roman" panose="02020603050405020304" pitchFamily="18" charset="0"/>
              </a:rPr>
              <a:t>precharges</a:t>
            </a:r>
            <a:r>
              <a:rPr lang="en-US" sz="2400" dirty="0">
                <a:latin typeface="Times New Roman" panose="02020603050405020304" pitchFamily="18" charset="0"/>
                <a:cs typeface="Times New Roman" panose="02020603050405020304" pitchFamily="18" charset="0"/>
              </a:rPr>
              <a:t> before it can start </a:t>
            </a:r>
            <a:r>
              <a:rPr lang="en-US" sz="2400" dirty="0" err="1">
                <a:latin typeface="Times New Roman" panose="02020603050405020304" pitchFamily="18" charset="0"/>
                <a:cs typeface="Times New Roman" panose="02020603050405020304" pitchFamily="18" charset="0"/>
              </a:rPr>
              <a:t>precharging</a:t>
            </a:r>
            <a:r>
              <a:rPr lang="en-US" sz="2400" dirty="0">
                <a:latin typeface="Times New Roman" panose="02020603050405020304" pitchFamily="18" charset="0"/>
                <a:cs typeface="Times New Roman" panose="02020603050405020304" pitchFamily="18" charset="0"/>
              </a:rPr>
              <a:t>, etc.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this sequential charging behavior, the total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time becomes approximately equal to the critical path delay of the logic network. </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6558389-893B-F5EC-9DEE-DA0ECB7D9E6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3399068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3DD0C-E0B8-237E-92DE-39A194FA1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0496B-650E-067A-7589-C39401D123BD}"/>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p:sp>
        <p:nvSpPr>
          <p:cNvPr id="3" name="Content Placeholder 2">
            <a:extLst>
              <a:ext uri="{FF2B5EF4-FFF2-40B4-BE49-F238E27FC236}">
                <a16:creationId xmlns:a16="http://schemas.microsoft.com/office/drawing/2014/main" id="{90F5A0FD-689F-8C14-B8B0-FBA708739B98}"/>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significantly reduces the speed advantage of Domino logic, which is designed to support fast parallel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and fast evaluation.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significantly reduces the speed advantage of Domino logic, which is designed to support fast parallel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and fast evaluation.</a:t>
            </a:r>
          </a:p>
          <a:p>
            <a:pPr marL="0" indent="0" algn="just">
              <a:buNone/>
            </a:pPr>
            <a:r>
              <a:rPr lang="en-US" sz="2400" b="1" dirty="0">
                <a:latin typeface="Times New Roman" panose="02020603050405020304" pitchFamily="18" charset="0"/>
                <a:cs typeface="Times New Roman" panose="02020603050405020304" pitchFamily="18" charset="0"/>
              </a:rPr>
              <a:t>Increased Power Consumption: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Another major drawback of removing the evaluation transistor is increased power consumption.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both pull-up and pull-down devices may conduct simultaneously, creating a direct current path from VDD to ground.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leads to short-circuit current and unnecessary power loss.</a:t>
            </a: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7B2F90E-3DB6-3B14-3246-9F49E6AD493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2309987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34C0B-556F-C695-4CE0-A1704BCCC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68EC6-039B-E290-F08A-146FC9189886}"/>
              </a:ext>
            </a:extLst>
          </p:cNvPr>
          <p:cNvSpPr>
            <a:spLocks noGrp="1"/>
          </p:cNvSpPr>
          <p:nvPr>
            <p:ph type="title"/>
          </p:nvPr>
        </p:nvSpPr>
        <p:spPr>
          <a:xfrm>
            <a:off x="1761134" y="466211"/>
            <a:ext cx="8911687" cy="1280890"/>
          </a:xfrm>
        </p:spPr>
        <p:txBody>
          <a:bodyPr/>
          <a:lstStyle/>
          <a:p>
            <a:r>
              <a:rPr lang="en-IN" b="1" dirty="0">
                <a:latin typeface="Times New Roman" panose="02020603050405020304" pitchFamily="18" charset="0"/>
                <a:cs typeface="Times New Roman" panose="02020603050405020304" pitchFamily="18" charset="0"/>
              </a:rPr>
              <a:t>Domino Logic</a:t>
            </a:r>
          </a:p>
        </p:txBody>
      </p:sp>
      <p:sp>
        <p:nvSpPr>
          <p:cNvPr id="3" name="Content Placeholder 2">
            <a:extLst>
              <a:ext uri="{FF2B5EF4-FFF2-40B4-BE49-F238E27FC236}">
                <a16:creationId xmlns:a16="http://schemas.microsoft.com/office/drawing/2014/main" id="{A30E1796-28E0-AA2A-EC28-F1FBC9739154}"/>
              </a:ext>
            </a:extLst>
          </p:cNvPr>
          <p:cNvSpPr>
            <a:spLocks noGrp="1"/>
          </p:cNvSpPr>
          <p:nvPr>
            <p:ph idx="1"/>
          </p:nvPr>
        </p:nvSpPr>
        <p:spPr>
          <a:xfrm>
            <a:off x="999243" y="1234646"/>
            <a:ext cx="10774836" cy="4388707"/>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Design Consideration: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avoid increased delay and power dissipation, it is good design practice to always include evaluation transistors in Domino logic circuits.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evaluation transistor isolates the pull-down network during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allowing fast and simultaneous charging of dynamic nodes while maintaining low power operation</a:t>
            </a:r>
            <a:r>
              <a:rPr lang="en-US" sz="2400" dirty="0"/>
              <a:t>.</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ED8DFAF-C1D8-C95B-0D48-1AFF6DA6E32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640883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34D877-61F5-CE19-A362-30942B893673}"/>
              </a:ext>
            </a:extLst>
          </p:cNvPr>
          <p:cNvSpPr>
            <a:spLocks noGrp="1"/>
          </p:cNvSpPr>
          <p:nvPr>
            <p:ph idx="1"/>
          </p:nvPr>
        </p:nvSpPr>
        <p:spPr>
          <a:xfrm>
            <a:off x="1583703" y="697584"/>
            <a:ext cx="9920909" cy="5213638"/>
          </a:xfrm>
        </p:spPr>
        <p:txBody>
          <a:bodyPr/>
          <a:lstStyle/>
          <a:p>
            <a:pPr marL="0" indent="0">
              <a:buNone/>
            </a:pPr>
            <a:r>
              <a:rPr lang="en-US" sz="2400" b="1" dirty="0">
                <a:latin typeface="Times New Roman" panose="02020603050405020304" pitchFamily="18" charset="0"/>
                <a:cs typeface="Times New Roman" panose="02020603050405020304" pitchFamily="18" charset="0"/>
              </a:rPr>
              <a:t>Advantages</a:t>
            </a:r>
            <a:r>
              <a:rPr lang="en-US" sz="2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Speed – Reduced input capacitance and fewer PMOS devices in pull-down path.</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Lower Transistor Count – Compared to static CMOS for complex gates.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Smaller Area – Efficient implementation of wide fan-in logic.</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Suitable for High-Performance CPUs – Used in high-speed </a:t>
            </a:r>
            <a:r>
              <a:rPr lang="en-US" sz="2000" dirty="0" err="1">
                <a:latin typeface="Times New Roman" panose="02020603050405020304" pitchFamily="18" charset="0"/>
                <a:cs typeface="Times New Roman" panose="02020603050405020304" pitchFamily="18" charset="0"/>
              </a:rPr>
              <a:t>datapath</a:t>
            </a:r>
            <a:r>
              <a:rPr lang="en-US" sz="2000" dirty="0">
                <a:latin typeface="Times New Roman" panose="02020603050405020304" pitchFamily="18" charset="0"/>
                <a:cs typeface="Times New Roman" panose="02020603050405020304" pitchFamily="18" charset="0"/>
              </a:rPr>
              <a:t> circuits.</a:t>
            </a:r>
          </a:p>
          <a:p>
            <a:pPr marL="0" indent="0">
              <a:buNone/>
            </a:pPr>
            <a:r>
              <a:rPr lang="en-US" sz="2400" b="1" dirty="0">
                <a:latin typeface="Times New Roman" panose="02020603050405020304" pitchFamily="18" charset="0"/>
                <a:cs typeface="Times New Roman" panose="02020603050405020304" pitchFamily="18" charset="0"/>
              </a:rPr>
              <a:t>Disadvantages</a:t>
            </a:r>
            <a:r>
              <a:rPr lang="en-US" sz="2000" b="1"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Requires Clock Signal – Needs </a:t>
            </a:r>
            <a:r>
              <a:rPr lang="en-US" sz="2000" dirty="0" err="1">
                <a:latin typeface="Times New Roman" panose="02020603050405020304" pitchFamily="18" charset="0"/>
                <a:cs typeface="Times New Roman" panose="02020603050405020304" pitchFamily="18" charset="0"/>
              </a:rPr>
              <a:t>precharge</a:t>
            </a:r>
            <a:r>
              <a:rPr lang="en-US" sz="2000" dirty="0">
                <a:latin typeface="Times New Roman" panose="02020603050405020304" pitchFamily="18" charset="0"/>
                <a:cs typeface="Times New Roman" panose="02020603050405020304" pitchFamily="18" charset="0"/>
              </a:rPr>
              <a:t> and evaluate phases.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Dynamic Power – Output </a:t>
            </a:r>
            <a:r>
              <a:rPr lang="en-US" sz="2000" dirty="0" err="1">
                <a:latin typeface="Times New Roman" panose="02020603050405020304" pitchFamily="18" charset="0"/>
                <a:cs typeface="Times New Roman" panose="02020603050405020304" pitchFamily="18" charset="0"/>
              </a:rPr>
              <a:t>precharged</a:t>
            </a:r>
            <a:r>
              <a:rPr lang="en-US" sz="2000" dirty="0">
                <a:latin typeface="Times New Roman" panose="02020603050405020304" pitchFamily="18" charset="0"/>
                <a:cs typeface="Times New Roman" panose="02020603050405020304" pitchFamily="18" charset="0"/>
              </a:rPr>
              <a:t> every clock cycle.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Noise Sensitive – Charge sharing and leakage can cause errors.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Only Non-Inverting Logic – Cannot directly implement inverting functions.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 Complexity – Careful timing and sizing required.</a:t>
            </a:r>
          </a:p>
          <a:p>
            <a:pPr marL="0" indent="0">
              <a:buNone/>
            </a:pPr>
            <a:endParaRPr lang="en-IN" dirty="0"/>
          </a:p>
        </p:txBody>
      </p:sp>
      <p:sp>
        <p:nvSpPr>
          <p:cNvPr id="4" name="Footer Placeholder 3">
            <a:extLst>
              <a:ext uri="{FF2B5EF4-FFF2-40B4-BE49-F238E27FC236}">
                <a16:creationId xmlns:a16="http://schemas.microsoft.com/office/drawing/2014/main" id="{DE257726-7694-4B86-8018-AD0882EF3CD2}"/>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1920350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9153-3D72-EBC9-946D-43CFF5B11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45A91-A214-5086-3616-903150E6DFFD}"/>
              </a:ext>
            </a:extLst>
          </p:cNvPr>
          <p:cNvSpPr>
            <a:spLocks noGrp="1"/>
          </p:cNvSpPr>
          <p:nvPr>
            <p:ph type="title"/>
          </p:nvPr>
        </p:nvSpPr>
        <p:spPr>
          <a:xfrm>
            <a:off x="1761134" y="466211"/>
            <a:ext cx="8911687" cy="1280890"/>
          </a:xfrm>
        </p:spPr>
        <p:txBody>
          <a:bodyPr/>
          <a:lstStyle/>
          <a:p>
            <a:r>
              <a:rPr lang="en-US" b="1" dirty="0">
                <a:latin typeface="Times New Roman" panose="02020603050405020304" pitchFamily="18" charset="0"/>
                <a:cs typeface="Times New Roman" panose="02020603050405020304" pitchFamily="18" charset="0"/>
              </a:rPr>
              <a:t>3. Differential Current Switch Logic</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89BD28-BCBB-2B94-E5F7-0C6486BBAA01}"/>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Differential Current Switch Logic (DCSL) is a high-speed clocked dynamic differential logic style that generates both true and complementary outputs using a differential NMOS pull-down network and cross-coupled PMOS load devices.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DCSL operates using a clock-controlled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and evaluation mechanism, where output nodes are </a:t>
            </a:r>
            <a:r>
              <a:rPr lang="en-US" sz="2200" dirty="0" err="1">
                <a:latin typeface="Times New Roman" panose="02020603050405020304" pitchFamily="18" charset="0"/>
                <a:cs typeface="Times New Roman" panose="02020603050405020304" pitchFamily="18" charset="0"/>
              </a:rPr>
              <a:t>precharged</a:t>
            </a:r>
            <a:r>
              <a:rPr lang="en-US" sz="2200" dirty="0">
                <a:latin typeface="Times New Roman" panose="02020603050405020304" pitchFamily="18" charset="0"/>
                <a:cs typeface="Times New Roman" panose="02020603050405020304" pitchFamily="18" charset="0"/>
              </a:rPr>
              <a:t> during the </a:t>
            </a:r>
            <a:r>
              <a:rPr lang="en-US" sz="2200" dirty="0" err="1">
                <a:latin typeface="Times New Roman" panose="02020603050405020304" pitchFamily="18" charset="0"/>
                <a:cs typeface="Times New Roman" panose="02020603050405020304" pitchFamily="18" charset="0"/>
              </a:rPr>
              <a:t>precharge</a:t>
            </a:r>
            <a:r>
              <a:rPr lang="en-US" sz="2200" dirty="0">
                <a:latin typeface="Times New Roman" panose="02020603050405020304" pitchFamily="18" charset="0"/>
                <a:cs typeface="Times New Roman" panose="02020603050405020304" pitchFamily="18" charset="0"/>
              </a:rPr>
              <a:t> phase and conditionally discharged during the evaluation phase based on the applied input combinations.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During evaluation, only one of the differential output nodes discharges, while the complementary node remains high, thereby producing a full-swing differential output signal.</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Since DCSL relies on dynamic charge storage and eliminates static direct current paths between VDD and GND, it ideally consumes only dynamic switching power.</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C93D29F-6812-CCCE-7046-7603FA478A2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9458513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1B6DA-3FE1-2C90-0664-D6784E5CD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A84F9-A0C2-37FD-D929-B15BA4BE63E8}"/>
              </a:ext>
            </a:extLst>
          </p:cNvPr>
          <p:cNvSpPr>
            <a:spLocks noGrp="1"/>
          </p:cNvSpPr>
          <p:nvPr>
            <p:ph type="title"/>
          </p:nvPr>
        </p:nvSpPr>
        <p:spPr>
          <a:xfrm>
            <a:off x="1761134" y="466211"/>
            <a:ext cx="8911687" cy="1280890"/>
          </a:xfrm>
        </p:spPr>
        <p:txBody>
          <a:bodyPr/>
          <a:lstStyle/>
          <a:p>
            <a:r>
              <a:rPr lang="en-US" b="1" dirty="0">
                <a:latin typeface="Times New Roman" panose="02020603050405020304" pitchFamily="18" charset="0"/>
                <a:cs typeface="Times New Roman" panose="02020603050405020304" pitchFamily="18" charset="0"/>
              </a:rPr>
              <a:t>Differential Current Switch Logic</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BF946E-9DC5-2630-0331-C66A34BB9991}"/>
              </a:ext>
            </a:extLst>
          </p:cNvPr>
          <p:cNvSpPr>
            <a:spLocks noGrp="1"/>
          </p:cNvSpPr>
          <p:nvPr>
            <p:ph idx="1"/>
          </p:nvPr>
        </p:nvSpPr>
        <p:spPr>
          <a:xfrm>
            <a:off x="999243" y="1234646"/>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differential structure of DCSL improves noise immunity, switching speed, and signal integrity compared to single-ended dynamic logic styles.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reduced load capacitance and efficient current steering in the pull-down network, DCSL offers faster switching performance than conventional static CMOS logic.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DCSL requires careful clock distribution and is sensitive to charge leakage and clock-related power consumption.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DCSL is commonly used in high-performance </a:t>
            </a:r>
            <a:r>
              <a:rPr lang="en-US" sz="2400" dirty="0" err="1">
                <a:latin typeface="Times New Roman" panose="02020603050405020304" pitchFamily="18" charset="0"/>
                <a:cs typeface="Times New Roman" panose="02020603050405020304" pitchFamily="18" charset="0"/>
              </a:rPr>
              <a:t>datapath</a:t>
            </a:r>
            <a:r>
              <a:rPr lang="en-US" sz="2400" dirty="0">
                <a:latin typeface="Times New Roman" panose="02020603050405020304" pitchFamily="18" charset="0"/>
                <a:cs typeface="Times New Roman" panose="02020603050405020304" pitchFamily="18" charset="0"/>
              </a:rPr>
              <a:t> circuits, arithmetic units, and speed-critical digital systems where fast evaluation and differential signaling are required.</a:t>
            </a:r>
          </a:p>
        </p:txBody>
      </p:sp>
      <p:sp>
        <p:nvSpPr>
          <p:cNvPr id="4" name="Footer Placeholder 3">
            <a:extLst>
              <a:ext uri="{FF2B5EF4-FFF2-40B4-BE49-F238E27FC236}">
                <a16:creationId xmlns:a16="http://schemas.microsoft.com/office/drawing/2014/main" id="{CF9865A5-F398-50A0-6F28-1C04BB6BC2F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8874597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6556C7-7790-7CE1-368D-C3888BC9AFF7}"/>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36C4716C-2DBF-722B-E399-176577570B13}"/>
              </a:ext>
            </a:extLst>
          </p:cNvPr>
          <p:cNvPicPr>
            <a:picLocks noChangeAspect="1"/>
          </p:cNvPicPr>
          <p:nvPr/>
        </p:nvPicPr>
        <p:blipFill>
          <a:blip r:embed="rId2"/>
          <a:stretch>
            <a:fillRect/>
          </a:stretch>
        </p:blipFill>
        <p:spPr>
          <a:xfrm>
            <a:off x="1732934" y="444648"/>
            <a:ext cx="5143946" cy="5044877"/>
          </a:xfrm>
          <a:prstGeom prst="rect">
            <a:avLst/>
          </a:prstGeom>
        </p:spPr>
      </p:pic>
      <p:pic>
        <p:nvPicPr>
          <p:cNvPr id="6" name="Picture 5">
            <a:extLst>
              <a:ext uri="{FF2B5EF4-FFF2-40B4-BE49-F238E27FC236}">
                <a16:creationId xmlns:a16="http://schemas.microsoft.com/office/drawing/2014/main" id="{7F668673-30F7-B4C3-7F74-5DFFB32D9B7E}"/>
              </a:ext>
            </a:extLst>
          </p:cNvPr>
          <p:cNvPicPr>
            <a:picLocks noChangeAspect="1"/>
          </p:cNvPicPr>
          <p:nvPr/>
        </p:nvPicPr>
        <p:blipFill>
          <a:blip r:embed="rId3"/>
          <a:stretch>
            <a:fillRect/>
          </a:stretch>
        </p:blipFill>
        <p:spPr>
          <a:xfrm>
            <a:off x="6957932" y="642644"/>
            <a:ext cx="5143947" cy="4730634"/>
          </a:xfrm>
          <a:prstGeom prst="rect">
            <a:avLst/>
          </a:prstGeom>
        </p:spPr>
      </p:pic>
      <p:sp>
        <p:nvSpPr>
          <p:cNvPr id="8" name="TextBox 7">
            <a:extLst>
              <a:ext uri="{FF2B5EF4-FFF2-40B4-BE49-F238E27FC236}">
                <a16:creationId xmlns:a16="http://schemas.microsoft.com/office/drawing/2014/main" id="{98CC1177-8934-745C-0A11-6361F47D71CC}"/>
              </a:ext>
            </a:extLst>
          </p:cNvPr>
          <p:cNvSpPr txBox="1"/>
          <p:nvPr/>
        </p:nvSpPr>
        <p:spPr>
          <a:xfrm>
            <a:off x="2132814" y="5577689"/>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12 :</a:t>
            </a:r>
            <a:r>
              <a:rPr lang="en-IN" dirty="0" err="1">
                <a:latin typeface="Times New Roman" panose="02020603050405020304" pitchFamily="18" charset="0"/>
                <a:cs typeface="Times New Roman" panose="02020603050405020304" pitchFamily="18" charset="0"/>
              </a:rPr>
              <a:t>Precharge</a:t>
            </a:r>
            <a:r>
              <a:rPr lang="en-IN" dirty="0">
                <a:latin typeface="Times New Roman" panose="02020603050405020304" pitchFamily="18" charset="0"/>
                <a:cs typeface="Times New Roman" panose="02020603050405020304" pitchFamily="18" charset="0"/>
              </a:rPr>
              <a:t> high DCSL</a:t>
            </a:r>
          </a:p>
        </p:txBody>
      </p:sp>
      <p:sp>
        <p:nvSpPr>
          <p:cNvPr id="10" name="TextBox 9">
            <a:extLst>
              <a:ext uri="{FF2B5EF4-FFF2-40B4-BE49-F238E27FC236}">
                <a16:creationId xmlns:a16="http://schemas.microsoft.com/office/drawing/2014/main" id="{D9898F4D-4D74-5EBE-A352-CFCB06B2DBB2}"/>
              </a:ext>
            </a:extLst>
          </p:cNvPr>
          <p:cNvSpPr txBox="1"/>
          <p:nvPr/>
        </p:nvSpPr>
        <p:spPr>
          <a:xfrm>
            <a:off x="7161997" y="5577689"/>
            <a:ext cx="6094428"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Figure 13: </a:t>
            </a:r>
            <a:r>
              <a:rPr lang="en-IN" dirty="0" err="1">
                <a:latin typeface="Times New Roman" panose="02020603050405020304" pitchFamily="18" charset="0"/>
                <a:cs typeface="Times New Roman" panose="02020603050405020304" pitchFamily="18" charset="0"/>
              </a:rPr>
              <a:t>Precharge</a:t>
            </a:r>
            <a:r>
              <a:rPr lang="en-IN" dirty="0">
                <a:latin typeface="Times New Roman" panose="02020603050405020304" pitchFamily="18" charset="0"/>
                <a:cs typeface="Times New Roman" panose="02020603050405020304" pitchFamily="18" charset="0"/>
              </a:rPr>
              <a:t> low DCSL</a:t>
            </a:r>
          </a:p>
        </p:txBody>
      </p:sp>
    </p:spTree>
    <p:extLst>
      <p:ext uri="{BB962C8B-B14F-4D97-AF65-F5344CB8AC3E}">
        <p14:creationId xmlns:p14="http://schemas.microsoft.com/office/powerpoint/2010/main" val="893375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2F466-D550-1AAD-67BB-98B4104E1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3C0C4-902A-6A97-37F1-BEC558555A13}"/>
              </a:ext>
            </a:extLst>
          </p:cNvPr>
          <p:cNvSpPr>
            <a:spLocks noGrp="1"/>
          </p:cNvSpPr>
          <p:nvPr>
            <p:ph type="title"/>
          </p:nvPr>
        </p:nvSpPr>
        <p:spPr>
          <a:xfrm>
            <a:off x="1761134" y="466211"/>
            <a:ext cx="8911687" cy="1280890"/>
          </a:xfrm>
        </p:spPr>
        <p:txBody>
          <a:bodyPr>
            <a:normAutofit/>
          </a:bodyPr>
          <a:lstStyle/>
          <a:p>
            <a:r>
              <a:rPr lang="en-IN" sz="2800" dirty="0" err="1">
                <a:latin typeface="Times New Roman" panose="02020603050405020304" pitchFamily="18" charset="0"/>
                <a:cs typeface="Times New Roman" panose="02020603050405020304" pitchFamily="18" charset="0"/>
              </a:rPr>
              <a:t>Precharge</a:t>
            </a:r>
            <a:r>
              <a:rPr lang="en-IN" sz="2800" dirty="0">
                <a:latin typeface="Times New Roman" panose="02020603050405020304" pitchFamily="18" charset="0"/>
                <a:cs typeface="Times New Roman" panose="02020603050405020304" pitchFamily="18" charset="0"/>
              </a:rPr>
              <a:t> high DCSL</a:t>
            </a:r>
          </a:p>
        </p:txBody>
      </p:sp>
      <p:sp>
        <p:nvSpPr>
          <p:cNvPr id="3" name="Content Placeholder 2">
            <a:extLst>
              <a:ext uri="{FF2B5EF4-FFF2-40B4-BE49-F238E27FC236}">
                <a16:creationId xmlns:a16="http://schemas.microsoft.com/office/drawing/2014/main" id="{29820A33-954B-7A55-AC32-7884E751E9B8}"/>
              </a:ext>
            </a:extLst>
          </p:cNvPr>
          <p:cNvSpPr>
            <a:spLocks noGrp="1"/>
          </p:cNvSpPr>
          <p:nvPr>
            <p:ph idx="1"/>
          </p:nvPr>
        </p:nvSpPr>
        <p:spPr>
          <a:xfrm>
            <a:off x="999243" y="1234646"/>
            <a:ext cx="10774836" cy="4798509"/>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Phase 1: </a:t>
            </a:r>
            <a:r>
              <a:rPr lang="en-US" b="1" dirty="0" err="1">
                <a:latin typeface="Times New Roman" panose="02020603050405020304" pitchFamily="18" charset="0"/>
                <a:cs typeface="Times New Roman" panose="02020603050405020304" pitchFamily="18" charset="0"/>
              </a:rPr>
              <a:t>Precharge</a:t>
            </a:r>
            <a:r>
              <a:rPr lang="en-US" b="1" dirty="0">
                <a:latin typeface="Times New Roman" panose="02020603050405020304" pitchFamily="18" charset="0"/>
                <a:cs typeface="Times New Roman" panose="02020603050405020304" pitchFamily="18" charset="0"/>
              </a:rPr>
              <a:t> Phase (CLK = LOW)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Both outputs </a:t>
            </a:r>
            <a:r>
              <a:rPr lang="en-US" b="1" dirty="0">
                <a:latin typeface="Times New Roman" panose="02020603050405020304" pitchFamily="18" charset="0"/>
                <a:cs typeface="Times New Roman" panose="02020603050405020304" pitchFamily="18" charset="0"/>
              </a:rPr>
              <a:t>OUT and OUTBAR are </a:t>
            </a:r>
            <a:r>
              <a:rPr lang="en-US" b="1" dirty="0" err="1">
                <a:latin typeface="Times New Roman" panose="02020603050405020304" pitchFamily="18" charset="0"/>
                <a:cs typeface="Times New Roman" panose="02020603050405020304" pitchFamily="18" charset="0"/>
              </a:rPr>
              <a:t>precharged</a:t>
            </a:r>
            <a:r>
              <a:rPr lang="en-US" b="1" dirty="0">
                <a:latin typeface="Times New Roman" panose="02020603050405020304" pitchFamily="18" charset="0"/>
                <a:cs typeface="Times New Roman" panose="02020603050405020304" pitchFamily="18" charset="0"/>
              </a:rPr>
              <a:t> HIGH (VDD)</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Precharge</a:t>
            </a:r>
            <a:r>
              <a:rPr lang="en-US" dirty="0">
                <a:latin typeface="Times New Roman" panose="02020603050405020304" pitchFamily="18" charset="0"/>
                <a:cs typeface="Times New Roman" panose="02020603050405020304" pitchFamily="18" charset="0"/>
              </a:rPr>
              <a:t> transistors are 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Evaluation NMOS tree is inactive.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Outputs are initialized to logic ‘1’.</a:t>
            </a:r>
          </a:p>
          <a:p>
            <a:pPr marL="0" indent="0">
              <a:buNone/>
            </a:pPr>
            <a:r>
              <a:rPr lang="en-US" b="1" dirty="0">
                <a:latin typeface="Times New Roman" panose="02020603050405020304" pitchFamily="18" charset="0"/>
                <a:cs typeface="Times New Roman" panose="02020603050405020304" pitchFamily="18" charset="0"/>
              </a:rPr>
              <a:t> Phase 2: Evaluation Phase (CLK = HIGH)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Clock turns ON evaluation transistors.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Both outputs start discharging through the NMOS tree.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Due to differential input:</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side has a </a:t>
            </a:r>
            <a:r>
              <a:rPr lang="en-US" b="1" dirty="0">
                <a:latin typeface="Times New Roman" panose="02020603050405020304" pitchFamily="18" charset="0"/>
                <a:cs typeface="Times New Roman" panose="02020603050405020304" pitchFamily="18" charset="0"/>
              </a:rPr>
              <a:t>stronger pull-down path</a:t>
            </a:r>
            <a:r>
              <a:rPr lang="en-US"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That output discharges </a:t>
            </a:r>
            <a:r>
              <a:rPr lang="en-US" b="1" dirty="0">
                <a:latin typeface="Times New Roman" panose="02020603050405020304" pitchFamily="18" charset="0"/>
                <a:cs typeface="Times New Roman" panose="02020603050405020304" pitchFamily="18" charset="0"/>
              </a:rPr>
              <a:t>faster</a:t>
            </a:r>
            <a:r>
              <a:rPr lang="en-US" dirty="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24867EB-81E8-5A52-5EC7-FC56C19B567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1575521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5BE6-CC8C-56A9-EC18-AF6DDB987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D722A-04BF-0260-0C4D-F6EA0CA43F41}"/>
              </a:ext>
            </a:extLst>
          </p:cNvPr>
          <p:cNvSpPr>
            <a:spLocks noGrp="1"/>
          </p:cNvSpPr>
          <p:nvPr>
            <p:ph type="title"/>
          </p:nvPr>
        </p:nvSpPr>
        <p:spPr>
          <a:xfrm>
            <a:off x="1761134" y="466211"/>
            <a:ext cx="8911687" cy="1280890"/>
          </a:xfrm>
        </p:spPr>
        <p:txBody>
          <a:bodyPr>
            <a:normAutofit/>
          </a:bodyPr>
          <a:lstStyle/>
          <a:p>
            <a:r>
              <a:rPr lang="en-IN" sz="2800" dirty="0" err="1">
                <a:latin typeface="Times New Roman" panose="02020603050405020304" pitchFamily="18" charset="0"/>
                <a:cs typeface="Times New Roman" panose="02020603050405020304" pitchFamily="18" charset="0"/>
              </a:rPr>
              <a:t>Precharge</a:t>
            </a:r>
            <a:r>
              <a:rPr lang="en-IN" sz="2800" dirty="0">
                <a:latin typeface="Times New Roman" panose="02020603050405020304" pitchFamily="18" charset="0"/>
                <a:cs typeface="Times New Roman" panose="02020603050405020304" pitchFamily="18" charset="0"/>
              </a:rPr>
              <a:t> high DCSL</a:t>
            </a:r>
          </a:p>
        </p:txBody>
      </p:sp>
      <p:sp>
        <p:nvSpPr>
          <p:cNvPr id="3" name="Content Placeholder 2">
            <a:extLst>
              <a:ext uri="{FF2B5EF4-FFF2-40B4-BE49-F238E27FC236}">
                <a16:creationId xmlns:a16="http://schemas.microsoft.com/office/drawing/2014/main" id="{4087303B-9149-B497-069D-52AB00FA5B65}"/>
              </a:ext>
            </a:extLst>
          </p:cNvPr>
          <p:cNvSpPr>
            <a:spLocks noGrp="1"/>
          </p:cNvSpPr>
          <p:nvPr>
            <p:ph idx="1"/>
          </p:nvPr>
        </p:nvSpPr>
        <p:spPr>
          <a:xfrm>
            <a:off x="999243" y="1234646"/>
            <a:ext cx="10774836" cy="4798509"/>
          </a:xfrm>
        </p:spPr>
        <p:txBody>
          <a:bodyPr>
            <a:no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cross-coupled inverter acts as a </a:t>
            </a:r>
            <a:r>
              <a:rPr lang="en-US" b="1" dirty="0">
                <a:latin typeface="Times New Roman" panose="02020603050405020304" pitchFamily="18" charset="0"/>
                <a:cs typeface="Times New Roman" panose="02020603050405020304" pitchFamily="18" charset="0"/>
              </a:rPr>
              <a:t>sense amplifier</a:t>
            </a:r>
            <a:r>
              <a:rPr lang="en-US"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Amplifies the small voltage difference.</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Forces one output LOW.</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Forces the other HIGH.</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Key Feature: Automatic Lock-Out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one output goes LOW:</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Transistor T8 cuts off the NMOS tree from the HIGH output.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disconnects the winning HIGH output from ground.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Prevents further discharge.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evaluation:</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DC path from VDD to GND exists.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Inputs cannot disturb the output.</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7927662-50A4-0FDD-79DC-C2755269B81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6164237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FFC95-48AA-321D-BAC4-6854A8F86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8FC3B-21D8-7B83-5A37-1D225B4B73AF}"/>
              </a:ext>
            </a:extLst>
          </p:cNvPr>
          <p:cNvSpPr>
            <a:spLocks noGrp="1"/>
          </p:cNvSpPr>
          <p:nvPr>
            <p:ph type="title"/>
          </p:nvPr>
        </p:nvSpPr>
        <p:spPr>
          <a:xfrm>
            <a:off x="1761134" y="466211"/>
            <a:ext cx="8911687" cy="1280890"/>
          </a:xfrm>
        </p:spPr>
        <p:txBody>
          <a:bodyPr>
            <a:normAutofit/>
          </a:bodyPr>
          <a:lstStyle/>
          <a:p>
            <a:r>
              <a:rPr lang="en-IN" sz="2800" dirty="0" err="1">
                <a:latin typeface="Times New Roman" panose="02020603050405020304" pitchFamily="18" charset="0"/>
                <a:cs typeface="Times New Roman" panose="02020603050405020304" pitchFamily="18" charset="0"/>
              </a:rPr>
              <a:t>Precharge</a:t>
            </a:r>
            <a:r>
              <a:rPr lang="en-IN" sz="2800" dirty="0">
                <a:latin typeface="Times New Roman" panose="02020603050405020304" pitchFamily="18" charset="0"/>
                <a:cs typeface="Times New Roman" panose="02020603050405020304" pitchFamily="18" charset="0"/>
              </a:rPr>
              <a:t> low DCSL</a:t>
            </a:r>
          </a:p>
        </p:txBody>
      </p:sp>
      <p:sp>
        <p:nvSpPr>
          <p:cNvPr id="3" name="Content Placeholder 2">
            <a:extLst>
              <a:ext uri="{FF2B5EF4-FFF2-40B4-BE49-F238E27FC236}">
                <a16:creationId xmlns:a16="http://schemas.microsoft.com/office/drawing/2014/main" id="{0B702FA7-1D57-DE77-4A91-64C35EBD6379}"/>
              </a:ext>
            </a:extLst>
          </p:cNvPr>
          <p:cNvSpPr>
            <a:spLocks noGrp="1"/>
          </p:cNvSpPr>
          <p:nvPr>
            <p:ph idx="1"/>
          </p:nvPr>
        </p:nvSpPr>
        <p:spPr>
          <a:xfrm>
            <a:off x="999243" y="1234646"/>
            <a:ext cx="10774836" cy="4798509"/>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Phase 1: </a:t>
            </a:r>
            <a:r>
              <a:rPr lang="en-US" b="1" dirty="0" err="1">
                <a:latin typeface="Times New Roman" panose="02020603050405020304" pitchFamily="18" charset="0"/>
                <a:cs typeface="Times New Roman" panose="02020603050405020304" pitchFamily="18" charset="0"/>
              </a:rPr>
              <a:t>Precharge</a:t>
            </a:r>
            <a:r>
              <a:rPr lang="en-US" b="1" dirty="0">
                <a:latin typeface="Times New Roman" panose="02020603050405020304" pitchFamily="18" charset="0"/>
                <a:cs typeface="Times New Roman" panose="02020603050405020304" pitchFamily="18" charset="0"/>
              </a:rPr>
              <a:t> Phase (CLK = LOW)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Outputs are </a:t>
            </a:r>
            <a:r>
              <a:rPr lang="en-US" b="1" dirty="0">
                <a:latin typeface="Times New Roman" panose="02020603050405020304" pitchFamily="18" charset="0"/>
                <a:cs typeface="Times New Roman" panose="02020603050405020304" pitchFamily="18" charset="0"/>
              </a:rPr>
              <a:t>charged LOW (GND)</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Clock load is smaller compared to </a:t>
            </a:r>
            <a:r>
              <a:rPr lang="en-US" dirty="0" err="1">
                <a:latin typeface="Times New Roman" panose="02020603050405020304" pitchFamily="18" charset="0"/>
                <a:cs typeface="Times New Roman" panose="02020603050405020304" pitchFamily="18" charset="0"/>
              </a:rPr>
              <a:t>precharge</a:t>
            </a:r>
            <a:r>
              <a:rPr lang="en-US" dirty="0">
                <a:latin typeface="Times New Roman" panose="02020603050405020304" pitchFamily="18" charset="0"/>
                <a:cs typeface="Times New Roman" panose="02020603050405020304" pitchFamily="18" charset="0"/>
              </a:rPr>
              <a:t>-high version.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Circuit is initialized to logic ‘0’.</a:t>
            </a:r>
          </a:p>
          <a:p>
            <a:pPr marL="0" indent="0">
              <a:buNone/>
            </a:pPr>
            <a:r>
              <a:rPr lang="en-US" b="1" dirty="0">
                <a:latin typeface="Times New Roman" panose="02020603050405020304" pitchFamily="18" charset="0"/>
                <a:cs typeface="Times New Roman" panose="02020603050405020304" pitchFamily="18" charset="0"/>
              </a:rPr>
              <a:t>Phase 2: Evaluation Phase (CLK = HIGH)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NMOS tree evaluates differential currents.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side pulls up faster than the other.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Cross-coupled inverter senses the imbalance.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output goes HIGH, the other stays LOW.</a:t>
            </a:r>
          </a:p>
          <a:p>
            <a:pPr marL="0" indent="0">
              <a:buNone/>
            </a:pPr>
            <a:r>
              <a:rPr lang="en-US" b="1" dirty="0">
                <a:latin typeface="Times New Roman" panose="02020603050405020304" pitchFamily="18" charset="0"/>
                <a:cs typeface="Times New Roman" panose="02020603050405020304" pitchFamily="18" charset="0"/>
              </a:rPr>
              <a:t> Important Characteristics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Produces completion signal (DONE).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Even lower internal voltage swings (~0.5V)</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8B6AB07-DE01-5DAE-53E3-382A3BE78C3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1702836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D872-9CEF-D968-2579-9F2A188DB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B0106-C635-8A8F-8A49-79979C40ECF3}"/>
              </a:ext>
            </a:extLst>
          </p:cNvPr>
          <p:cNvSpPr>
            <a:spLocks noGrp="1"/>
          </p:cNvSpPr>
          <p:nvPr>
            <p:ph type="title"/>
          </p:nvPr>
        </p:nvSpPr>
        <p:spPr>
          <a:xfrm>
            <a:off x="1761134" y="466211"/>
            <a:ext cx="8911687" cy="1280890"/>
          </a:xfrm>
        </p:spPr>
        <p:txBody>
          <a:bodyPr>
            <a:normAutofit/>
          </a:bodyPr>
          <a:lstStyle/>
          <a:p>
            <a:r>
              <a:rPr lang="en-IN" sz="2800" dirty="0" err="1">
                <a:latin typeface="Times New Roman" panose="02020603050405020304" pitchFamily="18" charset="0"/>
                <a:cs typeface="Times New Roman" panose="02020603050405020304" pitchFamily="18" charset="0"/>
              </a:rPr>
              <a:t>Precharge</a:t>
            </a:r>
            <a:r>
              <a:rPr lang="en-IN" sz="2800" dirty="0">
                <a:latin typeface="Times New Roman" panose="02020603050405020304" pitchFamily="18" charset="0"/>
                <a:cs typeface="Times New Roman" panose="02020603050405020304" pitchFamily="18" charset="0"/>
              </a:rPr>
              <a:t> low DCSL</a:t>
            </a:r>
          </a:p>
        </p:txBody>
      </p:sp>
      <p:sp>
        <p:nvSpPr>
          <p:cNvPr id="3" name="Content Placeholder 2">
            <a:extLst>
              <a:ext uri="{FF2B5EF4-FFF2-40B4-BE49-F238E27FC236}">
                <a16:creationId xmlns:a16="http://schemas.microsoft.com/office/drawing/2014/main" id="{3556F034-57D5-8CDC-8C75-EEEDF68EDE69}"/>
              </a:ext>
            </a:extLst>
          </p:cNvPr>
          <p:cNvSpPr>
            <a:spLocks noGrp="1"/>
          </p:cNvSpPr>
          <p:nvPr>
            <p:ph idx="1"/>
          </p:nvPr>
        </p:nvSpPr>
        <p:spPr>
          <a:xfrm>
            <a:off x="999243" y="1234646"/>
            <a:ext cx="10774836" cy="4798509"/>
          </a:xfrm>
        </p:spPr>
        <p:txBody>
          <a:bodyPr>
            <a:no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Lower clock loading.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More sensitive to imbalance — requires careful layout.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79C6AAE-05EE-AB2F-86BB-8776C83680B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0409287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7749-84F4-A97E-8FDA-6994DA540C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E98CA-E8FC-6DFC-1371-7BE2D9ABDA55}"/>
              </a:ext>
            </a:extLst>
          </p:cNvPr>
          <p:cNvSpPr>
            <a:spLocks noGrp="1"/>
          </p:cNvSpPr>
          <p:nvPr>
            <p:ph idx="1"/>
          </p:nvPr>
        </p:nvSpPr>
        <p:spPr>
          <a:xfrm>
            <a:off x="1583703" y="697584"/>
            <a:ext cx="9920909" cy="5213638"/>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Advantages</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Very High Speed – Fast switching due to differential current steering.</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Voltage Operation – Works efficiently at reduced supply voltages.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Good Noise Immunity – Differential operation improves noise rejection.</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Simultaneous Complementary Outputs – No need for extra inverter.</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Reduced Voltage Swing (in some designs) – Faster transitions.</a:t>
            </a:r>
          </a:p>
          <a:p>
            <a:pPr marL="0" indent="0">
              <a:buNone/>
            </a:pPr>
            <a:r>
              <a:rPr lang="en-US" sz="2400" b="1" dirty="0">
                <a:latin typeface="Times New Roman" panose="02020603050405020304" pitchFamily="18" charset="0"/>
                <a:cs typeface="Times New Roman" panose="02020603050405020304" pitchFamily="18" charset="0"/>
              </a:rPr>
              <a:t>Disadvantages</a:t>
            </a:r>
            <a:r>
              <a:rPr lang="en-US" sz="2000" b="1"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Transistor Count – Needs differential structure.</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Larger Area – More devices compared to simple CMOS.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Dynamic Power – Two outputs switching simultaneously.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 Complexity – Careful matching required.</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Layout Sensitivity – Differential circuits need symmetry.</a:t>
            </a:r>
          </a:p>
          <a:p>
            <a:pPr marL="0" indent="0">
              <a:buNone/>
            </a:pPr>
            <a:endParaRPr lang="en-IN" dirty="0"/>
          </a:p>
        </p:txBody>
      </p:sp>
      <p:sp>
        <p:nvSpPr>
          <p:cNvPr id="4" name="Footer Placeholder 3">
            <a:extLst>
              <a:ext uri="{FF2B5EF4-FFF2-40B4-BE49-F238E27FC236}">
                <a16:creationId xmlns:a16="http://schemas.microsoft.com/office/drawing/2014/main" id="{4277FBB0-39F3-818A-C8BC-C0953CE4FC79}"/>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1316361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8D3BD-7839-8530-4A17-F7AD62B9F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B2CC0-8D86-3692-DAD5-85EE86BFD209}"/>
              </a:ext>
            </a:extLst>
          </p:cNvPr>
          <p:cNvSpPr>
            <a:spLocks noGrp="1"/>
          </p:cNvSpPr>
          <p:nvPr>
            <p:ph type="title"/>
          </p:nvPr>
        </p:nvSpPr>
        <p:spPr>
          <a:xfrm>
            <a:off x="1459477" y="337974"/>
            <a:ext cx="10314602" cy="724225"/>
          </a:xfrm>
        </p:spPr>
        <p:txBody>
          <a:bodyPr>
            <a:normAutofit fontScale="90000"/>
          </a:bodyPr>
          <a:lstStyle/>
          <a:p>
            <a:br>
              <a:rPr lang="en-US" sz="3200" b="1" dirty="0">
                <a:solidFill>
                  <a:srgbClr val="FF0000"/>
                </a:solidFill>
                <a:latin typeface="Times New Roman" panose="02020603050405020304" pitchFamily="18" charset="0"/>
                <a:cs typeface="Times New Roman" panose="02020603050405020304" pitchFamily="18" charset="0"/>
              </a:rPr>
            </a:br>
            <a:r>
              <a:rPr lang="en-US" sz="3200" b="1" dirty="0">
                <a:solidFill>
                  <a:srgbClr val="FF0000"/>
                </a:solidFill>
                <a:latin typeface="Times New Roman" panose="02020603050405020304" pitchFamily="18" charset="0"/>
                <a:cs typeface="Times New Roman" panose="02020603050405020304" pitchFamily="18" charset="0"/>
              </a:rPr>
              <a:t>3.3 Leakage Current in deep sub micrometer transistors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A375A7-FBB5-3BAE-7FA3-02D1E69E0AD2}"/>
              </a:ext>
            </a:extLst>
          </p:cNvPr>
          <p:cNvSpPr>
            <a:spLocks noGrp="1"/>
          </p:cNvSpPr>
          <p:nvPr>
            <p:ph idx="1"/>
          </p:nvPr>
        </p:nvSpPr>
        <p:spPr>
          <a:xfrm>
            <a:off x="999243" y="1618864"/>
            <a:ext cx="10774836" cy="4388707"/>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deep </a:t>
            </a:r>
            <a:r>
              <a:rPr lang="en-US" sz="2400" dirty="0" err="1">
                <a:latin typeface="Times New Roman" panose="02020603050405020304" pitchFamily="18" charset="0"/>
                <a:cs typeface="Times New Roman" panose="02020603050405020304" pitchFamily="18" charset="0"/>
              </a:rPr>
              <a:t>submicrometer</a:t>
            </a:r>
            <a:r>
              <a:rPr lang="en-US" sz="2400" dirty="0">
                <a:latin typeface="Times New Roman" panose="02020603050405020304" pitchFamily="18" charset="0"/>
                <a:cs typeface="Times New Roman" panose="02020603050405020304" pitchFamily="18" charset="0"/>
              </a:rPr>
              <a:t> (DSM) transistors (technology nodes &lt; 0.25 µm, especially &lt; 90 nm), leakage current becomes a major design concern because device dimensions and threshold voltages are aggressively scaled.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Leakage current is the unwanted current that flows when a transistor is supposed to be OFF (V</a:t>
            </a:r>
            <a:r>
              <a:rPr lang="en-US" sz="2400" baseline="-25000" dirty="0">
                <a:latin typeface="Times New Roman" panose="02020603050405020304" pitchFamily="18" charset="0"/>
                <a:cs typeface="Times New Roman" panose="02020603050405020304" pitchFamily="18" charset="0"/>
              </a:rPr>
              <a:t>GS</a:t>
            </a:r>
            <a:r>
              <a:rPr lang="en-US" sz="2400" dirty="0">
                <a:latin typeface="Times New Roman" panose="02020603050405020304" pitchFamily="18" charset="0"/>
                <a:cs typeface="Times New Roman" panose="02020603050405020304" pitchFamily="18" charset="0"/>
              </a:rPr>
              <a:t> &lt; V</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But in deep submicron technologies: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OFF-state current contributes to static power dissipation.</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3FB64CD-3DF1-F692-44A1-2E7040F739F4}"/>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2B65450E-BFDE-4897-DAAA-53BDC99F8A74}"/>
              </a:ext>
            </a:extLst>
          </p:cNvPr>
          <p:cNvPicPr>
            <a:picLocks noChangeAspect="1"/>
          </p:cNvPicPr>
          <p:nvPr/>
        </p:nvPicPr>
        <p:blipFill>
          <a:blip r:embed="rId2"/>
          <a:stretch>
            <a:fillRect/>
          </a:stretch>
        </p:blipFill>
        <p:spPr>
          <a:xfrm>
            <a:off x="4403770" y="3729889"/>
            <a:ext cx="2743438" cy="510584"/>
          </a:xfrm>
          <a:prstGeom prst="rect">
            <a:avLst/>
          </a:prstGeom>
        </p:spPr>
      </p:pic>
      <p:pic>
        <p:nvPicPr>
          <p:cNvPr id="8" name="Picture 7">
            <a:extLst>
              <a:ext uri="{FF2B5EF4-FFF2-40B4-BE49-F238E27FC236}">
                <a16:creationId xmlns:a16="http://schemas.microsoft.com/office/drawing/2014/main" id="{5D4BCC02-E001-16F8-E5F1-FDA72601007E}"/>
              </a:ext>
            </a:extLst>
          </p:cNvPr>
          <p:cNvPicPr>
            <a:picLocks noChangeAspect="1"/>
          </p:cNvPicPr>
          <p:nvPr/>
        </p:nvPicPr>
        <p:blipFill>
          <a:blip r:embed="rId3"/>
          <a:stretch>
            <a:fillRect/>
          </a:stretch>
        </p:blipFill>
        <p:spPr>
          <a:xfrm>
            <a:off x="5484732" y="4797138"/>
            <a:ext cx="914479" cy="441998"/>
          </a:xfrm>
          <a:prstGeom prst="rect">
            <a:avLst/>
          </a:prstGeom>
        </p:spPr>
      </p:pic>
    </p:spTree>
    <p:extLst>
      <p:ext uri="{BB962C8B-B14F-4D97-AF65-F5344CB8AC3E}">
        <p14:creationId xmlns:p14="http://schemas.microsoft.com/office/powerpoint/2010/main" val="1995405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95B9D-F057-9ABD-DD61-078A38B24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2B2E1-1FA2-62A6-4987-FC1D531EAC26}"/>
              </a:ext>
            </a:extLst>
          </p:cNvPr>
          <p:cNvSpPr>
            <a:spLocks noGrp="1"/>
          </p:cNvSpPr>
          <p:nvPr>
            <p:ph type="title"/>
          </p:nvPr>
        </p:nvSpPr>
        <p:spPr>
          <a:xfrm>
            <a:off x="1525464" y="81746"/>
            <a:ext cx="8911687" cy="1280890"/>
          </a:xfrm>
        </p:spPr>
        <p:txBody>
          <a:bodyPr/>
          <a:lstStyle/>
          <a:p>
            <a:r>
              <a:rPr lang="en-US" b="1" dirty="0">
                <a:latin typeface="Times New Roman" panose="02020603050405020304" pitchFamily="18" charset="0"/>
                <a:cs typeface="Times New Roman" panose="02020603050405020304" pitchFamily="18" charset="0"/>
              </a:rPr>
              <a:t>Leakage Current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B394E7-6B50-6AE4-5334-ECCE85F03CCA}"/>
              </a:ext>
            </a:extLst>
          </p:cNvPr>
          <p:cNvSpPr>
            <a:spLocks noGrp="1"/>
          </p:cNvSpPr>
          <p:nvPr>
            <p:ph idx="1"/>
          </p:nvPr>
        </p:nvSpPr>
        <p:spPr>
          <a:xfrm>
            <a:off x="1253766" y="722191"/>
            <a:ext cx="10774836" cy="491503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CMOS technology scales into the deep </a:t>
            </a:r>
            <a:r>
              <a:rPr lang="en-US" sz="2400" dirty="0" err="1">
                <a:latin typeface="Times New Roman" panose="02020603050405020304" pitchFamily="18" charset="0"/>
                <a:cs typeface="Times New Roman" panose="02020603050405020304" pitchFamily="18" charset="0"/>
              </a:rPr>
              <a:t>submicrometer</a:t>
            </a:r>
            <a:r>
              <a:rPr lang="en-US" sz="2400" dirty="0">
                <a:latin typeface="Times New Roman" panose="02020603050405020304" pitchFamily="18" charset="0"/>
                <a:cs typeface="Times New Roman" panose="02020603050405020304" pitchFamily="18" charset="0"/>
              </a:rPr>
              <a:t> regime, leakage current becomes a significant contributor to total power dissipation. Reduction in channel length, oxide thickness, and threshold voltage leads to several leakage components that were negligible in long-channel devices.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major leakage mechanisms are:</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Reverse-biased </a:t>
            </a:r>
            <a:r>
              <a:rPr lang="en-IN" sz="2200" dirty="0" err="1">
                <a:latin typeface="Times New Roman" panose="02020603050405020304" pitchFamily="18" charset="0"/>
                <a:cs typeface="Times New Roman" panose="02020603050405020304" pitchFamily="18" charset="0"/>
              </a:rPr>
              <a:t>pn</a:t>
            </a:r>
            <a:r>
              <a:rPr lang="en-IN" sz="2200" dirty="0">
                <a:latin typeface="Times New Roman" panose="02020603050405020304" pitchFamily="18" charset="0"/>
                <a:cs typeface="Times New Roman" panose="02020603050405020304" pitchFamily="18" charset="0"/>
              </a:rPr>
              <a:t> junction leakage</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Subthreshold leakage</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Gate oxide </a:t>
            </a:r>
            <a:r>
              <a:rPr lang="en-IN" sz="2200" dirty="0" err="1">
                <a:latin typeface="Times New Roman" panose="02020603050405020304" pitchFamily="18" charset="0"/>
                <a:cs typeface="Times New Roman" panose="02020603050405020304" pitchFamily="18" charset="0"/>
              </a:rPr>
              <a:t>tunneling</a:t>
            </a:r>
            <a:r>
              <a:rPr lang="en-IN" sz="2200" dirty="0">
                <a:latin typeface="Times New Roman" panose="02020603050405020304" pitchFamily="18" charset="0"/>
                <a:cs typeface="Times New Roman" panose="02020603050405020304" pitchFamily="18" charset="0"/>
              </a:rPr>
              <a:t> leakage</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Hot carrier injection</a:t>
            </a:r>
          </a:p>
          <a:p>
            <a:pPr lvl="1"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Gate-Induced Drain Leakage (GIDL)</a:t>
            </a:r>
          </a:p>
          <a:p>
            <a:pPr lvl="1" algn="just">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Punchthrough</a:t>
            </a:r>
            <a:r>
              <a:rPr lang="en-IN" sz="2200" dirty="0">
                <a:latin typeface="Times New Roman" panose="02020603050405020304" pitchFamily="18" charset="0"/>
                <a:cs typeface="Times New Roman" panose="02020603050405020304" pitchFamily="18" charset="0"/>
              </a:rPr>
              <a:t> leakage</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8FD01FF-08C3-C0C8-89FC-C9024D69C15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6082892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7D17D9-C937-F01D-9F68-4E274E8ED11D}"/>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6DD19EC-912D-F4E3-DFF3-07414D31BEF1}"/>
              </a:ext>
            </a:extLst>
          </p:cNvPr>
          <p:cNvPicPr>
            <a:picLocks noChangeAspect="1"/>
          </p:cNvPicPr>
          <p:nvPr/>
        </p:nvPicPr>
        <p:blipFill>
          <a:blip r:embed="rId2"/>
          <a:stretch>
            <a:fillRect/>
          </a:stretch>
        </p:blipFill>
        <p:spPr>
          <a:xfrm>
            <a:off x="3114706" y="1140132"/>
            <a:ext cx="6569009" cy="3635055"/>
          </a:xfrm>
          <a:prstGeom prst="rect">
            <a:avLst/>
          </a:prstGeom>
        </p:spPr>
      </p:pic>
      <p:sp>
        <p:nvSpPr>
          <p:cNvPr id="6" name="TextBox 5">
            <a:extLst>
              <a:ext uri="{FF2B5EF4-FFF2-40B4-BE49-F238E27FC236}">
                <a16:creationId xmlns:a16="http://schemas.microsoft.com/office/drawing/2014/main" id="{2D48729D-A5BD-F592-6C8D-EC096AD9B9C0}"/>
              </a:ext>
            </a:extLst>
          </p:cNvPr>
          <p:cNvSpPr txBox="1"/>
          <p:nvPr/>
        </p:nvSpPr>
        <p:spPr>
          <a:xfrm>
            <a:off x="2102177" y="5010773"/>
            <a:ext cx="8315945"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13: Summary of leakage current mechanisms of deep-</a:t>
            </a:r>
            <a:r>
              <a:rPr lang="en-US" dirty="0" err="1">
                <a:latin typeface="Times New Roman" panose="02020603050405020304" pitchFamily="18" charset="0"/>
                <a:cs typeface="Times New Roman" panose="02020603050405020304" pitchFamily="18" charset="0"/>
              </a:rPr>
              <a:t>submicrometer</a:t>
            </a:r>
            <a:r>
              <a:rPr lang="en-US" dirty="0">
                <a:latin typeface="Times New Roman" panose="02020603050405020304" pitchFamily="18" charset="0"/>
                <a:cs typeface="Times New Roman" panose="02020603050405020304" pitchFamily="18" charset="0"/>
              </a:rPr>
              <a:t> transistors</a:t>
            </a:r>
            <a:r>
              <a:rPr lang="en-US" dirty="0"/>
              <a:t>.</a:t>
            </a:r>
            <a:endParaRPr lang="en-IN" dirty="0"/>
          </a:p>
        </p:txBody>
      </p:sp>
    </p:spTree>
    <p:extLst>
      <p:ext uri="{BB962C8B-B14F-4D97-AF65-F5344CB8AC3E}">
        <p14:creationId xmlns:p14="http://schemas.microsoft.com/office/powerpoint/2010/main" val="28074314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515C1-1B9E-D500-640D-C72DCE459CB0}"/>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Reverse-Bias </a:t>
            </a:r>
            <a:r>
              <a:rPr lang="en-IN" b="1" dirty="0" err="1">
                <a:latin typeface="Times New Roman" panose="02020603050405020304" pitchFamily="18" charset="0"/>
                <a:cs typeface="Times New Roman" panose="02020603050405020304" pitchFamily="18" charset="0"/>
              </a:rPr>
              <a:t>pn</a:t>
            </a:r>
            <a:r>
              <a:rPr lang="en-IN" b="1" dirty="0">
                <a:latin typeface="Times New Roman" panose="02020603050405020304" pitchFamily="18" charset="0"/>
                <a:cs typeface="Times New Roman" panose="02020603050405020304" pitchFamily="18" charset="0"/>
              </a:rPr>
              <a:t> Junction Leakage</a:t>
            </a:r>
          </a:p>
        </p:txBody>
      </p:sp>
      <p:sp>
        <p:nvSpPr>
          <p:cNvPr id="3" name="Content Placeholder 2">
            <a:extLst>
              <a:ext uri="{FF2B5EF4-FFF2-40B4-BE49-F238E27FC236}">
                <a16:creationId xmlns:a16="http://schemas.microsoft.com/office/drawing/2014/main" id="{7DCD3242-A2B5-49FD-EA01-FFE4DD57AA51}"/>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Drain and source to well junctions are typically reverse biased, causing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leakage current.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reverse-bias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leakage (I</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has two main components: </a:t>
            </a:r>
          </a:p>
          <a:p>
            <a:pPr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minority carrier diffusion/drift near the edge of the depletion region.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ii) electron-hole pair generation in the depletion region of the reverse-biased junction.</a:t>
            </a:r>
          </a:p>
          <a:p>
            <a:pPr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reverse-bias leakage is a function of junction area and doping concentration.  	If both n and p regions are heavily doped band-to-band tunneling (BTBT) dominates the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leakage.</a:t>
            </a:r>
          </a:p>
          <a:p>
            <a:pPr marL="0" indent="0" algn="just">
              <a:lnSpc>
                <a:spcPct val="150000"/>
              </a:lnSpc>
              <a:buNone/>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5A51935-9F9C-D77F-B0AA-8DFCA19A6F1F}"/>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4973435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79A2B-40EB-E6A7-2BD7-D074F1824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FAB70-D360-F36A-4F2B-B68C2B9890CD}"/>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Reverse-Bias </a:t>
            </a:r>
            <a:r>
              <a:rPr lang="en-IN" b="1" dirty="0" err="1">
                <a:latin typeface="Times New Roman" panose="02020603050405020304" pitchFamily="18" charset="0"/>
                <a:cs typeface="Times New Roman" panose="02020603050405020304" pitchFamily="18" charset="0"/>
              </a:rPr>
              <a:t>pn</a:t>
            </a:r>
            <a:r>
              <a:rPr lang="en-IN" b="1" dirty="0">
                <a:latin typeface="Times New Roman" panose="02020603050405020304" pitchFamily="18" charset="0"/>
                <a:cs typeface="Times New Roman" panose="02020603050405020304" pitchFamily="18" charset="0"/>
              </a:rPr>
              <a:t> Junction Leakage</a:t>
            </a:r>
          </a:p>
        </p:txBody>
      </p:sp>
      <p:sp>
        <p:nvSpPr>
          <p:cNvPr id="3" name="Content Placeholder 2">
            <a:extLst>
              <a:ext uri="{FF2B5EF4-FFF2-40B4-BE49-F238E27FC236}">
                <a16:creationId xmlns:a16="http://schemas.microsoft.com/office/drawing/2014/main" id="{986C8E3E-2E70-63C4-1426-4471A8694792}"/>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Band-to-Band Tunneling Current: </a:t>
            </a:r>
            <a:r>
              <a:rPr lang="en-US" sz="2200" dirty="0">
                <a:latin typeface="Times New Roman" panose="02020603050405020304" pitchFamily="18" charset="0"/>
                <a:cs typeface="Times New Roman" panose="02020603050405020304" pitchFamily="18" charset="0"/>
              </a:rPr>
              <a:t>High electric field (&gt;10</a:t>
            </a:r>
            <a:r>
              <a:rPr lang="en-US" sz="2200" baseline="30000" dirty="0">
                <a:latin typeface="Times New Roman" panose="02020603050405020304" pitchFamily="18" charset="0"/>
                <a:cs typeface="Times New Roman" panose="02020603050405020304" pitchFamily="18" charset="0"/>
              </a:rPr>
              <a:t>6</a:t>
            </a:r>
            <a:r>
              <a:rPr lang="en-US" sz="2200" dirty="0">
                <a:latin typeface="Times New Roman" panose="02020603050405020304" pitchFamily="18" charset="0"/>
                <a:cs typeface="Times New Roman" panose="02020603050405020304" pitchFamily="18" charset="0"/>
              </a:rPr>
              <a:t> V/cm) across the reverse-biased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causes significant current to flow through the junction due to tunneling of electrons from the valence band of the p region to the conduction band of the n region.</a:t>
            </a:r>
          </a:p>
          <a:p>
            <a:pPr marL="0" indent="0" algn="just">
              <a:buNone/>
            </a:pPr>
            <a:r>
              <a:rPr lang="en-US" sz="22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A0480F1-A37B-BC37-69F2-AB1A90575D0F}"/>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A33AE2DB-0438-20DE-6592-37E468054326}"/>
              </a:ext>
            </a:extLst>
          </p:cNvPr>
          <p:cNvPicPr>
            <a:picLocks noChangeAspect="1"/>
          </p:cNvPicPr>
          <p:nvPr/>
        </p:nvPicPr>
        <p:blipFill>
          <a:blip r:embed="rId2"/>
          <a:stretch>
            <a:fillRect/>
          </a:stretch>
        </p:blipFill>
        <p:spPr>
          <a:xfrm>
            <a:off x="3897439" y="2801206"/>
            <a:ext cx="4397121" cy="2895851"/>
          </a:xfrm>
          <a:prstGeom prst="rect">
            <a:avLst/>
          </a:prstGeom>
        </p:spPr>
      </p:pic>
      <p:sp>
        <p:nvSpPr>
          <p:cNvPr id="8" name="TextBox 7">
            <a:extLst>
              <a:ext uri="{FF2B5EF4-FFF2-40B4-BE49-F238E27FC236}">
                <a16:creationId xmlns:a16="http://schemas.microsoft.com/office/drawing/2014/main" id="{88647AAC-D67F-AFD6-AD43-C9E61E9B1E6F}"/>
              </a:ext>
            </a:extLst>
          </p:cNvPr>
          <p:cNvSpPr txBox="1"/>
          <p:nvPr/>
        </p:nvSpPr>
        <p:spPr>
          <a:xfrm>
            <a:off x="3897439" y="5710436"/>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14: BTBT in reverse-biased </a:t>
            </a:r>
            <a:r>
              <a:rPr lang="en-US" dirty="0" err="1">
                <a:latin typeface="Times New Roman" panose="02020603050405020304" pitchFamily="18" charset="0"/>
                <a:cs typeface="Times New Roman" panose="02020603050405020304" pitchFamily="18" charset="0"/>
              </a:rPr>
              <a:t>pn</a:t>
            </a:r>
            <a:r>
              <a:rPr lang="en-US" dirty="0">
                <a:latin typeface="Times New Roman" panose="02020603050405020304" pitchFamily="18" charset="0"/>
                <a:cs typeface="Times New Roman" panose="02020603050405020304" pitchFamily="18" charset="0"/>
              </a:rPr>
              <a:t> junction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387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2F54E-DFF7-9509-EC69-148811B59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9D27-FBC3-D36F-1AEA-6E5F42328788}"/>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Reverse-Bias </a:t>
            </a:r>
            <a:r>
              <a:rPr lang="en-IN" b="1" dirty="0" err="1">
                <a:latin typeface="Times New Roman" panose="02020603050405020304" pitchFamily="18" charset="0"/>
                <a:cs typeface="Times New Roman" panose="02020603050405020304" pitchFamily="18" charset="0"/>
              </a:rPr>
              <a:t>pn</a:t>
            </a:r>
            <a:r>
              <a:rPr lang="en-IN" b="1" dirty="0">
                <a:latin typeface="Times New Roman" panose="02020603050405020304" pitchFamily="18" charset="0"/>
                <a:cs typeface="Times New Roman" panose="02020603050405020304" pitchFamily="18" charset="0"/>
              </a:rPr>
              <a:t> Junction Leakage</a:t>
            </a:r>
          </a:p>
        </p:txBody>
      </p:sp>
      <p:sp>
        <p:nvSpPr>
          <p:cNvPr id="3" name="Content Placeholder 2">
            <a:extLst>
              <a:ext uri="{FF2B5EF4-FFF2-40B4-BE49-F238E27FC236}">
                <a16:creationId xmlns:a16="http://schemas.microsoft.com/office/drawing/2014/main" id="{52D3CC9C-7353-C61F-6521-6FBF9660FEA7}"/>
              </a:ext>
            </a:extLst>
          </p:cNvPr>
          <p:cNvSpPr>
            <a:spLocks noGrp="1"/>
          </p:cNvSpPr>
          <p:nvPr>
            <p:ph idx="1"/>
          </p:nvPr>
        </p:nvSpPr>
        <p:spPr>
          <a:xfrm>
            <a:off x="1036948" y="1540188"/>
            <a:ext cx="10642862" cy="4483539"/>
          </a:xfrm>
        </p:spPr>
        <p:txBody>
          <a:bodyPr>
            <a:norm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increases exponentially with:</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 junction doping</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 reverse bias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Shallow junction depth</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For band-to-band tunneling to occur in a reverse-biased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the total potential drop across the junction must be greater than the semiconductor bandgap energy. When </a:t>
            </a:r>
          </a:p>
          <a:p>
            <a:pPr algn="just"/>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	the valence band of the p-region aligns energetically with the conduction band of the n-	region.</a:t>
            </a:r>
          </a:p>
          <a:p>
            <a:pPr algn="just"/>
            <a:endParaRPr lang="en-US" sz="2200" dirty="0">
              <a:latin typeface="Times New Roman" panose="02020603050405020304" pitchFamily="18" charset="0"/>
              <a:cs typeface="Times New Roman" panose="02020603050405020304" pitchFamily="18" charset="0"/>
            </a:endParaRP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5529E34-5BC3-8A70-23C2-0F39CDBEEA11}"/>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44DF28F9-28AC-C090-EB61-F35A5F256A3B}"/>
              </a:ext>
            </a:extLst>
          </p:cNvPr>
          <p:cNvPicPr>
            <a:picLocks noChangeAspect="1"/>
          </p:cNvPicPr>
          <p:nvPr/>
        </p:nvPicPr>
        <p:blipFill>
          <a:blip r:embed="rId2"/>
          <a:stretch>
            <a:fillRect/>
          </a:stretch>
        </p:blipFill>
        <p:spPr>
          <a:xfrm>
            <a:off x="5111722" y="4235523"/>
            <a:ext cx="1836579" cy="441998"/>
          </a:xfrm>
          <a:prstGeom prst="rect">
            <a:avLst/>
          </a:prstGeom>
        </p:spPr>
      </p:pic>
    </p:spTree>
    <p:extLst>
      <p:ext uri="{BB962C8B-B14F-4D97-AF65-F5344CB8AC3E}">
        <p14:creationId xmlns:p14="http://schemas.microsoft.com/office/powerpoint/2010/main" val="294173664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0DE53-9C8C-2631-93B6-1E586D280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917F4-0415-2E34-FEF4-C177ADF3D737}"/>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Reverse-Bias </a:t>
            </a:r>
            <a:r>
              <a:rPr lang="en-IN" b="1" dirty="0" err="1">
                <a:latin typeface="Times New Roman" panose="02020603050405020304" pitchFamily="18" charset="0"/>
                <a:cs typeface="Times New Roman" panose="02020603050405020304" pitchFamily="18" charset="0"/>
              </a:rPr>
              <a:t>pn</a:t>
            </a:r>
            <a:r>
              <a:rPr lang="en-IN" b="1" dirty="0">
                <a:latin typeface="Times New Roman" panose="02020603050405020304" pitchFamily="18" charset="0"/>
                <a:cs typeface="Times New Roman" panose="02020603050405020304" pitchFamily="18" charset="0"/>
              </a:rPr>
              <a:t> Junction Leakage</a:t>
            </a:r>
          </a:p>
        </p:txBody>
      </p:sp>
      <p:sp>
        <p:nvSpPr>
          <p:cNvPr id="3" name="Content Placeholder 2">
            <a:extLst>
              <a:ext uri="{FF2B5EF4-FFF2-40B4-BE49-F238E27FC236}">
                <a16:creationId xmlns:a16="http://schemas.microsoft.com/office/drawing/2014/main" id="{527B0324-F32A-7561-ABBD-81F95AA3208B}"/>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Under this condition, electrons can tunnel directly from the valence band to the conduction band through the narrow depletion region without thermal excitation.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phenomenon becomes significant in heavily doped, short-channel devices where electric fields are extremely high.</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A189D24-64C8-848A-406B-9340AB88CB71}"/>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9772811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13EFF-8269-C51A-0FE7-95D960807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FA6E6-5DCE-781B-29E7-C328EAEEFB22}"/>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272216E3-9295-9B81-293D-6B6CB7178AAF}"/>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Subthreshold or weak inversion conduction current between source and drain in an MOS transistor occurs when gate voltage is below V</a:t>
            </a:r>
            <a:r>
              <a:rPr lang="en-US" sz="2200" baseline="-25000" dirty="0">
                <a:latin typeface="Times New Roman" panose="02020603050405020304" pitchFamily="18" charset="0"/>
                <a:cs typeface="Times New Roman" panose="02020603050405020304" pitchFamily="18" charset="0"/>
              </a:rPr>
              <a:t>th.</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Even when the transistor is OFF, a weak inversion layer forms, allowing diffusion current between source and drain</a:t>
            </a:r>
            <a:r>
              <a:rPr lang="en-US" sz="2400" dirty="0"/>
              <a:t>.</a:t>
            </a:r>
          </a:p>
          <a:p>
            <a:pPr algn="just">
              <a:buFont typeface="Arial" panose="020B0604020202020204" pitchFamily="34" charset="0"/>
              <a:buChar char="•"/>
            </a:pPr>
            <a:endParaRPr lang="en-US" sz="2400" dirty="0"/>
          </a:p>
          <a:p>
            <a:pPr algn="just">
              <a:buFont typeface="Arial" panose="020B0604020202020204" pitchFamily="34" charset="0"/>
              <a:buChar char="•"/>
            </a:pPr>
            <a:endParaRPr lang="en-US" sz="2400" dirty="0"/>
          </a:p>
          <a:p>
            <a:pPr algn="just">
              <a:buFont typeface="Arial" panose="020B0604020202020204" pitchFamily="34" charset="0"/>
              <a:buChar char="•"/>
            </a:pPr>
            <a:endParaRPr lang="en-US" sz="2400" dirty="0"/>
          </a:p>
          <a:p>
            <a:pPr algn="just">
              <a:buFont typeface="Arial" panose="020B0604020202020204" pitchFamily="34" charset="0"/>
              <a:buChar char="•"/>
            </a:pPr>
            <a:endParaRPr lang="en-US" sz="2400" dirty="0"/>
          </a:p>
          <a:p>
            <a:pPr algn="just">
              <a:buFont typeface="Arial" panose="020B0604020202020204" pitchFamily="34" charset="0"/>
              <a:buChar char="•"/>
            </a:pPr>
            <a:endParaRPr lang="en-US" sz="2200" baseline="-250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22F5D22-FCF8-F54F-CEF7-0724AA0453C4}"/>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7DFFBFD6-3AE9-9F52-C7F9-C78C1A9B93AC}"/>
              </a:ext>
            </a:extLst>
          </p:cNvPr>
          <p:cNvPicPr>
            <a:picLocks noChangeAspect="1"/>
          </p:cNvPicPr>
          <p:nvPr/>
        </p:nvPicPr>
        <p:blipFill>
          <a:blip r:embed="rId2"/>
          <a:stretch>
            <a:fillRect/>
          </a:stretch>
        </p:blipFill>
        <p:spPr>
          <a:xfrm>
            <a:off x="4331817" y="3183451"/>
            <a:ext cx="3528366" cy="2263336"/>
          </a:xfrm>
          <a:prstGeom prst="rect">
            <a:avLst/>
          </a:prstGeom>
        </p:spPr>
      </p:pic>
    </p:spTree>
    <p:extLst>
      <p:ext uri="{BB962C8B-B14F-4D97-AF65-F5344CB8AC3E}">
        <p14:creationId xmlns:p14="http://schemas.microsoft.com/office/powerpoint/2010/main" val="33557414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36D3A-B36E-AAC4-3D08-EFBE034AF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35EC4-63D6-AB10-7AE4-798D0E51245C}"/>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42837A1B-B43B-90AD-A91F-BBED35B2D7EC}"/>
              </a:ext>
            </a:extLst>
          </p:cNvPr>
          <p:cNvSpPr>
            <a:spLocks noGrp="1"/>
          </p:cNvSpPr>
          <p:nvPr>
            <p:ph idx="1"/>
          </p:nvPr>
        </p:nvSpPr>
        <p:spPr>
          <a:xfrm>
            <a:off x="1036948" y="1540188"/>
            <a:ext cx="10642862" cy="4483539"/>
          </a:xfrm>
        </p:spPr>
        <p:txBody>
          <a:bodyPr>
            <a:normAutofit lnSpcReduction="10000"/>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Weak inversion region is the operating region of a MOSFET where the gate voltage is below the threshold voltage but sufficient to create a small concentration of minority carriers at the surface.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this region, a weak inversion layer forms and current flows primarily due to diffusion.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drain current varies exponentially with gate voltage and is known as subthreshold current.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When an n-channel MOSFET operates in weak inversion (Vg &lt; Vth), the source is grounded and a small drain voltage is applied (</a:t>
            </a:r>
            <a:r>
              <a:rPr lang="en-US" sz="2200" dirty="0" err="1">
                <a:latin typeface="Times New Roman" panose="02020603050405020304" pitchFamily="18" charset="0"/>
                <a:cs typeface="Times New Roman" panose="02020603050405020304" pitchFamily="18" charset="0"/>
              </a:rPr>
              <a:t>Vds</a:t>
            </a:r>
            <a:r>
              <a:rPr lang="en-US" sz="2200" dirty="0">
                <a:latin typeface="Times New Roman" panose="02020603050405020304" pitchFamily="18" charset="0"/>
                <a:cs typeface="Times New Roman" panose="02020603050405020304" pitchFamily="18" charset="0"/>
              </a:rPr>
              <a:t> &gt; = 0.1V). In this condition, most of the drain-to-source voltage drops across the reverse-biased drain–substrate </a:t>
            </a:r>
            <a:r>
              <a:rPr lang="en-US" sz="2200" dirty="0" err="1">
                <a:latin typeface="Times New Roman" panose="02020603050405020304" pitchFamily="18" charset="0"/>
                <a:cs typeface="Times New Roman" panose="02020603050405020304" pitchFamily="18" charset="0"/>
              </a:rPr>
              <a:t>pn</a:t>
            </a:r>
            <a:r>
              <a:rPr lang="en-US" sz="2200" dirty="0">
                <a:latin typeface="Times New Roman" panose="02020603050405020304" pitchFamily="18" charset="0"/>
                <a:cs typeface="Times New Roman" panose="02020603050405020304" pitchFamily="18" charset="0"/>
              </a:rPr>
              <a:t> junction, not along the channel.</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of this, the variation of surface potential along the channel is very small. Therefore, the longitudinal electric field (along the channel) is also very small.</a:t>
            </a: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E1787EE-612F-0D70-AB65-458697A2B8F8}"/>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8121250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794A2-F5A3-5693-EAB9-FEF9B5948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8D0E9-AC57-4B48-CCA0-B8AB7B70DC13}"/>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FD9A0462-1ACA-04EF-EC9E-207F7E0B8F3D}"/>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Since:</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number of mobile carriers is small (weak inversion), and</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electric field along the channel is small, </a:t>
            </a:r>
            <a:r>
              <a:rPr lang="en-US" sz="2200" dirty="0">
                <a:latin typeface="Times New Roman" panose="02020603050405020304" pitchFamily="18" charset="0"/>
                <a:cs typeface="Times New Roman" panose="02020603050405020304" pitchFamily="18" charset="0"/>
              </a:rPr>
              <a:t>the drift current becomes negligible.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Hence, unlike strong inversion (where drift dominates), in weak inversion the current is mainly due to diffusion of carriers from source to drain.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weak inversion, diffusion current dominates and the carrier concentration at the surface increases exponentially with gate voltage; therefore, the drain current also shows exponential dependence on gate voltage, appearing as a straight line on a </a:t>
            </a:r>
            <a:r>
              <a:rPr lang="en-US" sz="2200" dirty="0" err="1">
                <a:latin typeface="Times New Roman" panose="02020603050405020304" pitchFamily="18" charset="0"/>
                <a:cs typeface="Times New Roman" panose="02020603050405020304" pitchFamily="18" charset="0"/>
              </a:rPr>
              <a:t>semilog</a:t>
            </a:r>
            <a:r>
              <a:rPr lang="en-US" sz="2200" dirty="0">
                <a:latin typeface="Times New Roman" panose="02020603050405020304" pitchFamily="18" charset="0"/>
                <a:cs typeface="Times New Roman" panose="02020603050405020304" pitchFamily="18" charset="0"/>
              </a:rPr>
              <a:t> plot.</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93D3C3E-A236-2B0C-458D-45E4D6CE959E}"/>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0202381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56362-BFB5-B6D3-1D82-E282FF4B6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E601F-6622-B1A7-7F04-5FE810BABAB5}"/>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C87F0B75-B48D-22E9-EAF9-FF34104686AC}"/>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426BF7C-E5E5-E169-5511-61FD12696FBB}"/>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F1061D2D-04B6-CD7E-1ED2-1E3004BDA07F}"/>
              </a:ext>
            </a:extLst>
          </p:cNvPr>
          <p:cNvPicPr>
            <a:picLocks noChangeAspect="1"/>
          </p:cNvPicPr>
          <p:nvPr/>
        </p:nvPicPr>
        <p:blipFill>
          <a:blip r:embed="rId2"/>
          <a:stretch>
            <a:fillRect/>
          </a:stretch>
        </p:blipFill>
        <p:spPr>
          <a:xfrm>
            <a:off x="4952787" y="1089639"/>
            <a:ext cx="1546994" cy="548688"/>
          </a:xfrm>
          <a:prstGeom prst="rect">
            <a:avLst/>
          </a:prstGeom>
        </p:spPr>
      </p:pic>
      <p:sp>
        <p:nvSpPr>
          <p:cNvPr id="9" name="TextBox 8">
            <a:extLst>
              <a:ext uri="{FF2B5EF4-FFF2-40B4-BE49-F238E27FC236}">
                <a16:creationId xmlns:a16="http://schemas.microsoft.com/office/drawing/2014/main" id="{531BC8B0-7AC9-DDE2-6C13-63FCA9C03152}"/>
              </a:ext>
            </a:extLst>
          </p:cNvPr>
          <p:cNvSpPr txBox="1"/>
          <p:nvPr/>
        </p:nvSpPr>
        <p:spPr>
          <a:xfrm>
            <a:off x="1060515" y="1595435"/>
            <a:ext cx="10256363" cy="707886"/>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Vg increases </a:t>
            </a:r>
            <a:r>
              <a:rPr lang="en-US" sz="2000" dirty="0" err="1">
                <a:latin typeface="Times New Roman" panose="02020603050405020304" pitchFamily="18" charset="0"/>
                <a:cs typeface="Times New Roman" panose="02020603050405020304" pitchFamily="18" charset="0"/>
              </a:rPr>
              <a:t>slightly,the</a:t>
            </a:r>
            <a:r>
              <a:rPr lang="en-US" sz="2000" dirty="0">
                <a:latin typeface="Times New Roman" panose="02020603050405020304" pitchFamily="18" charset="0"/>
                <a:cs typeface="Times New Roman" panose="02020603050405020304" pitchFamily="18" charset="0"/>
              </a:rPr>
              <a:t> exponent increases, so the current increases very rapidly.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7E2E3A5-D0B3-9779-B4CD-5052A0FC0C57}"/>
              </a:ext>
            </a:extLst>
          </p:cNvPr>
          <p:cNvPicPr>
            <a:picLocks noChangeAspect="1"/>
          </p:cNvPicPr>
          <p:nvPr/>
        </p:nvPicPr>
        <p:blipFill>
          <a:blip r:embed="rId3"/>
          <a:stretch>
            <a:fillRect/>
          </a:stretch>
        </p:blipFill>
        <p:spPr>
          <a:xfrm>
            <a:off x="3388727" y="2065360"/>
            <a:ext cx="5547841" cy="3886537"/>
          </a:xfrm>
          <a:prstGeom prst="rect">
            <a:avLst/>
          </a:prstGeom>
        </p:spPr>
      </p:pic>
    </p:spTree>
    <p:extLst>
      <p:ext uri="{BB962C8B-B14F-4D97-AF65-F5344CB8AC3E}">
        <p14:creationId xmlns:p14="http://schemas.microsoft.com/office/powerpoint/2010/main" val="41302372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143276-C181-D53B-9EB2-4F9C038943DD}"/>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486DADD5-1C1B-2127-7D9A-673EEC169D61}"/>
              </a:ext>
            </a:extLst>
          </p:cNvPr>
          <p:cNvPicPr>
            <a:picLocks noChangeAspect="1"/>
          </p:cNvPicPr>
          <p:nvPr/>
        </p:nvPicPr>
        <p:blipFill>
          <a:blip r:embed="rId2"/>
          <a:stretch>
            <a:fillRect/>
          </a:stretch>
        </p:blipFill>
        <p:spPr>
          <a:xfrm>
            <a:off x="3348752" y="885854"/>
            <a:ext cx="5494496" cy="4313294"/>
          </a:xfrm>
          <a:prstGeom prst="rect">
            <a:avLst/>
          </a:prstGeom>
        </p:spPr>
      </p:pic>
    </p:spTree>
    <p:extLst>
      <p:ext uri="{BB962C8B-B14F-4D97-AF65-F5344CB8AC3E}">
        <p14:creationId xmlns:p14="http://schemas.microsoft.com/office/powerpoint/2010/main" val="29066222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03FC-534A-30F6-19BF-AFFD93617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6D7DC-F7FC-D0E5-C8E6-D8B6561E1119}"/>
              </a:ext>
            </a:extLst>
          </p:cNvPr>
          <p:cNvSpPr>
            <a:spLocks noGrp="1"/>
          </p:cNvSpPr>
          <p:nvPr>
            <p:ph type="title"/>
          </p:nvPr>
        </p:nvSpPr>
        <p:spPr>
          <a:xfrm>
            <a:off x="1706805" y="473281"/>
            <a:ext cx="8911687" cy="714496"/>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3E13AA87-1424-989A-233C-8E4CFCC2340D}"/>
              </a:ext>
            </a:extLst>
          </p:cNvPr>
          <p:cNvSpPr>
            <a:spLocks noGrp="1"/>
          </p:cNvSpPr>
          <p:nvPr>
            <p:ph idx="1"/>
          </p:nvPr>
        </p:nvSpPr>
        <p:spPr>
          <a:xfrm>
            <a:off x="1036948" y="1540188"/>
            <a:ext cx="10642862" cy="4483539"/>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weak inversion current can be expressed based on the following:</a:t>
            </a:r>
          </a:p>
          <a:p>
            <a:pPr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7F54CA5-658C-D335-5023-B39808BD7EE6}"/>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11A41E90-F7EE-FF30-F2BA-4BF03434003F}"/>
              </a:ext>
            </a:extLst>
          </p:cNvPr>
          <p:cNvPicPr>
            <a:picLocks noChangeAspect="1"/>
          </p:cNvPicPr>
          <p:nvPr/>
        </p:nvPicPr>
        <p:blipFill>
          <a:blip r:embed="rId2"/>
          <a:stretch>
            <a:fillRect/>
          </a:stretch>
        </p:blipFill>
        <p:spPr>
          <a:xfrm>
            <a:off x="3704985" y="2058026"/>
            <a:ext cx="4915326" cy="1874682"/>
          </a:xfrm>
          <a:prstGeom prst="rect">
            <a:avLst/>
          </a:prstGeom>
        </p:spPr>
      </p:pic>
      <p:pic>
        <p:nvPicPr>
          <p:cNvPr id="8" name="Picture 7">
            <a:extLst>
              <a:ext uri="{FF2B5EF4-FFF2-40B4-BE49-F238E27FC236}">
                <a16:creationId xmlns:a16="http://schemas.microsoft.com/office/drawing/2014/main" id="{4C1199C6-43CE-FCA0-3B30-324B0A5FCBE8}"/>
              </a:ext>
            </a:extLst>
          </p:cNvPr>
          <p:cNvPicPr>
            <a:picLocks noChangeAspect="1"/>
          </p:cNvPicPr>
          <p:nvPr/>
        </p:nvPicPr>
        <p:blipFill>
          <a:blip r:embed="rId3"/>
          <a:stretch>
            <a:fillRect/>
          </a:stretch>
        </p:blipFill>
        <p:spPr>
          <a:xfrm>
            <a:off x="2368550" y="4450546"/>
            <a:ext cx="7454900" cy="1409822"/>
          </a:xfrm>
          <a:prstGeom prst="rect">
            <a:avLst/>
          </a:prstGeom>
        </p:spPr>
      </p:pic>
    </p:spTree>
    <p:extLst>
      <p:ext uri="{BB962C8B-B14F-4D97-AF65-F5344CB8AC3E}">
        <p14:creationId xmlns:p14="http://schemas.microsoft.com/office/powerpoint/2010/main" val="26151389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FE45D-730C-99D3-779D-A4FFBA366DB5}"/>
              </a:ext>
            </a:extLst>
          </p:cNvPr>
          <p:cNvSpPr>
            <a:spLocks noGrp="1"/>
          </p:cNvSpPr>
          <p:nvPr>
            <p:ph type="title"/>
          </p:nvPr>
        </p:nvSpPr>
        <p:spPr>
          <a:xfrm>
            <a:off x="1753939" y="357067"/>
            <a:ext cx="8911687" cy="1280890"/>
          </a:xfrm>
        </p:spPr>
        <p:txBody>
          <a:bodyPr/>
          <a:lstStyle/>
          <a:p>
            <a:r>
              <a:rPr lang="en-IN" b="1" dirty="0">
                <a:latin typeface="Times New Roman" panose="02020603050405020304" pitchFamily="18" charset="0"/>
                <a:cs typeface="Times New Roman" panose="02020603050405020304" pitchFamily="18" charset="0"/>
              </a:rPr>
              <a:t>Subthreshold Leakage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64E210-67F2-2902-C6DD-8B02274913DF}"/>
                  </a:ext>
                </a:extLst>
              </p:cNvPr>
              <p:cNvSpPr>
                <a:spLocks noGrp="1"/>
              </p:cNvSpPr>
              <p:nvPr>
                <p:ph idx="1"/>
              </p:nvPr>
            </p:nvSpPr>
            <p:spPr>
              <a:xfrm>
                <a:off x="1750226" y="1540188"/>
                <a:ext cx="9920158" cy="4417551"/>
              </a:xfrm>
            </p:spPr>
            <p:txBody>
              <a:bodyPr>
                <a:normAutofit/>
              </a:bodyPr>
              <a:lstStyle/>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long-channel devices, the subthreshold current is independent of the drain voltage for V</a:t>
                </a:r>
                <a:r>
                  <a:rPr lang="en-US" sz="2200" baseline="-25000" dirty="0">
                    <a:latin typeface="Times New Roman" panose="02020603050405020304" pitchFamily="18" charset="0"/>
                    <a:cs typeface="Times New Roman" panose="02020603050405020304" pitchFamily="18" charset="0"/>
                  </a:rPr>
                  <a:t>DS </a:t>
                </a:r>
                <a:r>
                  <a:rPr lang="en-IN" sz="2200" dirty="0">
                    <a:latin typeface="Times New Roman" panose="02020603050405020304" pitchFamily="18" charset="0"/>
                    <a:cs typeface="Times New Roman" panose="02020603050405020304" pitchFamily="18" charset="0"/>
                  </a:rPr>
                  <a:t>larger than a few V</a:t>
                </a:r>
                <a:r>
                  <a:rPr lang="en-IN" sz="2200" baseline="-25000" dirty="0">
                    <a:latin typeface="Times New Roman" panose="02020603050405020304" pitchFamily="18" charset="0"/>
                    <a:cs typeface="Times New Roman" panose="02020603050405020304" pitchFamily="18" charset="0"/>
                  </a:rPr>
                  <a:t>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inverse of the slope of the </a:t>
                </a:r>
                <a14:m>
                  <m:oMath xmlns:m="http://schemas.openxmlformats.org/officeDocument/2006/math">
                    <m:func>
                      <m:funcPr>
                        <m:ctrlPr>
                          <a:rPr lang="en-US" sz="2200" i="1" smtClean="0">
                            <a:latin typeface="Cambria Math" panose="02040503050406030204" pitchFamily="18" charset="0"/>
                          </a:rPr>
                        </m:ctrlPr>
                      </m:funcPr>
                      <m:fName>
                        <m:sSub>
                          <m:sSubPr>
                            <m:ctrlPr>
                              <a:rPr lang="en-US" sz="2200" i="1" smtClean="0">
                                <a:latin typeface="Cambria Math" panose="02040503050406030204" pitchFamily="18" charset="0"/>
                              </a:rPr>
                            </m:ctrlPr>
                          </m:sSubPr>
                          <m:e>
                            <m:r>
                              <m:rPr>
                                <m:sty m:val="p"/>
                              </m:rPr>
                              <a:rPr lang="en-US" sz="2200" i="0" smtClean="0">
                                <a:latin typeface="Cambria Math" panose="02040503050406030204" pitchFamily="18" charset="0"/>
                              </a:rPr>
                              <m:t>log</m:t>
                            </m:r>
                          </m:e>
                          <m:sub>
                            <m:r>
                              <a:rPr lang="en-IN" sz="2200" b="0" i="1" smtClean="0">
                                <a:latin typeface="Cambria Math" panose="02040503050406030204" pitchFamily="18" charset="0"/>
                              </a:rPr>
                              <m:t>10</m:t>
                            </m:r>
                          </m:sub>
                        </m:sSub>
                      </m:fName>
                      <m:e>
                        <m:r>
                          <a:rPr lang="en-IN" sz="2200" b="0" i="1" smtClean="0">
                            <a:latin typeface="Cambria Math" panose="02040503050406030204" pitchFamily="18" charset="0"/>
                          </a:rPr>
                          <m:t>(</m:t>
                        </m:r>
                        <m:sSub>
                          <m:sSubPr>
                            <m:ctrlPr>
                              <a:rPr lang="en-IN" sz="2200" b="0" i="1" smtClean="0">
                                <a:latin typeface="Cambria Math" panose="02040503050406030204" pitchFamily="18" charset="0"/>
                              </a:rPr>
                            </m:ctrlPr>
                          </m:sSubPr>
                          <m:e>
                            <m:r>
                              <a:rPr lang="en-IN" sz="2200" b="0" i="1" smtClean="0">
                                <a:latin typeface="Cambria Math" panose="02040503050406030204" pitchFamily="18" charset="0"/>
                              </a:rPr>
                              <m:t>𝐼</m:t>
                            </m:r>
                          </m:e>
                          <m:sub>
                            <m:r>
                              <a:rPr lang="en-IN" sz="2200" b="0" i="1" smtClean="0">
                                <a:latin typeface="Cambria Math" panose="02040503050406030204" pitchFamily="18" charset="0"/>
                              </a:rPr>
                              <m:t>𝑑𝑠</m:t>
                            </m:r>
                          </m:sub>
                        </m:sSub>
                        <m:r>
                          <a:rPr lang="en-IN" sz="2200" b="0" i="1" smtClean="0">
                            <a:latin typeface="Cambria Math" panose="02040503050406030204" pitchFamily="18" charset="0"/>
                          </a:rPr>
                          <m:t>)</m:t>
                        </m:r>
                      </m:e>
                    </m:func>
                    <m:r>
                      <a:rPr lang="en-IN" sz="2200" b="0" i="0" smtClean="0">
                        <a:latin typeface="Cambria Math" panose="02040503050406030204" pitchFamily="18" charset="0"/>
                      </a:rPr>
                      <m:t>  </m:t>
                    </m:r>
                    <m:r>
                      <m:rPr>
                        <m:sty m:val="p"/>
                      </m:rPr>
                      <a:rPr lang="en-IN" sz="2200" b="0" i="0" smtClean="0">
                        <a:latin typeface="Cambria Math" panose="02040503050406030204" pitchFamily="18" charset="0"/>
                      </a:rPr>
                      <m:t>verses</m:t>
                    </m:r>
                    <m:r>
                      <a:rPr lang="en-IN" sz="2200" b="0" i="0" smtClean="0">
                        <a:latin typeface="Cambria Math" panose="02040503050406030204" pitchFamily="18" charset="0"/>
                      </a:rPr>
                      <m:t>  </m:t>
                    </m:r>
                    <m:r>
                      <m:rPr>
                        <m:sty m:val="p"/>
                      </m:rPr>
                      <a:rPr lang="en-IN" sz="2200" b="0" i="0" smtClean="0">
                        <a:latin typeface="Cambria Math" panose="02040503050406030204" pitchFamily="18" charset="0"/>
                      </a:rPr>
                      <m:t>Vgs</m:t>
                    </m:r>
                  </m:oMath>
                </a14:m>
                <a:r>
                  <a:rPr lang="en-IN" sz="2200" baseline="-250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characteristic is called the subthreshold Slope (S</a:t>
                </a:r>
                <a:r>
                  <a:rPr lang="en-US" sz="2200" baseline="-25000" dirty="0">
                    <a:latin typeface="Times New Roman" panose="02020603050405020304" pitchFamily="18" charset="0"/>
                    <a:cs typeface="Times New Roman" panose="02020603050405020304" pitchFamily="18" charset="0"/>
                  </a:rPr>
                  <a:t>t</a:t>
                </a:r>
                <a:r>
                  <a:rPr lang="en-US" sz="2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Subthreshold slope indicates how effectively the transistor can be turned off (rate of decrease of I</a:t>
                </a:r>
                <a:r>
                  <a:rPr lang="en-US" sz="2200" baseline="-25000" dirty="0">
                    <a:latin typeface="Times New Roman" panose="02020603050405020304" pitchFamily="18" charset="0"/>
                    <a:cs typeface="Times New Roman" panose="02020603050405020304" pitchFamily="18" charset="0"/>
                  </a:rPr>
                  <a:t>OFF</a:t>
                </a:r>
                <a:r>
                  <a:rPr lang="en-US" sz="22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when </a:t>
                </a:r>
                <a:r>
                  <a:rPr lang="en-IN" sz="2200" dirty="0" err="1">
                    <a:latin typeface="Times New Roman" panose="02020603050405020304" pitchFamily="18" charset="0"/>
                    <a:cs typeface="Times New Roman" panose="02020603050405020304" pitchFamily="18" charset="0"/>
                  </a:rPr>
                  <a:t>Vgs</a:t>
                </a:r>
                <a:r>
                  <a:rPr lang="en-IN" sz="2200" dirty="0">
                    <a:latin typeface="Times New Roman" panose="02020603050405020304" pitchFamily="18" charset="0"/>
                    <a:cs typeface="Times New Roman" panose="02020603050405020304" pitchFamily="18" charset="0"/>
                  </a:rPr>
                  <a:t> is decreased below Vth</a:t>
                </a:r>
                <a:r>
                  <a:rPr lang="en-IN" sz="2400" dirty="0"/>
                  <a: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parameter is measured in millivolts per decade of the drain current.</a:t>
                </a:r>
              </a:p>
              <a:p>
                <a:pPr marL="0" indent="0">
                  <a:buNone/>
                </a:pPr>
                <a:endParaRPr lang="en-IN" baseline="-25000" dirty="0"/>
              </a:p>
            </p:txBody>
          </p:sp>
        </mc:Choice>
        <mc:Fallback xmlns="">
          <p:sp>
            <p:nvSpPr>
              <p:cNvPr id="3" name="Content Placeholder 2">
                <a:extLst>
                  <a:ext uri="{FF2B5EF4-FFF2-40B4-BE49-F238E27FC236}">
                    <a16:creationId xmlns:a16="http://schemas.microsoft.com/office/drawing/2014/main" id="{B864E210-67F2-2902-C6DD-8B02274913DF}"/>
                  </a:ext>
                </a:extLst>
              </p:cNvPr>
              <p:cNvSpPr>
                <a:spLocks noGrp="1" noRot="1" noChangeAspect="1" noMove="1" noResize="1" noEditPoints="1" noAdjustHandles="1" noChangeArrowheads="1" noChangeShapeType="1" noTextEdit="1"/>
              </p:cNvSpPr>
              <p:nvPr>
                <p:ph idx="1"/>
              </p:nvPr>
            </p:nvSpPr>
            <p:spPr>
              <a:xfrm>
                <a:off x="1750226" y="1540188"/>
                <a:ext cx="9920158" cy="4417551"/>
              </a:xfrm>
              <a:blipFill>
                <a:blip r:embed="rId2"/>
                <a:stretch>
                  <a:fillRect l="-676" t="-967" r="-135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28FC9E6-ECE4-1CED-4396-A65ECDF592BE}"/>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E81BB09B-7856-D870-D9DC-D41524305FEF}"/>
              </a:ext>
            </a:extLst>
          </p:cNvPr>
          <p:cNvPicPr>
            <a:picLocks noChangeAspect="1"/>
          </p:cNvPicPr>
          <p:nvPr/>
        </p:nvPicPr>
        <p:blipFill>
          <a:blip r:embed="rId3"/>
          <a:stretch>
            <a:fillRect/>
          </a:stretch>
        </p:blipFill>
        <p:spPr>
          <a:xfrm>
            <a:off x="4373731" y="3047397"/>
            <a:ext cx="3444538" cy="1234547"/>
          </a:xfrm>
          <a:prstGeom prst="rect">
            <a:avLst/>
          </a:prstGeom>
        </p:spPr>
      </p:pic>
    </p:spTree>
    <p:extLst>
      <p:ext uri="{BB962C8B-B14F-4D97-AF65-F5344CB8AC3E}">
        <p14:creationId xmlns:p14="http://schemas.microsoft.com/office/powerpoint/2010/main" val="358832380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3FD51-3B4F-9A3F-543A-5AE98FB4D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83560-0F4D-1090-4A6A-91D6D1138346}"/>
              </a:ext>
            </a:extLst>
          </p:cNvPr>
          <p:cNvSpPr>
            <a:spLocks noGrp="1"/>
          </p:cNvSpPr>
          <p:nvPr>
            <p:ph type="title"/>
          </p:nvPr>
        </p:nvSpPr>
        <p:spPr>
          <a:xfrm>
            <a:off x="1753939" y="357067"/>
            <a:ext cx="8911687" cy="1280890"/>
          </a:xfrm>
        </p:spPr>
        <p:txBody>
          <a:bodyPr/>
          <a:lstStyle/>
          <a:p>
            <a:r>
              <a:rPr lang="en-IN" b="1" dirty="0">
                <a:latin typeface="Times New Roman" panose="02020603050405020304" pitchFamily="18" charset="0"/>
                <a:cs typeface="Times New Roman" panose="02020603050405020304" pitchFamily="18" charset="0"/>
              </a:rPr>
              <a:t>Subthreshold Leakage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C5B217-C6EB-322E-02B2-5BF126CA84FB}"/>
                  </a:ext>
                </a:extLst>
              </p:cNvPr>
              <p:cNvSpPr>
                <a:spLocks noGrp="1"/>
              </p:cNvSpPr>
              <p:nvPr>
                <p:ph idx="1"/>
              </p:nvPr>
            </p:nvSpPr>
            <p:spPr>
              <a:xfrm>
                <a:off x="1750226" y="1540188"/>
                <a:ext cx="9920158" cy="4417551"/>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Ideal limit at room temperature:</a:t>
                </a:r>
              </a:p>
              <a:p>
                <a:pPr algn="just">
                  <a:buFont typeface="Arial" panose="020B0604020202020204" pitchFamily="34" charset="0"/>
                  <a:buChar char="•"/>
                </a:pPr>
                <a14:m>
                  <m:oMath xmlns:m="http://schemas.openxmlformats.org/officeDocument/2006/math">
                    <m:r>
                      <a:rPr lang="en-US" sz="2200">
                        <a:latin typeface="Cambria Math" panose="02040503050406030204" pitchFamily="18" charset="0"/>
                      </a:rPr>
                      <m:t>60</m:t>
                    </m:r>
                    <m:r>
                      <m:rPr>
                        <m:nor/>
                      </m:rPr>
                      <a:rPr lang="en-US" sz="2200" i="1">
                        <a:latin typeface="Times New Roman" panose="02020603050405020304" pitchFamily="18" charset="0"/>
                        <a:cs typeface="Times New Roman" panose="02020603050405020304" pitchFamily="18" charset="0"/>
                      </a:rPr>
                      <m:t> </m:t>
                    </m:r>
                    <m:r>
                      <m:rPr>
                        <m:nor/>
                      </m:rPr>
                      <a:rPr lang="en-US" sz="2200" i="1">
                        <a:latin typeface="Times New Roman" panose="02020603050405020304" pitchFamily="18" charset="0"/>
                        <a:cs typeface="Times New Roman" panose="02020603050405020304" pitchFamily="18" charset="0"/>
                      </a:rPr>
                      <m:t>mV</m:t>
                    </m:r>
                    <m:r>
                      <m:rPr>
                        <m:nor/>
                      </m:rPr>
                      <a:rPr lang="en-US" sz="2200" i="1">
                        <a:latin typeface="Times New Roman" panose="02020603050405020304" pitchFamily="18" charset="0"/>
                        <a:cs typeface="Times New Roman" panose="02020603050405020304" pitchFamily="18" charset="0"/>
                      </a:rPr>
                      <m:t>/</m:t>
                    </m:r>
                    <m:r>
                      <m:rPr>
                        <m:nor/>
                      </m:rPr>
                      <a:rPr lang="en-US" sz="2200" i="1">
                        <a:latin typeface="Times New Roman" panose="02020603050405020304" pitchFamily="18" charset="0"/>
                        <a:cs typeface="Times New Roman" panose="02020603050405020304" pitchFamily="18" charset="0"/>
                      </a:rPr>
                      <m:t>decade</m:t>
                    </m:r>
                  </m:oMath>
                </a14:m>
                <a:endParaRPr lang="en-US" sz="2200" b="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b="0" dirty="0">
                    <a:latin typeface="Times New Roman" panose="02020603050405020304" pitchFamily="18" charset="0"/>
                    <a:cs typeface="Times New Roman" panose="02020603050405020304" pitchFamily="18" charset="0"/>
                  </a:rPr>
                  <a:t> Typical values for a bulk CMOS process can range from 70 to 120 mV/decade.</a:t>
                </a:r>
              </a:p>
              <a:p>
                <a:pPr algn="just">
                  <a:buFont typeface="Arial" panose="020B0604020202020204" pitchFamily="34" charset="0"/>
                  <a:buChar char="•"/>
                </a:pPr>
                <a:r>
                  <a:rPr lang="en-US" sz="2200" b="0" dirty="0">
                    <a:latin typeface="Times New Roman" panose="02020603050405020304" pitchFamily="18" charset="0"/>
                    <a:cs typeface="Times New Roman" panose="02020603050405020304" pitchFamily="18" charset="0"/>
                  </a:rPr>
                  <a:t> A low value for subthreshold slope is desirable.</a:t>
                </a:r>
              </a:p>
              <a:p>
                <a:pPr algn="just">
                  <a:buFont typeface="Arial" panose="020B0604020202020204" pitchFamily="34" charset="0"/>
                  <a:buChar char="•"/>
                </a:pPr>
                <a:r>
                  <a:rPr lang="en-US" sz="2200" b="0" dirty="0">
                    <a:latin typeface="Times New Roman" panose="02020603050405020304" pitchFamily="18" charset="0"/>
                    <a:cs typeface="Times New Roman" panose="02020603050405020304" pitchFamily="18" charset="0"/>
                  </a:rPr>
                  <a:t> It can be noted from the preceding expression that (St) can be made smaller by using a thinner oxide (insulator) layer to reduce t</a:t>
                </a:r>
                <a:r>
                  <a:rPr lang="en-US" sz="2200" b="0" baseline="-25000" dirty="0">
                    <a:latin typeface="Times New Roman" panose="02020603050405020304" pitchFamily="18" charset="0"/>
                    <a:cs typeface="Times New Roman" panose="02020603050405020304" pitchFamily="18" charset="0"/>
                  </a:rPr>
                  <a:t>ox  </a:t>
                </a:r>
                <a:r>
                  <a:rPr lang="en-US" sz="2200" b="0" dirty="0">
                    <a:latin typeface="Times New Roman" panose="02020603050405020304" pitchFamily="18" charset="0"/>
                    <a:cs typeface="Times New Roman" panose="02020603050405020304" pitchFamily="18" charset="0"/>
                  </a:rPr>
                  <a:t>or a lower substrate doping concentration.</a:t>
                </a:r>
              </a:p>
              <a:p>
                <a:pPr marL="0" indent="0" algn="just">
                  <a:buNone/>
                </a:pPr>
                <a:endParaRPr lang="en-US" sz="2200" b="0" baseline="-25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baseline="-25000" dirty="0"/>
              </a:p>
            </p:txBody>
          </p:sp>
        </mc:Choice>
        <mc:Fallback xmlns="">
          <p:sp>
            <p:nvSpPr>
              <p:cNvPr id="3" name="Content Placeholder 2">
                <a:extLst>
                  <a:ext uri="{FF2B5EF4-FFF2-40B4-BE49-F238E27FC236}">
                    <a16:creationId xmlns:a16="http://schemas.microsoft.com/office/drawing/2014/main" id="{87C5B217-C6EB-322E-02B2-5BF126CA84FB}"/>
                  </a:ext>
                </a:extLst>
              </p:cNvPr>
              <p:cNvSpPr>
                <a:spLocks noGrp="1" noRot="1" noChangeAspect="1" noMove="1" noResize="1" noEditPoints="1" noAdjustHandles="1" noChangeArrowheads="1" noChangeShapeType="1" noTextEdit="1"/>
              </p:cNvSpPr>
              <p:nvPr>
                <p:ph idx="1"/>
              </p:nvPr>
            </p:nvSpPr>
            <p:spPr>
              <a:xfrm>
                <a:off x="1750226" y="1540188"/>
                <a:ext cx="9920158" cy="4417551"/>
              </a:xfrm>
              <a:blipFill>
                <a:blip r:embed="rId2"/>
                <a:stretch>
                  <a:fillRect l="-676" t="-967" r="-799"/>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B2532097-B90F-AB9D-67C1-455C05168B9D}"/>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40415618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53BF-7726-A19B-D341-323D8C250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FB95A-16B9-97AA-68EC-D328205C0D02}"/>
              </a:ext>
            </a:extLst>
          </p:cNvPr>
          <p:cNvSpPr>
            <a:spLocks noGrp="1"/>
          </p:cNvSpPr>
          <p:nvPr>
            <p:ph type="title"/>
          </p:nvPr>
        </p:nvSpPr>
        <p:spPr>
          <a:xfrm>
            <a:off x="1753939" y="357067"/>
            <a:ext cx="8911687" cy="1280890"/>
          </a:xfrm>
        </p:spPr>
        <p:txBody>
          <a:bodyPr/>
          <a:lstStyle/>
          <a:p>
            <a:r>
              <a:rPr lang="en-IN" b="1" dirty="0">
                <a:latin typeface="Times New Roman" panose="02020603050405020304" pitchFamily="18" charset="0"/>
                <a:cs typeface="Times New Roman" panose="02020603050405020304" pitchFamily="18" charset="0"/>
              </a:rPr>
              <a:t>Subthreshold Leakage</a:t>
            </a:r>
            <a:endParaRPr lang="en-IN" dirty="0"/>
          </a:p>
        </p:txBody>
      </p:sp>
      <p:sp>
        <p:nvSpPr>
          <p:cNvPr id="3" name="Content Placeholder 2">
            <a:extLst>
              <a:ext uri="{FF2B5EF4-FFF2-40B4-BE49-F238E27FC236}">
                <a16:creationId xmlns:a16="http://schemas.microsoft.com/office/drawing/2014/main" id="{595CECBD-6D2E-53BC-FDDD-0A9C1ACE0281}"/>
              </a:ext>
            </a:extLst>
          </p:cNvPr>
          <p:cNvSpPr>
            <a:spLocks noGrp="1"/>
          </p:cNvSpPr>
          <p:nvPr>
            <p:ph idx="1"/>
          </p:nvPr>
        </p:nvSpPr>
        <p:spPr>
          <a:xfrm>
            <a:off x="1750226" y="1540188"/>
            <a:ext cx="9920158" cy="4417551"/>
          </a:xfrm>
        </p:spPr>
        <p:txBody>
          <a:bodyPr>
            <a:normAutofit/>
          </a:bodyPr>
          <a:lstStyle/>
          <a:p>
            <a:pPr marL="0" indent="0" algn="just">
              <a:buNone/>
            </a:pPr>
            <a:r>
              <a:rPr lang="en-IN" sz="2200" b="1" dirty="0">
                <a:latin typeface="Times New Roman" panose="02020603050405020304" pitchFamily="18" charset="0"/>
                <a:cs typeface="Times New Roman" panose="02020603050405020304" pitchFamily="18" charset="0"/>
              </a:rPr>
              <a:t>Factors Increasing Subthreshold Leakage:</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Drain-Induced Barrier Lowering.</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Body Effect.</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Narrow-Width Effect.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Effect of Channel Length and threshold Rolloff.</a:t>
            </a:r>
            <a:endParaRPr lang="en-US" sz="2200" b="1" baseline="-25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baseline="-25000" dirty="0"/>
          </a:p>
        </p:txBody>
      </p:sp>
      <p:sp>
        <p:nvSpPr>
          <p:cNvPr id="4" name="Footer Placeholder 3">
            <a:extLst>
              <a:ext uri="{FF2B5EF4-FFF2-40B4-BE49-F238E27FC236}">
                <a16:creationId xmlns:a16="http://schemas.microsoft.com/office/drawing/2014/main" id="{4CB46222-6BC7-3D72-9BDD-DDA63F8E9B93}"/>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4973746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555379"/>
            <a:ext cx="9675812" cy="1280890"/>
          </a:xfrm>
        </p:spPr>
        <p:txBody>
          <a:bodyPr/>
          <a:lstStyle/>
          <a:p>
            <a:r>
              <a:rPr lang="en-US" dirty="0">
                <a:latin typeface="Times New Roman" panose="02020603050405020304" pitchFamily="18" charset="0"/>
                <a:cs typeface="Times New Roman" panose="02020603050405020304" pitchFamily="18" charset="0"/>
              </a:rPr>
              <a:t>1. DIBL (Drain Induced Barrier Lowering)</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28800" y="2133600"/>
            <a:ext cx="9675812" cy="3777622"/>
          </a:xfrm>
        </p:spPr>
        <p:txBody>
          <a:bodyPr/>
          <a:lstStyle/>
          <a:p>
            <a:endParaRPr lang="en-IN" dirty="0"/>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Dr. Aruru Sai Kumar, VIT-AP</a:t>
            </a:r>
          </a:p>
        </p:txBody>
      </p:sp>
      <p:pic>
        <p:nvPicPr>
          <p:cNvPr id="5" name="Picture 2"/>
          <p:cNvPicPr>
            <a:picLocks noChangeAspect="1" noChangeArrowheads="1"/>
          </p:cNvPicPr>
          <p:nvPr/>
        </p:nvPicPr>
        <p:blipFill>
          <a:blip r:embed="rId2" cstate="print"/>
          <a:srcRect/>
          <a:stretch>
            <a:fillRect/>
          </a:stretch>
        </p:blipFill>
        <p:spPr bwMode="auto">
          <a:xfrm>
            <a:off x="1828800" y="2162493"/>
            <a:ext cx="9153832" cy="3859607"/>
          </a:xfrm>
          <a:prstGeom prst="rect">
            <a:avLst/>
          </a:prstGeom>
          <a:noFill/>
          <a:ln w="9525">
            <a:noFill/>
            <a:miter lim="800000"/>
            <a:headEnd/>
            <a:tailEnd/>
          </a:ln>
          <a:effectLst/>
        </p:spPr>
      </p:pic>
      <p:sp>
        <p:nvSpPr>
          <p:cNvPr id="7" name="TextBox 6">
            <a:extLst>
              <a:ext uri="{FF2B5EF4-FFF2-40B4-BE49-F238E27FC236}">
                <a16:creationId xmlns:a16="http://schemas.microsoft.com/office/drawing/2014/main" id="{E2205190-B2CC-F188-35BA-5915BC6B4C20}"/>
              </a:ext>
            </a:extLst>
          </p:cNvPr>
          <p:cNvSpPr txBox="1"/>
          <p:nvPr/>
        </p:nvSpPr>
        <p:spPr>
          <a:xfrm>
            <a:off x="1828800" y="1210270"/>
            <a:ext cx="9351390" cy="646331"/>
          </a:xfrm>
          <a:prstGeom prst="rect">
            <a:avLst/>
          </a:prstGeom>
          <a:noFill/>
        </p:spPr>
        <p:txBody>
          <a:bodyPr wrap="square">
            <a:spAutoFit/>
          </a:bodyPr>
          <a:lstStyle/>
          <a:p>
            <a:pPr marL="285750" indent="-285750"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DIBL occurs when the drain voltage reduces the potential barrier at the source-channel junction, causing increased leakage currents even when the device is off.</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77625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8CB15A-7159-BF74-0CBF-23A0F7A0AA17}"/>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A169AC6F-69FE-75DE-E2DA-2DEDF6784523}"/>
              </a:ext>
            </a:extLst>
          </p:cNvPr>
          <p:cNvPicPr>
            <a:picLocks noChangeAspect="1"/>
          </p:cNvPicPr>
          <p:nvPr/>
        </p:nvPicPr>
        <p:blipFill>
          <a:blip r:embed="rId2"/>
          <a:stretch>
            <a:fillRect/>
          </a:stretch>
        </p:blipFill>
        <p:spPr>
          <a:xfrm>
            <a:off x="1982789" y="357067"/>
            <a:ext cx="8092269" cy="6055486"/>
          </a:xfrm>
          <a:prstGeom prst="rect">
            <a:avLst/>
          </a:prstGeom>
        </p:spPr>
      </p:pic>
    </p:spTree>
    <p:extLst>
      <p:ext uri="{BB962C8B-B14F-4D97-AF65-F5344CB8AC3E}">
        <p14:creationId xmlns:p14="http://schemas.microsoft.com/office/powerpoint/2010/main" val="38867633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ACFE94-2817-B86C-80A2-4EE94E8C582A}"/>
              </a:ext>
            </a:extLst>
          </p:cNvPr>
          <p:cNvSpPr>
            <a:spLocks noGrp="1"/>
          </p:cNvSpPr>
          <p:nvPr>
            <p:ph idx="1"/>
          </p:nvPr>
        </p:nvSpPr>
        <p:spPr>
          <a:xfrm>
            <a:off x="1787934" y="1238054"/>
            <a:ext cx="8915400" cy="3777622"/>
          </a:xfrm>
        </p:spPr>
        <p:txBody>
          <a:bodyPr>
            <a:normAutofit lnSpcReduction="10000"/>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 long-channel MOSFET, when a high drain potential is applied, the energy bands near the drain bend downward.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Since a positive voltage is applied to the n⁺ drain, the drain–body junction is reverse biased, causing the drain depletion region to widen slightly.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this depletion region does not extend significantly into the channel, so the source–channel energy barrier remains almost unchanged.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 the gate retains strong control over the channel, and the threshold voltage is nearly unaffected.</a:t>
            </a:r>
          </a:p>
          <a:p>
            <a:pPr marL="0" indent="0">
              <a:buNone/>
            </a:pPr>
            <a:endParaRPr lang="en-IN" dirty="0"/>
          </a:p>
        </p:txBody>
      </p:sp>
      <p:sp>
        <p:nvSpPr>
          <p:cNvPr id="4" name="Footer Placeholder 3">
            <a:extLst>
              <a:ext uri="{FF2B5EF4-FFF2-40B4-BE49-F238E27FC236}">
                <a16:creationId xmlns:a16="http://schemas.microsoft.com/office/drawing/2014/main" id="{FDDA5273-311C-4D38-0505-5AD71750FD4B}"/>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873682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11B5-92BD-F3ED-4FA5-DD8A22B210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0826B-7B23-001B-63B5-570F81107DF9}"/>
              </a:ext>
            </a:extLst>
          </p:cNvPr>
          <p:cNvSpPr>
            <a:spLocks noGrp="1"/>
          </p:cNvSpPr>
          <p:nvPr>
            <p:ph idx="1"/>
          </p:nvPr>
        </p:nvSpPr>
        <p:spPr>
          <a:xfrm>
            <a:off x="1297739" y="1351175"/>
            <a:ext cx="9948437" cy="4606565"/>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 short-channel MOSFET, when a high drain potential is applied, the energy bands bend more strongly because the drain depletion region penetrates deep into the channel.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the short channel length, the drain electric field reaches the source side, which lowers the source–channel energy barrier.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Consequently, electrons can flow from the source even when the gate voltage is below threshold, leading to increased off-state leakage current.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 this case, the drain significantly influences channel control, reducing the gate’s effectiveness—this phenomenon is known as Drain-Induced Barrier Lowering (DIBL).</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AAF7FA9-52C8-EF32-27E5-07C30049C4C4}"/>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2013466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B53D2-C97F-4F5C-9B45-C1441F564EC0}"/>
              </a:ext>
            </a:extLst>
          </p:cNvPr>
          <p:cNvSpPr>
            <a:spLocks noGrp="1"/>
          </p:cNvSpPr>
          <p:nvPr>
            <p:ph type="title"/>
          </p:nvPr>
        </p:nvSpPr>
        <p:spPr>
          <a:xfrm>
            <a:off x="649224" y="645106"/>
            <a:ext cx="3650279" cy="1259894"/>
          </a:xfrm>
        </p:spPr>
        <p:txBody>
          <a:bodyPr>
            <a:normAutofit/>
          </a:bodyPr>
          <a:lstStyle/>
          <a:p>
            <a:r>
              <a:rPr lang="en-IN"/>
              <a:t>Continue….</a:t>
            </a:r>
            <a:endParaRPr lang="en-IN" dirty="0"/>
          </a:p>
        </p:txBody>
      </p:sp>
      <p:sp>
        <p:nvSpPr>
          <p:cNvPr id="3" name="Content Placeholder 2">
            <a:extLst>
              <a:ext uri="{FF2B5EF4-FFF2-40B4-BE49-F238E27FC236}">
                <a16:creationId xmlns:a16="http://schemas.microsoft.com/office/drawing/2014/main" id="{59650840-0C0F-4193-BCC4-7B962CA9F81F}"/>
              </a:ext>
            </a:extLst>
          </p:cNvPr>
          <p:cNvSpPr>
            <a:spLocks noGrp="1"/>
          </p:cNvSpPr>
          <p:nvPr>
            <p:ph idx="1"/>
          </p:nvPr>
        </p:nvSpPr>
        <p:spPr>
          <a:xfrm>
            <a:off x="270522" y="1275053"/>
            <a:ext cx="3650278" cy="4509295"/>
          </a:xfrm>
        </p:spPr>
        <p:txBody>
          <a:bodyPr>
            <a:normAutofit/>
          </a:bodyPr>
          <a:lstStyle/>
          <a:p>
            <a:pPr algn="just">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DIBL occurs when the depletion regions of the drain and the source interact with each other near the channel surface to lower the source potential barrier. </a:t>
            </a:r>
          </a:p>
          <a:p>
            <a:pPr algn="just">
              <a:buFont typeface="Arial" panose="020B0604020202020204" pitchFamily="34" charset="0"/>
              <a:buChar char="•"/>
            </a:pPr>
            <a:r>
              <a:rPr lang="en-US" b="0" i="0" u="none" strike="noStrike" baseline="0" dirty="0">
                <a:solidFill>
                  <a:schemeClr val="tx1"/>
                </a:solidFill>
                <a:latin typeface="Times New Roman" panose="02020603050405020304" pitchFamily="18" charset="0"/>
                <a:cs typeface="Times New Roman" panose="02020603050405020304" pitchFamily="18" charset="0"/>
              </a:rPr>
              <a:t>DIBL occurs for short-channel lengths, and it is further enhanced at high drain voltages. Ideally, the DIBL effect does not change the value of </a:t>
            </a:r>
            <a:r>
              <a:rPr lang="en-US" b="0" i="1" u="none" strike="noStrike" baseline="0" dirty="0">
                <a:solidFill>
                  <a:schemeClr val="tx1"/>
                </a:solidFill>
                <a:latin typeface="Times New Roman" panose="02020603050405020304" pitchFamily="18" charset="0"/>
                <a:cs typeface="Times New Roman" panose="02020603050405020304" pitchFamily="18" charset="0"/>
              </a:rPr>
              <a:t>S</a:t>
            </a:r>
            <a:r>
              <a:rPr lang="en-US" b="0" i="0" u="none" strike="noStrike" baseline="-25000" dirty="0">
                <a:solidFill>
                  <a:schemeClr val="tx1"/>
                </a:solidFill>
                <a:latin typeface="Times New Roman" panose="02020603050405020304" pitchFamily="18" charset="0"/>
                <a:cs typeface="Times New Roman" panose="02020603050405020304" pitchFamily="18" charset="0"/>
              </a:rPr>
              <a:t>t</a:t>
            </a:r>
            <a:r>
              <a:rPr lang="en-US" b="0" i="0" u="none" strike="noStrike" baseline="0" dirty="0">
                <a:solidFill>
                  <a:schemeClr val="tx1"/>
                </a:solidFill>
                <a:latin typeface="Times New Roman" panose="02020603050405020304" pitchFamily="18" charset="0"/>
                <a:cs typeface="Times New Roman" panose="02020603050405020304" pitchFamily="18" charset="0"/>
              </a:rPr>
              <a:t>, but does lower </a:t>
            </a:r>
            <a:r>
              <a:rPr lang="en-US" b="0" i="1" u="none" strike="noStrike" baseline="0" dirty="0">
                <a:solidFill>
                  <a:schemeClr val="tx1"/>
                </a:solidFill>
                <a:latin typeface="Times New Roman" panose="02020603050405020304" pitchFamily="18" charset="0"/>
                <a:cs typeface="Times New Roman" panose="02020603050405020304" pitchFamily="18" charset="0"/>
              </a:rPr>
              <a:t>V</a:t>
            </a:r>
            <a:r>
              <a:rPr lang="en-US" b="0" i="0" u="none" strike="noStrike" baseline="-25000" dirty="0">
                <a:solidFill>
                  <a:schemeClr val="tx1"/>
                </a:solidFill>
                <a:latin typeface="Times New Roman" panose="02020603050405020304" pitchFamily="18" charset="0"/>
                <a:cs typeface="Times New Roman" panose="02020603050405020304" pitchFamily="18" charset="0"/>
              </a:rPr>
              <a:t>th</a:t>
            </a:r>
            <a:r>
              <a:rPr lang="en-US" b="0" i="0" u="none" strike="noStrike" baseline="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Figure </a:t>
            </a:r>
            <a:r>
              <a:rPr lang="en-US" sz="1800" b="0" i="0" u="none" strike="noStrike" baseline="0" dirty="0">
                <a:solidFill>
                  <a:srgbClr val="1E3BFF"/>
                </a:solidFill>
                <a:latin typeface="Times New Roman" panose="02020603050405020304" pitchFamily="18" charset="0"/>
                <a:cs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shows the DIBL effect as </a:t>
            </a:r>
            <a:r>
              <a:rPr lang="en-US" sz="1800" b="0" i="0" u="none" strike="noStrike" baseline="0" dirty="0" err="1">
                <a:solidFill>
                  <a:srgbClr val="000000"/>
                </a:solidFill>
                <a:latin typeface="Times New Roman" panose="02020603050405020304" pitchFamily="18" charset="0"/>
                <a:cs typeface="Times New Roman" panose="02020603050405020304" pitchFamily="18" charset="0"/>
              </a:rPr>
              <a:t>itshows</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the </a:t>
            </a:r>
            <a:r>
              <a:rPr lang="en-US" sz="1800" b="0" i="1" u="none" strike="noStrike" baseline="0" dirty="0">
                <a:solidFill>
                  <a:srgbClr val="000000"/>
                </a:solidFill>
                <a:latin typeface="Times New Roman" panose="02020603050405020304" pitchFamily="18" charset="0"/>
                <a:cs typeface="Times New Roman" panose="02020603050405020304" pitchFamily="18" charset="0"/>
              </a:rPr>
              <a:t>I</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D − </a:t>
            </a:r>
            <a:r>
              <a:rPr lang="en-US" sz="1800" b="0" i="1" u="none" strike="noStrike" baseline="0" dirty="0">
                <a:solidFill>
                  <a:srgbClr val="000000"/>
                </a:solidFill>
                <a:latin typeface="Times New Roman" panose="02020603050405020304" pitchFamily="18" charset="0"/>
                <a:cs typeface="Times New Roman" panose="02020603050405020304" pitchFamily="18" charset="0"/>
              </a:rPr>
              <a:t>V</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G curve for different gate voltages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F212427-EE32-42D7-9C00-F35C85992E92}"/>
              </a:ext>
            </a:extLst>
          </p:cNvPr>
          <p:cNvPicPr>
            <a:picLocks noChangeAspect="1"/>
          </p:cNvPicPr>
          <p:nvPr/>
        </p:nvPicPr>
        <p:blipFill>
          <a:blip r:embed="rId2"/>
          <a:stretch>
            <a:fillRect/>
          </a:stretch>
        </p:blipFill>
        <p:spPr>
          <a:xfrm>
            <a:off x="3920800" y="1665914"/>
            <a:ext cx="8191245" cy="3727571"/>
          </a:xfrm>
          <a:prstGeom prst="rect">
            <a:avLst/>
          </a:prstGeom>
        </p:spPr>
      </p:pic>
      <p:sp>
        <p:nvSpPr>
          <p:cNvPr id="4" name="Footer Placeholder 3">
            <a:extLst>
              <a:ext uri="{FF2B5EF4-FFF2-40B4-BE49-F238E27FC236}">
                <a16:creationId xmlns:a16="http://schemas.microsoft.com/office/drawing/2014/main" id="{1155994A-398D-46DD-A5BC-47FDDB28FA63}"/>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Dr. Aruru Sai Kumar, VIT-AP</a:t>
            </a:r>
          </a:p>
        </p:txBody>
      </p:sp>
    </p:spTree>
    <p:extLst>
      <p:ext uri="{BB962C8B-B14F-4D97-AF65-F5344CB8AC3E}">
        <p14:creationId xmlns:p14="http://schemas.microsoft.com/office/powerpoint/2010/main" val="131001212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9F427-D3C6-6B35-6BE8-DB90DF5452CB}"/>
              </a:ext>
            </a:extLst>
          </p:cNvPr>
          <p:cNvSpPr>
            <a:spLocks noGrp="1"/>
          </p:cNvSpPr>
          <p:nvPr>
            <p:ph type="title"/>
          </p:nvPr>
        </p:nvSpPr>
        <p:spPr>
          <a:xfrm>
            <a:off x="2017890" y="281237"/>
            <a:ext cx="8911687" cy="699151"/>
          </a:xfrm>
        </p:spPr>
        <p:txBody>
          <a:bodyPr/>
          <a:lstStyle/>
          <a:p>
            <a:r>
              <a:rPr lang="en-IN" b="1" dirty="0">
                <a:latin typeface="Times New Roman" panose="02020603050405020304" pitchFamily="18" charset="0"/>
                <a:cs typeface="Times New Roman" panose="02020603050405020304" pitchFamily="18" charset="0"/>
              </a:rPr>
              <a:t>Subthreshold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C3668E-E1D3-7182-E748-7453DCE46B9E}"/>
                  </a:ext>
                </a:extLst>
              </p:cNvPr>
              <p:cNvSpPr>
                <a:spLocks noGrp="1"/>
              </p:cNvSpPr>
              <p:nvPr>
                <p:ph idx="1"/>
              </p:nvPr>
            </p:nvSpPr>
            <p:spPr>
              <a:xfrm>
                <a:off x="980388" y="980388"/>
                <a:ext cx="10840824" cy="5335571"/>
              </a:xfrm>
            </p:spPr>
            <p:txBody>
              <a:bodyPr>
                <a:normAutofit/>
              </a:bodyPr>
              <a:lstStyle/>
              <a:p>
                <a:pPr marL="0" indent="0">
                  <a:buNone/>
                </a:pPr>
                <a:r>
                  <a:rPr lang="en-IN" sz="2200" b="1" dirty="0">
                    <a:latin typeface="Times New Roman" panose="02020603050405020304" pitchFamily="18" charset="0"/>
                    <a:cs typeface="Times New Roman" panose="02020603050405020304" pitchFamily="18" charset="0"/>
                  </a:rPr>
                  <a:t>2. Body Effect: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Reverse biasing well-to-source junction of a MOSFET transistor widens the bulk depletion region and increases the threshold voltage.</a:t>
                </a:r>
                <a:endParaRPr lang="en-IN"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effect of body bias can be considered in the threshold voltage equation:</a:t>
                </a:r>
              </a:p>
              <a:p>
                <a:pPr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14:m>
                  <m:oMath xmlns:m="http://schemas.openxmlformats.org/officeDocument/2006/math">
                    <m:sSub>
                      <m:sSubPr>
                        <m:ctrlPr>
                          <a:rPr lang="en-US" sz="2200" i="1" smtClean="0">
                            <a:latin typeface="Cambria Math" panose="02040503050406030204" pitchFamily="18" charset="0"/>
                            <a:cs typeface="Times New Roman" panose="02020603050405020304" pitchFamily="18" charset="0"/>
                          </a:rPr>
                        </m:ctrlPr>
                      </m:sSubPr>
                      <m:e>
                        <m:r>
                          <a:rPr lang="en-IN" sz="2200" b="0" i="1" smtClean="0">
                            <a:latin typeface="Cambria Math" panose="02040503050406030204" pitchFamily="18" charset="0"/>
                            <a:cs typeface="Times New Roman" panose="02020603050405020304" pitchFamily="18" charset="0"/>
                          </a:rPr>
                          <m:t>𝑉</m:t>
                        </m:r>
                      </m:e>
                      <m:sub>
                        <m:r>
                          <a:rPr lang="en-IN" sz="2200" b="0" i="1" smtClean="0">
                            <a:latin typeface="Cambria Math" panose="02040503050406030204" pitchFamily="18" charset="0"/>
                            <a:cs typeface="Times New Roman" panose="02020603050405020304" pitchFamily="18" charset="0"/>
                          </a:rPr>
                          <m:t>𝑓𝑏</m:t>
                        </m:r>
                      </m:sub>
                    </m:sSub>
                  </m:oMath>
                </a14:m>
                <a:r>
                  <a:rPr lang="en-US" sz="2200" dirty="0">
                    <a:latin typeface="Times New Roman" panose="02020603050405020304" pitchFamily="18" charset="0"/>
                    <a:cs typeface="Times New Roman" panose="02020603050405020304" pitchFamily="18" charset="0"/>
                  </a:rPr>
                  <a:t> = Flat band Voltage</a:t>
                </a:r>
              </a:p>
              <a:p>
                <a:pPr algn="just">
                  <a:buFont typeface="Arial" panose="020B0604020202020204" pitchFamily="34" charset="0"/>
                  <a:buChar char="•"/>
                </a:pPr>
                <a14:m>
                  <m:oMath xmlns:m="http://schemas.openxmlformats.org/officeDocument/2006/math">
                    <m:sSub>
                      <m:sSubPr>
                        <m:ctrlPr>
                          <a:rPr lang="en-US" sz="2200" i="1">
                            <a:latin typeface="Cambria Math" panose="02040503050406030204" pitchFamily="18" charset="0"/>
                            <a:cs typeface="Times New Roman" panose="02020603050405020304" pitchFamily="18" charset="0"/>
                          </a:rPr>
                        </m:ctrlPr>
                      </m:sSubPr>
                      <m:e>
                        <m:r>
                          <a:rPr lang="en-IN" sz="2200" b="0" i="1" smtClean="0">
                            <a:latin typeface="Cambria Math" panose="02040503050406030204" pitchFamily="18" charset="0"/>
                            <a:cs typeface="Times New Roman" panose="02020603050405020304" pitchFamily="18" charset="0"/>
                          </a:rPr>
                          <m:t>𝑁</m:t>
                        </m:r>
                      </m:e>
                      <m:sub>
                        <m:r>
                          <a:rPr lang="en-IN" sz="2200" b="0" i="1" smtClean="0">
                            <a:latin typeface="Cambria Math" panose="02040503050406030204" pitchFamily="18" charset="0"/>
                            <a:cs typeface="Times New Roman" panose="02020603050405020304" pitchFamily="18" charset="0"/>
                          </a:rPr>
                          <m:t>𝑎</m:t>
                        </m:r>
                      </m:sub>
                    </m:sSub>
                    <m:r>
                      <a:rPr lang="en-IN" sz="2200" b="0" i="1" smtClean="0">
                        <a:latin typeface="Cambria Math" panose="02040503050406030204" pitchFamily="18" charset="0"/>
                        <a:cs typeface="Times New Roman" panose="02020603050405020304" pitchFamily="18" charset="0"/>
                      </a:rPr>
                      <m:t> </m:t>
                    </m:r>
                  </m:oMath>
                </a14:m>
                <a:r>
                  <a:rPr lang="en-US" sz="2200" dirty="0">
                    <a:latin typeface="Times New Roman" panose="02020603050405020304" pitchFamily="18" charset="0"/>
                    <a:cs typeface="Times New Roman" panose="02020603050405020304" pitchFamily="18" charset="0"/>
                  </a:rPr>
                  <a:t> = doping density in the substrate.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is the difference between the Fermi potential and the intrinsic potential in the substrate.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Higher VT → reduced leakage.</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endParaRPr lang="en-IN" sz="22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56C3668E-E1D3-7182-E748-7453DCE46B9E}"/>
                  </a:ext>
                </a:extLst>
              </p:cNvPr>
              <p:cNvSpPr>
                <a:spLocks noGrp="1" noRot="1" noChangeAspect="1" noMove="1" noResize="1" noEditPoints="1" noAdjustHandles="1" noChangeArrowheads="1" noChangeShapeType="1" noTextEdit="1"/>
              </p:cNvSpPr>
              <p:nvPr>
                <p:ph idx="1"/>
              </p:nvPr>
            </p:nvSpPr>
            <p:spPr>
              <a:xfrm>
                <a:off x="980388" y="980388"/>
                <a:ext cx="10840824" cy="5335571"/>
              </a:xfrm>
              <a:blipFill>
                <a:blip r:embed="rId2"/>
                <a:stretch>
                  <a:fillRect l="-787" t="-800" r="-844"/>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5FA4DC5E-6929-6049-245A-FF8D6871840A}"/>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5CB39225-C576-7602-E0CE-A7A4207B5C15}"/>
              </a:ext>
            </a:extLst>
          </p:cNvPr>
          <p:cNvPicPr>
            <a:picLocks noChangeAspect="1"/>
          </p:cNvPicPr>
          <p:nvPr/>
        </p:nvPicPr>
        <p:blipFill>
          <a:blip r:embed="rId3"/>
          <a:stretch>
            <a:fillRect/>
          </a:stretch>
        </p:blipFill>
        <p:spPr>
          <a:xfrm>
            <a:off x="4090728" y="2727899"/>
            <a:ext cx="3482642" cy="701101"/>
          </a:xfrm>
          <a:prstGeom prst="rect">
            <a:avLst/>
          </a:prstGeom>
        </p:spPr>
      </p:pic>
      <p:pic>
        <p:nvPicPr>
          <p:cNvPr id="10" name="Picture 9">
            <a:extLst>
              <a:ext uri="{FF2B5EF4-FFF2-40B4-BE49-F238E27FC236}">
                <a16:creationId xmlns:a16="http://schemas.microsoft.com/office/drawing/2014/main" id="{3A092F3B-468F-6B53-92B1-D245320D48EE}"/>
              </a:ext>
            </a:extLst>
          </p:cNvPr>
          <p:cNvPicPr>
            <a:picLocks noChangeAspect="1"/>
          </p:cNvPicPr>
          <p:nvPr/>
        </p:nvPicPr>
        <p:blipFill>
          <a:blip r:embed="rId4"/>
          <a:stretch>
            <a:fillRect/>
          </a:stretch>
        </p:blipFill>
        <p:spPr>
          <a:xfrm>
            <a:off x="1599336" y="4690422"/>
            <a:ext cx="1828958" cy="320068"/>
          </a:xfrm>
          <a:prstGeom prst="rect">
            <a:avLst/>
          </a:prstGeom>
        </p:spPr>
      </p:pic>
    </p:spTree>
    <p:extLst>
      <p:ext uri="{BB962C8B-B14F-4D97-AF65-F5344CB8AC3E}">
        <p14:creationId xmlns:p14="http://schemas.microsoft.com/office/powerpoint/2010/main" val="31935039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37462-052F-21F8-F02F-9F9206B450EF}"/>
              </a:ext>
            </a:extLst>
          </p:cNvPr>
          <p:cNvSpPr>
            <a:spLocks noGrp="1"/>
          </p:cNvSpPr>
          <p:nvPr>
            <p:ph type="title"/>
          </p:nvPr>
        </p:nvSpPr>
        <p:spPr>
          <a:xfrm>
            <a:off x="1847655" y="624110"/>
            <a:ext cx="9656958" cy="1280890"/>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9262033B-E934-0150-6E3F-8E283D70708A}"/>
              </a:ext>
            </a:extLst>
          </p:cNvPr>
          <p:cNvSpPr>
            <a:spLocks noGrp="1"/>
          </p:cNvSpPr>
          <p:nvPr>
            <p:ph idx="1"/>
          </p:nvPr>
        </p:nvSpPr>
        <p:spPr>
          <a:xfrm>
            <a:off x="1385741" y="1540188"/>
            <a:ext cx="10539166" cy="4693701"/>
          </a:xfrm>
        </p:spPr>
        <p:txBody>
          <a:bodyPr/>
          <a:lstStyle/>
          <a:p>
            <a:pPr marL="0" indent="0">
              <a:buNone/>
            </a:pPr>
            <a:r>
              <a:rPr lang="en-IN" sz="2400" b="1" dirty="0">
                <a:latin typeface="Times New Roman" panose="02020603050405020304" pitchFamily="18" charset="0"/>
                <a:cs typeface="Times New Roman" panose="02020603050405020304" pitchFamily="18" charset="0"/>
              </a:rPr>
              <a:t>3. Narrow-Width Effect: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decrease in gate width modulates the threshold voltage of a transistor, and thereby modulates the subthreshold leakage. There are mainly three ways that narrow width modulates the threshold voltage.</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4154351-64CC-1335-F3F5-6AF1F9C2EC4A}"/>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6950874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93675-754D-68B9-582A-977D78135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FDC0D-3A65-1ABB-963B-A217426C31D5}"/>
              </a:ext>
            </a:extLst>
          </p:cNvPr>
          <p:cNvSpPr>
            <a:spLocks noGrp="1"/>
          </p:cNvSpPr>
          <p:nvPr>
            <p:ph type="title"/>
          </p:nvPr>
        </p:nvSpPr>
        <p:spPr>
          <a:xfrm>
            <a:off x="1847655" y="624110"/>
            <a:ext cx="9656958" cy="1280890"/>
          </a:xfrm>
        </p:spPr>
        <p:txBody>
          <a:bodyPr/>
          <a:lstStyle/>
          <a:p>
            <a:r>
              <a:rPr lang="en-IN" b="1" dirty="0">
                <a:latin typeface="Times New Roman" panose="02020603050405020304" pitchFamily="18" charset="0"/>
                <a:cs typeface="Times New Roman" panose="02020603050405020304" pitchFamily="18" charset="0"/>
              </a:rPr>
              <a:t>Subthreshold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F2154A-8B88-132B-40B6-870F3021A3CB}"/>
                  </a:ext>
                </a:extLst>
              </p:cNvPr>
              <p:cNvSpPr>
                <a:spLocks noGrp="1"/>
              </p:cNvSpPr>
              <p:nvPr>
                <p:ph idx="1"/>
              </p:nvPr>
            </p:nvSpPr>
            <p:spPr>
              <a:xfrm>
                <a:off x="1385741" y="1540188"/>
                <a:ext cx="10539166" cy="4693701"/>
              </a:xfrm>
            </p:spPr>
            <p:txBody>
              <a:bodyPr>
                <a:normAutofit lnSpcReduction="10000"/>
              </a:bodyPr>
              <a:lstStyle/>
              <a:p>
                <a:pPr marL="0" indent="0">
                  <a:buNone/>
                </a:pPr>
                <a:r>
                  <a:rPr lang="en-IN" sz="2400" b="1" dirty="0">
                    <a:latin typeface="Times New Roman" panose="02020603050405020304" pitchFamily="18" charset="0"/>
                    <a:cs typeface="Times New Roman" panose="02020603050405020304" pitchFamily="18" charset="0"/>
                  </a:rPr>
                  <a:t>4. Effect of Channel Length and Threshold Rolloff:</a:t>
                </a:r>
              </a:p>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As the channel length of a MOSFET decreases, the threshold voltage </a:t>
                </a:r>
                <a14:m>
                  <m:oMath xmlns:m="http://schemas.openxmlformats.org/officeDocument/2006/math">
                    <m:sSub>
                      <m:sSubPr>
                        <m:ctrlPr>
                          <a:rPr lang="ar-AE" sz="2200" i="1">
                            <a:latin typeface="Cambria Math" panose="02040503050406030204" pitchFamily="18" charset="0"/>
                          </a:rPr>
                        </m:ctrlPr>
                      </m:sSubPr>
                      <m:e>
                        <m:r>
                          <a:rPr lang="ar-AE" sz="2200" b="0" i="1">
                            <a:latin typeface="Cambria Math" panose="02040503050406030204" pitchFamily="18" charset="0"/>
                          </a:rPr>
                          <m:t>𝑉</m:t>
                        </m:r>
                      </m:e>
                      <m:sub>
                        <m:r>
                          <a:rPr lang="ar-AE" sz="2200" b="0" i="1">
                            <a:latin typeface="Cambria Math" panose="02040503050406030204" pitchFamily="18" charset="0"/>
                          </a:rPr>
                          <m:t>𝑡</m:t>
                        </m:r>
                        <m:r>
                          <a:rPr lang="ar-AE" sz="2200" b="0" i="1">
                            <a:latin typeface="Cambria Math" panose="02040503050406030204" pitchFamily="18" charset="0"/>
                          </a:rPr>
                          <m:t>h</m:t>
                        </m:r>
                      </m:sub>
                    </m:sSub>
                  </m:oMath>
                </a14:m>
                <a:r>
                  <a:rPr lang="en-IN"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also decreases.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reduction of threshold voltage with decreasing channel length is known as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𝑉</m:t>
                        </m:r>
                      </m:e>
                      <m:sub>
                        <m:r>
                          <a:rPr lang="ar-AE" sz="2200" i="1">
                            <a:latin typeface="Cambria Math" panose="02040503050406030204" pitchFamily="18" charset="0"/>
                          </a:rPr>
                          <m:t>𝑡</m:t>
                        </m:r>
                        <m:r>
                          <a:rPr lang="ar-AE" sz="2200" i="1">
                            <a:latin typeface="Cambria Math" panose="02040503050406030204" pitchFamily="18" charset="0"/>
                          </a:rPr>
                          <m:t>h</m:t>
                        </m:r>
                      </m:sub>
                    </m:sSub>
                  </m:oMath>
                </a14:m>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rolloff</a:t>
                </a:r>
                <a:r>
                  <a:rPr lang="en-IN" sz="22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main reason for this effect is the presence of two-dimensional (2-D) electric field patterns in short-channel devices.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 Long-Channel Devices: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Electric field is mostly one-dimensional (1-D).</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Source and drain are far apart.</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Their depletion regions do not significantly affect the channel potential.</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Threshold voltage remains almost constant.</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AF2154A-8B88-132B-40B6-870F3021A3CB}"/>
                  </a:ext>
                </a:extLst>
              </p:cNvPr>
              <p:cNvSpPr>
                <a:spLocks noGrp="1" noRot="1" noChangeAspect="1" noMove="1" noResize="1" noEditPoints="1" noAdjustHandles="1" noChangeArrowheads="1" noChangeShapeType="1" noTextEdit="1"/>
              </p:cNvSpPr>
              <p:nvPr>
                <p:ph idx="1"/>
              </p:nvPr>
            </p:nvSpPr>
            <p:spPr>
              <a:xfrm>
                <a:off x="1385741" y="1540188"/>
                <a:ext cx="10539166" cy="4693701"/>
              </a:xfrm>
              <a:blipFill>
                <a:blip r:embed="rId2"/>
                <a:stretch>
                  <a:fillRect l="-868" t="-1818" r="-752"/>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86556786-456F-34AD-C9C1-B0ECCEBDD651}"/>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6862115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E3C2-DBC4-CF74-A3D4-AA1EEDB7D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CD925-7997-CF01-0078-41707407289D}"/>
              </a:ext>
            </a:extLst>
          </p:cNvPr>
          <p:cNvSpPr>
            <a:spLocks noGrp="1"/>
          </p:cNvSpPr>
          <p:nvPr>
            <p:ph type="title"/>
          </p:nvPr>
        </p:nvSpPr>
        <p:spPr>
          <a:xfrm>
            <a:off x="1847655" y="624110"/>
            <a:ext cx="9656958" cy="1280890"/>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7F5227A8-DB60-82C0-77B0-3EC069237BE9}"/>
              </a:ext>
            </a:extLst>
          </p:cNvPr>
          <p:cNvSpPr>
            <a:spLocks noGrp="1"/>
          </p:cNvSpPr>
          <p:nvPr>
            <p:ph idx="1"/>
          </p:nvPr>
        </p:nvSpPr>
        <p:spPr>
          <a:xfrm>
            <a:off x="1385741" y="1540188"/>
            <a:ext cx="10539166" cy="4693701"/>
          </a:xfrm>
        </p:spPr>
        <p:txBody>
          <a:bodyPr>
            <a:normAutofit/>
          </a:bodyPr>
          <a:lstStyle/>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 Short-Channel Devices: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Source and drain are very close.</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Their depletion regions extend into the channel.</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source–drain distance becomes comparable to the vertical depletion width.</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creates a 2-D electric field distribution.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Depletion regions from source and drain penetrate deeper into the channel.</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Part of the channel is already depleted before gate voltage is applied.</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gate now needs to invert less bulk charge to form the channel, thereby lowering the threshold voltage.</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FB27826-6509-DBF0-B7B9-2B1278901D1A}"/>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2811248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58EA-C1BD-883B-94CF-06AD2AEED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6396B-2187-02A7-DA14-C69F1A33E19F}"/>
              </a:ext>
            </a:extLst>
          </p:cNvPr>
          <p:cNvSpPr>
            <a:spLocks noGrp="1"/>
          </p:cNvSpPr>
          <p:nvPr>
            <p:ph type="title"/>
          </p:nvPr>
        </p:nvSpPr>
        <p:spPr>
          <a:xfrm>
            <a:off x="1847655" y="624110"/>
            <a:ext cx="9656958" cy="1280890"/>
          </a:xfrm>
        </p:spPr>
        <p:txBody>
          <a:bodyPr/>
          <a:lstStyle/>
          <a:p>
            <a:r>
              <a:rPr lang="en-IN" b="1" dirty="0">
                <a:latin typeface="Times New Roman" panose="02020603050405020304" pitchFamily="18" charset="0"/>
                <a:cs typeface="Times New Roman" panose="02020603050405020304" pitchFamily="18" charset="0"/>
              </a:rPr>
              <a:t>Subthreshold Leakage</a:t>
            </a:r>
          </a:p>
        </p:txBody>
      </p:sp>
      <p:sp>
        <p:nvSpPr>
          <p:cNvPr id="3" name="Content Placeholder 2">
            <a:extLst>
              <a:ext uri="{FF2B5EF4-FFF2-40B4-BE49-F238E27FC236}">
                <a16:creationId xmlns:a16="http://schemas.microsoft.com/office/drawing/2014/main" id="{02C77623-B2D8-55FE-D0E2-F737F1CB5425}"/>
              </a:ext>
            </a:extLst>
          </p:cNvPr>
          <p:cNvSpPr>
            <a:spLocks noGrp="1"/>
          </p:cNvSpPr>
          <p:nvPr>
            <p:ph idx="1"/>
          </p:nvPr>
        </p:nvSpPr>
        <p:spPr>
          <a:xfrm>
            <a:off x="1385741" y="1540188"/>
            <a:ext cx="10539166" cy="4693701"/>
          </a:xfrm>
        </p:spPr>
        <p:txBody>
          <a:bodyPr>
            <a:normAutofit/>
          </a:bodyPr>
          <a:lstStyle/>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Effect of Drain Bias</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effect becomes more severe at high drain voltage:</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Higher drain bias increases depletion region width.</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More depletion charge enters the channel.</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Threshold voltage reduces further.</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Subthreshold current increases.</a:t>
            </a:r>
          </a:p>
          <a:p>
            <a:pPr marL="0" indent="0" algn="just">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7B6D695-EC34-4E3B-BDDA-EFE59AA0E1C2}"/>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616CB68D-5D6A-3279-F08D-96D61D119BAC}"/>
              </a:ext>
            </a:extLst>
          </p:cNvPr>
          <p:cNvPicPr>
            <a:picLocks noChangeAspect="1"/>
          </p:cNvPicPr>
          <p:nvPr/>
        </p:nvPicPr>
        <p:blipFill>
          <a:blip r:embed="rId2"/>
          <a:stretch>
            <a:fillRect/>
          </a:stretch>
        </p:blipFill>
        <p:spPr>
          <a:xfrm>
            <a:off x="7581131" y="3357250"/>
            <a:ext cx="4343776" cy="3010161"/>
          </a:xfrm>
          <a:prstGeom prst="rect">
            <a:avLst/>
          </a:prstGeom>
        </p:spPr>
      </p:pic>
      <p:sp>
        <p:nvSpPr>
          <p:cNvPr id="8" name="TextBox 7">
            <a:extLst>
              <a:ext uri="{FF2B5EF4-FFF2-40B4-BE49-F238E27FC236}">
                <a16:creationId xmlns:a16="http://schemas.microsoft.com/office/drawing/2014/main" id="{CAC68438-CC17-38B7-732D-8CA4E3960CB6}"/>
              </a:ext>
            </a:extLst>
          </p:cNvPr>
          <p:cNvSpPr txBox="1"/>
          <p:nvPr/>
        </p:nvSpPr>
        <p:spPr>
          <a:xfrm>
            <a:off x="1680328" y="4862330"/>
            <a:ext cx="6094428" cy="64633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Figure : Threshold voltage </a:t>
            </a:r>
            <a:r>
              <a:rPr lang="en-US" dirty="0" err="1">
                <a:latin typeface="Times New Roman" panose="02020603050405020304" pitchFamily="18" charset="0"/>
                <a:cs typeface="Times New Roman" panose="02020603050405020304" pitchFamily="18" charset="0"/>
              </a:rPr>
              <a:t>rolloff</a:t>
            </a:r>
            <a:r>
              <a:rPr lang="en-US" dirty="0">
                <a:latin typeface="Times New Roman" panose="02020603050405020304" pitchFamily="18" charset="0"/>
                <a:cs typeface="Times New Roman" panose="02020603050405020304" pitchFamily="18" charset="0"/>
              </a:rPr>
              <a:t> with change in channel length; V reduction is more severe at higher drain bias.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38196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C395-8AFC-B9A6-F43D-971B05BED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5B59B-B8EC-A66A-7825-3A1608C3C3EE}"/>
              </a:ext>
            </a:extLst>
          </p:cNvPr>
          <p:cNvSpPr>
            <a:spLocks noGrp="1"/>
          </p:cNvSpPr>
          <p:nvPr>
            <p:ph type="title"/>
          </p:nvPr>
        </p:nvSpPr>
        <p:spPr>
          <a:xfrm>
            <a:off x="1847655" y="624110"/>
            <a:ext cx="9656958" cy="1280890"/>
          </a:xfrm>
        </p:spPr>
        <p:txBody>
          <a:bodyPr/>
          <a:lstStyle/>
          <a:p>
            <a:r>
              <a:rPr lang="en-IN" b="1" dirty="0">
                <a:latin typeface="Times New Roman" panose="02020603050405020304" pitchFamily="18" charset="0"/>
                <a:cs typeface="Times New Roman" panose="02020603050405020304" pitchFamily="18" charset="0"/>
              </a:rPr>
              <a:t>Subthreshold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07C841-A0F6-ACCD-BF4C-BF7279466097}"/>
                  </a:ext>
                </a:extLst>
              </p:cNvPr>
              <p:cNvSpPr>
                <a:spLocks noGrp="1"/>
              </p:cNvSpPr>
              <p:nvPr>
                <p:ph idx="1"/>
              </p:nvPr>
            </p:nvSpPr>
            <p:spPr>
              <a:xfrm>
                <a:off x="1385741" y="1540188"/>
                <a:ext cx="10539166" cy="4693701"/>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5. Effect of Temperature:</a:t>
                </a:r>
              </a:p>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Subthreshold leakage current increases significantly with temperature because the subthreshold slope increases linearly with temperature and the threshold voltage decreases at approximately 0.8 mV/°C. </a:t>
                </a:r>
              </a:p>
              <a:p>
                <a:pPr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As a result, the OFF current rises exponentially with temperature. In the given 0.35 </a:t>
                </a:r>
                <a:r>
                  <a:rPr lang="el-GR" sz="2200" dirty="0">
                    <a:latin typeface="Times New Roman" panose="02020603050405020304" pitchFamily="18" charset="0"/>
                    <a:cs typeface="Times New Roman" panose="02020603050405020304" pitchFamily="18" charset="0"/>
                  </a:rPr>
                  <a:t>μ</a:t>
                </a:r>
                <a:r>
                  <a:rPr lang="en-IN" sz="2200" dirty="0">
                    <a:latin typeface="Times New Roman" panose="02020603050405020304" pitchFamily="18" charset="0"/>
                    <a:cs typeface="Times New Roman" panose="02020603050405020304" pitchFamily="18" charset="0"/>
                  </a:rPr>
                  <a:t>m technology example,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𝐼</m:t>
                        </m:r>
                      </m:e>
                      <m:sub>
                        <m:r>
                          <a:rPr lang="ar-AE" sz="2200" i="1">
                            <a:latin typeface="Cambria Math" panose="02040503050406030204" pitchFamily="18" charset="0"/>
                          </a:rPr>
                          <m:t>𝑂𝐹𝐹</m:t>
                        </m:r>
                      </m:sub>
                    </m:sSub>
                  </m:oMath>
                </a14:m>
                <a:r>
                  <a:rPr lang="en-IN" sz="2200" dirty="0">
                    <a:latin typeface="Times New Roman" panose="02020603050405020304" pitchFamily="18" charset="0"/>
                    <a:cs typeface="Times New Roman" panose="02020603050405020304" pitchFamily="18" charset="0"/>
                  </a:rPr>
                  <a:t>increases by a factor of 356 between −50°C and 25°C, demonstrating the strong temperature dependence of subthreshold leakage.</a:t>
                </a:r>
              </a:p>
              <a:p>
                <a:pPr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E07C841-A0F6-ACCD-BF4C-BF7279466097}"/>
                  </a:ext>
                </a:extLst>
              </p:cNvPr>
              <p:cNvSpPr>
                <a:spLocks noGrp="1" noRot="1" noChangeAspect="1" noMove="1" noResize="1" noEditPoints="1" noAdjustHandles="1" noChangeArrowheads="1" noChangeShapeType="1" noTextEdit="1"/>
              </p:cNvSpPr>
              <p:nvPr>
                <p:ph idx="1"/>
              </p:nvPr>
            </p:nvSpPr>
            <p:spPr>
              <a:xfrm>
                <a:off x="1385741" y="1540188"/>
                <a:ext cx="10539166" cy="4693701"/>
              </a:xfrm>
              <a:blipFill>
                <a:blip r:embed="rId2"/>
                <a:stretch>
                  <a:fillRect l="-868" t="-1039" r="-752"/>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AFA75CE8-1D96-3F58-6554-5A7562FB9577}"/>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4747825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CE61DD-A677-2A5B-0704-24F65B2E967D}"/>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B9725AFC-6387-452C-82A1-294A87990233}"/>
              </a:ext>
            </a:extLst>
          </p:cNvPr>
          <p:cNvPicPr>
            <a:picLocks noChangeAspect="1"/>
          </p:cNvPicPr>
          <p:nvPr/>
        </p:nvPicPr>
        <p:blipFill>
          <a:blip r:embed="rId2"/>
          <a:stretch>
            <a:fillRect/>
          </a:stretch>
        </p:blipFill>
        <p:spPr>
          <a:xfrm>
            <a:off x="3475111" y="794510"/>
            <a:ext cx="5486875" cy="3025402"/>
          </a:xfrm>
          <a:prstGeom prst="rect">
            <a:avLst/>
          </a:prstGeom>
        </p:spPr>
      </p:pic>
      <p:sp>
        <p:nvSpPr>
          <p:cNvPr id="6" name="TextBox 5">
            <a:extLst>
              <a:ext uri="{FF2B5EF4-FFF2-40B4-BE49-F238E27FC236}">
                <a16:creationId xmlns:a16="http://schemas.microsoft.com/office/drawing/2014/main" id="{8DB53D97-6826-A39A-19BE-A7897F116876}"/>
              </a:ext>
            </a:extLst>
          </p:cNvPr>
          <p:cNvSpPr txBox="1"/>
          <p:nvPr/>
        </p:nvSpPr>
        <p:spPr>
          <a:xfrm>
            <a:off x="3374796" y="4095104"/>
            <a:ext cx="69923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I</a:t>
            </a:r>
            <a:r>
              <a:rPr lang="en-US" baseline="-25000" dirty="0">
                <a:latin typeface="Times New Roman" panose="02020603050405020304" pitchFamily="18" charset="0"/>
                <a:cs typeface="Times New Roman" panose="02020603050405020304" pitchFamily="18" charset="0"/>
              </a:rPr>
              <a:t>D</a:t>
            </a:r>
            <a:r>
              <a:rPr lang="en-US" dirty="0">
                <a:latin typeface="Times New Roman" panose="02020603050405020304" pitchFamily="18" charset="0"/>
                <a:cs typeface="Times New Roman" panose="02020603050405020304" pitchFamily="18" charset="0"/>
              </a:rPr>
              <a:t> versus VG showing temperature sensitivity of I</a:t>
            </a:r>
            <a:r>
              <a:rPr lang="en-US" baseline="-25000" dirty="0">
                <a:latin typeface="Times New Roman" panose="02020603050405020304" pitchFamily="18" charset="0"/>
                <a:cs typeface="Times New Roman" panose="02020603050405020304" pitchFamily="18" charset="0"/>
              </a:rPr>
              <a:t>OFF</a:t>
            </a:r>
            <a:endParaRPr lang="en-IN"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273663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05B09-D005-234F-196D-5E394A7FA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07D82-1DD8-9044-BC34-E29349E0AD59}"/>
              </a:ext>
            </a:extLst>
          </p:cNvPr>
          <p:cNvSpPr>
            <a:spLocks noGrp="1"/>
          </p:cNvSpPr>
          <p:nvPr>
            <p:ph type="title"/>
          </p:nvPr>
        </p:nvSpPr>
        <p:spPr>
          <a:xfrm>
            <a:off x="1847655" y="624110"/>
            <a:ext cx="10344345" cy="978447"/>
          </a:xfrm>
        </p:spPr>
        <p:txBody>
          <a:bodyPr>
            <a:normAutofit/>
          </a:bodyPr>
          <a:lstStyle/>
          <a:p>
            <a:r>
              <a:rPr lang="en-US" b="1" dirty="0">
                <a:latin typeface="Times New Roman" panose="02020603050405020304" pitchFamily="18" charset="0"/>
                <a:cs typeface="Times New Roman" panose="02020603050405020304" pitchFamily="18" charset="0"/>
              </a:rPr>
              <a:t>Gate oxide tunneling leakage</a:t>
            </a:r>
          </a:p>
        </p:txBody>
      </p:sp>
      <p:sp>
        <p:nvSpPr>
          <p:cNvPr id="3" name="Content Placeholder 2">
            <a:extLst>
              <a:ext uri="{FF2B5EF4-FFF2-40B4-BE49-F238E27FC236}">
                <a16:creationId xmlns:a16="http://schemas.microsoft.com/office/drawing/2014/main" id="{E28856ED-CC37-46BD-D8AE-81E3554DB5BB}"/>
              </a:ext>
            </a:extLst>
          </p:cNvPr>
          <p:cNvSpPr>
            <a:spLocks noGrp="1"/>
          </p:cNvSpPr>
          <p:nvPr>
            <p:ph idx="1"/>
          </p:nvPr>
        </p:nvSpPr>
        <p:spPr>
          <a:xfrm>
            <a:off x="1414021" y="1442107"/>
            <a:ext cx="10539166" cy="4693701"/>
          </a:xfrm>
        </p:spPr>
        <p:txBody>
          <a:bodyPr>
            <a:normAutofit lnSpcReduction="10000"/>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Reduction of gate oxide thickness results in an increase in the field across the oxide.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high electric field coupled with low oxide thickness results in tunneling of electrons from substrate to gate and also from gate to substrate through the gate oxide, resulting in the gate oxide tunneling current.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understand the phenomenon of tunneling, consider an MOS capacitor with a heavily doped n+-type polysilicon gate and a p-type substrate. Also, for simplicity, let us now focus only on the electron tunneling.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When a positive bias is applied to the gate, due to the small oxide thickness, which results in a small width of the potential barrier, the electrons at the strongly inverted surface can tunnel into or through the SiO</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layer and hence give rise to the gate current.</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F9E9894-C110-FF31-3ADB-CE010DFD7639}"/>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40946143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1A5F2-2EE2-B50B-F096-859A7C192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29280-46C7-8C86-730B-07C75887B4B3}"/>
              </a:ext>
            </a:extLst>
          </p:cNvPr>
          <p:cNvSpPr>
            <a:spLocks noGrp="1"/>
          </p:cNvSpPr>
          <p:nvPr>
            <p:ph type="title"/>
          </p:nvPr>
        </p:nvSpPr>
        <p:spPr>
          <a:xfrm>
            <a:off x="1511431" y="98535"/>
            <a:ext cx="10344345" cy="978447"/>
          </a:xfrm>
        </p:spPr>
        <p:txBody>
          <a:bodyPr>
            <a:normAutofit/>
          </a:bodyPr>
          <a:lstStyle/>
          <a:p>
            <a:r>
              <a:rPr lang="en-US" b="1" dirty="0">
                <a:latin typeface="Times New Roman" panose="02020603050405020304" pitchFamily="18" charset="0"/>
                <a:cs typeface="Times New Roman" panose="02020603050405020304" pitchFamily="18" charset="0"/>
              </a:rPr>
              <a:t>Gate oxide tunneling leakage</a:t>
            </a:r>
          </a:p>
        </p:txBody>
      </p:sp>
      <p:sp>
        <p:nvSpPr>
          <p:cNvPr id="3" name="Content Placeholder 2">
            <a:extLst>
              <a:ext uri="{FF2B5EF4-FFF2-40B4-BE49-F238E27FC236}">
                <a16:creationId xmlns:a16="http://schemas.microsoft.com/office/drawing/2014/main" id="{73B7B98C-5B3B-5618-DF2A-10147B7AEA02}"/>
              </a:ext>
            </a:extLst>
          </p:cNvPr>
          <p:cNvSpPr>
            <a:spLocks noGrp="1"/>
          </p:cNvSpPr>
          <p:nvPr>
            <p:ph idx="1"/>
          </p:nvPr>
        </p:nvSpPr>
        <p:spPr>
          <a:xfrm>
            <a:off x="1583703" y="770321"/>
            <a:ext cx="10539166" cy="4693701"/>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 the other hand, if a negative gate bias is applied, electrons from the n+ polysilicon can tunnel into or through the oxide layer and give rise to the gate current.</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0B8DC6C-5A82-482D-7D68-778209AFCDDD}"/>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B93D56BD-D0BE-8A58-C74F-AA86A7613D62}"/>
              </a:ext>
            </a:extLst>
          </p:cNvPr>
          <p:cNvPicPr>
            <a:picLocks noChangeAspect="1"/>
          </p:cNvPicPr>
          <p:nvPr/>
        </p:nvPicPr>
        <p:blipFill>
          <a:blip r:embed="rId2"/>
          <a:stretch>
            <a:fillRect/>
          </a:stretch>
        </p:blipFill>
        <p:spPr>
          <a:xfrm>
            <a:off x="688159" y="1985687"/>
            <a:ext cx="7239784" cy="4688287"/>
          </a:xfrm>
          <a:prstGeom prst="rect">
            <a:avLst/>
          </a:prstGeom>
        </p:spPr>
      </p:pic>
      <p:sp>
        <p:nvSpPr>
          <p:cNvPr id="8" name="TextBox 7">
            <a:extLst>
              <a:ext uri="{FF2B5EF4-FFF2-40B4-BE49-F238E27FC236}">
                <a16:creationId xmlns:a16="http://schemas.microsoft.com/office/drawing/2014/main" id="{FACC7A8B-93A2-3FEB-11F8-A4C626B1328D}"/>
              </a:ext>
            </a:extLst>
          </p:cNvPr>
          <p:cNvSpPr txBox="1"/>
          <p:nvPr/>
        </p:nvSpPr>
        <p:spPr>
          <a:xfrm>
            <a:off x="8000215" y="2878699"/>
            <a:ext cx="4326903" cy="230832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Figure: Tunneling of electrons through an MOS capacitor. (a) Energy-band diagram at flat-band condition. (b) Energy-band diagram with positive gate bias showing tunneling of electron from substrate to gate. (c) Energy-band diagram at negative gate bias showing tunneling of electron from gate to substrate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86706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E7D9-E1E3-8752-AD2A-E8C4AE93F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AFCC6-FB2E-6050-EE59-298F2C443373}"/>
              </a:ext>
            </a:extLst>
          </p:cNvPr>
          <p:cNvSpPr>
            <a:spLocks noGrp="1"/>
          </p:cNvSpPr>
          <p:nvPr>
            <p:ph type="title"/>
          </p:nvPr>
        </p:nvSpPr>
        <p:spPr>
          <a:xfrm>
            <a:off x="1608842" y="106594"/>
            <a:ext cx="10344345" cy="613322"/>
          </a:xfrm>
        </p:spPr>
        <p:txBody>
          <a:bodyPr>
            <a:normAutofit fontScale="90000"/>
          </a:bodyPr>
          <a:lstStyle/>
          <a:p>
            <a:r>
              <a:rPr lang="en-US" b="1" dirty="0">
                <a:latin typeface="Times New Roman" panose="02020603050405020304" pitchFamily="18" charset="0"/>
                <a:cs typeface="Times New Roman" panose="02020603050405020304" pitchFamily="18" charset="0"/>
              </a:rPr>
              <a:t>Gate oxide tunneling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A34A3F-FC7B-C404-2107-0C08FA267373}"/>
                  </a:ext>
                </a:extLst>
              </p:cNvPr>
              <p:cNvSpPr>
                <a:spLocks noGrp="1"/>
              </p:cNvSpPr>
              <p:nvPr>
                <p:ph idx="1"/>
              </p:nvPr>
            </p:nvSpPr>
            <p:spPr>
              <a:xfrm>
                <a:off x="1329180" y="829365"/>
                <a:ext cx="10539166" cy="5415893"/>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mechanism of tunneling between substrate and gate polysilicon can be primarily divided into two parts, namely: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(1) Fowler–Nordheim (FN) tunneling, and (2) direct tunneling.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tunneling probability of an electron depends on the thickness of the barrier, the barrier height, and the structure of the barrier.</a:t>
                </a: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Fowler-Nordheim Tunneling:</a:t>
                </a:r>
              </a:p>
              <a:p>
                <a:pPr marL="0" indent="0" algn="just">
                  <a:buNone/>
                </a:pPr>
                <a:r>
                  <a:rPr lang="en-US" sz="2400" dirty="0">
                    <a:latin typeface="Times New Roman" panose="02020603050405020304" pitchFamily="18" charset="0"/>
                    <a:cs typeface="Times New Roman" panose="02020603050405020304" pitchFamily="18" charset="0"/>
                  </a:rPr>
                  <a:t>In FN tunneling, electrons tunnel into the conduction band of the oxide layer.</a:t>
                </a: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current density in the FN tunneling is given by:</a:t>
                </a:r>
              </a:p>
              <a:p>
                <a:pPr marL="0" indent="0" algn="just">
                  <a:buNone/>
                </a:pPr>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𝐸</m:t>
                        </m:r>
                      </m:e>
                      <m:sub>
                        <m:r>
                          <a:rPr lang="en-IN" b="0" i="1" smtClean="0">
                            <a:latin typeface="Cambria Math" panose="02040503050406030204" pitchFamily="18" charset="0"/>
                            <a:cs typeface="Times New Roman" panose="02020603050405020304" pitchFamily="18" charset="0"/>
                          </a:rPr>
                          <m:t>𝑜𝑥</m:t>
                        </m:r>
                      </m:sub>
                    </m:sSub>
                  </m:oMath>
                </a14:m>
                <a:r>
                  <a:rPr lang="en-US" dirty="0">
                    <a:latin typeface="Times New Roman" panose="02020603050405020304" pitchFamily="18" charset="0"/>
                    <a:cs typeface="Times New Roman" panose="02020603050405020304" pitchFamily="18" charset="0"/>
                  </a:rPr>
                  <a:t> - field across the oxide</a:t>
                </a:r>
              </a:p>
              <a:p>
                <a:pPr marL="0" indent="0" algn="just">
                  <a:buNone/>
                </a:pPr>
                <a:r>
                  <a:rPr lang="en-IN" sz="1900" b="0" dirty="0">
                    <a:cs typeface="Times New Roman" panose="02020603050405020304" pitchFamily="18" charset="0"/>
                  </a:rPr>
                  <a:t>                                                                       </a:t>
                </a:r>
                <a14:m>
                  <m:oMath xmlns:m="http://schemas.openxmlformats.org/officeDocument/2006/math">
                    <m:r>
                      <a:rPr lang="en-IN" sz="1900" b="0" i="1" smtClean="0">
                        <a:latin typeface="Cambria Math" panose="02040503050406030204" pitchFamily="18" charset="0"/>
                        <a:cs typeface="Times New Roman" panose="02020603050405020304" pitchFamily="18" charset="0"/>
                      </a:rPr>
                      <m:t>    </m:t>
                    </m:r>
                    <m:sSub>
                      <m:sSubPr>
                        <m:ctrlPr>
                          <a:rPr lang="en-US" sz="1900" i="1" smtClean="0">
                            <a:latin typeface="Cambria Math" panose="02040503050406030204" pitchFamily="18" charset="0"/>
                            <a:cs typeface="Times New Roman" panose="02020603050405020304" pitchFamily="18" charset="0"/>
                          </a:rPr>
                        </m:ctrlPr>
                      </m:sSubPr>
                      <m:e>
                        <m:r>
                          <a:rPr lang="en-US" sz="1900" i="1" smtClean="0">
                            <a:latin typeface="Cambria Math" panose="02040503050406030204" pitchFamily="18" charset="0"/>
                            <a:ea typeface="Cambria Math" panose="02040503050406030204" pitchFamily="18" charset="0"/>
                            <a:cs typeface="Times New Roman" panose="02020603050405020304" pitchFamily="18" charset="0"/>
                          </a:rPr>
                          <m:t>∅</m:t>
                        </m:r>
                      </m:e>
                      <m:sub>
                        <m:r>
                          <a:rPr lang="en-IN" sz="1900" b="0" i="1" smtClean="0">
                            <a:latin typeface="Cambria Math" panose="02040503050406030204" pitchFamily="18" charset="0"/>
                            <a:cs typeface="Times New Roman" panose="02020603050405020304" pitchFamily="18" charset="0"/>
                          </a:rPr>
                          <m:t>𝑜𝑥</m:t>
                        </m:r>
                      </m:sub>
                    </m:sSub>
                  </m:oMath>
                </a14:m>
                <a:r>
                  <a:rPr lang="en-US" sz="1900" dirty="0">
                    <a:latin typeface="Times New Roman" panose="02020603050405020304" pitchFamily="18" charset="0"/>
                    <a:cs typeface="Times New Roman" panose="02020603050405020304" pitchFamily="18" charset="0"/>
                  </a:rPr>
                  <a:t>  - barrier height of electrons in conduction   band</a:t>
                </a:r>
              </a:p>
              <a:p>
                <a:pPr marL="0" indent="0" algn="just">
                  <a:buNone/>
                </a:pPr>
                <a:r>
                  <a:rPr lang="en-US" sz="1900" dirty="0">
                    <a:latin typeface="Times New Roman" panose="02020603050405020304" pitchFamily="18" charset="0"/>
                    <a:cs typeface="Times New Roman" panose="02020603050405020304" pitchFamily="18" charset="0"/>
                  </a:rPr>
                  <a:t>                                                                                   m* - effective mass of electron in conduction band of 													silicon</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DA34A3F-FC7B-C404-2107-0C08FA267373}"/>
                  </a:ext>
                </a:extLst>
              </p:cNvPr>
              <p:cNvSpPr>
                <a:spLocks noGrp="1" noRot="1" noChangeAspect="1" noMove="1" noResize="1" noEditPoints="1" noAdjustHandles="1" noChangeArrowheads="1" noChangeShapeType="1" noTextEdit="1"/>
              </p:cNvSpPr>
              <p:nvPr>
                <p:ph idx="1"/>
              </p:nvPr>
            </p:nvSpPr>
            <p:spPr>
              <a:xfrm>
                <a:off x="1329180" y="829365"/>
                <a:ext cx="10539166" cy="5415893"/>
              </a:xfrm>
              <a:blipFill>
                <a:blip r:embed="rId2"/>
                <a:stretch>
                  <a:fillRect l="-868" t="-901" r="-92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768B4932-4A4D-7481-29DA-724D2193AA09}"/>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A69D169C-5541-6A68-8981-5DC220C84007}"/>
              </a:ext>
            </a:extLst>
          </p:cNvPr>
          <p:cNvPicPr>
            <a:picLocks noChangeAspect="1"/>
          </p:cNvPicPr>
          <p:nvPr/>
        </p:nvPicPr>
        <p:blipFill>
          <a:blip r:embed="rId3"/>
          <a:stretch>
            <a:fillRect/>
          </a:stretch>
        </p:blipFill>
        <p:spPr>
          <a:xfrm>
            <a:off x="1608842" y="4583623"/>
            <a:ext cx="4168501" cy="998307"/>
          </a:xfrm>
          <a:prstGeom prst="rect">
            <a:avLst/>
          </a:prstGeom>
        </p:spPr>
      </p:pic>
    </p:spTree>
    <p:extLst>
      <p:ext uri="{BB962C8B-B14F-4D97-AF65-F5344CB8AC3E}">
        <p14:creationId xmlns:p14="http://schemas.microsoft.com/office/powerpoint/2010/main" val="136717450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AFC01-0EF3-5A28-4F6D-31F605015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516C0-860C-C33F-DC07-A6482FBC05F6}"/>
              </a:ext>
            </a:extLst>
          </p:cNvPr>
          <p:cNvSpPr>
            <a:spLocks noGrp="1"/>
          </p:cNvSpPr>
          <p:nvPr>
            <p:ph type="title"/>
          </p:nvPr>
        </p:nvSpPr>
        <p:spPr>
          <a:xfrm>
            <a:off x="1608842" y="106594"/>
            <a:ext cx="10344345" cy="613322"/>
          </a:xfrm>
        </p:spPr>
        <p:txBody>
          <a:bodyPr>
            <a:normAutofit fontScale="90000"/>
          </a:bodyPr>
          <a:lstStyle/>
          <a:p>
            <a:r>
              <a:rPr lang="en-US" b="1" dirty="0">
                <a:latin typeface="Times New Roman" panose="02020603050405020304" pitchFamily="18" charset="0"/>
                <a:cs typeface="Times New Roman" panose="02020603050405020304" pitchFamily="18" charset="0"/>
              </a:rPr>
              <a:t>Gate oxide tunneling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0A5F1C-7947-61E0-E188-A0FA3E4A9507}"/>
                  </a:ext>
                </a:extLst>
              </p:cNvPr>
              <p:cNvSpPr>
                <a:spLocks noGrp="1"/>
              </p:cNvSpPr>
              <p:nvPr>
                <p:ph idx="1"/>
              </p:nvPr>
            </p:nvSpPr>
            <p:spPr>
              <a:xfrm>
                <a:off x="1329180" y="829365"/>
                <a:ext cx="10539166" cy="5415893"/>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FN current equation represents the tunneling through the triangular potential barrier and is valid for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ea typeface="Cambria Math" panose="02040503050406030204" pitchFamily="18" charset="0"/>
                            <a:cs typeface="Times New Roman" panose="02020603050405020304" pitchFamily="18" charset="0"/>
                          </a:rPr>
                          <m:t>𝑉</m:t>
                        </m:r>
                      </m:e>
                      <m:sub>
                        <m:r>
                          <a:rPr lang="en-IN" sz="2400" i="1">
                            <a:latin typeface="Cambria Math" panose="02040503050406030204" pitchFamily="18" charset="0"/>
                            <a:cs typeface="Times New Roman" panose="02020603050405020304" pitchFamily="18" charset="0"/>
                          </a:rPr>
                          <m:t>𝑜𝑥</m:t>
                        </m:r>
                      </m:sub>
                    </m:sSub>
                  </m:oMath>
                </a14:m>
                <a:r>
                  <a:rPr lang="en-US" sz="2400" dirty="0">
                    <a:latin typeface="Times New Roman" panose="02020603050405020304" pitchFamily="18" charset="0"/>
                    <a:cs typeface="Times New Roman" panose="02020603050405020304" pitchFamily="18" charset="0"/>
                  </a:rPr>
                  <a:t> &gt;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m:t>
                        </m:r>
                      </m:e>
                      <m:sub>
                        <m:r>
                          <a:rPr lang="en-IN" sz="2400" i="1">
                            <a:latin typeface="Cambria Math" panose="02040503050406030204" pitchFamily="18" charset="0"/>
                            <a:cs typeface="Times New Roman" panose="02020603050405020304" pitchFamily="18" charset="0"/>
                          </a:rPr>
                          <m:t>𝑜𝑥</m:t>
                        </m:r>
                      </m:sub>
                    </m:sSub>
                    <m:r>
                      <a:rPr lang="en-IN" sz="2400" b="0" i="1" smtClean="0">
                        <a:latin typeface="Cambria Math" panose="02040503050406030204" pitchFamily="18" charset="0"/>
                        <a:cs typeface="Times New Roman" panose="02020603050405020304" pitchFamily="18" charset="0"/>
                      </a:rPr>
                      <m:t>.  </m:t>
                    </m:r>
                    <m:r>
                      <a:rPr lang="en-IN" sz="2400" b="0" i="1" smtClean="0">
                        <a:latin typeface="Cambria Math" panose="02040503050406030204" pitchFamily="18" charset="0"/>
                        <a:cs typeface="Times New Roman" panose="02020603050405020304" pitchFamily="18" charset="0"/>
                      </a:rPr>
                      <m:t>𝑤h𝑒𝑟𝑒</m:t>
                    </m:r>
                    <m:r>
                      <a:rPr lang="en-IN" sz="2400" b="0" i="1" smtClean="0">
                        <a:latin typeface="Cambria Math" panose="02040503050406030204" pitchFamily="18" charset="0"/>
                        <a:cs typeface="Times New Roman" panose="02020603050405020304" pitchFamily="18" charset="0"/>
                      </a:rPr>
                      <m:t> </m:t>
                    </m:r>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𝑉</m:t>
                        </m:r>
                      </m:e>
                      <m:sub>
                        <m:r>
                          <a:rPr lang="en-IN" sz="2400" i="1">
                            <a:latin typeface="Cambria Math" panose="02040503050406030204" pitchFamily="18" charset="0"/>
                            <a:cs typeface="Times New Roman" panose="02020603050405020304" pitchFamily="18" charset="0"/>
                          </a:rPr>
                          <m:t>𝑜𝑥</m:t>
                        </m:r>
                      </m:sub>
                    </m:sSub>
                  </m:oMath>
                </a14:m>
                <a:r>
                  <a:rPr lang="en-US" sz="2400" dirty="0">
                    <a:latin typeface="Times New Roman" panose="02020603050405020304" pitchFamily="18" charset="0"/>
                    <a:cs typeface="Times New Roman" panose="02020603050405020304" pitchFamily="18" charset="0"/>
                  </a:rPr>
                  <a:t> is voltage drop across the oxide.</a:t>
                </a: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Since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a:latin typeface="Cambria Math" panose="02040503050406030204" pitchFamily="18" charset="0"/>
                            <a:cs typeface="Times New Roman" panose="02020603050405020304" pitchFamily="18" charset="0"/>
                          </a:rPr>
                          <m:t>∅</m:t>
                        </m:r>
                      </m:e>
                      <m:sub>
                        <m:r>
                          <a:rPr lang="en-IN" sz="2400">
                            <a:latin typeface="Cambria Math" panose="02040503050406030204" pitchFamily="18" charset="0"/>
                            <a:cs typeface="Times New Roman" panose="02020603050405020304" pitchFamily="18" charset="0"/>
                          </a:rPr>
                          <m:t>𝑜𝑥</m:t>
                        </m:r>
                      </m:sub>
                    </m:sSub>
                    <m:r>
                      <a:rPr lang="en-IN" sz="2400">
                        <a:latin typeface="Cambria Math" panose="02040503050406030204" pitchFamily="18" charset="0"/>
                        <a:cs typeface="Times New Roman" panose="02020603050405020304" pitchFamily="18" charset="0"/>
                      </a:rPr>
                      <m:t>=3.1 </m:t>
                    </m:r>
                    <m:r>
                      <a:rPr lang="en-IN" sz="2400">
                        <a:latin typeface="Cambria Math" panose="02040503050406030204" pitchFamily="18" charset="0"/>
                        <a:cs typeface="Times New Roman" panose="02020603050405020304" pitchFamily="18" charset="0"/>
                      </a:rPr>
                      <m:t>𝑒𝑉</m:t>
                    </m:r>
                    <m:r>
                      <a:rPr lang="en-IN"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𝑠h𝑜𝑟𝑡</m:t>
                    </m:r>
                    <m:r>
                      <a:rPr lang="en-US" sz="2400">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𝑐h𝑎𝑛𝑛𝑒𝑙</m:t>
                    </m:r>
                    <m:r>
                      <a:rPr lang="en-US" sz="2400">
                        <a:latin typeface="Cambria Math" panose="02040503050406030204" pitchFamily="18" charset="0"/>
                        <a:cs typeface="Times New Roman" panose="02020603050405020304" pitchFamily="18" charset="0"/>
                      </a:rPr>
                      <m:t> </m:t>
                    </m:r>
                    <m:r>
                      <a:rPr lang="en-US" sz="2400">
                        <a:latin typeface="Cambria Math" panose="02040503050406030204" pitchFamily="18" charset="0"/>
                        <a:cs typeface="Times New Roman" panose="02020603050405020304" pitchFamily="18" charset="0"/>
                      </a:rPr>
                      <m:t>𝑑𝑒𝑣𝑖𝑐𝑒𝑠</m:t>
                    </m:r>
                    <m:r>
                      <a:rPr lang="en-US" sz="2400">
                        <a:latin typeface="Cambria Math" panose="02040503050406030204" pitchFamily="18" charset="0"/>
                        <a:cs typeface="Times New Roman" panose="02020603050405020304" pitchFamily="18" charset="0"/>
                      </a:rPr>
                      <m:t> </m:t>
                    </m:r>
                    <m:r>
                      <a:rPr lang="en-US" sz="2400">
                        <a:latin typeface="Cambria Math" panose="02040503050406030204" pitchFamily="18" charset="0"/>
                        <a:cs typeface="Times New Roman" panose="02020603050405020304" pitchFamily="18" charset="0"/>
                      </a:rPr>
                      <m:t>𝑚𝑜𝑠𝑡𝑙𝑦</m:t>
                    </m:r>
                    <m:r>
                      <a:rPr lang="en-US" sz="2400">
                        <a:latin typeface="Cambria Math" panose="02040503050406030204" pitchFamily="18" charset="0"/>
                        <a:cs typeface="Times New Roman" panose="02020603050405020304" pitchFamily="18" charset="0"/>
                      </a:rPr>
                      <m:t> </m:t>
                    </m:r>
                    <m:r>
                      <a:rPr lang="en-US" sz="2400">
                        <a:latin typeface="Cambria Math" panose="02040503050406030204" pitchFamily="18" charset="0"/>
                        <a:cs typeface="Times New Roman" panose="02020603050405020304" pitchFamily="18" charset="0"/>
                      </a:rPr>
                      <m:t>𝑜𝑝𝑒𝑟𝑎𝑡𝑒</m:t>
                    </m:r>
                    <m:r>
                      <a:rPr lang="en-US" sz="2400">
                        <a:latin typeface="Cambria Math" panose="02040503050406030204" pitchFamily="18" charset="0"/>
                        <a:cs typeface="Times New Roman" panose="02020603050405020304" pitchFamily="18" charset="0"/>
                      </a:rPr>
                      <m:t> </m:t>
                    </m:r>
                    <m:r>
                      <a:rPr lang="en-US" sz="2400">
                        <a:latin typeface="Cambria Math" panose="02040503050406030204" pitchFamily="18" charset="0"/>
                        <a:cs typeface="Times New Roman" panose="02020603050405020304" pitchFamily="18" charset="0"/>
                      </a:rPr>
                      <m:t>𝑎𝑡</m:t>
                    </m:r>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𝑉</m:t>
                        </m:r>
                      </m:e>
                      <m:sub>
                        <m:r>
                          <a:rPr lang="en-IN" sz="2400" i="1">
                            <a:latin typeface="Cambria Math" panose="02040503050406030204" pitchFamily="18" charset="0"/>
                            <a:cs typeface="Times New Roman" panose="02020603050405020304" pitchFamily="18" charset="0"/>
                          </a:rPr>
                          <m:t>𝑜𝑥</m:t>
                        </m:r>
                      </m:sub>
                    </m:sSub>
                  </m:oMath>
                </a14:m>
                <a:r>
                  <a:rPr lang="en-US" sz="2400" dirty="0">
                    <a:latin typeface="Times New Roman" panose="02020603050405020304" pitchFamily="18" charset="0"/>
                    <a:cs typeface="Times New Roman" panose="02020603050405020304" pitchFamily="18" charset="0"/>
                  </a:rPr>
                  <a:t> &lt;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m:t>
                        </m:r>
                      </m:e>
                      <m:sub>
                        <m:r>
                          <a:rPr lang="en-IN" sz="2400" i="1">
                            <a:latin typeface="Cambria Math" panose="02040503050406030204" pitchFamily="18" charset="0"/>
                            <a:cs typeface="Times New Roman" panose="02020603050405020304" pitchFamily="18" charset="0"/>
                          </a:rPr>
                          <m:t>𝑜𝑥</m:t>
                        </m:r>
                      </m:sub>
                    </m:sSub>
                  </m:oMath>
                </a14:m>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for normal device operation, the FN tunneling current is negligible.</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980A5F1C-7947-61E0-E188-A0FA3E4A9507}"/>
                  </a:ext>
                </a:extLst>
              </p:cNvPr>
              <p:cNvSpPr>
                <a:spLocks noGrp="1" noRot="1" noChangeAspect="1" noMove="1" noResize="1" noEditPoints="1" noAdjustHandles="1" noChangeArrowheads="1" noChangeShapeType="1" noTextEdit="1"/>
              </p:cNvSpPr>
              <p:nvPr>
                <p:ph idx="1"/>
              </p:nvPr>
            </p:nvSpPr>
            <p:spPr>
              <a:xfrm>
                <a:off x="1329180" y="829365"/>
                <a:ext cx="10539166" cy="5415893"/>
              </a:xfrm>
              <a:blipFill>
                <a:blip r:embed="rId2"/>
                <a:stretch>
                  <a:fillRect l="-752" t="-901" r="-92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7C127C91-EB4B-0291-8560-B27D4BFC5B1A}"/>
              </a:ext>
            </a:extLst>
          </p:cNvPr>
          <p:cNvSpPr>
            <a:spLocks noGrp="1"/>
          </p:cNvSpPr>
          <p:nvPr>
            <p:ph type="ftr" sz="quarter" idx="11"/>
          </p:nvPr>
        </p:nvSpPr>
        <p:spPr/>
        <p:txBody>
          <a:bodyPr/>
          <a:lstStyle/>
          <a:p>
            <a:r>
              <a:rPr lang="en-IN"/>
              <a:t>Dr. Aruru Sai Kumar , VIT-AP</a:t>
            </a:r>
            <a:endParaRPr lang="en-IN" dirty="0"/>
          </a:p>
        </p:txBody>
      </p:sp>
      <p:pic>
        <p:nvPicPr>
          <p:cNvPr id="7" name="Picture 6">
            <a:extLst>
              <a:ext uri="{FF2B5EF4-FFF2-40B4-BE49-F238E27FC236}">
                <a16:creationId xmlns:a16="http://schemas.microsoft.com/office/drawing/2014/main" id="{103456A0-4590-B016-BA52-C4BE8E62210D}"/>
              </a:ext>
            </a:extLst>
          </p:cNvPr>
          <p:cNvPicPr>
            <a:picLocks noChangeAspect="1"/>
          </p:cNvPicPr>
          <p:nvPr/>
        </p:nvPicPr>
        <p:blipFill>
          <a:blip r:embed="rId3"/>
          <a:stretch>
            <a:fillRect/>
          </a:stretch>
        </p:blipFill>
        <p:spPr>
          <a:xfrm>
            <a:off x="4654080" y="3031038"/>
            <a:ext cx="3490262" cy="2568163"/>
          </a:xfrm>
          <a:prstGeom prst="rect">
            <a:avLst/>
          </a:prstGeom>
        </p:spPr>
      </p:pic>
      <p:sp>
        <p:nvSpPr>
          <p:cNvPr id="9" name="TextBox 8">
            <a:extLst>
              <a:ext uri="{FF2B5EF4-FFF2-40B4-BE49-F238E27FC236}">
                <a16:creationId xmlns:a16="http://schemas.microsoft.com/office/drawing/2014/main" id="{59CB9DFE-775E-3027-1034-2DE36F614C9D}"/>
              </a:ext>
            </a:extLst>
          </p:cNvPr>
          <p:cNvSpPr txBox="1"/>
          <p:nvPr/>
        </p:nvSpPr>
        <p:spPr>
          <a:xfrm>
            <a:off x="4768392" y="5766476"/>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FN </a:t>
            </a:r>
            <a:r>
              <a:rPr lang="en-IN" dirty="0" err="1">
                <a:latin typeface="Times New Roman" panose="02020603050405020304" pitchFamily="18" charset="0"/>
                <a:cs typeface="Times New Roman" panose="02020603050405020304" pitchFamily="18" charset="0"/>
              </a:rPr>
              <a:t>tunneling</a:t>
            </a:r>
            <a:r>
              <a:rPr lang="en-IN" dirty="0">
                <a:latin typeface="Times New Roman" panose="02020603050405020304" pitchFamily="18" charset="0"/>
                <a:cs typeface="Times New Roman" panose="02020603050405020304" pitchFamily="18" charset="0"/>
              </a:rPr>
              <a:t> of electrons</a:t>
            </a:r>
            <a:endParaRPr lang="en-IN" dirty="0"/>
          </a:p>
        </p:txBody>
      </p:sp>
    </p:spTree>
    <p:extLst>
      <p:ext uri="{BB962C8B-B14F-4D97-AF65-F5344CB8AC3E}">
        <p14:creationId xmlns:p14="http://schemas.microsoft.com/office/powerpoint/2010/main" val="17199407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38228-CD53-3A8E-4CD2-C3D3AA011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DCAD9-8ADB-BBC7-6CE7-16823ECF9212}"/>
              </a:ext>
            </a:extLst>
          </p:cNvPr>
          <p:cNvSpPr>
            <a:spLocks noGrp="1"/>
          </p:cNvSpPr>
          <p:nvPr>
            <p:ph type="title"/>
          </p:nvPr>
        </p:nvSpPr>
        <p:spPr>
          <a:xfrm>
            <a:off x="1608842" y="106594"/>
            <a:ext cx="10344345" cy="613322"/>
          </a:xfrm>
        </p:spPr>
        <p:txBody>
          <a:bodyPr>
            <a:normAutofit fontScale="90000"/>
          </a:bodyPr>
          <a:lstStyle/>
          <a:p>
            <a:r>
              <a:rPr lang="en-US" b="1" dirty="0">
                <a:latin typeface="Times New Roman" panose="02020603050405020304" pitchFamily="18" charset="0"/>
                <a:cs typeface="Times New Roman" panose="02020603050405020304" pitchFamily="18" charset="0"/>
              </a:rPr>
              <a:t>Gate oxide tunneling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91F544-346E-D3F7-38EE-49F40F760677}"/>
                  </a:ext>
                </a:extLst>
              </p:cNvPr>
              <p:cNvSpPr>
                <a:spLocks noGrp="1"/>
              </p:cNvSpPr>
              <p:nvPr>
                <p:ph idx="1"/>
              </p:nvPr>
            </p:nvSpPr>
            <p:spPr>
              <a:xfrm>
                <a:off x="1329180" y="829365"/>
                <a:ext cx="10539166" cy="541589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Direct Tunneling: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very thin oxide layers (less than 3–4 nm), electrons from the inverted silicon surface, instead of tunneling into the conduction band of SiO</a:t>
                </a:r>
                <a:r>
                  <a:rPr lang="en-US" sz="2400" baseline="-25000" dirty="0">
                    <a:latin typeface="Times New Roman" panose="02020603050405020304" pitchFamily="18" charset="0"/>
                    <a:cs typeface="Times New Roman" panose="02020603050405020304" pitchFamily="18" charset="0"/>
                  </a:rPr>
                  <a:t>2 , </a:t>
                </a:r>
                <a:r>
                  <a:rPr lang="en-IN" sz="2400" dirty="0">
                    <a:latin typeface="Times New Roman" panose="02020603050405020304" pitchFamily="18" charset="0"/>
                    <a:cs typeface="Times New Roman" panose="02020603050405020304" pitchFamily="18" charset="0"/>
                  </a:rPr>
                  <a:t>directly tunnel </a:t>
                </a:r>
                <a:r>
                  <a:rPr lang="en-US" sz="2400" dirty="0">
                    <a:latin typeface="Times New Roman" panose="02020603050405020304" pitchFamily="18" charset="0"/>
                    <a:cs typeface="Times New Roman" panose="02020603050405020304" pitchFamily="18" charset="0"/>
                  </a:rPr>
                  <a:t>to the gate through the forbidden energy gap of the SiO</a:t>
                </a:r>
                <a:r>
                  <a:rPr lang="en-US" sz="2400" baseline="-25000" dirty="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 layer.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case of direct tunneling, electrons tunnel through a trapezoidal potential barrier instead of a triangular potential barrier.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Hence, the direct tunneling occurs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𝑉</m:t>
                        </m:r>
                      </m:e>
                      <m:sub>
                        <m:r>
                          <a:rPr lang="en-IN" sz="2400" i="1">
                            <a:latin typeface="Cambria Math" panose="02040503050406030204" pitchFamily="18" charset="0"/>
                            <a:cs typeface="Times New Roman" panose="02020603050405020304" pitchFamily="18" charset="0"/>
                          </a:rPr>
                          <m:t>𝑜𝑥</m:t>
                        </m:r>
                      </m:sub>
                    </m:sSub>
                  </m:oMath>
                </a14:m>
                <a:r>
                  <a:rPr lang="en-US" sz="2400" dirty="0">
                    <a:latin typeface="Times New Roman" panose="02020603050405020304" pitchFamily="18" charset="0"/>
                    <a:cs typeface="Times New Roman" panose="02020603050405020304" pitchFamily="18" charset="0"/>
                  </a:rPr>
                  <a:t> &lt;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m:t>
                        </m:r>
                      </m:e>
                      <m:sub>
                        <m:r>
                          <a:rPr lang="en-IN" sz="2400" i="1">
                            <a:latin typeface="Cambria Math" panose="02040503050406030204" pitchFamily="18" charset="0"/>
                            <a:cs typeface="Times New Roman" panose="02020603050405020304" pitchFamily="18" charset="0"/>
                          </a:rPr>
                          <m:t>𝑜𝑥</m:t>
                        </m:r>
                      </m:sub>
                    </m:sSub>
                  </m:oMath>
                </a14:m>
                <a:r>
                  <a:rPr lang="en-IN" sz="2400" baseline="-250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equation governing the current density of the direct tunneling is given by:</a:t>
                </a:r>
              </a:p>
              <a:p>
                <a:pPr algn="just">
                  <a:buFont typeface="Arial" panose="020B0604020202020204" pitchFamily="34" charset="0"/>
                  <a:buChar char="•"/>
                </a:pPr>
                <a:endParaRPr lang="en-IN" sz="2400" baseline="-250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791F544-346E-D3F7-38EE-49F40F760677}"/>
                  </a:ext>
                </a:extLst>
              </p:cNvPr>
              <p:cNvSpPr>
                <a:spLocks noGrp="1" noRot="1" noChangeAspect="1" noMove="1" noResize="1" noEditPoints="1" noAdjustHandles="1" noChangeArrowheads="1" noChangeShapeType="1" noTextEdit="1"/>
              </p:cNvSpPr>
              <p:nvPr>
                <p:ph idx="1"/>
              </p:nvPr>
            </p:nvSpPr>
            <p:spPr>
              <a:xfrm>
                <a:off x="1329180" y="829365"/>
                <a:ext cx="10539166" cy="5415893"/>
              </a:xfrm>
              <a:blipFill>
                <a:blip r:embed="rId2"/>
                <a:stretch>
                  <a:fillRect l="-868" t="-901" r="-92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430AA546-81E0-3938-CB38-0D1400881D1E}"/>
              </a:ext>
            </a:extLst>
          </p:cNvPr>
          <p:cNvSpPr>
            <a:spLocks noGrp="1"/>
          </p:cNvSpPr>
          <p:nvPr>
            <p:ph type="ftr" sz="quarter" idx="11"/>
          </p:nvPr>
        </p:nvSpPr>
        <p:spPr/>
        <p:txBody>
          <a:bodyPr/>
          <a:lstStyle/>
          <a:p>
            <a:r>
              <a:rPr lang="en-IN"/>
              <a:t>Dr. Aruru Sai Kumar , VIT-AP</a:t>
            </a:r>
            <a:endParaRPr lang="en-IN" dirty="0"/>
          </a:p>
        </p:txBody>
      </p:sp>
      <p:pic>
        <p:nvPicPr>
          <p:cNvPr id="7" name="Picture 6">
            <a:extLst>
              <a:ext uri="{FF2B5EF4-FFF2-40B4-BE49-F238E27FC236}">
                <a16:creationId xmlns:a16="http://schemas.microsoft.com/office/drawing/2014/main" id="{014F7429-ECBD-8E7F-D629-D6DE155791C3}"/>
              </a:ext>
            </a:extLst>
          </p:cNvPr>
          <p:cNvPicPr>
            <a:picLocks noChangeAspect="1"/>
          </p:cNvPicPr>
          <p:nvPr/>
        </p:nvPicPr>
        <p:blipFill>
          <a:blip r:embed="rId3"/>
          <a:stretch>
            <a:fillRect/>
          </a:stretch>
        </p:blipFill>
        <p:spPr>
          <a:xfrm>
            <a:off x="3783129" y="4423908"/>
            <a:ext cx="4625741" cy="1196444"/>
          </a:xfrm>
          <a:prstGeom prst="rect">
            <a:avLst/>
          </a:prstGeom>
        </p:spPr>
      </p:pic>
      <p:pic>
        <p:nvPicPr>
          <p:cNvPr id="9" name="Picture 8">
            <a:extLst>
              <a:ext uri="{FF2B5EF4-FFF2-40B4-BE49-F238E27FC236}">
                <a16:creationId xmlns:a16="http://schemas.microsoft.com/office/drawing/2014/main" id="{DA3F0EE3-2467-5173-41A8-E35D504C766B}"/>
              </a:ext>
            </a:extLst>
          </p:cNvPr>
          <p:cNvPicPr>
            <a:picLocks noChangeAspect="1"/>
          </p:cNvPicPr>
          <p:nvPr/>
        </p:nvPicPr>
        <p:blipFill>
          <a:blip r:embed="rId4"/>
          <a:stretch>
            <a:fillRect/>
          </a:stretch>
        </p:blipFill>
        <p:spPr>
          <a:xfrm>
            <a:off x="3783129" y="5790115"/>
            <a:ext cx="4968671" cy="388654"/>
          </a:xfrm>
          <a:prstGeom prst="rect">
            <a:avLst/>
          </a:prstGeom>
        </p:spPr>
      </p:pic>
    </p:spTree>
    <p:extLst>
      <p:ext uri="{BB962C8B-B14F-4D97-AF65-F5344CB8AC3E}">
        <p14:creationId xmlns:p14="http://schemas.microsoft.com/office/powerpoint/2010/main" val="338171823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37DBB6-3444-8BA9-2B6D-159A94997E2B}"/>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DD288D7-8B8F-9A65-C6D2-2EF2C3A52A35}"/>
              </a:ext>
            </a:extLst>
          </p:cNvPr>
          <p:cNvPicPr>
            <a:picLocks noChangeAspect="1"/>
          </p:cNvPicPr>
          <p:nvPr/>
        </p:nvPicPr>
        <p:blipFill>
          <a:blip r:embed="rId2"/>
          <a:stretch>
            <a:fillRect/>
          </a:stretch>
        </p:blipFill>
        <p:spPr>
          <a:xfrm>
            <a:off x="3286788" y="1424648"/>
            <a:ext cx="5151424" cy="3053084"/>
          </a:xfrm>
          <a:prstGeom prst="rect">
            <a:avLst/>
          </a:prstGeom>
        </p:spPr>
      </p:pic>
      <p:sp>
        <p:nvSpPr>
          <p:cNvPr id="6" name="TextBox 5">
            <a:extLst>
              <a:ext uri="{FF2B5EF4-FFF2-40B4-BE49-F238E27FC236}">
                <a16:creationId xmlns:a16="http://schemas.microsoft.com/office/drawing/2014/main" id="{269E1774-4C54-5C64-A216-D470FA886AF0}"/>
              </a:ext>
            </a:extLst>
          </p:cNvPr>
          <p:cNvSpPr txBox="1"/>
          <p:nvPr/>
        </p:nvSpPr>
        <p:spPr>
          <a:xfrm>
            <a:off x="3933335" y="4752772"/>
            <a:ext cx="6094428"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Figure: Direct </a:t>
            </a:r>
            <a:r>
              <a:rPr lang="en-IN" dirty="0" err="1">
                <a:latin typeface="Times New Roman" panose="02020603050405020304" pitchFamily="18" charset="0"/>
                <a:cs typeface="Times New Roman" panose="02020603050405020304" pitchFamily="18" charset="0"/>
              </a:rPr>
              <a:t>tunneling</a:t>
            </a:r>
            <a:r>
              <a:rPr lang="en-IN" dirty="0">
                <a:latin typeface="Times New Roman" panose="02020603050405020304" pitchFamily="18" charset="0"/>
                <a:cs typeface="Times New Roman" panose="02020603050405020304" pitchFamily="18" charset="0"/>
              </a:rPr>
              <a:t> of electrons</a:t>
            </a:r>
          </a:p>
        </p:txBody>
      </p:sp>
    </p:spTree>
    <p:extLst>
      <p:ext uri="{BB962C8B-B14F-4D97-AF65-F5344CB8AC3E}">
        <p14:creationId xmlns:p14="http://schemas.microsoft.com/office/powerpoint/2010/main" val="25325656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ECE5B-51C2-C8A7-B00F-C6F66606A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D937A-5188-4AFB-41A0-F4538DFADF83}"/>
              </a:ext>
            </a:extLst>
          </p:cNvPr>
          <p:cNvSpPr>
            <a:spLocks noGrp="1"/>
          </p:cNvSpPr>
          <p:nvPr>
            <p:ph type="title"/>
          </p:nvPr>
        </p:nvSpPr>
        <p:spPr>
          <a:xfrm>
            <a:off x="1847655" y="624110"/>
            <a:ext cx="10344345" cy="978447"/>
          </a:xfrm>
        </p:spPr>
        <p:txBody>
          <a:bodyPr>
            <a:normAutofit fontScale="90000"/>
          </a:bodyPr>
          <a:lstStyle/>
          <a:p>
            <a:r>
              <a:rPr lang="en-US" b="1" dirty="0">
                <a:latin typeface="Times New Roman" panose="02020603050405020304" pitchFamily="18" charset="0"/>
                <a:cs typeface="Times New Roman" panose="02020603050405020304" pitchFamily="18" charset="0"/>
              </a:rPr>
              <a:t>Injection of Hot Carriers from Substrate to Gate Oxide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8DF4B6-BA74-56C8-6A48-54DD82666E28}"/>
              </a:ext>
            </a:extLst>
          </p:cNvPr>
          <p:cNvSpPr>
            <a:spLocks noGrp="1"/>
          </p:cNvSpPr>
          <p:nvPr>
            <p:ph idx="1"/>
          </p:nvPr>
        </p:nvSpPr>
        <p:spPr>
          <a:xfrm>
            <a:off x="1414021" y="1442107"/>
            <a:ext cx="10539166" cy="4693701"/>
          </a:xfrm>
        </p:spPr>
        <p:txBody>
          <a:bodyPr>
            <a:norm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a short-channel transistor, due to high electric field near the Si–SiO</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interface, electrons or holes can gain sufficient energy from the electric field to cross the interface potential barrier and enter into the oxide layer .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effect is known as hot-carrier injection. The injection from Si to SiO</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is more likely for electrons than holes, as electrons have a lower effective mass than that of holes, and the barrier height for holes (4.5 eV) is more than that for electrons (3.1 eV)</a:t>
            </a:r>
            <a:endParaRPr lang="en-IN" sz="22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25C1E53-730F-3FA0-CF4D-CE9BE8516F6B}"/>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55BD45DF-58C8-458E-D566-8E2E68A02053}"/>
              </a:ext>
            </a:extLst>
          </p:cNvPr>
          <p:cNvPicPr>
            <a:picLocks noChangeAspect="1"/>
          </p:cNvPicPr>
          <p:nvPr/>
        </p:nvPicPr>
        <p:blipFill>
          <a:blip r:embed="rId2"/>
          <a:stretch>
            <a:fillRect/>
          </a:stretch>
        </p:blipFill>
        <p:spPr>
          <a:xfrm>
            <a:off x="7670950" y="3666408"/>
            <a:ext cx="3863675" cy="3063505"/>
          </a:xfrm>
          <a:prstGeom prst="rect">
            <a:avLst/>
          </a:prstGeom>
        </p:spPr>
      </p:pic>
      <p:sp>
        <p:nvSpPr>
          <p:cNvPr id="8" name="TextBox 7">
            <a:extLst>
              <a:ext uri="{FF2B5EF4-FFF2-40B4-BE49-F238E27FC236}">
                <a16:creationId xmlns:a16="http://schemas.microsoft.com/office/drawing/2014/main" id="{88FAD4F1-22EF-CF04-EF66-E5460F70AE23}"/>
              </a:ext>
            </a:extLst>
          </p:cNvPr>
          <p:cNvSpPr txBox="1"/>
          <p:nvPr/>
        </p:nvSpPr>
        <p:spPr>
          <a:xfrm>
            <a:off x="1640265" y="4919217"/>
            <a:ext cx="645500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Injection of hot electrons from substrate to oxide</a:t>
            </a:r>
            <a:r>
              <a:rPr lang="en-US" dirty="0"/>
              <a:t>.</a:t>
            </a:r>
            <a:endParaRPr lang="en-IN" dirty="0"/>
          </a:p>
        </p:txBody>
      </p:sp>
    </p:spTree>
    <p:extLst>
      <p:ext uri="{BB962C8B-B14F-4D97-AF65-F5344CB8AC3E}">
        <p14:creationId xmlns:p14="http://schemas.microsoft.com/office/powerpoint/2010/main" val="390039175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EA707-4983-0E3E-38E1-89AB0606F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C0CB1-F83E-14AB-E809-15999D09468E}"/>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Gate-Induced Drain Leakage</a:t>
            </a:r>
          </a:p>
        </p:txBody>
      </p:sp>
      <p:sp>
        <p:nvSpPr>
          <p:cNvPr id="3" name="Content Placeholder 2">
            <a:extLst>
              <a:ext uri="{FF2B5EF4-FFF2-40B4-BE49-F238E27FC236}">
                <a16:creationId xmlns:a16="http://schemas.microsoft.com/office/drawing/2014/main" id="{FE9A0DE7-D393-912B-1A1A-73C34A1F93C4}"/>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Gate-Induced Drain Leakage (GIDL) is a leakage current that occurs in a MOS transistor due to very high electric fields in the drain–gate overlap region, particularly when the gate is at a low or negative voltage and the drain is at a high voltage.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mainly a high-field effect and becomes significant in short-channel and thin-oxide devices.</a:t>
            </a:r>
          </a:p>
          <a:p>
            <a:pPr marL="0" indent="0" algn="just">
              <a:buNone/>
            </a:pPr>
            <a:r>
              <a:rPr lang="en-IN" sz="2400" b="1" dirty="0">
                <a:latin typeface="Times New Roman" panose="02020603050405020304" pitchFamily="18" charset="0"/>
                <a:cs typeface="Times New Roman" panose="02020603050405020304" pitchFamily="18" charset="0"/>
              </a:rPr>
              <a:t>Low Negative Gate Bias</a:t>
            </a:r>
            <a:r>
              <a:rPr lang="en-US" sz="2400" b="1"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the gate is negatively biased:</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Holes accumulate at the silicon surface under the gate.</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surface behaves like a heavily doped p-region.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causes the depletion layer at the surface near the drain to become very narrow.</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A1FEC95-F2EC-61B6-1699-3627E0078B24}"/>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4560273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4B6A-537C-C52D-454F-624834581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F8011-0B82-A8E3-37F7-7BA4B9DA13F1}"/>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Gate-Induced Drain Leakage</a:t>
            </a:r>
          </a:p>
        </p:txBody>
      </p:sp>
      <p:sp>
        <p:nvSpPr>
          <p:cNvPr id="3" name="Content Placeholder 2">
            <a:extLst>
              <a:ext uri="{FF2B5EF4-FFF2-40B4-BE49-F238E27FC236}">
                <a16:creationId xmlns:a16="http://schemas.microsoft.com/office/drawing/2014/main" id="{88A80DDA-6BA4-D0B6-FD77-4A4F2876AD9B}"/>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Because the depletion region becomes narrow near the surface:</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electric field becomes highly concentrated.</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phenomenon is called field crowding.</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local electric field near the gate–drain overlap increases significantly.</a:t>
            </a:r>
          </a:p>
          <a:p>
            <a:pPr marL="0" indent="0" algn="just">
              <a:buNone/>
            </a:pPr>
            <a:r>
              <a:rPr lang="en-IN" sz="2400" b="1" dirty="0">
                <a:latin typeface="Times New Roman" panose="02020603050405020304" pitchFamily="18" charset="0"/>
                <a:cs typeface="Times New Roman" panose="02020603050405020304" pitchFamily="18" charset="0"/>
              </a:rPr>
              <a:t>High Negative Gate Bias: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 strong negative gate bias: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n+ drain region under the gate can become depleted.</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may even become inverted.</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further increases the electric field in that region.</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49F0B4D-166D-C8D7-D463-495547634EAB}"/>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39419210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2D760-33FC-F11D-A761-3D3CCE679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21E01-2AA3-DBD7-6C6A-AE806CD47AF5}"/>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Gate-Induced Drain Leakage</a:t>
            </a:r>
          </a:p>
        </p:txBody>
      </p:sp>
      <p:sp>
        <p:nvSpPr>
          <p:cNvPr id="3" name="Content Placeholder 2">
            <a:extLst>
              <a:ext uri="{FF2B5EF4-FFF2-40B4-BE49-F238E27FC236}">
                <a16:creationId xmlns:a16="http://schemas.microsoft.com/office/drawing/2014/main" id="{02990F73-0411-8A12-F0CD-5930731FA32B}"/>
              </a:ext>
            </a:extLst>
          </p:cNvPr>
          <p:cNvSpPr>
            <a:spLocks noGrp="1"/>
          </p:cNvSpPr>
          <p:nvPr>
            <p:ph idx="1"/>
          </p:nvPr>
        </p:nvSpPr>
        <p:spPr>
          <a:xfrm>
            <a:off x="1414021" y="1076983"/>
            <a:ext cx="10539166" cy="5058826"/>
          </a:xfrm>
        </p:spPr>
        <p:txBody>
          <a:bodyPr>
            <a:norm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the electric field increases: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Peak electric field becomes very high.</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High-field effects such as avalanche multiplication and </a:t>
            </a:r>
            <a:r>
              <a:rPr lang="en-US" sz="2200" b="1" dirty="0">
                <a:latin typeface="Times New Roman" panose="02020603050405020304" pitchFamily="18" charset="0"/>
                <a:cs typeface="Times New Roman" panose="02020603050405020304" pitchFamily="18" charset="0"/>
              </a:rPr>
              <a:t>band-to-band tunneling (BTBT)</a:t>
            </a:r>
            <a:r>
              <a:rPr lang="en-US" sz="2200" dirty="0">
                <a:latin typeface="Times New Roman" panose="02020603050405020304" pitchFamily="18" charset="0"/>
                <a:cs typeface="Times New Roman" panose="02020603050405020304" pitchFamily="18" charset="0"/>
              </a:rPr>
              <a:t> increase dramatically.</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Tunneling via surface traps also becomes more likely.</a:t>
            </a:r>
          </a:p>
          <a:p>
            <a:pPr marL="0" indent="0" algn="just">
              <a:buNone/>
            </a:pPr>
            <a:r>
              <a:rPr lang="en-IN" sz="2400" b="1" dirty="0">
                <a:latin typeface="Times New Roman" panose="02020603050405020304" pitchFamily="18" charset="0"/>
                <a:cs typeface="Times New Roman" panose="02020603050405020304" pitchFamily="18" charset="0"/>
              </a:rPr>
              <a:t>Physical Mechanism of GIDL:</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the strong electric field in the drain–gate overlap region: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Electrons from the valence band tunnel to the conduction band (BTBT).</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Electron–hole pairs are generated near the surface.</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70D30B6-4565-5897-062B-98070AFC8B1B}"/>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6147266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976DE-B32E-5040-63A9-2E29CBE73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C547A-FC29-3012-7DCC-731C9D6DDBD1}"/>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Gate-Induced Drain Leakage</a:t>
            </a:r>
          </a:p>
        </p:txBody>
      </p:sp>
      <p:sp>
        <p:nvSpPr>
          <p:cNvPr id="3" name="Content Placeholder 2">
            <a:extLst>
              <a:ext uri="{FF2B5EF4-FFF2-40B4-BE49-F238E27FC236}">
                <a16:creationId xmlns:a16="http://schemas.microsoft.com/office/drawing/2014/main" id="{773BFF80-5063-D436-79B3-2018912E2236}"/>
              </a:ext>
            </a:extLst>
          </p:cNvPr>
          <p:cNvSpPr>
            <a:spLocks noGrp="1"/>
          </p:cNvSpPr>
          <p:nvPr>
            <p:ph idx="1"/>
          </p:nvPr>
        </p:nvSpPr>
        <p:spPr>
          <a:xfrm>
            <a:off x="1414021" y="1076983"/>
            <a:ext cx="10539166" cy="5058826"/>
          </a:xfrm>
        </p:spPr>
        <p:txBody>
          <a:bodyPr>
            <a:norm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newly generated minority carriers behave as follows: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Since the substrate is at a lower potential,</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minority carriers are swept laterally into the substrate.</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creates a leakage current path.</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GIDL is essentially caused by band-to-band tunneling in the high-field drain region under the gate.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called gate-induced drain leakage because:</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leakage is triggered by the electric field created between the gate and drain.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gate voltage strongly influences the depletion region shape and electric field intensity.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 even though the current flows near the drain, it is induced by the gate bias.</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B6CDA04-8ABC-0EB2-6852-455E2F8AA719}"/>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51592914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4061D9-0A2A-EF1D-773E-E295E38EEB41}"/>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F375623A-53C5-4F37-72CD-F6A6005B085F}"/>
              </a:ext>
            </a:extLst>
          </p:cNvPr>
          <p:cNvPicPr>
            <a:picLocks noChangeAspect="1"/>
          </p:cNvPicPr>
          <p:nvPr/>
        </p:nvPicPr>
        <p:blipFill>
          <a:blip r:embed="rId2"/>
          <a:stretch>
            <a:fillRect/>
          </a:stretch>
        </p:blipFill>
        <p:spPr>
          <a:xfrm>
            <a:off x="1982789" y="321244"/>
            <a:ext cx="3886537" cy="5814564"/>
          </a:xfrm>
          <a:prstGeom prst="rect">
            <a:avLst/>
          </a:prstGeom>
        </p:spPr>
      </p:pic>
      <p:sp>
        <p:nvSpPr>
          <p:cNvPr id="6" name="TextBox 5">
            <a:extLst>
              <a:ext uri="{FF2B5EF4-FFF2-40B4-BE49-F238E27FC236}">
                <a16:creationId xmlns:a16="http://schemas.microsoft.com/office/drawing/2014/main" id="{1A9F7620-0BEF-0FCA-983D-200CEDD3D15D}"/>
              </a:ext>
            </a:extLst>
          </p:cNvPr>
          <p:cNvSpPr txBox="1"/>
          <p:nvPr/>
        </p:nvSpPr>
        <p:spPr>
          <a:xfrm>
            <a:off x="6097572" y="1929121"/>
            <a:ext cx="6094428" cy="120032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Figure: Condition of the depletion region near the drain-gate overlap region of an MOS transistor when (a) surface is accumulated with low negative gate bias; and (b) n+ region is depleted or inverted with high negative gate bias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35730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F201A-D5B7-F6A1-E2A1-ECB7CA8DA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D15A3-233F-ECC9-CC6B-951438C518C9}"/>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Gate-Induced Drain Leakage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00893C-F93F-745B-9AA3-ED090820CB1A}"/>
                  </a:ext>
                </a:extLst>
              </p:cNvPr>
              <p:cNvSpPr>
                <a:spLocks noGrp="1"/>
              </p:cNvSpPr>
              <p:nvPr>
                <p:ph idx="1"/>
              </p:nvPr>
            </p:nvSpPr>
            <p:spPr>
              <a:xfrm>
                <a:off x="1414021" y="1076983"/>
                <a:ext cx="10539166" cy="5058826"/>
              </a:xfrm>
            </p:spPr>
            <p:txBody>
              <a:bodyPr>
                <a:normAutofit/>
              </a:bodyPr>
              <a:lstStyle/>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Factors That Increase GIDL:</a:t>
                </a:r>
              </a:p>
              <a:p>
                <a:pPr marL="0" indent="0">
                  <a:buNone/>
                </a:pPr>
                <a:r>
                  <a:rPr lang="en-IN" sz="2000" b="1" dirty="0">
                    <a:latin typeface="Times New Roman" panose="02020603050405020304" pitchFamily="18" charset="0"/>
                    <a:cs typeface="Times New Roman" panose="02020603050405020304" pitchFamily="18" charset="0"/>
                  </a:rPr>
                  <a:t>Thin oxide thickness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Thinner oxide → stronger gate control → higher electric field → more </a:t>
                </a:r>
                <a:r>
                  <a:rPr lang="en-IN" sz="2000" dirty="0" err="1">
                    <a:latin typeface="Times New Roman" panose="02020603050405020304" pitchFamily="18" charset="0"/>
                    <a:cs typeface="Times New Roman" panose="02020603050405020304" pitchFamily="18" charset="0"/>
                  </a:rPr>
                  <a:t>tunneling</a:t>
                </a:r>
                <a:r>
                  <a:rPr lang="en-IN" sz="2000" dirty="0">
                    <a:latin typeface="Times New Roman" panose="02020603050405020304" pitchFamily="18" charset="0"/>
                    <a:cs typeface="Times New Roman" panose="02020603050405020304" pitchFamily="18" charset="0"/>
                  </a:rPr>
                  <a:t>.</a:t>
                </a:r>
              </a:p>
              <a:p>
                <a:pPr marL="0" indent="0">
                  <a:buNone/>
                </a:pPr>
                <a:r>
                  <a:rPr lang="en-IN" sz="2000" b="1" dirty="0">
                    <a:latin typeface="Times New Roman" panose="02020603050405020304" pitchFamily="18" charset="0"/>
                    <a:cs typeface="Times New Roman" panose="02020603050405020304" pitchFamily="18" charset="0"/>
                  </a:rPr>
                  <a:t>Higher drain voltage</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Higher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𝑉</m:t>
                        </m:r>
                      </m:e>
                      <m:sub>
                        <m:r>
                          <a:rPr lang="ar-AE" sz="2000" i="1">
                            <a:latin typeface="Cambria Math" panose="02040503050406030204" pitchFamily="18" charset="0"/>
                          </a:rPr>
                          <m:t>𝐷𝐷</m:t>
                        </m:r>
                      </m:sub>
                    </m:sSub>
                  </m:oMath>
                </a14:m>
                <a:r>
                  <a:rPr lang="ar-AE"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stronger electric field between gate and drain.</a:t>
                </a:r>
              </a:p>
              <a:p>
                <a:pPr marL="0" indent="0">
                  <a:buNone/>
                </a:pPr>
                <a:r>
                  <a:rPr lang="en-IN" sz="2000" b="1" dirty="0">
                    <a:latin typeface="Times New Roman" panose="02020603050405020304" pitchFamily="18" charset="0"/>
                    <a:cs typeface="Times New Roman" panose="02020603050405020304" pitchFamily="18" charset="0"/>
                  </a:rPr>
                  <a:t>Moderate drain doping</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If doping is too low → electric field not strong enough.</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If doping is too high → depletion width becomes very small, reducing </a:t>
                </a:r>
                <a:r>
                  <a:rPr lang="en-IN" sz="2000" dirty="0" err="1">
                    <a:latin typeface="Times New Roman" panose="02020603050405020304" pitchFamily="18" charset="0"/>
                    <a:cs typeface="Times New Roman" panose="02020603050405020304" pitchFamily="18" charset="0"/>
                  </a:rPr>
                  <a:t>tunneling</a:t>
                </a:r>
                <a:r>
                  <a:rPr lang="en-IN" sz="2000" dirty="0">
                    <a:latin typeface="Times New Roman" panose="02020603050405020304" pitchFamily="18" charset="0"/>
                    <a:cs typeface="Times New Roman" panose="02020603050405020304" pitchFamily="18" charset="0"/>
                  </a:rPr>
                  <a:t> volume.</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Therefore, moderate doping causes maximum GIDL.</a:t>
                </a:r>
              </a:p>
              <a:p>
                <a:pPr>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F00893C-F93F-745B-9AA3-ED090820CB1A}"/>
                  </a:ext>
                </a:extLst>
              </p:cNvPr>
              <p:cNvSpPr>
                <a:spLocks noGrp="1" noRot="1" noChangeAspect="1" noMove="1" noResize="1" noEditPoints="1" noAdjustHandles="1" noChangeArrowheads="1" noChangeShapeType="1" noTextEdit="1"/>
              </p:cNvSpPr>
              <p:nvPr>
                <p:ph idx="1"/>
              </p:nvPr>
            </p:nvSpPr>
            <p:spPr>
              <a:xfrm>
                <a:off x="1414021" y="1076983"/>
                <a:ext cx="10539166" cy="5058826"/>
              </a:xfrm>
              <a:blipFill>
                <a:blip r:embed="rId2"/>
                <a:stretch>
                  <a:fillRect l="-810" t="-964"/>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3A3DD546-5CF8-19FD-5C2E-F4D786D8BB3A}"/>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71469990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0A7C-5B7B-3141-366D-418A918CB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F67BD-EFBD-38ED-F270-3C2AA7E099E6}"/>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Gate-Induced Drain Leakage</a:t>
            </a:r>
          </a:p>
        </p:txBody>
      </p:sp>
      <p:sp>
        <p:nvSpPr>
          <p:cNvPr id="3" name="Content Placeholder 2">
            <a:extLst>
              <a:ext uri="{FF2B5EF4-FFF2-40B4-BE49-F238E27FC236}">
                <a16:creationId xmlns:a16="http://schemas.microsoft.com/office/drawing/2014/main" id="{365D30E2-23C5-C16F-53A7-489B61887451}"/>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Gate-Induced Drain Leakage (GIDL) is a leakage current mechanism caused by high electric fields in the gate–drain overlap region when the gate is negatively biased and the drain is at high voltage.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negative gate bias causes surface accumulation and narrowing of the depletion region near the drain, leading to field crowding and strong electric fields.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high fields enhance band-to-band tunneling, generating minority carriers that are swept into the substrate, producing leakage current. GIDL increases with thinner oxide thickness, higher drain voltage, and moderate drain doping.</a:t>
            </a:r>
            <a:endParaRPr lang="en-US" sz="24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2D8A07A-3B92-85F9-A8A7-250E511A40EA}"/>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42825923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3D105-BBA2-1E78-5F56-9C4FE308A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BFC70-65D7-2ABA-E515-339489D9EFCE}"/>
              </a:ext>
            </a:extLst>
          </p:cNvPr>
          <p:cNvSpPr>
            <a:spLocks noGrp="1"/>
          </p:cNvSpPr>
          <p:nvPr>
            <p:ph type="title"/>
          </p:nvPr>
        </p:nvSpPr>
        <p:spPr>
          <a:xfrm>
            <a:off x="1772241" y="485034"/>
            <a:ext cx="10344345" cy="591948"/>
          </a:xfrm>
        </p:spPr>
        <p:txBody>
          <a:bodyPr>
            <a:normAutofit fontScale="90000"/>
          </a:bodyPr>
          <a:lstStyle/>
          <a:p>
            <a:r>
              <a:rPr lang="en-US" b="1" dirty="0">
                <a:latin typeface="Times New Roman" panose="02020603050405020304" pitchFamily="18" charset="0"/>
                <a:cs typeface="Times New Roman" panose="02020603050405020304" pitchFamily="18" charset="0"/>
              </a:rPr>
              <a:t>Punch Through</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14BF88F-C5EA-40FF-CBF5-23C08CF11A49}"/>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is a short-channel effect that occurs when the depletion regions of the source and drain extend into the channel and merge with each other, causing a significant increase in subthreshold current even when the transistor is supposed to be OFF.</a:t>
            </a:r>
          </a:p>
          <a:p>
            <a:pPr marL="0" indent="0">
              <a:buNone/>
            </a:pPr>
            <a:r>
              <a:rPr lang="en-US" sz="2200" b="1" dirty="0">
                <a:latin typeface="Times New Roman" panose="02020603050405020304" pitchFamily="18" charset="0"/>
                <a:cs typeface="Times New Roman" panose="02020603050405020304" pitchFamily="18" charset="0"/>
              </a:rPr>
              <a:t>In short-channel devices: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source and drain are very close to each other.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forms a depletion region with the substrate.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As channel length decreases, the separation between these depletion regions decreases.</a:t>
            </a:r>
          </a:p>
          <a:p>
            <a:pPr marL="0" indent="0">
              <a:buNone/>
            </a:pPr>
            <a:r>
              <a:rPr lang="en-US" sz="2200" dirty="0">
                <a:latin typeface="Times New Roman" panose="02020603050405020304" pitchFamily="18" charset="0"/>
                <a:cs typeface="Times New Roman" panose="02020603050405020304" pitchFamily="18" charset="0"/>
              </a:rPr>
              <a:t>If the doping concentration is kept constant and the channel length is reduced: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depletion regions begin to approach each other.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Increasing the reverse bias (higher </a:t>
            </a:r>
            <a:r>
              <a:rPr lang="en-US" sz="2200" dirty="0" err="1">
                <a:latin typeface="Times New Roman" panose="02020603050405020304" pitchFamily="18" charset="0"/>
                <a:cs typeface="Times New Roman" panose="02020603050405020304" pitchFamily="18" charset="0"/>
              </a:rPr>
              <a:t>Vds</a:t>
            </a:r>
            <a:r>
              <a:rPr lang="en-US" sz="2200" dirty="0">
                <a:latin typeface="Times New Roman" panose="02020603050405020304" pitchFamily="18" charset="0"/>
                <a:cs typeface="Times New Roman" panose="02020603050405020304" pitchFamily="18" charset="0"/>
              </a:rPr>
              <a:t>) further widens these depletion regions.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When the depletion regions merge, </a:t>
            </a: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occurs.</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6DE52A0-2CFF-9BD7-6F18-44A81D9C86E7}"/>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426109891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25E6-232D-797F-A9CD-CB9842129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CAF9A-10A9-DAE0-16B8-86DBD6E197D2}"/>
              </a:ext>
            </a:extLst>
          </p:cNvPr>
          <p:cNvSpPr>
            <a:spLocks noGrp="1"/>
          </p:cNvSpPr>
          <p:nvPr>
            <p:ph type="title"/>
          </p:nvPr>
        </p:nvSpPr>
        <p:spPr>
          <a:xfrm>
            <a:off x="1772241" y="485034"/>
            <a:ext cx="10344345" cy="591948"/>
          </a:xfrm>
        </p:spPr>
        <p:txBody>
          <a:bodyPr>
            <a:normAutofit fontScale="90000"/>
          </a:bodyPr>
          <a:lstStyle/>
          <a:p>
            <a:r>
              <a:rPr lang="en-US" b="1" dirty="0">
                <a:latin typeface="Times New Roman" panose="02020603050405020304" pitchFamily="18" charset="0"/>
                <a:cs typeface="Times New Roman" panose="02020603050405020304" pitchFamily="18" charset="0"/>
              </a:rPr>
              <a:t>Punch Through</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74F52F-9F88-576C-D625-DD2B73B87CFF}"/>
              </a:ext>
            </a:extLst>
          </p:cNvPr>
          <p:cNvSpPr>
            <a:spLocks noGrp="1"/>
          </p:cNvSpPr>
          <p:nvPr>
            <p:ph idx="1"/>
          </p:nvPr>
        </p:nvSpPr>
        <p:spPr>
          <a:xfrm>
            <a:off x="1414021" y="1076983"/>
            <a:ext cx="10539166" cy="5058826"/>
          </a:xfrm>
        </p:spPr>
        <p:txBody>
          <a:bodyPr>
            <a:normAutofit lnSpcReduction="10000"/>
          </a:bodyPr>
          <a:lstStyle/>
          <a:p>
            <a:pPr marL="0" indent="0">
              <a:buNone/>
            </a:pPr>
            <a:r>
              <a:rPr lang="en-US" sz="2200" dirty="0">
                <a:latin typeface="Times New Roman" panose="02020603050405020304" pitchFamily="18" charset="0"/>
                <a:cs typeface="Times New Roman" panose="02020603050405020304" pitchFamily="18" charset="0"/>
              </a:rPr>
              <a:t>Once </a:t>
            </a: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occurs: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potential barrier between source and drain is lowered.</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Majority carriers from the source can directly enter the substrate region.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Some of these carriers are collected by the drain.</a:t>
            </a:r>
          </a:p>
          <a:p>
            <a:pPr marL="0" indent="0">
              <a:buNone/>
            </a:pPr>
            <a:r>
              <a:rPr lang="en-US" sz="2200" dirty="0">
                <a:latin typeface="Times New Roman" panose="02020603050405020304" pitchFamily="18" charset="0"/>
                <a:cs typeface="Times New Roman" panose="02020603050405020304" pitchFamily="18" charset="0"/>
              </a:rPr>
              <a:t>As a result: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Subthreshold current increases significantly.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OFF-state leakage increases.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Subthreshold slope degrades.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Thus, </a:t>
            </a: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increases leakage even when </a:t>
            </a:r>
            <a:r>
              <a:rPr lang="en-US" sz="2200" dirty="0" err="1">
                <a:latin typeface="Times New Roman" panose="02020603050405020304" pitchFamily="18" charset="0"/>
                <a:cs typeface="Times New Roman" panose="02020603050405020304" pitchFamily="18" charset="0"/>
              </a:rPr>
              <a:t>Vgs</a:t>
            </a:r>
            <a:r>
              <a:rPr lang="en-US" sz="2200" dirty="0">
                <a:latin typeface="Times New Roman" panose="02020603050405020304" pitchFamily="18" charset="0"/>
                <a:cs typeface="Times New Roman" panose="02020603050405020304" pitchFamily="18" charset="0"/>
              </a:rPr>
              <a:t>=0.</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device parameter commonly used to characterize the </a:t>
            </a: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is the </a:t>
            </a: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voltage (V</a:t>
            </a:r>
            <a:r>
              <a:rPr lang="en-US" sz="2200" baseline="-25000" dirty="0">
                <a:latin typeface="Times New Roman" panose="02020603050405020304" pitchFamily="18" charset="0"/>
                <a:cs typeface="Times New Roman" panose="02020603050405020304" pitchFamily="18" charset="0"/>
              </a:rPr>
              <a:t>PT</a:t>
            </a:r>
            <a:r>
              <a:rPr lang="en-US" sz="2200" dirty="0">
                <a:latin typeface="Times New Roman" panose="02020603050405020304" pitchFamily="18" charset="0"/>
                <a:cs typeface="Times New Roman" panose="02020603050405020304" pitchFamily="18" charset="0"/>
              </a:rPr>
              <a:t>) which estimates the value of </a:t>
            </a:r>
            <a:r>
              <a:rPr lang="en-US" sz="2200" dirty="0" err="1">
                <a:latin typeface="Times New Roman" panose="02020603050405020304" pitchFamily="18" charset="0"/>
                <a:cs typeface="Times New Roman" panose="02020603050405020304" pitchFamily="18" charset="0"/>
              </a:rPr>
              <a:t>Vds</a:t>
            </a:r>
            <a:r>
              <a:rPr lang="en-US" sz="2200" dirty="0">
                <a:latin typeface="Times New Roman" panose="02020603050405020304" pitchFamily="18" charset="0"/>
                <a:cs typeface="Times New Roman" panose="02020603050405020304" pitchFamily="18" charset="0"/>
              </a:rPr>
              <a:t> for which the </a:t>
            </a:r>
            <a:r>
              <a:rPr lang="en-US" sz="2200" dirty="0" err="1">
                <a:latin typeface="Times New Roman" panose="02020603050405020304" pitchFamily="18" charset="0"/>
                <a:cs typeface="Times New Roman" panose="02020603050405020304" pitchFamily="18" charset="0"/>
              </a:rPr>
              <a:t>punchthrough</a:t>
            </a:r>
            <a:r>
              <a:rPr lang="en-US" sz="2200" dirty="0">
                <a:latin typeface="Times New Roman" panose="02020603050405020304" pitchFamily="18" charset="0"/>
                <a:cs typeface="Times New Roman" panose="02020603050405020304" pitchFamily="18" charset="0"/>
              </a:rPr>
              <a:t> occurs at  </a:t>
            </a:r>
            <a:r>
              <a:rPr lang="en-US" sz="2200" dirty="0" err="1">
                <a:latin typeface="Times New Roman" panose="02020603050405020304" pitchFamily="18" charset="0"/>
                <a:cs typeface="Times New Roman" panose="02020603050405020304" pitchFamily="18" charset="0"/>
              </a:rPr>
              <a:t>Vgs</a:t>
            </a:r>
            <a:r>
              <a:rPr lang="en-US" sz="2200" dirty="0">
                <a:latin typeface="Times New Roman" panose="02020603050405020304" pitchFamily="18" charset="0"/>
                <a:cs typeface="Times New Roman" panose="02020603050405020304" pitchFamily="18" charset="0"/>
              </a:rPr>
              <a:t> = 0. </a:t>
            </a:r>
          </a:p>
          <a:p>
            <a:pPr marL="0" indent="0">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2F9EE6D-7967-9D99-B3E3-A5A617324ECA}"/>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4386729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5A7BD-4C96-6712-D15F-87473ACA6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3D721-CA7D-C827-B0A8-A92C7CB59A55}"/>
              </a:ext>
            </a:extLst>
          </p:cNvPr>
          <p:cNvSpPr>
            <a:spLocks noGrp="1"/>
          </p:cNvSpPr>
          <p:nvPr>
            <p:ph type="title"/>
          </p:nvPr>
        </p:nvSpPr>
        <p:spPr>
          <a:xfrm>
            <a:off x="1772241" y="485034"/>
            <a:ext cx="10344345" cy="591948"/>
          </a:xfrm>
        </p:spPr>
        <p:txBody>
          <a:bodyPr>
            <a:normAutofit fontScale="90000"/>
          </a:bodyPr>
          <a:lstStyle/>
          <a:p>
            <a:r>
              <a:rPr lang="en-US" b="1" dirty="0">
                <a:latin typeface="Times New Roman" panose="02020603050405020304" pitchFamily="18" charset="0"/>
                <a:cs typeface="Times New Roman" panose="02020603050405020304" pitchFamily="18" charset="0"/>
              </a:rPr>
              <a:t>Punch Through</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7975FF-B577-404F-CEC7-918644743AF4}"/>
              </a:ext>
            </a:extLst>
          </p:cNvPr>
          <p:cNvSpPr>
            <a:spLocks noGrp="1"/>
          </p:cNvSpPr>
          <p:nvPr>
            <p:ph idx="1"/>
          </p:nvPr>
        </p:nvSpPr>
        <p:spPr>
          <a:xfrm>
            <a:off x="1414021" y="1076983"/>
            <a:ext cx="10539166" cy="5058826"/>
          </a:xfrm>
        </p:spPr>
        <p:txBody>
          <a:bodyPr>
            <a:normAutofit/>
          </a:bodyPr>
          <a:lstStyle/>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is roughly estimated as the value of the for which the sum of the widths of the drain and source depletion regions is equal to effective channel length</a:t>
            </a:r>
          </a:p>
          <a:p>
            <a:pPr>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a:t>
            </a:r>
            <a:r>
              <a:rPr lang="en-US" sz="2200" baseline="-25000" dirty="0">
                <a:latin typeface="Times New Roman" panose="02020603050405020304" pitchFamily="18" charset="0"/>
                <a:cs typeface="Times New Roman" panose="02020603050405020304" pitchFamily="18" charset="0"/>
              </a:rPr>
              <a:t>B </a:t>
            </a:r>
            <a:r>
              <a:rPr lang="en-US" sz="2200" dirty="0">
                <a:latin typeface="Times New Roman" panose="02020603050405020304" pitchFamily="18" charset="0"/>
                <a:cs typeface="Times New Roman" panose="02020603050405020304" pitchFamily="18" charset="0"/>
              </a:rPr>
              <a:t>= is the doping concentration at the bulk.</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 = channel length</a:t>
            </a:r>
          </a:p>
          <a:p>
            <a:pPr>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Wj</a:t>
            </a:r>
            <a:r>
              <a:rPr lang="en-US" sz="2200" dirty="0">
                <a:latin typeface="Times New Roman" panose="02020603050405020304" pitchFamily="18" charset="0"/>
                <a:cs typeface="Times New Roman" panose="02020603050405020304" pitchFamily="18" charset="0"/>
              </a:rPr>
              <a:t> = Junction width</a:t>
            </a:r>
          </a:p>
          <a:p>
            <a:pPr marL="0" indent="0">
              <a:buNone/>
            </a:pPr>
            <a:r>
              <a:rPr lang="en-US" sz="22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D27C996-972C-D1E6-A1FF-0572C4C8E477}"/>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5774F14F-6E3B-6088-E305-DA8B271EE220}"/>
              </a:ext>
            </a:extLst>
          </p:cNvPr>
          <p:cNvPicPr>
            <a:picLocks noChangeAspect="1"/>
          </p:cNvPicPr>
          <p:nvPr/>
        </p:nvPicPr>
        <p:blipFill>
          <a:blip r:embed="rId2"/>
          <a:stretch>
            <a:fillRect/>
          </a:stretch>
        </p:blipFill>
        <p:spPr>
          <a:xfrm>
            <a:off x="4853832" y="1882433"/>
            <a:ext cx="2484335" cy="472481"/>
          </a:xfrm>
          <a:prstGeom prst="rect">
            <a:avLst/>
          </a:prstGeom>
        </p:spPr>
      </p:pic>
    </p:spTree>
    <p:extLst>
      <p:ext uri="{BB962C8B-B14F-4D97-AF65-F5344CB8AC3E}">
        <p14:creationId xmlns:p14="http://schemas.microsoft.com/office/powerpoint/2010/main" val="78807087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94D5-CCDE-FD92-CA6A-758F93A06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EF08D-0D58-ED85-4607-35223A4BC8A6}"/>
              </a:ext>
            </a:extLst>
          </p:cNvPr>
          <p:cNvSpPr>
            <a:spLocks noGrp="1"/>
          </p:cNvSpPr>
          <p:nvPr>
            <p:ph type="title"/>
          </p:nvPr>
        </p:nvSpPr>
        <p:spPr>
          <a:xfrm>
            <a:off x="1772241" y="485034"/>
            <a:ext cx="10344345" cy="591948"/>
          </a:xfrm>
        </p:spPr>
        <p:txBody>
          <a:bodyPr>
            <a:normAutofit fontScale="90000"/>
          </a:bodyPr>
          <a:lstStyle/>
          <a:p>
            <a:r>
              <a:rPr lang="en-IN" b="1" dirty="0">
                <a:solidFill>
                  <a:srgbClr val="FF0000"/>
                </a:solidFill>
                <a:latin typeface="Times New Roman" panose="02020603050405020304" pitchFamily="18" charset="0"/>
                <a:cs typeface="Times New Roman" panose="02020603050405020304" pitchFamily="18" charset="0"/>
              </a:rPr>
              <a:t>3.4 Deep </a:t>
            </a:r>
            <a:r>
              <a:rPr lang="en-IN" b="1" dirty="0" err="1">
                <a:solidFill>
                  <a:srgbClr val="FF0000"/>
                </a:solidFill>
                <a:latin typeface="Times New Roman" panose="02020603050405020304" pitchFamily="18" charset="0"/>
                <a:cs typeface="Times New Roman" panose="02020603050405020304" pitchFamily="18" charset="0"/>
              </a:rPr>
              <a:t>Submicrometer</a:t>
            </a:r>
            <a:r>
              <a:rPr lang="en-IN" b="1" dirty="0">
                <a:solidFill>
                  <a:srgbClr val="FF0000"/>
                </a:solidFill>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C41102F1-029F-75F3-7090-EF57B28A0EC6}"/>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Deep </a:t>
            </a:r>
            <a:r>
              <a:rPr lang="en-US" sz="2400" dirty="0" err="1">
                <a:latin typeface="Times New Roman" panose="02020603050405020304" pitchFamily="18" charset="0"/>
                <a:cs typeface="Times New Roman" panose="02020603050405020304" pitchFamily="18" charset="0"/>
              </a:rPr>
              <a:t>submicrometer</a:t>
            </a:r>
            <a:r>
              <a:rPr lang="en-US" sz="2400" dirty="0">
                <a:latin typeface="Times New Roman" panose="02020603050405020304" pitchFamily="18" charset="0"/>
                <a:cs typeface="Times New Roman" panose="02020603050405020304" pitchFamily="18" charset="0"/>
              </a:rPr>
              <a:t> (DSM) technology refers to CMOS devices with channel lengths below 0.25 </a:t>
            </a:r>
            <a:r>
              <a:rPr lang="en-US" sz="2400" dirty="0" err="1">
                <a:latin typeface="Times New Roman" panose="02020603050405020304" pitchFamily="18" charset="0"/>
                <a:cs typeface="Times New Roman" panose="02020603050405020304" pitchFamily="18" charset="0"/>
              </a:rPr>
              <a:t>μm</a:t>
            </a:r>
            <a:r>
              <a:rPr lang="en-US" sz="2400" dirty="0">
                <a:latin typeface="Times New Roman" panose="02020603050405020304" pitchFamily="18" charset="0"/>
                <a:cs typeface="Times New Roman" panose="02020603050405020304" pitchFamily="18" charset="0"/>
              </a:rPr>
              <a:t>, and particularly in modern technologies below 100 nm.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Although scaling down device dimensions improves speed, packing density, and performance, it also introduces several serious design challenges due to short-channel effects, increased electric fields, quantum mechanical phenomena, and variability issues.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As the physical dimensions approach nanometer scale, classical device assumptions no longer hold, and leakage as well as reliability concerns become dominant factors in device design.</a:t>
            </a:r>
          </a:p>
          <a:p>
            <a:pPr algn="just">
              <a:buFont typeface="Arial" panose="020B0604020202020204" pitchFamily="34" charset="0"/>
              <a:buChar char="•"/>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A8D769F-716D-DF5A-1613-E4BF4C5D2E1D}"/>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69585873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1A7C1-63B7-4784-C701-6C18A4C74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F81CF-DC6C-F087-072D-14CAA37F46E1}"/>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E9267A03-0CCE-BC50-EBDE-DFB87F1275A8}"/>
              </a:ext>
            </a:extLst>
          </p:cNvPr>
          <p:cNvSpPr>
            <a:spLocks noGrp="1"/>
          </p:cNvSpPr>
          <p:nvPr>
            <p:ph idx="1"/>
          </p:nvPr>
        </p:nvSpPr>
        <p:spPr>
          <a:xfrm>
            <a:off x="1414021" y="1076983"/>
            <a:ext cx="10539166" cy="5058826"/>
          </a:xfrm>
        </p:spPr>
        <p:txBody>
          <a:bodyPr>
            <a:normAutofit lnSpcReduction="10000"/>
          </a:bodyPr>
          <a:lstStyle/>
          <a:p>
            <a:pPr marL="0" indent="0" algn="just">
              <a:buNone/>
            </a:pPr>
            <a:r>
              <a:rPr lang="en-IN" sz="2200" b="1" dirty="0" err="1">
                <a:latin typeface="Times New Roman" panose="02020603050405020304" pitchFamily="18" charset="0"/>
                <a:cs typeface="Times New Roman" panose="02020603050405020304" pitchFamily="18" charset="0"/>
              </a:rPr>
              <a:t>i</a:t>
            </a:r>
            <a:r>
              <a:rPr lang="en-IN" sz="2200" b="1" dirty="0">
                <a:latin typeface="Times New Roman" panose="02020603050405020304" pitchFamily="18" charset="0"/>
                <a:cs typeface="Times New Roman" panose="02020603050405020304" pitchFamily="18" charset="0"/>
              </a:rPr>
              <a:t>) Short-Channel Effects (SCE):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the channel length decreases, the gate gradually loses complete electrostatic control over the channel region, and the influence of the source and drain depletion regions becomes significant.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long-channel devices, the electric field distribution is primarily one-dimensional and controlled by the gate; however, in short-channel devices, two-dimensional field effects dominate, causing threshold voltage variations and leakage.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 important effect is threshold voltage </a:t>
            </a:r>
            <a:r>
              <a:rPr lang="en-US" sz="2400" dirty="0" err="1">
                <a:latin typeface="Times New Roman" panose="02020603050405020304" pitchFamily="18" charset="0"/>
                <a:cs typeface="Times New Roman" panose="02020603050405020304" pitchFamily="18" charset="0"/>
              </a:rPr>
              <a:t>rolloff</a:t>
            </a:r>
            <a:r>
              <a:rPr lang="en-US" sz="2400" dirty="0">
                <a:latin typeface="Times New Roman" panose="02020603050405020304" pitchFamily="18" charset="0"/>
                <a:cs typeface="Times New Roman" panose="02020603050405020304" pitchFamily="18" charset="0"/>
              </a:rPr>
              <a:t>, where the threshold voltage decreases as channel length reduces because part of the depletion charge in the channel is shared by the source and drain junctions.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reduces the amount of charge that the gate must invert, thereby lowering the threshold voltage.</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F8E208-E92B-6CC9-8CAE-949DA1AE7F05}"/>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82467105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2C7E-FC07-C049-6035-72F9A5751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4F19C-B846-8DA0-B7BC-1EA4322CE152}"/>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DB486D17-7C0D-963C-5FE1-F18B2A676B5F}"/>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Another major issue is Drain-Induced Barrier Lowering (DIBL), where a high drain voltage reduces the potential barrier at the source-channel junction, effectively lowering the threshold voltage and increasing subthreshold leakage current. As a result, the OFF-state current increases significantly in scaled devices.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extreme scaling, </a:t>
            </a:r>
            <a:r>
              <a:rPr lang="en-US" sz="2400" dirty="0" err="1">
                <a:latin typeface="Times New Roman" panose="02020603050405020304" pitchFamily="18" charset="0"/>
                <a:cs typeface="Times New Roman" panose="02020603050405020304" pitchFamily="18" charset="0"/>
              </a:rPr>
              <a:t>punchthrough</a:t>
            </a:r>
            <a:r>
              <a:rPr lang="en-US" sz="2400" dirty="0">
                <a:latin typeface="Times New Roman" panose="02020603050405020304" pitchFamily="18" charset="0"/>
                <a:cs typeface="Times New Roman" panose="02020603050405020304" pitchFamily="18" charset="0"/>
              </a:rPr>
              <a:t> occurs when the source and drain depletion regions merge, creating a direct current path even when the gate voltage is zero. This results in large leakage current and degradation of subthreshold slope.</a:t>
            </a: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F720AFC-CE9C-F603-AC6D-9CC07EB57598}"/>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39160984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8E004-90EB-59F9-8BDE-FA56D6D53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6D814-ACA2-E7C3-9AF7-512BBA10DECB}"/>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67C71207-89E8-3B53-9D4A-1DD8A88C8203}"/>
              </a:ext>
            </a:extLst>
          </p:cNvPr>
          <p:cNvSpPr>
            <a:spLocks noGrp="1"/>
          </p:cNvSpPr>
          <p:nvPr>
            <p:ph idx="1"/>
          </p:nvPr>
        </p:nvSpPr>
        <p:spPr>
          <a:xfrm>
            <a:off x="1414021" y="1076983"/>
            <a:ext cx="10539166" cy="5058826"/>
          </a:xfrm>
        </p:spPr>
        <p:txBody>
          <a:bodyPr>
            <a:normAutofit/>
          </a:bodyPr>
          <a:lstStyle/>
          <a:p>
            <a:pPr marL="0" indent="0" algn="just">
              <a:buNone/>
            </a:pPr>
            <a:r>
              <a:rPr lang="en-IN" sz="2200" b="1" dirty="0">
                <a:latin typeface="Times New Roman" panose="02020603050405020304" pitchFamily="18" charset="0"/>
                <a:cs typeface="Times New Roman" panose="02020603050405020304" pitchFamily="18" charset="0"/>
              </a:rPr>
              <a:t>ii) </a:t>
            </a:r>
            <a:r>
              <a:rPr lang="en-IN" sz="2400" b="1" dirty="0">
                <a:latin typeface="Times New Roman" panose="02020603050405020304" pitchFamily="18" charset="0"/>
                <a:cs typeface="Times New Roman" panose="02020603050405020304" pitchFamily="18" charset="0"/>
              </a:rPr>
              <a:t>Increased Leakage Currents: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deep </a:t>
            </a:r>
            <a:r>
              <a:rPr lang="en-US" sz="2400" dirty="0" err="1">
                <a:latin typeface="Times New Roman" panose="02020603050405020304" pitchFamily="18" charset="0"/>
                <a:cs typeface="Times New Roman" panose="02020603050405020304" pitchFamily="18" charset="0"/>
              </a:rPr>
              <a:t>submicrometer</a:t>
            </a:r>
            <a:r>
              <a:rPr lang="en-US" sz="2400" dirty="0">
                <a:latin typeface="Times New Roman" panose="02020603050405020304" pitchFamily="18" charset="0"/>
                <a:cs typeface="Times New Roman" panose="02020603050405020304" pitchFamily="18" charset="0"/>
              </a:rPr>
              <a:t> devices, leakage current becomes a major contributor to total power dissipation, often comparable to dynamic switching power.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most dominant component is subthreshold leakage, which increases exponentially as threshold voltage is reduced for performance improvement. Since subthreshold current depends exponentially on (V</a:t>
            </a:r>
            <a:r>
              <a:rPr lang="en-US" sz="2400" baseline="-25000" dirty="0">
                <a:latin typeface="Times New Roman" panose="02020603050405020304" pitchFamily="18" charset="0"/>
                <a:cs typeface="Times New Roman" panose="02020603050405020304" pitchFamily="18" charset="0"/>
              </a:rPr>
              <a:t>GS</a:t>
            </a:r>
            <a:r>
              <a:rPr lang="en-US" sz="2400" dirty="0">
                <a:latin typeface="Times New Roman" panose="02020603050405020304" pitchFamily="18" charset="0"/>
                <a:cs typeface="Times New Roman" panose="02020603050405020304" pitchFamily="18" charset="0"/>
              </a:rPr>
              <a:t> –V</a:t>
            </a:r>
            <a:r>
              <a:rPr lang="en-US" sz="2400" baseline="-25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even small reductions in threshold voltage cause large increases in leakage.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Another serious issue is gate oxide tunneling leakage, which arises because oxide thickness is aggressively scaled below 3–4 nm.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such thin oxides, electrons can directly tunnel through the </a:t>
            </a:r>
            <a:r>
              <a:rPr lang="en-US" sz="2400" dirty="0" err="1">
                <a:latin typeface="Times New Roman" panose="02020603050405020304" pitchFamily="18" charset="0"/>
                <a:cs typeface="Times New Roman" panose="02020603050405020304" pitchFamily="18" charset="0"/>
              </a:rPr>
              <a:t>SiO</a:t>
            </a:r>
            <a:r>
              <a:rPr lang="en-US" sz="2400" dirty="0">
                <a:latin typeface="Times New Roman" panose="02020603050405020304" pitchFamily="18" charset="0"/>
                <a:cs typeface="Times New Roman" panose="02020603050405020304" pitchFamily="18" charset="0"/>
              </a:rPr>
              <a:t>₂ layer, destroying the assumption of infinite gate input impedance and increasing static power consumption.</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4534311-19CD-2DE8-CB06-83356B4784F7}"/>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6713411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2DE3B-AE17-9817-BDC6-96FFF8F82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58D3F-8196-DE16-1968-360F5024DADD}"/>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14C9C696-A69C-801D-99CB-35A5BF30E1C7}"/>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electric fields in heavily doped junctions also cause band-to-band tunneling (BTBT), increasing reverse-bias junction leakage.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Additionally, Gate-Induced Drain Leakage (GIDL) occurs in the gate–drain overlap region due to high electric fields, especially when the gate is negatively biased and the drain is at high voltage.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leakage current management becomes a critical design concern in DSM technologies.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DF9ECB8-446D-3E4E-2685-24D94DA31FD5}"/>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69021996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FAC8-1530-C02D-6D28-0574DC014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8C1D4-7377-A068-D45B-4EFA522D0949}"/>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8986183B-8E2C-6041-1E95-98731E6325FB}"/>
              </a:ext>
            </a:extLst>
          </p:cNvPr>
          <p:cNvSpPr>
            <a:spLocks noGrp="1"/>
          </p:cNvSpPr>
          <p:nvPr>
            <p:ph idx="1"/>
          </p:nvPr>
        </p:nvSpPr>
        <p:spPr>
          <a:xfrm>
            <a:off x="1414021" y="1076983"/>
            <a:ext cx="10539166" cy="5058826"/>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iii) </a:t>
            </a:r>
            <a:r>
              <a:rPr lang="en-IN" sz="2400" b="1" dirty="0">
                <a:latin typeface="Times New Roman" panose="02020603050405020304" pitchFamily="18" charset="0"/>
                <a:cs typeface="Times New Roman" panose="02020603050405020304" pitchFamily="18" charset="0"/>
              </a:rPr>
              <a:t>High Electric Field Effects: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dimensions shrink, electric fields inside the transistor increase significantly because supply voltage scaling does not perfectly track dimension scaling.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electric fields cause hot carrier injection, where energetic carriers are injected into the oxide, degrading device reliability over time.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Impact ionization and avalanche multiplication can also occur near the drain region, increasing substrate current and reducing device lifetime.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fields near the oxide interface further increase gate leakage and oxide degradation.</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80926C3-603C-D8FA-F1B2-1EC6228A4858}"/>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8402732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26A2-A83A-9522-206C-545FFBE1E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F4B7F-DF71-51E2-E4C9-BFBC8269A2B6}"/>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DEB751D6-FF14-16A4-E46E-0903AB159F68}"/>
              </a:ext>
            </a:extLst>
          </p:cNvPr>
          <p:cNvSpPr>
            <a:spLocks noGrp="1"/>
          </p:cNvSpPr>
          <p:nvPr>
            <p:ph idx="1"/>
          </p:nvPr>
        </p:nvSpPr>
        <p:spPr>
          <a:xfrm>
            <a:off x="1414021" y="1076983"/>
            <a:ext cx="10539166" cy="5058826"/>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iv) Velocity Saturation and Mobility Degradation: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short-channel devices, carriers quickly reach their saturation velocity due to high lateral electric fields.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 the drain current becomes less dependent on channel length, reducing the performance benefit expected from scaling.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Furthermore, strong vertical electric fields near the Si–</a:t>
            </a:r>
            <a:r>
              <a:rPr lang="en-US" sz="2400" dirty="0" err="1">
                <a:latin typeface="Times New Roman" panose="02020603050405020304" pitchFamily="18" charset="0"/>
                <a:cs typeface="Times New Roman" panose="02020603050405020304" pitchFamily="18" charset="0"/>
              </a:rPr>
              <a:t>SiO</a:t>
            </a:r>
            <a:r>
              <a:rPr lang="en-US" sz="2400" dirty="0">
                <a:latin typeface="Times New Roman" panose="02020603050405020304" pitchFamily="18" charset="0"/>
                <a:cs typeface="Times New Roman" panose="02020603050405020304" pitchFamily="18" charset="0"/>
              </a:rPr>
              <a:t>₂ interface cause surface scattering of carriers, reducing mobility.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mobility degradation reduces drive current and slows switching speed.</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A2DAF75-6005-F777-65C1-6F9856312954}"/>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148168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D0187-23E8-882A-7213-DEEED32E2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0F2D8-DDEE-8234-D3F5-BA23484FFDD1}"/>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BEF44A90-798D-A8D6-A391-2138B4A87AEB}"/>
              </a:ext>
            </a:extLst>
          </p:cNvPr>
          <p:cNvSpPr>
            <a:spLocks noGrp="1"/>
          </p:cNvSpPr>
          <p:nvPr>
            <p:ph idx="1"/>
          </p:nvPr>
        </p:nvSpPr>
        <p:spPr>
          <a:xfrm>
            <a:off x="1414021" y="1076983"/>
            <a:ext cx="10539166" cy="5058826"/>
          </a:xfrm>
        </p:spPr>
        <p:txBody>
          <a:bodyPr>
            <a:normAutofit fontScale="92500" lnSpcReduction="10000"/>
          </a:bodyPr>
          <a:lstStyle/>
          <a:p>
            <a:pPr marL="0" indent="0">
              <a:buNone/>
            </a:pPr>
            <a:r>
              <a:rPr lang="en-US" sz="2400" b="1" dirty="0">
                <a:latin typeface="Times New Roman" panose="02020603050405020304" pitchFamily="18" charset="0"/>
                <a:cs typeface="Times New Roman" panose="02020603050405020304" pitchFamily="18" charset="0"/>
              </a:rPr>
              <a:t>v) Increased Power Density and Thermal Issues: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transistor density increases dramatically in DSM technologies, more devices operate within a smaller area, leading to higher power density and heat generation.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Elevated temperatures further increase subthreshold leakage and degrade reliability. Therefore, thermal management becomes an essential part of deep </a:t>
            </a:r>
            <a:r>
              <a:rPr lang="en-US" sz="2400" dirty="0" err="1">
                <a:latin typeface="Times New Roman" panose="02020603050405020304" pitchFamily="18" charset="0"/>
                <a:cs typeface="Times New Roman" panose="02020603050405020304" pitchFamily="18" charset="0"/>
              </a:rPr>
              <a:t>submicrometer</a:t>
            </a:r>
            <a:r>
              <a:rPr lang="en-US" sz="2400" dirty="0">
                <a:latin typeface="Times New Roman" panose="02020603050405020304" pitchFamily="18" charset="0"/>
                <a:cs typeface="Times New Roman" panose="02020603050405020304" pitchFamily="18" charset="0"/>
              </a:rPr>
              <a:t> design.</a:t>
            </a:r>
          </a:p>
          <a:p>
            <a:pPr marL="0" indent="0" algn="just">
              <a:buNone/>
            </a:pPr>
            <a:r>
              <a:rPr lang="en-US" sz="2400" b="1" dirty="0">
                <a:latin typeface="Times New Roman" panose="02020603050405020304" pitchFamily="18" charset="0"/>
                <a:cs typeface="Times New Roman" panose="02020603050405020304" pitchFamily="18" charset="0"/>
              </a:rPr>
              <a:t>vi) Variability and Process Fluctuations: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At </a:t>
            </a:r>
            <a:r>
              <a:rPr lang="en-IN" sz="2400" dirty="0" err="1">
                <a:latin typeface="Times New Roman" panose="02020603050405020304" pitchFamily="18" charset="0"/>
                <a:cs typeface="Times New Roman" panose="02020603050405020304" pitchFamily="18" charset="0"/>
              </a:rPr>
              <a:t>nanometer</a:t>
            </a:r>
            <a:r>
              <a:rPr lang="en-IN" sz="2400" dirty="0">
                <a:latin typeface="Times New Roman" panose="02020603050405020304" pitchFamily="18" charset="0"/>
                <a:cs typeface="Times New Roman" panose="02020603050405020304" pitchFamily="18" charset="0"/>
              </a:rPr>
              <a:t> dimensions, device performance becomes highly sensitive to small process variations.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Random dopant fluctuations, line-edge roughness, and oxide thickness variations cause significant threshold voltage variability. </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variability reduces yield and complicates circuit design, requiring statistical design techniques</a:t>
            </a:r>
            <a:r>
              <a:rPr lang="en-IN" sz="2400" dirty="0"/>
              <a:t>.</a:t>
            </a:r>
            <a:endParaRPr lang="en-US" sz="24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DBD2D93-68D0-7BAC-D6AA-810F61F416C0}"/>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60218698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1233-136E-7EAC-E504-A5B8AA6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B462C-8C36-ABC7-4494-2AAB9FEBED96}"/>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C7B0DB42-B7FF-CBE1-1EF5-2D8890502932}"/>
              </a:ext>
            </a:extLst>
          </p:cNvPr>
          <p:cNvSpPr>
            <a:spLocks noGrp="1"/>
          </p:cNvSpPr>
          <p:nvPr>
            <p:ph idx="1"/>
          </p:nvPr>
        </p:nvSpPr>
        <p:spPr>
          <a:xfrm>
            <a:off x="1414021" y="1076983"/>
            <a:ext cx="10539166" cy="5058826"/>
          </a:xfrm>
        </p:spPr>
        <p:txBody>
          <a:bodyPr>
            <a:normAutofit/>
          </a:bodyPr>
          <a:lstStyle/>
          <a:p>
            <a:pPr marL="0" indent="0">
              <a:buNone/>
            </a:pPr>
            <a:r>
              <a:rPr lang="en-IN" sz="2200" b="1" dirty="0">
                <a:latin typeface="Times New Roman" panose="02020603050405020304" pitchFamily="18" charset="0"/>
                <a:cs typeface="Times New Roman" panose="02020603050405020304" pitchFamily="18" charset="0"/>
              </a:rPr>
              <a:t>viii) </a:t>
            </a:r>
            <a:r>
              <a:rPr lang="en-IN" sz="2400" b="1" dirty="0">
                <a:latin typeface="Times New Roman" panose="02020603050405020304" pitchFamily="18" charset="0"/>
                <a:cs typeface="Times New Roman" panose="02020603050405020304" pitchFamily="18" charset="0"/>
              </a:rPr>
              <a:t>Quantum Mechanical Effects: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device dimensions approach </a:t>
            </a:r>
            <a:r>
              <a:rPr lang="en-IN" sz="2400" dirty="0" err="1">
                <a:latin typeface="Times New Roman" panose="02020603050405020304" pitchFamily="18" charset="0"/>
                <a:cs typeface="Times New Roman" panose="02020603050405020304" pitchFamily="18" charset="0"/>
              </a:rPr>
              <a:t>nanometer</a:t>
            </a:r>
            <a:r>
              <a:rPr lang="en-IN" sz="2400" dirty="0">
                <a:latin typeface="Times New Roman" panose="02020603050405020304" pitchFamily="18" charset="0"/>
                <a:cs typeface="Times New Roman" panose="02020603050405020304" pitchFamily="18" charset="0"/>
              </a:rPr>
              <a:t> scale, quantum mechanical phenomena become significant. </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Carrier quantization occurs in the channel, modifying threshold voltage. Direct </a:t>
            </a:r>
            <a:r>
              <a:rPr lang="en-IN" sz="2400" dirty="0" err="1">
                <a:latin typeface="Times New Roman" panose="02020603050405020304" pitchFamily="18" charset="0"/>
                <a:cs typeface="Times New Roman" panose="02020603050405020304" pitchFamily="18" charset="0"/>
              </a:rPr>
              <a:t>tunneling</a:t>
            </a:r>
            <a:r>
              <a:rPr lang="en-IN" sz="2400" dirty="0">
                <a:latin typeface="Times New Roman" panose="02020603050405020304" pitchFamily="18" charset="0"/>
                <a:cs typeface="Times New Roman" panose="02020603050405020304" pitchFamily="18" charset="0"/>
              </a:rPr>
              <a:t> increases gate leakage.</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Classical device models must be modified to include quantum corrections.</a:t>
            </a:r>
          </a:p>
          <a:p>
            <a:pPr marL="0" indent="0" algn="just">
              <a:buNone/>
            </a:pPr>
            <a:r>
              <a:rPr lang="en-IN" sz="2400" b="1" dirty="0">
                <a:latin typeface="Times New Roman" panose="02020603050405020304" pitchFamily="18" charset="0"/>
                <a:cs typeface="Times New Roman" panose="02020603050405020304" pitchFamily="18" charset="0"/>
              </a:rPr>
              <a:t>ix) Interconnect and Parasitic Effects: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devices shrink, interconnect resistance and capacitance increase due to thinner metal lines and closer spacing.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RC delay becomes comparable to transistor switching delay. Crosstalk and signal integrity issues also become more severe.</a:t>
            </a: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512BA77-6986-7B51-9769-10F16CCC104A}"/>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427996894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607F4-23E0-D5FD-69FB-A134EF8AB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F7517-F787-23AC-6E04-2402519C5BF8}"/>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28161D07-EFD7-66C1-6E82-D4137AB25F57}"/>
              </a:ext>
            </a:extLst>
          </p:cNvPr>
          <p:cNvSpPr>
            <a:spLocks noGrp="1"/>
          </p:cNvSpPr>
          <p:nvPr>
            <p:ph idx="1"/>
          </p:nvPr>
        </p:nvSpPr>
        <p:spPr>
          <a:xfrm>
            <a:off x="1414021" y="1076983"/>
            <a:ext cx="10539166" cy="5058826"/>
          </a:xfrm>
        </p:spPr>
        <p:txBody>
          <a:bodyPr>
            <a:normAutofit/>
          </a:bodyPr>
          <a:lstStyle/>
          <a:p>
            <a:pPr marL="0" indent="0">
              <a:buNone/>
            </a:pPr>
            <a:r>
              <a:rPr lang="en-IN" sz="2200" b="1" dirty="0">
                <a:latin typeface="Times New Roman" panose="02020603050405020304" pitchFamily="18" charset="0"/>
                <a:cs typeface="Times New Roman" panose="02020603050405020304" pitchFamily="18" charset="0"/>
              </a:rPr>
              <a:t>x) Reliability Concerns: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Deep </a:t>
            </a:r>
            <a:r>
              <a:rPr lang="en-IN" sz="2400" dirty="0" err="1">
                <a:latin typeface="Times New Roman" panose="02020603050405020304" pitchFamily="18" charset="0"/>
                <a:cs typeface="Times New Roman" panose="02020603050405020304" pitchFamily="18" charset="0"/>
              </a:rPr>
              <a:t>submicrometer</a:t>
            </a:r>
            <a:r>
              <a:rPr lang="en-IN" sz="2400" dirty="0">
                <a:latin typeface="Times New Roman" panose="02020603050405020304" pitchFamily="18" charset="0"/>
                <a:cs typeface="Times New Roman" panose="02020603050405020304" pitchFamily="18" charset="0"/>
              </a:rPr>
              <a:t> devices suffer from several reliability issues such as:</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Hot carrier degradation</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Bias Temperature Instability (BTI)</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Time-Dependent Dielectric Breakdown (TDDB)</a:t>
            </a:r>
          </a:p>
          <a:p>
            <a:pPr lvl="1">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Electromigration</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These effects limit long-term device performance and lifetime</a:t>
            </a:r>
            <a:r>
              <a:rPr lang="en-IN" sz="2400" dirty="0"/>
              <a:t>.</a:t>
            </a:r>
          </a:p>
          <a:p>
            <a:pPr marL="0" indent="0">
              <a:buNone/>
            </a:pPr>
            <a:endParaRPr lang="en-IN" sz="2400" dirty="0"/>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E34EF28-42CE-B660-C70D-7856C8D3823D}"/>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311106459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50655-171B-137A-8A2C-BD0AA0E23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35CED-37AA-8DAB-B7CA-2D13997CE60B}"/>
              </a:ext>
            </a:extLst>
          </p:cNvPr>
          <p:cNvSpPr>
            <a:spLocks noGrp="1"/>
          </p:cNvSpPr>
          <p:nvPr>
            <p:ph type="title"/>
          </p:nvPr>
        </p:nvSpPr>
        <p:spPr>
          <a:xfrm>
            <a:off x="1772241" y="485034"/>
            <a:ext cx="10344345" cy="591948"/>
          </a:xfrm>
        </p:spPr>
        <p:txBody>
          <a:bodyPr>
            <a:normAutofit fontScale="90000"/>
          </a:bodyPr>
          <a:lstStyle/>
          <a:p>
            <a:r>
              <a:rPr lang="en-IN" b="1" dirty="0">
                <a:latin typeface="Times New Roman" panose="02020603050405020304" pitchFamily="18" charset="0"/>
                <a:cs typeface="Times New Roman" panose="02020603050405020304" pitchFamily="18" charset="0"/>
              </a:rPr>
              <a:t>Deep </a:t>
            </a:r>
            <a:r>
              <a:rPr lang="en-IN" b="1" dirty="0" err="1">
                <a:latin typeface="Times New Roman" panose="02020603050405020304" pitchFamily="18" charset="0"/>
                <a:cs typeface="Times New Roman" panose="02020603050405020304" pitchFamily="18" charset="0"/>
              </a:rPr>
              <a:t>Submicrometer</a:t>
            </a:r>
            <a:r>
              <a:rPr lang="en-IN" b="1" dirty="0">
                <a:latin typeface="Times New Roman" panose="02020603050405020304" pitchFamily="18" charset="0"/>
                <a:cs typeface="Times New Roman" panose="02020603050405020304" pitchFamily="18" charset="0"/>
              </a:rPr>
              <a:t> Device Design Issues</a:t>
            </a:r>
          </a:p>
        </p:txBody>
      </p:sp>
      <p:sp>
        <p:nvSpPr>
          <p:cNvPr id="3" name="Content Placeholder 2">
            <a:extLst>
              <a:ext uri="{FF2B5EF4-FFF2-40B4-BE49-F238E27FC236}">
                <a16:creationId xmlns:a16="http://schemas.microsoft.com/office/drawing/2014/main" id="{F22DAD36-674E-31C0-CB24-E57DBDF654B6}"/>
              </a:ext>
            </a:extLst>
          </p:cNvPr>
          <p:cNvSpPr>
            <a:spLocks noGrp="1"/>
          </p:cNvSpPr>
          <p:nvPr>
            <p:ph idx="1"/>
          </p:nvPr>
        </p:nvSpPr>
        <p:spPr>
          <a:xfrm>
            <a:off x="1414021" y="1076983"/>
            <a:ext cx="10539166" cy="5058826"/>
          </a:xfrm>
        </p:spPr>
        <p:txBody>
          <a:bodyPr>
            <a:norm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Deep </a:t>
            </a:r>
            <a:r>
              <a:rPr lang="en-US" sz="2400" dirty="0" err="1">
                <a:latin typeface="Times New Roman" panose="02020603050405020304" pitchFamily="18" charset="0"/>
                <a:cs typeface="Times New Roman" panose="02020603050405020304" pitchFamily="18" charset="0"/>
              </a:rPr>
              <a:t>submicrometer</a:t>
            </a:r>
            <a:r>
              <a:rPr lang="en-US" sz="2400" dirty="0">
                <a:latin typeface="Times New Roman" panose="02020603050405020304" pitchFamily="18" charset="0"/>
                <a:cs typeface="Times New Roman" panose="02020603050405020304" pitchFamily="18" charset="0"/>
              </a:rPr>
              <a:t> device design involves complex challenges including short-channel effects, increased leakage currents, high electric field phenomena, mobility degradation, thermal issues, variability, quantum mechanical effects, and reliability degradation.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While scaling improves performance and integration density, it introduces significant physical limitations that must be addressed using advanced techniques such as halo doping, retrograde wells, high-k dielectrics, strain engineering, and multi-gate devices like </a:t>
            </a:r>
            <a:r>
              <a:rPr lang="en-US" sz="2400" dirty="0" err="1">
                <a:latin typeface="Times New Roman" panose="02020603050405020304" pitchFamily="18" charset="0"/>
                <a:cs typeface="Times New Roman" panose="02020603050405020304" pitchFamily="18" charset="0"/>
              </a:rPr>
              <a:t>FinFETs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2B2C9-BC8C-7DEC-BA54-8D5F1812871C}"/>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141083624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Dr. Aruru Sai Kumar,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15512</TotalTime>
  <Words>11451</Words>
  <Application>Microsoft Office PowerPoint</Application>
  <PresentationFormat>Widescreen</PresentationFormat>
  <Paragraphs>1017</Paragraphs>
  <Slides>153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153</vt:i4>
      </vt:variant>
    </vt:vector>
  </HeadingPairs>
  <TitlesOfParts>
    <vt:vector size="162" baseType="lpstr">
      <vt:lpstr>Arial</vt:lpstr>
      <vt:lpstr>Calibri</vt:lpstr>
      <vt:lpstr>Cambria Math</vt:lpstr>
      <vt:lpstr>Century Gothic</vt:lpstr>
      <vt:lpstr>Georgia</vt:lpstr>
      <vt:lpstr>Times New Roman</vt:lpstr>
      <vt:lpstr>Wingdings 2</vt:lpstr>
      <vt:lpstr>Wingdings 3</vt:lpstr>
      <vt:lpstr>Wisp</vt:lpstr>
      <vt:lpstr>Low Power VLSI Design</vt:lpstr>
      <vt:lpstr>MODULE-3:Low-Voltage Low-Power circuits</vt:lpstr>
      <vt:lpstr>Outline</vt:lpstr>
      <vt:lpstr>3.1 CLOCKING PURPOSE</vt:lpstr>
      <vt:lpstr>CLOCK DISTRIBUTION</vt:lpstr>
      <vt:lpstr>Power Dissipation in Clock Distribution</vt:lpstr>
      <vt:lpstr>Power Dissipation in Clock Distribution</vt:lpstr>
      <vt:lpstr>Power Dissipation in Clock Distribution</vt:lpstr>
      <vt:lpstr>Clock Skew</vt:lpstr>
      <vt:lpstr>PowerPoint Presentation</vt:lpstr>
      <vt:lpstr>PowerPoint Presentation</vt:lpstr>
      <vt:lpstr>Setup time Violation</vt:lpstr>
      <vt:lpstr>PowerPoint Presentation</vt:lpstr>
      <vt:lpstr>PowerPoint Presentation</vt:lpstr>
      <vt:lpstr>Hold time Violation</vt:lpstr>
      <vt:lpstr>PowerPoint Presentation</vt:lpstr>
      <vt:lpstr>PowerPoint Presentation</vt:lpstr>
      <vt:lpstr>3.2 Introduction</vt:lpstr>
      <vt:lpstr>3.2.1 Non Clocked Logic Design</vt:lpstr>
      <vt:lpstr>Non Clocked Logic Design</vt:lpstr>
      <vt:lpstr>Non Clocked Logic Design</vt:lpstr>
      <vt:lpstr>1.CMOS Logic</vt:lpstr>
      <vt:lpstr>PowerPoint Presentation</vt:lpstr>
      <vt:lpstr>CMOS Logic</vt:lpstr>
      <vt:lpstr>CMOS Logic</vt:lpstr>
      <vt:lpstr>CMOS Logic</vt:lpstr>
      <vt:lpstr>CMOS Logic</vt:lpstr>
      <vt:lpstr>CMOS Logic</vt:lpstr>
      <vt:lpstr>PowerPoint Presentation</vt:lpstr>
      <vt:lpstr>CMOS Logic</vt:lpstr>
      <vt:lpstr>CMOS Logic</vt:lpstr>
      <vt:lpstr>CMOS Logic</vt:lpstr>
      <vt:lpstr>CMOS Logic</vt:lpstr>
      <vt:lpstr>2. NMOS Logic</vt:lpstr>
      <vt:lpstr>PowerPoint Presentation</vt:lpstr>
      <vt:lpstr>PowerPoint Presentation</vt:lpstr>
      <vt:lpstr> nMOS enhancement mode pull-up  </vt:lpstr>
      <vt:lpstr>PowerPoint Presentation</vt:lpstr>
      <vt:lpstr>Characteristics of NMOS Logic</vt:lpstr>
      <vt:lpstr>PowerPoint Presentation</vt:lpstr>
      <vt:lpstr>3. Pseudo-NMOS Logic</vt:lpstr>
      <vt:lpstr>PowerPoint Presentation</vt:lpstr>
      <vt:lpstr>Pseudo-NMOS Logic</vt:lpstr>
      <vt:lpstr>Pseudo-NMOS Logic</vt:lpstr>
      <vt:lpstr>PowerPoint Presentation</vt:lpstr>
      <vt:lpstr>PowerPoint Presentation</vt:lpstr>
      <vt:lpstr>PowerPoint Presentation</vt:lpstr>
      <vt:lpstr>4. Pass Transistor Logic (PTL)</vt:lpstr>
      <vt:lpstr>PowerPoint Presentation</vt:lpstr>
      <vt:lpstr>Defining STRONG and WEAK logic</vt:lpstr>
      <vt:lpstr>NMOS pass transistor passes Strong ‘0’ but weak ‘1’</vt:lpstr>
      <vt:lpstr>NMOS pass transistor passes Strong ‘0’ but weak ‘1’</vt:lpstr>
      <vt:lpstr>PMOS pass transistor passes Strong ‘1’ but weak ‘0’</vt:lpstr>
      <vt:lpstr>PowerPoint Presentation</vt:lpstr>
      <vt:lpstr>Strong and Weak Logic Summary</vt:lpstr>
      <vt:lpstr>PowerPoint Presentation</vt:lpstr>
      <vt:lpstr>Advantages</vt:lpstr>
      <vt:lpstr>PMOS vs NMOS PTL</vt:lpstr>
      <vt:lpstr>PowerPoint Presentation</vt:lpstr>
      <vt:lpstr>PowerPoint Presentation</vt:lpstr>
      <vt:lpstr>PowerPoint Presentation</vt:lpstr>
      <vt:lpstr>PowerPoint Presentation</vt:lpstr>
      <vt:lpstr>5. Differential Cascode Voltage Switch Logic</vt:lpstr>
      <vt:lpstr>PowerPoint Presentation</vt:lpstr>
      <vt:lpstr>Differential Cascode Voltage Switch Logic</vt:lpstr>
      <vt:lpstr>Differential Cascode Voltage Switch Logic</vt:lpstr>
      <vt:lpstr>PowerPoint Presentation</vt:lpstr>
      <vt:lpstr>PowerPoint Presentation</vt:lpstr>
      <vt:lpstr>PowerPoint Presentation</vt:lpstr>
      <vt:lpstr>PowerPoint Presentation</vt:lpstr>
      <vt:lpstr>3.2.2 Clocked (Dynamic) Logic Design</vt:lpstr>
      <vt:lpstr>1. Clocked (Dynamic) Logic Design</vt:lpstr>
      <vt:lpstr>PowerPoint Presentation</vt:lpstr>
      <vt:lpstr>Clocked (Dynamic) Logic Design</vt:lpstr>
      <vt:lpstr>Clocked (Dynamic) Logic Design</vt:lpstr>
      <vt:lpstr>Cascading Dynamic Logic Gates</vt:lpstr>
      <vt:lpstr>Cascading Dynamic Logic Gates</vt:lpstr>
      <vt:lpstr>PowerPoint Presentation</vt:lpstr>
      <vt:lpstr>2. Domino Logic</vt:lpstr>
      <vt:lpstr>Domino Logic</vt:lpstr>
      <vt:lpstr>Domino Logic</vt:lpstr>
      <vt:lpstr>PowerPoint Presentation</vt:lpstr>
      <vt:lpstr>Domino Logic</vt:lpstr>
      <vt:lpstr>Domino Logic</vt:lpstr>
      <vt:lpstr>Domino Logic</vt:lpstr>
      <vt:lpstr>Domino Logic</vt:lpstr>
      <vt:lpstr>Domino Logic</vt:lpstr>
      <vt:lpstr>PowerPoint Presentation</vt:lpstr>
      <vt:lpstr>3. Differential Current Switch Logic</vt:lpstr>
      <vt:lpstr>Differential Current Switch Logic</vt:lpstr>
      <vt:lpstr>PowerPoint Presentation</vt:lpstr>
      <vt:lpstr>Precharge high DCSL</vt:lpstr>
      <vt:lpstr>Precharge high DCSL</vt:lpstr>
      <vt:lpstr>Precharge low DCSL</vt:lpstr>
      <vt:lpstr>Precharge low DCSL</vt:lpstr>
      <vt:lpstr>PowerPoint Presentation</vt:lpstr>
      <vt:lpstr> 3.3 Leakage Current in deep sub micrometer transistors</vt:lpstr>
      <vt:lpstr>Leakage Current</vt:lpstr>
      <vt:lpstr>PowerPoint Presentation</vt:lpstr>
      <vt:lpstr>Reverse-Bias pn Junction Leakage</vt:lpstr>
      <vt:lpstr>Reverse-Bias pn Junction Leakage</vt:lpstr>
      <vt:lpstr>Reverse-Bias pn Junction Leakage</vt:lpstr>
      <vt:lpstr>Reverse-Bias pn Junction Leakage</vt:lpstr>
      <vt:lpstr>Subthreshold Leakage</vt:lpstr>
      <vt:lpstr>Subthreshold Leakage</vt:lpstr>
      <vt:lpstr>Subthreshold Leakage</vt:lpstr>
      <vt:lpstr>Subthreshold Leakage</vt:lpstr>
      <vt:lpstr>PowerPoint Presentation</vt:lpstr>
      <vt:lpstr>Subthreshold Leakage</vt:lpstr>
      <vt:lpstr>Subthreshold Leakage</vt:lpstr>
      <vt:lpstr>Subthreshold Leakage</vt:lpstr>
      <vt:lpstr>Subthreshold Leakage</vt:lpstr>
      <vt:lpstr>1. DIBL (Drain Induced Barrier Lowering)</vt:lpstr>
      <vt:lpstr>PowerPoint Presentation</vt:lpstr>
      <vt:lpstr>PowerPoint Presentation</vt:lpstr>
      <vt:lpstr>PowerPoint Presentation</vt:lpstr>
      <vt:lpstr>Continue….</vt:lpstr>
      <vt:lpstr>Subthreshold Leakage</vt:lpstr>
      <vt:lpstr>Subthreshold Leakage</vt:lpstr>
      <vt:lpstr>Subthreshold Leakage</vt:lpstr>
      <vt:lpstr>Subthreshold Leakage</vt:lpstr>
      <vt:lpstr>Subthreshold Leakage</vt:lpstr>
      <vt:lpstr>Subthreshold Leakage</vt:lpstr>
      <vt:lpstr>PowerPoint Presentation</vt:lpstr>
      <vt:lpstr>Gate oxide tunneling leakage</vt:lpstr>
      <vt:lpstr>Gate oxide tunneling leakage</vt:lpstr>
      <vt:lpstr>Gate oxide tunneling leakage</vt:lpstr>
      <vt:lpstr>Gate oxide tunneling leakage</vt:lpstr>
      <vt:lpstr>Gate oxide tunneling leakage</vt:lpstr>
      <vt:lpstr>PowerPoint Presentation</vt:lpstr>
      <vt:lpstr>Injection of Hot Carriers from Substrate to Gate Oxide</vt:lpstr>
      <vt:lpstr>Gate-Induced Drain Leakage</vt:lpstr>
      <vt:lpstr>Gate-Induced Drain Leakage</vt:lpstr>
      <vt:lpstr>Gate-Induced Drain Leakage</vt:lpstr>
      <vt:lpstr>Gate-Induced Drain Leakage</vt:lpstr>
      <vt:lpstr>PowerPoint Presentation</vt:lpstr>
      <vt:lpstr>Gate-Induced Drain Leakage</vt:lpstr>
      <vt:lpstr>Gate-Induced Drain Leakage</vt:lpstr>
      <vt:lpstr>Punch Through</vt:lpstr>
      <vt:lpstr>Punch Through</vt:lpstr>
      <vt:lpstr>Punch Through</vt:lpstr>
      <vt:lpstr>3.4 Deep Submicrometer Device Design Issues</vt:lpstr>
      <vt:lpstr>Deep Submicrometer Device Design Issues</vt:lpstr>
      <vt:lpstr>Deep Submicrometer Device Design Issues</vt:lpstr>
      <vt:lpstr>Deep Submicrometer Device Design Issues</vt:lpstr>
      <vt:lpstr>Deep Submicrometer Device Design Issues</vt:lpstr>
      <vt:lpstr>Deep Submicrometer Device Design Issues</vt:lpstr>
      <vt:lpstr>Deep Submicrometer Device Design Issues</vt:lpstr>
      <vt:lpstr>Deep Submicrometer Device Design Issues</vt:lpstr>
      <vt:lpstr>Deep Submicrometer Device Design Issues</vt:lpstr>
      <vt:lpstr>Deep Submicrometer Device Design Issues</vt:lpstr>
      <vt:lpstr>Deep Submicrometer Device Design Issues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 Power 10T SRAM Cell with Improved Stability Solving Soft Error Issue</dc:title>
  <dc:creator>eee</dc:creator>
  <cp:lastModifiedBy>ARURU SAI KUMAR</cp:lastModifiedBy>
  <cp:revision>669</cp:revision>
  <cp:lastPrinted>2021-07-12T07:25:25Z</cp:lastPrinted>
  <dcterms:created xsi:type="dcterms:W3CDTF">2019-09-25T11:46:40Z</dcterms:created>
  <dcterms:modified xsi:type="dcterms:W3CDTF">2026-03-19T17:22:16Z</dcterms:modified>
</cp:coreProperties>
</file>