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147"/>
  </p:notesMasterIdLst>
  <p:sldIdLst>
    <p:sldId id="256" r:id="rId2"/>
    <p:sldId id="555" r:id="rId3"/>
    <p:sldId id="257" r:id="rId4"/>
    <p:sldId id="558" r:id="rId5"/>
    <p:sldId id="682" r:id="rId6"/>
    <p:sldId id="683" r:id="rId7"/>
    <p:sldId id="684" r:id="rId8"/>
    <p:sldId id="685" r:id="rId9"/>
    <p:sldId id="686" r:id="rId10"/>
    <p:sldId id="687" r:id="rId11"/>
    <p:sldId id="688" r:id="rId12"/>
    <p:sldId id="689" r:id="rId13"/>
    <p:sldId id="690" r:id="rId14"/>
    <p:sldId id="691" r:id="rId15"/>
    <p:sldId id="692" r:id="rId16"/>
    <p:sldId id="693" r:id="rId17"/>
    <p:sldId id="694" r:id="rId18"/>
    <p:sldId id="695" r:id="rId19"/>
    <p:sldId id="722" r:id="rId20"/>
    <p:sldId id="723" r:id="rId21"/>
    <p:sldId id="724" r:id="rId22"/>
    <p:sldId id="725" r:id="rId23"/>
    <p:sldId id="696" r:id="rId24"/>
    <p:sldId id="697" r:id="rId25"/>
    <p:sldId id="698" r:id="rId26"/>
    <p:sldId id="699" r:id="rId27"/>
    <p:sldId id="700" r:id="rId28"/>
    <p:sldId id="702" r:id="rId29"/>
    <p:sldId id="701" r:id="rId30"/>
    <p:sldId id="703" r:id="rId31"/>
    <p:sldId id="705" r:id="rId32"/>
    <p:sldId id="704" r:id="rId33"/>
    <p:sldId id="706" r:id="rId34"/>
    <p:sldId id="707" r:id="rId35"/>
    <p:sldId id="726" r:id="rId36"/>
    <p:sldId id="727" r:id="rId37"/>
    <p:sldId id="728" r:id="rId38"/>
    <p:sldId id="737" r:id="rId39"/>
    <p:sldId id="708" r:id="rId40"/>
    <p:sldId id="709" r:id="rId41"/>
    <p:sldId id="710" r:id="rId42"/>
    <p:sldId id="729" r:id="rId43"/>
    <p:sldId id="730" r:id="rId44"/>
    <p:sldId id="731" r:id="rId45"/>
    <p:sldId id="736" r:id="rId46"/>
    <p:sldId id="711" r:id="rId47"/>
    <p:sldId id="712" r:id="rId48"/>
    <p:sldId id="713" r:id="rId49"/>
    <p:sldId id="714" r:id="rId50"/>
    <p:sldId id="715" r:id="rId51"/>
    <p:sldId id="716" r:id="rId52"/>
    <p:sldId id="717" r:id="rId53"/>
    <p:sldId id="718" r:id="rId54"/>
    <p:sldId id="719" r:id="rId55"/>
    <p:sldId id="720" r:id="rId56"/>
    <p:sldId id="721" r:id="rId57"/>
    <p:sldId id="732" r:id="rId58"/>
    <p:sldId id="733" r:id="rId59"/>
    <p:sldId id="734" r:id="rId60"/>
    <p:sldId id="735" r:id="rId61"/>
    <p:sldId id="740" r:id="rId62"/>
    <p:sldId id="738" r:id="rId63"/>
    <p:sldId id="739" r:id="rId64"/>
    <p:sldId id="741" r:id="rId65"/>
    <p:sldId id="742" r:id="rId66"/>
    <p:sldId id="743" r:id="rId67"/>
    <p:sldId id="744" r:id="rId68"/>
    <p:sldId id="745" r:id="rId69"/>
    <p:sldId id="746" r:id="rId70"/>
    <p:sldId id="747" r:id="rId71"/>
    <p:sldId id="748" r:id="rId72"/>
    <p:sldId id="749" r:id="rId73"/>
    <p:sldId id="750" r:id="rId74"/>
    <p:sldId id="751" r:id="rId75"/>
    <p:sldId id="752" r:id="rId76"/>
    <p:sldId id="753" r:id="rId77"/>
    <p:sldId id="754" r:id="rId78"/>
    <p:sldId id="755" r:id="rId79"/>
    <p:sldId id="756" r:id="rId80"/>
    <p:sldId id="757" r:id="rId81"/>
    <p:sldId id="758" r:id="rId82"/>
    <p:sldId id="759" r:id="rId83"/>
    <p:sldId id="760" r:id="rId84"/>
    <p:sldId id="761" r:id="rId85"/>
    <p:sldId id="762" r:id="rId86"/>
    <p:sldId id="764" r:id="rId87"/>
    <p:sldId id="765" r:id="rId88"/>
    <p:sldId id="763" r:id="rId89"/>
    <p:sldId id="766" r:id="rId90"/>
    <p:sldId id="767" r:id="rId91"/>
    <p:sldId id="768" r:id="rId92"/>
    <p:sldId id="769" r:id="rId93"/>
    <p:sldId id="770" r:id="rId94"/>
    <p:sldId id="771" r:id="rId95"/>
    <p:sldId id="772" r:id="rId96"/>
    <p:sldId id="773" r:id="rId97"/>
    <p:sldId id="774" r:id="rId98"/>
    <p:sldId id="775" r:id="rId99"/>
    <p:sldId id="776" r:id="rId100"/>
    <p:sldId id="777" r:id="rId101"/>
    <p:sldId id="778" r:id="rId102"/>
    <p:sldId id="779" r:id="rId103"/>
    <p:sldId id="781" r:id="rId104"/>
    <p:sldId id="780" r:id="rId105"/>
    <p:sldId id="782" r:id="rId106"/>
    <p:sldId id="783" r:id="rId107"/>
    <p:sldId id="784" r:id="rId108"/>
    <p:sldId id="785" r:id="rId109"/>
    <p:sldId id="805" r:id="rId110"/>
    <p:sldId id="786" r:id="rId111"/>
    <p:sldId id="787" r:id="rId112"/>
    <p:sldId id="789" r:id="rId113"/>
    <p:sldId id="790" r:id="rId114"/>
    <p:sldId id="791" r:id="rId115"/>
    <p:sldId id="798" r:id="rId116"/>
    <p:sldId id="788" r:id="rId117"/>
    <p:sldId id="792" r:id="rId118"/>
    <p:sldId id="793" r:id="rId119"/>
    <p:sldId id="794" r:id="rId120"/>
    <p:sldId id="795" r:id="rId121"/>
    <p:sldId id="796" r:id="rId122"/>
    <p:sldId id="797" r:id="rId123"/>
    <p:sldId id="799" r:id="rId124"/>
    <p:sldId id="800" r:id="rId125"/>
    <p:sldId id="806" r:id="rId126"/>
    <p:sldId id="802" r:id="rId127"/>
    <p:sldId id="803" r:id="rId128"/>
    <p:sldId id="804" r:id="rId129"/>
    <p:sldId id="822" r:id="rId130"/>
    <p:sldId id="821" r:id="rId131"/>
    <p:sldId id="807" r:id="rId132"/>
    <p:sldId id="808" r:id="rId133"/>
    <p:sldId id="809" r:id="rId134"/>
    <p:sldId id="810" r:id="rId135"/>
    <p:sldId id="811" r:id="rId136"/>
    <p:sldId id="812" r:id="rId137"/>
    <p:sldId id="813" r:id="rId138"/>
    <p:sldId id="814" r:id="rId139"/>
    <p:sldId id="815" r:id="rId140"/>
    <p:sldId id="816" r:id="rId141"/>
    <p:sldId id="817" r:id="rId142"/>
    <p:sldId id="820" r:id="rId143"/>
    <p:sldId id="818" r:id="rId144"/>
    <p:sldId id="819" r:id="rId145"/>
    <p:sldId id="270"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4660"/>
  </p:normalViewPr>
  <p:slideViewPr>
    <p:cSldViewPr snapToGrid="0">
      <p:cViewPr varScale="1">
        <p:scale>
          <a:sx n="65" d="100"/>
          <a:sy n="65" d="100"/>
        </p:scale>
        <p:origin x="72"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19-03-2026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2B883-0CBF-46F6-B001-F5F9F89E9899}" type="slidenum">
              <a:rPr lang="en-IN" smtClean="0"/>
              <a:pPr/>
              <a:t>63</a:t>
            </a:fld>
            <a:endParaRPr lang="en-IN"/>
          </a:p>
        </p:txBody>
      </p:sp>
    </p:spTree>
    <p:extLst>
      <p:ext uri="{BB962C8B-B14F-4D97-AF65-F5344CB8AC3E}">
        <p14:creationId xmlns:p14="http://schemas.microsoft.com/office/powerpoint/2010/main" val="4084531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1A3CE-3ED5-2F5D-5863-03E49E751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25784-73D1-A688-EEE9-AC1042190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C92F5-3643-8D2C-CFB7-7C8AA497AA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D3B4CC-F3B9-2C1B-1DD0-00A85FEC05DD}"/>
              </a:ext>
            </a:extLst>
          </p:cNvPr>
          <p:cNvSpPr>
            <a:spLocks noGrp="1"/>
          </p:cNvSpPr>
          <p:nvPr>
            <p:ph type="sldNum" sz="quarter" idx="5"/>
          </p:nvPr>
        </p:nvSpPr>
        <p:spPr/>
        <p:txBody>
          <a:bodyPr/>
          <a:lstStyle/>
          <a:p>
            <a:fld id="{9582B883-0CBF-46F6-B001-F5F9F89E9899}" type="slidenum">
              <a:rPr lang="en-IN" smtClean="0"/>
              <a:pPr/>
              <a:t>64</a:t>
            </a:fld>
            <a:endParaRPr lang="en-IN"/>
          </a:p>
        </p:txBody>
      </p:sp>
    </p:spTree>
    <p:extLst>
      <p:ext uri="{BB962C8B-B14F-4D97-AF65-F5344CB8AC3E}">
        <p14:creationId xmlns:p14="http://schemas.microsoft.com/office/powerpoint/2010/main" val="326144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CE15-5AEB-A68C-A6C4-699CAE074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E8148-5800-D665-B49C-34EE66348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D331C-11B5-602F-7636-D630FE4B615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B5C08C-F6DE-021E-AE93-09D79D08503C}"/>
              </a:ext>
            </a:extLst>
          </p:cNvPr>
          <p:cNvSpPr>
            <a:spLocks noGrp="1"/>
          </p:cNvSpPr>
          <p:nvPr>
            <p:ph type="sldNum" sz="quarter" idx="5"/>
          </p:nvPr>
        </p:nvSpPr>
        <p:spPr/>
        <p:txBody>
          <a:bodyPr/>
          <a:lstStyle/>
          <a:p>
            <a:fld id="{9582B883-0CBF-46F6-B001-F5F9F89E9899}" type="slidenum">
              <a:rPr lang="en-IN" smtClean="0"/>
              <a:pPr/>
              <a:t>65</a:t>
            </a:fld>
            <a:endParaRPr lang="en-IN"/>
          </a:p>
        </p:txBody>
      </p:sp>
    </p:spTree>
    <p:extLst>
      <p:ext uri="{BB962C8B-B14F-4D97-AF65-F5344CB8AC3E}">
        <p14:creationId xmlns:p14="http://schemas.microsoft.com/office/powerpoint/2010/main" val="387029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FEBE3-F94D-D9C7-CD1E-DF608E382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A46D3-CE7D-0E85-C329-9AA6918D81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9C74C-7816-B3D7-871E-D4F0E1A5FE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942444-7958-B1C4-B488-2FB9D769DB79}"/>
              </a:ext>
            </a:extLst>
          </p:cNvPr>
          <p:cNvSpPr>
            <a:spLocks noGrp="1"/>
          </p:cNvSpPr>
          <p:nvPr>
            <p:ph type="sldNum" sz="quarter" idx="5"/>
          </p:nvPr>
        </p:nvSpPr>
        <p:spPr/>
        <p:txBody>
          <a:bodyPr/>
          <a:lstStyle/>
          <a:p>
            <a:fld id="{9582B883-0CBF-46F6-B001-F5F9F89E9899}" type="slidenum">
              <a:rPr lang="en-IN" smtClean="0"/>
              <a:pPr/>
              <a:t>66</a:t>
            </a:fld>
            <a:endParaRPr lang="en-IN"/>
          </a:p>
        </p:txBody>
      </p:sp>
    </p:spTree>
    <p:extLst>
      <p:ext uri="{BB962C8B-B14F-4D97-AF65-F5344CB8AC3E}">
        <p14:creationId xmlns:p14="http://schemas.microsoft.com/office/powerpoint/2010/main" val="495778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BEB1D-414D-B91F-B748-34F605D3D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EAED6-6D3A-4419-C1FB-902FF3D60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FB81-D179-16DA-E231-8C0EEF8C68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2C387F-1730-21A1-A4B2-8D73EB54A4C8}"/>
              </a:ext>
            </a:extLst>
          </p:cNvPr>
          <p:cNvSpPr>
            <a:spLocks noGrp="1"/>
          </p:cNvSpPr>
          <p:nvPr>
            <p:ph type="sldNum" sz="quarter" idx="5"/>
          </p:nvPr>
        </p:nvSpPr>
        <p:spPr/>
        <p:txBody>
          <a:bodyPr/>
          <a:lstStyle/>
          <a:p>
            <a:fld id="{9582B883-0CBF-46F6-B001-F5F9F89E9899}" type="slidenum">
              <a:rPr lang="en-IN" smtClean="0"/>
              <a:pPr/>
              <a:t>67</a:t>
            </a:fld>
            <a:endParaRPr lang="en-IN"/>
          </a:p>
        </p:txBody>
      </p:sp>
    </p:spTree>
    <p:extLst>
      <p:ext uri="{BB962C8B-B14F-4D97-AF65-F5344CB8AC3E}">
        <p14:creationId xmlns:p14="http://schemas.microsoft.com/office/powerpoint/2010/main" val="1171830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CC2DE-D1A9-86E1-752E-8B82B490B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6708E-4A38-DF48-B33B-095B30150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EBBCE-4B7D-F4E5-95EC-D3AAA978CF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3A428D-55B5-F9D6-D28F-AB8C286108B7}"/>
              </a:ext>
            </a:extLst>
          </p:cNvPr>
          <p:cNvSpPr>
            <a:spLocks noGrp="1"/>
          </p:cNvSpPr>
          <p:nvPr>
            <p:ph type="sldNum" sz="quarter" idx="5"/>
          </p:nvPr>
        </p:nvSpPr>
        <p:spPr/>
        <p:txBody>
          <a:bodyPr/>
          <a:lstStyle/>
          <a:p>
            <a:fld id="{9582B883-0CBF-46F6-B001-F5F9F89E9899}" type="slidenum">
              <a:rPr lang="en-IN" smtClean="0"/>
              <a:pPr/>
              <a:t>68</a:t>
            </a:fld>
            <a:endParaRPr lang="en-IN"/>
          </a:p>
        </p:txBody>
      </p:sp>
    </p:spTree>
    <p:extLst>
      <p:ext uri="{BB962C8B-B14F-4D97-AF65-F5344CB8AC3E}">
        <p14:creationId xmlns:p14="http://schemas.microsoft.com/office/powerpoint/2010/main" val="2475130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4AB3-D791-1FDD-0734-C6DC2843C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87E65-414F-C53A-CA31-4A864460A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15661-4328-B3BF-E0C0-81D6762B5F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4D5946-C6F1-9B31-DB89-592E56777A6B}"/>
              </a:ext>
            </a:extLst>
          </p:cNvPr>
          <p:cNvSpPr>
            <a:spLocks noGrp="1"/>
          </p:cNvSpPr>
          <p:nvPr>
            <p:ph type="sldNum" sz="quarter" idx="5"/>
          </p:nvPr>
        </p:nvSpPr>
        <p:spPr/>
        <p:txBody>
          <a:bodyPr/>
          <a:lstStyle/>
          <a:p>
            <a:fld id="{9582B883-0CBF-46F6-B001-F5F9F89E9899}" type="slidenum">
              <a:rPr lang="en-IN" smtClean="0"/>
              <a:pPr/>
              <a:t>69</a:t>
            </a:fld>
            <a:endParaRPr lang="en-IN"/>
          </a:p>
        </p:txBody>
      </p:sp>
    </p:spTree>
    <p:extLst>
      <p:ext uri="{BB962C8B-B14F-4D97-AF65-F5344CB8AC3E}">
        <p14:creationId xmlns:p14="http://schemas.microsoft.com/office/powerpoint/2010/main" val="3770650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6BF6-FC94-520A-AA63-8FC75D52D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49D4-4946-B7E9-8942-EA83FB3C3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0EBC7-7C7D-E55A-5E6F-7812CB42FB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8BE020-322C-D9D4-563C-35A8711BB580}"/>
              </a:ext>
            </a:extLst>
          </p:cNvPr>
          <p:cNvSpPr>
            <a:spLocks noGrp="1"/>
          </p:cNvSpPr>
          <p:nvPr>
            <p:ph type="sldNum" sz="quarter" idx="5"/>
          </p:nvPr>
        </p:nvSpPr>
        <p:spPr/>
        <p:txBody>
          <a:bodyPr/>
          <a:lstStyle/>
          <a:p>
            <a:fld id="{9582B883-0CBF-46F6-B001-F5F9F89E9899}" type="slidenum">
              <a:rPr lang="en-IN" smtClean="0"/>
              <a:pPr/>
              <a:t>71</a:t>
            </a:fld>
            <a:endParaRPr lang="en-IN"/>
          </a:p>
        </p:txBody>
      </p:sp>
    </p:spTree>
    <p:extLst>
      <p:ext uri="{BB962C8B-B14F-4D97-AF65-F5344CB8AC3E}">
        <p14:creationId xmlns:p14="http://schemas.microsoft.com/office/powerpoint/2010/main" val="3332202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5400A-B591-AC46-A4AF-C1E99870D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83932-0C6E-0673-1136-F6C9FDF83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FF0CB-8F3F-1C9B-8EC0-02CF24D06D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CDF193A-3285-9C02-8E2B-197CB128C7B9}"/>
              </a:ext>
            </a:extLst>
          </p:cNvPr>
          <p:cNvSpPr>
            <a:spLocks noGrp="1"/>
          </p:cNvSpPr>
          <p:nvPr>
            <p:ph type="sldNum" sz="quarter" idx="5"/>
          </p:nvPr>
        </p:nvSpPr>
        <p:spPr/>
        <p:txBody>
          <a:bodyPr/>
          <a:lstStyle/>
          <a:p>
            <a:fld id="{9582B883-0CBF-46F6-B001-F5F9F89E9899}" type="slidenum">
              <a:rPr lang="en-IN" smtClean="0"/>
              <a:pPr/>
              <a:t>72</a:t>
            </a:fld>
            <a:endParaRPr lang="en-IN"/>
          </a:p>
        </p:txBody>
      </p:sp>
    </p:spTree>
    <p:extLst>
      <p:ext uri="{BB962C8B-B14F-4D97-AF65-F5344CB8AC3E}">
        <p14:creationId xmlns:p14="http://schemas.microsoft.com/office/powerpoint/2010/main" val="2547751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8F38B-DA7B-87DE-CC35-21EDD8C8C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73848-3CB2-2B37-73D6-121C6392C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0EC6C-7C39-B2DA-D234-7E62E27995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008870-DFF8-CDBA-8709-B119CA6CF66F}"/>
              </a:ext>
            </a:extLst>
          </p:cNvPr>
          <p:cNvSpPr>
            <a:spLocks noGrp="1"/>
          </p:cNvSpPr>
          <p:nvPr>
            <p:ph type="sldNum" sz="quarter" idx="5"/>
          </p:nvPr>
        </p:nvSpPr>
        <p:spPr/>
        <p:txBody>
          <a:bodyPr/>
          <a:lstStyle/>
          <a:p>
            <a:fld id="{9582B883-0CBF-46F6-B001-F5F9F89E9899}" type="slidenum">
              <a:rPr lang="en-IN" smtClean="0"/>
              <a:pPr/>
              <a:t>74</a:t>
            </a:fld>
            <a:endParaRPr lang="en-IN"/>
          </a:p>
        </p:txBody>
      </p:sp>
    </p:spTree>
    <p:extLst>
      <p:ext uri="{BB962C8B-B14F-4D97-AF65-F5344CB8AC3E}">
        <p14:creationId xmlns:p14="http://schemas.microsoft.com/office/powerpoint/2010/main" val="2898912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FD80D-B01C-08D0-72A2-E0E162518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A26CE-F093-0F3D-E361-DD909F561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16DE2-D1B3-F7F9-DE65-10C5A84D1F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782BD3-1F37-8C5F-AE19-289C892C3109}"/>
              </a:ext>
            </a:extLst>
          </p:cNvPr>
          <p:cNvSpPr>
            <a:spLocks noGrp="1"/>
          </p:cNvSpPr>
          <p:nvPr>
            <p:ph type="sldNum" sz="quarter" idx="5"/>
          </p:nvPr>
        </p:nvSpPr>
        <p:spPr/>
        <p:txBody>
          <a:bodyPr/>
          <a:lstStyle/>
          <a:p>
            <a:fld id="{9582B883-0CBF-46F6-B001-F5F9F89E9899}" type="slidenum">
              <a:rPr lang="en-IN" smtClean="0"/>
              <a:pPr/>
              <a:t>76</a:t>
            </a:fld>
            <a:endParaRPr lang="en-IN"/>
          </a:p>
        </p:txBody>
      </p:sp>
    </p:spTree>
    <p:extLst>
      <p:ext uri="{BB962C8B-B14F-4D97-AF65-F5344CB8AC3E}">
        <p14:creationId xmlns:p14="http://schemas.microsoft.com/office/powerpoint/2010/main" val="2191173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85550-0E6C-6F79-7020-B479A0771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5A848-CF8E-AA8B-3E8D-881EDD223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15B93-3704-2F96-A11E-527A90C031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FBE5C4-4EBF-5CA4-F587-0D2D40E2569F}"/>
              </a:ext>
            </a:extLst>
          </p:cNvPr>
          <p:cNvSpPr>
            <a:spLocks noGrp="1"/>
          </p:cNvSpPr>
          <p:nvPr>
            <p:ph type="sldNum" sz="quarter" idx="5"/>
          </p:nvPr>
        </p:nvSpPr>
        <p:spPr/>
        <p:txBody>
          <a:bodyPr/>
          <a:lstStyle/>
          <a:p>
            <a:fld id="{9582B883-0CBF-46F6-B001-F5F9F89E9899}" type="slidenum">
              <a:rPr lang="en-IN" smtClean="0"/>
              <a:pPr/>
              <a:t>77</a:t>
            </a:fld>
            <a:endParaRPr lang="en-IN"/>
          </a:p>
        </p:txBody>
      </p:sp>
    </p:spTree>
    <p:extLst>
      <p:ext uri="{BB962C8B-B14F-4D97-AF65-F5344CB8AC3E}">
        <p14:creationId xmlns:p14="http://schemas.microsoft.com/office/powerpoint/2010/main" val="3442050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71F02-ADB9-A265-5542-8901DA66A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CAF95-55E5-C602-E24D-E35A482CB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87CF-6C0E-1EAB-FD25-8A0DFE3C21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44714E-FB2B-E211-5368-60AE74116E8B}"/>
              </a:ext>
            </a:extLst>
          </p:cNvPr>
          <p:cNvSpPr>
            <a:spLocks noGrp="1"/>
          </p:cNvSpPr>
          <p:nvPr>
            <p:ph type="sldNum" sz="quarter" idx="5"/>
          </p:nvPr>
        </p:nvSpPr>
        <p:spPr/>
        <p:txBody>
          <a:bodyPr/>
          <a:lstStyle/>
          <a:p>
            <a:fld id="{9582B883-0CBF-46F6-B001-F5F9F89E9899}" type="slidenum">
              <a:rPr lang="en-IN" smtClean="0"/>
              <a:pPr/>
              <a:t>80</a:t>
            </a:fld>
            <a:endParaRPr lang="en-IN"/>
          </a:p>
        </p:txBody>
      </p:sp>
    </p:spTree>
    <p:extLst>
      <p:ext uri="{BB962C8B-B14F-4D97-AF65-F5344CB8AC3E}">
        <p14:creationId xmlns:p14="http://schemas.microsoft.com/office/powerpoint/2010/main" val="262605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7BC5D-5465-9306-E6E7-06EC5D498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113BA-4BF9-0DC8-EF85-B9B5ECC06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E920F-72D4-9459-A3DD-218BC9D4DA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8111E0-7FEC-DFB5-65FD-153F33229EA4}"/>
              </a:ext>
            </a:extLst>
          </p:cNvPr>
          <p:cNvSpPr>
            <a:spLocks noGrp="1"/>
          </p:cNvSpPr>
          <p:nvPr>
            <p:ph type="sldNum" sz="quarter" idx="5"/>
          </p:nvPr>
        </p:nvSpPr>
        <p:spPr/>
        <p:txBody>
          <a:bodyPr/>
          <a:lstStyle/>
          <a:p>
            <a:fld id="{9582B883-0CBF-46F6-B001-F5F9F89E9899}" type="slidenum">
              <a:rPr lang="en-IN" smtClean="0"/>
              <a:pPr/>
              <a:t>81</a:t>
            </a:fld>
            <a:endParaRPr lang="en-IN"/>
          </a:p>
        </p:txBody>
      </p:sp>
    </p:spTree>
    <p:extLst>
      <p:ext uri="{BB962C8B-B14F-4D97-AF65-F5344CB8AC3E}">
        <p14:creationId xmlns:p14="http://schemas.microsoft.com/office/powerpoint/2010/main" val="616714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6C492-E166-D91D-6BDD-9B44E48B6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E1B3B-C1CF-928C-FCE9-DE45854D3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95BB0-412F-046E-0670-BF86DEEFFB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BE18D9-8308-162D-4A8E-A9703FCA676A}"/>
              </a:ext>
            </a:extLst>
          </p:cNvPr>
          <p:cNvSpPr>
            <a:spLocks noGrp="1"/>
          </p:cNvSpPr>
          <p:nvPr>
            <p:ph type="sldNum" sz="quarter" idx="5"/>
          </p:nvPr>
        </p:nvSpPr>
        <p:spPr/>
        <p:txBody>
          <a:bodyPr/>
          <a:lstStyle/>
          <a:p>
            <a:fld id="{9582B883-0CBF-46F6-B001-F5F9F89E9899}" type="slidenum">
              <a:rPr lang="en-IN" smtClean="0"/>
              <a:pPr/>
              <a:t>82</a:t>
            </a:fld>
            <a:endParaRPr lang="en-IN"/>
          </a:p>
        </p:txBody>
      </p:sp>
    </p:spTree>
    <p:extLst>
      <p:ext uri="{BB962C8B-B14F-4D97-AF65-F5344CB8AC3E}">
        <p14:creationId xmlns:p14="http://schemas.microsoft.com/office/powerpoint/2010/main" val="410868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E549-AC49-CFAF-0F03-D6BCECF24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21B39-09AB-2BBD-899F-F8B36EF63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D8721-A59A-36F8-C741-BF6691C06E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16CB15-F72D-A146-0D42-9177293B0BF7}"/>
              </a:ext>
            </a:extLst>
          </p:cNvPr>
          <p:cNvSpPr>
            <a:spLocks noGrp="1"/>
          </p:cNvSpPr>
          <p:nvPr>
            <p:ph type="sldNum" sz="quarter" idx="5"/>
          </p:nvPr>
        </p:nvSpPr>
        <p:spPr/>
        <p:txBody>
          <a:bodyPr/>
          <a:lstStyle/>
          <a:p>
            <a:fld id="{9582B883-0CBF-46F6-B001-F5F9F89E9899}" type="slidenum">
              <a:rPr lang="en-IN" smtClean="0"/>
              <a:pPr/>
              <a:t>84</a:t>
            </a:fld>
            <a:endParaRPr lang="en-IN"/>
          </a:p>
        </p:txBody>
      </p:sp>
    </p:spTree>
    <p:extLst>
      <p:ext uri="{BB962C8B-B14F-4D97-AF65-F5344CB8AC3E}">
        <p14:creationId xmlns:p14="http://schemas.microsoft.com/office/powerpoint/2010/main" val="1702900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F4B73-3323-B998-9F9F-4F40F651D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F61EA-FA14-5F1E-E5EC-C8CCBA3B8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E73CE-C0B4-F370-9A02-941A4366B2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9866C5-2B75-6E1B-8DF7-FBE16D844F03}"/>
              </a:ext>
            </a:extLst>
          </p:cNvPr>
          <p:cNvSpPr>
            <a:spLocks noGrp="1"/>
          </p:cNvSpPr>
          <p:nvPr>
            <p:ph type="sldNum" sz="quarter" idx="5"/>
          </p:nvPr>
        </p:nvSpPr>
        <p:spPr/>
        <p:txBody>
          <a:bodyPr/>
          <a:lstStyle/>
          <a:p>
            <a:fld id="{9582B883-0CBF-46F6-B001-F5F9F89E9899}" type="slidenum">
              <a:rPr lang="en-IN" smtClean="0"/>
              <a:pPr/>
              <a:t>85</a:t>
            </a:fld>
            <a:endParaRPr lang="en-IN"/>
          </a:p>
        </p:txBody>
      </p:sp>
    </p:spTree>
    <p:extLst>
      <p:ext uri="{BB962C8B-B14F-4D97-AF65-F5344CB8AC3E}">
        <p14:creationId xmlns:p14="http://schemas.microsoft.com/office/powerpoint/2010/main" val="2720437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D68E-96EC-E9DF-4EB8-2722A37FC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26B85-1F10-A814-24E8-C9C4DF169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5691B-4CC9-D4A1-5CAF-4A8BEEC1CC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A2B17D-B92B-B11D-6ADA-344B416AB91C}"/>
              </a:ext>
            </a:extLst>
          </p:cNvPr>
          <p:cNvSpPr>
            <a:spLocks noGrp="1"/>
          </p:cNvSpPr>
          <p:nvPr>
            <p:ph type="sldNum" sz="quarter" idx="5"/>
          </p:nvPr>
        </p:nvSpPr>
        <p:spPr/>
        <p:txBody>
          <a:bodyPr/>
          <a:lstStyle/>
          <a:p>
            <a:fld id="{9582B883-0CBF-46F6-B001-F5F9F89E9899}" type="slidenum">
              <a:rPr lang="en-IN" smtClean="0"/>
              <a:pPr/>
              <a:t>86</a:t>
            </a:fld>
            <a:endParaRPr lang="en-IN"/>
          </a:p>
        </p:txBody>
      </p:sp>
    </p:spTree>
    <p:extLst>
      <p:ext uri="{BB962C8B-B14F-4D97-AF65-F5344CB8AC3E}">
        <p14:creationId xmlns:p14="http://schemas.microsoft.com/office/powerpoint/2010/main" val="850685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20C79-909E-9115-8BEE-7FE4365E2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1632E-EB23-4F04-EF43-BBE4B268B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A5E14-CF11-420D-7D56-5EA1FE4D93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D1E4E2-AAB5-8E0B-1308-09AD097CFC2B}"/>
              </a:ext>
            </a:extLst>
          </p:cNvPr>
          <p:cNvSpPr>
            <a:spLocks noGrp="1"/>
          </p:cNvSpPr>
          <p:nvPr>
            <p:ph type="sldNum" sz="quarter" idx="5"/>
          </p:nvPr>
        </p:nvSpPr>
        <p:spPr/>
        <p:txBody>
          <a:bodyPr/>
          <a:lstStyle/>
          <a:p>
            <a:fld id="{9582B883-0CBF-46F6-B001-F5F9F89E9899}" type="slidenum">
              <a:rPr lang="en-IN" smtClean="0"/>
              <a:pPr/>
              <a:t>87</a:t>
            </a:fld>
            <a:endParaRPr lang="en-IN"/>
          </a:p>
        </p:txBody>
      </p:sp>
    </p:spTree>
    <p:extLst>
      <p:ext uri="{BB962C8B-B14F-4D97-AF65-F5344CB8AC3E}">
        <p14:creationId xmlns:p14="http://schemas.microsoft.com/office/powerpoint/2010/main" val="2768966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FCC12-A6E5-807E-3D27-062A0C8CF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F1400-B401-AC9A-0A99-DDD1FCCE2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E7B62F-21A3-D0AF-543D-BA3C7D9F332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002FD4-2776-628F-5D1A-44B6F4E4D49D}"/>
              </a:ext>
            </a:extLst>
          </p:cNvPr>
          <p:cNvSpPr>
            <a:spLocks noGrp="1"/>
          </p:cNvSpPr>
          <p:nvPr>
            <p:ph type="sldNum" sz="quarter" idx="5"/>
          </p:nvPr>
        </p:nvSpPr>
        <p:spPr/>
        <p:txBody>
          <a:bodyPr/>
          <a:lstStyle/>
          <a:p>
            <a:fld id="{9582B883-0CBF-46F6-B001-F5F9F89E9899}" type="slidenum">
              <a:rPr lang="en-IN" smtClean="0"/>
              <a:pPr/>
              <a:t>88</a:t>
            </a:fld>
            <a:endParaRPr lang="en-IN"/>
          </a:p>
        </p:txBody>
      </p:sp>
    </p:spTree>
    <p:extLst>
      <p:ext uri="{BB962C8B-B14F-4D97-AF65-F5344CB8AC3E}">
        <p14:creationId xmlns:p14="http://schemas.microsoft.com/office/powerpoint/2010/main" val="403183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2BD98-3230-BE6A-0BA9-463BAEE02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800D1-8941-635B-ED5A-FA3417114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622FB-26DA-772B-9974-B1BC3196FE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F64C4C-398E-2951-D51A-2F20E1F81F7E}"/>
              </a:ext>
            </a:extLst>
          </p:cNvPr>
          <p:cNvSpPr>
            <a:spLocks noGrp="1"/>
          </p:cNvSpPr>
          <p:nvPr>
            <p:ph type="sldNum" sz="quarter" idx="5"/>
          </p:nvPr>
        </p:nvSpPr>
        <p:spPr/>
        <p:txBody>
          <a:bodyPr/>
          <a:lstStyle/>
          <a:p>
            <a:fld id="{9582B883-0CBF-46F6-B001-F5F9F89E9899}" type="slidenum">
              <a:rPr lang="en-IN" smtClean="0"/>
              <a:pPr/>
              <a:t>89</a:t>
            </a:fld>
            <a:endParaRPr lang="en-IN"/>
          </a:p>
        </p:txBody>
      </p:sp>
    </p:spTree>
    <p:extLst>
      <p:ext uri="{BB962C8B-B14F-4D97-AF65-F5344CB8AC3E}">
        <p14:creationId xmlns:p14="http://schemas.microsoft.com/office/powerpoint/2010/main" val="1300320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CF5F-29F8-C2D6-8ADD-603812AD5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9CCE1-9AEC-A0FC-FED7-A82D451A8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0BE28-1822-AA2E-2CF0-9388A97A01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887429-BA5B-46C7-B4DB-12F4B65C33D2}"/>
              </a:ext>
            </a:extLst>
          </p:cNvPr>
          <p:cNvSpPr>
            <a:spLocks noGrp="1"/>
          </p:cNvSpPr>
          <p:nvPr>
            <p:ph type="sldNum" sz="quarter" idx="5"/>
          </p:nvPr>
        </p:nvSpPr>
        <p:spPr/>
        <p:txBody>
          <a:bodyPr/>
          <a:lstStyle/>
          <a:p>
            <a:fld id="{9582B883-0CBF-46F6-B001-F5F9F89E9899}" type="slidenum">
              <a:rPr lang="en-IN" smtClean="0"/>
              <a:pPr/>
              <a:t>90</a:t>
            </a:fld>
            <a:endParaRPr lang="en-IN"/>
          </a:p>
        </p:txBody>
      </p:sp>
    </p:spTree>
    <p:extLst>
      <p:ext uri="{BB962C8B-B14F-4D97-AF65-F5344CB8AC3E}">
        <p14:creationId xmlns:p14="http://schemas.microsoft.com/office/powerpoint/2010/main" val="4206491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063A-4B86-8087-1149-92F246811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304E2-D8A4-84A2-F4E0-27EC29F62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33BF5-4799-2709-DC65-2156345775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23F8B4F-2D61-860D-2FE4-4B19139538DC}"/>
              </a:ext>
            </a:extLst>
          </p:cNvPr>
          <p:cNvSpPr>
            <a:spLocks noGrp="1"/>
          </p:cNvSpPr>
          <p:nvPr>
            <p:ph type="sldNum" sz="quarter" idx="5"/>
          </p:nvPr>
        </p:nvSpPr>
        <p:spPr/>
        <p:txBody>
          <a:bodyPr/>
          <a:lstStyle/>
          <a:p>
            <a:fld id="{9582B883-0CBF-46F6-B001-F5F9F89E9899}" type="slidenum">
              <a:rPr lang="en-IN" smtClean="0"/>
              <a:pPr/>
              <a:t>96</a:t>
            </a:fld>
            <a:endParaRPr lang="en-IN"/>
          </a:p>
        </p:txBody>
      </p:sp>
    </p:spTree>
    <p:extLst>
      <p:ext uri="{BB962C8B-B14F-4D97-AF65-F5344CB8AC3E}">
        <p14:creationId xmlns:p14="http://schemas.microsoft.com/office/powerpoint/2010/main" val="4210603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51628-6228-56EB-DB3F-227DB2539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29C07-CA8B-380C-0435-0F2928B38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059B8-1010-3D5A-E472-EA9C615A48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57AF95-4CE4-7412-9E3F-02D530D72212}"/>
              </a:ext>
            </a:extLst>
          </p:cNvPr>
          <p:cNvSpPr>
            <a:spLocks noGrp="1"/>
          </p:cNvSpPr>
          <p:nvPr>
            <p:ph type="sldNum" sz="quarter" idx="5"/>
          </p:nvPr>
        </p:nvSpPr>
        <p:spPr/>
        <p:txBody>
          <a:bodyPr/>
          <a:lstStyle/>
          <a:p>
            <a:fld id="{9582B883-0CBF-46F6-B001-F5F9F89E9899}" type="slidenum">
              <a:rPr lang="en-IN" smtClean="0"/>
              <a:pPr/>
              <a:t>97</a:t>
            </a:fld>
            <a:endParaRPr lang="en-IN"/>
          </a:p>
        </p:txBody>
      </p:sp>
    </p:spTree>
    <p:extLst>
      <p:ext uri="{BB962C8B-B14F-4D97-AF65-F5344CB8AC3E}">
        <p14:creationId xmlns:p14="http://schemas.microsoft.com/office/powerpoint/2010/main" val="10323524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83C7-5E9C-C8DD-B591-58E2A6D42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5E2B3-458C-F5C5-40FD-8E14664E4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550BF-BD14-0052-E9C8-5C1C94220C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2FB6A0-9848-8981-B970-1067EA51641D}"/>
              </a:ext>
            </a:extLst>
          </p:cNvPr>
          <p:cNvSpPr>
            <a:spLocks noGrp="1"/>
          </p:cNvSpPr>
          <p:nvPr>
            <p:ph type="sldNum" sz="quarter" idx="5"/>
          </p:nvPr>
        </p:nvSpPr>
        <p:spPr/>
        <p:txBody>
          <a:bodyPr/>
          <a:lstStyle/>
          <a:p>
            <a:fld id="{9582B883-0CBF-46F6-B001-F5F9F89E9899}" type="slidenum">
              <a:rPr lang="en-IN" smtClean="0"/>
              <a:pPr/>
              <a:t>98</a:t>
            </a:fld>
            <a:endParaRPr lang="en-IN"/>
          </a:p>
        </p:txBody>
      </p:sp>
    </p:spTree>
    <p:extLst>
      <p:ext uri="{BB962C8B-B14F-4D97-AF65-F5344CB8AC3E}">
        <p14:creationId xmlns:p14="http://schemas.microsoft.com/office/powerpoint/2010/main" val="29147074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EC8D-B014-0445-5D8D-C2BEFB4A0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9343E-B650-3326-27C4-1294017B6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7C18E-BF9B-3CD8-5377-EC8D85D96E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8528AF1-9066-4169-07D7-38A0968E69C2}"/>
              </a:ext>
            </a:extLst>
          </p:cNvPr>
          <p:cNvSpPr>
            <a:spLocks noGrp="1"/>
          </p:cNvSpPr>
          <p:nvPr>
            <p:ph type="sldNum" sz="quarter" idx="5"/>
          </p:nvPr>
        </p:nvSpPr>
        <p:spPr/>
        <p:txBody>
          <a:bodyPr/>
          <a:lstStyle/>
          <a:p>
            <a:fld id="{9582B883-0CBF-46F6-B001-F5F9F89E9899}" type="slidenum">
              <a:rPr lang="en-IN" smtClean="0"/>
              <a:pPr/>
              <a:t>99</a:t>
            </a:fld>
            <a:endParaRPr lang="en-IN"/>
          </a:p>
        </p:txBody>
      </p:sp>
    </p:spTree>
    <p:extLst>
      <p:ext uri="{BB962C8B-B14F-4D97-AF65-F5344CB8AC3E}">
        <p14:creationId xmlns:p14="http://schemas.microsoft.com/office/powerpoint/2010/main" val="40064204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F04D-8055-5BBB-8832-80F4C9D5A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0EFC0-61E4-5274-ADB2-E63EF5298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D046-31A5-7EF8-7BBC-265D516668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AFC5AA-1B89-EFFD-0033-E1BC742EDD51}"/>
              </a:ext>
            </a:extLst>
          </p:cNvPr>
          <p:cNvSpPr>
            <a:spLocks noGrp="1"/>
          </p:cNvSpPr>
          <p:nvPr>
            <p:ph type="sldNum" sz="quarter" idx="5"/>
          </p:nvPr>
        </p:nvSpPr>
        <p:spPr/>
        <p:txBody>
          <a:bodyPr/>
          <a:lstStyle/>
          <a:p>
            <a:fld id="{9582B883-0CBF-46F6-B001-F5F9F89E9899}" type="slidenum">
              <a:rPr lang="en-IN" smtClean="0"/>
              <a:pPr/>
              <a:t>100</a:t>
            </a:fld>
            <a:endParaRPr lang="en-IN"/>
          </a:p>
        </p:txBody>
      </p:sp>
    </p:spTree>
    <p:extLst>
      <p:ext uri="{BB962C8B-B14F-4D97-AF65-F5344CB8AC3E}">
        <p14:creationId xmlns:p14="http://schemas.microsoft.com/office/powerpoint/2010/main" val="176440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3CD6-DC61-F08F-8383-1E5B01061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95DA3-C5D8-A465-FE0C-C1E119A53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D07E0-2E1D-0AEA-E440-C565DD1EE5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1FFDC8-E238-C4E7-5006-7D3B67ED6C29}"/>
              </a:ext>
            </a:extLst>
          </p:cNvPr>
          <p:cNvSpPr>
            <a:spLocks noGrp="1"/>
          </p:cNvSpPr>
          <p:nvPr>
            <p:ph type="sldNum" sz="quarter" idx="5"/>
          </p:nvPr>
        </p:nvSpPr>
        <p:spPr/>
        <p:txBody>
          <a:bodyPr/>
          <a:lstStyle/>
          <a:p>
            <a:fld id="{9582B883-0CBF-46F6-B001-F5F9F89E9899}" type="slidenum">
              <a:rPr lang="en-IN" smtClean="0"/>
              <a:pPr/>
              <a:t>102</a:t>
            </a:fld>
            <a:endParaRPr lang="en-IN"/>
          </a:p>
        </p:txBody>
      </p:sp>
    </p:spTree>
    <p:extLst>
      <p:ext uri="{BB962C8B-B14F-4D97-AF65-F5344CB8AC3E}">
        <p14:creationId xmlns:p14="http://schemas.microsoft.com/office/powerpoint/2010/main" val="2333330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C19E0-216E-F1C8-7B49-D6D49D51A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4EFB8-5882-F790-8072-13989F2C3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178EA-3458-6566-50D7-B9B1B3A75E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2A881B-906E-72ED-794F-B9F84D7AD72A}"/>
              </a:ext>
            </a:extLst>
          </p:cNvPr>
          <p:cNvSpPr>
            <a:spLocks noGrp="1"/>
          </p:cNvSpPr>
          <p:nvPr>
            <p:ph type="sldNum" sz="quarter" idx="5"/>
          </p:nvPr>
        </p:nvSpPr>
        <p:spPr/>
        <p:txBody>
          <a:bodyPr/>
          <a:lstStyle/>
          <a:p>
            <a:fld id="{9582B883-0CBF-46F6-B001-F5F9F89E9899}" type="slidenum">
              <a:rPr lang="en-IN" smtClean="0"/>
              <a:pPr/>
              <a:t>104</a:t>
            </a:fld>
            <a:endParaRPr lang="en-IN"/>
          </a:p>
        </p:txBody>
      </p:sp>
    </p:spTree>
    <p:extLst>
      <p:ext uri="{BB962C8B-B14F-4D97-AF65-F5344CB8AC3E}">
        <p14:creationId xmlns:p14="http://schemas.microsoft.com/office/powerpoint/2010/main" val="1700941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04349-862B-20E9-0558-0778C3CDF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DF237-2ADD-C033-5934-266571F33C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B1C8B-8436-3CF7-E76A-70794DD3FF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EB676D-4F8F-B4F1-A677-1FA3FE32F66C}"/>
              </a:ext>
            </a:extLst>
          </p:cNvPr>
          <p:cNvSpPr>
            <a:spLocks noGrp="1"/>
          </p:cNvSpPr>
          <p:nvPr>
            <p:ph type="sldNum" sz="quarter" idx="5"/>
          </p:nvPr>
        </p:nvSpPr>
        <p:spPr/>
        <p:txBody>
          <a:bodyPr/>
          <a:lstStyle/>
          <a:p>
            <a:fld id="{9582B883-0CBF-46F6-B001-F5F9F89E9899}" type="slidenum">
              <a:rPr lang="en-IN" smtClean="0"/>
              <a:pPr/>
              <a:t>105</a:t>
            </a:fld>
            <a:endParaRPr lang="en-IN"/>
          </a:p>
        </p:txBody>
      </p:sp>
    </p:spTree>
    <p:extLst>
      <p:ext uri="{BB962C8B-B14F-4D97-AF65-F5344CB8AC3E}">
        <p14:creationId xmlns:p14="http://schemas.microsoft.com/office/powerpoint/2010/main" val="4041422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54F1-F284-8226-FA71-E4CD69793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6775A-8DED-485B-6B68-A2ACA9CEF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52AC4-6D67-565D-2474-69A35A5024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F3E9CD-C5C5-3F00-8F17-A05E95307A54}"/>
              </a:ext>
            </a:extLst>
          </p:cNvPr>
          <p:cNvSpPr>
            <a:spLocks noGrp="1"/>
          </p:cNvSpPr>
          <p:nvPr>
            <p:ph type="sldNum" sz="quarter" idx="5"/>
          </p:nvPr>
        </p:nvSpPr>
        <p:spPr/>
        <p:txBody>
          <a:bodyPr/>
          <a:lstStyle/>
          <a:p>
            <a:fld id="{9582B883-0CBF-46F6-B001-F5F9F89E9899}" type="slidenum">
              <a:rPr lang="en-IN" smtClean="0"/>
              <a:pPr/>
              <a:t>106</a:t>
            </a:fld>
            <a:endParaRPr lang="en-IN"/>
          </a:p>
        </p:txBody>
      </p:sp>
    </p:spTree>
    <p:extLst>
      <p:ext uri="{BB962C8B-B14F-4D97-AF65-F5344CB8AC3E}">
        <p14:creationId xmlns:p14="http://schemas.microsoft.com/office/powerpoint/2010/main" val="13476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3FEF-1E06-CC45-C192-C14A75D9F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E9886-492E-4170-C795-662118369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7101F-7343-DA97-43F7-56BD81C382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9E979F-87DE-B6BE-0BA5-5E512533C5E2}"/>
              </a:ext>
            </a:extLst>
          </p:cNvPr>
          <p:cNvSpPr>
            <a:spLocks noGrp="1"/>
          </p:cNvSpPr>
          <p:nvPr>
            <p:ph type="sldNum" sz="quarter" idx="5"/>
          </p:nvPr>
        </p:nvSpPr>
        <p:spPr/>
        <p:txBody>
          <a:bodyPr/>
          <a:lstStyle/>
          <a:p>
            <a:fld id="{9582B883-0CBF-46F6-B001-F5F9F89E9899}" type="slidenum">
              <a:rPr lang="en-IN" smtClean="0"/>
              <a:pPr/>
              <a:t>107</a:t>
            </a:fld>
            <a:endParaRPr lang="en-IN"/>
          </a:p>
        </p:txBody>
      </p:sp>
    </p:spTree>
    <p:extLst>
      <p:ext uri="{BB962C8B-B14F-4D97-AF65-F5344CB8AC3E}">
        <p14:creationId xmlns:p14="http://schemas.microsoft.com/office/powerpoint/2010/main" val="36733210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550F-C38B-AF33-603B-193F32FE5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8D1D-7455-D3DA-9BE8-1C445465B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3C57D1-F167-F082-17D9-473D140C6D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391E73-8C5A-A3FA-D4F2-67B3C38207F6}"/>
              </a:ext>
            </a:extLst>
          </p:cNvPr>
          <p:cNvSpPr>
            <a:spLocks noGrp="1"/>
          </p:cNvSpPr>
          <p:nvPr>
            <p:ph type="sldNum" sz="quarter" idx="5"/>
          </p:nvPr>
        </p:nvSpPr>
        <p:spPr/>
        <p:txBody>
          <a:bodyPr/>
          <a:lstStyle/>
          <a:p>
            <a:fld id="{9582B883-0CBF-46F6-B001-F5F9F89E9899}" type="slidenum">
              <a:rPr lang="en-IN" smtClean="0"/>
              <a:pPr/>
              <a:t>108</a:t>
            </a:fld>
            <a:endParaRPr lang="en-IN"/>
          </a:p>
        </p:txBody>
      </p:sp>
    </p:spTree>
    <p:extLst>
      <p:ext uri="{BB962C8B-B14F-4D97-AF65-F5344CB8AC3E}">
        <p14:creationId xmlns:p14="http://schemas.microsoft.com/office/powerpoint/2010/main" val="12535439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06D4E-33C0-5D57-28F2-EEA5B5EDE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04FCA-157B-25EE-78A9-711994270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5E960-9163-7EC2-B7A1-C88F15FC44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1F4CB8-ED9B-7962-ABB3-DEB76518AAE0}"/>
              </a:ext>
            </a:extLst>
          </p:cNvPr>
          <p:cNvSpPr>
            <a:spLocks noGrp="1"/>
          </p:cNvSpPr>
          <p:nvPr>
            <p:ph type="sldNum" sz="quarter" idx="5"/>
          </p:nvPr>
        </p:nvSpPr>
        <p:spPr/>
        <p:txBody>
          <a:bodyPr/>
          <a:lstStyle/>
          <a:p>
            <a:fld id="{9582B883-0CBF-46F6-B001-F5F9F89E9899}" type="slidenum">
              <a:rPr lang="en-IN" smtClean="0"/>
              <a:pPr/>
              <a:t>109</a:t>
            </a:fld>
            <a:endParaRPr lang="en-IN"/>
          </a:p>
        </p:txBody>
      </p:sp>
    </p:spTree>
    <p:extLst>
      <p:ext uri="{BB962C8B-B14F-4D97-AF65-F5344CB8AC3E}">
        <p14:creationId xmlns:p14="http://schemas.microsoft.com/office/powerpoint/2010/main" val="23155963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A08CE-6EFF-9DA4-FDAF-9478A3BBC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E65D2-9E91-7374-B9E5-C39B3D5A7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081A9-B9AB-FBE6-02BD-3E2A9C814F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B6643E-4DA4-296A-EEEE-BEE4314B4B2A}"/>
              </a:ext>
            </a:extLst>
          </p:cNvPr>
          <p:cNvSpPr>
            <a:spLocks noGrp="1"/>
          </p:cNvSpPr>
          <p:nvPr>
            <p:ph type="sldNum" sz="quarter" idx="5"/>
          </p:nvPr>
        </p:nvSpPr>
        <p:spPr/>
        <p:txBody>
          <a:bodyPr/>
          <a:lstStyle/>
          <a:p>
            <a:fld id="{9582B883-0CBF-46F6-B001-F5F9F89E9899}" type="slidenum">
              <a:rPr lang="en-IN" smtClean="0"/>
              <a:pPr/>
              <a:t>110</a:t>
            </a:fld>
            <a:endParaRPr lang="en-IN"/>
          </a:p>
        </p:txBody>
      </p:sp>
    </p:spTree>
    <p:extLst>
      <p:ext uri="{BB962C8B-B14F-4D97-AF65-F5344CB8AC3E}">
        <p14:creationId xmlns:p14="http://schemas.microsoft.com/office/powerpoint/2010/main" val="15123608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66D8B-B49D-BD26-B564-6E7D35D2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413AF-63D3-547E-73A2-97D55EB321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3EDFE-2E6A-B214-7F84-479098436D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7A07F5-8B5F-4E51-8AB5-17DEAB94B1F1}"/>
              </a:ext>
            </a:extLst>
          </p:cNvPr>
          <p:cNvSpPr>
            <a:spLocks noGrp="1"/>
          </p:cNvSpPr>
          <p:nvPr>
            <p:ph type="sldNum" sz="quarter" idx="5"/>
          </p:nvPr>
        </p:nvSpPr>
        <p:spPr/>
        <p:txBody>
          <a:bodyPr/>
          <a:lstStyle/>
          <a:p>
            <a:fld id="{9582B883-0CBF-46F6-B001-F5F9F89E9899}" type="slidenum">
              <a:rPr lang="en-IN" smtClean="0"/>
              <a:pPr/>
              <a:t>116</a:t>
            </a:fld>
            <a:endParaRPr lang="en-IN"/>
          </a:p>
        </p:txBody>
      </p:sp>
    </p:spTree>
    <p:extLst>
      <p:ext uri="{BB962C8B-B14F-4D97-AF65-F5344CB8AC3E}">
        <p14:creationId xmlns:p14="http://schemas.microsoft.com/office/powerpoint/2010/main" val="10312603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9ADF-866F-4EB7-1339-EAE3AB0F0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D35F4-B964-BA65-A933-B7C327C07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C17BC-DC8E-3D8F-CD68-2C96F8DD9C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16C725-4A42-A0C3-4B1E-B2A1E55C45E8}"/>
              </a:ext>
            </a:extLst>
          </p:cNvPr>
          <p:cNvSpPr>
            <a:spLocks noGrp="1"/>
          </p:cNvSpPr>
          <p:nvPr>
            <p:ph type="sldNum" sz="quarter" idx="5"/>
          </p:nvPr>
        </p:nvSpPr>
        <p:spPr/>
        <p:txBody>
          <a:bodyPr/>
          <a:lstStyle/>
          <a:p>
            <a:fld id="{9582B883-0CBF-46F6-B001-F5F9F89E9899}" type="slidenum">
              <a:rPr lang="en-IN" smtClean="0"/>
              <a:pPr/>
              <a:t>117</a:t>
            </a:fld>
            <a:endParaRPr lang="en-IN"/>
          </a:p>
        </p:txBody>
      </p:sp>
    </p:spTree>
    <p:extLst>
      <p:ext uri="{BB962C8B-B14F-4D97-AF65-F5344CB8AC3E}">
        <p14:creationId xmlns:p14="http://schemas.microsoft.com/office/powerpoint/2010/main" val="1300374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A77F-102F-6CA4-95D9-BC370F032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77FA7-AD79-4E8F-447B-133E91F42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FF026-7533-34B0-A794-2A460A27A1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95940-E034-B375-3D2A-F89E5D710FA2}"/>
              </a:ext>
            </a:extLst>
          </p:cNvPr>
          <p:cNvSpPr>
            <a:spLocks noGrp="1"/>
          </p:cNvSpPr>
          <p:nvPr>
            <p:ph type="sldNum" sz="quarter" idx="5"/>
          </p:nvPr>
        </p:nvSpPr>
        <p:spPr/>
        <p:txBody>
          <a:bodyPr/>
          <a:lstStyle/>
          <a:p>
            <a:fld id="{9582B883-0CBF-46F6-B001-F5F9F89E9899}" type="slidenum">
              <a:rPr lang="en-IN" smtClean="0"/>
              <a:pPr/>
              <a:t>118</a:t>
            </a:fld>
            <a:endParaRPr lang="en-IN"/>
          </a:p>
        </p:txBody>
      </p:sp>
    </p:spTree>
    <p:extLst>
      <p:ext uri="{BB962C8B-B14F-4D97-AF65-F5344CB8AC3E}">
        <p14:creationId xmlns:p14="http://schemas.microsoft.com/office/powerpoint/2010/main" val="34133664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0C0F2-785D-7DC3-ED92-30518415E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BECE1-65F8-DB8D-FA7D-313B1631A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F0B68-8737-806F-70E9-62B7788395A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472602-C891-3C21-789A-47B4661E6729}"/>
              </a:ext>
            </a:extLst>
          </p:cNvPr>
          <p:cNvSpPr>
            <a:spLocks noGrp="1"/>
          </p:cNvSpPr>
          <p:nvPr>
            <p:ph type="sldNum" sz="quarter" idx="5"/>
          </p:nvPr>
        </p:nvSpPr>
        <p:spPr/>
        <p:txBody>
          <a:bodyPr/>
          <a:lstStyle/>
          <a:p>
            <a:fld id="{9582B883-0CBF-46F6-B001-F5F9F89E9899}" type="slidenum">
              <a:rPr lang="en-IN" smtClean="0"/>
              <a:pPr/>
              <a:t>119</a:t>
            </a:fld>
            <a:endParaRPr lang="en-IN"/>
          </a:p>
        </p:txBody>
      </p:sp>
    </p:spTree>
    <p:extLst>
      <p:ext uri="{BB962C8B-B14F-4D97-AF65-F5344CB8AC3E}">
        <p14:creationId xmlns:p14="http://schemas.microsoft.com/office/powerpoint/2010/main" val="2501274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D011-613D-DDE3-373A-3A23F0FD1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A2A64-670E-4952-86DB-4E8CF3D022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21B31-9A1D-CE4D-EECC-71476ED170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D9AE7E-7E74-A2F2-C3A7-5B5139336989}"/>
              </a:ext>
            </a:extLst>
          </p:cNvPr>
          <p:cNvSpPr>
            <a:spLocks noGrp="1"/>
          </p:cNvSpPr>
          <p:nvPr>
            <p:ph type="sldNum" sz="quarter" idx="5"/>
          </p:nvPr>
        </p:nvSpPr>
        <p:spPr/>
        <p:txBody>
          <a:bodyPr/>
          <a:lstStyle/>
          <a:p>
            <a:fld id="{9582B883-0CBF-46F6-B001-F5F9F89E9899}" type="slidenum">
              <a:rPr lang="en-IN" smtClean="0"/>
              <a:pPr/>
              <a:t>120</a:t>
            </a:fld>
            <a:endParaRPr lang="en-IN"/>
          </a:p>
        </p:txBody>
      </p:sp>
    </p:spTree>
    <p:extLst>
      <p:ext uri="{BB962C8B-B14F-4D97-AF65-F5344CB8AC3E}">
        <p14:creationId xmlns:p14="http://schemas.microsoft.com/office/powerpoint/2010/main" val="27520903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BDD77-E38C-BE0A-F86F-C4DBF7427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B92A8-E88C-7447-4730-96D10C69F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2ACE1-DEBF-B255-778B-F9B275BC65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BC444A-A018-81FF-6692-6730C9F4E4C2}"/>
              </a:ext>
            </a:extLst>
          </p:cNvPr>
          <p:cNvSpPr>
            <a:spLocks noGrp="1"/>
          </p:cNvSpPr>
          <p:nvPr>
            <p:ph type="sldNum" sz="quarter" idx="5"/>
          </p:nvPr>
        </p:nvSpPr>
        <p:spPr/>
        <p:txBody>
          <a:bodyPr/>
          <a:lstStyle/>
          <a:p>
            <a:fld id="{9582B883-0CBF-46F6-B001-F5F9F89E9899}" type="slidenum">
              <a:rPr lang="en-IN" smtClean="0"/>
              <a:pPr/>
              <a:t>121</a:t>
            </a:fld>
            <a:endParaRPr lang="en-IN"/>
          </a:p>
        </p:txBody>
      </p:sp>
    </p:spTree>
    <p:extLst>
      <p:ext uri="{BB962C8B-B14F-4D97-AF65-F5344CB8AC3E}">
        <p14:creationId xmlns:p14="http://schemas.microsoft.com/office/powerpoint/2010/main" val="225149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495D-1C99-76EC-415B-7129BEE8A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DC295-4F5A-529C-FA27-1DDEA1556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66F7A-5F3F-F8BC-049D-0837EBF323A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3B8C63-AE87-758E-5A35-8C0CDDC9E369}"/>
              </a:ext>
            </a:extLst>
          </p:cNvPr>
          <p:cNvSpPr>
            <a:spLocks noGrp="1"/>
          </p:cNvSpPr>
          <p:nvPr>
            <p:ph type="sldNum" sz="quarter" idx="5"/>
          </p:nvPr>
        </p:nvSpPr>
        <p:spPr/>
        <p:txBody>
          <a:bodyPr/>
          <a:lstStyle/>
          <a:p>
            <a:fld id="{9582B883-0CBF-46F6-B001-F5F9F89E9899}" type="slidenum">
              <a:rPr lang="en-IN" smtClean="0"/>
              <a:pPr/>
              <a:t>122</a:t>
            </a:fld>
            <a:endParaRPr lang="en-IN"/>
          </a:p>
        </p:txBody>
      </p:sp>
    </p:spTree>
    <p:extLst>
      <p:ext uri="{BB962C8B-B14F-4D97-AF65-F5344CB8AC3E}">
        <p14:creationId xmlns:p14="http://schemas.microsoft.com/office/powerpoint/2010/main" val="23111784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AE3F-6AF5-AD4B-EC59-FBCA30830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F62B1-5C3C-AF2D-4756-70AB64AA0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F6C7A-DB5E-642F-6BDC-BF7F6C3CCA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655D73-210A-79ED-3746-79384DD615A6}"/>
              </a:ext>
            </a:extLst>
          </p:cNvPr>
          <p:cNvSpPr>
            <a:spLocks noGrp="1"/>
          </p:cNvSpPr>
          <p:nvPr>
            <p:ph type="sldNum" sz="quarter" idx="5"/>
          </p:nvPr>
        </p:nvSpPr>
        <p:spPr/>
        <p:txBody>
          <a:bodyPr/>
          <a:lstStyle/>
          <a:p>
            <a:fld id="{9582B883-0CBF-46F6-B001-F5F9F89E9899}" type="slidenum">
              <a:rPr lang="en-IN" smtClean="0"/>
              <a:pPr/>
              <a:t>123</a:t>
            </a:fld>
            <a:endParaRPr lang="en-IN"/>
          </a:p>
        </p:txBody>
      </p:sp>
    </p:spTree>
    <p:extLst>
      <p:ext uri="{BB962C8B-B14F-4D97-AF65-F5344CB8AC3E}">
        <p14:creationId xmlns:p14="http://schemas.microsoft.com/office/powerpoint/2010/main" val="10776851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0AC9F-9485-9EA0-EE4D-055CB9FDB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DD0D5-7E3C-BA9C-3CEA-EF85C75D57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62D75-F96F-DDD7-BA16-28F641DC1F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FC1FD7-D8ED-E1CB-DF8B-DF05D8EC21A2}"/>
              </a:ext>
            </a:extLst>
          </p:cNvPr>
          <p:cNvSpPr>
            <a:spLocks noGrp="1"/>
          </p:cNvSpPr>
          <p:nvPr>
            <p:ph type="sldNum" sz="quarter" idx="5"/>
          </p:nvPr>
        </p:nvSpPr>
        <p:spPr/>
        <p:txBody>
          <a:bodyPr/>
          <a:lstStyle/>
          <a:p>
            <a:fld id="{9582B883-0CBF-46F6-B001-F5F9F89E9899}" type="slidenum">
              <a:rPr lang="en-IN" smtClean="0"/>
              <a:pPr/>
              <a:t>124</a:t>
            </a:fld>
            <a:endParaRPr lang="en-IN"/>
          </a:p>
        </p:txBody>
      </p:sp>
    </p:spTree>
    <p:extLst>
      <p:ext uri="{BB962C8B-B14F-4D97-AF65-F5344CB8AC3E}">
        <p14:creationId xmlns:p14="http://schemas.microsoft.com/office/powerpoint/2010/main" val="17633793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656A2-9EB0-517A-8037-AB0690E6C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6DD31-7C2F-46ED-4C56-B6C2893ED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E6D43-CB9B-2E1D-5CBB-909074E483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CD4D5D-CF0E-D76F-52D2-DA5473CF0703}"/>
              </a:ext>
            </a:extLst>
          </p:cNvPr>
          <p:cNvSpPr>
            <a:spLocks noGrp="1"/>
          </p:cNvSpPr>
          <p:nvPr>
            <p:ph type="sldNum" sz="quarter" idx="5"/>
          </p:nvPr>
        </p:nvSpPr>
        <p:spPr/>
        <p:txBody>
          <a:bodyPr/>
          <a:lstStyle/>
          <a:p>
            <a:fld id="{9582B883-0CBF-46F6-B001-F5F9F89E9899}" type="slidenum">
              <a:rPr lang="en-IN" smtClean="0"/>
              <a:pPr/>
              <a:t>125</a:t>
            </a:fld>
            <a:endParaRPr lang="en-IN"/>
          </a:p>
        </p:txBody>
      </p:sp>
    </p:spTree>
    <p:extLst>
      <p:ext uri="{BB962C8B-B14F-4D97-AF65-F5344CB8AC3E}">
        <p14:creationId xmlns:p14="http://schemas.microsoft.com/office/powerpoint/2010/main" val="10263371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0318C-487B-FFD7-1AA0-A2F71205F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2B456-FC7B-A8D6-CFE2-16BE2D519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5D00F-2D00-7B3D-82B0-48625B3B66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6F1334-2576-F4C3-5BB3-5F8996CF019A}"/>
              </a:ext>
            </a:extLst>
          </p:cNvPr>
          <p:cNvSpPr>
            <a:spLocks noGrp="1"/>
          </p:cNvSpPr>
          <p:nvPr>
            <p:ph type="sldNum" sz="quarter" idx="5"/>
          </p:nvPr>
        </p:nvSpPr>
        <p:spPr/>
        <p:txBody>
          <a:bodyPr/>
          <a:lstStyle/>
          <a:p>
            <a:fld id="{9582B883-0CBF-46F6-B001-F5F9F89E9899}" type="slidenum">
              <a:rPr lang="en-IN" smtClean="0"/>
              <a:pPr/>
              <a:t>126</a:t>
            </a:fld>
            <a:endParaRPr lang="en-IN"/>
          </a:p>
        </p:txBody>
      </p:sp>
    </p:spTree>
    <p:extLst>
      <p:ext uri="{BB962C8B-B14F-4D97-AF65-F5344CB8AC3E}">
        <p14:creationId xmlns:p14="http://schemas.microsoft.com/office/powerpoint/2010/main" val="1309878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BAF5C-1CCF-A715-6121-9A02F4425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37DBA-5FC7-FD7A-CA2D-655CBA5D4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A53BF-6AB0-DD7C-B090-66BBBC68C6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C68D9E-6001-1C5B-8378-F3AF9D7193C7}"/>
              </a:ext>
            </a:extLst>
          </p:cNvPr>
          <p:cNvSpPr>
            <a:spLocks noGrp="1"/>
          </p:cNvSpPr>
          <p:nvPr>
            <p:ph type="sldNum" sz="quarter" idx="5"/>
          </p:nvPr>
        </p:nvSpPr>
        <p:spPr/>
        <p:txBody>
          <a:bodyPr/>
          <a:lstStyle/>
          <a:p>
            <a:fld id="{9582B883-0CBF-46F6-B001-F5F9F89E9899}" type="slidenum">
              <a:rPr lang="en-IN" smtClean="0"/>
              <a:pPr/>
              <a:t>127</a:t>
            </a:fld>
            <a:endParaRPr lang="en-IN"/>
          </a:p>
        </p:txBody>
      </p:sp>
    </p:spTree>
    <p:extLst>
      <p:ext uri="{BB962C8B-B14F-4D97-AF65-F5344CB8AC3E}">
        <p14:creationId xmlns:p14="http://schemas.microsoft.com/office/powerpoint/2010/main" val="41522332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C164-1BC3-67DE-9838-3FCDDB2D7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E3C3B-5AEF-A827-A345-1224EF480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932E2-DBAF-E573-00D1-1C31AC55EC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6BC47C1-8913-E838-3C7A-C5F3294CBBEA}"/>
              </a:ext>
            </a:extLst>
          </p:cNvPr>
          <p:cNvSpPr>
            <a:spLocks noGrp="1"/>
          </p:cNvSpPr>
          <p:nvPr>
            <p:ph type="sldNum" sz="quarter" idx="5"/>
          </p:nvPr>
        </p:nvSpPr>
        <p:spPr/>
        <p:txBody>
          <a:bodyPr/>
          <a:lstStyle/>
          <a:p>
            <a:fld id="{9582B883-0CBF-46F6-B001-F5F9F89E9899}" type="slidenum">
              <a:rPr lang="en-IN" smtClean="0"/>
              <a:pPr/>
              <a:t>133</a:t>
            </a:fld>
            <a:endParaRPr lang="en-IN"/>
          </a:p>
        </p:txBody>
      </p:sp>
    </p:spTree>
    <p:extLst>
      <p:ext uri="{BB962C8B-B14F-4D97-AF65-F5344CB8AC3E}">
        <p14:creationId xmlns:p14="http://schemas.microsoft.com/office/powerpoint/2010/main" val="33433451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48E1B-BF86-DD57-1979-2E1BAC243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2F08E-416A-2718-0EF5-1E177BA74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3473A-A16F-F6CE-E305-45CE3D61B5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DA03E1-0286-0F80-20F8-85D48ADA3F8E}"/>
              </a:ext>
            </a:extLst>
          </p:cNvPr>
          <p:cNvSpPr>
            <a:spLocks noGrp="1"/>
          </p:cNvSpPr>
          <p:nvPr>
            <p:ph type="sldNum" sz="quarter" idx="5"/>
          </p:nvPr>
        </p:nvSpPr>
        <p:spPr/>
        <p:txBody>
          <a:bodyPr/>
          <a:lstStyle/>
          <a:p>
            <a:fld id="{9582B883-0CBF-46F6-B001-F5F9F89E9899}" type="slidenum">
              <a:rPr lang="en-IN" smtClean="0"/>
              <a:pPr/>
              <a:t>134</a:t>
            </a:fld>
            <a:endParaRPr lang="en-IN"/>
          </a:p>
        </p:txBody>
      </p:sp>
    </p:spTree>
    <p:extLst>
      <p:ext uri="{BB962C8B-B14F-4D97-AF65-F5344CB8AC3E}">
        <p14:creationId xmlns:p14="http://schemas.microsoft.com/office/powerpoint/2010/main" val="34087715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150E-FD03-1EE2-EEEE-DB6C0F4BA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8E707-D879-B4AA-3700-6180ACE9F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F47EB-871F-1A75-57A9-338D6D4E94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AD9021-F5B0-C1D4-A7D8-3E4DA2B8CE22}"/>
              </a:ext>
            </a:extLst>
          </p:cNvPr>
          <p:cNvSpPr>
            <a:spLocks noGrp="1"/>
          </p:cNvSpPr>
          <p:nvPr>
            <p:ph type="sldNum" sz="quarter" idx="5"/>
          </p:nvPr>
        </p:nvSpPr>
        <p:spPr/>
        <p:txBody>
          <a:bodyPr/>
          <a:lstStyle/>
          <a:p>
            <a:fld id="{9582B883-0CBF-46F6-B001-F5F9F89E9899}" type="slidenum">
              <a:rPr lang="en-IN" smtClean="0"/>
              <a:pPr/>
              <a:t>135</a:t>
            </a:fld>
            <a:endParaRPr lang="en-IN"/>
          </a:p>
        </p:txBody>
      </p:sp>
    </p:spTree>
    <p:extLst>
      <p:ext uri="{BB962C8B-B14F-4D97-AF65-F5344CB8AC3E}">
        <p14:creationId xmlns:p14="http://schemas.microsoft.com/office/powerpoint/2010/main" val="1470440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6CAD3-089C-D2F5-4BFE-D9321528D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C5472-BB7B-7769-BC89-3924F5263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1405E-5728-9519-DEF0-C6A9FF33CF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1E3F17-503B-5C68-14E3-5C9F84CD4696}"/>
              </a:ext>
            </a:extLst>
          </p:cNvPr>
          <p:cNvSpPr>
            <a:spLocks noGrp="1"/>
          </p:cNvSpPr>
          <p:nvPr>
            <p:ph type="sldNum" sz="quarter" idx="5"/>
          </p:nvPr>
        </p:nvSpPr>
        <p:spPr/>
        <p:txBody>
          <a:bodyPr/>
          <a:lstStyle/>
          <a:p>
            <a:fld id="{9582B883-0CBF-46F6-B001-F5F9F89E9899}" type="slidenum">
              <a:rPr lang="en-IN" smtClean="0"/>
              <a:pPr/>
              <a:t>136</a:t>
            </a:fld>
            <a:endParaRPr lang="en-IN"/>
          </a:p>
        </p:txBody>
      </p:sp>
    </p:spTree>
    <p:extLst>
      <p:ext uri="{BB962C8B-B14F-4D97-AF65-F5344CB8AC3E}">
        <p14:creationId xmlns:p14="http://schemas.microsoft.com/office/powerpoint/2010/main" val="8191807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08FD2-AA72-B953-8791-1709C964B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B2FFB-6896-7F66-FE8F-A7D27008A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1B6AD-658C-F0F0-A0BE-5F8CB010296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6AA917-40D8-DD86-34B4-3BD18E6A2A76}"/>
              </a:ext>
            </a:extLst>
          </p:cNvPr>
          <p:cNvSpPr>
            <a:spLocks noGrp="1"/>
          </p:cNvSpPr>
          <p:nvPr>
            <p:ph type="sldNum" sz="quarter" idx="5"/>
          </p:nvPr>
        </p:nvSpPr>
        <p:spPr/>
        <p:txBody>
          <a:bodyPr/>
          <a:lstStyle/>
          <a:p>
            <a:fld id="{9582B883-0CBF-46F6-B001-F5F9F89E9899}" type="slidenum">
              <a:rPr lang="en-IN" smtClean="0"/>
              <a:pPr/>
              <a:t>137</a:t>
            </a:fld>
            <a:endParaRPr lang="en-IN"/>
          </a:p>
        </p:txBody>
      </p:sp>
    </p:spTree>
    <p:extLst>
      <p:ext uri="{BB962C8B-B14F-4D97-AF65-F5344CB8AC3E}">
        <p14:creationId xmlns:p14="http://schemas.microsoft.com/office/powerpoint/2010/main" val="26793842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515B-48F9-1983-5368-936A7FE2B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32516-F3B7-6380-CE5C-EED429CE7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9CD3F-C17B-BAC2-B986-1E8889CAE6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46B6A3-6669-F84A-42D9-FCD13EC17E6D}"/>
              </a:ext>
            </a:extLst>
          </p:cNvPr>
          <p:cNvSpPr>
            <a:spLocks noGrp="1"/>
          </p:cNvSpPr>
          <p:nvPr>
            <p:ph type="sldNum" sz="quarter" idx="5"/>
          </p:nvPr>
        </p:nvSpPr>
        <p:spPr/>
        <p:txBody>
          <a:bodyPr/>
          <a:lstStyle/>
          <a:p>
            <a:fld id="{9582B883-0CBF-46F6-B001-F5F9F89E9899}" type="slidenum">
              <a:rPr lang="en-IN" smtClean="0"/>
              <a:pPr/>
              <a:t>138</a:t>
            </a:fld>
            <a:endParaRPr lang="en-IN"/>
          </a:p>
        </p:txBody>
      </p:sp>
    </p:spTree>
    <p:extLst>
      <p:ext uri="{BB962C8B-B14F-4D97-AF65-F5344CB8AC3E}">
        <p14:creationId xmlns:p14="http://schemas.microsoft.com/office/powerpoint/2010/main" val="1422865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A7A9-F0E2-AA45-EA9C-001299E5C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C0430-4CB6-2A00-B8A6-910E9AC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EB113-A845-5C71-B965-4DCD486C5F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62E99C-E31B-34AC-540C-CE024ED0899C}"/>
              </a:ext>
            </a:extLst>
          </p:cNvPr>
          <p:cNvSpPr>
            <a:spLocks noGrp="1"/>
          </p:cNvSpPr>
          <p:nvPr>
            <p:ph type="sldNum" sz="quarter" idx="5"/>
          </p:nvPr>
        </p:nvSpPr>
        <p:spPr/>
        <p:txBody>
          <a:bodyPr/>
          <a:lstStyle/>
          <a:p>
            <a:fld id="{9582B883-0CBF-46F6-B001-F5F9F89E9899}" type="slidenum">
              <a:rPr lang="en-IN" smtClean="0"/>
              <a:pPr/>
              <a:t>140</a:t>
            </a:fld>
            <a:endParaRPr lang="en-IN"/>
          </a:p>
        </p:txBody>
      </p:sp>
    </p:spTree>
    <p:extLst>
      <p:ext uri="{BB962C8B-B14F-4D97-AF65-F5344CB8AC3E}">
        <p14:creationId xmlns:p14="http://schemas.microsoft.com/office/powerpoint/2010/main" val="716464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74ACD-1F3B-591E-CF3F-DDC8FBFC5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8EB3-AA76-94B3-61A1-089C33D43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B4863-94A1-1D84-91AA-A7D1B60B32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323AD9-7121-8792-BF26-CB1332FC089B}"/>
              </a:ext>
            </a:extLst>
          </p:cNvPr>
          <p:cNvSpPr>
            <a:spLocks noGrp="1"/>
          </p:cNvSpPr>
          <p:nvPr>
            <p:ph type="sldNum" sz="quarter" idx="5"/>
          </p:nvPr>
        </p:nvSpPr>
        <p:spPr/>
        <p:txBody>
          <a:bodyPr/>
          <a:lstStyle/>
          <a:p>
            <a:fld id="{9582B883-0CBF-46F6-B001-F5F9F89E9899}" type="slidenum">
              <a:rPr lang="en-IN" smtClean="0"/>
              <a:pPr/>
              <a:t>141</a:t>
            </a:fld>
            <a:endParaRPr lang="en-IN"/>
          </a:p>
        </p:txBody>
      </p:sp>
    </p:spTree>
    <p:extLst>
      <p:ext uri="{BB962C8B-B14F-4D97-AF65-F5344CB8AC3E}">
        <p14:creationId xmlns:p14="http://schemas.microsoft.com/office/powerpoint/2010/main" val="1155699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88404-F522-7501-F8A6-47CEC641A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BD6D4-E021-DDE0-94A7-F0E36A222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C865E-DD99-C771-0677-50AD38D5EF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57C527-35AC-2D68-5762-3DA7C31F392F}"/>
              </a:ext>
            </a:extLst>
          </p:cNvPr>
          <p:cNvSpPr>
            <a:spLocks noGrp="1"/>
          </p:cNvSpPr>
          <p:nvPr>
            <p:ph type="sldNum" sz="quarter" idx="5"/>
          </p:nvPr>
        </p:nvSpPr>
        <p:spPr/>
        <p:txBody>
          <a:bodyPr/>
          <a:lstStyle/>
          <a:p>
            <a:fld id="{9582B883-0CBF-46F6-B001-F5F9F89E9899}" type="slidenum">
              <a:rPr lang="en-IN" smtClean="0"/>
              <a:pPr/>
              <a:t>143</a:t>
            </a:fld>
            <a:endParaRPr lang="en-IN"/>
          </a:p>
        </p:txBody>
      </p:sp>
    </p:spTree>
    <p:extLst>
      <p:ext uri="{BB962C8B-B14F-4D97-AF65-F5344CB8AC3E}">
        <p14:creationId xmlns:p14="http://schemas.microsoft.com/office/powerpoint/2010/main" val="12278369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074D9-A9A7-293F-556A-B375618BD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BDF4D-2564-EBCD-ABA2-C2E1B3EEF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FB614-68AC-7272-CB4E-8839BD4B39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48CD26-08D5-A652-9CAC-354C76A3A25F}"/>
              </a:ext>
            </a:extLst>
          </p:cNvPr>
          <p:cNvSpPr>
            <a:spLocks noGrp="1"/>
          </p:cNvSpPr>
          <p:nvPr>
            <p:ph type="sldNum" sz="quarter" idx="5"/>
          </p:nvPr>
        </p:nvSpPr>
        <p:spPr/>
        <p:txBody>
          <a:bodyPr/>
          <a:lstStyle/>
          <a:p>
            <a:fld id="{9582B883-0CBF-46F6-B001-F5F9F89E9899}" type="slidenum">
              <a:rPr lang="en-IN" smtClean="0"/>
              <a:pPr/>
              <a:t>144</a:t>
            </a:fld>
            <a:endParaRPr lang="en-IN"/>
          </a:p>
        </p:txBody>
      </p:sp>
    </p:spTree>
    <p:extLst>
      <p:ext uri="{BB962C8B-B14F-4D97-AF65-F5344CB8AC3E}">
        <p14:creationId xmlns:p14="http://schemas.microsoft.com/office/powerpoint/2010/main" val="3556858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19-03-2026</a:t>
            </a:fld>
            <a:endParaRPr lang="en-IN"/>
          </a:p>
        </p:txBody>
      </p:sp>
      <p:sp>
        <p:nvSpPr>
          <p:cNvPr id="8" name="Footer Placeholder 7"/>
          <p:cNvSpPr>
            <a:spLocks noGrp="1"/>
          </p:cNvSpPr>
          <p:nvPr>
            <p:ph type="ftr" sz="quarter" idx="11"/>
          </p:nvPr>
        </p:nvSpPr>
        <p:spPr/>
        <p:txBody>
          <a:bodyPr/>
          <a:lstStyle/>
          <a:p>
            <a:r>
              <a:rPr lang="en-IN" dirty="0"/>
              <a:t>Dr. Aruru Sai Kumar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19-03-2026</a:t>
            </a:fld>
            <a:endParaRPr lang="en-IN"/>
          </a:p>
        </p:txBody>
      </p:sp>
      <p:sp>
        <p:nvSpPr>
          <p:cNvPr id="4" name="Footer Placeholder 3"/>
          <p:cNvSpPr>
            <a:spLocks noGrp="1"/>
          </p:cNvSpPr>
          <p:nvPr>
            <p:ph type="ftr" sz="quarter" idx="11"/>
          </p:nvPr>
        </p:nvSpPr>
        <p:spPr/>
        <p:txBody>
          <a:bodyPr/>
          <a:lstStyle/>
          <a:p>
            <a:r>
              <a:rPr lang="en-IN" dirty="0"/>
              <a:t>Dr. Aruru Sai Kumar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19-03-2026</a:t>
            </a:fld>
            <a:endParaRPr lang="en-IN"/>
          </a:p>
        </p:txBody>
      </p:sp>
      <p:sp>
        <p:nvSpPr>
          <p:cNvPr id="3" name="Footer Placeholder 2"/>
          <p:cNvSpPr>
            <a:spLocks noGrp="1"/>
          </p:cNvSpPr>
          <p:nvPr>
            <p:ph type="ftr" sz="quarter" idx="11"/>
          </p:nvPr>
        </p:nvSpPr>
        <p:spPr/>
        <p:txBody>
          <a:bodyPr/>
          <a:lstStyle/>
          <a:p>
            <a:r>
              <a:rPr lang="en-IN" dirty="0"/>
              <a:t>Dr. Aruru Sai Kumar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19-03-2026</a:t>
            </a:fld>
            <a:endParaRPr lang="en-IN"/>
          </a:p>
        </p:txBody>
      </p:sp>
      <p:sp>
        <p:nvSpPr>
          <p:cNvPr id="6" name="Footer Placeholder 5"/>
          <p:cNvSpPr>
            <a:spLocks noGrp="1"/>
          </p:cNvSpPr>
          <p:nvPr>
            <p:ph type="ftr" sz="quarter" idx="11"/>
          </p:nvPr>
        </p:nvSpPr>
        <p:spPr/>
        <p:txBody>
          <a:bodyPr/>
          <a:lstStyle/>
          <a:p>
            <a:r>
              <a:rPr lang="en-IN" dirty="0"/>
              <a:t>Dr. Aruru Sai Kumar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19-03-2026</a:t>
            </a:fld>
            <a:endParaRPr lang="en-IN"/>
          </a:p>
        </p:txBody>
      </p:sp>
      <p:sp>
        <p:nvSpPr>
          <p:cNvPr id="5" name="Footer Placeholder 4"/>
          <p:cNvSpPr>
            <a:spLocks noGrp="1"/>
          </p:cNvSpPr>
          <p:nvPr>
            <p:ph type="ftr" sz="quarter" idx="11"/>
          </p:nvPr>
        </p:nvSpPr>
        <p:spPr/>
        <p:txBody>
          <a:bodyPr/>
          <a:lstStyle/>
          <a:p>
            <a:r>
              <a:rPr lang="en-IN" dirty="0"/>
              <a:t>Dr. Aruru Sai Kumar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19-03-2026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dirty="0"/>
              <a:t>Dr. Aruru Sai Kumar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9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9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13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920.png"/><Relationship Id="rId4" Type="http://schemas.openxmlformats.org/officeDocument/2006/relationships/image" Target="../media/image92.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3367" y="997089"/>
            <a:ext cx="8911687" cy="1280890"/>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Low Power VLSI Design</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44299" y="1919285"/>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a:t>Dr. Aruru Sai Kumar</a:t>
            </a:r>
          </a:p>
          <a:p>
            <a:pPr marL="0" indent="0" algn="ctr">
              <a:buNone/>
            </a:pPr>
            <a:r>
              <a:rPr lang="en-IN" sz="2000" b="1" dirty="0"/>
              <a:t>Assistant Professor Sr. Grade -2</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4499811" y="4266526"/>
            <a:ext cx="4523874"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571C9-C039-148B-CA7E-95AEAE8ACB19}"/>
              </a:ext>
            </a:extLst>
          </p:cNvPr>
          <p:cNvSpPr>
            <a:spLocks noGrp="1"/>
          </p:cNvSpPr>
          <p:nvPr>
            <p:ph type="title"/>
          </p:nvPr>
        </p:nvSpPr>
        <p:spPr>
          <a:xfrm>
            <a:off x="1961147" y="624110"/>
            <a:ext cx="9543465" cy="1280890"/>
          </a:xfrm>
        </p:spPr>
        <p:txBody>
          <a:bodyPr/>
          <a:lstStyle/>
          <a:p>
            <a:r>
              <a:rPr lang="en-US" b="1" dirty="0">
                <a:latin typeface="Times New Roman" panose="02020603050405020304" pitchFamily="18" charset="0"/>
                <a:cs typeface="Times New Roman" panose="02020603050405020304" pitchFamily="18" charset="0"/>
              </a:rPr>
              <a:t>MODULE-4:Low-Voltage Low-Power Adders and Multipliers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CCD1B-8B74-ED5C-E010-6188A0CEBF43}"/>
              </a:ext>
            </a:extLst>
          </p:cNvPr>
          <p:cNvSpPr>
            <a:spLocks noGrp="1"/>
          </p:cNvSpPr>
          <p:nvPr>
            <p:ph idx="1"/>
          </p:nvPr>
        </p:nvSpPr>
        <p:spPr>
          <a:xfrm>
            <a:off x="1203774" y="2017293"/>
            <a:ext cx="10390873" cy="4006222"/>
          </a:xfrm>
        </p:spPr>
        <p:txBody>
          <a:bodyPr>
            <a:normAutofit fontScale="70000" lnSpcReduction="20000"/>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Standard Adder Cells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CMOS Adder’s Architectures –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Ripple Carry, Carry Look-Ahead, Carry Select, Carry Save Adders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Low-Voltage Low-Power Design Techniques - Trends of Technology and Power Supply Voltage, Low-Voltage Low-Power Logic Styles.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Overview of Multiplication, Types of Multiplier Architectures,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Braun Multiplier,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Baugh-Wooley Multiplier,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Booth Multiplier,</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Introduction to Wallace Tree Multiplier.</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43C9909-D26C-760D-2ACC-7ED7F3D21ED5}"/>
              </a:ext>
            </a:extLst>
          </p:cNvPr>
          <p:cNvSpPr>
            <a:spLocks noGrp="1"/>
          </p:cNvSpPr>
          <p:nvPr>
            <p:ph type="ftr" sz="quarter" idx="11"/>
          </p:nvPr>
        </p:nvSpPr>
        <p:spPr/>
        <p:txBody>
          <a:bodyPr/>
          <a:lstStyle/>
          <a:p>
            <a:r>
              <a:rPr lang="en-IN"/>
              <a:t>Dr. Aruru Sai Kumar , VIT-AP</a:t>
            </a:r>
            <a:endParaRPr lang="en-IN" dirty="0"/>
          </a:p>
        </p:txBody>
      </p:sp>
    </p:spTree>
    <p:extLst>
      <p:ext uri="{BB962C8B-B14F-4D97-AF65-F5344CB8AC3E}">
        <p14:creationId xmlns:p14="http://schemas.microsoft.com/office/powerpoint/2010/main" val="215939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1825641" y="1649691"/>
            <a:ext cx="8915400" cy="4157836"/>
          </a:xfrm>
        </p:spPr>
        <p:txBody>
          <a:bodyPr>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Standard Adder Cells.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CMOS Adder’s Architectures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Low-Voltage Low-Power Design Techniques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Overview of Multiplication</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Types of Multiplier Architectures</a:t>
            </a:r>
          </a:p>
          <a:p>
            <a:pPr marL="457200" lvl="1" indent="0" algn="just">
              <a:buNone/>
            </a:pPr>
            <a:r>
              <a:rPr lang="en-IN" sz="24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4021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AC18-5ACF-11E8-89CC-F397D5591093}"/>
              </a:ext>
            </a:extLst>
          </p:cNvPr>
          <p:cNvSpPr>
            <a:spLocks noGrp="1"/>
          </p:cNvSpPr>
          <p:nvPr>
            <p:ph type="title"/>
          </p:nvPr>
        </p:nvSpPr>
        <p:spPr>
          <a:xfrm>
            <a:off x="2029580" y="481503"/>
            <a:ext cx="8911687" cy="1280890"/>
          </a:xfrm>
        </p:spPr>
        <p:txBody>
          <a:bodyPr/>
          <a:lstStyle/>
          <a:p>
            <a:r>
              <a:rPr lang="en-IN" b="1" dirty="0">
                <a:latin typeface="Times New Roman" panose="02020603050405020304" pitchFamily="18" charset="0"/>
                <a:cs typeface="Times New Roman" panose="02020603050405020304" pitchFamily="18" charset="0"/>
              </a:rPr>
              <a:t>4.1 Introduction</a:t>
            </a:r>
          </a:p>
        </p:txBody>
      </p:sp>
      <p:sp>
        <p:nvSpPr>
          <p:cNvPr id="3" name="Content Placeholder 2">
            <a:extLst>
              <a:ext uri="{FF2B5EF4-FFF2-40B4-BE49-F238E27FC236}">
                <a16:creationId xmlns:a16="http://schemas.microsoft.com/office/drawing/2014/main" id="{CE255F26-0F37-F6C8-9ADD-0227829368A2}"/>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Addition is one of the most fundamental and indispensable arithmetic operations in digital systems, and it plays a crucial role in performing basic computations that form the foundation for  many complex mathematical and logical operations used in modern computing systems.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digital processors, addition is used extensively not only as a standalone operation but also as a key component in implementing other arithmetic functions such as subtraction, multiplication, division, and address calculation in memory systems, making it one of the most frequently executed operations in both general-purpose processors and application-specific integrated circuits.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adder is widely used in arithmetic logic units (ALUs), digital signal processors (DSPs), and microprocessors, making it a core computational element in many digital </a:t>
            </a:r>
            <a:r>
              <a:rPr lang="en-US" sz="2400" dirty="0" err="1">
                <a:latin typeface="Times New Roman" panose="02020603050405020304" pitchFamily="18" charset="0"/>
                <a:cs typeface="Times New Roman" panose="02020603050405020304" pitchFamily="18" charset="0"/>
              </a:rPr>
              <a:t>architectures.Therefore</a:t>
            </a:r>
            <a:r>
              <a:rPr lang="en-US" sz="2400" dirty="0">
                <a:latin typeface="Times New Roman" panose="02020603050405020304" pitchFamily="18" charset="0"/>
                <a:cs typeface="Times New Roman" panose="02020603050405020304" pitchFamily="18" charset="0"/>
              </a:rPr>
              <a:t>, the overall performance of these systems is highly influenced by the speed and efficiency of the adder circuits.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30F6C45-1AD6-F5AC-28B0-097122D6089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66883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B69AB-331E-D3CD-CBA2-28DC45036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45F44-DCCD-4680-FC63-854BEB379E8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CFCECDA-A19C-C79C-B255-4CA840D4FBD0}"/>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the overall performance of these systems is highly influenced by the speed and efficiency of the adder circuits.</a:t>
            </a:r>
            <a:endParaRPr lang="en-IN"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binary addition, each output bit depends not only on the corresponding input bits but also on the carry generated from the lower-order bit positions.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 generated at a lower bit position must propagate toward the higher-order bits before the final sum can be determined.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carry propagation introduces delay in the circuit, since the carry signal must pass through multiple stages of logic before reaching the most significant bit.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traditional adder architectures such as the Ripple Carry Adder, the carry signal propagates sequentially from one stage to the next stage.</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3873770-AC03-A64B-CC68-840A9CB27D0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679092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256E-3451-607F-6DE1-E4EAD6E3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119D7-DD30-4978-4E8C-04A839E66A9A}"/>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391766F-B32A-FDBC-BA5B-98C4CBEB71B3}"/>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sequential propagation results in carry propagation delay, which increases linearly as the number of bits in the adder increases.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the processor word length increases, this delay becomes more significant, making the adder a critical component that determines the overall speed of the digital system.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Earlier, adder design mainly focused on improving speed by reducing carry propagation delay and increasing computational throughput.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advancements in semiconductor technology and the growth of portable devices, the focus has shifted toward low-power and low-voltage operation while maintaining good performance.</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B87C6D1-BB05-9494-3103-6F3DECCD4EA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2126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EB6A-6EDA-48F8-79FA-79560A839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3CDD1-CCF9-F52C-04ED-6B3EE7C6C3CC}"/>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4.2 Standard Adder Cells </a:t>
            </a:r>
          </a:p>
        </p:txBody>
      </p:sp>
      <p:sp>
        <p:nvSpPr>
          <p:cNvPr id="3" name="Content Placeholder 2">
            <a:extLst>
              <a:ext uri="{FF2B5EF4-FFF2-40B4-BE49-F238E27FC236}">
                <a16:creationId xmlns:a16="http://schemas.microsoft.com/office/drawing/2014/main" id="{58772228-2E1C-5D14-9DBA-C61525194836}"/>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Half adders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HA is the simplest and most fundamental kind of adder.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consists of two binary operands that have a pair of single-bits as inputs. and produces a two-bit binary number as its resultant.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lower order bit of the resultant is known as Sum, whereas the higher order bit is named C</a:t>
            </a:r>
            <a:r>
              <a:rPr lang="en-US" sz="2400" baseline="-25000" dirty="0">
                <a:latin typeface="Times New Roman" panose="02020603050405020304" pitchFamily="18" charset="0"/>
                <a:cs typeface="Times New Roman" panose="02020603050405020304" pitchFamily="18" charset="0"/>
              </a:rPr>
              <a:t>out</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AA58C5C-A757-A2ED-098C-4A9B581A056A}"/>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B63A2F86-0139-3961-FDAC-DEE351B38CCD}"/>
              </a:ext>
            </a:extLst>
          </p:cNvPr>
          <p:cNvPicPr>
            <a:picLocks noChangeAspect="1"/>
          </p:cNvPicPr>
          <p:nvPr/>
        </p:nvPicPr>
        <p:blipFill>
          <a:blip r:embed="rId2"/>
          <a:stretch>
            <a:fillRect/>
          </a:stretch>
        </p:blipFill>
        <p:spPr>
          <a:xfrm>
            <a:off x="3567700" y="4019138"/>
            <a:ext cx="4359018" cy="1585097"/>
          </a:xfrm>
          <a:prstGeom prst="rect">
            <a:avLst/>
          </a:prstGeom>
        </p:spPr>
      </p:pic>
    </p:spTree>
    <p:extLst>
      <p:ext uri="{BB962C8B-B14F-4D97-AF65-F5344CB8AC3E}">
        <p14:creationId xmlns:p14="http://schemas.microsoft.com/office/powerpoint/2010/main" val="2029040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69BF-32D0-7C61-F8D0-60CA65E4E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986A0-5316-45C5-C27A-597B595D7668}"/>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Standard Adder Cells </a:t>
            </a:r>
          </a:p>
        </p:txBody>
      </p:sp>
      <p:sp>
        <p:nvSpPr>
          <p:cNvPr id="3" name="Content Placeholder 2">
            <a:extLst>
              <a:ext uri="{FF2B5EF4-FFF2-40B4-BE49-F238E27FC236}">
                <a16:creationId xmlns:a16="http://schemas.microsoft.com/office/drawing/2014/main" id="{8313F664-BA1E-9450-70E8-2D802A9F7966}"/>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Half adders :</a:t>
            </a:r>
          </a:p>
          <a:p>
            <a:pPr marL="0" indent="0" algn="just">
              <a:buNone/>
            </a:pPr>
            <a:r>
              <a:rPr lang="en-US" sz="2400" dirty="0">
                <a:latin typeface="Times New Roman" panose="02020603050405020304" pitchFamily="18" charset="0"/>
                <a:cs typeface="Times New Roman" panose="02020603050405020304" pitchFamily="18" charset="0"/>
              </a:rPr>
              <a:t>The logic functions for the Sum and C</a:t>
            </a:r>
            <a:r>
              <a:rPr lang="en-US" sz="2400" baseline="-25000" dirty="0">
                <a:latin typeface="Times New Roman" panose="02020603050405020304" pitchFamily="18" charset="0"/>
                <a:cs typeface="Times New Roman" panose="02020603050405020304" pitchFamily="18" charset="0"/>
              </a:rPr>
              <a:t>out</a:t>
            </a:r>
            <a:r>
              <a:rPr lang="en-US" sz="2400" dirty="0">
                <a:latin typeface="Times New Roman" panose="02020603050405020304" pitchFamily="18" charset="0"/>
                <a:cs typeface="Times New Roman" panose="02020603050405020304" pitchFamily="18" charset="0"/>
              </a:rPr>
              <a:t> are generalized as :</a:t>
            </a:r>
          </a:p>
          <a:p>
            <a:pPr marL="0" indent="0" algn="just">
              <a:buNone/>
            </a:pPr>
            <a:r>
              <a:rPr lang="en-US" sz="2400" dirty="0">
                <a:latin typeface="Times New Roman" panose="02020603050405020304" pitchFamily="18" charset="0"/>
                <a:cs typeface="Times New Roman" panose="02020603050405020304" pitchFamily="18" charset="0"/>
              </a:rPr>
              <a:t>Sum = A </a:t>
            </a:r>
            <a:r>
              <a:rPr lang="en-IN" sz="2400" dirty="0">
                <a:latin typeface="Times New Roman" panose="02020603050405020304" pitchFamily="18" charset="0"/>
                <a:cs typeface="Times New Roman" panose="02020603050405020304" pitchFamily="18" charset="0"/>
              </a:rPr>
              <a:t> ⊕ B</a:t>
            </a:r>
          </a:p>
          <a:p>
            <a:pPr marL="0" indent="0" algn="just">
              <a:buNone/>
            </a:pPr>
            <a:r>
              <a:rPr lang="en-IN" sz="2400" dirty="0">
                <a:latin typeface="Times New Roman" panose="02020603050405020304" pitchFamily="18" charset="0"/>
                <a:cs typeface="Times New Roman" panose="02020603050405020304" pitchFamily="18" charset="0"/>
              </a:rPr>
              <a:t>Cout = A.B</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ctr">
              <a:buNone/>
            </a:pPr>
            <a:r>
              <a:rPr lang="en-IN" sz="2400" dirty="0">
                <a:latin typeface="Times New Roman" panose="02020603050405020304" pitchFamily="18" charset="0"/>
                <a:cs typeface="Times New Roman" panose="02020603050405020304" pitchFamily="18" charset="0"/>
              </a:rPr>
              <a:t>Figure 1: </a:t>
            </a:r>
            <a:r>
              <a:rPr lang="en-US" sz="2400" dirty="0">
                <a:latin typeface="Times New Roman" panose="02020603050405020304" pitchFamily="18" charset="0"/>
                <a:cs typeface="Times New Roman" panose="02020603050405020304" pitchFamily="18" charset="0"/>
              </a:rPr>
              <a:t>Logic gate of a half adder. </a:t>
            </a:r>
            <a:endParaRPr lang="en-IN"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HA can only be used to add two single-bit binary numbers since it does not permit a carry-in. </a:t>
            </a: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130E291-2BA6-1BDE-A4A6-B0D99F6E9EAD}"/>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70897D3D-81FD-928A-5F1B-35FE4981351B}"/>
              </a:ext>
            </a:extLst>
          </p:cNvPr>
          <p:cNvPicPr>
            <a:picLocks noChangeAspect="1"/>
          </p:cNvPicPr>
          <p:nvPr/>
        </p:nvPicPr>
        <p:blipFill>
          <a:blip r:embed="rId2"/>
          <a:stretch>
            <a:fillRect/>
          </a:stretch>
        </p:blipFill>
        <p:spPr>
          <a:xfrm>
            <a:off x="1992274" y="3305926"/>
            <a:ext cx="8207451" cy="1775614"/>
          </a:xfrm>
          <a:prstGeom prst="rect">
            <a:avLst/>
          </a:prstGeom>
        </p:spPr>
      </p:pic>
    </p:spTree>
    <p:extLst>
      <p:ext uri="{BB962C8B-B14F-4D97-AF65-F5344CB8AC3E}">
        <p14:creationId xmlns:p14="http://schemas.microsoft.com/office/powerpoint/2010/main" val="3117806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A1766-293B-9BFC-E85E-584F46B15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2F446-1E23-72AE-DA8C-FFD547F77838}"/>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Standard Adder Cells </a:t>
            </a:r>
          </a:p>
        </p:txBody>
      </p:sp>
      <p:sp>
        <p:nvSpPr>
          <p:cNvPr id="3" name="Content Placeholder 2">
            <a:extLst>
              <a:ext uri="{FF2B5EF4-FFF2-40B4-BE49-F238E27FC236}">
                <a16:creationId xmlns:a16="http://schemas.microsoft.com/office/drawing/2014/main" id="{121B1F5E-50B5-3A06-9C02-30AFD0186510}"/>
              </a:ext>
            </a:extLst>
          </p:cNvPr>
          <p:cNvSpPr>
            <a:spLocks noGrp="1"/>
          </p:cNvSpPr>
          <p:nvPr>
            <p:ph idx="1"/>
          </p:nvPr>
        </p:nvSpPr>
        <p:spPr>
          <a:xfrm>
            <a:off x="1055803" y="1253765"/>
            <a:ext cx="10774836" cy="5247168"/>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add operands that process more than one bit, the adder would have to have three inputs rather than two, which would enable it to process the carry-in. An adder with a carry-in is called a full adder.</a:t>
            </a:r>
            <a:r>
              <a:rPr lang="en-IN" sz="2400" dirty="0"/>
              <a:t> </a:t>
            </a:r>
          </a:p>
          <a:p>
            <a:pPr marL="0" indent="0" algn="just">
              <a:buNone/>
            </a:pPr>
            <a:r>
              <a:rPr lang="en-IN" sz="2400" b="1" dirty="0">
                <a:latin typeface="Times New Roman" panose="02020603050405020304" pitchFamily="18" charset="0"/>
                <a:cs typeface="Times New Roman" panose="02020603050405020304" pitchFamily="18" charset="0"/>
              </a:rPr>
              <a:t>Full adders</a:t>
            </a:r>
            <a:r>
              <a:rPr lang="en-US" sz="2400" b="1"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full adder adds two binary numbers with a carry-in.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constructed using two HAs and an OR gate. There are a total of three inputs for the FA, two for the input numbers A and B, and for the carry-in(C</a:t>
            </a:r>
            <a:r>
              <a:rPr lang="en-US" sz="2400" baseline="-25000" dirty="0">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The outputs are the Sum and carry-out (C</a:t>
            </a:r>
            <a:r>
              <a:rPr lang="en-US" sz="2400" baseline="-25000" dirty="0">
                <a:latin typeface="Times New Roman" panose="02020603050405020304" pitchFamily="18" charset="0"/>
                <a:cs typeface="Times New Roman" panose="02020603050405020304" pitchFamily="18" charset="0"/>
              </a:rPr>
              <a:t>out</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logic functions corresponding to terminals Sum and C</a:t>
            </a:r>
            <a:r>
              <a:rPr lang="en-US" sz="2400" baseline="-25000" dirty="0">
                <a:latin typeface="Times New Roman" panose="02020603050405020304" pitchFamily="18" charset="0"/>
                <a:cs typeface="Times New Roman" panose="02020603050405020304" pitchFamily="18" charset="0"/>
              </a:rPr>
              <a:t>out</a:t>
            </a:r>
            <a:r>
              <a:rPr lang="en-US" sz="2400" dirty="0">
                <a:latin typeface="Times New Roman" panose="02020603050405020304" pitchFamily="18" charset="0"/>
                <a:cs typeface="Times New Roman" panose="02020603050405020304" pitchFamily="18" charset="0"/>
              </a:rPr>
              <a:t> are as follows: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Sum = A </a:t>
            </a:r>
            <a:r>
              <a:rPr lang="en-IN" sz="2400" dirty="0">
                <a:latin typeface="Times New Roman" panose="02020603050405020304" pitchFamily="18" charset="0"/>
                <a:cs typeface="Times New Roman" panose="02020603050405020304" pitchFamily="18" charset="0"/>
              </a:rPr>
              <a:t>⊕ B ⊕ C</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
            </a:r>
            <a:r>
              <a:rPr lang="en-US" sz="2400" baseline="-25000" dirty="0">
                <a:latin typeface="Times New Roman" panose="02020603050405020304" pitchFamily="18" charset="0"/>
                <a:cs typeface="Times New Roman" panose="02020603050405020304" pitchFamily="18" charset="0"/>
              </a:rPr>
              <a:t>out    </a:t>
            </a:r>
            <a:r>
              <a:rPr lang="en-US" sz="2400" dirty="0">
                <a:latin typeface="Times New Roman" panose="02020603050405020304" pitchFamily="18" charset="0"/>
                <a:cs typeface="Times New Roman" panose="02020603050405020304" pitchFamily="18" charset="0"/>
              </a:rPr>
              <a:t>= (A </a:t>
            </a:r>
            <a:r>
              <a:rPr lang="en-IN" sz="2400" dirty="0">
                <a:latin typeface="Times New Roman" panose="02020603050405020304" pitchFamily="18" charset="0"/>
                <a:cs typeface="Times New Roman" panose="02020603050405020304" pitchFamily="18" charset="0"/>
              </a:rPr>
              <a:t>⊕ B) . </a:t>
            </a:r>
            <a:r>
              <a:rPr lang="en-US" sz="2400" dirty="0">
                <a:latin typeface="Times New Roman" panose="02020603050405020304" pitchFamily="18" charset="0"/>
                <a:cs typeface="Times New Roman" panose="02020603050405020304" pitchFamily="18" charset="0"/>
              </a:rPr>
              <a:t>C</a:t>
            </a:r>
            <a:r>
              <a:rPr lang="en-US" sz="2400" baseline="-25000" dirty="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 A.B</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5567E3-13B0-2139-86A7-A6D5C17A82B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995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6ADA-CDC3-2316-1D1F-B93B85DA4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E33EA-EA37-775B-EEE3-87AE78D95BE4}"/>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Standard Adder Cells </a:t>
            </a:r>
          </a:p>
        </p:txBody>
      </p:sp>
      <p:pic>
        <p:nvPicPr>
          <p:cNvPr id="6" name="Content Placeholder 5">
            <a:extLst>
              <a:ext uri="{FF2B5EF4-FFF2-40B4-BE49-F238E27FC236}">
                <a16:creationId xmlns:a16="http://schemas.microsoft.com/office/drawing/2014/main" id="{2151D77A-7100-C347-BC9F-D13BF96C41CF}"/>
              </a:ext>
            </a:extLst>
          </p:cNvPr>
          <p:cNvPicPr>
            <a:picLocks noGrp="1" noChangeAspect="1"/>
          </p:cNvPicPr>
          <p:nvPr>
            <p:ph idx="1"/>
          </p:nvPr>
        </p:nvPicPr>
        <p:blipFill>
          <a:blip r:embed="rId2"/>
          <a:stretch>
            <a:fillRect/>
          </a:stretch>
        </p:blipFill>
        <p:spPr>
          <a:xfrm>
            <a:off x="3522873" y="1311765"/>
            <a:ext cx="4633362" cy="2644369"/>
          </a:xfrm>
          <a:prstGeom prst="rect">
            <a:avLst/>
          </a:prstGeom>
        </p:spPr>
      </p:pic>
      <p:sp>
        <p:nvSpPr>
          <p:cNvPr id="4" name="Footer Placeholder 3">
            <a:extLst>
              <a:ext uri="{FF2B5EF4-FFF2-40B4-BE49-F238E27FC236}">
                <a16:creationId xmlns:a16="http://schemas.microsoft.com/office/drawing/2014/main" id="{E2287575-3978-FF57-AE22-7B2BA8846B84}"/>
              </a:ext>
            </a:extLst>
          </p:cNvPr>
          <p:cNvSpPr>
            <a:spLocks noGrp="1"/>
          </p:cNvSpPr>
          <p:nvPr>
            <p:ph type="ftr" sz="quarter" idx="11"/>
          </p:nvPr>
        </p:nvSpPr>
        <p:spPr/>
        <p:txBody>
          <a:bodyPr/>
          <a:lstStyle/>
          <a:p>
            <a:r>
              <a:rPr lang="en-IN" dirty="0"/>
              <a:t>Dr. Aruru Sai Kumar , VIT-AP</a:t>
            </a:r>
          </a:p>
        </p:txBody>
      </p:sp>
      <p:pic>
        <p:nvPicPr>
          <p:cNvPr id="8" name="Picture 7">
            <a:extLst>
              <a:ext uri="{FF2B5EF4-FFF2-40B4-BE49-F238E27FC236}">
                <a16:creationId xmlns:a16="http://schemas.microsoft.com/office/drawing/2014/main" id="{D48AC756-0B60-C0F3-8CB6-FEC68313FB2B}"/>
              </a:ext>
            </a:extLst>
          </p:cNvPr>
          <p:cNvPicPr>
            <a:picLocks noChangeAspect="1"/>
          </p:cNvPicPr>
          <p:nvPr/>
        </p:nvPicPr>
        <p:blipFill>
          <a:blip r:embed="rId3"/>
          <a:stretch>
            <a:fillRect/>
          </a:stretch>
        </p:blipFill>
        <p:spPr>
          <a:xfrm>
            <a:off x="1887450" y="4110645"/>
            <a:ext cx="8321761" cy="1615580"/>
          </a:xfrm>
          <a:prstGeom prst="rect">
            <a:avLst/>
          </a:prstGeom>
        </p:spPr>
      </p:pic>
      <p:sp>
        <p:nvSpPr>
          <p:cNvPr id="10" name="TextBox 9">
            <a:extLst>
              <a:ext uri="{FF2B5EF4-FFF2-40B4-BE49-F238E27FC236}">
                <a16:creationId xmlns:a16="http://schemas.microsoft.com/office/drawing/2014/main" id="{DE779051-4A6B-4F6A-1254-79696BAE9A75}"/>
              </a:ext>
            </a:extLst>
          </p:cNvPr>
          <p:cNvSpPr txBox="1"/>
          <p:nvPr/>
        </p:nvSpPr>
        <p:spPr>
          <a:xfrm>
            <a:off x="2728274" y="5746350"/>
            <a:ext cx="7160425"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2: Logic circuit of the conventional CMOS full adder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857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0246CA-6412-6BBA-2C6D-BB696B6D44A1}"/>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17BE3093-90FB-083E-24E6-E0DDA53D23D5}"/>
              </a:ext>
            </a:extLst>
          </p:cNvPr>
          <p:cNvPicPr>
            <a:picLocks noChangeAspect="1"/>
          </p:cNvPicPr>
          <p:nvPr/>
        </p:nvPicPr>
        <p:blipFill>
          <a:blip r:embed="rId2"/>
          <a:stretch>
            <a:fillRect/>
          </a:stretch>
        </p:blipFill>
        <p:spPr>
          <a:xfrm>
            <a:off x="2131311" y="357067"/>
            <a:ext cx="8077900" cy="5410669"/>
          </a:xfrm>
          <a:prstGeom prst="rect">
            <a:avLst/>
          </a:prstGeom>
        </p:spPr>
      </p:pic>
      <p:sp>
        <p:nvSpPr>
          <p:cNvPr id="6" name="TextBox 5">
            <a:extLst>
              <a:ext uri="{FF2B5EF4-FFF2-40B4-BE49-F238E27FC236}">
                <a16:creationId xmlns:a16="http://schemas.microsoft.com/office/drawing/2014/main" id="{B038B5B2-57A5-C560-EFCE-1AADABF87F2C}"/>
              </a:ext>
            </a:extLst>
          </p:cNvPr>
          <p:cNvSpPr txBox="1"/>
          <p:nvPr/>
        </p:nvSpPr>
        <p:spPr>
          <a:xfrm>
            <a:off x="3508360" y="5848488"/>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3: The conventional CMOS full adder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203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068E1-4183-F094-777F-2482B1C03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1B3FA-D0C1-875D-231F-D286B328F3E2}"/>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4.3 CMOS Adder’s Architectures </a:t>
            </a:r>
          </a:p>
        </p:txBody>
      </p:sp>
      <p:sp>
        <p:nvSpPr>
          <p:cNvPr id="3" name="Content Placeholder 2">
            <a:extLst>
              <a:ext uri="{FF2B5EF4-FFF2-40B4-BE49-F238E27FC236}">
                <a16:creationId xmlns:a16="http://schemas.microsoft.com/office/drawing/2014/main" id="{7BB89346-2AB6-35EE-3D6D-1CB5510F0155}"/>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1. Ripple Carry Adders (RCA)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basic unit of a Ripple Carry Adder (RCA) is a full adder.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extended indefinitely to any number by connecting the carry-out of the previous 1-bit FA to the carry-in of the next 1-bit FA.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n-bit RCA consisting of n single-bit FAs.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figure that the carry bit ripples through the chain of the cascaded FAs, from a lower bit to the next higher order FA.</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F05529E-37F0-78B1-33A9-1C1A846FB65B}"/>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773919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D1D3A1-558B-9B2F-092D-F7834067E77C}"/>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D01911DC-678F-8BE4-91C9-8F77B27E6C14}"/>
              </a:ext>
            </a:extLst>
          </p:cNvPr>
          <p:cNvPicPr>
            <a:picLocks noChangeAspect="1"/>
          </p:cNvPicPr>
          <p:nvPr/>
        </p:nvPicPr>
        <p:blipFill>
          <a:blip r:embed="rId2"/>
          <a:stretch>
            <a:fillRect/>
          </a:stretch>
        </p:blipFill>
        <p:spPr>
          <a:xfrm>
            <a:off x="1814282" y="213081"/>
            <a:ext cx="6904318" cy="3215919"/>
          </a:xfrm>
          <a:prstGeom prst="rect">
            <a:avLst/>
          </a:prstGeom>
        </p:spPr>
      </p:pic>
      <p:sp>
        <p:nvSpPr>
          <p:cNvPr id="6" name="TextBox 5">
            <a:extLst>
              <a:ext uri="{FF2B5EF4-FFF2-40B4-BE49-F238E27FC236}">
                <a16:creationId xmlns:a16="http://schemas.microsoft.com/office/drawing/2014/main" id="{1096343D-D165-C4FE-8E77-8D1841E953FC}"/>
              </a:ext>
            </a:extLst>
          </p:cNvPr>
          <p:cNvSpPr txBox="1"/>
          <p:nvPr/>
        </p:nvSpPr>
        <p:spPr>
          <a:xfrm>
            <a:off x="3048786" y="3505928"/>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4: The Ripple Carry Adder (RCA) </a:t>
            </a:r>
            <a:endParaRPr lang="en-IN" dirty="0">
              <a:latin typeface="Times New Roman" panose="02020603050405020304" pitchFamily="18" charset="0"/>
              <a:cs typeface="Times New Roman" panose="02020603050405020304" pitchFamily="18" charset="0"/>
            </a:endParaRPr>
          </a:p>
        </p:txBody>
      </p:sp>
      <p:pic>
        <p:nvPicPr>
          <p:cNvPr id="2050" name="Picture 2" descr="Ripple Carry Adder – Nandland">
            <a:extLst>
              <a:ext uri="{FF2B5EF4-FFF2-40B4-BE49-F238E27FC236}">
                <a16:creationId xmlns:a16="http://schemas.microsoft.com/office/drawing/2014/main" id="{FEB6E2ED-2CE5-0BDC-288D-9558F26E7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103" y="3952188"/>
            <a:ext cx="6094428" cy="2084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486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B4C6A-82FF-9DA4-BA7E-F3B811EA6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B9C5F-63A0-5EEB-CD09-68EBFF4C194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B7167856-B407-32ED-9DE5-B0D14805B9E8}"/>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Performance Evaluation: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Among various adder architectures, the Ripple Carry Adder (RCA) requires the smallest hardware area and provides satisfactory performance when the input data is random.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the delay of the RCA is strongly influenced by the length of the carry propagation path, which makes it less suitable for circuits with non-random input operands.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all the full adders (FAs) in the RCA are connected through a carry chain, the carry generated at the least significant bit must propagate through each stage until it reaches the most significant bit in the worst-case condition.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the worst-case delay increases linearly with the number of bits in the operands, denoted by n, because the carry must pass through all the adder stages.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28D9ACE-1C9D-F3A0-60E1-ABBBE537F67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942197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3383-D5C2-B794-73A5-C74FFA13A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14650-AB4A-4581-450A-1FD9B193FB0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9D7BC96E-8743-0B13-976D-7C9C009368C3}"/>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Performance Evaluation: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high-speed performance is required, the Ripple Carry Adder (RCA) may not be suitable because its carry propagation delay limits the overall speed of the arithmetic operation.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Although it uses minimal hardware, the performance can become inadequate for high-speed applications.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the carry propagation speed can be improved to some extent by using faster logic circuit technologies and optimized full adder (FA) designs.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B7D7289-9257-2D08-D68B-F1A0DD1B9D3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169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D8442-C8F2-DA79-E132-B74FB68A0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3EAE1-B318-970E-703C-00E3DF61A18C}"/>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D34021F1-17CE-098D-527A-3B7F69BC3D8D}"/>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Glitching Problem in Ripple Carry Adder (RCA):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Ripple Carry Adder suffers from a glitching problem due to the delay in carry propagation along the chain of cascaded full adders.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Consider a 4-bit RCA, where inputs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while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the carry input Cin change from 0 to 1.</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Ideally, the sum outputs S</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should remain 0, because adding 0 and 1 with carry conditions should not immediately produce a final stable output.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because the carry signal propagates sequentially through each full adder, each stage experiences a delay before the correct carry arrives.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8121051-1A9A-E934-BCE5-029824C94DF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219475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91D81-97FB-ED7D-58F0-E1224AAE9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2EAAA-630A-3B9E-09FC-949ACE67AA0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44053B80-217A-C294-32C1-80B5575DA8C6}"/>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Glitching Problem in Ripple Carry Adder (RCA):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this delay, the sum outputs temporarily switch between 0 and 1, producing unwanted transitions called glitches.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spurious switching activities increase dynamic power consumption, which may contribute significantly to the total power dissipation of the circuit.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glitching effect can be reduced through careful circuit design, optimized full adder structures, and improved adder architectures.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14F1C8A-6036-9215-A39F-BAA4DECF38DC}"/>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65158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8EBD06-C683-12EC-60D2-267E8C88C214}"/>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BBEB226-0675-D90B-0650-312E3A744970}"/>
              </a:ext>
            </a:extLst>
          </p:cNvPr>
          <p:cNvPicPr>
            <a:picLocks noChangeAspect="1"/>
          </p:cNvPicPr>
          <p:nvPr/>
        </p:nvPicPr>
        <p:blipFill>
          <a:blip r:embed="rId2"/>
          <a:stretch>
            <a:fillRect/>
          </a:stretch>
        </p:blipFill>
        <p:spPr>
          <a:xfrm>
            <a:off x="1843632" y="268406"/>
            <a:ext cx="4884843" cy="5944115"/>
          </a:xfrm>
          <a:prstGeom prst="rect">
            <a:avLst/>
          </a:prstGeom>
        </p:spPr>
      </p:pic>
      <p:sp>
        <p:nvSpPr>
          <p:cNvPr id="6" name="TextBox 5">
            <a:extLst>
              <a:ext uri="{FF2B5EF4-FFF2-40B4-BE49-F238E27FC236}">
                <a16:creationId xmlns:a16="http://schemas.microsoft.com/office/drawing/2014/main" id="{78A78589-2007-89EF-EF59-F3DB73C2B8B5}"/>
              </a:ext>
            </a:extLst>
          </p:cNvPr>
          <p:cNvSpPr txBox="1"/>
          <p:nvPr/>
        </p:nvSpPr>
        <p:spPr>
          <a:xfrm>
            <a:off x="6728475" y="2878942"/>
            <a:ext cx="5055030"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(a) The 4-bit RCA. (6) Static simulation of the 4-bit RCA.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1373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D7929-A759-EB04-7FC5-371060B7A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87613-0E97-598B-0E3F-A4C42D234DFB}"/>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CBCF720D-8F07-1CE3-D869-5CCD6A5EBC3A}"/>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RCA:</a:t>
            </a:r>
          </a:p>
          <a:p>
            <a:pPr marL="0" indent="0" algn="just">
              <a:buNone/>
            </a:pPr>
            <a:r>
              <a:rPr lang="en-US" sz="2200" b="1" dirty="0">
                <a:latin typeface="Times New Roman" panose="02020603050405020304" pitchFamily="18" charset="0"/>
                <a:cs typeface="Times New Roman" panose="02020603050405020304" pitchFamily="18" charset="0"/>
              </a:rPr>
              <a:t>Simple Design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RCA has a very straightforward structure. It is built by connecting several full adders in series, making it easy to understand and implement.</a:t>
            </a:r>
          </a:p>
          <a:p>
            <a:pPr marL="0" indent="0" algn="just">
              <a:buNone/>
            </a:pPr>
            <a:r>
              <a:rPr lang="en-US" sz="2200" b="1" dirty="0">
                <a:latin typeface="Times New Roman" panose="02020603050405020304" pitchFamily="18" charset="0"/>
                <a:cs typeface="Times New Roman" panose="02020603050405020304" pitchFamily="18" charset="0"/>
              </a:rPr>
              <a:t>Easy to Implement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its simple architecture, the RCA is easy to design using basic logic gates or HDL languages such as Verilog/VHDL.</a:t>
            </a:r>
          </a:p>
          <a:p>
            <a:pPr marL="0" indent="0" algn="just">
              <a:buNone/>
            </a:pPr>
            <a:r>
              <a:rPr lang="en-US" sz="2200" b="1" dirty="0">
                <a:latin typeface="Times New Roman" panose="02020603050405020304" pitchFamily="18" charset="0"/>
                <a:cs typeface="Times New Roman" panose="02020603050405020304" pitchFamily="18" charset="0"/>
              </a:rPr>
              <a:t>Low Hardware Requirement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uses fewer logic gates compared to faster adders like Carry Lookahead Adder (CLA) or Carry Select Adder, which reduces hardware complexity.</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A0A6689-8503-F17B-D3C7-5ECB9398541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76034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56F6-A89F-446B-BB3D-7C92D72A8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88C8A-4B9D-FB04-10C6-524708E2A7AC}"/>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A33A0E7E-4AFC-FC09-56B5-9C4EB428DA36}"/>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RCA:</a:t>
            </a:r>
          </a:p>
          <a:p>
            <a:pPr marL="0" indent="0">
              <a:buNone/>
            </a:pPr>
            <a:r>
              <a:rPr lang="en-US" sz="2400" b="1" dirty="0">
                <a:latin typeface="Times New Roman" panose="02020603050405020304" pitchFamily="18" charset="0"/>
                <a:cs typeface="Times New Roman" panose="02020603050405020304" pitchFamily="18" charset="0"/>
              </a:rPr>
              <a:t>Low Power Consumption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fewer gates and simpler circuitry, RCA generally consumes less power, which can be useful in small or low-power designs.</a:t>
            </a:r>
          </a:p>
          <a:p>
            <a:pPr marL="0" indent="0">
              <a:buNone/>
            </a:pPr>
            <a:r>
              <a:rPr lang="en-US" sz="2400" b="1" dirty="0">
                <a:latin typeface="Times New Roman" panose="02020603050405020304" pitchFamily="18" charset="0"/>
                <a:cs typeface="Times New Roman" panose="02020603050405020304" pitchFamily="18" charset="0"/>
              </a:rPr>
              <a:t>Area Efficient</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circuit occupies less silicon area in VLSI implementations, making it suitable for compact designs.</a:t>
            </a:r>
          </a:p>
          <a:p>
            <a:pPr lvl="1"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BC4D684-822F-80FF-FC23-331DE85A5BF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31416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780A-D25A-7434-4066-C3C368D69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338D7-1952-F9B7-235E-3587837ADB0B}"/>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B1CC7041-5052-F0E8-A194-F637AF3EDFEB}"/>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RCA:</a:t>
            </a: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Slow Speed (High Propagation Delay)</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major drawback of RCA is that the carry must propagate through every full adder stage before the final sum is produced.</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an n-bit adder, the delay is proportional to n.</a:t>
            </a:r>
          </a:p>
          <a:p>
            <a:pPr marL="0" indent="0">
              <a:buNone/>
            </a:pPr>
            <a:r>
              <a:rPr lang="en-US" sz="2400" b="1" dirty="0">
                <a:latin typeface="Times New Roman" panose="02020603050405020304" pitchFamily="18" charset="0"/>
                <a:cs typeface="Times New Roman" panose="02020603050405020304" pitchFamily="18" charset="0"/>
              </a:rPr>
              <a:t>Not Suitable for High-Speed Systems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large-bit adders (16-bit, 32-bit, 64-bit), the carry propagation delay becomes significant, making RCA unsuitable for high-performance processors and DSP systems.</a:t>
            </a:r>
          </a:p>
          <a:p>
            <a:pPr marL="0" indent="0">
              <a:buNone/>
            </a:pPr>
            <a:r>
              <a:rPr lang="en-US" sz="2400" b="1" dirty="0">
                <a:latin typeface="Times New Roman" panose="02020603050405020304" pitchFamily="18" charset="0"/>
                <a:cs typeface="Times New Roman" panose="02020603050405020304" pitchFamily="18" charset="0"/>
              </a:rPr>
              <a:t>Delay Increases with Number of Bits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As the number of bits increases, the total delay increases linearly, which limits scalability.</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351D06D-2828-4FE7-45EC-61A9C6E0521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22441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1E852-3C86-7826-A321-0B61F51CC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306FF-F659-0E0A-9ADC-556139E860B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33DA86D1-3538-C39F-FFF6-CCD3827B84C7}"/>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RCA:</a:t>
            </a: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Performance Limitation in Large Arithmetic Units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the ripple effect of the carry, RCA cannot compete with advanced adders like Carry Lookahead, Carry Skip, or Carry Save Adders used in modern processors.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8EE7FEC-E21A-D545-8D4A-F7514549E3C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21886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F952-33AC-7D7C-4CF4-307A25EC8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2738F-11D4-0B49-E162-9043FDCCD50E}"/>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9D8FD675-E7E0-C649-35ED-84A41E30A4AF}"/>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2. 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 Ripple Carry Adder (RCA), the carry must propagate sequentially from one stage to the next, causing the delay to increase linearly with the number of bits (n).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delay can be reduced by generating carry signals in parallel instead of sequentially, which is the main idea behind the Carry Look-Ahead Adder (CLA).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CLA architecture, carry signals are generated simultaneously using look-ahead logic based on propagate (P) and generate (G) signals.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Due to this parallel carry computation, the delay of the CLA grows logarithmically with the number of bits, approximately O(log n), which significantly reduces the carry propagation delay.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this improvement in speed comes at the cost of increased hardware complexity, since CLA requires a larger number of logic gates, resulting in higher area and power consumption.</a:t>
            </a: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166794B-06EA-BAE4-BF94-92A9E4A65D6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249506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A7232-E09E-E083-B46C-B6DB0126D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65BC9-4F56-931D-8880-DFC92C5E063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8235D5C7-E4EC-65B5-6BBD-78AFFC241727}"/>
              </a:ext>
            </a:extLst>
          </p:cNvPr>
          <p:cNvSpPr>
            <a:spLocks noGrp="1"/>
          </p:cNvSpPr>
          <p:nvPr>
            <p:ph idx="1"/>
          </p:nvPr>
        </p:nvSpPr>
        <p:spPr>
          <a:xfrm>
            <a:off x="84841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small adders (≤ 4 bits), the Ripple Carry Adder is often preferred because it requires less hardware and provides comparable speed.</a:t>
            </a:r>
            <a:endParaRPr lang="en-IN"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25B2FB1-D395-41CD-DBE7-74777AF89E10}"/>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1B0D657D-E2B7-57DB-36B8-13BA73F3BE9E}"/>
              </a:ext>
            </a:extLst>
          </p:cNvPr>
          <p:cNvPicPr>
            <a:picLocks noChangeAspect="1"/>
          </p:cNvPicPr>
          <p:nvPr/>
        </p:nvPicPr>
        <p:blipFill>
          <a:blip r:embed="rId2"/>
          <a:stretch>
            <a:fillRect/>
          </a:stretch>
        </p:blipFill>
        <p:spPr>
          <a:xfrm>
            <a:off x="1249260" y="2534655"/>
            <a:ext cx="9035383" cy="3956532"/>
          </a:xfrm>
          <a:prstGeom prst="rect">
            <a:avLst/>
          </a:prstGeom>
        </p:spPr>
      </p:pic>
    </p:spTree>
    <p:extLst>
      <p:ext uri="{BB962C8B-B14F-4D97-AF65-F5344CB8AC3E}">
        <p14:creationId xmlns:p14="http://schemas.microsoft.com/office/powerpoint/2010/main" val="1304877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AF5A-5FE8-5C99-8989-9EAF71955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4645F-CD0D-02AB-A4AD-236EE0B6600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D3373B-4D3C-F64A-DD7B-AC2F607D54AC}"/>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a given combination of input bits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the propagate signal P</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indicates whether the input carry C</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will pass through the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𝑖</m:t>
                        </m:r>
                      </m:e>
                      <m:sub>
                        <m:r>
                          <a:rPr lang="en-IN" sz="2400" b="0" i="1" smtClean="0">
                            <a:latin typeface="Cambria Math" panose="02040503050406030204" pitchFamily="18" charset="0"/>
                            <a:cs typeface="Times New Roman" panose="02020603050405020304" pitchFamily="18" charset="0"/>
                          </a:rPr>
                          <m:t>𝑡h</m:t>
                        </m:r>
                      </m:sub>
                    </m:sSub>
                  </m:oMath>
                </a14:m>
                <a:r>
                  <a:rPr lang="en-US" sz="2400" dirty="0">
                    <a:latin typeface="Times New Roman" panose="02020603050405020304" pitchFamily="18" charset="0"/>
                    <a:cs typeface="Times New Roman" panose="02020603050405020304" pitchFamily="18" charset="0"/>
                  </a:rPr>
                  <a:t> stage to the output.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generate signal 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indicates whether the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𝑖</m:t>
                        </m:r>
                      </m:e>
                      <m:sub>
                        <m:r>
                          <a:rPr lang="en-IN" sz="2400" i="1">
                            <a:latin typeface="Cambria Math" panose="02040503050406030204" pitchFamily="18" charset="0"/>
                            <a:cs typeface="Times New Roman" panose="02020603050405020304" pitchFamily="18" charset="0"/>
                          </a:rPr>
                          <m:t>𝑡h</m:t>
                        </m:r>
                      </m:sub>
                    </m:sSub>
                  </m:oMath>
                </a14:m>
                <a:r>
                  <a:rPr lang="en-US" sz="2400" dirty="0">
                    <a:latin typeface="Times New Roman" panose="02020603050405020304" pitchFamily="18" charset="0"/>
                    <a:cs typeface="Times New Roman" panose="02020603050405020304" pitchFamily="18" charset="0"/>
                  </a:rPr>
                  <a:t> stage will produce a carry output by itself, independent of the input carry.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two input operands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the propagate and generate signals are defined as: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B</a:t>
                </a:r>
                <a:r>
                  <a:rPr lang="en-US" sz="2400" baseline="-25000" dirty="0">
                    <a:latin typeface="Times New Roman" panose="02020603050405020304" pitchFamily="18" charset="0"/>
                    <a:cs typeface="Times New Roman" panose="02020603050405020304" pitchFamily="18" charset="0"/>
                  </a:rPr>
                  <a:t>i</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i</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Carry generation occurs when A</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so when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 1, a carry of 1 is produced at the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𝑖</m:t>
                        </m:r>
                      </m:e>
                      <m:sub>
                        <m:r>
                          <a:rPr lang="en-IN" sz="2400" i="1">
                            <a:latin typeface="Cambria Math" panose="02040503050406030204" pitchFamily="18" charset="0"/>
                            <a:cs typeface="Times New Roman" panose="02020603050405020304" pitchFamily="18" charset="0"/>
                          </a:rPr>
                          <m:t>𝑡h</m:t>
                        </m:r>
                      </m:sub>
                    </m:sSub>
                  </m:oMath>
                </a14:m>
                <a:r>
                  <a:rPr lang="en-US" sz="2400" dirty="0">
                    <a:latin typeface="Times New Roman" panose="02020603050405020304" pitchFamily="18" charset="0"/>
                    <a:cs typeface="Times New Roman" panose="02020603050405020304" pitchFamily="18" charset="0"/>
                  </a:rPr>
                  <a:t>  position, yet when A</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 B</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a:t>
                </a:r>
                <a:r>
                  <a:rPr lang="en-US" sz="2400" baseline="-25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0, a carry of 0 gets generated instead.</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CD3373B-4D3C-F64A-DD7B-AC2F607D54AC}"/>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848" t="-930"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20E0CCB3-394F-E2D8-05BD-7B7B77AE5B3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11396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E181-29F3-F69E-B5EF-4CDB7DF33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B8A96-5609-4B3F-AB6F-76214F13E9C5}"/>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309618DA-E763-A285-EF14-F8309635A4D2}"/>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other hand, carry propagation occurs when A</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Besides the P</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signals, the Boolean variables for the CLA adder are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 = P</a:t>
            </a:r>
            <a:r>
              <a:rPr lang="en-US" sz="2400" baseline="-25000" dirty="0">
                <a:latin typeface="Times New Roman" panose="02020603050405020304" pitchFamily="18" charset="0"/>
                <a:cs typeface="Times New Roman" panose="02020603050405020304" pitchFamily="18" charset="0"/>
              </a:rPr>
              <a:t>i </a:t>
            </a:r>
            <a:r>
              <a:rPr lang="en-IN" sz="2400" dirty="0">
                <a:latin typeface="Times New Roman" panose="02020603050405020304" pitchFamily="18" charset="0"/>
                <a:cs typeface="Times New Roman" panose="02020603050405020304" pitchFamily="18" charset="0"/>
              </a:rPr>
              <a:t>⊕ C</a:t>
            </a:r>
            <a:r>
              <a:rPr lang="en-IN" sz="2400" baseline="-25000" dirty="0">
                <a:latin typeface="Times New Roman" panose="02020603050405020304" pitchFamily="18" charset="0"/>
                <a:cs typeface="Times New Roman" panose="02020603050405020304" pitchFamily="18" charset="0"/>
              </a:rPr>
              <a:t>i</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
            </a:r>
            <a:r>
              <a:rPr lang="en-US" sz="2400" baseline="-25000" dirty="0">
                <a:latin typeface="Times New Roman" panose="02020603050405020304" pitchFamily="18" charset="0"/>
                <a:cs typeface="Times New Roman" panose="02020603050405020304" pitchFamily="18" charset="0"/>
              </a:rPr>
              <a:t>i+1 </a:t>
            </a:r>
            <a:r>
              <a:rPr lang="en-US" sz="2400" dirty="0">
                <a:latin typeface="Times New Roman" panose="02020603050405020304" pitchFamily="18" charset="0"/>
                <a:cs typeface="Times New Roman" panose="02020603050405020304" pitchFamily="18" charset="0"/>
              </a:rPr>
              <a:t> = 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P</a:t>
            </a:r>
            <a:r>
              <a:rPr lang="en-IN" sz="2400" baseline="-25000" dirty="0">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C</a:t>
            </a:r>
            <a:r>
              <a:rPr lang="en-IN" sz="2400" baseline="-25000" dirty="0">
                <a:latin typeface="Times New Roman" panose="02020603050405020304" pitchFamily="18" charset="0"/>
                <a:cs typeface="Times New Roman" panose="02020603050405020304" pitchFamily="18" charset="0"/>
              </a:rPr>
              <a:t>i</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Si and C</a:t>
            </a:r>
            <a:r>
              <a:rPr lang="en-US" sz="2400" baseline="-25000" dirty="0">
                <a:latin typeface="Times New Roman" panose="02020603050405020304" pitchFamily="18" charset="0"/>
                <a:cs typeface="Times New Roman" panose="02020603050405020304" pitchFamily="18" charset="0"/>
              </a:rPr>
              <a:t>i+1  </a:t>
            </a:r>
            <a:r>
              <a:rPr lang="en-US" sz="2400" dirty="0">
                <a:latin typeface="Times New Roman" panose="02020603050405020304" pitchFamily="18" charset="0"/>
                <a:cs typeface="Times New Roman" panose="02020603050405020304" pitchFamily="18" charset="0"/>
              </a:rPr>
              <a:t>are the sum and carry recurrence for the </a:t>
            </a:r>
            <a:r>
              <a:rPr lang="en-US" sz="2400" dirty="0" err="1">
                <a:latin typeface="Times New Roman" panose="02020603050405020304" pitchFamily="18" charset="0"/>
                <a:cs typeface="Times New Roman" panose="02020603050405020304" pitchFamily="18" charset="0"/>
              </a:rPr>
              <a:t>ith</a:t>
            </a:r>
            <a:r>
              <a:rPr lang="en-US" sz="2400" dirty="0">
                <a:latin typeface="Times New Roman" panose="02020603050405020304" pitchFamily="18" charset="0"/>
                <a:cs typeface="Times New Roman" panose="02020603050405020304" pitchFamily="18" charset="0"/>
              </a:rPr>
              <a:t> stage, respectively.</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FB63738-A18E-9E54-9009-060BFA3EFC9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543190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7BFB46-0E07-EA27-CD5E-0D3A241FC30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458A0F9A-5E3E-4B38-BC1B-3C594BC0B19E}"/>
              </a:ext>
            </a:extLst>
          </p:cNvPr>
          <p:cNvPicPr>
            <a:picLocks noChangeAspect="1"/>
          </p:cNvPicPr>
          <p:nvPr/>
        </p:nvPicPr>
        <p:blipFill>
          <a:blip r:embed="rId2"/>
          <a:stretch>
            <a:fillRect/>
          </a:stretch>
        </p:blipFill>
        <p:spPr>
          <a:xfrm>
            <a:off x="3219200" y="185964"/>
            <a:ext cx="5753599" cy="5845047"/>
          </a:xfrm>
          <a:prstGeom prst="rect">
            <a:avLst/>
          </a:prstGeom>
        </p:spPr>
      </p:pic>
      <p:sp>
        <p:nvSpPr>
          <p:cNvPr id="6" name="TextBox 5">
            <a:extLst>
              <a:ext uri="{FF2B5EF4-FFF2-40B4-BE49-F238E27FC236}">
                <a16:creationId xmlns:a16="http://schemas.microsoft.com/office/drawing/2014/main" id="{ED5E42AB-DEBE-1EAB-BFE4-D05E14381F95}"/>
              </a:ext>
            </a:extLst>
          </p:cNvPr>
          <p:cNvSpPr txBox="1"/>
          <p:nvPr/>
        </p:nvSpPr>
        <p:spPr>
          <a:xfrm>
            <a:off x="3933335" y="6236398"/>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 Logic schematic of 4-bit carry.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911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2A271A-3CE2-3AAE-6845-1E2A9FB14403}"/>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A15AA6AB-AC06-DA23-4681-103385DBB74E}"/>
              </a:ext>
            </a:extLst>
          </p:cNvPr>
          <p:cNvPicPr>
            <a:picLocks noChangeAspect="1"/>
          </p:cNvPicPr>
          <p:nvPr/>
        </p:nvPicPr>
        <p:blipFill>
          <a:blip r:embed="rId2"/>
          <a:stretch>
            <a:fillRect/>
          </a:stretch>
        </p:blipFill>
        <p:spPr>
          <a:xfrm>
            <a:off x="2487617" y="1986445"/>
            <a:ext cx="7216765" cy="2225233"/>
          </a:xfrm>
          <a:prstGeom prst="rect">
            <a:avLst/>
          </a:prstGeom>
        </p:spPr>
      </p:pic>
    </p:spTree>
    <p:extLst>
      <p:ext uri="{BB962C8B-B14F-4D97-AF65-F5344CB8AC3E}">
        <p14:creationId xmlns:p14="http://schemas.microsoft.com/office/powerpoint/2010/main" val="3242684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8DE8-404A-83EB-245E-9B35707EBD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60FFDE-A19C-841C-2631-0460D6D32224}"/>
              </a:ext>
            </a:extLst>
          </p:cNvPr>
          <p:cNvSpPr>
            <a:spLocks noGrp="1"/>
          </p:cNvSpPr>
          <p:nvPr>
            <p:ph type="ftr" sz="quarter" idx="11"/>
          </p:nvPr>
        </p:nvSpPr>
        <p:spPr/>
        <p:txBody>
          <a:bodyPr/>
          <a:lstStyle/>
          <a:p>
            <a:r>
              <a:rPr lang="en-IN"/>
              <a:t>Dr. Aruru Sai Kumar , VIT-AP</a:t>
            </a:r>
            <a:endParaRPr lang="en-IN" dirty="0"/>
          </a:p>
        </p:txBody>
      </p:sp>
      <p:pic>
        <p:nvPicPr>
          <p:cNvPr id="5" name="Picture 4">
            <a:extLst>
              <a:ext uri="{FF2B5EF4-FFF2-40B4-BE49-F238E27FC236}">
                <a16:creationId xmlns:a16="http://schemas.microsoft.com/office/drawing/2014/main" id="{6555FEA7-5293-2D09-B09A-6AE5224B9F70}"/>
              </a:ext>
            </a:extLst>
          </p:cNvPr>
          <p:cNvPicPr>
            <a:picLocks noChangeAspect="1"/>
          </p:cNvPicPr>
          <p:nvPr/>
        </p:nvPicPr>
        <p:blipFill>
          <a:blip r:embed="rId2"/>
          <a:stretch>
            <a:fillRect/>
          </a:stretch>
        </p:blipFill>
        <p:spPr>
          <a:xfrm>
            <a:off x="2457134" y="1493281"/>
            <a:ext cx="7277731" cy="2796782"/>
          </a:xfrm>
          <a:prstGeom prst="rect">
            <a:avLst/>
          </a:prstGeom>
        </p:spPr>
      </p:pic>
      <p:sp>
        <p:nvSpPr>
          <p:cNvPr id="7" name="TextBox 6">
            <a:extLst>
              <a:ext uri="{FF2B5EF4-FFF2-40B4-BE49-F238E27FC236}">
                <a16:creationId xmlns:a16="http://schemas.microsoft.com/office/drawing/2014/main" id="{96E9880A-B19F-CB9E-C778-8E755FAC29E1}"/>
              </a:ext>
            </a:extLst>
          </p:cNvPr>
          <p:cNvSpPr txBox="1"/>
          <p:nvPr/>
        </p:nvSpPr>
        <p:spPr>
          <a:xfrm>
            <a:off x="3282885" y="4462748"/>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 Block diagram of the 4-bit CLA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596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E5FDA-E49B-8A77-A1FA-E192EB50A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9BF61-4980-095C-94F4-26E2C6182F35}"/>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FCC57360-82D7-2BA6-0D0D-5C0BD86BE496}"/>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 generation requires only two gate delays.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makes the addition of two n-bit operands extremely fast as compared to the RCA.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it costs more gates to implement this logic circuit, because for large values of n, a huge number of gates and very big fan-in gates are required.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to reduce the span of the carry look-ahead, the n-bit operands are divided into equal-sized groups, which are then interconnected by incorporating the concept of RCA. This method inevitably reduces the speed of carry propagation.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8115E8C-F542-C862-BFBF-4DAE70AA63A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920698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FDEC8-2EB7-6474-A74E-427443068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B1E3F-E265-9C50-0BDB-7D3DE17FC61C}"/>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DE6881-3DEB-FDD7-0E68-E44169823F7E}"/>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divided into four 4-bit groups and comprises a combinatorial circuit, namely the look-ahead carry generator.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term </a:t>
                </a:r>
                <a14:m>
                  <m:oMath xmlns:m="http://schemas.openxmlformats.org/officeDocument/2006/math">
                    <m:sSubSup>
                      <m:sSubSupPr>
                        <m:ctrlPr>
                          <a:rPr lang="en-US" sz="2400" i="1" smtClean="0">
                            <a:latin typeface="Cambria Math" panose="02040503050406030204" pitchFamily="18" charset="0"/>
                            <a:cs typeface="Times New Roman" panose="02020603050405020304" pitchFamily="18" charset="0"/>
                          </a:rPr>
                        </m:ctrlPr>
                      </m:sSubSupPr>
                      <m:e>
                        <m:r>
                          <a:rPr lang="en-IN" sz="2400" b="0" i="1" smtClean="0">
                            <a:latin typeface="Cambria Math" panose="02040503050406030204" pitchFamily="18" charset="0"/>
                            <a:cs typeface="Times New Roman" panose="02020603050405020304" pitchFamily="18" charset="0"/>
                          </a:rPr>
                          <m:t>𝐺</m:t>
                        </m:r>
                      </m:e>
                      <m:sub>
                        <m:r>
                          <a:rPr lang="en-IN" sz="2400" b="0" i="1" smtClean="0">
                            <a:latin typeface="Cambria Math" panose="02040503050406030204" pitchFamily="18" charset="0"/>
                            <a:cs typeface="Times New Roman" panose="02020603050405020304" pitchFamily="18" charset="0"/>
                          </a:rPr>
                          <m:t>𝑘</m:t>
                        </m:r>
                      </m:sub>
                      <m:sup>
                        <m:r>
                          <a:rPr lang="en-IN" sz="2400" b="0" i="1" smtClean="0">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denotes the group-generated carry, whereas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IN" sz="2400" b="0" i="1" smtClean="0">
                            <a:latin typeface="Cambria Math" panose="02040503050406030204" pitchFamily="18" charset="0"/>
                            <a:cs typeface="Times New Roman" panose="02020603050405020304" pitchFamily="18" charset="0"/>
                          </a:rPr>
                          <m:t>𝑃</m:t>
                        </m:r>
                      </m:e>
                      <m:sub>
                        <m:r>
                          <a:rPr lang="en-IN" sz="2400" i="1">
                            <a:latin typeface="Cambria Math" panose="02040503050406030204" pitchFamily="18" charset="0"/>
                            <a:cs typeface="Times New Roman" panose="02020603050405020304" pitchFamily="18" charset="0"/>
                          </a:rPr>
                          <m:t>𝑘</m:t>
                        </m:r>
                      </m:sub>
                      <m:sup>
                        <m:r>
                          <a:rPr lang="en-IN" sz="2400" i="1">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denotes the group-propagated carry.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Boolean equations for these carries are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Where k = 3, 7,11,15. </a:t>
                </a:r>
              </a:p>
              <a:p>
                <a:pPr marL="0" indent="0" algn="just">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BDE6881-3DEB-FDD7-0E68-E44169823F7E}"/>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848" t="-930"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5C51AFF-FCA9-48CA-80E4-0FBDFE686750}"/>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A3CC4E25-8D9D-76BB-2316-1FA903BCF55A}"/>
              </a:ext>
            </a:extLst>
          </p:cNvPr>
          <p:cNvPicPr>
            <a:picLocks noChangeAspect="1"/>
          </p:cNvPicPr>
          <p:nvPr/>
        </p:nvPicPr>
        <p:blipFill>
          <a:blip r:embed="rId3"/>
          <a:stretch>
            <a:fillRect/>
          </a:stretch>
        </p:blipFill>
        <p:spPr>
          <a:xfrm>
            <a:off x="2589212" y="4039167"/>
            <a:ext cx="6416596" cy="495343"/>
          </a:xfrm>
          <a:prstGeom prst="rect">
            <a:avLst/>
          </a:prstGeom>
        </p:spPr>
      </p:pic>
      <p:pic>
        <p:nvPicPr>
          <p:cNvPr id="8" name="Picture 7">
            <a:extLst>
              <a:ext uri="{FF2B5EF4-FFF2-40B4-BE49-F238E27FC236}">
                <a16:creationId xmlns:a16="http://schemas.microsoft.com/office/drawing/2014/main" id="{7B8AEF39-6990-8D87-26B6-111BB19BCB67}"/>
              </a:ext>
            </a:extLst>
          </p:cNvPr>
          <p:cNvPicPr>
            <a:picLocks noChangeAspect="1"/>
          </p:cNvPicPr>
          <p:nvPr/>
        </p:nvPicPr>
        <p:blipFill>
          <a:blip r:embed="rId4"/>
          <a:stretch>
            <a:fillRect/>
          </a:stretch>
        </p:blipFill>
        <p:spPr>
          <a:xfrm>
            <a:off x="3998638" y="4759258"/>
            <a:ext cx="3063505" cy="533446"/>
          </a:xfrm>
          <a:prstGeom prst="rect">
            <a:avLst/>
          </a:prstGeom>
        </p:spPr>
      </p:pic>
    </p:spTree>
    <p:extLst>
      <p:ext uri="{BB962C8B-B14F-4D97-AF65-F5344CB8AC3E}">
        <p14:creationId xmlns:p14="http://schemas.microsoft.com/office/powerpoint/2010/main" val="3444100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97303A-13E7-419F-6A01-9FCC02B16C57}"/>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C01F12B1-4885-2743-ED6D-B94E32849251}"/>
              </a:ext>
            </a:extLst>
          </p:cNvPr>
          <p:cNvPicPr>
            <a:picLocks noChangeAspect="1"/>
          </p:cNvPicPr>
          <p:nvPr/>
        </p:nvPicPr>
        <p:blipFill>
          <a:blip r:embed="rId2"/>
          <a:stretch>
            <a:fillRect/>
          </a:stretch>
        </p:blipFill>
        <p:spPr>
          <a:xfrm>
            <a:off x="2198718" y="1027382"/>
            <a:ext cx="8245396" cy="3723727"/>
          </a:xfrm>
          <a:prstGeom prst="rect">
            <a:avLst/>
          </a:prstGeom>
        </p:spPr>
      </p:pic>
      <p:sp>
        <p:nvSpPr>
          <p:cNvPr id="6" name="TextBox 5">
            <a:extLst>
              <a:ext uri="{FF2B5EF4-FFF2-40B4-BE49-F238E27FC236}">
                <a16:creationId xmlns:a16="http://schemas.microsoft.com/office/drawing/2014/main" id="{2E78D3E8-CF4C-DE83-C77C-275C842AB9AC}"/>
              </a:ext>
            </a:extLst>
          </p:cNvPr>
          <p:cNvSpPr txBox="1"/>
          <p:nvPr/>
        </p:nvSpPr>
        <p:spPr>
          <a:xfrm>
            <a:off x="2589212" y="4981222"/>
            <a:ext cx="6948357"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Block diagram of a 16-bit carry look-ahead adder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62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B6CDF-81C3-1B4D-EB70-AC38CC27B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9EE48-5497-5739-EEFA-CAFA1C4B7E4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4AEA8E-6365-4772-CCE1-CA08910C2577}"/>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implementation of these equations is carried out by the look- ahead carry generator, where both terms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IN" sz="2400" i="1">
                            <a:latin typeface="Cambria Math" panose="02040503050406030204" pitchFamily="18" charset="0"/>
                            <a:cs typeface="Times New Roman" panose="02020603050405020304" pitchFamily="18" charset="0"/>
                          </a:rPr>
                          <m:t>𝐺</m:t>
                        </m:r>
                      </m:e>
                      <m:sub>
                        <m:r>
                          <a:rPr lang="en-IN" sz="2400" i="1">
                            <a:latin typeface="Cambria Math" panose="02040503050406030204" pitchFamily="18" charset="0"/>
                            <a:cs typeface="Times New Roman" panose="02020603050405020304" pitchFamily="18" charset="0"/>
                          </a:rPr>
                          <m:t>𝑘</m:t>
                        </m:r>
                      </m:sub>
                      <m:sup>
                        <m:r>
                          <a:rPr lang="en-IN" sz="2400" i="1">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 and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IN" sz="2400" b="0" i="1" smtClean="0">
                            <a:latin typeface="Cambria Math" panose="02040503050406030204" pitchFamily="18" charset="0"/>
                            <a:cs typeface="Times New Roman" panose="02020603050405020304" pitchFamily="18" charset="0"/>
                          </a:rPr>
                          <m:t>𝑃</m:t>
                        </m:r>
                      </m:e>
                      <m:sub>
                        <m:r>
                          <a:rPr lang="en-IN" sz="2400" i="1">
                            <a:latin typeface="Cambria Math" panose="02040503050406030204" pitchFamily="18" charset="0"/>
                            <a:cs typeface="Times New Roman" panose="02020603050405020304" pitchFamily="18" charset="0"/>
                          </a:rPr>
                          <m:t>𝑘</m:t>
                        </m:r>
                      </m:sub>
                      <m:sup>
                        <m:r>
                          <a:rPr lang="en-IN" sz="2400" i="1">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are used to generate the group carry-ins.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outputs of the look-ahead carry generator,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𝐶</m:t>
                        </m:r>
                      </m:e>
                      <m:sub>
                        <m:r>
                          <a:rPr lang="en-IN" sz="2400" b="0" i="1" smtClean="0">
                            <a:latin typeface="Cambria Math" panose="02040503050406030204" pitchFamily="18" charset="0"/>
                            <a:cs typeface="Times New Roman" panose="02020603050405020304" pitchFamily="18" charset="0"/>
                          </a:rPr>
                          <m:t>4</m:t>
                        </m:r>
                      </m:sub>
                    </m:sSub>
                  </m:oMath>
                </a14:m>
                <a:r>
                  <a:rPr lang="en-US" sz="2400" dirty="0">
                    <a:latin typeface="Times New Roman" panose="02020603050405020304" pitchFamily="18" charset="0"/>
                    <a:cs typeface="Times New Roman" panose="02020603050405020304" pitchFamily="18" charset="0"/>
                  </a:rPr>
                  <a:t>,</a:t>
                </a:r>
                <a:r>
                  <a:rPr lang="en-US" sz="2400" dirty="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𝐶</m:t>
                        </m:r>
                      </m:e>
                      <m:sub>
                        <m:r>
                          <a:rPr lang="en-IN" sz="2400" b="0" i="1" smtClean="0">
                            <a:latin typeface="Cambria Math" panose="02040503050406030204" pitchFamily="18" charset="0"/>
                            <a:cs typeface="Times New Roman" panose="02020603050405020304" pitchFamily="18" charset="0"/>
                          </a:rPr>
                          <m:t>8</m:t>
                        </m:r>
                      </m:sub>
                    </m:sSub>
                  </m:oMath>
                </a14:m>
                <a:r>
                  <a:rPr lang="en-US" sz="2400" dirty="0">
                    <a:latin typeface="Times New Roman" panose="02020603050405020304" pitchFamily="18" charset="0"/>
                    <a:cs typeface="Times New Roman" panose="02020603050405020304" pitchFamily="18" charset="0"/>
                  </a:rPr>
                  <a:t> , and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𝐶</m:t>
                        </m:r>
                      </m:e>
                      <m:sub>
                        <m:r>
                          <a:rPr lang="en-IN" sz="2400" b="0" i="1" smtClean="0">
                            <a:latin typeface="Cambria Math" panose="02040503050406030204" pitchFamily="18" charset="0"/>
                            <a:cs typeface="Times New Roman" panose="02020603050405020304" pitchFamily="18" charset="0"/>
                          </a:rPr>
                          <m:t>12</m:t>
                        </m:r>
                      </m:sub>
                    </m:sSub>
                  </m:oMath>
                </a14:m>
                <a:r>
                  <a:rPr lang="en-US" sz="2400" dirty="0">
                    <a:latin typeface="Times New Roman" panose="02020603050405020304" pitchFamily="18" charset="0"/>
                    <a:cs typeface="Times New Roman" panose="02020603050405020304" pitchFamily="18" charset="0"/>
                  </a:rPr>
                  <a:t> serve as inputs to the subsequent groups.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54AEA8E-6365-4772-CCE1-CA08910C2577}"/>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848" t="-930"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E16CF556-663D-7A0E-D07C-65385DB237A8}"/>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B6E538E4-2B7E-BBDD-AE6A-57A174C1A5E8}"/>
              </a:ext>
            </a:extLst>
          </p:cNvPr>
          <p:cNvPicPr>
            <a:picLocks noChangeAspect="1"/>
          </p:cNvPicPr>
          <p:nvPr/>
        </p:nvPicPr>
        <p:blipFill>
          <a:blip r:embed="rId3"/>
          <a:stretch>
            <a:fillRect/>
          </a:stretch>
        </p:blipFill>
        <p:spPr>
          <a:xfrm>
            <a:off x="3669224" y="3521756"/>
            <a:ext cx="1874682" cy="434378"/>
          </a:xfrm>
          <a:prstGeom prst="rect">
            <a:avLst/>
          </a:prstGeom>
        </p:spPr>
      </p:pic>
      <p:pic>
        <p:nvPicPr>
          <p:cNvPr id="8" name="Picture 7">
            <a:extLst>
              <a:ext uri="{FF2B5EF4-FFF2-40B4-BE49-F238E27FC236}">
                <a16:creationId xmlns:a16="http://schemas.microsoft.com/office/drawing/2014/main" id="{C42C4B40-E2DF-68A2-A647-EE5EA0BF9AE1}"/>
              </a:ext>
            </a:extLst>
          </p:cNvPr>
          <p:cNvPicPr>
            <a:picLocks noChangeAspect="1"/>
          </p:cNvPicPr>
          <p:nvPr/>
        </p:nvPicPr>
        <p:blipFill>
          <a:blip r:embed="rId4"/>
          <a:stretch>
            <a:fillRect/>
          </a:stretch>
        </p:blipFill>
        <p:spPr>
          <a:xfrm>
            <a:off x="3128996" y="4173741"/>
            <a:ext cx="3520745" cy="358171"/>
          </a:xfrm>
          <a:prstGeom prst="rect">
            <a:avLst/>
          </a:prstGeom>
        </p:spPr>
      </p:pic>
      <p:pic>
        <p:nvPicPr>
          <p:cNvPr id="10" name="Picture 9">
            <a:extLst>
              <a:ext uri="{FF2B5EF4-FFF2-40B4-BE49-F238E27FC236}">
                <a16:creationId xmlns:a16="http://schemas.microsoft.com/office/drawing/2014/main" id="{4F352982-C142-5A5F-9378-6B9662A3396D}"/>
              </a:ext>
            </a:extLst>
          </p:cNvPr>
          <p:cNvPicPr>
            <a:picLocks noChangeAspect="1"/>
          </p:cNvPicPr>
          <p:nvPr/>
        </p:nvPicPr>
        <p:blipFill>
          <a:blip r:embed="rId5"/>
          <a:stretch>
            <a:fillRect/>
          </a:stretch>
        </p:blipFill>
        <p:spPr>
          <a:xfrm>
            <a:off x="2812240" y="4803723"/>
            <a:ext cx="5700254" cy="441998"/>
          </a:xfrm>
          <a:prstGeom prst="rect">
            <a:avLst/>
          </a:prstGeom>
        </p:spPr>
      </p:pic>
    </p:spTree>
    <p:extLst>
      <p:ext uri="{BB962C8B-B14F-4D97-AF65-F5344CB8AC3E}">
        <p14:creationId xmlns:p14="http://schemas.microsoft.com/office/powerpoint/2010/main" val="2588396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3B4A3-DF4A-83AA-8051-2CB03E7A9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56197-0543-9D8C-7B34-CE17679BF34A}"/>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E6C9D-70BC-49C3-C9B9-D4484715CFE2}"/>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Look-Ahead Adders (CLA)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operation of the 16-bit CLA has four steps. First, all the groups produce bit-generate-carry, G</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and bit-propagate-carry, P</a:t>
                </a:r>
                <a:r>
                  <a:rPr lang="en-US" sz="2400" baseline="-25000" dirty="0">
                    <a:latin typeface="Times New Roman" panose="02020603050405020304" pitchFamily="18" charset="0"/>
                    <a:cs typeface="Times New Roman" panose="02020603050405020304" pitchFamily="18" charset="0"/>
                  </a:rPr>
                  <a:t>i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Second, each group produces group-generate-carry,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IN" sz="2400" i="1">
                            <a:latin typeface="Cambria Math" panose="02040503050406030204" pitchFamily="18" charset="0"/>
                            <a:cs typeface="Times New Roman" panose="02020603050405020304" pitchFamily="18" charset="0"/>
                          </a:rPr>
                          <m:t>𝐺</m:t>
                        </m:r>
                      </m:e>
                      <m:sub>
                        <m:r>
                          <a:rPr lang="en-IN" sz="2400" i="1">
                            <a:latin typeface="Cambria Math" panose="02040503050406030204" pitchFamily="18" charset="0"/>
                            <a:cs typeface="Times New Roman" panose="02020603050405020304" pitchFamily="18" charset="0"/>
                          </a:rPr>
                          <m:t>𝑘</m:t>
                        </m:r>
                      </m:sub>
                      <m:sup>
                        <m:r>
                          <a:rPr lang="en-IN" sz="2400" i="1">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and group-propagate-carry,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IN" sz="2400" b="0" i="1" smtClean="0">
                            <a:latin typeface="Cambria Math" panose="02040503050406030204" pitchFamily="18" charset="0"/>
                            <a:cs typeface="Times New Roman" panose="02020603050405020304" pitchFamily="18" charset="0"/>
                          </a:rPr>
                          <m:t>𝑃</m:t>
                        </m:r>
                      </m:e>
                      <m:sub>
                        <m:r>
                          <a:rPr lang="en-IN" sz="2400" i="1">
                            <a:latin typeface="Cambria Math" panose="02040503050406030204" pitchFamily="18" charset="0"/>
                            <a:cs typeface="Times New Roman" panose="02020603050405020304" pitchFamily="18" charset="0"/>
                          </a:rPr>
                          <m:t>𝑘</m:t>
                        </m:r>
                      </m:sub>
                      <m:sup>
                        <m:r>
                          <a:rPr lang="en-IN" sz="2400" i="1">
                            <a:latin typeface="Cambria Math" panose="02040503050406030204" pitchFamily="18" charset="0"/>
                            <a:cs typeface="Times New Roman" panose="02020603050405020304" pitchFamily="18" charset="0"/>
                          </a:rPr>
                          <m:t>∗</m:t>
                        </m:r>
                      </m:sup>
                    </m:sSubSup>
                  </m:oMath>
                </a14:m>
                <a:r>
                  <a:rPr lang="en-US" sz="2400" dirty="0">
                    <a:latin typeface="Times New Roman" panose="02020603050405020304" pitchFamily="18" charset="0"/>
                    <a:cs typeface="Times New Roman" panose="02020603050405020304" pitchFamily="18" charset="0"/>
                  </a:rPr>
                  <a:t> , which are generated in parallel.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Next, the carry look-ahead generator produces the group carries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𝐶</m:t>
                        </m:r>
                      </m:e>
                      <m:sub>
                        <m:r>
                          <a:rPr lang="en-IN" sz="2400" i="1">
                            <a:latin typeface="Cambria Math" panose="02040503050406030204" pitchFamily="18" charset="0"/>
                            <a:cs typeface="Times New Roman" panose="02020603050405020304" pitchFamily="18" charset="0"/>
                          </a:rPr>
                          <m:t>4</m:t>
                        </m:r>
                      </m:sub>
                    </m:sSub>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𝐶</m:t>
                        </m:r>
                      </m:e>
                      <m:sub>
                        <m:r>
                          <a:rPr lang="en-IN" sz="2400" i="1">
                            <a:latin typeface="Cambria Math" panose="02040503050406030204" pitchFamily="18" charset="0"/>
                            <a:cs typeface="Times New Roman" panose="02020603050405020304" pitchFamily="18" charset="0"/>
                          </a:rPr>
                          <m:t>8</m:t>
                        </m:r>
                      </m:sub>
                    </m:sSub>
                  </m:oMath>
                </a14:m>
                <a:r>
                  <a:rPr lang="en-US" sz="2400" dirty="0">
                    <a:latin typeface="Times New Roman" panose="02020603050405020304" pitchFamily="18" charset="0"/>
                    <a:cs typeface="Times New Roman" panose="02020603050405020304" pitchFamily="18" charset="0"/>
                  </a:rPr>
                  <a:t> , and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𝐶</m:t>
                        </m:r>
                      </m:e>
                      <m:sub>
                        <m:r>
                          <a:rPr lang="en-IN" sz="2400" i="1">
                            <a:latin typeface="Cambria Math" panose="02040503050406030204" pitchFamily="18" charset="0"/>
                            <a:cs typeface="Times New Roman" panose="02020603050405020304" pitchFamily="18" charset="0"/>
                          </a:rPr>
                          <m:t>12</m:t>
                        </m:r>
                      </m:sub>
                    </m:sSub>
                  </m:oMath>
                </a14:m>
                <a:r>
                  <a:rPr lang="en-US" sz="2400" dirty="0">
                    <a:latin typeface="Times New Roman" panose="02020603050405020304" pitchFamily="18" charset="0"/>
                    <a:cs typeface="Times New Roman" panose="02020603050405020304" pitchFamily="18" charset="0"/>
                  </a:rPr>
                  <a:t>, which are fed directly to Group 1, Group 2 and Group 3, respectively.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Lastly, all four groups generate their individual internal carries and then the sum bits.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section-carry generate, G**, and section-carry propagate, P**, are also computed.</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3EE6C9D-70BC-49C3-C9B9-D4484715CFE2}"/>
                  </a:ext>
                </a:extLst>
              </p:cNvPr>
              <p:cNvSpPr>
                <a:spLocks noGrp="1" noRot="1" noChangeAspect="1" noMove="1" noResize="1" noEditPoints="1" noAdjustHandles="1" noChangeArrowheads="1" noChangeShapeType="1" noTextEdit="1"/>
              </p:cNvSpPr>
              <p:nvPr>
                <p:ph idx="1"/>
              </p:nvPr>
            </p:nvSpPr>
            <p:spPr>
              <a:xfrm>
                <a:off x="1055803" y="1253765"/>
                <a:ext cx="10774836" cy="5247168"/>
              </a:xfrm>
              <a:blipFill>
                <a:blip r:embed="rId2"/>
                <a:stretch>
                  <a:fillRect l="-848" t="-930"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0CA893A3-1C9C-D6EC-5A73-06A6621FD67F}"/>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504683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E051E-C9DE-1682-5D2F-F12271B86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452EE-8C68-3883-3BC1-D0E236FC3FFC}"/>
              </a:ext>
            </a:extLst>
          </p:cNvPr>
          <p:cNvSpPr>
            <a:spLocks noGrp="1"/>
          </p:cNvSpPr>
          <p:nvPr>
            <p:ph type="title"/>
          </p:nvPr>
        </p:nvSpPr>
        <p:spPr>
          <a:xfrm>
            <a:off x="1977950" y="231621"/>
            <a:ext cx="8911687" cy="513097"/>
          </a:xfrm>
        </p:spPr>
        <p:txBody>
          <a:bodyPr>
            <a:normAutofit fontScale="90000"/>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CF7095BD-06F5-0E3E-3247-5FE48CE45591}"/>
              </a:ext>
            </a:extLst>
          </p:cNvPr>
          <p:cNvSpPr>
            <a:spLocks noGrp="1"/>
          </p:cNvSpPr>
          <p:nvPr>
            <p:ph idx="1"/>
          </p:nvPr>
        </p:nvSpPr>
        <p:spPr>
          <a:xfrm>
            <a:off x="1055803" y="895546"/>
            <a:ext cx="10774836" cy="560538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Carry Look Ahead Adder:</a:t>
            </a:r>
          </a:p>
          <a:p>
            <a:pPr marL="0" indent="0" algn="just">
              <a:buNone/>
            </a:pPr>
            <a:r>
              <a:rPr lang="en-US" sz="2400" b="1" dirty="0">
                <a:latin typeface="Times New Roman" panose="02020603050405020304" pitchFamily="18" charset="0"/>
                <a:cs typeface="Times New Roman" panose="02020603050405020304" pitchFamily="18" charset="0"/>
              </a:rPr>
              <a:t>High Speed Operation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main advantage of a Carry Look Ahead Adder is its very fast addition speed. Unlike the Ripple Carry Adder, it does not wait for the carry to propagate through each stage. Instead, it calculates carries in advance using generate and propagate signals.</a:t>
            </a:r>
          </a:p>
          <a:p>
            <a:pPr marL="0" indent="0" algn="just">
              <a:buNone/>
            </a:pPr>
            <a:r>
              <a:rPr lang="en-US" sz="2400" b="1" dirty="0">
                <a:latin typeface="Times New Roman" panose="02020603050405020304" pitchFamily="18" charset="0"/>
                <a:cs typeface="Times New Roman" panose="02020603050405020304" pitchFamily="18" charset="0"/>
              </a:rPr>
              <a:t>Reduced Propagation Delay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CLA significantly reduces the carry propagation delay because all carry signals are computed simultaneously using combinational logic. This improves the overall performance of the adder.</a:t>
            </a:r>
          </a:p>
          <a:p>
            <a:pPr marL="0" indent="0" algn="just">
              <a:buNone/>
            </a:pPr>
            <a:r>
              <a:rPr lang="en-US" sz="2400" b="1" dirty="0">
                <a:latin typeface="Times New Roman" panose="02020603050405020304" pitchFamily="18" charset="0"/>
                <a:cs typeface="Times New Roman" panose="02020603050405020304" pitchFamily="18" charset="0"/>
              </a:rPr>
              <a:t>Suitable for Large Bit Adders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Carry Look Ahead Adders are more efficient for large bit-width additions (16-bit, 32-bit, 64-bit, etc.) where ripple carry delay becomes very large</a:t>
            </a:r>
            <a:r>
              <a:rPr lang="en-US" sz="2200" dirty="0"/>
              <a:t>.</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BE0D458-B2E1-A3DD-43FB-F72A07990292}"/>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240527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5047-CF69-7B09-A172-FB0B8460E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9204A-CC86-FDAF-ACC5-D1A33234A188}"/>
              </a:ext>
            </a:extLst>
          </p:cNvPr>
          <p:cNvSpPr>
            <a:spLocks noGrp="1"/>
          </p:cNvSpPr>
          <p:nvPr>
            <p:ph type="title"/>
          </p:nvPr>
        </p:nvSpPr>
        <p:spPr>
          <a:xfrm>
            <a:off x="1977950" y="231621"/>
            <a:ext cx="8911687" cy="513097"/>
          </a:xfrm>
        </p:spPr>
        <p:txBody>
          <a:bodyPr>
            <a:normAutofit fontScale="90000"/>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AFE78221-6604-854A-43AF-D2914C546D9C}"/>
              </a:ext>
            </a:extLst>
          </p:cNvPr>
          <p:cNvSpPr>
            <a:spLocks noGrp="1"/>
          </p:cNvSpPr>
          <p:nvPr>
            <p:ph idx="1"/>
          </p:nvPr>
        </p:nvSpPr>
        <p:spPr>
          <a:xfrm>
            <a:off x="1055803" y="895546"/>
            <a:ext cx="10774836" cy="560538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Carry Look Ahead Adder:</a:t>
            </a:r>
          </a:p>
          <a:p>
            <a:pPr marL="0" indent="0" algn="just">
              <a:buNone/>
            </a:pPr>
            <a:r>
              <a:rPr lang="en-US" sz="2400" b="1" dirty="0">
                <a:latin typeface="Times New Roman" panose="02020603050405020304" pitchFamily="18" charset="0"/>
                <a:cs typeface="Times New Roman" panose="02020603050405020304" pitchFamily="18" charset="0"/>
              </a:rPr>
              <a:t>Improved System Performance</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 addition is a fundamental operation in processors, using CLA improves the overall speed of ALUs and arithmetic circuits in digital systems.</a:t>
            </a:r>
          </a:p>
          <a:p>
            <a:pPr marL="0" indent="0" algn="just">
              <a:buNone/>
            </a:pPr>
            <a:r>
              <a:rPr lang="en-US" sz="2400" b="1" dirty="0">
                <a:latin typeface="Times New Roman" panose="02020603050405020304" pitchFamily="18" charset="0"/>
                <a:cs typeface="Times New Roman" panose="02020603050405020304" pitchFamily="18" charset="0"/>
              </a:rPr>
              <a:t>Parallel Carry Computation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 signals are generated in parallel rather than sequentially, which allows faster computation compared to Ripple Carry Adders.</a:t>
            </a:r>
          </a:p>
          <a:p>
            <a:pPr marL="0" indent="0" algn="just">
              <a:buNone/>
            </a:pPr>
            <a:r>
              <a:rPr lang="en-US" sz="2400" b="1" dirty="0">
                <a:latin typeface="Times New Roman" panose="02020603050405020304" pitchFamily="18" charset="0"/>
                <a:cs typeface="Times New Roman" panose="02020603050405020304" pitchFamily="18" charset="0"/>
              </a:rPr>
              <a:t>Better Scalability for High-Speed Systems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CLA structures can be extended using hierarchical carry look-ahead units, making them suitable for high-performance VLSI systems and microprocessors.</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37177E5-5DC4-D176-6EBD-DD36FFE2E93F}"/>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15408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22B9D-FA27-AC70-8339-999F9A2E2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251C5-33E8-F77D-629C-10616E5C0E2E}"/>
              </a:ext>
            </a:extLst>
          </p:cNvPr>
          <p:cNvSpPr>
            <a:spLocks noGrp="1"/>
          </p:cNvSpPr>
          <p:nvPr>
            <p:ph type="title"/>
          </p:nvPr>
        </p:nvSpPr>
        <p:spPr>
          <a:xfrm>
            <a:off x="1977950" y="231621"/>
            <a:ext cx="8911687" cy="513097"/>
          </a:xfrm>
        </p:spPr>
        <p:txBody>
          <a:bodyPr>
            <a:normAutofit fontScale="90000"/>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C018B90F-8AA3-BDA1-F8C0-A16CBF34089C}"/>
              </a:ext>
            </a:extLst>
          </p:cNvPr>
          <p:cNvSpPr>
            <a:spLocks noGrp="1"/>
          </p:cNvSpPr>
          <p:nvPr>
            <p:ph idx="1"/>
          </p:nvPr>
        </p:nvSpPr>
        <p:spPr>
          <a:xfrm>
            <a:off x="1055803" y="895546"/>
            <a:ext cx="10774836" cy="560538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Carry Look Ahead Adder:</a:t>
            </a:r>
          </a:p>
          <a:p>
            <a:pPr marL="0" indent="0" algn="just">
              <a:buNone/>
            </a:pPr>
            <a:r>
              <a:rPr lang="en-US" sz="2400" b="1" dirty="0">
                <a:latin typeface="Times New Roman" panose="02020603050405020304" pitchFamily="18" charset="0"/>
                <a:cs typeface="Times New Roman" panose="02020603050405020304" pitchFamily="18" charset="0"/>
              </a:rPr>
              <a:t>Complex Circuit Design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logic required to generate and propagate carries is more complicated than in a Ripple Carry Adder. This makes the overall circuit more complex to design and implement.</a:t>
            </a:r>
          </a:p>
          <a:p>
            <a:pPr marL="0" indent="0" algn="just">
              <a:buNone/>
            </a:pPr>
            <a:r>
              <a:rPr lang="en-US" sz="2400" b="1" dirty="0">
                <a:latin typeface="Times New Roman" panose="02020603050405020304" pitchFamily="18" charset="0"/>
                <a:cs typeface="Times New Roman" panose="02020603050405020304" pitchFamily="18" charset="0"/>
              </a:rPr>
              <a:t>Large Hardware Requirement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CLA requires additional generate (G) and propagate (P) logic circuits and carry computation blocks, which increases the number of logic gates used.</a:t>
            </a:r>
          </a:p>
          <a:p>
            <a:pPr marL="0" indent="0" algn="just">
              <a:buNone/>
            </a:pPr>
            <a:r>
              <a:rPr lang="en-US" sz="2400" b="1" dirty="0">
                <a:latin typeface="Times New Roman" panose="02020603050405020304" pitchFamily="18" charset="0"/>
                <a:cs typeface="Times New Roman" panose="02020603050405020304" pitchFamily="18" charset="0"/>
              </a:rPr>
              <a:t>Higher Power Consumption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the increased number of gates and more complex logic, the power consumption is higher compared to simpler adders like Ripple Carry Adders.</a:t>
            </a:r>
          </a:p>
          <a:p>
            <a:pPr marL="0" indent="0" algn="just">
              <a:buNone/>
            </a:pP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7ACEA8F-2B71-35FA-F71F-EB5B5CFA82F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216700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0B18-7155-29E1-ED35-3B4E0779A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4C10E-0920-DB42-63C1-1BBE85E54361}"/>
              </a:ext>
            </a:extLst>
          </p:cNvPr>
          <p:cNvSpPr>
            <a:spLocks noGrp="1"/>
          </p:cNvSpPr>
          <p:nvPr>
            <p:ph type="title"/>
          </p:nvPr>
        </p:nvSpPr>
        <p:spPr>
          <a:xfrm>
            <a:off x="1977950" y="231621"/>
            <a:ext cx="8911687" cy="513097"/>
          </a:xfrm>
        </p:spPr>
        <p:txBody>
          <a:bodyPr>
            <a:normAutofit fontScale="90000"/>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9A553E85-0C0A-F028-2932-BB39EF5B7895}"/>
              </a:ext>
            </a:extLst>
          </p:cNvPr>
          <p:cNvSpPr>
            <a:spLocks noGrp="1"/>
          </p:cNvSpPr>
          <p:nvPr>
            <p:ph idx="1"/>
          </p:nvPr>
        </p:nvSpPr>
        <p:spPr>
          <a:xfrm>
            <a:off x="1055803" y="895546"/>
            <a:ext cx="10774836" cy="560538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Carry Look Ahead Adder:</a:t>
            </a:r>
          </a:p>
          <a:p>
            <a:pPr marL="0" indent="0" algn="just">
              <a:buNone/>
            </a:pPr>
            <a:r>
              <a:rPr lang="en-US" sz="2400" b="1" dirty="0">
                <a:latin typeface="Times New Roman" panose="02020603050405020304" pitchFamily="18" charset="0"/>
                <a:cs typeface="Times New Roman" panose="02020603050405020304" pitchFamily="18" charset="0"/>
              </a:rPr>
              <a:t>Larger Area Requirement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additional logic for carry look-ahead computation increases the silicon area in VLSI implementations.</a:t>
            </a:r>
          </a:p>
          <a:p>
            <a:pPr marL="0" indent="0" algn="just">
              <a:buNone/>
            </a:pPr>
            <a:r>
              <a:rPr lang="en-US" sz="2400" b="1" dirty="0">
                <a:latin typeface="Times New Roman" panose="02020603050405020304" pitchFamily="18" charset="0"/>
                <a:cs typeface="Times New Roman" panose="02020603050405020304" pitchFamily="18" charset="0"/>
              </a:rPr>
              <a:t>Not Efficient for Very Large Bit Widths Without Hierarchy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very large adders (32-bit, 64-bit, etc.), the carry look-ahead logic becomes extremely complex. Therefore, hierarchical structures or multi-level CLA designs are required.</a:t>
            </a:r>
          </a:p>
          <a:p>
            <a:pPr marL="0" indent="0" algn="just">
              <a:buNone/>
            </a:pPr>
            <a:r>
              <a:rPr lang="en-US" sz="2400" b="1" dirty="0">
                <a:latin typeface="Times New Roman" panose="02020603050405020304" pitchFamily="18" charset="0"/>
                <a:cs typeface="Times New Roman" panose="02020603050405020304" pitchFamily="18" charset="0"/>
              </a:rPr>
              <a:t>Wiring Complexity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carry signals must be distributed to multiple stages simultaneously, which leads to complex interconnections and routing difficulties in VLSI layouts.</a:t>
            </a:r>
          </a:p>
          <a:p>
            <a:pPr lvl="1" algn="just">
              <a:buFont typeface="Arial" panose="020B0604020202020204" pitchFamily="34" charset="0"/>
              <a:buChar char="•"/>
            </a:pPr>
            <a:endParaRPr lang="en-US" sz="22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CAE0FA6-CE72-1C10-F510-CEA8CC67163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90824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18CD0-8979-0CC9-0D98-142800B73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B75ED-5990-122D-2080-B2A00778CFE4}"/>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A92BA519-9A9D-DFEE-E273-A1EE05F96806}"/>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3. Carry Select Adders (CSL)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 Select Adder (CSL provides a substantial compromise between the RCA, which occupies a small area and has a longer delay, and the CLA, which occupies a larger area and has a shorter delay.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CSL, both the n-bit operands, A</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B</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are divided into k blocks of possibly different sizes.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8 bit implementation , the first block with C</a:t>
            </a:r>
            <a:r>
              <a:rPr lang="en-US" sz="2400" baseline="-25000" dirty="0">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 C</a:t>
            </a:r>
            <a:r>
              <a:rPr lang="en-US" sz="2400" baseline="-25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 is implemented by a 4-bit adder, typically the RCA, while the second block is evaluated</a:t>
            </a:r>
            <a:r>
              <a:rPr lang="en-IN"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conditionally with a pair of adders, thus permitting two additions to be executed in parallel.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addition assumes that the carry-in (C</a:t>
            </a:r>
            <a:r>
              <a:rPr lang="en-US" sz="2400" baseline="-25000" dirty="0">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is zero while the other addition assumes that the C</a:t>
            </a:r>
            <a:r>
              <a:rPr lang="en-US" sz="2400" baseline="-25000" dirty="0">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is one.</a:t>
            </a:r>
            <a:endParaRPr lang="en-IN" sz="24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0610B62-D05E-C35C-FFB4-49454360FE0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09928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4E68-0638-F389-6DC5-33D8B60AE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5A263-1CD4-1D30-2DF7-1230127D70CB}"/>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0C4C5805-DB4C-91B2-9AD2-2ED344F150CA}"/>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Carry Select Adders (CSL)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Accordingly, two sums and two carry-outs get generated. In order to select the correct set of sum bits (S</a:t>
            </a:r>
            <a:r>
              <a:rPr lang="en-US" sz="2400" baseline="-25000" dirty="0">
                <a:latin typeface="Times New Roman" panose="02020603050405020304" pitchFamily="18" charset="0"/>
                <a:cs typeface="Times New Roman" panose="02020603050405020304" pitchFamily="18" charset="0"/>
              </a:rPr>
              <a:t>4-7</a:t>
            </a:r>
            <a:r>
              <a:rPr lang="en-US" sz="2400" dirty="0">
                <a:latin typeface="Times New Roman" panose="02020603050405020304" pitchFamily="18" charset="0"/>
                <a:cs typeface="Times New Roman" panose="02020603050405020304" pitchFamily="18" charset="0"/>
              </a:rPr>
              <a:t>) and the carry-in for the next block (C</a:t>
            </a:r>
            <a:r>
              <a:rPr lang="en-US" sz="2400" baseline="-25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from the respective multiplexers, a control signal, C</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which is computed from the preceding block is required.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additional cost of the CSL over the RCA is the duplicate carry chain and the select logic</a:t>
            </a: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450EDB5-3ECD-4B39-02E4-EC1E913EA19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492299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B65174-2047-E96C-801A-D2D0960B5D4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7A3852FB-02E6-A4E6-6FCD-D6D9723D453B}"/>
              </a:ext>
            </a:extLst>
          </p:cNvPr>
          <p:cNvPicPr>
            <a:picLocks noChangeAspect="1"/>
          </p:cNvPicPr>
          <p:nvPr/>
        </p:nvPicPr>
        <p:blipFill>
          <a:blip r:embed="rId2"/>
          <a:stretch>
            <a:fillRect/>
          </a:stretch>
        </p:blipFill>
        <p:spPr>
          <a:xfrm>
            <a:off x="1967797" y="663642"/>
            <a:ext cx="8862828" cy="4625741"/>
          </a:xfrm>
          <a:prstGeom prst="rect">
            <a:avLst/>
          </a:prstGeom>
        </p:spPr>
      </p:pic>
      <p:sp>
        <p:nvSpPr>
          <p:cNvPr id="6" name="TextBox 5">
            <a:extLst>
              <a:ext uri="{FF2B5EF4-FFF2-40B4-BE49-F238E27FC236}">
                <a16:creationId xmlns:a16="http://schemas.microsoft.com/office/drawing/2014/main" id="{3891B442-8A43-0243-7B35-7954EC73C8A3}"/>
              </a:ext>
            </a:extLst>
          </p:cNvPr>
          <p:cNvSpPr txBox="1"/>
          <p:nvPr/>
        </p:nvSpPr>
        <p:spPr>
          <a:xfrm>
            <a:off x="3351997" y="5433661"/>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 An 8-bit architecture of CSL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780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2A815-CD6D-2113-8251-DFD718CEF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5F70A-8418-BD38-B45B-C535341E47E7}"/>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231F35E9-890F-105D-26C9-FEDF7B449AF4}"/>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Carry Select Adders (CSL) </a:t>
            </a:r>
          </a:p>
          <a:p>
            <a:pPr marL="0" indent="0" algn="just">
              <a:buNone/>
            </a:pPr>
            <a:r>
              <a:rPr lang="en-US" sz="2400" b="1" dirty="0">
                <a:latin typeface="Times New Roman" panose="02020603050405020304" pitchFamily="18" charset="0"/>
                <a:cs typeface="Times New Roman" panose="02020603050405020304" pitchFamily="18" charset="0"/>
              </a:rPr>
              <a:t>High Speed Operation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Carry Select Adder is faster than the Ripple Carry Adder because it reduces carry propagation delay by computing the sum for both possible carry inputs (0 and 1) simultaneously.</a:t>
            </a:r>
          </a:p>
          <a:p>
            <a:pPr marL="0" indent="0" algn="just">
              <a:buNone/>
            </a:pPr>
            <a:r>
              <a:rPr lang="en-US" sz="2400" b="1" dirty="0">
                <a:latin typeface="Times New Roman" panose="02020603050405020304" pitchFamily="18" charset="0"/>
                <a:cs typeface="Times New Roman" panose="02020603050405020304" pitchFamily="18" charset="0"/>
              </a:rPr>
              <a:t>Reduced Carry Delay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Instead of waiting for the carry from the previous stage, CSLA precomputes two possible results and selects the correct one using a multiplexer. This significantly reduces the overall delay.</a:t>
            </a:r>
          </a:p>
          <a:p>
            <a:pPr marL="0" indent="0" algn="just">
              <a:buNone/>
            </a:pPr>
            <a:r>
              <a:rPr lang="en-US" sz="2400" b="1" dirty="0">
                <a:latin typeface="Times New Roman" panose="02020603050405020304" pitchFamily="18" charset="0"/>
                <a:cs typeface="Times New Roman" panose="02020603050405020304" pitchFamily="18" charset="0"/>
              </a:rPr>
              <a:t>Suitable for Medium to Large Bit Adders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CSLA is efficient for 16-bit, 32-bit, and larger adders, where Ripple Carry Adders become too slow.</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801C341-904F-4716-956F-5EB8B6F7B0A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48275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F2731-1F34-B9D8-EB86-1E390A0AA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63152-9203-8BC7-83FA-D821BACB6115}"/>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634A9318-4005-C96D-F5D5-83D6E0B88FC5}"/>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 of Carry Select Adders (CSL) </a:t>
            </a:r>
          </a:p>
          <a:p>
            <a:pPr marL="0" indent="0" algn="just">
              <a:buNone/>
            </a:pPr>
            <a:r>
              <a:rPr lang="en-US" sz="2400" b="1" dirty="0">
                <a:latin typeface="Times New Roman" panose="02020603050405020304" pitchFamily="18" charset="0"/>
                <a:cs typeface="Times New Roman" panose="02020603050405020304" pitchFamily="18" charset="0"/>
              </a:rPr>
              <a:t>Improved Performance Compared to RCA</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part of the computation is done in parallel, the addition speed is much higher than Ripple Carry Adder.</a:t>
            </a:r>
          </a:p>
          <a:p>
            <a:pPr marL="0" indent="0" algn="just">
              <a:buNone/>
            </a:pPr>
            <a:r>
              <a:rPr lang="en-US" sz="2400" b="1" dirty="0">
                <a:latin typeface="Times New Roman" panose="02020603050405020304" pitchFamily="18" charset="0"/>
                <a:cs typeface="Times New Roman" panose="02020603050405020304" pitchFamily="18" charset="0"/>
              </a:rPr>
              <a:t>Relatively Simple Compared to CLA</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structure of CSLA is simpler than Carry Look Ahead Adder, making it easier to design than CLA while still offering good speed improvement.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E5792FE-A780-C4B7-AB13-B0BFEFEA2F0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5184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AF255-D52B-8E36-2A06-149DABAEA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1DDA9-539A-98FC-367A-01348A3A82E8}"/>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13394970-CBF2-67D8-7B6C-F8A9EFDCEBEA}"/>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Carry Select Adders (CSL) </a:t>
            </a:r>
          </a:p>
          <a:p>
            <a:pPr marL="0" indent="0" algn="just">
              <a:buNone/>
            </a:pPr>
            <a:r>
              <a:rPr lang="en-US" sz="2400" b="1" dirty="0">
                <a:latin typeface="Times New Roman" panose="02020603050405020304" pitchFamily="18" charset="0"/>
                <a:cs typeface="Times New Roman" panose="02020603050405020304" pitchFamily="18" charset="0"/>
              </a:rPr>
              <a:t>Large Hardware Requirement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CSLA uses two Ripple Carry Adders for each block (one assuming carry = 0 and another assuming carry = 1), which increases the number of required gates.</a:t>
            </a:r>
          </a:p>
          <a:p>
            <a:pPr marL="0" indent="0" algn="just">
              <a:buNone/>
            </a:pPr>
            <a:r>
              <a:rPr lang="en-US" sz="2400" b="1" dirty="0">
                <a:latin typeface="Times New Roman" panose="02020603050405020304" pitchFamily="18" charset="0"/>
                <a:cs typeface="Times New Roman" panose="02020603050405020304" pitchFamily="18" charset="0"/>
              </a:rPr>
              <a:t>Higher Area Consumption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duplicate adders and multiplexers, the circuit occupies more silicon area in VLSI implementations.</a:t>
            </a:r>
          </a:p>
          <a:p>
            <a:pPr marL="0" indent="0" algn="just">
              <a:buNone/>
            </a:pPr>
            <a:r>
              <a:rPr lang="en-US" sz="2400" b="1" dirty="0">
                <a:latin typeface="Times New Roman" panose="02020603050405020304" pitchFamily="18" charset="0"/>
                <a:cs typeface="Times New Roman" panose="02020603050405020304" pitchFamily="18" charset="0"/>
              </a:rPr>
              <a:t>Higher Power Consumption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Since two addition operations are performed simultaneously, more switching activity occurs, leading to higher power consumption.</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D6FB63-DFD8-5780-86BF-4F07D1F7E44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892154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BCE1D-FE31-E532-AC81-5B83B71C9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2DFD6-A17E-5B9C-2558-29C4F644403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D77B86F8-E469-EE47-8D38-38AD296FC9AC}"/>
              </a:ext>
            </a:extLst>
          </p:cNvPr>
          <p:cNvSpPr>
            <a:spLocks noGrp="1"/>
          </p:cNvSpPr>
          <p:nvPr>
            <p:ph idx="1"/>
          </p:nvPr>
        </p:nvSpPr>
        <p:spPr>
          <a:xfrm>
            <a:off x="1055803" y="1253765"/>
            <a:ext cx="10774836" cy="5247168"/>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 of Carry Select Adders (CSL) </a:t>
            </a:r>
          </a:p>
          <a:p>
            <a:pPr marL="0" indent="0" algn="just">
              <a:buNone/>
            </a:pPr>
            <a:r>
              <a:rPr lang="en-US" sz="2400" b="1" dirty="0">
                <a:latin typeface="Times New Roman" panose="02020603050405020304" pitchFamily="18" charset="0"/>
                <a:cs typeface="Times New Roman" panose="02020603050405020304" pitchFamily="18" charset="0"/>
              </a:rPr>
              <a:t>Not the Fastest Adder</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Although it is faster than RCA, it is still slower than Carry Look Ahead Adders and some advanced adders used in high-performance processors.</a:t>
            </a:r>
          </a:p>
          <a:p>
            <a:pPr marL="0" indent="0" algn="just">
              <a:buNone/>
            </a:pPr>
            <a:r>
              <a:rPr lang="en-US" sz="2400" b="1" dirty="0">
                <a:latin typeface="Times New Roman" panose="02020603050405020304" pitchFamily="18" charset="0"/>
                <a:cs typeface="Times New Roman" panose="02020603050405020304" pitchFamily="18" charset="0"/>
              </a:rPr>
              <a:t>Multiplexer Delay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final output still depends on multiplexer selection, which introduces additional delay.</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27C2312-2B9A-1D48-DA34-F3CCD8BA21A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3568802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984E-7B7A-8E17-91E7-9E0ECEBD7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8C216-F0D2-7A7A-BCE4-389586535DAA}"/>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98B89936-BBEB-A62E-742F-CC94CC7EE1BF}"/>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Hybrid Carry Look-Ahead/Carry-Select Adder (Hybrid CLA/CSL):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Hybrid adders, which refer to the elementary combinations of two or more “pure” design methods, aim to reduce power dissipation, improve cost- effectiveness, and achieve other performance enhancements as well.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example of a hybrid adder that is widely used combines the CLA and CSL and is named the hybrid CLA/CSL.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S</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C</a:t>
            </a:r>
            <a:r>
              <a:rPr lang="en-US" sz="2400" baseline="-25000" dirty="0">
                <a:latin typeface="Times New Roman" panose="02020603050405020304" pitchFamily="18" charset="0"/>
                <a:cs typeface="Times New Roman" panose="02020603050405020304" pitchFamily="18" charset="0"/>
              </a:rPr>
              <a:t>i+1</a:t>
            </a:r>
            <a:r>
              <a:rPr lang="en-US" sz="2400" dirty="0">
                <a:latin typeface="Times New Roman" panose="02020603050405020304" pitchFamily="18" charset="0"/>
                <a:cs typeface="Times New Roman" panose="02020603050405020304" pitchFamily="18" charset="0"/>
              </a:rPr>
              <a:t> denote the propagate signal, generate signal, sum signal, and carry-out signal for each bit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respectively, where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1,..., 15.</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pair of CSL adder blocks may be based on the MCC adder, which will supply the required generate and propagate signals, G</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P</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to the look-ahead carry generator. </a:t>
            </a:r>
          </a:p>
          <a:p>
            <a:pPr marL="0" indent="0" algn="just">
              <a:buNone/>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EE5D1CF-C541-AF03-7590-D747DD44A14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274628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FF7F4-C3C3-522E-FEA9-BB2BDFD2B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A57AB-F063-82E9-EFCD-1FDC08B0B79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384DEC80-8BEC-793B-3D72-5021F9F8B91C}"/>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Hybrid Carry Look-Ahead/Carry-Select Adder (Hybrid CLA/CSL):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multiplexers then select the final carry, C</a:t>
            </a:r>
            <a:r>
              <a:rPr lang="en-US" sz="2400" baseline="-25000" dirty="0">
                <a:latin typeface="Times New Roman" panose="02020603050405020304" pitchFamily="18" charset="0"/>
                <a:cs typeface="Times New Roman" panose="02020603050405020304" pitchFamily="18" charset="0"/>
              </a:rPr>
              <a:t>16</a:t>
            </a:r>
            <a:r>
              <a:rPr lang="en-US" sz="2400" dirty="0">
                <a:latin typeface="Times New Roman" panose="02020603050405020304" pitchFamily="18" charset="0"/>
                <a:cs typeface="Times New Roman" panose="02020603050405020304" pitchFamily="18" charset="0"/>
              </a:rPr>
              <a:t>, and also the sum bits when the block carry-in signals are known.</a:t>
            </a:r>
          </a:p>
          <a:p>
            <a:pPr algn="just">
              <a:buFont typeface="Arial" panose="020B0604020202020204" pitchFamily="34" charset="0"/>
              <a:buChar char="•"/>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828B5AB-5C30-3D57-655B-42B103712B15}"/>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14643D33-3CB1-92E6-B419-A14396C3AAE6}"/>
              </a:ext>
            </a:extLst>
          </p:cNvPr>
          <p:cNvPicPr>
            <a:picLocks noChangeAspect="1"/>
          </p:cNvPicPr>
          <p:nvPr/>
        </p:nvPicPr>
        <p:blipFill>
          <a:blip r:embed="rId2"/>
          <a:stretch>
            <a:fillRect/>
          </a:stretch>
        </p:blipFill>
        <p:spPr>
          <a:xfrm>
            <a:off x="1801758" y="2655102"/>
            <a:ext cx="8588484" cy="3101609"/>
          </a:xfrm>
          <a:prstGeom prst="rect">
            <a:avLst/>
          </a:prstGeom>
        </p:spPr>
      </p:pic>
      <p:sp>
        <p:nvSpPr>
          <p:cNvPr id="8" name="TextBox 7">
            <a:extLst>
              <a:ext uri="{FF2B5EF4-FFF2-40B4-BE49-F238E27FC236}">
                <a16:creationId xmlns:a16="http://schemas.microsoft.com/office/drawing/2014/main" id="{A4C05D41-F9A9-98C5-2E74-5A0A0F5A6570}"/>
              </a:ext>
            </a:extLst>
          </p:cNvPr>
          <p:cNvSpPr txBox="1"/>
          <p:nvPr/>
        </p:nvSpPr>
        <p:spPr>
          <a:xfrm>
            <a:off x="3207470" y="5832464"/>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A 16-bit hybrid CLA/CSL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263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58213-C818-08B2-6623-C880EA312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C1C3B-E392-0A78-333F-B10A7AE70637}"/>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495E4F1D-558C-C528-093C-A8A8F45B99F4}"/>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4. Carry Save Adders (CSA)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Ripple Carry Adder (RCA) uses a chain of cascaded full adders (FAs) to add two binary numbers.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row of full adders can also be used to reduce three binary numbers into two numbers, instead of directly producing the final sum.</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approach, the sum bits are produced normally, but the carry bits are not propagated to the next stage immediately.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Instead, the carry bits are saved and added in the next stage, which avoids the delay caused by carry propagation.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method is called a Carry Save Adder (CSA) because the carries are saved rather than propagated.</a:t>
            </a:r>
          </a:p>
          <a:p>
            <a:pPr marL="0" indent="0" algn="just">
              <a:buNone/>
            </a:pP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EF27DB7-AB69-6A39-F073-F61065A689A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388743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C66A0-C90E-81FA-7828-254590729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EC73D-3A37-97FA-48B0-CFE5ABF1AF1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3C7B2A2A-CC92-759F-3F01-4C27D8272F55}"/>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Carry Save Adders (CSA)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 CSA takes three input bits and produces two output bits (sum and carry), it is often referred to as a (3:2) counter.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RCA, CLA, and CSL adders, the CSA realizes concurrent addition of multiple operands, which is a basic requirement of multiplication.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Instead of using the 2-operand adders that necessitate the time- consuming carry propagation to repeat several times, depending on the number of operands, the CSA’s timing could be improved with a little increase or even a reduction in area.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CSA tree consists of CSA operators and one adder at the root of the tree.</a:t>
            </a:r>
            <a:endParaRPr lang="en-US" sz="2400" baseline="-25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75F5CBC-18C5-E80C-C981-E1F1FF96722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025654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1706-78F1-403D-46A5-F056E6658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ABA2A-3BFA-6AF1-F3EB-8BC3FF0DD874}"/>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C17F5C2D-C644-B41F-FE61-6D7E72716600}"/>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Carry Save Adders (CSA)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CSA operators are used to transform an arbitrary number of operands in the addition process to produce two adding operands, after which the adder at the root of the CSA tree computes the final sum.</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6EDF300-EAEB-4B76-5D9B-717D3F456F6A}"/>
              </a:ext>
            </a:extLst>
          </p:cNvPr>
          <p:cNvSpPr>
            <a:spLocks noGrp="1"/>
          </p:cNvSpPr>
          <p:nvPr>
            <p:ph type="ftr" sz="quarter" idx="11"/>
          </p:nvPr>
        </p:nvSpPr>
        <p:spPr/>
        <p:txBody>
          <a:bodyPr/>
          <a:lstStyle/>
          <a:p>
            <a:r>
              <a:rPr lang="en-IN" dirty="0"/>
              <a:t>Dr. Aruru Sai Kumar , VIT-AP</a:t>
            </a:r>
          </a:p>
        </p:txBody>
      </p:sp>
      <p:pic>
        <p:nvPicPr>
          <p:cNvPr id="8" name="Picture 7">
            <a:extLst>
              <a:ext uri="{FF2B5EF4-FFF2-40B4-BE49-F238E27FC236}">
                <a16:creationId xmlns:a16="http://schemas.microsoft.com/office/drawing/2014/main" id="{4F6433D4-C8BA-0A37-9908-40AA54A63415}"/>
              </a:ext>
            </a:extLst>
          </p:cNvPr>
          <p:cNvPicPr>
            <a:picLocks noChangeAspect="1"/>
          </p:cNvPicPr>
          <p:nvPr/>
        </p:nvPicPr>
        <p:blipFill>
          <a:blip r:embed="rId2"/>
          <a:stretch>
            <a:fillRect/>
          </a:stretch>
        </p:blipFill>
        <p:spPr>
          <a:xfrm>
            <a:off x="1987377" y="3141459"/>
            <a:ext cx="2080440" cy="2758679"/>
          </a:xfrm>
          <a:prstGeom prst="rect">
            <a:avLst/>
          </a:prstGeom>
        </p:spPr>
      </p:pic>
      <p:pic>
        <p:nvPicPr>
          <p:cNvPr id="10" name="Picture 9">
            <a:extLst>
              <a:ext uri="{FF2B5EF4-FFF2-40B4-BE49-F238E27FC236}">
                <a16:creationId xmlns:a16="http://schemas.microsoft.com/office/drawing/2014/main" id="{320A188A-4A95-5A0C-2D0B-DDE6757AAE95}"/>
              </a:ext>
            </a:extLst>
          </p:cNvPr>
          <p:cNvPicPr>
            <a:picLocks noChangeAspect="1"/>
          </p:cNvPicPr>
          <p:nvPr/>
        </p:nvPicPr>
        <p:blipFill>
          <a:blip r:embed="rId3"/>
          <a:stretch>
            <a:fillRect/>
          </a:stretch>
        </p:blipFill>
        <p:spPr>
          <a:xfrm>
            <a:off x="7472654" y="2958562"/>
            <a:ext cx="2110923" cy="3124471"/>
          </a:xfrm>
          <a:prstGeom prst="rect">
            <a:avLst/>
          </a:prstGeom>
        </p:spPr>
      </p:pic>
    </p:spTree>
    <p:extLst>
      <p:ext uri="{BB962C8B-B14F-4D97-AF65-F5344CB8AC3E}">
        <p14:creationId xmlns:p14="http://schemas.microsoft.com/office/powerpoint/2010/main" val="2137826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0B83D-1195-7D81-E9AD-AD45FDBCA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1A60A-C1D4-4184-30F8-5341936DC8B3}"/>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FA2C75FB-11DD-F69F-656D-9C3E4BD733BF}"/>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n-bit Carry Save Adder (CSA)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1-bit multi-operand addition using a CSA can be extended to n-bit addition by cascading multiple CSA stages.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n-bit CSA consists of n independent full adders (FAs) that operate in parallel.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full adder receives three input bits of the same position (</a:t>
            </a:r>
            <a:r>
              <a:rPr lang="en-US" sz="2400" dirty="0" err="1">
                <a:latin typeface="Times New Roman" panose="02020603050405020304" pitchFamily="18" charset="0"/>
                <a:cs typeface="Times New Roman" panose="02020603050405020304" pitchFamily="18" charset="0"/>
              </a:rPr>
              <a:t>ith</a:t>
            </a:r>
            <a:r>
              <a:rPr lang="en-US" sz="2400" dirty="0">
                <a:latin typeface="Times New Roman" panose="02020603050405020304" pitchFamily="18" charset="0"/>
                <a:cs typeface="Times New Roman" panose="02020603050405020304" pitchFamily="18" charset="0"/>
              </a:rPr>
              <a:t> bit) and produces two outputs: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Partial Sum S</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and Carry C</a:t>
            </a:r>
            <a:r>
              <a:rPr lang="en-US" sz="2400" baseline="-25000" dirty="0">
                <a:latin typeface="Times New Roman" panose="02020603050405020304" pitchFamily="18" charset="0"/>
                <a:cs typeface="Times New Roman" panose="02020603050405020304" pitchFamily="18" charset="0"/>
              </a:rPr>
              <a:t>i </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more than three operands need to be added, additional CSA stages (levels) are used.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new CSA level takes the sum and carry outputs from the previous level, along with another operand, and produces new sum and carry values.​</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41F1486-EC13-BA94-AEB5-8AED4977976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596437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FB655-46FC-6629-6744-C50A2E6C9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99110-4757-54F6-DB2E-714B9CCE01E8}"/>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1F1C83C6-1C36-D236-91F8-3FE6F8AB530A}"/>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n-bit Carry Save Adder (CSA)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CSA stages, carry signals are not propagated between adders, which eliminates carry propagation delay.</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 propagation occurs only in the final stage, where a conventional adder (usually an RCA or CLA) produces the final result.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unlike the RCA where delay grows with n full adders, the CSA delay is approximately equal to the delay of one full adder, making it very efficient for multi-operand addition.</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3A9FC64-E8DD-F2A9-D12F-61C656E56A7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16670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956805-08FC-1441-2855-8F0E51C629E8}"/>
              </a:ext>
            </a:extLst>
          </p:cNvPr>
          <p:cNvSpPr>
            <a:spLocks noGrp="1"/>
          </p:cNvSpPr>
          <p:nvPr>
            <p:ph type="ftr" sz="quarter" idx="11"/>
          </p:nvPr>
        </p:nvSpPr>
        <p:spPr/>
        <p:txBody>
          <a:bodyPr/>
          <a:lstStyle/>
          <a:p>
            <a:r>
              <a:rPr lang="en-IN"/>
              <a:t>Dr. Aruru Sai Kumar , VIT-AP</a:t>
            </a:r>
            <a:endParaRPr lang="en-IN" dirty="0"/>
          </a:p>
        </p:txBody>
      </p:sp>
      <p:pic>
        <p:nvPicPr>
          <p:cNvPr id="5122" name="Picture 2">
            <a:extLst>
              <a:ext uri="{FF2B5EF4-FFF2-40B4-BE49-F238E27FC236}">
                <a16:creationId xmlns:a16="http://schemas.microsoft.com/office/drawing/2014/main" id="{65274E79-0161-F074-DAC2-43DDAB37C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222" y="745357"/>
            <a:ext cx="6781800" cy="39909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0B9BE38-DA72-2F06-F8DA-38F6B3DF199A}"/>
              </a:ext>
            </a:extLst>
          </p:cNvPr>
          <p:cNvSpPr txBox="1"/>
          <p:nvPr/>
        </p:nvSpPr>
        <p:spPr>
          <a:xfrm>
            <a:off x="4114783" y="4882072"/>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4-bit CSA Implementation</a:t>
            </a:r>
          </a:p>
        </p:txBody>
      </p:sp>
    </p:spTree>
    <p:extLst>
      <p:ext uri="{BB962C8B-B14F-4D97-AF65-F5344CB8AC3E}">
        <p14:creationId xmlns:p14="http://schemas.microsoft.com/office/powerpoint/2010/main" val="18723548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431660-51F0-45A9-25DC-4BBE9CF45A49}"/>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20F6E30F-CB1D-1946-6BEE-AD487E626E2F}"/>
              </a:ext>
            </a:extLst>
          </p:cNvPr>
          <p:cNvPicPr>
            <a:picLocks noChangeAspect="1"/>
          </p:cNvPicPr>
          <p:nvPr/>
        </p:nvPicPr>
        <p:blipFill>
          <a:blip r:embed="rId2"/>
          <a:stretch>
            <a:fillRect/>
          </a:stretch>
        </p:blipFill>
        <p:spPr>
          <a:xfrm>
            <a:off x="1948745" y="637786"/>
            <a:ext cx="8900931" cy="4884843"/>
          </a:xfrm>
          <a:prstGeom prst="rect">
            <a:avLst/>
          </a:prstGeom>
        </p:spPr>
      </p:pic>
      <p:sp>
        <p:nvSpPr>
          <p:cNvPr id="6" name="TextBox 5">
            <a:extLst>
              <a:ext uri="{FF2B5EF4-FFF2-40B4-BE49-F238E27FC236}">
                <a16:creationId xmlns:a16="http://schemas.microsoft.com/office/drawing/2014/main" id="{91ECFE72-BCA2-91D1-99C2-FED1E7AD0B04}"/>
              </a:ext>
            </a:extLst>
          </p:cNvPr>
          <p:cNvSpPr txBox="1"/>
          <p:nvPr/>
        </p:nvSpPr>
        <p:spPr>
          <a:xfrm>
            <a:off x="4583784" y="5644552"/>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Figure: 4 operand CSA</a:t>
            </a:r>
          </a:p>
        </p:txBody>
      </p:sp>
    </p:spTree>
    <p:extLst>
      <p:ext uri="{BB962C8B-B14F-4D97-AF65-F5344CB8AC3E}">
        <p14:creationId xmlns:p14="http://schemas.microsoft.com/office/powerpoint/2010/main" val="908047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CF1B-6DD6-B357-A212-FF38C30CC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6ADD-03FA-B665-26E4-5E4FC163DD6C}"/>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BA1A3306-A095-E977-F5DB-27FDB4AB4C5D}"/>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n-bit Carry Save Adder (CSA)</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addition of four 4-bit binary numbers A, B, C and D, with an initial carry-in, C</a:t>
            </a:r>
            <a:r>
              <a:rPr lang="en-US" sz="2400" baseline="-25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upper two levels of the FA or (3:2) counters form the 4-bit CSA, while the third level is the 4-bit Carry Propagating Adder (CPA). The CPA used in this case is an RCA, but a CLA or any other fast adder can substitute for it.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CSA operator takes three bits of the same significance and then computes the sum of the same significance and the carry for the bit of a higher significance.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implementation of the CSA can be further expanded to add k operands. Here, (k - 2) CSA levels and one CPA are required to realize the addition operation.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3B2A470-6DE8-343B-3459-086163E7268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70005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7DFF-B45A-64BD-B2F2-DE72071B1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D74EF-2315-000F-592F-E666029E6AB7}"/>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B1F37E3A-355D-A756-BF7F-893C804A6E97}"/>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n-bit Carry Save Adder (CSA)</a:t>
            </a:r>
          </a:p>
          <a:p>
            <a:pPr marL="0" indent="0" algn="just">
              <a:buNone/>
            </a:pPr>
            <a:r>
              <a:rPr lang="en-US" sz="2400" dirty="0">
                <a:latin typeface="Times New Roman" panose="02020603050405020304" pitchFamily="18" charset="0"/>
                <a:cs typeface="Times New Roman" panose="02020603050405020304" pitchFamily="18" charset="0"/>
              </a:rPr>
              <a:t>The time to obtain the summation is </a:t>
            </a:r>
          </a:p>
          <a:p>
            <a:pPr marL="0" indent="0" algn="just">
              <a:buNone/>
            </a:pPr>
            <a:r>
              <a:rPr lang="en-US" sz="2400" dirty="0">
                <a:latin typeface="Times New Roman" panose="02020603050405020304" pitchFamily="18" charset="0"/>
                <a:cs typeface="Times New Roman" panose="02020603050405020304" pitchFamily="18" charset="0"/>
              </a:rPr>
              <a:t>		T =(k - 2) * T</a:t>
            </a:r>
            <a:r>
              <a:rPr lang="en-US" sz="2400" baseline="-25000" dirty="0">
                <a:latin typeface="Times New Roman" panose="02020603050405020304" pitchFamily="18" charset="0"/>
                <a:cs typeface="Times New Roman" panose="02020603050405020304" pitchFamily="18" charset="0"/>
              </a:rPr>
              <a:t>CSA</a:t>
            </a:r>
            <a:r>
              <a:rPr lang="en-US" sz="2400" dirty="0">
                <a:latin typeface="Times New Roman" panose="02020603050405020304" pitchFamily="18" charset="0"/>
                <a:cs typeface="Times New Roman" panose="02020603050405020304" pitchFamily="18" charset="0"/>
              </a:rPr>
              <a:t> + T</a:t>
            </a:r>
            <a:r>
              <a:rPr lang="en-US" sz="2400" baseline="-25000" dirty="0">
                <a:latin typeface="Times New Roman" panose="02020603050405020304" pitchFamily="18" charset="0"/>
                <a:cs typeface="Times New Roman" panose="02020603050405020304" pitchFamily="18" charset="0"/>
              </a:rPr>
              <a:t>CPA</a:t>
            </a:r>
          </a:p>
          <a:p>
            <a:pPr marL="0" indent="0" algn="just">
              <a:buNone/>
            </a:pPr>
            <a:r>
              <a:rPr lang="en-US" sz="2400" dirty="0">
                <a:latin typeface="Times New Roman" panose="02020603050405020304" pitchFamily="18" charset="0"/>
                <a:cs typeface="Times New Roman" panose="02020603050405020304" pitchFamily="18" charset="0"/>
              </a:rPr>
              <a:t>where T</a:t>
            </a:r>
            <a:r>
              <a:rPr lang="en-US" sz="2400" baseline="-25000" dirty="0">
                <a:latin typeface="Times New Roman" panose="02020603050405020304" pitchFamily="18" charset="0"/>
                <a:cs typeface="Times New Roman" panose="02020603050405020304" pitchFamily="18" charset="0"/>
              </a:rPr>
              <a:t>CSA</a:t>
            </a:r>
            <a:r>
              <a:rPr lang="en-US" sz="2400" dirty="0">
                <a:latin typeface="Times New Roman" panose="02020603050405020304" pitchFamily="18" charset="0"/>
                <a:cs typeface="Times New Roman" panose="02020603050405020304" pitchFamily="18" charset="0"/>
              </a:rPr>
              <a:t> and T</a:t>
            </a:r>
            <a:r>
              <a:rPr lang="en-US" sz="2400" baseline="-25000" dirty="0">
                <a:latin typeface="Times New Roman" panose="02020603050405020304" pitchFamily="18" charset="0"/>
                <a:cs typeface="Times New Roman" panose="02020603050405020304" pitchFamily="18" charset="0"/>
              </a:rPr>
              <a:t>CPA</a:t>
            </a:r>
            <a:r>
              <a:rPr lang="en-US" sz="2400" dirty="0">
                <a:latin typeface="Times New Roman" panose="02020603050405020304" pitchFamily="18" charset="0"/>
                <a:cs typeface="Times New Roman" panose="02020603050405020304" pitchFamily="18" charset="0"/>
              </a:rPr>
              <a:t>, are the execution times for a CSA level and CPA, respectively. </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4BA5053-1329-2617-2152-E0C07B7B8C3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318692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BB364-19AD-37FD-A75D-9C52022E5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DF098-B3F6-6846-F8C5-C982D5844842}"/>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602231AB-C8C8-6666-B41C-34FA0DE793EF}"/>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Carry Save Adder (CSA)</a:t>
            </a:r>
          </a:p>
          <a:p>
            <a:pPr marL="0" indent="0">
              <a:buNone/>
            </a:pPr>
            <a:r>
              <a:rPr lang="en-US" sz="2400" b="1" dirty="0">
                <a:latin typeface="Times New Roman" panose="02020603050405020304" pitchFamily="18" charset="0"/>
                <a:cs typeface="Times New Roman" panose="02020603050405020304" pitchFamily="18" charset="0"/>
              </a:rPr>
              <a:t>Very Fast for Multi-Operand Addition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Carry Save Adders are very efficient when adding more than two numbers. They do not propagate the carry immediately, which greatly reduces delay.</a:t>
            </a:r>
          </a:p>
          <a:p>
            <a:pPr marL="0" indent="0">
              <a:buNone/>
            </a:pPr>
            <a:r>
              <a:rPr lang="en-US" sz="2400" b="1" dirty="0">
                <a:latin typeface="Times New Roman" panose="02020603050405020304" pitchFamily="18" charset="0"/>
                <a:cs typeface="Times New Roman" panose="02020603050405020304" pitchFamily="18" charset="0"/>
              </a:rPr>
              <a:t>No Immediate Carry Propagation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CSA, the carry is saved and passed to the next stage instead of being propagated through all bits. This reduces the critical path delay.</a:t>
            </a:r>
          </a:p>
          <a:p>
            <a:pPr marL="0" indent="0">
              <a:buNone/>
            </a:pPr>
            <a:r>
              <a:rPr lang="en-US" sz="2400" b="1" dirty="0">
                <a:latin typeface="Times New Roman" panose="02020603050405020304" pitchFamily="18" charset="0"/>
                <a:cs typeface="Times New Roman" panose="02020603050405020304" pitchFamily="18" charset="0"/>
              </a:rPr>
              <a:t>Parallel Operation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bit position is handled independently using full adders operating in parallel, making the addition process faster.</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41F754E-B488-8355-EC36-6627A9F04A0F}"/>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649559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76A4-3C09-A6E9-6FAD-E2D6B61A9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A7725-1F29-5835-3E7A-DD8D93BA7EE5}"/>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968EB7CA-C12C-9041-5E6B-D7DA82E2B0CF}"/>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Advantages of  Carry Save Adder (CSA)</a:t>
            </a:r>
          </a:p>
          <a:p>
            <a:pPr marL="0" indent="0" algn="just">
              <a:buNone/>
            </a:pPr>
            <a:r>
              <a:rPr lang="en-US" sz="2400" b="1" dirty="0">
                <a:latin typeface="Times New Roman" panose="02020603050405020304" pitchFamily="18" charset="0"/>
                <a:cs typeface="Times New Roman" panose="02020603050405020304" pitchFamily="18" charset="0"/>
              </a:rPr>
              <a:t>Efficient for Multipliers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Carry Save Adders are widely used in multipliers (such as Wallace Tree and Booth multipliers) where many partial products must be added.</a:t>
            </a:r>
          </a:p>
          <a:p>
            <a:pPr marL="0" indent="0" algn="just">
              <a:buNone/>
            </a:pPr>
            <a:r>
              <a:rPr lang="en-US" sz="2400" b="1" dirty="0">
                <a:latin typeface="Times New Roman" panose="02020603050405020304" pitchFamily="18" charset="0"/>
                <a:cs typeface="Times New Roman" panose="02020603050405020304" pitchFamily="18" charset="0"/>
              </a:rPr>
              <a:t>Suitable for High-Speed Arithmetic Units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Because of reduced carry propagation delay, CSAs are suitable for high-speed arithmetic circuits in DSPs and processors.</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09D332E-F214-5644-B82C-8A6542D1094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9380781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33DE-0D3F-ED64-1881-4D339FE82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31A3F-E3DC-7FCC-81AA-0F6FB7E57A2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26AA3CC2-46E3-A66C-A3BC-DF09E51B3F75}"/>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Carry Save Adder (CSA)</a:t>
            </a:r>
          </a:p>
          <a:p>
            <a:pPr marL="0" indent="0" algn="just">
              <a:buNone/>
            </a:pPr>
            <a:r>
              <a:rPr lang="en-US" sz="2400" b="1" dirty="0">
                <a:latin typeface="Times New Roman" panose="02020603050405020304" pitchFamily="18" charset="0"/>
                <a:cs typeface="Times New Roman" panose="02020603050405020304" pitchFamily="18" charset="0"/>
              </a:rPr>
              <a:t>Additional Hardware Requirement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structure requires extra adders and registers to store the carry and sum separately, increasing hardware complexity.</a:t>
            </a:r>
          </a:p>
          <a:p>
            <a:pPr marL="0" indent="0" algn="just">
              <a:buNone/>
            </a:pPr>
            <a:r>
              <a:rPr lang="en-US" sz="2400" b="1" dirty="0">
                <a:latin typeface="Times New Roman" panose="02020603050405020304" pitchFamily="18" charset="0"/>
                <a:cs typeface="Times New Roman" panose="02020603050405020304" pitchFamily="18" charset="0"/>
              </a:rPr>
              <a:t>Increased Area</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Due to the additional logic and storage of intermediate carries, the circuit area may increase in VLSI implementation.</a:t>
            </a:r>
          </a:p>
          <a:p>
            <a:pPr marL="0" indent="0" algn="just">
              <a:buNone/>
            </a:pPr>
            <a:r>
              <a:rPr lang="en-US" sz="2400" b="1" dirty="0">
                <a:latin typeface="Times New Roman" panose="02020603050405020304" pitchFamily="18" charset="0"/>
                <a:cs typeface="Times New Roman" panose="02020603050405020304" pitchFamily="18" charset="0"/>
              </a:rPr>
              <a:t>Final Stage Delay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Even though intermediate additions are fast, the final stage still requires a carry-propagation adder, which introduces delay.</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142C14A-C626-EBC0-889A-B43EE0BF76F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0100803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8A453-0526-7009-C3F3-B9D9AA88A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22673-9C20-F427-CE92-17483CB5E0DE}"/>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CMOS Adder’s Architectures </a:t>
            </a:r>
          </a:p>
        </p:txBody>
      </p:sp>
      <p:sp>
        <p:nvSpPr>
          <p:cNvPr id="3" name="Content Placeholder 2">
            <a:extLst>
              <a:ext uri="{FF2B5EF4-FFF2-40B4-BE49-F238E27FC236}">
                <a16:creationId xmlns:a16="http://schemas.microsoft.com/office/drawing/2014/main" id="{A2407A09-3963-C17F-7561-A39BECD82CA1}"/>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Disadvantages of  Carry Save Adder (CSA)</a:t>
            </a:r>
          </a:p>
          <a:p>
            <a:pPr marL="0" indent="0" algn="just">
              <a:buNone/>
            </a:pPr>
            <a:r>
              <a:rPr lang="en-US" sz="2400" b="1" dirty="0">
                <a:latin typeface="Times New Roman" panose="02020603050405020304" pitchFamily="18" charset="0"/>
                <a:cs typeface="Times New Roman" panose="02020603050405020304" pitchFamily="18" charset="0"/>
              </a:rPr>
              <a:t>Cannot Produce Final Sum Directly</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CSA produces two outputs: partial sum and carry, not the final result. An additional conventional adder (usually Ripple Carry or CLA) is required to obtain the final sum.</a:t>
            </a:r>
          </a:p>
          <a:p>
            <a:pPr marL="0" indent="0" algn="just">
              <a:buNone/>
            </a:pPr>
            <a:r>
              <a:rPr lang="en-US" sz="2400" b="1" dirty="0">
                <a:latin typeface="Times New Roman" panose="02020603050405020304" pitchFamily="18" charset="0"/>
                <a:cs typeface="Times New Roman" panose="02020603050405020304" pitchFamily="18" charset="0"/>
              </a:rPr>
              <a:t>Not Suitable for Two-Operand Addition</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If only two numbers need to be added, CSA is not efficient because the extra carry-save logic provides no benefit.</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2C1FAB-4630-E098-ECCA-B9A0837CABF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502608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6E339E-4A1D-8BA0-DF5F-0F06AA00B8FD}"/>
              </a:ext>
            </a:extLst>
          </p:cNvPr>
          <p:cNvSpPr>
            <a:spLocks noGrp="1"/>
          </p:cNvSpPr>
          <p:nvPr>
            <p:ph type="ftr" sz="quarter" idx="11"/>
          </p:nvPr>
        </p:nvSpPr>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22CBD96C-1D90-2224-07C2-BEBEECD55C3B}"/>
              </a:ext>
            </a:extLst>
          </p:cNvPr>
          <p:cNvSpPr txBox="1"/>
          <p:nvPr/>
        </p:nvSpPr>
        <p:spPr>
          <a:xfrm>
            <a:off x="1861784" y="565270"/>
            <a:ext cx="9582356"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4.4 Low-Voltage Low-Power Design Techniques </a:t>
            </a:r>
            <a:endParaRPr lang="en-IN" sz="3600" dirty="0"/>
          </a:p>
        </p:txBody>
      </p:sp>
      <p:pic>
        <p:nvPicPr>
          <p:cNvPr id="6" name="Picture 5">
            <a:extLst>
              <a:ext uri="{FF2B5EF4-FFF2-40B4-BE49-F238E27FC236}">
                <a16:creationId xmlns:a16="http://schemas.microsoft.com/office/drawing/2014/main" id="{B6815130-D493-50BA-2D96-361CAFFAEBCA}"/>
              </a:ext>
            </a:extLst>
          </p:cNvPr>
          <p:cNvPicPr>
            <a:picLocks noChangeAspect="1"/>
          </p:cNvPicPr>
          <p:nvPr/>
        </p:nvPicPr>
        <p:blipFill>
          <a:blip r:embed="rId2"/>
          <a:stretch>
            <a:fillRect/>
          </a:stretch>
        </p:blipFill>
        <p:spPr>
          <a:xfrm>
            <a:off x="3001220" y="1180905"/>
            <a:ext cx="6340389" cy="4496190"/>
          </a:xfrm>
          <a:prstGeom prst="rect">
            <a:avLst/>
          </a:prstGeom>
        </p:spPr>
      </p:pic>
      <p:sp>
        <p:nvSpPr>
          <p:cNvPr id="8" name="TextBox 7">
            <a:extLst>
              <a:ext uri="{FF2B5EF4-FFF2-40B4-BE49-F238E27FC236}">
                <a16:creationId xmlns:a16="http://schemas.microsoft.com/office/drawing/2014/main" id="{F9B93848-266C-0E65-73D1-9E79DB1D0B1B}"/>
              </a:ext>
            </a:extLst>
          </p:cNvPr>
          <p:cNvSpPr txBox="1"/>
          <p:nvPr/>
        </p:nvSpPr>
        <p:spPr>
          <a:xfrm>
            <a:off x="3120272" y="5766476"/>
            <a:ext cx="672838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Figure: Trends of technology and power supply voltage.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3398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977B9-10FB-989E-70E3-E422B7D9D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67E5B-1D88-0369-1C4A-C615E8D2F277}"/>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94379CE9-93BE-F00B-DAF0-BDEE09EF31CB}"/>
              </a:ext>
            </a:extLst>
          </p:cNvPr>
          <p:cNvSpPr>
            <a:spLocks noGrp="1"/>
          </p:cNvSpPr>
          <p:nvPr>
            <p:ph idx="1"/>
          </p:nvPr>
        </p:nvSpPr>
        <p:spPr>
          <a:xfrm>
            <a:off x="1055803" y="1253765"/>
            <a:ext cx="10774836" cy="5247168"/>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Trends of technology and power </a:t>
            </a:r>
          </a:p>
          <a:p>
            <a:pPr marL="0" indent="0" algn="just">
              <a:buNone/>
            </a:pPr>
            <a:r>
              <a:rPr lang="en-US" sz="2400" b="1" dirty="0">
                <a:latin typeface="Times New Roman" panose="02020603050405020304" pitchFamily="18" charset="0"/>
                <a:cs typeface="Times New Roman" panose="02020603050405020304" pitchFamily="18" charset="0"/>
              </a:rPr>
              <a:t>supply voltage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Most studies on process technologies for low-voltage and low-power applications indicate that scaled CMOS and </a:t>
            </a:r>
            <a:r>
              <a:rPr lang="en-US" sz="2400" dirty="0" err="1">
                <a:latin typeface="Times New Roman" panose="02020603050405020304" pitchFamily="18" charset="0"/>
                <a:cs typeface="Times New Roman" panose="02020603050405020304" pitchFamily="18" charset="0"/>
              </a:rPr>
              <a:t>BiCMOS</a:t>
            </a:r>
            <a:r>
              <a:rPr lang="en-US" sz="2400" dirty="0">
                <a:latin typeface="Times New Roman" panose="02020603050405020304" pitchFamily="18" charset="0"/>
                <a:cs typeface="Times New Roman" panose="02020603050405020304" pitchFamily="18" charset="0"/>
              </a:rPr>
              <a:t> technologies will continue to be the dominant solutions in the future because of their high performance and efficient power consumption.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Over the years, semiconductor technology has undergone continuous scaling. For example, the technology node was around 95 nm in 2001 and reduced to 65 nm by 2003, showing a rapid decrease in device dimensions.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was predicted that once manufacturing yield issues are resolved, the gate length could further shrink to about 13 nm by 2016, enabling higher transistor density and improved circuit performance.</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AA3FFCF-F9C7-CC37-024D-57904A961DFF}"/>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0336514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3D3B-BFF7-99A0-73D5-17FFBA0260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98B8D-3272-3FDA-3793-997E01D73BEA}"/>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A9FFD17B-DAF1-810C-24C5-3D394DDE07CA}"/>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Low-Voltage Low-Power Logic Styles: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Low-power applications have become a major concern for VLSI system designers due to the increasing demand for portable and energy-efficient electronic devices.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context, designing high-speed adders with low power consumption has become extremely important because adders are widely used in many critical parts of a processor.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They are essential components of the Arithmetic Logic Unit (ALU), the floating-point unit, and are also used for address generation during cache and memory access operations.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these operations occur frequently, the efficiency of the adder directly affects the overall performance and power consumption of the processor. </a:t>
            </a:r>
          </a:p>
        </p:txBody>
      </p:sp>
      <p:sp>
        <p:nvSpPr>
          <p:cNvPr id="4" name="Footer Placeholder 3">
            <a:extLst>
              <a:ext uri="{FF2B5EF4-FFF2-40B4-BE49-F238E27FC236}">
                <a16:creationId xmlns:a16="http://schemas.microsoft.com/office/drawing/2014/main" id="{422196E5-0D04-A7FA-5FDA-C2C24234C92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8987142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59AB0-4999-C2CD-C656-2312A1AB3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AB286-103A-E8B0-BAE7-E9DF293C0DA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3CC5D29D-F253-9863-AE2F-EF9F41201066}"/>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Low-Voltage Low-Power Logic Styles:</a:t>
            </a: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significant efforts are focused on developing adders that dissipate less power while maintaining high speed.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challenge of reducing power dissipation in adders can be approached at multiple design levels, including architectural level, circuit level, layout level, device level, and process technology level, each contributing to improving the overall efficiency of VLSI systems.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Another potential approach is by implementing a proper choice of logic styles for a given adder type. </a:t>
            </a:r>
          </a:p>
        </p:txBody>
      </p:sp>
      <p:sp>
        <p:nvSpPr>
          <p:cNvPr id="4" name="Footer Placeholder 3">
            <a:extLst>
              <a:ext uri="{FF2B5EF4-FFF2-40B4-BE49-F238E27FC236}">
                <a16:creationId xmlns:a16="http://schemas.microsoft.com/office/drawing/2014/main" id="{3D381A6D-E80B-EC4C-71A4-2CB652D5C24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165185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1068-3109-6B56-09B7-B76CD3B6F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DCCA8-6A3A-A2E4-0E9C-1172975D992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760DCB67-EB20-7B57-D723-86BA35300391}"/>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Low-Voltage Low-Power Logic Styles:</a:t>
            </a:r>
          </a:p>
          <a:p>
            <a:pPr marL="0" indent="0" algn="just">
              <a:buNone/>
            </a:pPr>
            <a:r>
              <a:rPr lang="en-US" sz="2400" b="1" dirty="0">
                <a:latin typeface="Times New Roman" panose="02020603050405020304" pitchFamily="18" charset="0"/>
                <a:cs typeface="Times New Roman" panose="02020603050405020304" pitchFamily="18" charset="0"/>
              </a:rPr>
              <a:t>Static and dynamic logic styles: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CMOS logic styles are generally classified into static and dynamic logic circuits. In static logic families, the output is continuously determined by the input signals, meaning the output changes immediately whenever there is a change in the inputs.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contrast, dynamic logic circuits evaluate the output only once during each clock cycle.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Dynamic gates operate using a clock signal and function in two phases: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where the output node is charged to a predefined level, and the evaluation phase, where the output is conditionally discharged based on the input signals. </a:t>
            </a:r>
          </a:p>
        </p:txBody>
      </p:sp>
      <p:sp>
        <p:nvSpPr>
          <p:cNvPr id="4" name="Footer Placeholder 3">
            <a:extLst>
              <a:ext uri="{FF2B5EF4-FFF2-40B4-BE49-F238E27FC236}">
                <a16:creationId xmlns:a16="http://schemas.microsoft.com/office/drawing/2014/main" id="{F10E0AF5-D128-2CB4-2551-C8260A13468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633416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648E2-9902-2A8B-F047-3211C88DE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3B47F-CB59-10BF-3372-C889BEF61E86}"/>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8BDA839B-A498-EFC3-3501-BA814E854D20}"/>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Low-Voltage Low-Power Logic Styles:</a:t>
            </a:r>
          </a:p>
          <a:p>
            <a:pPr marL="0" indent="0" algn="just">
              <a:buNone/>
            </a:pPr>
            <a:r>
              <a:rPr lang="en-US" sz="2400" b="1" dirty="0">
                <a:latin typeface="Times New Roman" panose="02020603050405020304" pitchFamily="18" charset="0"/>
                <a:cs typeface="Times New Roman" panose="02020603050405020304" pitchFamily="18" charset="0"/>
              </a:rPr>
              <a:t>Static and dynamic logic styles: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dynamic logic, static logic design does not require a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and therefore it avoids the additional switching activity associated with clock-controlled operations.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static logic circuits generally reduce the extra power dissipation caused by clocking, although dynamic logic can offer advantages in terms of speed and transistor count in certain applications.</a:t>
            </a:r>
          </a:p>
        </p:txBody>
      </p:sp>
      <p:sp>
        <p:nvSpPr>
          <p:cNvPr id="4" name="Footer Placeholder 3">
            <a:extLst>
              <a:ext uri="{FF2B5EF4-FFF2-40B4-BE49-F238E27FC236}">
                <a16:creationId xmlns:a16="http://schemas.microsoft.com/office/drawing/2014/main" id="{5DC69F99-7399-7897-3280-911C9BF297B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633385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A7D23-0ED1-440B-C488-1B092C3FC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88870-4DB0-322F-0101-6B2E0ABA86E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53BE9B0F-1F9C-313C-EAC7-F87D7FFCD758}"/>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Low-Voltage Low-Power Logic Styles:</a:t>
            </a:r>
          </a:p>
          <a:p>
            <a:pPr marL="0" indent="0" algn="just">
              <a:buNone/>
            </a:pPr>
            <a:r>
              <a:rPr lang="en-US" sz="2400" b="1" dirty="0">
                <a:latin typeface="Times New Roman" panose="02020603050405020304" pitchFamily="18" charset="0"/>
                <a:cs typeface="Times New Roman" panose="02020603050405020304" pitchFamily="18" charset="0"/>
              </a:rPr>
              <a:t>XOR/XNOR Gate implementations of different logic styles: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There are five commonly used CMOS logic styles, each with different design characteristics and performance trade-offs.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These include Full Static CMOS, Complementary Pass Transistor Logic (CPL), Double Pass Transistor Logic (DPL), Dual-rail Domino Dynamic Logic, and Single-rail Domino Dynamic Logic.</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F481DCF-180E-C290-6EDA-B3DDB8AB697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2776527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5681C-C20A-B50A-8EE8-A36C85D97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57CC7-35F6-438C-4FD0-DF7D48186B95}"/>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3A936E05-FC58-285C-3BCF-B4647F7D6B73}"/>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CMOS logic styles</a:t>
            </a: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t>
            </a: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pMOS</a:t>
            </a:r>
            <a:r>
              <a:rPr lang="en-US" sz="2400" dirty="0">
                <a:latin typeface="Times New Roman" panose="02020603050405020304" pitchFamily="18" charset="0"/>
                <a:cs typeface="Times New Roman" panose="02020603050405020304" pitchFamily="18" charset="0"/>
              </a:rPr>
              <a:t> transistors are connected in series, their effective resistance increases, which reduces the current driving capability of the circuit.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To maintain a reasonable conducting current capable of driving capacitive loads, the width of the transistors must be increased.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is because a series connection of transistors behaves like multiple cascaded resistive devices, which collectively increase the overall resistance of the conduction path.</a:t>
            </a:r>
          </a:p>
          <a:p>
            <a:pPr marL="0" indent="0" algn="just">
              <a:buNone/>
            </a:pPr>
            <a:r>
              <a:rPr lang="en-US" sz="2400" dirty="0"/>
              <a:t> </a:t>
            </a: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155DF1F-5E0A-6D70-CA1B-894F8C8B6F11}"/>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42E43492-40D9-4290-220C-D044949299CF}"/>
              </a:ext>
            </a:extLst>
          </p:cNvPr>
          <p:cNvPicPr>
            <a:picLocks noChangeAspect="1"/>
          </p:cNvPicPr>
          <p:nvPr/>
        </p:nvPicPr>
        <p:blipFill>
          <a:blip r:embed="rId3"/>
          <a:stretch>
            <a:fillRect/>
          </a:stretch>
        </p:blipFill>
        <p:spPr>
          <a:xfrm>
            <a:off x="5116918" y="4563335"/>
            <a:ext cx="1562235" cy="518205"/>
          </a:xfrm>
          <a:prstGeom prst="rect">
            <a:avLst/>
          </a:prstGeom>
        </p:spPr>
      </p:pic>
      <p:pic>
        <p:nvPicPr>
          <p:cNvPr id="8" name="Picture 7">
            <a:extLst>
              <a:ext uri="{FF2B5EF4-FFF2-40B4-BE49-F238E27FC236}">
                <a16:creationId xmlns:a16="http://schemas.microsoft.com/office/drawing/2014/main" id="{C85BC22E-787C-7F11-57BD-6B2BA99F7FCB}"/>
              </a:ext>
            </a:extLst>
          </p:cNvPr>
          <p:cNvPicPr>
            <a:picLocks noChangeAspect="1"/>
          </p:cNvPicPr>
          <p:nvPr/>
        </p:nvPicPr>
        <p:blipFill>
          <a:blip r:embed="rId4"/>
          <a:stretch>
            <a:fillRect/>
          </a:stretch>
        </p:blipFill>
        <p:spPr>
          <a:xfrm>
            <a:off x="5318866" y="5472811"/>
            <a:ext cx="1158340" cy="662997"/>
          </a:xfrm>
          <a:prstGeom prst="rect">
            <a:avLst/>
          </a:prstGeom>
        </p:spPr>
      </p:pic>
    </p:spTree>
    <p:extLst>
      <p:ext uri="{BB962C8B-B14F-4D97-AF65-F5344CB8AC3E}">
        <p14:creationId xmlns:p14="http://schemas.microsoft.com/office/powerpoint/2010/main" val="28678165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3607-200F-A446-2B33-BADDB97BE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41E4A-7AB5-CCC1-E425-C52AC3FF7191}"/>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4AFC6D5F-00F0-855E-A46F-71E4341CD340}"/>
              </a:ext>
            </a:extLst>
          </p:cNvPr>
          <p:cNvSpPr>
            <a:spLocks noGrp="1"/>
          </p:cNvSpPr>
          <p:nvPr>
            <p:ph idx="1"/>
          </p:nvPr>
        </p:nvSpPr>
        <p:spPr>
          <a:xfrm>
            <a:off x="1055803" y="1253765"/>
            <a:ext cx="10774836" cy="4882043"/>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delay time of the circuit is determined by the RC delay, where C represents the capacitance, R represents the resistance, L is the channel length, and W is the channel width.</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Since the resistance of a MOS transistor is inversely proportional to its width (W), increasing the transistor width reduces the resistance.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to minimize the propagation delay and improve the driving capability of the circuit, the width of the transistors must be increased when multiple devices are connected in series.</a:t>
            </a:r>
          </a:p>
        </p:txBody>
      </p:sp>
      <p:sp>
        <p:nvSpPr>
          <p:cNvPr id="4" name="Footer Placeholder 3">
            <a:extLst>
              <a:ext uri="{FF2B5EF4-FFF2-40B4-BE49-F238E27FC236}">
                <a16:creationId xmlns:a16="http://schemas.microsoft.com/office/drawing/2014/main" id="{FD9E278A-260F-5A1B-825D-ED3E418DF24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0209570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61A341-9343-D2BC-1A49-8A0D680C41A0}"/>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0BF0F19D-E679-0C5A-458F-F22217BD6288}"/>
              </a:ext>
            </a:extLst>
          </p:cNvPr>
          <p:cNvPicPr>
            <a:picLocks noChangeAspect="1"/>
          </p:cNvPicPr>
          <p:nvPr/>
        </p:nvPicPr>
        <p:blipFill>
          <a:blip r:embed="rId2"/>
          <a:stretch>
            <a:fillRect/>
          </a:stretch>
        </p:blipFill>
        <p:spPr>
          <a:xfrm>
            <a:off x="3252107" y="704495"/>
            <a:ext cx="5951736" cy="3657917"/>
          </a:xfrm>
          <a:prstGeom prst="rect">
            <a:avLst/>
          </a:prstGeom>
        </p:spPr>
      </p:pic>
      <p:sp>
        <p:nvSpPr>
          <p:cNvPr id="6" name="TextBox 5">
            <a:extLst>
              <a:ext uri="{FF2B5EF4-FFF2-40B4-BE49-F238E27FC236}">
                <a16:creationId xmlns:a16="http://schemas.microsoft.com/office/drawing/2014/main" id="{736E0988-A113-D857-A9A5-01401B5269DF}"/>
              </a:ext>
            </a:extLst>
          </p:cNvPr>
          <p:cNvSpPr txBox="1"/>
          <p:nvPr/>
        </p:nvSpPr>
        <p:spPr>
          <a:xfrm>
            <a:off x="3556263" y="4538163"/>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An XOR gate using full static CMOS.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795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23644-7DE2-B8B4-530A-0A34199FB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4731A-F9E2-5B81-3B9E-F5C2120AD391}"/>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221B1CDE-6E7C-4C56-36EB-2CACB4A9C6FE}"/>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CPL: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major distinction between the pass-transistor logic family and the CMOS logic style is that the source node of the MOS transistor is connected to the input signals rather than to the power supply voltage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logic style removes the need for careful sizing of serial transistors and therefore uses only half the number of transistors compared to a full static CMOS XOR gate, making the design more compact and efficient.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However, a limitation occurs in the </a:t>
            </a:r>
            <a:r>
              <a:rPr lang="en-US" sz="2400" dirty="0" err="1">
                <a:latin typeface="Times New Roman" panose="02020603050405020304" pitchFamily="18" charset="0"/>
                <a:cs typeface="Times New Roman" panose="02020603050405020304" pitchFamily="18" charset="0"/>
              </a:rPr>
              <a:t>nMOS</a:t>
            </a:r>
            <a:r>
              <a:rPr lang="en-US" sz="2400" dirty="0">
                <a:latin typeface="Times New Roman" panose="02020603050405020304" pitchFamily="18" charset="0"/>
                <a:cs typeface="Times New Roman" panose="02020603050405020304" pitchFamily="18" charset="0"/>
              </a:rPr>
              <a:t> pass transistor network.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output at node X becomes logically high, the voltage level is not a full supply voltage but approximately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where V</a:t>
            </a:r>
            <a:r>
              <a:rPr lang="en-US" sz="2400" baseline="-25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is the threshold voltage of the transistor</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BD0A6A8-7C0E-3FA4-13F0-C7B6BE308F1B}"/>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2323862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5A09-5CCE-07A1-2B4A-238CC028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D6211-31C6-B4E4-80C5-BBF5FC7BF55F}"/>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59801D81-76F2-92B5-F946-B8B57A818AA1}"/>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CPL:</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Because of this reduced voltage level, the </a:t>
            </a:r>
            <a:r>
              <a:rPr lang="en-US" sz="2400" dirty="0" err="1">
                <a:latin typeface="Times New Roman" panose="02020603050405020304" pitchFamily="18" charset="0"/>
                <a:cs typeface="Times New Roman" panose="02020603050405020304" pitchFamily="18" charset="0"/>
              </a:rPr>
              <a:t>pMOS</a:t>
            </a:r>
            <a:r>
              <a:rPr lang="en-US" sz="2400" dirty="0">
                <a:latin typeface="Times New Roman" panose="02020603050405020304" pitchFamily="18" charset="0"/>
                <a:cs typeface="Times New Roman" panose="02020603050405020304" pitchFamily="18" charset="0"/>
              </a:rPr>
              <a:t> transistor in the inverter is not completely turned off, which results in a large short-circuit current flowing through the inverter.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overcome this issue and ensure proper logic levels, an additional </a:t>
            </a:r>
            <a:r>
              <a:rPr lang="en-US" sz="2400" dirty="0" err="1">
                <a:latin typeface="Times New Roman" panose="02020603050405020304" pitchFamily="18" charset="0"/>
                <a:cs typeface="Times New Roman" panose="02020603050405020304" pitchFamily="18" charset="0"/>
              </a:rPr>
              <a:t>pMOS</a:t>
            </a:r>
            <a:r>
              <a:rPr lang="en-US" sz="2400" dirty="0">
                <a:latin typeface="Times New Roman" panose="02020603050405020304" pitchFamily="18" charset="0"/>
                <a:cs typeface="Times New Roman" panose="02020603050405020304" pitchFamily="18" charset="0"/>
              </a:rPr>
              <a:t> transistor is connected across the inverter output.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transistor helps pull the output node X up to the full supply voltage V</a:t>
            </a:r>
            <a:r>
              <a:rPr lang="en-US" sz="2400" baseline="-25000" dirty="0">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thereby restoring the full logic level and reducing the unwanted short-circuit current.</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20DBAC7-DF8B-DE8D-17F9-6727388B085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9139727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A729DA-01ED-6BC5-206D-B46891B91C33}"/>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ADDB6D7A-FB4C-253F-4A05-896BA71D25E1}"/>
              </a:ext>
            </a:extLst>
          </p:cNvPr>
          <p:cNvPicPr>
            <a:picLocks noChangeAspect="1"/>
          </p:cNvPicPr>
          <p:nvPr/>
        </p:nvPicPr>
        <p:blipFill>
          <a:blip r:embed="rId2"/>
          <a:stretch>
            <a:fillRect/>
          </a:stretch>
        </p:blipFill>
        <p:spPr>
          <a:xfrm>
            <a:off x="2483807" y="574009"/>
            <a:ext cx="7224386" cy="1920406"/>
          </a:xfrm>
          <a:prstGeom prst="rect">
            <a:avLst/>
          </a:prstGeom>
        </p:spPr>
      </p:pic>
      <p:sp>
        <p:nvSpPr>
          <p:cNvPr id="6" name="TextBox 5">
            <a:extLst>
              <a:ext uri="{FF2B5EF4-FFF2-40B4-BE49-F238E27FC236}">
                <a16:creationId xmlns:a16="http://schemas.microsoft.com/office/drawing/2014/main" id="{56E46B26-6152-A972-4032-066D9167E213}"/>
              </a:ext>
            </a:extLst>
          </p:cNvPr>
          <p:cNvSpPr txBox="1"/>
          <p:nvPr/>
        </p:nvSpPr>
        <p:spPr>
          <a:xfrm>
            <a:off x="3169764" y="2494415"/>
            <a:ext cx="6094428"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XOR/XNOR implementation of the CPL</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B99F6B0-DA01-8808-8EBE-D414E36A02A7}"/>
              </a:ext>
            </a:extLst>
          </p:cNvPr>
          <p:cNvPicPr>
            <a:picLocks noChangeAspect="1"/>
          </p:cNvPicPr>
          <p:nvPr/>
        </p:nvPicPr>
        <p:blipFill>
          <a:blip r:embed="rId3"/>
          <a:stretch>
            <a:fillRect/>
          </a:stretch>
        </p:blipFill>
        <p:spPr>
          <a:xfrm>
            <a:off x="2483807" y="2908040"/>
            <a:ext cx="7254869" cy="2911092"/>
          </a:xfrm>
          <a:prstGeom prst="rect">
            <a:avLst/>
          </a:prstGeom>
        </p:spPr>
      </p:pic>
      <p:sp>
        <p:nvSpPr>
          <p:cNvPr id="10" name="TextBox 9">
            <a:extLst>
              <a:ext uri="{FF2B5EF4-FFF2-40B4-BE49-F238E27FC236}">
                <a16:creationId xmlns:a16="http://schemas.microsoft.com/office/drawing/2014/main" id="{703DB314-81DD-4FB9-A649-9EB360D65617}"/>
              </a:ext>
            </a:extLst>
          </p:cNvPr>
          <p:cNvSpPr txBox="1"/>
          <p:nvPr/>
        </p:nvSpPr>
        <p:spPr>
          <a:xfrm>
            <a:off x="2356702" y="5863425"/>
            <a:ext cx="832732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XOR/XNOR implementation of the CPL with </a:t>
            </a:r>
            <a:r>
              <a:rPr lang="en-US" dirty="0" err="1">
                <a:latin typeface="Times New Roman" panose="02020603050405020304" pitchFamily="18" charset="0"/>
                <a:cs typeface="Times New Roman" panose="02020603050405020304" pitchFamily="18" charset="0"/>
              </a:rPr>
              <a:t>pMOS</a:t>
            </a:r>
            <a:r>
              <a:rPr lang="en-US" dirty="0">
                <a:latin typeface="Times New Roman" panose="02020603050405020304" pitchFamily="18" charset="0"/>
                <a:cs typeface="Times New Roman" panose="02020603050405020304" pitchFamily="18" charset="0"/>
              </a:rPr>
              <a:t> feedback.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09290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70F2F-0137-04FE-7801-7D516480C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D9D19-3ED2-291D-FF48-503518428AB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E5EDDDD4-08E1-C968-C8B5-4E8ABE55B8B2}"/>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DPL:</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Another pass-transistor-based logic design is Double Pass Transistor Logic (DPL), which can be considered an improvement or modification of Complementary Pass Transistor Logic (CPL).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XOR/XNOR gate implemented using DPL employs both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pMOS</a:t>
            </a:r>
            <a:r>
              <a:rPr lang="en-US" sz="2200" dirty="0">
                <a:latin typeface="Times New Roman" panose="02020603050405020304" pitchFamily="18" charset="0"/>
                <a:cs typeface="Times New Roman" panose="02020603050405020304" pitchFamily="18" charset="0"/>
              </a:rPr>
              <a:t> transistors in the pass network. In CPL designs, only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pass transistors are typically used, which leads to a threshold voltage drop problem when a logic high is transmitted, resulting in a reduced output voltage level.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However, in DPL, the use of both </a:t>
            </a:r>
            <a:r>
              <a:rPr lang="en-US" sz="2200" dirty="0" err="1">
                <a:latin typeface="Times New Roman" panose="02020603050405020304" pitchFamily="18" charset="0"/>
                <a:cs typeface="Times New Roman" panose="02020603050405020304" pitchFamily="18" charset="0"/>
              </a:rPr>
              <a:t>nMOS</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pMOS</a:t>
            </a:r>
            <a:r>
              <a:rPr lang="en-US" sz="2200" dirty="0">
                <a:latin typeface="Times New Roman" panose="02020603050405020304" pitchFamily="18" charset="0"/>
                <a:cs typeface="Times New Roman" panose="02020603050405020304" pitchFamily="18" charset="0"/>
              </a:rPr>
              <a:t> devices allows the circuit to pass both logic ‘1’ and logic ‘0’ more effectively, thereby maintaining full voltage swing.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As a result, DPL overcomes the threshold voltage loss associated with CPL, improving signal integrity and overall circuit performance.</a:t>
            </a:r>
          </a:p>
        </p:txBody>
      </p:sp>
      <p:sp>
        <p:nvSpPr>
          <p:cNvPr id="4" name="Footer Placeholder 3">
            <a:extLst>
              <a:ext uri="{FF2B5EF4-FFF2-40B4-BE49-F238E27FC236}">
                <a16:creationId xmlns:a16="http://schemas.microsoft.com/office/drawing/2014/main" id="{E6EEA8D6-B3B2-AC94-38D8-9A39974FA09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130670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217848-8264-E276-8B8B-FFDB56E237B3}"/>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67E1ED51-D936-9158-FDF9-92B079BC6192}"/>
              </a:ext>
            </a:extLst>
          </p:cNvPr>
          <p:cNvPicPr>
            <a:picLocks noChangeAspect="1"/>
          </p:cNvPicPr>
          <p:nvPr/>
        </p:nvPicPr>
        <p:blipFill>
          <a:blip r:embed="rId2"/>
          <a:stretch>
            <a:fillRect/>
          </a:stretch>
        </p:blipFill>
        <p:spPr>
          <a:xfrm>
            <a:off x="2508254" y="839266"/>
            <a:ext cx="6873836" cy="3482642"/>
          </a:xfrm>
          <a:prstGeom prst="rect">
            <a:avLst/>
          </a:prstGeom>
        </p:spPr>
      </p:pic>
      <p:sp>
        <p:nvSpPr>
          <p:cNvPr id="6" name="TextBox 5">
            <a:extLst>
              <a:ext uri="{FF2B5EF4-FFF2-40B4-BE49-F238E27FC236}">
                <a16:creationId xmlns:a16="http://schemas.microsoft.com/office/drawing/2014/main" id="{53CF60AC-F0ED-1F68-0552-CB3FB695AE97}"/>
              </a:ext>
            </a:extLst>
          </p:cNvPr>
          <p:cNvSpPr txBox="1"/>
          <p:nvPr/>
        </p:nvSpPr>
        <p:spPr>
          <a:xfrm>
            <a:off x="3048786" y="4435030"/>
            <a:ext cx="6094428"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Figure: XOR/XNOR using DPL</a:t>
            </a:r>
          </a:p>
        </p:txBody>
      </p:sp>
    </p:spTree>
    <p:extLst>
      <p:ext uri="{BB962C8B-B14F-4D97-AF65-F5344CB8AC3E}">
        <p14:creationId xmlns:p14="http://schemas.microsoft.com/office/powerpoint/2010/main" val="36776561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EB0C9-7C15-DA6F-4944-A5483B1F7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7E47C-0E0D-FCDD-C9B3-50B655DC5B2D}"/>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E552CFA2-8308-49B3-1541-393A8980809E}"/>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Dual-rail Domino logic style </a:t>
            </a:r>
            <a:r>
              <a:rPr lang="en-IN" sz="2400" dirty="0"/>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static logic techniques, dynamic logic design operates in two phases: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and evaluation. The </a:t>
            </a:r>
            <a:r>
              <a:rPr lang="en-US" sz="2400" dirty="0" err="1">
                <a:latin typeface="Times New Roman" panose="02020603050405020304" pitchFamily="18" charset="0"/>
                <a:cs typeface="Times New Roman" panose="02020603050405020304" pitchFamily="18" charset="0"/>
              </a:rPr>
              <a:t>precharge</a:t>
            </a:r>
            <a:r>
              <a:rPr lang="en-US" sz="2400" dirty="0">
                <a:latin typeface="Times New Roman" panose="02020603050405020304" pitchFamily="18" charset="0"/>
                <a:cs typeface="Times New Roman" panose="02020603050405020304" pitchFamily="18" charset="0"/>
              </a:rPr>
              <a:t> phase occurs when the clock (CLK) signal is low, during which the output node is charged to a predefined level.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evaluation phase occurs when the clock signal becomes high, allowing the circuit to evaluate the logic function based on the input signals.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Because of these controlled phases, dynamic logic reduces spurious or unnecessary switching transitions, which are commonly present in static logic circuits and contribute to extra power dissipation.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dynamic logic requires additional components such as clock drivers, which themselves consume power and may increase the overall power dissipation.</a:t>
            </a:r>
          </a:p>
        </p:txBody>
      </p:sp>
      <p:sp>
        <p:nvSpPr>
          <p:cNvPr id="4" name="Footer Placeholder 3">
            <a:extLst>
              <a:ext uri="{FF2B5EF4-FFF2-40B4-BE49-F238E27FC236}">
                <a16:creationId xmlns:a16="http://schemas.microsoft.com/office/drawing/2014/main" id="{627613CA-6CDB-BAF6-112A-DC12A6D1255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8911049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9DD1-9930-83D4-A22F-03493F56B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C7097-A106-94E2-A057-575ABCB00692}"/>
              </a:ext>
            </a:extLst>
          </p:cNvPr>
          <p:cNvSpPr>
            <a:spLocks noGrp="1"/>
          </p:cNvSpPr>
          <p:nvPr>
            <p:ph type="title"/>
          </p:nvPr>
        </p:nvSpPr>
        <p:spPr>
          <a:xfrm>
            <a:off x="1987377" y="495571"/>
            <a:ext cx="8911687" cy="1280890"/>
          </a:xfrm>
        </p:spPr>
        <p:txBody>
          <a:bodyPr/>
          <a:lstStyle/>
          <a:p>
            <a:r>
              <a:rPr lang="en-IN" b="1" dirty="0">
                <a:latin typeface="Times New Roman" panose="02020603050405020304" pitchFamily="18" charset="0"/>
                <a:cs typeface="Times New Roman" panose="02020603050405020304" pitchFamily="18" charset="0"/>
              </a:rPr>
              <a:t>Low-Voltage Low-Power Design Techniques </a:t>
            </a:r>
          </a:p>
        </p:txBody>
      </p:sp>
      <p:sp>
        <p:nvSpPr>
          <p:cNvPr id="3" name="Content Placeholder 2">
            <a:extLst>
              <a:ext uri="{FF2B5EF4-FFF2-40B4-BE49-F238E27FC236}">
                <a16:creationId xmlns:a16="http://schemas.microsoft.com/office/drawing/2014/main" id="{7E62F4B1-6B61-2959-9C1E-BCDC28D3F8B3}"/>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Dual-rail Domino logic style </a:t>
            </a:r>
            <a:r>
              <a:rPr lang="en-IN" sz="2400" dirty="0"/>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According to reported studies, dual-rail inputs are mainly required for implementing XOR/XNOR gates, while other logic functions such as NAND and NOR gates can be implemented using single-rail inputs.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Using single-rail inputs reduces circuit complexity and helps lower power consumption.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example of this approach is the NOR gate implemented using single-rail Domino logic, where dynamic operation improves performance while minimizing power dissipation.</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14B80FE-8D97-0D52-E69A-0DD2067F3B2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1418261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96FCCD4-92EC-EEE2-8974-9F95AA167296}"/>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EC7E0E69-AC42-567F-8A9C-FBAF219F7BA2}"/>
              </a:ext>
            </a:extLst>
          </p:cNvPr>
          <p:cNvPicPr>
            <a:picLocks noChangeAspect="1"/>
          </p:cNvPicPr>
          <p:nvPr/>
        </p:nvPicPr>
        <p:blipFill>
          <a:blip r:embed="rId2"/>
          <a:stretch>
            <a:fillRect/>
          </a:stretch>
        </p:blipFill>
        <p:spPr>
          <a:xfrm>
            <a:off x="2281289" y="787553"/>
            <a:ext cx="8100762" cy="4000847"/>
          </a:xfrm>
          <a:prstGeom prst="rect">
            <a:avLst/>
          </a:prstGeom>
        </p:spPr>
      </p:pic>
      <p:sp>
        <p:nvSpPr>
          <p:cNvPr id="6" name="TextBox 5">
            <a:extLst>
              <a:ext uri="{FF2B5EF4-FFF2-40B4-BE49-F238E27FC236}">
                <a16:creationId xmlns:a16="http://schemas.microsoft.com/office/drawing/2014/main" id="{D830B3C7-2C20-78A2-44E6-D83DF19B39E5}"/>
              </a:ext>
            </a:extLst>
          </p:cNvPr>
          <p:cNvSpPr txBox="1"/>
          <p:nvPr/>
        </p:nvSpPr>
        <p:spPr>
          <a:xfrm>
            <a:off x="2875175" y="4908106"/>
            <a:ext cx="7152587"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XOR/XNOR gate using dual-rail Domino logic style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5898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B42E4-3547-B5CC-89B5-77A50BDB5C4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74DE290-3F44-AC76-2572-BE7AE3220B40}"/>
              </a:ext>
            </a:extLst>
          </p:cNvPr>
          <p:cNvSpPr>
            <a:spLocks noGrp="1"/>
          </p:cNvSpPr>
          <p:nvPr>
            <p:ph type="ftr" sz="quarter" idx="11"/>
          </p:nvPr>
        </p:nvSpPr>
        <p:spPr/>
        <p:txBody>
          <a:bodyPr/>
          <a:lstStyle/>
          <a:p>
            <a:r>
              <a:rPr lang="en-IN"/>
              <a:t>Dr. Aruru Sai Kumar , VIT-AP</a:t>
            </a:r>
            <a:endParaRPr lang="en-IN" dirty="0"/>
          </a:p>
        </p:txBody>
      </p:sp>
      <p:sp>
        <p:nvSpPr>
          <p:cNvPr id="6" name="TextBox 5">
            <a:extLst>
              <a:ext uri="{FF2B5EF4-FFF2-40B4-BE49-F238E27FC236}">
                <a16:creationId xmlns:a16="http://schemas.microsoft.com/office/drawing/2014/main" id="{68A6FA0F-12B9-5CBD-4C09-B922155C7E1A}"/>
              </a:ext>
            </a:extLst>
          </p:cNvPr>
          <p:cNvSpPr txBox="1"/>
          <p:nvPr/>
        </p:nvSpPr>
        <p:spPr>
          <a:xfrm>
            <a:off x="2875175" y="4908106"/>
            <a:ext cx="7152587"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Figure: NOR gate realization using single-rail Domino logic style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F60BC4C-8514-DC3B-0250-F85AEFB37ABF}"/>
              </a:ext>
            </a:extLst>
          </p:cNvPr>
          <p:cNvPicPr>
            <a:picLocks noChangeAspect="1"/>
          </p:cNvPicPr>
          <p:nvPr/>
        </p:nvPicPr>
        <p:blipFill>
          <a:blip r:embed="rId2"/>
          <a:stretch>
            <a:fillRect/>
          </a:stretch>
        </p:blipFill>
        <p:spPr>
          <a:xfrm>
            <a:off x="3632103" y="287561"/>
            <a:ext cx="4663844" cy="4435224"/>
          </a:xfrm>
          <a:prstGeom prst="rect">
            <a:avLst/>
          </a:prstGeom>
        </p:spPr>
      </p:pic>
    </p:spTree>
    <p:extLst>
      <p:ext uri="{BB962C8B-B14F-4D97-AF65-F5344CB8AC3E}">
        <p14:creationId xmlns:p14="http://schemas.microsoft.com/office/powerpoint/2010/main" val="32104171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2647F-FE17-2977-DC17-4738CD1C9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B90D3-5326-09BD-64A9-0042C9B57001}"/>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4.5 Overview of Multiplication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2891B2-F17F-1AF7-31F8-6D337266C200}"/>
              </a:ext>
            </a:extLst>
          </p:cNvPr>
          <p:cNvSpPr>
            <a:spLocks noGrp="1"/>
          </p:cNvSpPr>
          <p:nvPr>
            <p:ph idx="1"/>
          </p:nvPr>
        </p:nvSpPr>
        <p:spPr>
          <a:xfrm>
            <a:off x="1055803" y="1253765"/>
            <a:ext cx="10774836" cy="4882043"/>
          </a:xfrm>
        </p:spPr>
        <p:txBody>
          <a:bodyPr>
            <a:no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Multiplication can be considered as a series of repeated additions.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number to be added is called the multiplicand, the number of times it is added is called the multiplier, and the result obtained is called the product.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basic operations involved in multiplication include generating and accumulating or adding the partial products.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Consequently, to speed up the entire multiplication process, these two major steps must be optimized.</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two main categories of binary arithmetic multiplication involve computing unsigned numbers and computing signed numbers. </a:t>
            </a:r>
          </a:p>
        </p:txBody>
      </p:sp>
      <p:sp>
        <p:nvSpPr>
          <p:cNvPr id="4" name="Footer Placeholder 3">
            <a:extLst>
              <a:ext uri="{FF2B5EF4-FFF2-40B4-BE49-F238E27FC236}">
                <a16:creationId xmlns:a16="http://schemas.microsoft.com/office/drawing/2014/main" id="{5EBFFE4D-F47B-0F45-6D27-68AF55E12C7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9792302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8BE2-9019-15D3-5FBF-BA8D8290A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F02B3-A47C-BCA0-7280-BC3734EF6C45}"/>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3FF309-1EFE-ED3A-6B43-2BC882A50673}"/>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Unsigned multiplication: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computer applications require fast multiplication.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utilizing AND gates and full </a:t>
            </a:r>
            <a:r>
              <a:rPr lang="en-US" sz="2400" dirty="0" err="1">
                <a:latin typeface="Times New Roman" panose="02020603050405020304" pitchFamily="18" charset="0"/>
                <a:cs typeface="Times New Roman" panose="02020603050405020304" pitchFamily="18" charset="0"/>
              </a:rPr>
              <a:t>adders,multiplication</a:t>
            </a:r>
            <a:r>
              <a:rPr lang="en-US" sz="2400" dirty="0">
                <a:latin typeface="Times New Roman" panose="02020603050405020304" pitchFamily="18" charset="0"/>
                <a:cs typeface="Times New Roman" panose="02020603050405020304" pitchFamily="18" charset="0"/>
              </a:rPr>
              <a:t> can be implemented on the processor much in the same way as it is done by hand: multiply each digit of the multiplier by the multiplicand, thereby generating partial products and then sum up the respective partial products in order to generate the final result.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Assume that X and Y are two n-bit unsigned numbers, where X is the multiplicand and Y is the multiplier. They can be expressed as follows :</a:t>
            </a:r>
          </a:p>
          <a:p>
            <a:pPr marL="0" indent="0" algn="just">
              <a:buNone/>
            </a:pPr>
            <a:r>
              <a:rPr lang="en-US" sz="2400" b="1" dirty="0">
                <a:latin typeface="Times New Roman" panose="02020603050405020304" pitchFamily="18" charset="0"/>
                <a:cs typeface="Times New Roman" panose="02020603050405020304" pitchFamily="18" charset="0"/>
              </a:rPr>
              <a:t>  </a:t>
            </a:r>
          </a:p>
        </p:txBody>
      </p:sp>
      <p:sp>
        <p:nvSpPr>
          <p:cNvPr id="4" name="Footer Placeholder 3">
            <a:extLst>
              <a:ext uri="{FF2B5EF4-FFF2-40B4-BE49-F238E27FC236}">
                <a16:creationId xmlns:a16="http://schemas.microsoft.com/office/drawing/2014/main" id="{5A1A192F-DB16-E86B-987F-F993BB0BBAB8}"/>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9B9919A8-A03D-511B-3BD0-74D8698A41D5}"/>
              </a:ext>
            </a:extLst>
          </p:cNvPr>
          <p:cNvPicPr>
            <a:picLocks noChangeAspect="1"/>
          </p:cNvPicPr>
          <p:nvPr/>
        </p:nvPicPr>
        <p:blipFill>
          <a:blip r:embed="rId3"/>
          <a:stretch>
            <a:fillRect/>
          </a:stretch>
        </p:blipFill>
        <p:spPr>
          <a:xfrm>
            <a:off x="5158659" y="4621170"/>
            <a:ext cx="1874682" cy="1966130"/>
          </a:xfrm>
          <a:prstGeom prst="rect">
            <a:avLst/>
          </a:prstGeom>
        </p:spPr>
      </p:pic>
    </p:spTree>
    <p:extLst>
      <p:ext uri="{BB962C8B-B14F-4D97-AF65-F5344CB8AC3E}">
        <p14:creationId xmlns:p14="http://schemas.microsoft.com/office/powerpoint/2010/main" val="553058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073FD-BEFB-DE4D-D670-84EBC1139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048D1-2BEE-BCAF-5E67-B2FB6BEF1E7A}"/>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4E6384-A52A-0258-F6C2-A8D0AEC123F3}"/>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Unsigned multiplication: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product of X and Y is P and it can be written in the following form:</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illustrate further, the multiplicand X and multiplier Y can be represented as follows: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p>
          <a:p>
            <a:pPr marL="0" indent="0" algn="just">
              <a:buNone/>
            </a:pPr>
            <a:endParaRPr lang="en-US" sz="2400" dirty="0"/>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of the partial product terms </a:t>
            </a:r>
            <a:r>
              <a:rPr lang="en-US" sz="2400" dirty="0" err="1">
                <a:latin typeface="Times New Roman" panose="02020603050405020304" pitchFamily="18" charset="0"/>
                <a:cs typeface="Times New Roman" panose="02020603050405020304" pitchFamily="18" charset="0"/>
              </a:rPr>
              <a:t>Pn</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XiYj</a:t>
            </a:r>
            <a:r>
              <a:rPr lang="en-US" sz="2400" dirty="0">
                <a:latin typeface="Times New Roman" panose="02020603050405020304" pitchFamily="18" charset="0"/>
                <a:cs typeface="Times New Roman" panose="02020603050405020304" pitchFamily="18" charset="0"/>
              </a:rPr>
              <a:t> is called the summand. </a:t>
            </a:r>
          </a:p>
        </p:txBody>
      </p:sp>
      <p:sp>
        <p:nvSpPr>
          <p:cNvPr id="4" name="Footer Placeholder 3">
            <a:extLst>
              <a:ext uri="{FF2B5EF4-FFF2-40B4-BE49-F238E27FC236}">
                <a16:creationId xmlns:a16="http://schemas.microsoft.com/office/drawing/2014/main" id="{B2CE2559-1652-036F-CFD8-1C1D92975997}"/>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0AA2BEFD-DFE4-CDFA-4EFB-1A95D6C00E1D}"/>
              </a:ext>
            </a:extLst>
          </p:cNvPr>
          <p:cNvPicPr>
            <a:picLocks noChangeAspect="1"/>
          </p:cNvPicPr>
          <p:nvPr/>
        </p:nvPicPr>
        <p:blipFill>
          <a:blip r:embed="rId3"/>
          <a:stretch>
            <a:fillRect/>
          </a:stretch>
        </p:blipFill>
        <p:spPr>
          <a:xfrm>
            <a:off x="4770005" y="2142191"/>
            <a:ext cx="2651990" cy="784928"/>
          </a:xfrm>
          <a:prstGeom prst="rect">
            <a:avLst/>
          </a:prstGeom>
        </p:spPr>
      </p:pic>
      <p:pic>
        <p:nvPicPr>
          <p:cNvPr id="9" name="Picture 8">
            <a:extLst>
              <a:ext uri="{FF2B5EF4-FFF2-40B4-BE49-F238E27FC236}">
                <a16:creationId xmlns:a16="http://schemas.microsoft.com/office/drawing/2014/main" id="{F80AE832-0736-41E6-5B03-E338CDC7759F}"/>
              </a:ext>
            </a:extLst>
          </p:cNvPr>
          <p:cNvPicPr>
            <a:picLocks noChangeAspect="1"/>
          </p:cNvPicPr>
          <p:nvPr/>
        </p:nvPicPr>
        <p:blipFill>
          <a:blip r:embed="rId4"/>
          <a:stretch>
            <a:fillRect/>
          </a:stretch>
        </p:blipFill>
        <p:spPr>
          <a:xfrm>
            <a:off x="3344941" y="4141068"/>
            <a:ext cx="5502117" cy="1463167"/>
          </a:xfrm>
          <a:prstGeom prst="rect">
            <a:avLst/>
          </a:prstGeom>
        </p:spPr>
      </p:pic>
    </p:spTree>
    <p:extLst>
      <p:ext uri="{BB962C8B-B14F-4D97-AF65-F5344CB8AC3E}">
        <p14:creationId xmlns:p14="http://schemas.microsoft.com/office/powerpoint/2010/main" val="32484321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D923E7-EACB-D877-D657-2E6F9A67BE24}"/>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8DEB3F5E-7C7C-756F-696E-60D8BE8E509E}"/>
              </a:ext>
            </a:extLst>
          </p:cNvPr>
          <p:cNvPicPr>
            <a:picLocks noChangeAspect="1"/>
          </p:cNvPicPr>
          <p:nvPr/>
        </p:nvPicPr>
        <p:blipFill>
          <a:blip r:embed="rId2"/>
          <a:stretch>
            <a:fillRect/>
          </a:stretch>
        </p:blipFill>
        <p:spPr>
          <a:xfrm>
            <a:off x="1823431" y="2136085"/>
            <a:ext cx="8771380" cy="2453853"/>
          </a:xfrm>
          <a:prstGeom prst="rect">
            <a:avLst/>
          </a:prstGeom>
        </p:spPr>
      </p:pic>
      <p:sp>
        <p:nvSpPr>
          <p:cNvPr id="6" name="TextBox 5">
            <a:extLst>
              <a:ext uri="{FF2B5EF4-FFF2-40B4-BE49-F238E27FC236}">
                <a16:creationId xmlns:a16="http://schemas.microsoft.com/office/drawing/2014/main" id="{B82588A1-1E53-08DC-C454-930184FCAE1D}"/>
              </a:ext>
            </a:extLst>
          </p:cNvPr>
          <p:cNvSpPr txBox="1"/>
          <p:nvPr/>
        </p:nvSpPr>
        <p:spPr>
          <a:xfrm>
            <a:off x="4114783" y="1662987"/>
            <a:ext cx="609442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TABLE: General Multiplication Algorithm </a:t>
            </a:r>
          </a:p>
        </p:txBody>
      </p:sp>
    </p:spTree>
    <p:extLst>
      <p:ext uri="{BB962C8B-B14F-4D97-AF65-F5344CB8AC3E}">
        <p14:creationId xmlns:p14="http://schemas.microsoft.com/office/powerpoint/2010/main" val="22723038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AF77-D909-E15C-F0EE-E2C6C4C64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0908C-950D-3A8A-9293-E9A03C530703}"/>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9DE861-FB9A-A9E1-2C93-016A8F517604}"/>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Shift/add multiplication algorithms: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Sequential (1-bit-at-a-time) multiplication is performed by initializing the cumulative partial product to 0.</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algorithm successively adds shifted versions of the multiplicand to the cumulative partial product.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successive term to be added is shifted by one bit relative to the previous term.</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Instead of shifting the multiplicand repeatedly, a simpler method is to shift the cumulative partial product to align it with the next partial product.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Two versions of the algorithm exist depending on the order in which partial products are processed:</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Top-to-bottom processing</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Bottom-to-top processing</a:t>
            </a:r>
          </a:p>
          <a:p>
            <a:pPr marL="0" indent="0" algn="just">
              <a:buNone/>
            </a:pPr>
            <a:r>
              <a:rPr lang="en-US" sz="2400" b="1" dirty="0">
                <a:latin typeface="Times New Roman" panose="02020603050405020304" pitchFamily="18" charset="0"/>
                <a:cs typeface="Times New Roman" panose="02020603050405020304" pitchFamily="18" charset="0"/>
              </a:rPr>
              <a:t>  </a:t>
            </a:r>
          </a:p>
        </p:txBody>
      </p:sp>
      <p:sp>
        <p:nvSpPr>
          <p:cNvPr id="4" name="Footer Placeholder 3">
            <a:extLst>
              <a:ext uri="{FF2B5EF4-FFF2-40B4-BE49-F238E27FC236}">
                <a16:creationId xmlns:a16="http://schemas.microsoft.com/office/drawing/2014/main" id="{DB643363-F279-6485-9E7C-688254DCC33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311736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2994A-D9DA-7A65-3AEC-A67212709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34540-55E3-6CCD-5A98-BC2089D59EF0}"/>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619CD0-49B9-BB91-1F90-35D9550B6DE6}"/>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Shift/add multiplication algorithms:</a:t>
                </a:r>
              </a:p>
              <a:p>
                <a:pPr marL="0" indent="0" algn="just">
                  <a:buNone/>
                </a:pPr>
                <a:r>
                  <a:rPr lang="en-US" sz="2400" b="1" dirty="0">
                    <a:latin typeface="Times New Roman" panose="02020603050405020304" pitchFamily="18" charset="0"/>
                    <a:cs typeface="Times New Roman" panose="02020603050405020304" pitchFamily="18" charset="0"/>
                  </a:rPr>
                  <a:t>Right-Shift Multiplication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method, partial products accumulate from top to bottom.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operation sequence is:</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 the partial product</a:t>
                </a:r>
              </a:p>
              <a:p>
                <a:pPr lvl="1"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Shift the result right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right shifts multiply the first partial product by </a:t>
                </a:r>
                <a14:m>
                  <m:oMath xmlns:m="http://schemas.openxmlformats.org/officeDocument/2006/math">
                    <m:sSup>
                      <m:sSupPr>
                        <m:ctrlPr>
                          <a:rPr lang="en-US" sz="2400" i="1" smtClean="0">
                            <a:latin typeface="Cambria Math" panose="02040503050406030204" pitchFamily="18" charset="0"/>
                            <a:cs typeface="Times New Roman" panose="02020603050405020304" pitchFamily="18" charset="0"/>
                          </a:rPr>
                        </m:ctrlPr>
                      </m:sSupPr>
                      <m:e>
                        <m:r>
                          <a:rPr lang="en-IN" sz="2400" b="0" i="1" smtClean="0">
                            <a:latin typeface="Cambria Math" panose="02040503050406030204" pitchFamily="18" charset="0"/>
                            <a:cs typeface="Times New Roman" panose="02020603050405020304" pitchFamily="18" charset="0"/>
                          </a:rPr>
                          <m:t>2</m:t>
                        </m:r>
                      </m:e>
                      <m:sup>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𝑛</m:t>
                        </m:r>
                      </m:sup>
                    </m:sSup>
                    <m:r>
                      <a:rPr lang="en-IN" sz="2400" b="0" i="0" smtClean="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the</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multiplicand</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is</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premultiplied</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by</m:t>
                    </m:r>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IN" sz="2400" i="1">
                            <a:latin typeface="Cambria Math" panose="02040503050406030204" pitchFamily="18" charset="0"/>
                            <a:cs typeface="Times New Roman" panose="02020603050405020304" pitchFamily="18" charset="0"/>
                          </a:rPr>
                          <m:t>2</m:t>
                        </m:r>
                      </m:e>
                      <m:sup>
                        <m:r>
                          <a:rPr lang="en-IN" sz="2400" b="0" i="1" smtClean="0">
                            <a:latin typeface="Cambria Math" panose="02040503050406030204" pitchFamily="18" charset="0"/>
                            <a:cs typeface="Times New Roman" panose="02020603050405020304" pitchFamily="18" charset="0"/>
                          </a:rPr>
                          <m:t>𝑛</m:t>
                        </m:r>
                      </m:sup>
                    </m:sSup>
                    <m:r>
                      <a:rPr lang="en-IN" sz="2400" b="0" i="1" smtClean="0">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𝑡𝑜</m:t>
                    </m:r>
                    <m:r>
                      <a:rPr lang="en-IN" sz="2400" b="0" i="1" smtClean="0">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𝑐𝑜𝑚𝑝𝑒𝑛𝑠𝑎𝑡𝑒</m:t>
                    </m:r>
                    <m:r>
                      <a:rPr lang="en-IN" sz="2400" b="0" i="1" smtClean="0">
                        <a:latin typeface="Cambria Math" panose="02040503050406030204" pitchFamily="18" charset="0"/>
                        <a:cs typeface="Times New Roman" panose="02020603050405020304" pitchFamily="18" charset="0"/>
                      </a:rPr>
                      <m:t>.</m:t>
                    </m:r>
                  </m:oMath>
                </a14:m>
                <a:endParaRPr lang="en-IN" sz="2400" b="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t>
                </a:r>
                <a:r>
                  <a:rPr lang="en-US" sz="2400" dirty="0" err="1">
                    <a:latin typeface="Times New Roman" panose="02020603050405020304" pitchFamily="18" charset="0"/>
                    <a:cs typeface="Times New Roman" panose="02020603050405020304" pitchFamily="18" charset="0"/>
                  </a:rPr>
                  <a:t>premultiplication</a:t>
                </a:r>
                <a:r>
                  <a:rPr lang="en-US" sz="2400" dirty="0">
                    <a:latin typeface="Times New Roman" panose="02020603050405020304" pitchFamily="18" charset="0"/>
                    <a:cs typeface="Times New Roman" panose="02020603050405020304" pitchFamily="18" charset="0"/>
                  </a:rPr>
                  <a:t> aligns the multiplicand with the upper half of the 2𝑛-bit cumulative partial product.</a:t>
                </a:r>
              </a:p>
              <a:p>
                <a:pPr marL="0" indent="0" algn="just">
                  <a:buNone/>
                </a:pPr>
                <a:r>
                  <a:rPr lang="en-US" sz="2400" b="1" dirty="0">
                    <a:latin typeface="Times New Roman" panose="02020603050405020304" pitchFamily="18" charset="0"/>
                    <a:cs typeface="Times New Roman" panose="02020603050405020304" pitchFamily="18" charset="0"/>
                  </a:rPr>
                  <a:t> </a:t>
                </a:r>
              </a:p>
            </p:txBody>
          </p:sp>
        </mc:Choice>
        <mc:Fallback xmlns="">
          <p:sp>
            <p:nvSpPr>
              <p:cNvPr id="3" name="Content Placeholder 2">
                <a:extLst>
                  <a:ext uri="{FF2B5EF4-FFF2-40B4-BE49-F238E27FC236}">
                    <a16:creationId xmlns:a16="http://schemas.microsoft.com/office/drawing/2014/main" id="{C3619CD0-49B9-BB91-1F90-35D9550B6DE6}"/>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848" t="-999"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CF84653E-96D2-E26C-880C-AE06DBAB4AE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191982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3349-75FC-17F9-D710-4FA8BEC281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5759A2-F3A2-2C60-39D0-77FFDD8B400F}"/>
              </a:ext>
            </a:extLst>
          </p:cNvPr>
          <p:cNvSpPr>
            <a:spLocks noGrp="1"/>
          </p:cNvSpPr>
          <p:nvPr>
            <p:ph idx="1"/>
          </p:nvPr>
        </p:nvSpPr>
        <p:spPr>
          <a:xfrm>
            <a:off x="1489436" y="226243"/>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Shift/add multiplication algorithms:</a:t>
            </a:r>
          </a:p>
          <a:p>
            <a:pPr marL="0" indent="0" algn="just">
              <a:buNone/>
            </a:pPr>
            <a:r>
              <a:rPr lang="en-US" sz="2400" b="1" dirty="0">
                <a:latin typeface="Times New Roman" panose="02020603050405020304" pitchFamily="18" charset="0"/>
                <a:cs typeface="Times New Roman" panose="02020603050405020304" pitchFamily="18" charset="0"/>
              </a:rPr>
              <a:t>Right-Shift Multiplication Example (Top → Bottom):</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C6011A6-21F5-4592-914C-960CEE23C285}"/>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592C2092-1F5F-99AD-D2CB-2E7C54C7A662}"/>
              </a:ext>
            </a:extLst>
          </p:cNvPr>
          <p:cNvPicPr>
            <a:picLocks noChangeAspect="1"/>
          </p:cNvPicPr>
          <p:nvPr/>
        </p:nvPicPr>
        <p:blipFill>
          <a:blip r:embed="rId3"/>
          <a:stretch>
            <a:fillRect/>
          </a:stretch>
        </p:blipFill>
        <p:spPr>
          <a:xfrm>
            <a:off x="2157403" y="1137261"/>
            <a:ext cx="7445385" cy="5494496"/>
          </a:xfrm>
          <a:prstGeom prst="rect">
            <a:avLst/>
          </a:prstGeom>
        </p:spPr>
      </p:pic>
    </p:spTree>
    <p:extLst>
      <p:ext uri="{BB962C8B-B14F-4D97-AF65-F5344CB8AC3E}">
        <p14:creationId xmlns:p14="http://schemas.microsoft.com/office/powerpoint/2010/main" val="4323495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8C8E9-ED76-485A-5E99-6FDD79EA63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59F6B-D34B-92DF-89B0-45B09602B2D9}"/>
              </a:ext>
            </a:extLst>
          </p:cNvPr>
          <p:cNvSpPr>
            <a:spLocks noGrp="1"/>
          </p:cNvSpPr>
          <p:nvPr>
            <p:ph idx="1"/>
          </p:nvPr>
        </p:nvSpPr>
        <p:spPr>
          <a:xfrm>
            <a:off x="1489436" y="226243"/>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Shift/add multiplication algorithms:</a:t>
            </a:r>
          </a:p>
          <a:p>
            <a:pPr marL="0" indent="0" algn="just">
              <a:buNone/>
            </a:pPr>
            <a:r>
              <a:rPr lang="en-US" sz="2400" b="1" dirty="0">
                <a:latin typeface="Times New Roman" panose="02020603050405020304" pitchFamily="18" charset="0"/>
                <a:cs typeface="Times New Roman" panose="02020603050405020304" pitchFamily="18" charset="0"/>
              </a:rPr>
              <a:t>Left-Shift Multiplication Example (Top → Bottom):</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0EC7FDF-F3AE-7641-334A-D73ACEA76C4B}"/>
              </a:ext>
            </a:extLst>
          </p:cNvPr>
          <p:cNvSpPr>
            <a:spLocks noGrp="1"/>
          </p:cNvSpPr>
          <p:nvPr>
            <p:ph type="ftr" sz="quarter" idx="11"/>
          </p:nvPr>
        </p:nvSpPr>
        <p:spPr/>
        <p:txBody>
          <a:bodyPr/>
          <a:lstStyle/>
          <a:p>
            <a:r>
              <a:rPr lang="en-IN" dirty="0"/>
              <a:t>Dr. Aruru Sai Kumar , VIT-AP</a:t>
            </a:r>
          </a:p>
        </p:txBody>
      </p:sp>
      <p:pic>
        <p:nvPicPr>
          <p:cNvPr id="5" name="Picture 4">
            <a:extLst>
              <a:ext uri="{FF2B5EF4-FFF2-40B4-BE49-F238E27FC236}">
                <a16:creationId xmlns:a16="http://schemas.microsoft.com/office/drawing/2014/main" id="{80602C71-C790-0A8B-9207-81823AEC0215}"/>
              </a:ext>
            </a:extLst>
          </p:cNvPr>
          <p:cNvPicPr>
            <a:picLocks noChangeAspect="1"/>
          </p:cNvPicPr>
          <p:nvPr/>
        </p:nvPicPr>
        <p:blipFill>
          <a:blip r:embed="rId3"/>
          <a:stretch>
            <a:fillRect/>
          </a:stretch>
        </p:blipFill>
        <p:spPr>
          <a:xfrm>
            <a:off x="2350445" y="1422786"/>
            <a:ext cx="7491109" cy="4389500"/>
          </a:xfrm>
          <a:prstGeom prst="rect">
            <a:avLst/>
          </a:prstGeom>
        </p:spPr>
      </p:pic>
    </p:spTree>
    <p:extLst>
      <p:ext uri="{BB962C8B-B14F-4D97-AF65-F5344CB8AC3E}">
        <p14:creationId xmlns:p14="http://schemas.microsoft.com/office/powerpoint/2010/main" val="13494056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EC55-F624-4329-EF61-7D4290211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9FE56-CE4B-7F3C-0F5F-CB5253011E36}"/>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684ED4-F4FC-1861-5B59-E93CD3670D99}"/>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Shift/add multiplication algorithms:</a:t>
            </a:r>
          </a:p>
          <a:p>
            <a:pPr marL="0" indent="0" algn="just">
              <a:buNone/>
            </a:pPr>
            <a:r>
              <a:rPr lang="en-US" sz="2400" b="1" dirty="0">
                <a:latin typeface="Times New Roman" panose="02020603050405020304" pitchFamily="18" charset="0"/>
                <a:cs typeface="Times New Roman" panose="02020603050405020304" pitchFamily="18" charset="0"/>
              </a:rPr>
              <a:t>Left-Shift Multiplication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this method, partial products accumulate from bottom to top.</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operation sequence is: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Shift the cumulative product left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the partial product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naturally aligns the partial products without requiring </a:t>
            </a:r>
            <a:r>
              <a:rPr lang="en-US" sz="2400" dirty="0" err="1">
                <a:latin typeface="Times New Roman" panose="02020603050405020304" pitchFamily="18" charset="0"/>
                <a:cs typeface="Times New Roman" panose="02020603050405020304" pitchFamily="18" charset="0"/>
              </a:rPr>
              <a:t>premultiplication</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F183795-572A-EAFD-26AF-FEE076CD7AC8}"/>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4478815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5057-20CB-E567-2D3B-098EF981E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980B8-F0B8-0D17-3FC8-AEE709DF5A06}"/>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A75AD-9353-1F8D-2A5B-C04F57D0A32E}"/>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Multiplication of signed numbers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Generally, for the multiplication of signed numbers, the negative number is first converted to its 2’s complement representation, thus making sure that all the partial products are positive.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Consider the multiplication of an n-bit X and —Y. Converting the negative number of Y to its 2’s complement format results in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IN" sz="2400" i="1">
                            <a:latin typeface="Cambria Math" panose="02040503050406030204" pitchFamily="18" charset="0"/>
                            <a:cs typeface="Times New Roman" panose="02020603050405020304" pitchFamily="18" charset="0"/>
                          </a:rPr>
                          <m:t>2</m:t>
                        </m:r>
                      </m:e>
                      <m:sup>
                        <m:r>
                          <a:rPr lang="en-IN" sz="2400" i="1">
                            <a:latin typeface="Cambria Math" panose="02040503050406030204" pitchFamily="18" charset="0"/>
                            <a:cs typeface="Times New Roman" panose="02020603050405020304" pitchFamily="18" charset="0"/>
                          </a:rPr>
                          <m:t>𝑛</m:t>
                        </m:r>
                      </m:sup>
                    </m:sSup>
                  </m:oMath>
                </a14:m>
                <a:r>
                  <a:rPr lang="en-US" sz="2400" dirty="0">
                    <a:latin typeface="Times New Roman" panose="02020603050405020304" pitchFamily="18" charset="0"/>
                    <a:cs typeface="Times New Roman" panose="02020603050405020304" pitchFamily="18" charset="0"/>
                  </a:rPr>
                  <a:t> - Y ). The product in the 2’s complement context, based on direct multiplication, is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product differs from the expected result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9CA75AD-9353-1F8D-2A5B-C04F57D0A32E}"/>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848" t="-999"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F6B30366-5E46-CD07-A694-A5222722F03D}"/>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225CF3FC-4AFD-A405-E367-A9224DB65D23}"/>
              </a:ext>
            </a:extLst>
          </p:cNvPr>
          <p:cNvPicPr>
            <a:picLocks noChangeAspect="1"/>
          </p:cNvPicPr>
          <p:nvPr/>
        </p:nvPicPr>
        <p:blipFill>
          <a:blip r:embed="rId4"/>
          <a:stretch>
            <a:fillRect/>
          </a:stretch>
        </p:blipFill>
        <p:spPr>
          <a:xfrm>
            <a:off x="3028043" y="4160725"/>
            <a:ext cx="5532599" cy="685859"/>
          </a:xfrm>
          <a:prstGeom prst="rect">
            <a:avLst/>
          </a:prstGeom>
        </p:spPr>
      </p:pic>
      <p:pic>
        <p:nvPicPr>
          <p:cNvPr id="8" name="Picture 7">
            <a:extLst>
              <a:ext uri="{FF2B5EF4-FFF2-40B4-BE49-F238E27FC236}">
                <a16:creationId xmlns:a16="http://schemas.microsoft.com/office/drawing/2014/main" id="{9C04A2D7-87AC-F68D-65EE-E9AEC8A8E4E2}"/>
              </a:ext>
            </a:extLst>
          </p:cNvPr>
          <p:cNvPicPr>
            <a:picLocks noChangeAspect="1"/>
          </p:cNvPicPr>
          <p:nvPr/>
        </p:nvPicPr>
        <p:blipFill>
          <a:blip r:embed="rId5"/>
          <a:stretch>
            <a:fillRect/>
          </a:stretch>
        </p:blipFill>
        <p:spPr>
          <a:xfrm>
            <a:off x="3852040" y="5632844"/>
            <a:ext cx="3337849" cy="502964"/>
          </a:xfrm>
          <a:prstGeom prst="rect">
            <a:avLst/>
          </a:prstGeom>
        </p:spPr>
      </p:pic>
    </p:spTree>
    <p:extLst>
      <p:ext uri="{BB962C8B-B14F-4D97-AF65-F5344CB8AC3E}">
        <p14:creationId xmlns:p14="http://schemas.microsoft.com/office/powerpoint/2010/main" val="11206967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4108-E546-F853-F854-E0AE0AE94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0D17C-A215-5703-4FFF-35D6E4B00746}"/>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Overview of Multiplication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6AEA3E-9884-4A3D-8DDE-C68F24111579}"/>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Multiplication of signed numbers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400" i="1" smtClean="0">
                            <a:latin typeface="Cambria Math" panose="02040503050406030204" pitchFamily="18" charset="0"/>
                            <a:cs typeface="Times New Roman" panose="02020603050405020304" pitchFamily="18" charset="0"/>
                          </a:rPr>
                        </m:ctrlPr>
                      </m:sSupPr>
                      <m:e>
                        <m:r>
                          <a:rPr lang="en-IN" sz="2400" b="0" i="1" smtClean="0">
                            <a:latin typeface="Cambria Math" panose="02040503050406030204" pitchFamily="18" charset="0"/>
                            <a:cs typeface="Times New Roman" panose="02020603050405020304" pitchFamily="18" charset="0"/>
                          </a:rPr>
                          <m:t>2</m:t>
                        </m:r>
                      </m:e>
                      <m:sup>
                        <m:sSup>
                          <m:sSupPr>
                            <m:ctrlPr>
                              <a:rPr lang="en-US" sz="2400" i="1" smtClean="0">
                                <a:latin typeface="Cambria Math" panose="02040503050406030204" pitchFamily="18" charset="0"/>
                                <a:cs typeface="Times New Roman" panose="02020603050405020304" pitchFamily="18" charset="0"/>
                              </a:rPr>
                            </m:ctrlPr>
                          </m:sSupPr>
                          <m:e>
                            <m:r>
                              <a:rPr lang="en-IN" sz="2400" b="0" i="1" smtClean="0">
                                <a:latin typeface="Cambria Math" panose="02040503050406030204" pitchFamily="18" charset="0"/>
                                <a:cs typeface="Times New Roman" panose="02020603050405020304" pitchFamily="18" charset="0"/>
                              </a:rPr>
                              <m:t>2</m:t>
                            </m:r>
                          </m:e>
                          <m:sup>
                            <m:r>
                              <a:rPr lang="en-IN" sz="2400" b="0" i="1" smtClean="0">
                                <a:latin typeface="Cambria Math" panose="02040503050406030204" pitchFamily="18" charset="0"/>
                                <a:cs typeface="Times New Roman" panose="02020603050405020304" pitchFamily="18" charset="0"/>
                              </a:rPr>
                              <m:t>𝑛</m:t>
                            </m:r>
                          </m:sup>
                        </m:sSup>
                      </m:sup>
                    </m:sSup>
                  </m:oMath>
                </a14:m>
                <a:r>
                  <a:rPr lang="en-US" sz="2400" dirty="0">
                    <a:latin typeface="Times New Roman" panose="02020603050405020304" pitchFamily="18" charset="0"/>
                    <a:cs typeface="Times New Roman" panose="02020603050405020304" pitchFamily="18" charset="0"/>
                  </a:rPr>
                  <a:t>- XY) is the 2’s complement representation of -XY. Therefore, P’ deviates from the actual result P by</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IN" sz="2400" i="1">
                            <a:latin typeface="Cambria Math" panose="02040503050406030204" pitchFamily="18" charset="0"/>
                            <a:cs typeface="Times New Roman" panose="02020603050405020304" pitchFamily="18" charset="0"/>
                          </a:rPr>
                          <m:t>2</m:t>
                        </m:r>
                      </m:e>
                      <m:sup>
                        <m:r>
                          <a:rPr lang="en-IN" sz="2400" i="1">
                            <a:latin typeface="Cambria Math" panose="02040503050406030204" pitchFamily="18" charset="0"/>
                            <a:cs typeface="Times New Roman" panose="02020603050405020304" pitchFamily="18" charset="0"/>
                          </a:rPr>
                          <m:t>𝑛</m:t>
                        </m:r>
                      </m:sup>
                    </m:sSup>
                  </m:oMath>
                </a14:m>
                <a:r>
                  <a:rPr lang="en-US" sz="24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IN" sz="2400" i="1">
                            <a:latin typeface="Cambria Math" panose="02040503050406030204" pitchFamily="18" charset="0"/>
                            <a:cs typeface="Times New Roman" panose="02020603050405020304" pitchFamily="18" charset="0"/>
                          </a:rPr>
                          <m:t>2</m:t>
                        </m:r>
                      </m:e>
                      <m:sup>
                        <m:r>
                          <a:rPr lang="en-IN" sz="2400" i="1">
                            <a:latin typeface="Cambria Math" panose="02040503050406030204" pitchFamily="18" charset="0"/>
                            <a:cs typeface="Times New Roman" panose="02020603050405020304" pitchFamily="18" charset="0"/>
                          </a:rPr>
                          <m:t>𝑛</m:t>
                        </m:r>
                      </m:sup>
                    </m:sSup>
                  </m:oMath>
                </a14:m>
                <a:r>
                  <a:rPr lang="en-US" sz="2400" dirty="0">
                    <a:latin typeface="Times New Roman" panose="02020603050405020304" pitchFamily="18" charset="0"/>
                    <a:cs typeface="Times New Roman" panose="02020603050405020304" pitchFamily="18" charset="0"/>
                  </a:rPr>
                  <a:t> - X ) is the correction factor to be added. This is done by taking the 2’s complement of X and then shifting it to the left by n positions.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corrective factor is then added to the precomputed product of P’.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C6AEA3E-9884-4A3D-8DDE-C68F24111579}"/>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848" t="-999"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C3273DA0-9F7E-CF3B-B23E-7924D409CA54}"/>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07D77CCE-D693-4B22-F451-C8A30FC704C9}"/>
              </a:ext>
            </a:extLst>
          </p:cNvPr>
          <p:cNvPicPr>
            <a:picLocks noChangeAspect="1"/>
          </p:cNvPicPr>
          <p:nvPr/>
        </p:nvPicPr>
        <p:blipFill>
          <a:blip r:embed="rId4"/>
          <a:stretch>
            <a:fillRect/>
          </a:stretch>
        </p:blipFill>
        <p:spPr>
          <a:xfrm>
            <a:off x="3660383" y="2702170"/>
            <a:ext cx="4663844" cy="548688"/>
          </a:xfrm>
          <a:prstGeom prst="rect">
            <a:avLst/>
          </a:prstGeom>
        </p:spPr>
      </p:pic>
    </p:spTree>
    <p:extLst>
      <p:ext uri="{BB962C8B-B14F-4D97-AF65-F5344CB8AC3E}">
        <p14:creationId xmlns:p14="http://schemas.microsoft.com/office/powerpoint/2010/main" val="38041087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10D3CB8-766C-0999-D338-0D2584BA75E1}"/>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4BD5497-C05F-CD81-4657-0F05C6B078B8}"/>
              </a:ext>
            </a:extLst>
          </p:cNvPr>
          <p:cNvPicPr>
            <a:picLocks noChangeAspect="1"/>
          </p:cNvPicPr>
          <p:nvPr/>
        </p:nvPicPr>
        <p:blipFill>
          <a:blip r:embed="rId2"/>
          <a:stretch>
            <a:fillRect/>
          </a:stretch>
        </p:blipFill>
        <p:spPr>
          <a:xfrm>
            <a:off x="2078594" y="1176406"/>
            <a:ext cx="7835626" cy="3782092"/>
          </a:xfrm>
          <a:prstGeom prst="rect">
            <a:avLst/>
          </a:prstGeom>
        </p:spPr>
      </p:pic>
    </p:spTree>
    <p:extLst>
      <p:ext uri="{BB962C8B-B14F-4D97-AF65-F5344CB8AC3E}">
        <p14:creationId xmlns:p14="http://schemas.microsoft.com/office/powerpoint/2010/main" val="2147381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BAFEB-A1E2-C09A-B0E6-622D2F9B8CC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DD7968-334B-AF08-2F93-E872AC2D5431}"/>
              </a:ext>
            </a:extLst>
          </p:cNvPr>
          <p:cNvSpPr>
            <a:spLocks noGrp="1"/>
          </p:cNvSpPr>
          <p:nvPr>
            <p:ph type="ftr" sz="quarter" idx="11"/>
          </p:nvPr>
        </p:nvSpPr>
        <p:spPr/>
        <p:txBody>
          <a:bodyPr/>
          <a:lstStyle/>
          <a:p>
            <a:r>
              <a:rPr lang="en-IN"/>
              <a:t>Dr. Aruru Sai Kumar , VIT-AP</a:t>
            </a:r>
            <a:endParaRPr lang="en-IN" dirty="0"/>
          </a:p>
        </p:txBody>
      </p:sp>
      <p:pic>
        <p:nvPicPr>
          <p:cNvPr id="5" name="Picture 4">
            <a:extLst>
              <a:ext uri="{FF2B5EF4-FFF2-40B4-BE49-F238E27FC236}">
                <a16:creationId xmlns:a16="http://schemas.microsoft.com/office/drawing/2014/main" id="{C16003F9-34A9-415E-3029-6E649C6B148D}"/>
              </a:ext>
            </a:extLst>
          </p:cNvPr>
          <p:cNvPicPr>
            <a:picLocks noChangeAspect="1"/>
          </p:cNvPicPr>
          <p:nvPr/>
        </p:nvPicPr>
        <p:blipFill>
          <a:blip r:embed="rId2"/>
          <a:stretch>
            <a:fillRect/>
          </a:stretch>
        </p:blipFill>
        <p:spPr>
          <a:xfrm>
            <a:off x="3139184" y="1249491"/>
            <a:ext cx="5913632" cy="4359018"/>
          </a:xfrm>
          <a:prstGeom prst="rect">
            <a:avLst/>
          </a:prstGeom>
        </p:spPr>
      </p:pic>
    </p:spTree>
    <p:extLst>
      <p:ext uri="{BB962C8B-B14F-4D97-AF65-F5344CB8AC3E}">
        <p14:creationId xmlns:p14="http://schemas.microsoft.com/office/powerpoint/2010/main" val="26023469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5BA923-2963-75DC-E907-1D914A7A4536}"/>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8A1601D3-34DD-88F8-7747-9C69C7C73794}"/>
              </a:ext>
            </a:extLst>
          </p:cNvPr>
          <p:cNvPicPr>
            <a:picLocks noChangeAspect="1"/>
          </p:cNvPicPr>
          <p:nvPr/>
        </p:nvPicPr>
        <p:blipFill>
          <a:blip r:embed="rId2"/>
          <a:stretch>
            <a:fillRect/>
          </a:stretch>
        </p:blipFill>
        <p:spPr>
          <a:xfrm>
            <a:off x="3663623" y="868236"/>
            <a:ext cx="5128704" cy="4801016"/>
          </a:xfrm>
          <a:prstGeom prst="rect">
            <a:avLst/>
          </a:prstGeom>
        </p:spPr>
      </p:pic>
    </p:spTree>
    <p:extLst>
      <p:ext uri="{BB962C8B-B14F-4D97-AF65-F5344CB8AC3E}">
        <p14:creationId xmlns:p14="http://schemas.microsoft.com/office/powerpoint/2010/main" val="15507921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2B07-ADB2-3377-3A7F-D9C94C83B93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8A3B7B-56BF-B43A-20C8-5E6B9C7CB52F}"/>
              </a:ext>
            </a:extLst>
          </p:cNvPr>
          <p:cNvSpPr>
            <a:spLocks noGrp="1"/>
          </p:cNvSpPr>
          <p:nvPr>
            <p:ph type="ftr" sz="quarter" idx="11"/>
          </p:nvPr>
        </p:nvSpPr>
        <p:spPr/>
        <p:txBody>
          <a:bodyPr/>
          <a:lstStyle/>
          <a:p>
            <a:r>
              <a:rPr lang="en-IN"/>
              <a:t>Dr. Aruru Sai Kumar , VIT-AP</a:t>
            </a:r>
            <a:endParaRPr lang="en-IN" dirty="0"/>
          </a:p>
        </p:txBody>
      </p:sp>
      <p:pic>
        <p:nvPicPr>
          <p:cNvPr id="5" name="Picture 4">
            <a:extLst>
              <a:ext uri="{FF2B5EF4-FFF2-40B4-BE49-F238E27FC236}">
                <a16:creationId xmlns:a16="http://schemas.microsoft.com/office/drawing/2014/main" id="{67D6CF2B-6DDB-9F01-BE7D-B7EB147EB840}"/>
              </a:ext>
            </a:extLst>
          </p:cNvPr>
          <p:cNvPicPr>
            <a:picLocks noChangeAspect="1"/>
          </p:cNvPicPr>
          <p:nvPr/>
        </p:nvPicPr>
        <p:blipFill>
          <a:blip r:embed="rId2"/>
          <a:stretch>
            <a:fillRect/>
          </a:stretch>
        </p:blipFill>
        <p:spPr>
          <a:xfrm>
            <a:off x="3344941" y="737077"/>
            <a:ext cx="5502117" cy="5006774"/>
          </a:xfrm>
          <a:prstGeom prst="rect">
            <a:avLst/>
          </a:prstGeom>
        </p:spPr>
      </p:pic>
    </p:spTree>
    <p:extLst>
      <p:ext uri="{BB962C8B-B14F-4D97-AF65-F5344CB8AC3E}">
        <p14:creationId xmlns:p14="http://schemas.microsoft.com/office/powerpoint/2010/main" val="10847051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7145B2-898D-FCF9-B940-753B6CA89BC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DE30AAF-D480-AAC5-04FE-BC405CE6912D}"/>
              </a:ext>
            </a:extLst>
          </p:cNvPr>
          <p:cNvPicPr>
            <a:picLocks noChangeAspect="1"/>
          </p:cNvPicPr>
          <p:nvPr/>
        </p:nvPicPr>
        <p:blipFill>
          <a:blip r:embed="rId2"/>
          <a:stretch>
            <a:fillRect/>
          </a:stretch>
        </p:blipFill>
        <p:spPr>
          <a:xfrm>
            <a:off x="2293752" y="974153"/>
            <a:ext cx="7604495" cy="2947398"/>
          </a:xfrm>
          <a:prstGeom prst="rect">
            <a:avLst/>
          </a:prstGeom>
        </p:spPr>
      </p:pic>
    </p:spTree>
    <p:extLst>
      <p:ext uri="{BB962C8B-B14F-4D97-AF65-F5344CB8AC3E}">
        <p14:creationId xmlns:p14="http://schemas.microsoft.com/office/powerpoint/2010/main" val="5582805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C121B-8B27-1550-D733-F6D9D6F0E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32F84-7B75-FA09-E8C7-9BD94E00BB8D}"/>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4.6 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27939A-177F-F868-DCA9-D91FBC9E42A3}"/>
              </a:ext>
            </a:extLst>
          </p:cNvPr>
          <p:cNvSpPr>
            <a:spLocks noGrp="1"/>
          </p:cNvSpPr>
          <p:nvPr>
            <p:ph idx="1"/>
          </p:nvPr>
        </p:nvSpPr>
        <p:spPr>
          <a:xfrm>
            <a:off x="1055803" y="1253765"/>
            <a:ext cx="10774836" cy="4882043"/>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The multiplier architecture can be generally classified into the following categories: serial, parallel, and serial-parallel. </a:t>
            </a:r>
          </a:p>
          <a:p>
            <a:pPr marL="0" indent="0" algn="just">
              <a:buNone/>
            </a:pPr>
            <a:r>
              <a:rPr lang="en-IN" sz="2400" b="1" dirty="0">
                <a:latin typeface="Times New Roman" panose="02020603050405020304" pitchFamily="18" charset="0"/>
                <a:cs typeface="Times New Roman" panose="02020603050405020304" pitchFamily="18" charset="0"/>
              </a:rPr>
              <a:t>Serial multipliers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serial multiplier uses a successive addition algorithm. They are simple in structure because both the operands are entered in a serial manner.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the physical circuit requires less hardware and a minimum amount of chip area.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the speed performance of the serial multiplier is poor due to the operands being entered sequentially. </a:t>
            </a: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C1059D1-DB6B-C98E-4017-427820745224}"/>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612490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E2DA-5A67-C7DD-538E-1D1887366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2435F-8B64-C46D-B1F5-2B834A127FB7}"/>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6BE8AB-36FB-9215-D91C-1101AC1DD8B8}"/>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Parallel multipliers: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Three important criteria considered in the design of multipliers are chip area, computation speed, and power dissipation.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Modern digital systems require high-speed arithmetic operations, and therefore many systems incorporate parallel multiplication units. In microprocessors, multipliers are used in the Arithmetic Logic Unit (ALU) to perform arithmetic computations efficiently.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Similarly, Digital Signal Processing (DSP) systems rely heavily on multipliers to implement algorithms such as convolution, filtering, and other signal processing operations. </a:t>
            </a:r>
          </a:p>
        </p:txBody>
      </p:sp>
      <p:sp>
        <p:nvSpPr>
          <p:cNvPr id="4" name="Footer Placeholder 3">
            <a:extLst>
              <a:ext uri="{FF2B5EF4-FFF2-40B4-BE49-F238E27FC236}">
                <a16:creationId xmlns:a16="http://schemas.microsoft.com/office/drawing/2014/main" id="{43078279-680D-FE30-EBA8-F1B0B08376A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2682424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3B53-3AC4-B87F-E487-554658251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DC713-DD84-A196-4DE8-54050E72082C}"/>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7379D2-2863-6EFD-82C9-FD7233E3AE43}"/>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Parallel multipliers: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Today, high-speed parallel multipliers with larger hardware resources and greater complexity are widely used in Reduced Instruction Set Computers (RISC), DSP processors, and graphics accelerators.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Common examples of parallel multipliers include array multipliers, such as the Braun multiplier and Baugh–Wooley multiplier, and tree multipliers, such as the Wallace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Array multipliers have a regular and structured layout, which makes them easier to implement in hardware, whereas tree multipliers are generally faster because they reduce the number of addition stages.</a:t>
            </a:r>
          </a:p>
        </p:txBody>
      </p:sp>
      <p:sp>
        <p:nvSpPr>
          <p:cNvPr id="4" name="Footer Placeholder 3">
            <a:extLst>
              <a:ext uri="{FF2B5EF4-FFF2-40B4-BE49-F238E27FC236}">
                <a16:creationId xmlns:a16="http://schemas.microsoft.com/office/drawing/2014/main" id="{CA81E06F-50EC-B6D8-4108-9DB5EC95181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1611116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AE192-5349-820B-A7D9-5C0529B8A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B7E28-B2EF-E575-7790-42518C7433FC}"/>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3C5184-3AC7-76AB-A92F-18845079424F}"/>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Parallel multipliers: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However, the main disadvantage of these parallel multipliers is their large chip area requirement.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Although they provide high-speed performance, they are relatively expensive in terms of silicon area and power consumption.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is because both operands are applied to the multiplier in parallel, which requires more hardware resources and increases circuit complexity when compared to serial multipliers, where operations are performed sequentially.</a:t>
            </a:r>
          </a:p>
        </p:txBody>
      </p:sp>
      <p:sp>
        <p:nvSpPr>
          <p:cNvPr id="4" name="Footer Placeholder 3">
            <a:extLst>
              <a:ext uri="{FF2B5EF4-FFF2-40B4-BE49-F238E27FC236}">
                <a16:creationId xmlns:a16="http://schemas.microsoft.com/office/drawing/2014/main" id="{EC17C395-3F56-4186-620C-928854D9CCE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536391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A5E2-2D08-EE41-B30B-274EEDFC6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9FC47-5710-DF92-240B-0F825186ADF1}"/>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044908-4D03-89AD-8679-D123067FCB4B}"/>
              </a:ext>
            </a:extLst>
          </p:cNvPr>
          <p:cNvSpPr>
            <a:spLocks noGrp="1"/>
          </p:cNvSpPr>
          <p:nvPr>
            <p:ph idx="1"/>
          </p:nvPr>
        </p:nvSpPr>
        <p:spPr>
          <a:xfrm>
            <a:off x="1055803" y="1253765"/>
            <a:ext cx="10774836" cy="4882043"/>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Serial-Parallel multipliers: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serial-parallel multiplier serves as a good trade-off between the time-consuming serial multiplier and the area-consuming parallel multipliers.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These multipliers are used when there is a demand for both high speed and small area.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 device using the serial-parallel multiplier, one operand is entered serially and the other is stored in parallel with a fixed number of bits.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resultant enhancement in the processing speed and the chip area will become more significant when a large number of independent operations are performed. </a:t>
            </a:r>
            <a:endParaRPr lang="en-US"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ABF502D-0835-ED8A-661A-B72299C372AC}"/>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8540333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8A8CF3-0A1F-6F0A-35C5-C73FABE34AEA}"/>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20AE2089-9DD9-74AB-73F3-76AAE4879881}"/>
              </a:ext>
            </a:extLst>
          </p:cNvPr>
          <p:cNvPicPr>
            <a:picLocks noChangeAspect="1"/>
          </p:cNvPicPr>
          <p:nvPr/>
        </p:nvPicPr>
        <p:blipFill>
          <a:blip r:embed="rId2"/>
          <a:stretch>
            <a:fillRect/>
          </a:stretch>
        </p:blipFill>
        <p:spPr>
          <a:xfrm>
            <a:off x="2081233" y="250471"/>
            <a:ext cx="8635956" cy="6357058"/>
          </a:xfrm>
          <a:prstGeom prst="rect">
            <a:avLst/>
          </a:prstGeom>
        </p:spPr>
      </p:pic>
    </p:spTree>
    <p:extLst>
      <p:ext uri="{BB962C8B-B14F-4D97-AF65-F5344CB8AC3E}">
        <p14:creationId xmlns:p14="http://schemas.microsoft.com/office/powerpoint/2010/main" val="18858040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953E2-82B1-9EE4-E5E5-1BB72987F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B8077-D3D6-BB73-6333-5B997BB9D7DD}"/>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ACD2FCA-BBCD-174A-BB99-B527B33E4113}"/>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1. 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a simple parallel multiplier that is commonly known as the Carry Save Array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multiplier is restricted to performing multiplication of two unsigned numbers.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consists of an array of AND gates and adders arranged in an iterative structure that does not require logic registers.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is also known as the non-additive multiplier since it does not add an additional operand to the result of the multiplication</a:t>
                </a:r>
                <a:r>
                  <a:rPr lang="en-US" sz="2400" dirty="0"/>
                  <a:t>.</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 </a:t>
                </a:r>
                <a:r>
                  <a:rPr lang="en-IN" sz="2400" dirty="0" err="1">
                    <a:latin typeface="Times New Roman" panose="02020603050405020304" pitchFamily="18" charset="0"/>
                    <a:cs typeface="Times New Roman" panose="02020603050405020304" pitchFamily="18" charset="0"/>
                  </a:rPr>
                  <a:t>nxn</a:t>
                </a:r>
                <a:r>
                  <a:rPr lang="en-IN" sz="2400" dirty="0">
                    <a:latin typeface="Times New Roman" panose="02020603050405020304" pitchFamily="18" charset="0"/>
                    <a:cs typeface="Times New Roman" panose="02020603050405020304" pitchFamily="18" charset="0"/>
                  </a:rPr>
                  <a:t>-bit Braun multiplier requires  n(n-1) adders and </a:t>
                </a:r>
                <a14:m>
                  <m:oMath xmlns:m="http://schemas.openxmlformats.org/officeDocument/2006/math">
                    <m:sSup>
                      <m:sSupPr>
                        <m:ctrlPr>
                          <a:rPr lang="en-IN" sz="2400" i="1" smtClean="0">
                            <a:latin typeface="Cambria Math" panose="02040503050406030204" pitchFamily="18" charset="0"/>
                            <a:cs typeface="Times New Roman" panose="02020603050405020304" pitchFamily="18" charset="0"/>
                          </a:rPr>
                        </m:ctrlPr>
                      </m:sSupPr>
                      <m:e>
                        <m:r>
                          <a:rPr lang="en-IN" sz="2400" b="0" i="1" smtClean="0">
                            <a:latin typeface="Cambria Math" panose="02040503050406030204" pitchFamily="18" charset="0"/>
                            <a:cs typeface="Times New Roman" panose="02020603050405020304" pitchFamily="18" charset="0"/>
                          </a:rPr>
                          <m:t>𝑛</m:t>
                        </m:r>
                      </m:e>
                      <m:sup>
                        <m:r>
                          <a:rPr lang="en-IN" sz="2400" b="0" i="1" smtClean="0">
                            <a:latin typeface="Cambria Math" panose="02040503050406030204" pitchFamily="18" charset="0"/>
                            <a:cs typeface="Times New Roman" panose="02020603050405020304" pitchFamily="18" charset="0"/>
                          </a:rPr>
                          <m:t>2</m:t>
                        </m:r>
                      </m:sup>
                    </m:sSup>
                    <m:r>
                      <a:rPr lang="en-IN" sz="2400" b="0" i="1" smtClean="0">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𝐴𝑁𝐷</m:t>
                    </m:r>
                    <m:r>
                      <a:rPr lang="en-IN" sz="2400" b="0" i="1" smtClean="0">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𝑔𝑎𝑡𝑒𝑠</m:t>
                    </m:r>
                    <m:r>
                      <a:rPr lang="en-IN" sz="2400" b="0" i="1" smtClean="0">
                        <a:latin typeface="Cambria Math" panose="02040503050406030204" pitchFamily="18" charset="0"/>
                        <a:cs typeface="Times New Roman" panose="02020603050405020304" pitchFamily="18" charset="0"/>
                      </a:rPr>
                      <m:t>.</m:t>
                    </m:r>
                  </m:oMath>
                </a14:m>
                <a:endParaRPr lang="en-IN" sz="2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3ACD2FCA-BBCD-174A-BB99-B527B33E4113}"/>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848" t="-999"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A1D2895-2EC6-BA37-EA13-30EBEBF3AA2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9652485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FCFB9A-578D-D7A2-27A3-B851771B66C3}"/>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0F73BB6B-07D1-70BB-F482-4F08B40156C4}"/>
              </a:ext>
            </a:extLst>
          </p:cNvPr>
          <p:cNvPicPr>
            <a:picLocks noChangeAspect="1"/>
          </p:cNvPicPr>
          <p:nvPr/>
        </p:nvPicPr>
        <p:blipFill>
          <a:blip r:embed="rId2"/>
          <a:stretch>
            <a:fillRect/>
          </a:stretch>
        </p:blipFill>
        <p:spPr>
          <a:xfrm>
            <a:off x="3592588" y="224512"/>
            <a:ext cx="4648603" cy="6408975"/>
          </a:xfrm>
          <a:prstGeom prst="rect">
            <a:avLst/>
          </a:prstGeom>
        </p:spPr>
      </p:pic>
    </p:spTree>
    <p:extLst>
      <p:ext uri="{BB962C8B-B14F-4D97-AF65-F5344CB8AC3E}">
        <p14:creationId xmlns:p14="http://schemas.microsoft.com/office/powerpoint/2010/main" val="40243994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37491-89B6-4411-1F60-F40AA6E57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2798D-FF23-B31D-4CE8-17C1F2C0032C}"/>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49D8A5-EA55-9FB1-4F23-8D4741A28BBD}"/>
                  </a:ext>
                </a:extLst>
              </p:cNvPr>
              <p:cNvSpPr>
                <a:spLocks noGrp="1"/>
              </p:cNvSpPr>
              <p:nvPr>
                <p:ph idx="1"/>
              </p:nvPr>
            </p:nvSpPr>
            <p:spPr>
              <a:xfrm>
                <a:off x="1055803" y="1253765"/>
                <a:ext cx="10774836" cy="4882043"/>
              </a:xfrm>
            </p:spPr>
            <p:txBody>
              <a:bodyPr>
                <a:noAutofit/>
              </a:bodyPr>
              <a:lstStyle/>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of the </a:t>
                </a:r>
                <a14:m>
                  <m:oMath xmlns:m="http://schemas.openxmlformats.org/officeDocument/2006/math">
                    <m:sSub>
                      <m:sSubPr>
                        <m:ctrlPr>
                          <a:rPr lang="en-US" sz="2400" i="1" smtClean="0">
                            <a:latin typeface="Cambria Math" panose="02040503050406030204" pitchFamily="18" charset="0"/>
                          </a:rPr>
                        </m:ctrlPr>
                      </m:sSubPr>
                      <m:e>
                        <m:r>
                          <a:rPr lang="en-IN" sz="2400" b="0" i="1" smtClean="0">
                            <a:latin typeface="Cambria Math" panose="02040503050406030204" pitchFamily="18" charset="0"/>
                          </a:rPr>
                          <m:t>𝑋</m:t>
                        </m:r>
                      </m:e>
                      <m:sub>
                        <m:r>
                          <a:rPr lang="en-IN" sz="2400" b="0" i="1" smtClean="0">
                            <a:latin typeface="Cambria Math" panose="02040503050406030204" pitchFamily="18" charset="0"/>
                          </a:rPr>
                          <m:t>𝑖</m:t>
                        </m:r>
                      </m:sub>
                    </m:sSub>
                    <m:sSub>
                      <m:sSubPr>
                        <m:ctrlPr>
                          <a:rPr lang="en-US" sz="2400" i="1" smtClean="0">
                            <a:latin typeface="Cambria Math" panose="02040503050406030204" pitchFamily="18" charset="0"/>
                          </a:rPr>
                        </m:ctrlPr>
                      </m:sSubPr>
                      <m:e>
                        <m:r>
                          <a:rPr lang="en-IN" sz="2400" b="0" i="1" smtClean="0">
                            <a:latin typeface="Cambria Math" panose="02040503050406030204" pitchFamily="18" charset="0"/>
                          </a:rPr>
                          <m:t>𝑌</m:t>
                        </m:r>
                      </m:e>
                      <m:sub>
                        <m:r>
                          <a:rPr lang="en-IN" sz="2400" b="0" i="1" smtClean="0">
                            <a:latin typeface="Cambria Math" panose="02040503050406030204" pitchFamily="18" charset="0"/>
                          </a:rPr>
                          <m:t>𝑗</m:t>
                        </m:r>
                      </m:sub>
                    </m:sSub>
                  </m:oMath>
                </a14:m>
                <a:r>
                  <a:rPr lang="en-US" sz="2400" dirty="0">
                    <a:latin typeface="Times New Roman" panose="02020603050405020304" pitchFamily="18" charset="0"/>
                    <a:cs typeface="Times New Roman" panose="02020603050405020304" pitchFamily="18" charset="0"/>
                  </a:rPr>
                  <a:t> product bits is generated in parallel with the AND gates.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partial product can be added to the previous sum of partial products by using a row of adders.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carry-out signals are shifted one bit to the left and are then added to the sums of the first adder and the new partial product.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shifting of the carry-out bits to the left is done by a Carry Save Adder (CSA).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the carry bits are passed diagonally downward to the next adder stage, there is no horizontal carry propagation for the first four rows. </a:t>
                </a:r>
                <a:endParaRPr lang="en-IN" sz="2400" b="1"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B49D8A5-EA55-9FB1-4F23-8D4741A28BBD}"/>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735" t="-999" r="-905"/>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135E5610-8C70-1D10-A7EC-67C42EF76FA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725905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E532D-1084-EF05-F001-DDFAF2DE2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9D2E6-4160-76D8-C483-32110041B094}"/>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B4F994-F9CC-D087-F9EC-BE19A0DA0DA6}"/>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Instead, the respective carry bit is “saved” for the subsequent adder stage. Ripple Carry Adders (RCA) are used at the final stage of the array to output the final result. </a:t>
            </a:r>
          </a:p>
          <a:p>
            <a:pPr marL="0" indent="0" algn="just">
              <a:buNone/>
            </a:pPr>
            <a:r>
              <a:rPr lang="en-US" sz="2400" b="1" dirty="0">
                <a:latin typeface="Times New Roman" panose="02020603050405020304" pitchFamily="18" charset="0"/>
                <a:cs typeface="Times New Roman" panose="02020603050405020304" pitchFamily="18" charset="0"/>
              </a:rPr>
              <a:t>Performance of Braun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Braun multiplier provides good performance for multiplying unsigned operands smaller than 16 bits in terms of speed, power consumption, and area efficiency.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has a simple and regular array structure, which makes its hardware implementation easier compared to many other multiplier architectures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967BE0D-849B-9E9B-6E40-7763646B59BC}"/>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1320531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E8E5A-A5F2-23FC-6F7A-B4FA63B34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7839C-6342-D5EF-2856-C23D525C03A9}"/>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AD6AAF-BD00-34BB-84EE-235D1856716C}"/>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design, partial products are generated using AND gates and then summed using an array of adders arranged in a systematic pattern.</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However, one major limitation is that the number of components required increases quadratically with the number of bits, since the number of partial products grows with </a:t>
                </a:r>
                <a14:m>
                  <m:oMath xmlns:m="http://schemas.openxmlformats.org/officeDocument/2006/math">
                    <m:sSup>
                      <m:sSupPr>
                        <m:ctrlPr>
                          <a:rPr lang="en-IN" sz="2400" i="1">
                            <a:latin typeface="Cambria Math" panose="02040503050406030204" pitchFamily="18" charset="0"/>
                            <a:cs typeface="Times New Roman" panose="02020603050405020304" pitchFamily="18" charset="0"/>
                          </a:rPr>
                        </m:ctrlPr>
                      </m:sSupPr>
                      <m:e>
                        <m:r>
                          <a:rPr lang="en-IN" sz="2400" i="1">
                            <a:latin typeface="Cambria Math" panose="02040503050406030204" pitchFamily="18" charset="0"/>
                            <a:cs typeface="Times New Roman" panose="02020603050405020304" pitchFamily="18" charset="0"/>
                          </a:rPr>
                          <m:t>𝑛</m:t>
                        </m:r>
                      </m:e>
                      <m:sup>
                        <m:r>
                          <a:rPr lang="en-IN" sz="2400" i="1">
                            <a:latin typeface="Cambria Math" panose="02040503050406030204" pitchFamily="18" charset="0"/>
                            <a:cs typeface="Times New Roman" panose="02020603050405020304" pitchFamily="18" charset="0"/>
                          </a:rPr>
                          <m:t>2</m:t>
                        </m:r>
                      </m:sup>
                    </m:sSup>
                    <m:r>
                      <a:rPr lang="en-IN" sz="2400" i="1">
                        <a:latin typeface="Cambria Math" panose="02040503050406030204" pitchFamily="18" charset="0"/>
                        <a:cs typeface="Times New Roman" panose="02020603050405020304" pitchFamily="18" charset="0"/>
                      </a:rPr>
                      <m:t> </m:t>
                    </m:r>
                    <m:r>
                      <a:rPr lang="en-IN" sz="2400" b="0" i="1" smtClean="0">
                        <a:latin typeface="Cambria Math" panose="02040503050406030204" pitchFamily="18" charset="0"/>
                        <a:cs typeface="Times New Roman" panose="02020603050405020304" pitchFamily="18" charset="0"/>
                      </a:rPr>
                      <m:t> .</m:t>
                    </m:r>
                  </m:oMath>
                </a14:m>
                <a:endParaRPr lang="en-IN" sz="2400" b="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result, when the operand size becomes large, the circuit requires a significantly larger number of gates and adders, leading to increased area and power consumption.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Because of this rapid growth in hardware complexity, the Braun multiplier becomes inefficient for large bit-width operations and is therefore rarely used for large operands in practical designs. </a:t>
                </a:r>
              </a:p>
            </p:txBody>
          </p:sp>
        </mc:Choice>
        <mc:Fallback xmlns="">
          <p:sp>
            <p:nvSpPr>
              <p:cNvPr id="3" name="Content Placeholder 2">
                <a:extLst>
                  <a:ext uri="{FF2B5EF4-FFF2-40B4-BE49-F238E27FC236}">
                    <a16:creationId xmlns:a16="http://schemas.microsoft.com/office/drawing/2014/main" id="{F3AD6AAF-BD00-34BB-84EE-235D1856716C}"/>
                  </a:ext>
                </a:extLst>
              </p:cNvPr>
              <p:cNvSpPr>
                <a:spLocks noGrp="1" noRot="1" noChangeAspect="1" noMove="1" noResize="1" noEditPoints="1" noAdjustHandles="1" noChangeArrowheads="1" noChangeShapeType="1" noTextEdit="1"/>
              </p:cNvSpPr>
              <p:nvPr>
                <p:ph idx="1"/>
              </p:nvPr>
            </p:nvSpPr>
            <p:spPr>
              <a:xfrm>
                <a:off x="1055803" y="1253765"/>
                <a:ext cx="10774836" cy="4882043"/>
              </a:xfrm>
              <a:blipFill>
                <a:blip r:embed="rId3"/>
                <a:stretch>
                  <a:fillRect l="-848" t="-999" r="-905" b="-5119"/>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F1595D0A-C06F-4851-C903-602919B91A4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6138265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3AB50-484D-D1AA-24DE-DCC0A1974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1CC9B-2EF9-606E-5845-209CBB38BEC7}"/>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022498-284C-269F-2F78-67D525DCD43C}"/>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Another drawback of the Braun multiplier is its susceptibility to glitching problems, particularly at the final stage of the full adders.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occurs because the design relies on Ripple Carry Adders (RCA), where the carry signal propagates sequentially from one stage to the next, causing temporary signal transitions before the final output stabilizes.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glitches can lead to additional power dissipation and timing issues, which further reduces the efficiency of the Braun multiplier in high-performance systems.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76A3AC3-0B55-84EE-285A-D1B66A929F0C}"/>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8996819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CCB8-2790-B9AD-09C2-0298E47C5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46E58-91D4-E6E3-AEC0-E662C1DE8E17}"/>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4BCAA0-2109-FF15-917C-FA96657950AC}"/>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Braun Multiplier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worst-case multiplication time of a Braun multiplier can be expressed as :</a:t>
            </a: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6B7A58E-142D-B8C8-F1F4-E92B83A38595}"/>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0C6BDA36-E59C-B881-B666-F6CE7CAED9BF}"/>
              </a:ext>
            </a:extLst>
          </p:cNvPr>
          <p:cNvPicPr>
            <a:picLocks noChangeAspect="1"/>
          </p:cNvPicPr>
          <p:nvPr/>
        </p:nvPicPr>
        <p:blipFill>
          <a:blip r:embed="rId3"/>
          <a:stretch>
            <a:fillRect/>
          </a:stretch>
        </p:blipFill>
        <p:spPr>
          <a:xfrm>
            <a:off x="2859992" y="2321276"/>
            <a:ext cx="5944115" cy="426757"/>
          </a:xfrm>
          <a:prstGeom prst="rect">
            <a:avLst/>
          </a:prstGeom>
        </p:spPr>
      </p:pic>
      <p:pic>
        <p:nvPicPr>
          <p:cNvPr id="8" name="Picture 7">
            <a:extLst>
              <a:ext uri="{FF2B5EF4-FFF2-40B4-BE49-F238E27FC236}">
                <a16:creationId xmlns:a16="http://schemas.microsoft.com/office/drawing/2014/main" id="{A942CB6B-4CA7-294C-0E2B-59919B406A9D}"/>
              </a:ext>
            </a:extLst>
          </p:cNvPr>
          <p:cNvPicPr>
            <a:picLocks noChangeAspect="1"/>
          </p:cNvPicPr>
          <p:nvPr/>
        </p:nvPicPr>
        <p:blipFill>
          <a:blip r:embed="rId4"/>
          <a:stretch>
            <a:fillRect/>
          </a:stretch>
        </p:blipFill>
        <p:spPr>
          <a:xfrm>
            <a:off x="2133256" y="3292848"/>
            <a:ext cx="7925487" cy="2149026"/>
          </a:xfrm>
          <a:prstGeom prst="rect">
            <a:avLst/>
          </a:prstGeom>
        </p:spPr>
      </p:pic>
    </p:spTree>
    <p:extLst>
      <p:ext uri="{BB962C8B-B14F-4D97-AF65-F5344CB8AC3E}">
        <p14:creationId xmlns:p14="http://schemas.microsoft.com/office/powerpoint/2010/main" val="41602322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DCCAD-C4BC-53A1-5B84-6C9C3F07D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A6E1C-0543-16FB-289A-19A1E3A85518}"/>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97ADA0-58E9-7DDF-702B-68DB059E40E5}"/>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Braun Multiplier :</a:t>
            </a:r>
          </a:p>
          <a:p>
            <a:pPr marL="0" indent="0" algn="just">
              <a:buNone/>
            </a:pPr>
            <a:r>
              <a:rPr lang="en-IN"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Simple and regular array structure, easy to design and implement in VLSI</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Suitable for unsigned multiplication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Good performance (speed, power, area) for small bit sizes (&lt;16 bits)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Easy layout due to repetitive structure</a:t>
            </a:r>
          </a:p>
          <a:p>
            <a:pPr marL="0" indent="0">
              <a:buNone/>
            </a:pPr>
            <a:r>
              <a:rPr lang="en-US" sz="2000"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Hardware complexity increases quadratically (n²) with bit size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efficient for large operands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area and power consumption for large multipliers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Ripple Carry Adders, leading to slow carry propagation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Prone to glitching problems, causing extra power consumption</a:t>
            </a:r>
          </a:p>
          <a:p>
            <a:pPr marL="0" indent="0">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F00BFBF-A9D7-38A5-7AB6-E46893D7A8EB}"/>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0872857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B3DFE-8B98-F695-B624-AF63101E3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03A92-9916-C839-B997-0CD5E6E15D28}"/>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6E7702-AF5A-5F94-4613-893826CF8640}"/>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2. 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Baugh-Wooley multiplier is an enhanced version of the Braun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designed to cater to multiplication of both signed and unsigned operands, which are represented in the 2’s complement number system.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Baugh–Wooley multiplier architecture is based on the carry-save addition algorithm, which allows efficient addition of partial products.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maintains a regular and repetitive array structure, similar to the array multiplier, making it suitable for VLSI implementation.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design is particularly useful for performing signed multiplication using two’s complement numbers. </a:t>
            </a: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AA48690-9492-4D89-7749-86031615E9A7}"/>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389721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B22120-6D78-2A09-DFF9-EC39BEC3CAE7}"/>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89734046-A49D-C6B3-C43B-936627611290}"/>
              </a:ext>
            </a:extLst>
          </p:cNvPr>
          <p:cNvPicPr>
            <a:picLocks noChangeAspect="1"/>
          </p:cNvPicPr>
          <p:nvPr/>
        </p:nvPicPr>
        <p:blipFill>
          <a:blip r:embed="rId2"/>
          <a:stretch>
            <a:fillRect/>
          </a:stretch>
        </p:blipFill>
        <p:spPr>
          <a:xfrm>
            <a:off x="2972741" y="357067"/>
            <a:ext cx="6378493" cy="6386113"/>
          </a:xfrm>
          <a:prstGeom prst="rect">
            <a:avLst/>
          </a:prstGeom>
        </p:spPr>
      </p:pic>
    </p:spTree>
    <p:extLst>
      <p:ext uri="{BB962C8B-B14F-4D97-AF65-F5344CB8AC3E}">
        <p14:creationId xmlns:p14="http://schemas.microsoft.com/office/powerpoint/2010/main" val="16456146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D2F323-5239-1EA3-448F-3E241D55DC7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C41D71F2-94AD-FC29-E881-424FE2F6F636}"/>
              </a:ext>
            </a:extLst>
          </p:cNvPr>
          <p:cNvPicPr>
            <a:picLocks noChangeAspect="1"/>
          </p:cNvPicPr>
          <p:nvPr/>
        </p:nvPicPr>
        <p:blipFill>
          <a:blip r:embed="rId2"/>
          <a:stretch>
            <a:fillRect/>
          </a:stretch>
        </p:blipFill>
        <p:spPr>
          <a:xfrm>
            <a:off x="1874154" y="1194119"/>
            <a:ext cx="8443692" cy="4130398"/>
          </a:xfrm>
          <a:prstGeom prst="rect">
            <a:avLst/>
          </a:prstGeom>
        </p:spPr>
      </p:pic>
    </p:spTree>
    <p:extLst>
      <p:ext uri="{BB962C8B-B14F-4D97-AF65-F5344CB8AC3E}">
        <p14:creationId xmlns:p14="http://schemas.microsoft.com/office/powerpoint/2010/main" val="34026665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C2512-2EAF-EE6F-4B7F-126AA9C1640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45EEA0-EA36-C48E-B4CD-85E2F9C7DD86}"/>
              </a:ext>
            </a:extLst>
          </p:cNvPr>
          <p:cNvSpPr>
            <a:spLocks noGrp="1"/>
          </p:cNvSpPr>
          <p:nvPr>
            <p:ph type="ftr" sz="quarter" idx="11"/>
          </p:nvPr>
        </p:nvSpPr>
        <p:spPr/>
        <p:txBody>
          <a:bodyPr/>
          <a:lstStyle/>
          <a:p>
            <a:r>
              <a:rPr lang="en-IN"/>
              <a:t>Dr. Aruru Sai Kumar , VIT-AP</a:t>
            </a:r>
            <a:endParaRPr lang="en-IN" dirty="0"/>
          </a:p>
        </p:txBody>
      </p:sp>
      <p:pic>
        <p:nvPicPr>
          <p:cNvPr id="5" name="Picture 4">
            <a:extLst>
              <a:ext uri="{FF2B5EF4-FFF2-40B4-BE49-F238E27FC236}">
                <a16:creationId xmlns:a16="http://schemas.microsoft.com/office/drawing/2014/main" id="{81B1494E-2DB0-FD5E-0E99-1BC92BBCA2A3}"/>
              </a:ext>
            </a:extLst>
          </p:cNvPr>
          <p:cNvPicPr>
            <a:picLocks noChangeAspect="1"/>
          </p:cNvPicPr>
          <p:nvPr/>
        </p:nvPicPr>
        <p:blipFill>
          <a:blip r:embed="rId2"/>
          <a:stretch>
            <a:fillRect/>
          </a:stretch>
        </p:blipFill>
        <p:spPr>
          <a:xfrm>
            <a:off x="2076521" y="1095842"/>
            <a:ext cx="8321761" cy="4176122"/>
          </a:xfrm>
          <a:prstGeom prst="rect">
            <a:avLst/>
          </a:prstGeom>
        </p:spPr>
      </p:pic>
    </p:spTree>
    <p:extLst>
      <p:ext uri="{BB962C8B-B14F-4D97-AF65-F5344CB8AC3E}">
        <p14:creationId xmlns:p14="http://schemas.microsoft.com/office/powerpoint/2010/main" val="352373980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CC587-9E4B-A50F-C585-5FF8AC28F31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4A0A7A-1483-0266-3202-5B57DF762118}"/>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55656819-36F3-2D12-DA26-AB8ADE21BF8E}"/>
              </a:ext>
            </a:extLst>
          </p:cNvPr>
          <p:cNvPicPr>
            <a:picLocks noChangeAspect="1"/>
          </p:cNvPicPr>
          <p:nvPr/>
        </p:nvPicPr>
        <p:blipFill>
          <a:blip r:embed="rId2"/>
          <a:stretch>
            <a:fillRect/>
          </a:stretch>
        </p:blipFill>
        <p:spPr>
          <a:xfrm>
            <a:off x="2952477" y="1102425"/>
            <a:ext cx="6287045" cy="3635055"/>
          </a:xfrm>
          <a:prstGeom prst="rect">
            <a:avLst/>
          </a:prstGeom>
        </p:spPr>
      </p:pic>
      <p:sp>
        <p:nvSpPr>
          <p:cNvPr id="7" name="TextBox 6">
            <a:extLst>
              <a:ext uri="{FF2B5EF4-FFF2-40B4-BE49-F238E27FC236}">
                <a16:creationId xmlns:a16="http://schemas.microsoft.com/office/drawing/2014/main" id="{3DB0A6FE-0C51-B3C2-A054-461EB858A1D3}"/>
              </a:ext>
            </a:extLst>
          </p:cNvPr>
          <p:cNvSpPr txBox="1"/>
          <p:nvPr/>
        </p:nvSpPr>
        <p:spPr>
          <a:xfrm>
            <a:off x="2952477" y="5191515"/>
            <a:ext cx="609442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five basic building blocks of the Baugh-Wooley multiplier.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6021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517C08A-EB8A-CA41-69BE-050A834C675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784D0A66-2505-A6F2-3131-5AC42D5D2814}"/>
              </a:ext>
            </a:extLst>
          </p:cNvPr>
          <p:cNvPicPr>
            <a:picLocks noChangeAspect="1"/>
          </p:cNvPicPr>
          <p:nvPr/>
        </p:nvPicPr>
        <p:blipFill>
          <a:blip r:embed="rId2"/>
          <a:stretch>
            <a:fillRect/>
          </a:stretch>
        </p:blipFill>
        <p:spPr>
          <a:xfrm>
            <a:off x="1417723" y="1455249"/>
            <a:ext cx="4320914" cy="3947502"/>
          </a:xfrm>
          <a:prstGeom prst="rect">
            <a:avLst/>
          </a:prstGeom>
        </p:spPr>
      </p:pic>
      <p:pic>
        <p:nvPicPr>
          <p:cNvPr id="6" name="Picture 5">
            <a:extLst>
              <a:ext uri="{FF2B5EF4-FFF2-40B4-BE49-F238E27FC236}">
                <a16:creationId xmlns:a16="http://schemas.microsoft.com/office/drawing/2014/main" id="{2A880183-B5CF-2579-670D-9E8176AF1056}"/>
              </a:ext>
            </a:extLst>
          </p:cNvPr>
          <p:cNvPicPr>
            <a:picLocks noChangeAspect="1"/>
          </p:cNvPicPr>
          <p:nvPr/>
        </p:nvPicPr>
        <p:blipFill>
          <a:blip r:embed="rId3"/>
          <a:stretch>
            <a:fillRect/>
          </a:stretch>
        </p:blipFill>
        <p:spPr>
          <a:xfrm>
            <a:off x="7375462" y="2091574"/>
            <a:ext cx="3398815" cy="2674852"/>
          </a:xfrm>
          <a:prstGeom prst="rect">
            <a:avLst/>
          </a:prstGeom>
        </p:spPr>
      </p:pic>
    </p:spTree>
    <p:extLst>
      <p:ext uri="{BB962C8B-B14F-4D97-AF65-F5344CB8AC3E}">
        <p14:creationId xmlns:p14="http://schemas.microsoft.com/office/powerpoint/2010/main" val="14210455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5D3F-86F5-3B0B-9ED4-3E8771981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D28BD-F9EA-70CF-096B-09F2B1FF621D}"/>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CF05A5-F5FA-3369-87A0-C396AE62181A}"/>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Baugh–Wooley multiplier operates on signed operands represented in 2’s complement form and rearranges the partial products so that they appear as positive values.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simplifies the hardware implementation of signed multiplication while maintaining a regular array structure. The numerical values of the 2’s complement numbers X and Y can therefore be expressed using the following representation.</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BE3F9ED-72DE-4CA0-CAE5-B8B32138E8C6}"/>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D4C58996-CF68-02F5-FED2-AC4E383AB49B}"/>
              </a:ext>
            </a:extLst>
          </p:cNvPr>
          <p:cNvPicPr>
            <a:picLocks noChangeAspect="1"/>
          </p:cNvPicPr>
          <p:nvPr/>
        </p:nvPicPr>
        <p:blipFill>
          <a:blip r:embed="rId3"/>
          <a:stretch>
            <a:fillRect/>
          </a:stretch>
        </p:blipFill>
        <p:spPr>
          <a:xfrm>
            <a:off x="4221491" y="4184919"/>
            <a:ext cx="3353091" cy="1950889"/>
          </a:xfrm>
          <a:prstGeom prst="rect">
            <a:avLst/>
          </a:prstGeom>
        </p:spPr>
      </p:pic>
    </p:spTree>
    <p:extLst>
      <p:ext uri="{BB962C8B-B14F-4D97-AF65-F5344CB8AC3E}">
        <p14:creationId xmlns:p14="http://schemas.microsoft.com/office/powerpoint/2010/main" val="42379697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C007-FC10-0B9D-8CC5-A1DFE269A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C31D8-57DC-DE51-D24A-339EF0CD04E3}"/>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C34F6C-3363-D752-3CAC-631DD3E2AC6A}"/>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product of X and Y is expressed as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observed that the last two terms of  are subtracted from the partial product.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3B1A69-FE7D-DE15-ECAF-3A327507BDB5}"/>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D77B5C20-ECD6-E46F-5528-4F16EC1B17FC}"/>
              </a:ext>
            </a:extLst>
          </p:cNvPr>
          <p:cNvPicPr>
            <a:picLocks noChangeAspect="1"/>
          </p:cNvPicPr>
          <p:nvPr/>
        </p:nvPicPr>
        <p:blipFill>
          <a:blip r:embed="rId3"/>
          <a:stretch>
            <a:fillRect/>
          </a:stretch>
        </p:blipFill>
        <p:spPr>
          <a:xfrm>
            <a:off x="1474228" y="2240177"/>
            <a:ext cx="5585944" cy="2377646"/>
          </a:xfrm>
          <a:prstGeom prst="rect">
            <a:avLst/>
          </a:prstGeom>
        </p:spPr>
      </p:pic>
    </p:spTree>
    <p:extLst>
      <p:ext uri="{BB962C8B-B14F-4D97-AF65-F5344CB8AC3E}">
        <p14:creationId xmlns:p14="http://schemas.microsoft.com/office/powerpoint/2010/main" val="36463883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B424-8D75-548A-0048-97912FD62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F1889-D9B2-86F7-0CCE-54A687A8148B}"/>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09C6C2-B300-7191-63B9-25001F643F2C}"/>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prevent the use of subtractor cells and use only adders, these negative terms should be transformed.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7620955-985B-2557-F067-1BC1B2CD2219}"/>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FB7E158A-D31F-868C-9D72-69851DE0F06E}"/>
              </a:ext>
            </a:extLst>
          </p:cNvPr>
          <p:cNvPicPr>
            <a:picLocks noChangeAspect="1"/>
          </p:cNvPicPr>
          <p:nvPr/>
        </p:nvPicPr>
        <p:blipFill>
          <a:blip r:embed="rId3"/>
          <a:stretch>
            <a:fillRect/>
          </a:stretch>
        </p:blipFill>
        <p:spPr>
          <a:xfrm>
            <a:off x="2567634" y="3172771"/>
            <a:ext cx="7056732" cy="1044030"/>
          </a:xfrm>
          <a:prstGeom prst="rect">
            <a:avLst/>
          </a:prstGeom>
        </p:spPr>
      </p:pic>
    </p:spTree>
    <p:extLst>
      <p:ext uri="{BB962C8B-B14F-4D97-AF65-F5344CB8AC3E}">
        <p14:creationId xmlns:p14="http://schemas.microsoft.com/office/powerpoint/2010/main" val="10814554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7B4B4-BAAB-2A98-8340-1D879D4D0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7F51B-B1D0-1A49-8E25-A792A798E4C0}"/>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00FD3A-6361-E562-E194-282CA31487C2}"/>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product P becomes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A23FA60-D356-43E6-FEA7-50CDFAA5129A}"/>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DB770B21-15FA-4E1B-D1A0-F7EBE6F769B7}"/>
              </a:ext>
            </a:extLst>
          </p:cNvPr>
          <p:cNvPicPr>
            <a:picLocks noChangeAspect="1"/>
          </p:cNvPicPr>
          <p:nvPr/>
        </p:nvPicPr>
        <p:blipFill>
          <a:blip r:embed="rId3"/>
          <a:stretch>
            <a:fillRect/>
          </a:stretch>
        </p:blipFill>
        <p:spPr>
          <a:xfrm>
            <a:off x="3239242" y="2254481"/>
            <a:ext cx="5524979" cy="2880610"/>
          </a:xfrm>
          <a:prstGeom prst="rect">
            <a:avLst/>
          </a:prstGeom>
        </p:spPr>
      </p:pic>
    </p:spTree>
    <p:extLst>
      <p:ext uri="{BB962C8B-B14F-4D97-AF65-F5344CB8AC3E}">
        <p14:creationId xmlns:p14="http://schemas.microsoft.com/office/powerpoint/2010/main" val="26681063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767B-752A-ECD4-8E77-6340DA847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7C0DB-C296-52C9-503B-8E5B4B090A15}"/>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435DD2-3ADA-4F37-02FC-BD4A81C0A52B}"/>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Baugh–Wooley multiplier is used for signed multiplication in 2’s complement form.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converts negative partial products into positive form.</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enables a regular array structure, suitable for VLSI implementation.</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C59D894-B52F-0CD7-DD75-258B08043361}"/>
              </a:ext>
            </a:extLst>
          </p:cNvPr>
          <p:cNvSpPr>
            <a:spLocks noGrp="1"/>
          </p:cNvSpPr>
          <p:nvPr>
            <p:ph type="ftr" sz="quarter" idx="11"/>
          </p:nvPr>
        </p:nvSpPr>
        <p:spPr/>
        <p:txBody>
          <a:bodyPr/>
          <a:lstStyle/>
          <a:p>
            <a:r>
              <a:rPr lang="en-IN" dirty="0"/>
              <a:t>Dr. Aruru Sai Kumar , VIT-AP</a:t>
            </a:r>
          </a:p>
        </p:txBody>
      </p:sp>
      <p:pic>
        <p:nvPicPr>
          <p:cNvPr id="8" name="Picture 7">
            <a:extLst>
              <a:ext uri="{FF2B5EF4-FFF2-40B4-BE49-F238E27FC236}">
                <a16:creationId xmlns:a16="http://schemas.microsoft.com/office/drawing/2014/main" id="{A5633FFF-1AC0-500F-EE7D-C4AA862CA5FC}"/>
              </a:ext>
            </a:extLst>
          </p:cNvPr>
          <p:cNvPicPr>
            <a:picLocks noChangeAspect="1"/>
          </p:cNvPicPr>
          <p:nvPr/>
        </p:nvPicPr>
        <p:blipFill>
          <a:blip r:embed="rId3"/>
          <a:stretch>
            <a:fillRect/>
          </a:stretch>
        </p:blipFill>
        <p:spPr>
          <a:xfrm>
            <a:off x="2954237" y="3694786"/>
            <a:ext cx="5585944" cy="2911092"/>
          </a:xfrm>
          <a:prstGeom prst="rect">
            <a:avLst/>
          </a:prstGeom>
        </p:spPr>
      </p:pic>
    </p:spTree>
    <p:extLst>
      <p:ext uri="{BB962C8B-B14F-4D97-AF65-F5344CB8AC3E}">
        <p14:creationId xmlns:p14="http://schemas.microsoft.com/office/powerpoint/2010/main" val="28156900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A0679-287F-B442-4B6D-CF1BEFDBB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CA10B-5D47-A502-97CB-03330D752B39}"/>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878C5A-C51C-3791-05C0-414A47A5683E}"/>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marL="0" indent="0" algn="just">
              <a:buNone/>
            </a:pPr>
            <a:r>
              <a:rPr lang="en-US" sz="2400" b="1" dirty="0">
                <a:latin typeface="Times New Roman" panose="02020603050405020304" pitchFamily="18" charset="0"/>
                <a:cs typeface="Times New Roman" panose="02020603050405020304" pitchFamily="18" charset="0"/>
              </a:rPr>
              <a:t>Basic Concept                                                           Handling Signed Numbers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Partial Products                                                        Modified Partial Products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14898C0-7003-B6EE-46C5-6B8294679848}"/>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013886EB-B427-B807-B890-9FDF108FD98B}"/>
              </a:ext>
            </a:extLst>
          </p:cNvPr>
          <p:cNvPicPr>
            <a:picLocks noChangeAspect="1"/>
          </p:cNvPicPr>
          <p:nvPr/>
        </p:nvPicPr>
        <p:blipFill>
          <a:blip r:embed="rId3"/>
          <a:stretch>
            <a:fillRect/>
          </a:stretch>
        </p:blipFill>
        <p:spPr>
          <a:xfrm>
            <a:off x="1154588" y="2184330"/>
            <a:ext cx="3604572" cy="1379340"/>
          </a:xfrm>
          <a:prstGeom prst="rect">
            <a:avLst/>
          </a:prstGeom>
        </p:spPr>
      </p:pic>
      <p:pic>
        <p:nvPicPr>
          <p:cNvPr id="9" name="Picture 8">
            <a:extLst>
              <a:ext uri="{FF2B5EF4-FFF2-40B4-BE49-F238E27FC236}">
                <a16:creationId xmlns:a16="http://schemas.microsoft.com/office/drawing/2014/main" id="{A68C6B78-BA9B-E48B-A0FA-218BB2297E90}"/>
              </a:ext>
            </a:extLst>
          </p:cNvPr>
          <p:cNvPicPr>
            <a:picLocks noChangeAspect="1"/>
          </p:cNvPicPr>
          <p:nvPr/>
        </p:nvPicPr>
        <p:blipFill>
          <a:blip r:embed="rId4"/>
          <a:stretch>
            <a:fillRect/>
          </a:stretch>
        </p:blipFill>
        <p:spPr>
          <a:xfrm>
            <a:off x="1154588" y="4896870"/>
            <a:ext cx="3825572" cy="784928"/>
          </a:xfrm>
          <a:prstGeom prst="rect">
            <a:avLst/>
          </a:prstGeom>
        </p:spPr>
      </p:pic>
      <p:pic>
        <p:nvPicPr>
          <p:cNvPr id="11" name="Picture 10">
            <a:extLst>
              <a:ext uri="{FF2B5EF4-FFF2-40B4-BE49-F238E27FC236}">
                <a16:creationId xmlns:a16="http://schemas.microsoft.com/office/drawing/2014/main" id="{F00BB76E-4750-1D7A-D0C6-C8B0AAFDD989}"/>
              </a:ext>
            </a:extLst>
          </p:cNvPr>
          <p:cNvPicPr>
            <a:picLocks noChangeAspect="1"/>
          </p:cNvPicPr>
          <p:nvPr/>
        </p:nvPicPr>
        <p:blipFill>
          <a:blip r:embed="rId5"/>
          <a:stretch>
            <a:fillRect/>
          </a:stretch>
        </p:blipFill>
        <p:spPr>
          <a:xfrm>
            <a:off x="7765799" y="2256906"/>
            <a:ext cx="2537680" cy="1569856"/>
          </a:xfrm>
          <a:prstGeom prst="rect">
            <a:avLst/>
          </a:prstGeom>
        </p:spPr>
      </p:pic>
      <p:pic>
        <p:nvPicPr>
          <p:cNvPr id="13" name="Picture 12">
            <a:extLst>
              <a:ext uri="{FF2B5EF4-FFF2-40B4-BE49-F238E27FC236}">
                <a16:creationId xmlns:a16="http://schemas.microsoft.com/office/drawing/2014/main" id="{9E012E3C-E382-D275-E4A1-0C4FA3701082}"/>
              </a:ext>
            </a:extLst>
          </p:cNvPr>
          <p:cNvPicPr>
            <a:picLocks noChangeAspect="1"/>
          </p:cNvPicPr>
          <p:nvPr/>
        </p:nvPicPr>
        <p:blipFill>
          <a:blip r:embed="rId6"/>
          <a:stretch>
            <a:fillRect/>
          </a:stretch>
        </p:blipFill>
        <p:spPr>
          <a:xfrm>
            <a:off x="7117574" y="4640996"/>
            <a:ext cx="3863675" cy="1371719"/>
          </a:xfrm>
          <a:prstGeom prst="rect">
            <a:avLst/>
          </a:prstGeom>
        </p:spPr>
      </p:pic>
    </p:spTree>
    <p:extLst>
      <p:ext uri="{BB962C8B-B14F-4D97-AF65-F5344CB8AC3E}">
        <p14:creationId xmlns:p14="http://schemas.microsoft.com/office/powerpoint/2010/main" val="33153667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0BAB3-66C0-64E6-33FC-58981C7AC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E3CD6-9B37-9A3A-8943-302D747AB351}"/>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95C448-756F-CD3C-A4BB-38411B9EF893}"/>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marL="0" indent="0" algn="just">
              <a:buNone/>
            </a:pPr>
            <a:r>
              <a:rPr lang="en-IN" sz="2400" b="1" dirty="0">
                <a:latin typeface="Times New Roman" panose="02020603050405020304" pitchFamily="18" charset="0"/>
                <a:cs typeface="Times New Roman" panose="02020603050405020304" pitchFamily="18" charset="0"/>
              </a:rPr>
              <a:t>Column-wise Addition                                   </a:t>
            </a:r>
            <a:r>
              <a:rPr lang="en-US" sz="2400" b="1" dirty="0">
                <a:latin typeface="Times New Roman" panose="02020603050405020304" pitchFamily="18" charset="0"/>
                <a:cs typeface="Times New Roman" panose="02020603050405020304" pitchFamily="18" charset="0"/>
              </a:rPr>
              <a:t>Handling Signed Numbers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lgn="just">
              <a:buNone/>
            </a:pPr>
            <a:r>
              <a:rPr lang="en-IN" sz="2400" b="1" dirty="0">
                <a:latin typeface="Times New Roman" panose="02020603050405020304" pitchFamily="18" charset="0"/>
                <a:cs typeface="Times New Roman" panose="02020603050405020304" pitchFamily="18" charset="0"/>
              </a:rPr>
              <a:t>Hardware Requirement                                Advantages</a:t>
            </a: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E915423-6C6E-E5D5-3674-C2C5A3452233}"/>
              </a:ext>
            </a:extLst>
          </p:cNvPr>
          <p:cNvSpPr>
            <a:spLocks noGrp="1"/>
          </p:cNvSpPr>
          <p:nvPr>
            <p:ph type="ftr" sz="quarter" idx="11"/>
          </p:nvPr>
        </p:nvSpPr>
        <p:spPr/>
        <p:txBody>
          <a:bodyPr/>
          <a:lstStyle/>
          <a:p>
            <a:r>
              <a:rPr lang="en-IN" dirty="0"/>
              <a:t>Dr. Aruru Sai Kumar , VIT-AP</a:t>
            </a:r>
          </a:p>
        </p:txBody>
      </p:sp>
      <p:pic>
        <p:nvPicPr>
          <p:cNvPr id="11" name="Picture 10">
            <a:extLst>
              <a:ext uri="{FF2B5EF4-FFF2-40B4-BE49-F238E27FC236}">
                <a16:creationId xmlns:a16="http://schemas.microsoft.com/office/drawing/2014/main" id="{1A7CE883-F07D-3062-1082-EFADE1976138}"/>
              </a:ext>
            </a:extLst>
          </p:cNvPr>
          <p:cNvPicPr>
            <a:picLocks noChangeAspect="1"/>
          </p:cNvPicPr>
          <p:nvPr/>
        </p:nvPicPr>
        <p:blipFill>
          <a:blip r:embed="rId3"/>
          <a:stretch>
            <a:fillRect/>
          </a:stretch>
        </p:blipFill>
        <p:spPr>
          <a:xfrm>
            <a:off x="7765799" y="2256906"/>
            <a:ext cx="2537680" cy="1569856"/>
          </a:xfrm>
          <a:prstGeom prst="rect">
            <a:avLst/>
          </a:prstGeom>
        </p:spPr>
      </p:pic>
      <p:pic>
        <p:nvPicPr>
          <p:cNvPr id="7" name="Picture 6">
            <a:extLst>
              <a:ext uri="{FF2B5EF4-FFF2-40B4-BE49-F238E27FC236}">
                <a16:creationId xmlns:a16="http://schemas.microsoft.com/office/drawing/2014/main" id="{DB828BB7-3885-6ED3-26CE-6D65A37A7B10}"/>
              </a:ext>
            </a:extLst>
          </p:cNvPr>
          <p:cNvPicPr>
            <a:picLocks noChangeAspect="1"/>
          </p:cNvPicPr>
          <p:nvPr/>
        </p:nvPicPr>
        <p:blipFill>
          <a:blip r:embed="rId4"/>
          <a:stretch>
            <a:fillRect/>
          </a:stretch>
        </p:blipFill>
        <p:spPr>
          <a:xfrm>
            <a:off x="1134872" y="2424560"/>
            <a:ext cx="2682472" cy="1234547"/>
          </a:xfrm>
          <a:prstGeom prst="rect">
            <a:avLst/>
          </a:prstGeom>
        </p:spPr>
      </p:pic>
      <p:pic>
        <p:nvPicPr>
          <p:cNvPr id="10" name="Picture 9">
            <a:extLst>
              <a:ext uri="{FF2B5EF4-FFF2-40B4-BE49-F238E27FC236}">
                <a16:creationId xmlns:a16="http://schemas.microsoft.com/office/drawing/2014/main" id="{8667A973-3598-0CAA-5827-B929E65C4728}"/>
              </a:ext>
            </a:extLst>
          </p:cNvPr>
          <p:cNvPicPr>
            <a:picLocks noChangeAspect="1"/>
          </p:cNvPicPr>
          <p:nvPr/>
        </p:nvPicPr>
        <p:blipFill>
          <a:blip r:embed="rId5"/>
          <a:stretch>
            <a:fillRect/>
          </a:stretch>
        </p:blipFill>
        <p:spPr>
          <a:xfrm>
            <a:off x="946612" y="4248531"/>
            <a:ext cx="4549534" cy="2156647"/>
          </a:xfrm>
          <a:prstGeom prst="rect">
            <a:avLst/>
          </a:prstGeom>
        </p:spPr>
      </p:pic>
      <p:pic>
        <p:nvPicPr>
          <p:cNvPr id="14" name="Picture 13">
            <a:extLst>
              <a:ext uri="{FF2B5EF4-FFF2-40B4-BE49-F238E27FC236}">
                <a16:creationId xmlns:a16="http://schemas.microsoft.com/office/drawing/2014/main" id="{CC36C923-68AB-E28B-7DD0-594B538D36FB}"/>
              </a:ext>
            </a:extLst>
          </p:cNvPr>
          <p:cNvPicPr>
            <a:picLocks noChangeAspect="1"/>
          </p:cNvPicPr>
          <p:nvPr/>
        </p:nvPicPr>
        <p:blipFill>
          <a:blip r:embed="rId6"/>
          <a:stretch>
            <a:fillRect/>
          </a:stretch>
        </p:blipFill>
        <p:spPr>
          <a:xfrm>
            <a:off x="6606420" y="4490814"/>
            <a:ext cx="4638968" cy="1402711"/>
          </a:xfrm>
          <a:prstGeom prst="rect">
            <a:avLst/>
          </a:prstGeom>
        </p:spPr>
      </p:pic>
    </p:spTree>
    <p:extLst>
      <p:ext uri="{BB962C8B-B14F-4D97-AF65-F5344CB8AC3E}">
        <p14:creationId xmlns:p14="http://schemas.microsoft.com/office/powerpoint/2010/main" val="113623787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A183-F0DF-A44E-296B-53DC0A1D7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53B3E-944C-72F7-79A9-A27DC398981D}"/>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7797DA-DFA2-F29A-2E89-8A0D8DD8072C}"/>
              </a:ext>
            </a:extLst>
          </p:cNvPr>
          <p:cNvSpPr>
            <a:spLocks noGrp="1"/>
          </p:cNvSpPr>
          <p:nvPr>
            <p:ph idx="1"/>
          </p:nvPr>
        </p:nvSpPr>
        <p:spPr>
          <a:xfrm>
            <a:off x="1055803" y="1253765"/>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a:t>
            </a:r>
          </a:p>
          <a:p>
            <a:pPr marL="0" indent="0" algn="just">
              <a:buNone/>
            </a:pPr>
            <a:r>
              <a:rPr lang="en-US" sz="2200" b="1" dirty="0">
                <a:latin typeface="Times New Roman" panose="02020603050405020304" pitchFamily="18" charset="0"/>
                <a:cs typeface="Times New Roman" panose="02020603050405020304" pitchFamily="18" charset="0"/>
              </a:rPr>
              <a:t>Performance Consideration: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area and power consumption of multiplier architectures depend on:</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Number of bits in the operands</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Choice of multiplier structure</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Layout strategy used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the operand size increases, both:</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Silicon area</a:t>
            </a:r>
          </a:p>
          <a:p>
            <a:pPr lvl="1">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Power consumption also increase</a:t>
            </a:r>
          </a:p>
          <a:p>
            <a:pPr marL="0" indent="0" algn="just">
              <a:buNone/>
            </a:pPr>
            <a:endParaRPr lang="en-US" sz="22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FD696A1-1ADF-04B2-A635-EEF98637528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0501565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3EEC-6B47-0477-A4AB-A0D813659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D8CEE-73A6-9B69-DAFC-1612C0D4E60F}"/>
              </a:ext>
            </a:extLst>
          </p:cNvPr>
          <p:cNvSpPr>
            <a:spLocks noGrp="1"/>
          </p:cNvSpPr>
          <p:nvPr>
            <p:ph type="title"/>
          </p:nvPr>
        </p:nvSpPr>
        <p:spPr>
          <a:xfrm>
            <a:off x="1987377" y="495571"/>
            <a:ext cx="8911687" cy="393069"/>
          </a:xfrm>
        </p:spPr>
        <p:txBody>
          <a:bodyPr>
            <a:normAutofit fontScale="90000"/>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C52332-3E44-1F3D-1FBC-FE353983D5AB}"/>
              </a:ext>
            </a:extLst>
          </p:cNvPr>
          <p:cNvSpPr>
            <a:spLocks noGrp="1"/>
          </p:cNvSpPr>
          <p:nvPr>
            <p:ph idx="1"/>
          </p:nvPr>
        </p:nvSpPr>
        <p:spPr>
          <a:xfrm>
            <a:off x="1055803" y="1253765"/>
            <a:ext cx="10774836" cy="4882043"/>
          </a:xfrm>
        </p:spPr>
        <p:txBody>
          <a:bodyPr>
            <a:noAutofit/>
          </a:bodyPr>
          <a:lstStyle/>
          <a:p>
            <a:pPr marL="0" indent="0" algn="just">
              <a:buNone/>
            </a:pPr>
            <a:r>
              <a:rPr lang="en-IN" sz="2100" b="1" dirty="0">
                <a:latin typeface="Times New Roman" panose="02020603050405020304" pitchFamily="18" charset="0"/>
                <a:cs typeface="Times New Roman" panose="02020603050405020304" pitchFamily="18" charset="0"/>
              </a:rPr>
              <a:t>Baugh-Wooley Multiplier:</a:t>
            </a:r>
          </a:p>
          <a:p>
            <a:pPr marL="0" indent="0" algn="just">
              <a:buNone/>
            </a:pPr>
            <a:r>
              <a:rPr lang="en-US" sz="2100" b="1" dirty="0">
                <a:latin typeface="Times New Roman" panose="02020603050405020304" pitchFamily="18" charset="0"/>
                <a:cs typeface="Times New Roman" panose="02020603050405020304" pitchFamily="18" charset="0"/>
              </a:rPr>
              <a:t>Performance Consideration:</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Regular and local structures (like array multipliers):</a:t>
            </a:r>
          </a:p>
          <a:p>
            <a:pPr lvl="1">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Improve layout efficiency</a:t>
            </a:r>
          </a:p>
          <a:p>
            <a:pPr lvl="1">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Reduce interconnect complexity</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Increased regularity and locality at the silicon level:</a:t>
            </a:r>
          </a:p>
          <a:p>
            <a:pPr lvl="1">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Minimizes wiring overhead</a:t>
            </a:r>
          </a:p>
          <a:p>
            <a:pPr lvl="1">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Reduces switching activity</a:t>
            </a:r>
          </a:p>
          <a:p>
            <a:pPr lvl="1">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Leads to lower power consumption</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In standard-cell-based design flow, such structures are:</a:t>
            </a:r>
          </a:p>
          <a:p>
            <a:pPr lvl="1">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Easier to implement</a:t>
            </a:r>
          </a:p>
          <a:p>
            <a:pPr lvl="1">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More power-efficient</a:t>
            </a:r>
          </a:p>
          <a:p>
            <a:pPr marL="0" indent="0">
              <a:buNone/>
            </a:pPr>
            <a:endParaRPr lang="en-US" sz="21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 </a:t>
            </a:r>
          </a:p>
          <a:p>
            <a:pPr marL="0" indent="0" algn="just">
              <a:buNone/>
            </a:pPr>
            <a:endParaRPr lang="en-IN" sz="2100" b="1" dirty="0">
              <a:latin typeface="Times New Roman" panose="02020603050405020304" pitchFamily="18" charset="0"/>
              <a:cs typeface="Times New Roman" panose="02020603050405020304" pitchFamily="18" charset="0"/>
            </a:endParaRPr>
          </a:p>
          <a:p>
            <a:pPr marL="0" indent="0" algn="just">
              <a:buNone/>
            </a:pPr>
            <a:endParaRPr lang="en-IN" sz="21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CC7D524-D50B-B70B-F2BD-8CA10042D3D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81365568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C0F1-ED3D-3C59-7FF0-B3CE1DC33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9F813-0CFC-BE95-D229-06C324F03587}"/>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221DF4-3713-A55E-B8FA-A64730C84A7E}"/>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Baugh-Wooley Multiplier :</a:t>
            </a:r>
          </a:p>
          <a:p>
            <a:pPr marL="0" indent="0" algn="just">
              <a:buNone/>
            </a:pPr>
            <a:r>
              <a:rPr lang="en-IN"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Efficient for signed multiplication using 2’s complement representation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Maintains a regular and uniform array structure, suitable for VLSI design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Avoids explicit sign handling, simplifying hardware implementation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Compatible with carry-save addition, improving speed compared to simple array multipliers</a:t>
            </a:r>
          </a:p>
          <a:p>
            <a:pPr marL="0" indent="0">
              <a:buNone/>
            </a:pPr>
            <a:r>
              <a:rPr lang="en-US" sz="2000"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Still has high hardware complexity (n² growth) similar to array multipliers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Requires more adders due to sign correction terms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Increased circuit complexity compared to unsigned multipliers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as fast as advanced multipliers like Wallace tree or Booth multipliers for large bit sizes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power and area for large operand sizes</a:t>
            </a:r>
          </a:p>
          <a:p>
            <a:pPr marL="0" indent="0">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6B5F91E-186F-4E13-37BF-CAFFE4C4F091}"/>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5370011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41549-D0B8-970C-A279-D57035DE7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7E770-6D13-7996-71C0-D346CC82805A}"/>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0EC56C-3B2B-67AA-5479-AA8996BE440F}"/>
              </a:ext>
            </a:extLst>
          </p:cNvPr>
          <p:cNvSpPr>
            <a:spLocks noGrp="1"/>
          </p:cNvSpPr>
          <p:nvPr>
            <p:ph idx="1"/>
          </p:nvPr>
        </p:nvSpPr>
        <p:spPr>
          <a:xfrm>
            <a:off x="1055803" y="1253765"/>
            <a:ext cx="10774836" cy="4882043"/>
          </a:xfrm>
        </p:spPr>
        <p:txBody>
          <a:bodyPr>
            <a:noAutofit/>
          </a:bodyPr>
          <a:lstStyle/>
          <a:p>
            <a:pPr marL="0" indent="0" algn="just">
              <a:buNone/>
            </a:pPr>
            <a:r>
              <a:rPr lang="en-US" sz="2200" b="1" dirty="0">
                <a:latin typeface="Times New Roman" panose="02020603050405020304" pitchFamily="18" charset="0"/>
                <a:cs typeface="Times New Roman" panose="02020603050405020304" pitchFamily="18" charset="0"/>
              </a:rPr>
              <a:t>3. Booth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Area-efficient and fast multipliers are the essential blocks for high- performance computing.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multipliers should be small enough so that a larger number of them may be integrated on a single chip. </a:t>
            </a:r>
            <a:endParaRPr lang="en-US"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Conventional array multipliers, like the Braun multiplier and the Baugh-Wooley multiplier, achieve comparatively good performance, but they require large areas of silicon, unlike the add-shift algorithms, which require less hardware and exhibit poorer performance.</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3AB8908-C174-9D9F-B473-AF47C1670B66}"/>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7333859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707-EFF2-87CE-83F6-74BF1E632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CC168-EC83-FC36-3AC9-7DD6A594570F}"/>
              </a:ext>
            </a:extLst>
          </p:cNvPr>
          <p:cNvSpPr>
            <a:spLocks noGrp="1"/>
          </p:cNvSpPr>
          <p:nvPr>
            <p:ph type="title"/>
          </p:nvPr>
        </p:nvSpPr>
        <p:spPr>
          <a:xfrm>
            <a:off x="1987377" y="495571"/>
            <a:ext cx="8911687" cy="128089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7D10FC-1B99-C6B5-0355-80593ED86506}"/>
              </a:ext>
            </a:extLst>
          </p:cNvPr>
          <p:cNvSpPr>
            <a:spLocks noGrp="1"/>
          </p:cNvSpPr>
          <p:nvPr>
            <p:ph idx="1"/>
          </p:nvPr>
        </p:nvSpPr>
        <p:spPr>
          <a:xfrm>
            <a:off x="1055803" y="1253765"/>
            <a:ext cx="10774836" cy="4882043"/>
          </a:xfrm>
        </p:spPr>
        <p:txBody>
          <a:bodyPr>
            <a:noAutofit/>
          </a:bodyPr>
          <a:lstStyle/>
          <a:p>
            <a:pPr marL="0" indent="0" algn="just">
              <a:buNone/>
            </a:pPr>
            <a:r>
              <a:rPr lang="en-US" sz="2200" b="1" dirty="0">
                <a:latin typeface="Times New Roman" panose="02020603050405020304" pitchFamily="18" charset="0"/>
                <a:cs typeface="Times New Roman" panose="02020603050405020304" pitchFamily="18" charset="0"/>
              </a:rPr>
              <a:t>Booth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Booth multiplier makes use of the Booth encoding algorithm in order to reduce the number of partial products by considering two bits of the multiplier at a time, thereby achieving a speed advantage over other  multiplier architectures.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This algorithm is valid for both signed and unsigned operands.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a:p>
            <a:pPr marL="0" indent="0" algn="just">
              <a:buNone/>
            </a:pPr>
            <a:endParaRPr lang="en-IN"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90852EA-44CF-BF19-5892-75139328ED49}"/>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424691597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CE1A5B-1413-A50D-B6D7-23BD01C0C906}"/>
              </a:ext>
            </a:extLst>
          </p:cNvPr>
          <p:cNvSpPr>
            <a:spLocks noGrp="1"/>
          </p:cNvSpPr>
          <p:nvPr>
            <p:ph type="ftr" sz="quarter" idx="11"/>
          </p:nvPr>
        </p:nvSpPr>
        <p:spPr/>
        <p:txBody>
          <a:bodyPr/>
          <a:lstStyle/>
          <a:p>
            <a:r>
              <a:rPr lang="en-IN"/>
              <a:t>Dr. Aruru Sai Kumar , VIT-AP</a:t>
            </a:r>
            <a:endParaRPr lang="en-IN" dirty="0"/>
          </a:p>
        </p:txBody>
      </p:sp>
      <p:pic>
        <p:nvPicPr>
          <p:cNvPr id="3" name="Picture 2">
            <a:extLst>
              <a:ext uri="{FF2B5EF4-FFF2-40B4-BE49-F238E27FC236}">
                <a16:creationId xmlns:a16="http://schemas.microsoft.com/office/drawing/2014/main" id="{CE505689-46DE-439B-BD0D-4BBAA7D6EA62}"/>
              </a:ext>
            </a:extLst>
          </p:cNvPr>
          <p:cNvPicPr>
            <a:picLocks noChangeAspect="1"/>
          </p:cNvPicPr>
          <p:nvPr/>
        </p:nvPicPr>
        <p:blipFill>
          <a:blip r:embed="rId2"/>
          <a:stretch>
            <a:fillRect/>
          </a:stretch>
        </p:blipFill>
        <p:spPr>
          <a:xfrm>
            <a:off x="5440566" y="342319"/>
            <a:ext cx="4976029" cy="6457070"/>
          </a:xfrm>
          <a:prstGeom prst="rect">
            <a:avLst/>
          </a:prstGeom>
        </p:spPr>
      </p:pic>
    </p:spTree>
    <p:extLst>
      <p:ext uri="{BB962C8B-B14F-4D97-AF65-F5344CB8AC3E}">
        <p14:creationId xmlns:p14="http://schemas.microsoft.com/office/powerpoint/2010/main" val="5449889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CE1A5B-1413-A50D-B6D7-23BD01C0C906}"/>
              </a:ext>
            </a:extLst>
          </p:cNvPr>
          <p:cNvSpPr>
            <a:spLocks noGrp="1"/>
          </p:cNvSpPr>
          <p:nvPr>
            <p:ph type="ftr" sz="quarter" idx="11"/>
          </p:nvPr>
        </p:nvSpPr>
        <p:spPr/>
        <p:txBody>
          <a:bodyPr/>
          <a:lstStyle/>
          <a:p>
            <a:r>
              <a:rPr lang="en-IN"/>
              <a:t>Dr. Aruru Sai Kumar , VIT-AP</a:t>
            </a:r>
            <a:endParaRPr lang="en-IN" dirty="0"/>
          </a:p>
        </p:txBody>
      </p:sp>
      <p:pic>
        <p:nvPicPr>
          <p:cNvPr id="6" name="Picture 5">
            <a:extLst>
              <a:ext uri="{FF2B5EF4-FFF2-40B4-BE49-F238E27FC236}">
                <a16:creationId xmlns:a16="http://schemas.microsoft.com/office/drawing/2014/main" id="{769C01DA-5E5C-4B6B-8E97-BDC2389F85B1}"/>
              </a:ext>
            </a:extLst>
          </p:cNvPr>
          <p:cNvPicPr>
            <a:picLocks noChangeAspect="1"/>
          </p:cNvPicPr>
          <p:nvPr/>
        </p:nvPicPr>
        <p:blipFill>
          <a:blip r:embed="rId2"/>
          <a:stretch>
            <a:fillRect/>
          </a:stretch>
        </p:blipFill>
        <p:spPr>
          <a:xfrm>
            <a:off x="2589212" y="143080"/>
            <a:ext cx="7211960" cy="5992728"/>
          </a:xfrm>
          <a:prstGeom prst="rect">
            <a:avLst/>
          </a:prstGeom>
        </p:spPr>
      </p:pic>
    </p:spTree>
    <p:extLst>
      <p:ext uri="{BB962C8B-B14F-4D97-AF65-F5344CB8AC3E}">
        <p14:creationId xmlns:p14="http://schemas.microsoft.com/office/powerpoint/2010/main" val="38393711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CE1A5B-1413-A50D-B6D7-23BD01C0C906}"/>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86302478-59AA-4E93-980E-C86BF0EE7E1A}"/>
              </a:ext>
            </a:extLst>
          </p:cNvPr>
          <p:cNvPicPr>
            <a:picLocks noChangeAspect="1"/>
          </p:cNvPicPr>
          <p:nvPr/>
        </p:nvPicPr>
        <p:blipFill>
          <a:blip r:embed="rId2"/>
          <a:stretch>
            <a:fillRect/>
          </a:stretch>
        </p:blipFill>
        <p:spPr>
          <a:xfrm>
            <a:off x="235975" y="125362"/>
            <a:ext cx="11724967" cy="6599904"/>
          </a:xfrm>
          <a:prstGeom prst="rect">
            <a:avLst/>
          </a:prstGeom>
        </p:spPr>
      </p:pic>
    </p:spTree>
    <p:extLst>
      <p:ext uri="{BB962C8B-B14F-4D97-AF65-F5344CB8AC3E}">
        <p14:creationId xmlns:p14="http://schemas.microsoft.com/office/powerpoint/2010/main" val="1761812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9421E3-6283-FA6B-D5CA-36B999304FFE}"/>
              </a:ext>
            </a:extLst>
          </p:cNvPr>
          <p:cNvSpPr>
            <a:spLocks noGrp="1"/>
          </p:cNvSpPr>
          <p:nvPr>
            <p:ph type="ftr" sz="quarter" idx="11"/>
          </p:nvPr>
        </p:nvSpPr>
        <p:spPr>
          <a:xfrm>
            <a:off x="4221279" y="6676875"/>
            <a:ext cx="7619999" cy="365125"/>
          </a:xfrm>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169234EF-2592-8C69-549A-14B302394609}"/>
              </a:ext>
            </a:extLst>
          </p:cNvPr>
          <p:cNvSpPr txBox="1"/>
          <p:nvPr/>
        </p:nvSpPr>
        <p:spPr>
          <a:xfrm>
            <a:off x="1859438" y="635465"/>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Registers Used:</a:t>
            </a:r>
          </a:p>
        </p:txBody>
      </p:sp>
      <p:pic>
        <p:nvPicPr>
          <p:cNvPr id="6" name="Picture 5">
            <a:extLst>
              <a:ext uri="{FF2B5EF4-FFF2-40B4-BE49-F238E27FC236}">
                <a16:creationId xmlns:a16="http://schemas.microsoft.com/office/drawing/2014/main" id="{CEA9F0CF-2C3C-F7A2-409A-F844A1BF655A}"/>
              </a:ext>
            </a:extLst>
          </p:cNvPr>
          <p:cNvPicPr>
            <a:picLocks noChangeAspect="1"/>
          </p:cNvPicPr>
          <p:nvPr/>
        </p:nvPicPr>
        <p:blipFill>
          <a:blip r:embed="rId2"/>
          <a:stretch>
            <a:fillRect/>
          </a:stretch>
        </p:blipFill>
        <p:spPr>
          <a:xfrm>
            <a:off x="1859438" y="1231635"/>
            <a:ext cx="2499577" cy="1265030"/>
          </a:xfrm>
          <a:prstGeom prst="rect">
            <a:avLst/>
          </a:prstGeom>
        </p:spPr>
      </p:pic>
      <p:sp>
        <p:nvSpPr>
          <p:cNvPr id="8" name="TextBox 7">
            <a:extLst>
              <a:ext uri="{FF2B5EF4-FFF2-40B4-BE49-F238E27FC236}">
                <a16:creationId xmlns:a16="http://schemas.microsoft.com/office/drawing/2014/main" id="{857E7925-DDF9-DCEB-7DB1-AE139947AD79}"/>
              </a:ext>
            </a:extLst>
          </p:cNvPr>
          <p:cNvSpPr txBox="1"/>
          <p:nvPr/>
        </p:nvSpPr>
        <p:spPr>
          <a:xfrm>
            <a:off x="2010267" y="2692725"/>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Initialization:</a:t>
            </a:r>
          </a:p>
        </p:txBody>
      </p:sp>
      <p:pic>
        <p:nvPicPr>
          <p:cNvPr id="10" name="Picture 9">
            <a:extLst>
              <a:ext uri="{FF2B5EF4-FFF2-40B4-BE49-F238E27FC236}">
                <a16:creationId xmlns:a16="http://schemas.microsoft.com/office/drawing/2014/main" id="{BB64A35E-71B5-9F16-A44B-CCD48C51D929}"/>
              </a:ext>
            </a:extLst>
          </p:cNvPr>
          <p:cNvPicPr>
            <a:picLocks noChangeAspect="1"/>
          </p:cNvPicPr>
          <p:nvPr/>
        </p:nvPicPr>
        <p:blipFill>
          <a:blip r:embed="rId3"/>
          <a:stretch>
            <a:fillRect/>
          </a:stretch>
        </p:blipFill>
        <p:spPr>
          <a:xfrm>
            <a:off x="1939492" y="3159566"/>
            <a:ext cx="1676545" cy="1379340"/>
          </a:xfrm>
          <a:prstGeom prst="rect">
            <a:avLst/>
          </a:prstGeom>
        </p:spPr>
      </p:pic>
      <p:sp>
        <p:nvSpPr>
          <p:cNvPr id="12" name="TextBox 11">
            <a:extLst>
              <a:ext uri="{FF2B5EF4-FFF2-40B4-BE49-F238E27FC236}">
                <a16:creationId xmlns:a16="http://schemas.microsoft.com/office/drawing/2014/main" id="{8A9E1297-2C3B-D2F9-CA8E-35696AF40AB1}"/>
              </a:ext>
            </a:extLst>
          </p:cNvPr>
          <p:cNvSpPr txBox="1"/>
          <p:nvPr/>
        </p:nvSpPr>
        <p:spPr>
          <a:xfrm>
            <a:off x="5894110" y="577966"/>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Decision Step:</a:t>
            </a:r>
          </a:p>
        </p:txBody>
      </p:sp>
      <p:pic>
        <p:nvPicPr>
          <p:cNvPr id="14" name="Picture 13">
            <a:extLst>
              <a:ext uri="{FF2B5EF4-FFF2-40B4-BE49-F238E27FC236}">
                <a16:creationId xmlns:a16="http://schemas.microsoft.com/office/drawing/2014/main" id="{6DC1EC29-7CE9-0182-CB2B-9B71A8F1E47F}"/>
              </a:ext>
            </a:extLst>
          </p:cNvPr>
          <p:cNvPicPr>
            <a:picLocks noChangeAspect="1"/>
          </p:cNvPicPr>
          <p:nvPr/>
        </p:nvPicPr>
        <p:blipFill>
          <a:blip r:embed="rId4"/>
          <a:stretch>
            <a:fillRect/>
          </a:stretch>
        </p:blipFill>
        <p:spPr>
          <a:xfrm>
            <a:off x="5283724" y="1035575"/>
            <a:ext cx="4778154" cy="1714649"/>
          </a:xfrm>
          <a:prstGeom prst="rect">
            <a:avLst/>
          </a:prstGeom>
        </p:spPr>
      </p:pic>
      <p:sp>
        <p:nvSpPr>
          <p:cNvPr id="16" name="TextBox 15">
            <a:extLst>
              <a:ext uri="{FF2B5EF4-FFF2-40B4-BE49-F238E27FC236}">
                <a16:creationId xmlns:a16="http://schemas.microsoft.com/office/drawing/2014/main" id="{9E3213C6-4B5F-2A56-170A-EB127759DA5A}"/>
              </a:ext>
            </a:extLst>
          </p:cNvPr>
          <p:cNvSpPr txBox="1"/>
          <p:nvPr/>
        </p:nvSpPr>
        <p:spPr>
          <a:xfrm>
            <a:off x="5780988" y="2781002"/>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Shift Operation:</a:t>
            </a:r>
          </a:p>
        </p:txBody>
      </p:sp>
      <p:pic>
        <p:nvPicPr>
          <p:cNvPr id="18" name="Picture 17">
            <a:extLst>
              <a:ext uri="{FF2B5EF4-FFF2-40B4-BE49-F238E27FC236}">
                <a16:creationId xmlns:a16="http://schemas.microsoft.com/office/drawing/2014/main" id="{BD2D53FD-C13A-BFE0-E076-A0E2166980D2}"/>
              </a:ext>
            </a:extLst>
          </p:cNvPr>
          <p:cNvPicPr>
            <a:picLocks noChangeAspect="1"/>
          </p:cNvPicPr>
          <p:nvPr/>
        </p:nvPicPr>
        <p:blipFill>
          <a:blip r:embed="rId5"/>
          <a:stretch>
            <a:fillRect/>
          </a:stretch>
        </p:blipFill>
        <p:spPr>
          <a:xfrm>
            <a:off x="5780988" y="3429000"/>
            <a:ext cx="3894157" cy="1082134"/>
          </a:xfrm>
          <a:prstGeom prst="rect">
            <a:avLst/>
          </a:prstGeom>
        </p:spPr>
      </p:pic>
    </p:spTree>
    <p:extLst>
      <p:ext uri="{BB962C8B-B14F-4D97-AF65-F5344CB8AC3E}">
        <p14:creationId xmlns:p14="http://schemas.microsoft.com/office/powerpoint/2010/main" val="7710520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F625-3F78-14E7-523A-C94DFD6EFFA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385B76-6B79-4487-E51A-CE50D40C46AC}"/>
              </a:ext>
            </a:extLst>
          </p:cNvPr>
          <p:cNvSpPr>
            <a:spLocks noGrp="1"/>
          </p:cNvSpPr>
          <p:nvPr>
            <p:ph type="ftr" sz="quarter" idx="11"/>
          </p:nvPr>
        </p:nvSpPr>
        <p:spPr>
          <a:xfrm>
            <a:off x="4221279" y="6676875"/>
            <a:ext cx="7619999" cy="365125"/>
          </a:xfrm>
        </p:spPr>
        <p:txBody>
          <a:bodyPr/>
          <a:lstStyle/>
          <a:p>
            <a:r>
              <a:rPr lang="en-IN"/>
              <a:t>Dr. Aruru Sai Kumar , VIT-AP</a:t>
            </a:r>
            <a:endParaRPr lang="en-IN" dirty="0"/>
          </a:p>
        </p:txBody>
      </p:sp>
      <p:sp>
        <p:nvSpPr>
          <p:cNvPr id="4" name="TextBox 3">
            <a:extLst>
              <a:ext uri="{FF2B5EF4-FFF2-40B4-BE49-F238E27FC236}">
                <a16:creationId xmlns:a16="http://schemas.microsoft.com/office/drawing/2014/main" id="{FDFD8650-1B8B-A7C4-82E2-1EEFD5539B50}"/>
              </a:ext>
            </a:extLst>
          </p:cNvPr>
          <p:cNvSpPr txBox="1"/>
          <p:nvPr/>
        </p:nvSpPr>
        <p:spPr>
          <a:xfrm>
            <a:off x="1859438" y="635465"/>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Counter Update:</a:t>
            </a:r>
          </a:p>
        </p:txBody>
      </p:sp>
      <p:sp>
        <p:nvSpPr>
          <p:cNvPr id="8" name="TextBox 7">
            <a:extLst>
              <a:ext uri="{FF2B5EF4-FFF2-40B4-BE49-F238E27FC236}">
                <a16:creationId xmlns:a16="http://schemas.microsoft.com/office/drawing/2014/main" id="{E16919CF-29F8-8B56-8C67-7130295B556B}"/>
              </a:ext>
            </a:extLst>
          </p:cNvPr>
          <p:cNvSpPr txBox="1"/>
          <p:nvPr/>
        </p:nvSpPr>
        <p:spPr>
          <a:xfrm>
            <a:off x="2010267" y="2692725"/>
            <a:ext cx="609442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Final Output:</a:t>
            </a:r>
          </a:p>
        </p:txBody>
      </p:sp>
      <p:pic>
        <p:nvPicPr>
          <p:cNvPr id="5" name="Picture 4">
            <a:extLst>
              <a:ext uri="{FF2B5EF4-FFF2-40B4-BE49-F238E27FC236}">
                <a16:creationId xmlns:a16="http://schemas.microsoft.com/office/drawing/2014/main" id="{0599F848-694B-085C-8FB0-4F33FD133EA2}"/>
              </a:ext>
            </a:extLst>
          </p:cNvPr>
          <p:cNvPicPr>
            <a:picLocks noChangeAspect="1"/>
          </p:cNvPicPr>
          <p:nvPr/>
        </p:nvPicPr>
        <p:blipFill>
          <a:blip r:embed="rId2"/>
          <a:stretch>
            <a:fillRect/>
          </a:stretch>
        </p:blipFill>
        <p:spPr>
          <a:xfrm>
            <a:off x="1706389" y="1326893"/>
            <a:ext cx="4084674" cy="1074513"/>
          </a:xfrm>
          <a:prstGeom prst="rect">
            <a:avLst/>
          </a:prstGeom>
        </p:spPr>
      </p:pic>
      <p:pic>
        <p:nvPicPr>
          <p:cNvPr id="9" name="Picture 8">
            <a:extLst>
              <a:ext uri="{FF2B5EF4-FFF2-40B4-BE49-F238E27FC236}">
                <a16:creationId xmlns:a16="http://schemas.microsoft.com/office/drawing/2014/main" id="{40492D3C-D1AE-3D13-9109-6D946A17D573}"/>
              </a:ext>
            </a:extLst>
          </p:cNvPr>
          <p:cNvPicPr>
            <a:picLocks noChangeAspect="1"/>
          </p:cNvPicPr>
          <p:nvPr/>
        </p:nvPicPr>
        <p:blipFill>
          <a:blip r:embed="rId3"/>
          <a:stretch>
            <a:fillRect/>
          </a:stretch>
        </p:blipFill>
        <p:spPr>
          <a:xfrm>
            <a:off x="1706389" y="3455980"/>
            <a:ext cx="3886537" cy="952583"/>
          </a:xfrm>
          <a:prstGeom prst="rect">
            <a:avLst/>
          </a:prstGeom>
        </p:spPr>
      </p:pic>
    </p:spTree>
    <p:extLst>
      <p:ext uri="{BB962C8B-B14F-4D97-AF65-F5344CB8AC3E}">
        <p14:creationId xmlns:p14="http://schemas.microsoft.com/office/powerpoint/2010/main" val="264232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92030-7A5C-65E3-1DAC-26CBA536E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E91E9-F00E-ECAB-B16C-1CDC2D50E82B}"/>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8929F1-616C-2250-6D4D-07E4F870906A}"/>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Booths Multiplier :</a:t>
            </a:r>
          </a:p>
          <a:p>
            <a:pPr marL="0" indent="0" algn="just">
              <a:buNone/>
            </a:pPr>
            <a:r>
              <a:rPr lang="en-IN"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Efficient for signed (2’s complement) multiplication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number of addition/subtraction operations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Handles consecutive 1’s efficiently (bit-pair recoding)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Saves hardware resources compared to basic array multipliers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Suitable for high-speed multiplication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Widely used in modern processors and DSP systems</a:t>
            </a:r>
          </a:p>
          <a:p>
            <a:pPr marL="0" indent="0">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3348E91-91B6-0629-3962-E158E668C5AA}"/>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34741302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A0E4D-DE68-8F9F-9D12-5DB66B51D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03E8F-9BE7-D031-4C53-9EDF6B9D889A}"/>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C5DA63-22CF-9BAC-DB30-56FE1CBB8816}"/>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Booths Multiplier :</a:t>
            </a:r>
          </a:p>
          <a:p>
            <a:pPr marL="0" indent="0" algn="just">
              <a:buNone/>
            </a:pPr>
            <a:r>
              <a:rPr lang="en-IN" sz="2400"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 logic is complex compared to simple multipliers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additional components like:</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Extra bit Q</a:t>
            </a:r>
            <a:r>
              <a:rPr lang="en-US" sz="2400" baseline="-25000" dirty="0">
                <a:latin typeface="Times New Roman" panose="02020603050405020304" pitchFamily="18" charset="0"/>
                <a:cs typeface="Times New Roman" panose="02020603050405020304" pitchFamily="18" charset="0"/>
              </a:rPr>
              <a:t>-1</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Decision-making circuitry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Performance may degrade when:</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Multiplier has alternating bits (e.g., 101010)</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arithmetic shift operations, increasing design complexity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Slightly higher power consumption due to control overhead</a:t>
            </a:r>
          </a:p>
          <a:p>
            <a:pPr marL="0" indent="0">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10807EE-820F-2477-A4DD-1E51E097809E}"/>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17946352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A8C50-2736-2B78-AA42-FF91A95E6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831C0-5967-3D8C-DEB2-99B770D55175}"/>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497274-D632-B90E-E973-5F6750099E10}"/>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4. 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Booth’s algorithm reduces the number of partial products approximately by half, making it efficient for signed multiplication.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as the operand size increases (such as 32-bit and above), the generated partial products become significantly wider, leading to increased complexity and delay.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results in performance degradation in large multipliers, even when using modified Booth techniques.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contrast, the Wallace tree multiplier improves performance by reducing partial products more efficiently using multi-input compressors, which allow several partial products to be added simultaneously.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This parallel reduction significantly enhances speed and makes the Wallace tree more suitable for high-bit-width multiplication.</a:t>
            </a: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0CB2F55-737D-5F7F-3B7B-7E8A2ABB7165}"/>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9133206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AC10-009E-CDB6-61E3-A29318200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8C2B1-CBA4-9562-E00E-46D010767AF2}"/>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16D811-C6C2-1A92-D06F-A9F2A666E77E}"/>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Wallace tree multiplication algorithm utilizes pseudo adders (carry-save adders) that take three input bits and produce two output bits whose combined value equals the sum of the inputs.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The key advantage of these pseudo adders is that they eliminate carry propagation during intermediate stages, significantly increasing the speed of multiplication. </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By using multiple pseudo adders in parallel, the Wallace tree efficiently reduces partial products, resulting in an overall delay approximately proportional to </a:t>
                </a:r>
                <a14:m>
                  <m:oMath xmlns:m="http://schemas.openxmlformats.org/officeDocument/2006/math">
                    <m:sSub>
                      <m:sSubPr>
                        <m:ctrlPr>
                          <a:rPr lang="ar-AE" sz="2000" i="1">
                            <a:latin typeface="Cambria Math" panose="02040503050406030204" pitchFamily="18" charset="0"/>
                          </a:rPr>
                        </m:ctrlPr>
                      </m:sSubPr>
                      <m:e>
                        <m:r>
                          <a:rPr lang="en-IN" sz="2000" b="0" i="1" smtClean="0">
                            <a:latin typeface="Cambria Math" panose="02040503050406030204" pitchFamily="18" charset="0"/>
                          </a:rPr>
                          <m:t>𝑙𝑜𝑔</m:t>
                        </m:r>
                      </m:e>
                      <m:sub>
                        <m:r>
                          <a:rPr lang="ar-AE" sz="2000">
                            <a:latin typeface="Cambria Math" panose="02040503050406030204" pitchFamily="18" charset="0"/>
                          </a:rPr>
                          <m:t>2</m:t>
                        </m:r>
                      </m:sub>
                    </m:sSub>
                    <m:r>
                      <a:rPr lang="ar-AE" sz="2000" i="1">
                        <a:latin typeface="Cambria Math" panose="02040503050406030204" pitchFamily="18" charset="0"/>
                      </a:rPr>
                      <m:t>𝑛</m:t>
                    </m:r>
                  </m:oMath>
                </a14:m>
                <a:r>
                  <a:rPr lang="ar-AE"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where </a:t>
                </a:r>
                <a14:m>
                  <m:oMath xmlns:m="http://schemas.openxmlformats.org/officeDocument/2006/math">
                    <m:r>
                      <a:rPr lang="en-IN" sz="2000" i="1">
                        <a:latin typeface="Cambria Math" panose="02040503050406030204" pitchFamily="18" charset="0"/>
                      </a:rPr>
                      <m:t>𝑛</m:t>
                    </m:r>
                    <m:r>
                      <a:rPr lang="en-IN" sz="2000" b="0" i="1" smtClean="0">
                        <a:latin typeface="Cambria Math" panose="02040503050406030204" pitchFamily="18" charset="0"/>
                      </a:rPr>
                      <m:t> </m:t>
                    </m:r>
                  </m:oMath>
                </a14:m>
                <a:r>
                  <a:rPr lang="en-IN" sz="2000" dirty="0">
                    <a:latin typeface="Times New Roman" panose="02020603050405020304" pitchFamily="18" charset="0"/>
                    <a:cs typeface="Times New Roman" panose="02020603050405020304" pitchFamily="18" charset="0"/>
                  </a:rPr>
                  <a:t>is the number of partial product rows.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However, the main drawback of the Wallace tree architecture is its irregular layout, caused by complex interconnections between components, making it less suitable for regular VLSI design compared to array-based multipliers.</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E16D811-C6C2-1A92-D06F-A9F2A666E77E}"/>
                  </a:ext>
                </a:extLst>
              </p:cNvPr>
              <p:cNvSpPr>
                <a:spLocks noGrp="1" noRot="1" noChangeAspect="1" noMove="1" noResize="1" noEditPoints="1" noAdjustHandles="1" noChangeArrowheads="1" noChangeShapeType="1" noTextEdit="1"/>
              </p:cNvSpPr>
              <p:nvPr>
                <p:ph idx="1"/>
              </p:nvPr>
            </p:nvSpPr>
            <p:spPr>
              <a:xfrm>
                <a:off x="1527144" y="888640"/>
                <a:ext cx="10774836" cy="4882043"/>
              </a:xfrm>
              <a:blipFill>
                <a:blip r:embed="rId3"/>
                <a:stretch>
                  <a:fillRect l="-905" t="-999" r="-623"/>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EBF7099E-E7F2-3722-14B7-DCF0E4CBCE10}"/>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5125754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91CDF-A5BA-BE54-2866-FFEEAAA44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077D3-73EF-1D70-2379-7803EB918ED5}"/>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F3B339-149F-625B-F29E-789FC66A1A37}"/>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marL="0" indent="0" algn="just">
              <a:buNone/>
            </a:pPr>
            <a:r>
              <a:rPr lang="en-US" sz="2000" b="1" dirty="0">
                <a:latin typeface="Times New Roman" panose="02020603050405020304" pitchFamily="18" charset="0"/>
                <a:cs typeface="Times New Roman" panose="02020603050405020304" pitchFamily="18" charset="0"/>
              </a:rPr>
              <a:t>Process: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In general, the Wallace tree multiplication process begins by generating partial products, which are then reduced using a set of counters (carry-save adders) that combine multiple inputs without propagating carries.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produces an intermediate matrix consisting of sum and carry outputs. In subsequent stages, additional counters further reduce this matrix in parallel until only two rows remain.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Finally, these two rows are added using a carry propagate adder to obtain the final product.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By postponing carry propagation until the last stage, this approach significantly improves speed, and the overall performance depends on the number of reduction levels in the tree</a:t>
            </a:r>
            <a:r>
              <a:rPr lang="en-US" sz="2000" dirty="0"/>
              <a:t>.</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2F7A717-CFCD-1C3C-AA95-53A3C1BEA022}"/>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8961416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D2E4B-F740-3043-50A1-6B55E5C72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1C8F6-2E3E-25EE-3B45-7C20D84E6F8F}"/>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AECDBF-A24D-5608-6FBD-F71F0C74AF6D}"/>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marL="0" indent="0" algn="just">
              <a:buNone/>
            </a:pPr>
            <a:r>
              <a:rPr lang="en-IN" sz="2400" b="1" dirty="0">
                <a:latin typeface="Times New Roman" panose="02020603050405020304" pitchFamily="18" charset="0"/>
                <a:cs typeface="Times New Roman" panose="02020603050405020304" pitchFamily="18" charset="0"/>
              </a:rPr>
              <a:t>4:2 compressors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primary advantage of tree multipliers is that their speed improves logarithmically with respect to the operand length, unlike iterative array multipliers where the delay increases linearly with operand size.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This makes tree-based architectures significantly faster for large-bit multiplications.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Additionally, the use of 4:2 compressors enhances design efficiency by reducing four input bits of the same weight into two outputs, resulting in a more regular and structured layout compared to traditional 3:2 counters.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This improved regularity helps in achieving better performance and easier implementation in high-speed multiplier designs.</a:t>
            </a:r>
            <a:endParaRPr lang="en-IN" sz="2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0EBE66B-C42B-C55D-7309-1AD9EF53DDDD}"/>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190525865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8AA052-C06D-526A-3A76-9DDDE12B2555}"/>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B4292065-9885-7E8F-16C3-444DAD6CF5E5}"/>
              </a:ext>
            </a:extLst>
          </p:cNvPr>
          <p:cNvPicPr>
            <a:picLocks noChangeAspect="1"/>
          </p:cNvPicPr>
          <p:nvPr/>
        </p:nvPicPr>
        <p:blipFill>
          <a:blip r:embed="rId2"/>
          <a:stretch>
            <a:fillRect/>
          </a:stretch>
        </p:blipFill>
        <p:spPr>
          <a:xfrm>
            <a:off x="2447898" y="722627"/>
            <a:ext cx="7902625" cy="4884843"/>
          </a:xfrm>
          <a:prstGeom prst="rect">
            <a:avLst/>
          </a:prstGeom>
        </p:spPr>
      </p:pic>
    </p:spTree>
    <p:extLst>
      <p:ext uri="{BB962C8B-B14F-4D97-AF65-F5344CB8AC3E}">
        <p14:creationId xmlns:p14="http://schemas.microsoft.com/office/powerpoint/2010/main" val="353298183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F734-E248-1E44-909F-D6A81B535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7D685-BC05-57D0-D129-579C77B134BE}"/>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1E7266-714F-BAEB-8B70-C17CD6909F91}"/>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marL="0" indent="0" algn="just">
              <a:buNone/>
            </a:pPr>
            <a:r>
              <a:rPr lang="en-US" sz="2200" dirty="0">
                <a:latin typeface="Times New Roman" panose="02020603050405020304" pitchFamily="18" charset="0"/>
                <a:cs typeface="Times New Roman" panose="02020603050405020304" pitchFamily="18" charset="0"/>
              </a:rPr>
              <a:t>The Wallace tree multiplier achieves high-speed operation by reducing partial products in parallel using carry-save adders and compressors such as the 4:2 compressor. For a 4:2 compressor, the sum output is given by</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B3093C6-7AA4-2680-386E-B5E08A61A6B1}"/>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1E7D8BD9-C1ED-8E99-B695-B40E3F5C6F0B}"/>
              </a:ext>
            </a:extLst>
          </p:cNvPr>
          <p:cNvPicPr>
            <a:picLocks noChangeAspect="1"/>
          </p:cNvPicPr>
          <p:nvPr/>
        </p:nvPicPr>
        <p:blipFill>
          <a:blip r:embed="rId3"/>
          <a:stretch>
            <a:fillRect/>
          </a:stretch>
        </p:blipFill>
        <p:spPr>
          <a:xfrm>
            <a:off x="4599729" y="2546715"/>
            <a:ext cx="2766300" cy="350550"/>
          </a:xfrm>
          <a:prstGeom prst="rect">
            <a:avLst/>
          </a:prstGeom>
        </p:spPr>
      </p:pic>
      <p:sp>
        <p:nvSpPr>
          <p:cNvPr id="8" name="TextBox 7">
            <a:extLst>
              <a:ext uri="{FF2B5EF4-FFF2-40B4-BE49-F238E27FC236}">
                <a16:creationId xmlns:a16="http://schemas.microsoft.com/office/drawing/2014/main" id="{370FF817-CD12-7A3B-F730-E3E7FA8101BF}"/>
              </a:ext>
            </a:extLst>
          </p:cNvPr>
          <p:cNvSpPr txBox="1"/>
          <p:nvPr/>
        </p:nvSpPr>
        <p:spPr>
          <a:xfrm>
            <a:off x="1675615" y="3144995"/>
            <a:ext cx="6198122" cy="43088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which can be rearranged as</a:t>
            </a:r>
            <a:endParaRPr lang="en-IN" sz="2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5F8A6B6-F490-D23B-0FBF-71D1BA735E80}"/>
              </a:ext>
            </a:extLst>
          </p:cNvPr>
          <p:cNvPicPr>
            <a:picLocks noChangeAspect="1"/>
          </p:cNvPicPr>
          <p:nvPr/>
        </p:nvPicPr>
        <p:blipFill>
          <a:blip r:embed="rId4"/>
          <a:stretch>
            <a:fillRect/>
          </a:stretch>
        </p:blipFill>
        <p:spPr>
          <a:xfrm>
            <a:off x="4701419" y="3506373"/>
            <a:ext cx="2789162" cy="381033"/>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AB57A1C-6618-4D5A-268A-FA88D2171E73}"/>
                  </a:ext>
                </a:extLst>
              </p:cNvPr>
              <p:cNvSpPr txBox="1"/>
              <p:nvPr/>
            </p:nvSpPr>
            <p:spPr>
              <a:xfrm>
                <a:off x="1444658" y="4275046"/>
                <a:ext cx="10857322" cy="2205412"/>
              </a:xfrm>
              <a:prstGeom prst="rect">
                <a:avLst/>
              </a:prstGeom>
              <a:noFill/>
            </p:spPr>
            <p:txBody>
              <a:bodyPr wrap="square">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reduce delay. The carry outputs C and C</a:t>
                </a:r>
                <a:r>
                  <a:rPr lang="en-US" sz="2200" baseline="-25000" dirty="0">
                    <a:latin typeface="Times New Roman" panose="02020603050405020304" pitchFamily="18" charset="0"/>
                    <a:cs typeface="Times New Roman" panose="02020603050405020304" pitchFamily="18" charset="0"/>
                  </a:rPr>
                  <a:t>out </a:t>
                </a:r>
                <a:r>
                  <a:rPr lang="en-US" sz="2200" dirty="0">
                    <a:latin typeface="Times New Roman" panose="02020603050405020304" pitchFamily="18" charset="0"/>
                    <a:cs typeface="Times New Roman" panose="02020603050405020304" pitchFamily="18" charset="0"/>
                  </a:rPr>
                  <a:t>are generated without full carry propagation, since C</a:t>
                </a:r>
                <a:r>
                  <a:rPr lang="en-US" sz="2200" baseline="-25000" dirty="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and C</a:t>
                </a:r>
                <a:r>
                  <a:rPr lang="en-US" sz="2200" baseline="-25000" dirty="0">
                    <a:latin typeface="Times New Roman" panose="02020603050405020304" pitchFamily="18" charset="0"/>
                    <a:cs typeface="Times New Roman" panose="02020603050405020304" pitchFamily="18" charset="0"/>
                  </a:rPr>
                  <a:t>out  </a:t>
                </a:r>
                <a:r>
                  <a:rPr lang="en-US" sz="2200" dirty="0">
                    <a:latin typeface="Times New Roman" panose="02020603050405020304" pitchFamily="18" charset="0"/>
                    <a:cs typeface="Times New Roman" panose="02020603050405020304" pitchFamily="18" charset="0"/>
                  </a:rPr>
                  <a:t>have the same weight and are independent.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carry-save mechanism avoids propagation delays in intermediate stages, resulting in an overall delay proportional to O(</a:t>
                </a:r>
                <a14:m>
                  <m:oMath xmlns:m="http://schemas.openxmlformats.org/officeDocument/2006/math">
                    <m:sSubSup>
                      <m:sSubSupPr>
                        <m:ctrlPr>
                          <a:rPr lang="en-US" sz="2200" i="1" smtClean="0">
                            <a:latin typeface="Cambria Math" panose="02040503050406030204" pitchFamily="18" charset="0"/>
                            <a:cs typeface="Times New Roman" panose="02020603050405020304" pitchFamily="18" charset="0"/>
                          </a:rPr>
                        </m:ctrlPr>
                      </m:sSubSupPr>
                      <m:e>
                        <m:r>
                          <a:rPr lang="en-IN" sz="2200" b="0" i="1" smtClean="0">
                            <a:latin typeface="Cambria Math" panose="02040503050406030204" pitchFamily="18" charset="0"/>
                            <a:cs typeface="Times New Roman" panose="02020603050405020304" pitchFamily="18" charset="0"/>
                          </a:rPr>
                          <m:t>𝑙𝑜𝑔</m:t>
                        </m:r>
                      </m:e>
                      <m:sub>
                        <m:r>
                          <a:rPr lang="en-IN" sz="2200" b="0" i="1" smtClean="0">
                            <a:latin typeface="Cambria Math" panose="02040503050406030204" pitchFamily="18" charset="0"/>
                            <a:cs typeface="Times New Roman" panose="02020603050405020304" pitchFamily="18" charset="0"/>
                          </a:rPr>
                          <m:t>2</m:t>
                        </m:r>
                      </m:sub>
                      <m:sup>
                        <m:r>
                          <a:rPr lang="en-IN" sz="2200" b="0" i="1" smtClean="0">
                            <a:latin typeface="Cambria Math" panose="02040503050406030204" pitchFamily="18" charset="0"/>
                            <a:cs typeface="Times New Roman" panose="02020603050405020304" pitchFamily="18" charset="0"/>
                          </a:rPr>
                          <m:t>𝑛</m:t>
                        </m:r>
                      </m:sup>
                    </m:sSubSup>
                  </m:oMath>
                </a14:m>
                <a:r>
                  <a:rPr lang="en-US" sz="22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BAB57A1C-6618-4D5A-268A-FA88D2171E73}"/>
                  </a:ext>
                </a:extLst>
              </p:cNvPr>
              <p:cNvSpPr txBox="1">
                <a:spLocks noRot="1" noChangeAspect="1" noMove="1" noResize="1" noEditPoints="1" noAdjustHandles="1" noChangeArrowheads="1" noChangeShapeType="1" noTextEdit="1"/>
              </p:cNvSpPr>
              <p:nvPr/>
            </p:nvSpPr>
            <p:spPr>
              <a:xfrm>
                <a:off x="1444658" y="4275046"/>
                <a:ext cx="10857322" cy="2205412"/>
              </a:xfrm>
              <a:prstGeom prst="rect">
                <a:avLst/>
              </a:prstGeom>
              <a:blipFill>
                <a:blip r:embed="rId5"/>
                <a:stretch>
                  <a:fillRect l="-674" t="-1657" r="-730"/>
                </a:stretch>
              </a:blipFill>
            </p:spPr>
            <p:txBody>
              <a:bodyPr/>
              <a:lstStyle/>
              <a:p>
                <a:r>
                  <a:rPr lang="en-IN">
                    <a:noFill/>
                  </a:rPr>
                  <a:t> </a:t>
                </a:r>
              </a:p>
            </p:txBody>
          </p:sp>
        </mc:Fallback>
      </mc:AlternateContent>
    </p:spTree>
    <p:extLst>
      <p:ext uri="{BB962C8B-B14F-4D97-AF65-F5344CB8AC3E}">
        <p14:creationId xmlns:p14="http://schemas.microsoft.com/office/powerpoint/2010/main" val="40581569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6AD1-43BB-A936-B91E-5CF6C269F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02F26-6651-9269-22E8-480F1707E370}"/>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AD4EA3-5120-3C2C-F4D7-2AFE0B220B48}"/>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Introduction to </a:t>
            </a:r>
            <a:r>
              <a:rPr lang="en-IN" sz="2400" b="1" dirty="0" err="1">
                <a:latin typeface="Times New Roman" panose="02020603050405020304" pitchFamily="18" charset="0"/>
                <a:cs typeface="Times New Roman" panose="02020603050405020304" pitchFamily="18" charset="0"/>
              </a:rPr>
              <a:t>WallaceTree</a:t>
            </a:r>
            <a:r>
              <a:rPr lang="en-IN" sz="2400" b="1" dirty="0">
                <a:latin typeface="Times New Roman" panose="02020603050405020304" pitchFamily="18" charset="0"/>
                <a:cs typeface="Times New Roman" panose="02020603050405020304" pitchFamily="18" charset="0"/>
              </a:rPr>
              <a:t> Multiplier.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minimizing the critical path and limiting carry propagation to the final stage, the Wallace tree multiplier provides significantly faster performance, especially for large operand sizes.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747145E-849B-26BF-5820-676C2BAA2B33}"/>
              </a:ext>
            </a:extLst>
          </p:cNvPr>
          <p:cNvSpPr>
            <a:spLocks noGrp="1"/>
          </p:cNvSpPr>
          <p:nvPr>
            <p:ph type="ftr" sz="quarter" idx="11"/>
          </p:nvPr>
        </p:nvSpPr>
        <p:spPr/>
        <p:txBody>
          <a:bodyPr/>
          <a:lstStyle/>
          <a:p>
            <a:r>
              <a:rPr lang="en-IN" dirty="0"/>
              <a:t>Dr. Aruru Sai Kumar , VIT-AP</a:t>
            </a:r>
          </a:p>
        </p:txBody>
      </p:sp>
    </p:spTree>
    <p:extLst>
      <p:ext uri="{BB962C8B-B14F-4D97-AF65-F5344CB8AC3E}">
        <p14:creationId xmlns:p14="http://schemas.microsoft.com/office/powerpoint/2010/main" val="296291773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E7D390-C3BD-707B-2B45-509AF04B859D}"/>
              </a:ext>
            </a:extLst>
          </p:cNvPr>
          <p:cNvSpPr>
            <a:spLocks noGrp="1"/>
          </p:cNvSpPr>
          <p:nvPr>
            <p:ph type="ftr" sz="quarter" idx="11"/>
          </p:nvPr>
        </p:nvSpPr>
        <p:spPr/>
        <p:txBody>
          <a:bodyPr/>
          <a:lstStyle/>
          <a:p>
            <a:r>
              <a:rPr lang="en-IN"/>
              <a:t>Dr. Aruru Sai Kumar , VIT-AP</a:t>
            </a:r>
            <a:endParaRPr lang="en-IN" dirty="0"/>
          </a:p>
        </p:txBody>
      </p:sp>
      <p:pic>
        <p:nvPicPr>
          <p:cNvPr id="4" name="Picture 3">
            <a:extLst>
              <a:ext uri="{FF2B5EF4-FFF2-40B4-BE49-F238E27FC236}">
                <a16:creationId xmlns:a16="http://schemas.microsoft.com/office/drawing/2014/main" id="{F0F8EB3A-A971-08D4-B6BA-C4A9A992CBC9}"/>
              </a:ext>
            </a:extLst>
          </p:cNvPr>
          <p:cNvPicPr>
            <a:picLocks noChangeAspect="1"/>
          </p:cNvPicPr>
          <p:nvPr/>
        </p:nvPicPr>
        <p:blipFill>
          <a:blip r:embed="rId2"/>
          <a:stretch>
            <a:fillRect/>
          </a:stretch>
        </p:blipFill>
        <p:spPr>
          <a:xfrm>
            <a:off x="3149387" y="270873"/>
            <a:ext cx="5629275" cy="4600575"/>
          </a:xfrm>
          <a:prstGeom prst="rect">
            <a:avLst/>
          </a:prstGeom>
        </p:spPr>
      </p:pic>
      <p:sp>
        <p:nvSpPr>
          <p:cNvPr id="6" name="TextBox 5">
            <a:extLst>
              <a:ext uri="{FF2B5EF4-FFF2-40B4-BE49-F238E27FC236}">
                <a16:creationId xmlns:a16="http://schemas.microsoft.com/office/drawing/2014/main" id="{02E9230A-9EE3-C100-532D-A7ED398E7C7E}"/>
              </a:ext>
            </a:extLst>
          </p:cNvPr>
          <p:cNvSpPr txBox="1"/>
          <p:nvPr/>
        </p:nvSpPr>
        <p:spPr>
          <a:xfrm>
            <a:off x="3612823" y="4949630"/>
            <a:ext cx="6094428" cy="369332"/>
          </a:xfrm>
          <a:prstGeom prst="rect">
            <a:avLst/>
          </a:prstGeom>
          <a:noFill/>
        </p:spPr>
        <p:txBody>
          <a:bodyPr wrap="square">
            <a:spAutoFit/>
          </a:bodyPr>
          <a:lstStyle/>
          <a:p>
            <a:pPr algn="l">
              <a:buNone/>
            </a:pPr>
            <a:r>
              <a:rPr lang="en-US" b="0" i="0" dirty="0">
                <a:solidFill>
                  <a:srgbClr val="111111"/>
                </a:solidFill>
                <a:effectLst/>
                <a:latin typeface="Times New Roman" panose="02020603050405020304" pitchFamily="18" charset="0"/>
                <a:cs typeface="Times New Roman" panose="02020603050405020304" pitchFamily="18" charset="0"/>
              </a:rPr>
              <a:t>Figure: Wallace Tree Multiplier using full and half adders</a:t>
            </a:r>
          </a:p>
        </p:txBody>
      </p:sp>
    </p:spTree>
    <p:extLst>
      <p:ext uri="{BB962C8B-B14F-4D97-AF65-F5344CB8AC3E}">
        <p14:creationId xmlns:p14="http://schemas.microsoft.com/office/powerpoint/2010/main" val="378894379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54F2-DDA6-017E-1D87-FA845EF52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7FA6F-36CA-A0EF-C156-D39F9871A2C4}"/>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C4BEE5-704D-AC1F-6F67-2BB6B2ED153F}"/>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Advantages:</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C7BB108-3228-9DE2-6775-BF8940454CE2}"/>
              </a:ext>
            </a:extLst>
          </p:cNvPr>
          <p:cNvSpPr>
            <a:spLocks noGrp="1"/>
          </p:cNvSpPr>
          <p:nvPr>
            <p:ph type="ftr" sz="quarter" idx="11"/>
          </p:nvPr>
        </p:nvSpPr>
        <p:spPr/>
        <p:txBody>
          <a:bodyPr/>
          <a:lstStyle/>
          <a:p>
            <a:r>
              <a:rPr lang="en-IN" dirty="0"/>
              <a:t>Dr. Aruru Sai Kumar , VIT-AP</a:t>
            </a:r>
          </a:p>
        </p:txBody>
      </p:sp>
      <p:pic>
        <p:nvPicPr>
          <p:cNvPr id="6" name="Picture 5">
            <a:extLst>
              <a:ext uri="{FF2B5EF4-FFF2-40B4-BE49-F238E27FC236}">
                <a16:creationId xmlns:a16="http://schemas.microsoft.com/office/drawing/2014/main" id="{FFB80D1B-1EA0-E56E-DBA1-A2071176D8BA}"/>
              </a:ext>
            </a:extLst>
          </p:cNvPr>
          <p:cNvPicPr>
            <a:picLocks noChangeAspect="1"/>
          </p:cNvPicPr>
          <p:nvPr/>
        </p:nvPicPr>
        <p:blipFill>
          <a:blip r:embed="rId3"/>
          <a:stretch>
            <a:fillRect/>
          </a:stretch>
        </p:blipFill>
        <p:spPr>
          <a:xfrm>
            <a:off x="2102179" y="1474281"/>
            <a:ext cx="6828486" cy="3909438"/>
          </a:xfrm>
          <a:prstGeom prst="rect">
            <a:avLst/>
          </a:prstGeom>
        </p:spPr>
      </p:pic>
    </p:spTree>
    <p:extLst>
      <p:ext uri="{BB962C8B-B14F-4D97-AF65-F5344CB8AC3E}">
        <p14:creationId xmlns:p14="http://schemas.microsoft.com/office/powerpoint/2010/main" val="192478631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CC3D1-24B9-78F8-2A09-153506D64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57A5D-57AA-0F8B-BEBA-062A7BA73B9E}"/>
              </a:ext>
            </a:extLst>
          </p:cNvPr>
          <p:cNvSpPr>
            <a:spLocks noGrp="1"/>
          </p:cNvSpPr>
          <p:nvPr>
            <p:ph type="title"/>
          </p:nvPr>
        </p:nvSpPr>
        <p:spPr>
          <a:xfrm>
            <a:off x="1921390" y="205860"/>
            <a:ext cx="8911687" cy="682780"/>
          </a:xfrm>
        </p:spPr>
        <p:txBody>
          <a:bodyPr/>
          <a:lstStyle/>
          <a:p>
            <a:r>
              <a:rPr lang="en-US" b="1" dirty="0">
                <a:latin typeface="Times New Roman" panose="02020603050405020304" pitchFamily="18" charset="0"/>
                <a:cs typeface="Times New Roman" panose="02020603050405020304" pitchFamily="18" charset="0"/>
              </a:rPr>
              <a:t>Types of Multiplier Architectures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D932BC-19D0-8EB3-DD5A-273962005E99}"/>
              </a:ext>
            </a:extLst>
          </p:cNvPr>
          <p:cNvSpPr>
            <a:spLocks noGrp="1"/>
          </p:cNvSpPr>
          <p:nvPr>
            <p:ph idx="1"/>
          </p:nvPr>
        </p:nvSpPr>
        <p:spPr>
          <a:xfrm>
            <a:off x="1527144" y="888640"/>
            <a:ext cx="10774836" cy="4882043"/>
          </a:xfrm>
        </p:spPr>
        <p:txBody>
          <a:bodyPr>
            <a:noAutofit/>
          </a:bodyPr>
          <a:lstStyle/>
          <a:p>
            <a:pPr marL="0" indent="0" algn="just">
              <a:buNone/>
            </a:pPr>
            <a:r>
              <a:rPr lang="en-IN" sz="2400" b="1" dirty="0">
                <a:latin typeface="Times New Roman" panose="02020603050405020304" pitchFamily="18" charset="0"/>
                <a:cs typeface="Times New Roman" panose="02020603050405020304" pitchFamily="18" charset="0"/>
              </a:rPr>
              <a:t>Disadvantages:</a:t>
            </a:r>
          </a:p>
          <a:p>
            <a:pPr marL="0" indent="0" algn="just">
              <a:buNone/>
            </a:pPr>
            <a:endParaRPr lang="en-IN" sz="24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C25DED6-AB51-1437-094F-1C5F04591064}"/>
              </a:ext>
            </a:extLst>
          </p:cNvPr>
          <p:cNvSpPr>
            <a:spLocks noGrp="1"/>
          </p:cNvSpPr>
          <p:nvPr>
            <p:ph type="ftr" sz="quarter" idx="11"/>
          </p:nvPr>
        </p:nvSpPr>
        <p:spPr/>
        <p:txBody>
          <a:bodyPr/>
          <a:lstStyle/>
          <a:p>
            <a:r>
              <a:rPr lang="en-IN" dirty="0"/>
              <a:t>Dr. Aruru Sai Kumar , VIT-AP</a:t>
            </a:r>
          </a:p>
        </p:txBody>
      </p:sp>
      <p:pic>
        <p:nvPicPr>
          <p:cNvPr id="7" name="Picture 6">
            <a:extLst>
              <a:ext uri="{FF2B5EF4-FFF2-40B4-BE49-F238E27FC236}">
                <a16:creationId xmlns:a16="http://schemas.microsoft.com/office/drawing/2014/main" id="{9BF9EE53-3C34-1FB6-4B01-8CBCB8DAD72D}"/>
              </a:ext>
            </a:extLst>
          </p:cNvPr>
          <p:cNvPicPr>
            <a:picLocks noChangeAspect="1"/>
          </p:cNvPicPr>
          <p:nvPr/>
        </p:nvPicPr>
        <p:blipFill>
          <a:blip r:embed="rId3"/>
          <a:stretch>
            <a:fillRect/>
          </a:stretch>
        </p:blipFill>
        <p:spPr>
          <a:xfrm>
            <a:off x="2062526" y="1571420"/>
            <a:ext cx="7780517" cy="3896126"/>
          </a:xfrm>
          <a:prstGeom prst="rect">
            <a:avLst/>
          </a:prstGeom>
        </p:spPr>
      </p:pic>
    </p:spTree>
    <p:extLst>
      <p:ext uri="{BB962C8B-B14F-4D97-AF65-F5344CB8AC3E}">
        <p14:creationId xmlns:p14="http://schemas.microsoft.com/office/powerpoint/2010/main" val="19448328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Dr. Aruru Sai Kumar,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20080</TotalTime>
  <Words>10287</Words>
  <Application>Microsoft Office PowerPoint</Application>
  <PresentationFormat>Widescreen</PresentationFormat>
  <Paragraphs>1025</Paragraphs>
  <Slides>145</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145</vt:i4>
      </vt:variant>
    </vt:vector>
  </HeadingPairs>
  <TitlesOfParts>
    <vt:vector size="152" baseType="lpstr">
      <vt:lpstr>Arial</vt:lpstr>
      <vt:lpstr>Calibri</vt:lpstr>
      <vt:lpstr>Cambria Math</vt:lpstr>
      <vt:lpstr>Century Gothic</vt:lpstr>
      <vt:lpstr>Times New Roman</vt:lpstr>
      <vt:lpstr>Wingdings 3</vt:lpstr>
      <vt:lpstr>Wisp</vt:lpstr>
      <vt:lpstr>Low Power VLSI Design</vt:lpstr>
      <vt:lpstr>MODULE-4:Low-Voltage Low-Power Adders and Multipliers</vt:lpstr>
      <vt:lpstr>Outline</vt:lpstr>
      <vt:lpstr>4.1 Introduction</vt:lpstr>
      <vt:lpstr>Introduction</vt:lpstr>
      <vt:lpstr>Introduction</vt:lpstr>
      <vt:lpstr>4.2 Standard Adder Cells </vt:lpstr>
      <vt:lpstr>Standard Adder Cells </vt:lpstr>
      <vt:lpstr>Standard Adder Cells </vt:lpstr>
      <vt:lpstr>Standard Adder Cells </vt:lpstr>
      <vt:lpstr>PowerPoint Presentation</vt:lpstr>
      <vt:lpstr>4.3 CMOS Adder’s Architectures </vt:lpstr>
      <vt:lpstr>PowerPoint Presentation</vt:lpstr>
      <vt:lpstr>CMOS Adder’s Architectures </vt:lpstr>
      <vt:lpstr>CMOS Adder’s Architectures </vt:lpstr>
      <vt:lpstr>CMOS Adder’s Architectures </vt:lpstr>
      <vt:lpstr>CMOS Adder’s Architectures </vt:lpstr>
      <vt:lpstr>PowerPoint Presentation</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PowerPoint Presentation</vt:lpstr>
      <vt:lpstr>PowerPoint Presentation</vt:lpstr>
      <vt:lpstr>PowerPoint Presentation</vt:lpstr>
      <vt:lpstr>CMOS Adder’s Architectures </vt:lpstr>
      <vt:lpstr>CMOS Adder’s Architectures </vt:lpstr>
      <vt:lpstr>PowerPoint Presentation</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PowerPoint Presentation</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CMOS Adder’s Architectures </vt:lpstr>
      <vt:lpstr>PowerPoint Presentation</vt:lpstr>
      <vt:lpstr>PowerPoint Presentation</vt:lpstr>
      <vt:lpstr>CMOS Adder’s Architectures </vt:lpstr>
      <vt:lpstr>CMOS Adder’s Architectures </vt:lpstr>
      <vt:lpstr>CMOS Adder’s Architectures </vt:lpstr>
      <vt:lpstr>CMOS Adder’s Architectures </vt:lpstr>
      <vt:lpstr>CMOS Adder’s Architectures </vt:lpstr>
      <vt:lpstr>CMOS Adder’s Architectures </vt:lpstr>
      <vt:lpstr>PowerPoint Presentation</vt:lpstr>
      <vt:lpstr>Low-Voltage Low-Power Design Techniques </vt:lpstr>
      <vt:lpstr>Low-Voltage Low-Power Design Techniques </vt:lpstr>
      <vt:lpstr>Low-Voltage Low-Power Design Techniques </vt:lpstr>
      <vt:lpstr>Low-Voltage Low-Power Design Techniques </vt:lpstr>
      <vt:lpstr>Low-Voltage Low-Power Design Techniques </vt:lpstr>
      <vt:lpstr>Low-Voltage Low-Power Design Techniques </vt:lpstr>
      <vt:lpstr>Low-Voltage Low-Power Design Techniques </vt:lpstr>
      <vt:lpstr>Low-Voltage Low-Power Design Techniques </vt:lpstr>
      <vt:lpstr>PowerPoint Presentation</vt:lpstr>
      <vt:lpstr>Low-Voltage Low-Power Design Techniques </vt:lpstr>
      <vt:lpstr>Low-Voltage Low-Power Design Techniques </vt:lpstr>
      <vt:lpstr>PowerPoint Presentation</vt:lpstr>
      <vt:lpstr>Low-Voltage Low-Power Design Techniques </vt:lpstr>
      <vt:lpstr>PowerPoint Presentation</vt:lpstr>
      <vt:lpstr>Low-Voltage Low-Power Design Techniques </vt:lpstr>
      <vt:lpstr>Low-Voltage Low-Power Design Techniques </vt:lpstr>
      <vt:lpstr>PowerPoint Presentation</vt:lpstr>
      <vt:lpstr>PowerPoint Presentation</vt:lpstr>
      <vt:lpstr>4.5 Overview of Multiplication</vt:lpstr>
      <vt:lpstr>Overview of Multiplication</vt:lpstr>
      <vt:lpstr>Overview of Multiplication</vt:lpstr>
      <vt:lpstr>PowerPoint Presentation</vt:lpstr>
      <vt:lpstr>Overview of Multiplication</vt:lpstr>
      <vt:lpstr>Overview of Multiplication</vt:lpstr>
      <vt:lpstr>PowerPoint Presentation</vt:lpstr>
      <vt:lpstr>PowerPoint Presentation</vt:lpstr>
      <vt:lpstr>Overview of Multiplication</vt:lpstr>
      <vt:lpstr>Overview of Multiplication</vt:lpstr>
      <vt:lpstr>Overview of Multiplication</vt:lpstr>
      <vt:lpstr>PowerPoint Presentation</vt:lpstr>
      <vt:lpstr>PowerPoint Presentation</vt:lpstr>
      <vt:lpstr>PowerPoint Presentation</vt:lpstr>
      <vt:lpstr>PowerPoint Presentation</vt:lpstr>
      <vt:lpstr>PowerPoint Presentation</vt:lpstr>
      <vt:lpstr>4.6 Types of Multiplier Architectures</vt:lpstr>
      <vt:lpstr>Types of Multiplier Architectures</vt:lpstr>
      <vt:lpstr>Types of Multiplier Architectures</vt:lpstr>
      <vt:lpstr>Types of Multiplier Architectures</vt:lpstr>
      <vt:lpstr>Types of Multiplier Architectures</vt:lpstr>
      <vt:lpstr>PowerPoint Presentation</vt:lpstr>
      <vt:lpstr>Types of Multiplier Architectures</vt:lpstr>
      <vt:lpstr>PowerPoint Presentation</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PowerPoint Presentation</vt:lpstr>
      <vt:lpstr>PowerPoint Presentation</vt:lpstr>
      <vt:lpstr>PowerPoint Presentation</vt:lpstr>
      <vt:lpstr>PowerPoint Presentation</vt:lpstr>
      <vt:lpstr>PowerPoint Presentation</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PowerPoint Presentation</vt:lpstr>
      <vt:lpstr>PowerPoint Presentation</vt:lpstr>
      <vt:lpstr>PowerPoint Presentation</vt:lpstr>
      <vt:lpstr>PowerPoint Presentation</vt:lpstr>
      <vt:lpstr>PowerPoint Presentation</vt:lpstr>
      <vt:lpstr>Types of Multiplier Architectures</vt:lpstr>
      <vt:lpstr>Types of Multiplier Architectures</vt:lpstr>
      <vt:lpstr>Types of Multiplier Architectures</vt:lpstr>
      <vt:lpstr>Types of Multiplier Architectures</vt:lpstr>
      <vt:lpstr>Types of Multiplier Architectures</vt:lpstr>
      <vt:lpstr>Types of Multiplier Architectures</vt:lpstr>
      <vt:lpstr>PowerPoint Presentation</vt:lpstr>
      <vt:lpstr>Types of Multiplier Architectures</vt:lpstr>
      <vt:lpstr>Types of Multiplier Architectures</vt:lpstr>
      <vt:lpstr>PowerPoint Presentation</vt:lpstr>
      <vt:lpstr>Types of Multiplier Architectures</vt:lpstr>
      <vt:lpstr>Types of Multiplier Architectures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 Power 10T SRAM Cell with Improved Stability Solving Soft Error Issue</dc:title>
  <dc:creator>eee</dc:creator>
  <cp:lastModifiedBy>ARURU SAI KUMAR</cp:lastModifiedBy>
  <cp:revision>763</cp:revision>
  <cp:lastPrinted>2021-07-12T07:25:25Z</cp:lastPrinted>
  <dcterms:created xsi:type="dcterms:W3CDTF">2019-09-25T11:46:40Z</dcterms:created>
  <dcterms:modified xsi:type="dcterms:W3CDTF">2026-03-19T17:17:25Z</dcterms:modified>
</cp:coreProperties>
</file>