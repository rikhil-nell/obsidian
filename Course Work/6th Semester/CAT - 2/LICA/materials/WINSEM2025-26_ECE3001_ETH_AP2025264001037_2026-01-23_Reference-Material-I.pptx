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21"/>
  </p:notesMasterIdLst>
  <p:sldIdLst>
    <p:sldId id="680" r:id="rId2"/>
    <p:sldId id="738" r:id="rId3"/>
    <p:sldId id="739" r:id="rId4"/>
    <p:sldId id="778" r:id="rId5"/>
    <p:sldId id="779" r:id="rId6"/>
    <p:sldId id="780" r:id="rId7"/>
    <p:sldId id="740" r:id="rId8"/>
    <p:sldId id="781" r:id="rId9"/>
    <p:sldId id="782" r:id="rId10"/>
    <p:sldId id="742" r:id="rId11"/>
    <p:sldId id="783" r:id="rId12"/>
    <p:sldId id="784" r:id="rId13"/>
    <p:sldId id="785" r:id="rId14"/>
    <p:sldId id="786" r:id="rId15"/>
    <p:sldId id="787" r:id="rId16"/>
    <p:sldId id="788" r:id="rId17"/>
    <p:sldId id="789" r:id="rId18"/>
    <p:sldId id="790" r:id="rId19"/>
    <p:sldId id="79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C7D34-3959-44CD-B271-AC4B20E0CCA3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D0F69-0C55-497B-8643-A10F02F6CB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629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A02F7-8672-5B0E-A5B4-8B34C99EE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99B6E-2821-AB26-9E40-C7EACB7DD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904-4CE2-BB9D-D3B6-BE6972B4E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ED9A5-0133-30B3-DFCA-0F81C321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2E07C-E439-6186-42D3-5379C2D67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742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FD4C-2E55-C5C3-9CD7-CCA2B5F0E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99525-B408-8939-6F4C-CF369326B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6150E-818E-E14B-B243-84509331E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DA880-72C0-B5CF-6470-1DAD552F7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EE6B3-756B-F98F-D5A9-10C64B37C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76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E0B5E-F10C-1235-7DD9-654F7C95D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C27AF-BD75-7D5C-6C88-A851B7A1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A950E-9E32-C70F-20DB-B97027885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64EFF-6F25-2FE4-B52F-A95E8D312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AE5FC-9230-76B1-C63B-6BB849AC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65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81549-CD18-AD34-9572-2845A4CF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FF3E5-00EF-C320-AB84-B0A6939A4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3EB3F-E5A5-0B2A-8B75-448480321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9B8EF-1E91-C041-662E-A27A7D4CF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E7ADD-975C-3D80-8714-90154B93D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54D3E-FC56-F043-E657-56964977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604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8C76-4B85-C97D-7212-803412FFA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4BB80-916C-DA52-643A-2D34D243B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A7D96-68D0-00CE-F587-D64A4DF92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38895-254C-E3C6-5435-0F4558509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88805-1D67-10F7-95D0-3A3C8FFFFB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66E2C-332E-E682-70E0-82610E8F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D65446-3D94-7C0D-4934-81DE1764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13A5D-9C8B-0648-0990-07BFD6B4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307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DF282-8468-0FD0-92E3-C7CEDA12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7FBBC-2BCB-7011-9CDB-98C4FE8F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5EDFB-71F0-3CC5-8A0C-6495C43C1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B03F2-2A8F-DC03-067B-5C846171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862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E52602-B362-7CD2-227D-430559467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39BD08-128D-0F6A-2F8F-050616CA6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C61CA-792C-6390-636D-D29AD0CB5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595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A165-338F-FF2A-FED3-40043D46A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8A43E-6F04-8391-B16B-93A087A64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E8942-D366-BC32-9880-7477D19E2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34FC9-3270-D311-DEA5-88751850B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4C366-5BB8-4E2F-AA21-2EB3F55F9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E3CDC-500D-58F0-AF5A-0FE0D14D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35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2ED05-7371-E2E3-738D-DCDD9718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3EE5A3-E5B7-DC7D-1E76-290DF61CC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4AB0E-D801-AA28-919D-4347925AF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B0DD2-3FC4-96CB-0E25-2E045E480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A1A73-2AC8-6DCA-E4FB-3BE608D8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97E21-0120-A692-161F-E0ADCA7A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213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353D0-ABB4-1024-BBEF-EBB0C103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529043-A2E4-44F8-2AA8-AE4830A08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5025C-3598-B7C3-BC2B-E0AE59ED5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98212-50A8-9589-4C92-A02BA0856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C1A80-DD9B-1598-B20B-BD66AD74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472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3085A-AE19-7AA9-DC79-57AE296FA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35E74-A104-F62D-4C70-A9D5FE5D0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3F883-B38B-8EFF-28A2-976F768A8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5C6C4-792A-45FA-8D09-E89EB5A08A8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DA437-E3A0-08C0-54A7-9D60B9822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0AAF1-00C3-F5EA-4459-59E0A18A9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711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1CCF01-76F7-D2D8-E5EB-8527E4C17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27A1B-7B37-C0F4-F6E5-A95316AB5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BD1DC-0CE2-81E5-3A56-8FCF3D4E3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5C6C4-792A-45FA-8D09-E89EB5A08A8E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D760D-422B-1897-80EE-13672A87A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CF3C8-E617-5418-CE43-FC7E58F0E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65A2A2-AC36-4532-83EC-44770C379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08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70B79A6-2E20-C2F7-1391-CDA67341A6FB}"/>
              </a:ext>
            </a:extLst>
          </p:cNvPr>
          <p:cNvSpPr txBox="1">
            <a:spLocks/>
          </p:cNvSpPr>
          <p:nvPr/>
        </p:nvSpPr>
        <p:spPr>
          <a:xfrm>
            <a:off x="62584" y="129744"/>
            <a:ext cx="10538078" cy="6655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2: Op-Amp Applications</a:t>
            </a:r>
            <a:endParaRPr lang="en-US" sz="3200" b="1" dirty="0">
              <a:solidFill>
                <a:schemeClr val="accent5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CEAB7F7-FC8E-1905-FC44-A5E437ED632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8811" y="2276178"/>
            <a:ext cx="10319141" cy="134047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Applications of Op-amp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002060"/>
              </a:buClr>
              <a:buSzPct val="100000"/>
            </a:pP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follower, Summing/Difference amplifier, Integrator/Differentiator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8E333-90D1-5384-F938-F8E576E6DA3E}"/>
              </a:ext>
            </a:extLst>
          </p:cNvPr>
          <p:cNvSpPr txBox="1"/>
          <p:nvPr/>
        </p:nvSpPr>
        <p:spPr>
          <a:xfrm>
            <a:off x="532793" y="5374053"/>
            <a:ext cx="11125200" cy="9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IN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 – preparation: </a:t>
            </a: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Materials and LIC Text book by ROY Choudhury, sixth edition, 2022.</a:t>
            </a:r>
          </a:p>
        </p:txBody>
      </p:sp>
      <p:pic>
        <p:nvPicPr>
          <p:cNvPr id="1026" name="Picture 2" descr="VIT-AP University - Wikipedia">
            <a:extLst>
              <a:ext uri="{FF2B5EF4-FFF2-40B4-BE49-F238E27FC236}">
                <a16:creationId xmlns:a16="http://schemas.microsoft.com/office/drawing/2014/main" id="{7A0C0248-CACC-9B28-EF4D-C496B3EDC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6409" y="230367"/>
            <a:ext cx="1358900" cy="112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CAE8A77-77BA-729D-C5D7-3215573ED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85" y="6480301"/>
            <a:ext cx="12129416" cy="365126"/>
          </a:xfrm>
          <a:solidFill>
            <a:schemeClr val="accent6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/>
          <a:lstStyle/>
          <a:p>
            <a:r>
              <a:rPr lang="en-US" sz="18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VIT-AP University                                              Linear Integrated Circuits                                      Dr. M. Sankush Krishna</a:t>
            </a:r>
          </a:p>
        </p:txBody>
      </p:sp>
    </p:spTree>
    <p:extLst>
      <p:ext uri="{BB962C8B-B14F-4D97-AF65-F5344CB8AC3E}">
        <p14:creationId xmlns:p14="http://schemas.microsoft.com/office/powerpoint/2010/main" val="1643373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9915-23F5-E742-F90D-849D9988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92"/>
            <a:ext cx="10515600" cy="1331353"/>
          </a:xfrm>
        </p:spPr>
        <p:txBody>
          <a:bodyPr/>
          <a:lstStyle/>
          <a:p>
            <a:r>
              <a:rPr lang="en-US" dirty="0"/>
              <a:t>Voltage follower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39BFC6-3ED8-FEFD-F2AD-DB63A9259E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799" y="1391246"/>
                <a:ext cx="6724934" cy="4791508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IN" sz="2400" dirty="0"/>
                  <a:t>A voltage follower is a non-inverting op-amp configuration with unity gain, where the output voltage is equal to the input voltage in both magnitude and phase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/>
                  <a:t>.</a:t>
                </a:r>
              </a:p>
              <a:p>
                <a:pPr algn="just"/>
                <a:r>
                  <a:rPr lang="en-US" sz="2400" dirty="0"/>
                  <a:t>It is implemented by directly connecting the output of the op-amp to the inverting input, resulting in a closed-loop gain of one.</a:t>
                </a:r>
              </a:p>
              <a:p>
                <a:pPr algn="just"/>
                <a:r>
                  <a:rPr lang="en-US" sz="2400" dirty="0"/>
                  <a:t>The circuit offers very high input impedance and very low output impedance, so it draws negligible current from source.</a:t>
                </a:r>
              </a:p>
              <a:p>
                <a:pPr algn="just"/>
                <a:r>
                  <a:rPr lang="en-US" sz="2400" dirty="0"/>
                  <a:t>It is commonly used as a buffer or isolation amplifier to provide impedance matching between a high-impedance source and a low-impedance load.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39BFC6-3ED8-FEFD-F2AD-DB63A9259E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799" y="1391246"/>
                <a:ext cx="6724934" cy="4791508"/>
              </a:xfrm>
              <a:blipFill>
                <a:blip r:embed="rId2"/>
                <a:stretch>
                  <a:fillRect l="-1178" t="-2290" r="-13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C712A9D-2EB4-EE4A-85A1-9A7E2248A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733" y="1625789"/>
            <a:ext cx="4664627" cy="402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498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76B3D-232E-D61B-78C6-E7016040E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150" y="73661"/>
            <a:ext cx="4924425" cy="1333673"/>
          </a:xfrm>
        </p:spPr>
        <p:txBody>
          <a:bodyPr/>
          <a:lstStyle/>
          <a:p>
            <a:r>
              <a:rPr lang="en-US" dirty="0"/>
              <a:t>Summing amplifier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6B48E-8B3B-CF52-A563-1B0358C7D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150" y="1407334"/>
            <a:ext cx="5808601" cy="5122171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 summing amplifier (adder) is an inverting op-amp configuration whose output is the algebraic sum of multiple input signals.</a:t>
            </a:r>
          </a:p>
          <a:p>
            <a:pPr algn="just"/>
            <a:r>
              <a:rPr lang="en-US" sz="2400" dirty="0"/>
              <a:t>If all input resistors are equal (𝑅1=𝑅2=⋯=𝑅𝑛), the circuit becomes an equal-weighted summing amplifier.</a:t>
            </a:r>
          </a:p>
          <a:p>
            <a:pPr algn="just"/>
            <a:r>
              <a:rPr lang="en-US" sz="2400" dirty="0"/>
              <a:t>Each input has an </a:t>
            </a:r>
            <a:r>
              <a:rPr lang="en-US" sz="2400" b="1" dirty="0"/>
              <a:t>independent gain</a:t>
            </a:r>
            <a:r>
              <a:rPr lang="en-US" sz="2400" dirty="0"/>
              <a:t> determined by its input resistor, with minimal interaction between inputs.</a:t>
            </a:r>
          </a:p>
          <a:p>
            <a:pPr algn="just"/>
            <a:r>
              <a:rPr lang="en-US" sz="2400" dirty="0"/>
              <a:t>Common applications include </a:t>
            </a:r>
            <a:r>
              <a:rPr lang="en-US" sz="2400" b="1" dirty="0"/>
              <a:t>audio mixing</a:t>
            </a:r>
            <a:r>
              <a:rPr lang="en-US" sz="2400" dirty="0"/>
              <a:t>, </a:t>
            </a:r>
            <a:r>
              <a:rPr lang="en-US" sz="2400" b="1" dirty="0"/>
              <a:t>signal combining</a:t>
            </a:r>
            <a:r>
              <a:rPr lang="en-US" sz="2400" dirty="0"/>
              <a:t>, and </a:t>
            </a:r>
            <a:r>
              <a:rPr lang="en-US" sz="2400" b="1" dirty="0"/>
              <a:t>level shifting</a:t>
            </a:r>
            <a:r>
              <a:rPr lang="en-US" sz="2400" dirty="0"/>
              <a:t> (adding a DC offset to an AC signal).</a:t>
            </a:r>
          </a:p>
          <a:p>
            <a:endParaRPr lang="en-IN" sz="2400" dirty="0"/>
          </a:p>
          <a:p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B58911-D9B0-E29B-2C60-2CD434F1B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751" y="328494"/>
            <a:ext cx="5551048" cy="35539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D48A0B-9998-250A-CED0-CEB90422F3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67" r="2978"/>
          <a:stretch>
            <a:fillRect/>
          </a:stretch>
        </p:blipFill>
        <p:spPr>
          <a:xfrm>
            <a:off x="6585465" y="4844477"/>
            <a:ext cx="5331620" cy="10788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243079-F61D-22A7-9FFE-8F0B96F68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910" y="3882453"/>
            <a:ext cx="3268415" cy="96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87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D721C-774B-4DFE-DAD6-FE834A510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C6378-C68F-7AAD-92FE-9803E87D9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150" y="73661"/>
            <a:ext cx="4924425" cy="1333673"/>
          </a:xfrm>
        </p:spPr>
        <p:txBody>
          <a:bodyPr/>
          <a:lstStyle/>
          <a:p>
            <a:r>
              <a:rPr lang="en-US" dirty="0"/>
              <a:t>Subtractor amplifier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1DE2D-3402-ED81-4E1E-64182E5B1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150" y="1407334"/>
            <a:ext cx="5808601" cy="5122171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 subtractor (difference amplifier) is realized using an op-amp with four equal resistors 𝑅1=𝑅2=𝑅3=𝑅𝑓.</a:t>
            </a:r>
          </a:p>
          <a:p>
            <a:pPr algn="just"/>
            <a:r>
              <a:rPr lang="en-US" sz="2400" dirty="0"/>
              <a:t>Using the superposition principle, the output due to 𝑉2​ alone acts as a unity-gain non-inverting amplifier, while the output due to 𝑉1​ alone acts as a unity-gain inverting amplifier.</a:t>
            </a:r>
          </a:p>
          <a:p>
            <a:pPr algn="just"/>
            <a:r>
              <a:rPr lang="en-US" sz="2400" dirty="0"/>
              <a:t>Hence, the circuit produces an output proportional to the difference between the two input voltages and functions as a unity-gain difference (subtractor) amplifier.</a:t>
            </a:r>
            <a:endParaRPr lang="en-IN" sz="2400" dirty="0"/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FF9A7D-0AE5-85D7-E30A-EA9F87BEE5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0" r="5110"/>
          <a:stretch>
            <a:fillRect/>
          </a:stretch>
        </p:blipFill>
        <p:spPr>
          <a:xfrm>
            <a:off x="6475751" y="-19050"/>
            <a:ext cx="5439412" cy="3448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A22498-D018-88C9-1444-8EE7EEA46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103" y="3486727"/>
            <a:ext cx="4356705" cy="5799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505B49-BDB8-6720-087B-36FE27398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711" y="4321292"/>
            <a:ext cx="1810577" cy="6506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F020AC-D9C0-EB09-19C1-F8E56D82B0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103" y="5249375"/>
            <a:ext cx="3819187" cy="62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57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9F48E-7D1E-5F2D-7C0A-BC4B6A86D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93589-B9E4-F63F-5991-9D84EE88C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150" y="73662"/>
            <a:ext cx="4924425" cy="782682"/>
          </a:xfrm>
        </p:spPr>
        <p:txBody>
          <a:bodyPr/>
          <a:lstStyle/>
          <a:p>
            <a:r>
              <a:rPr lang="en-US" dirty="0"/>
              <a:t>Integrator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9E30F-2A41-E184-2A95-8C7651CF3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150" y="867533"/>
            <a:ext cx="11278107" cy="5122171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An op-amp integrator is obtained by replacing the feedback resistor of an inverting amplifier with a capacitor 𝐶𝑓.</a:t>
            </a:r>
          </a:p>
          <a:p>
            <a:pPr algn="just"/>
            <a:r>
              <a:rPr lang="en-US" sz="2400" dirty="0"/>
              <a:t>Due to virtual ground at the inverting input and negligible input bias current, the output voltage is proportional to the negative time integral of the input voltage.</a:t>
            </a:r>
          </a:p>
          <a:p>
            <a:pPr algn="just"/>
            <a:r>
              <a:rPr lang="en-US" sz="2400" dirty="0"/>
              <a:t>At DC (𝜔=0), the gain becomes theoretically infinite, causing output saturation in practical circuits, while higher frequencies produce stable integration behavior.</a:t>
            </a:r>
            <a:endParaRPr lang="en-IN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F8F990-E82E-3978-7761-82D0CCAB2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304" y="3209362"/>
            <a:ext cx="7153937" cy="364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0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3C5D7-6079-5415-845D-3D74D93DF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CA5E9A-2207-8E12-F533-994177AE0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486" y="1306"/>
            <a:ext cx="6879698" cy="3648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86C207-BD3E-B4C8-3070-3EA25993B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72" y="1082675"/>
            <a:ext cx="2848428" cy="1083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BBE508-36E8-5AE6-19B8-A77E64BF9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312" y="512284"/>
            <a:ext cx="1365784" cy="5121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DFF431-6139-B3BB-5A63-03B722E0C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72" y="2458246"/>
            <a:ext cx="4770896" cy="9707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E1ADF2-D59E-5E6F-7963-CACAD73C11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873" y="3577203"/>
            <a:ext cx="2959042" cy="9707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E5FB25-74B8-B64D-B203-824CE348BC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531" y="4696160"/>
            <a:ext cx="3947725" cy="9707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F42DDD-C04F-95AC-CD7E-DCC3F21CF3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18" y="3428999"/>
            <a:ext cx="4055871" cy="9638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28ABAEC-A2CF-75CF-F219-C340764532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9636" y="4547955"/>
            <a:ext cx="5194807" cy="128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287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FDC535F-AC0A-417D-96AB-6706BECAC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AAAF8E-31DB-4148-8FCA-4D8233D69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953" y="484068"/>
            <a:ext cx="6898027" cy="588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6969D8-98E1-6339-8600-60A588586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37" y="1232332"/>
            <a:ext cx="6253058" cy="439277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A274328-4774-4DF9-BA53-452565122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1393" y="484069"/>
            <a:ext cx="4145975" cy="34998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0DFED8-DD16-E5DE-5310-AE1BEAB05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059" y="1314184"/>
            <a:ext cx="3502643" cy="1839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1C7B46D-2FEF-4FAA-915B-8B21A66BB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1393" y="4144834"/>
            <a:ext cx="4145975" cy="22115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8FC883-E45A-1A47-2A92-1D4B853A8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059" y="4960868"/>
            <a:ext cx="3502643" cy="57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788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285A5-1959-C8E3-E011-03CF0F2CE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469" y="606424"/>
            <a:ext cx="5356288" cy="625157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Limitations of Ideal integrator</a:t>
            </a:r>
            <a:r>
              <a:rPr lang="en-US" dirty="0"/>
              <a:t>:</a:t>
            </a:r>
          </a:p>
          <a:p>
            <a:pPr algn="just"/>
            <a:r>
              <a:rPr lang="en-US" dirty="0"/>
              <a:t>In an ideal op-amp integrator, even in the absence of an input signal, input offset voltage and bias current produce an error voltage at the output, causing distortion and preventing true integration.</a:t>
            </a:r>
          </a:p>
          <a:p>
            <a:pPr algn="just"/>
            <a:r>
              <a:rPr lang="en-US" dirty="0"/>
              <a:t>To limit low-frequency gain and avoid saturation, a resistor is connected in parallel with the integrating capacitor, but this also restricts the high-frequency integration range, making the circuit non-ideal.</a:t>
            </a:r>
          </a:p>
          <a:p>
            <a:pPr algn="just"/>
            <a:r>
              <a:rPr lang="en-US" dirty="0"/>
              <a:t>Because of these limitations, a practical integrator is used, where errors due to offset, bias current, and drift are minimized using compensation resistors,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A9FC42-1B35-CB86-3964-49DA4F3D6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757" y="482667"/>
            <a:ext cx="5448731" cy="359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474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14B70-A98B-141E-D0A5-B99451D73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B7D49-F40E-B06F-6A8F-59ACC5F05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150" y="73661"/>
            <a:ext cx="4924425" cy="1333673"/>
          </a:xfrm>
        </p:spPr>
        <p:txBody>
          <a:bodyPr/>
          <a:lstStyle/>
          <a:p>
            <a:r>
              <a:rPr lang="en-US" dirty="0"/>
              <a:t>Differentiator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9A133-07C9-8199-8F7C-37675ABB5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150" y="1407334"/>
            <a:ext cx="5808601" cy="512217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An op-amp differentiator produces an output voltage proportional to the rate of change of the input voltage, making it useful for detecting rapid signal variations.</a:t>
            </a:r>
          </a:p>
          <a:p>
            <a:pPr algn="just"/>
            <a:r>
              <a:rPr lang="en-US" sz="2400" dirty="0"/>
              <a:t>The ideal differentiator is obtained by replacing the input resistor of an inverting amplifier with a capacitor, effectively interchanging the resistor and capacitor positions of an integrator.</a:t>
            </a:r>
          </a:p>
          <a:p>
            <a:pPr algn="just"/>
            <a:r>
              <a:rPr lang="en-US" sz="2400" dirty="0"/>
              <a:t>A differentiator performs the inverse operation of an integrator and emphasizes high-frequency components, with the upper cut-off frequency determined by the RC time constant.</a:t>
            </a:r>
            <a:endParaRPr lang="en-IN" sz="2400" dirty="0"/>
          </a:p>
          <a:p>
            <a:endParaRPr lang="en-IN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F8A0A5-550E-EC01-6699-B60A06797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750" y="328495"/>
            <a:ext cx="5644541" cy="28065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71C55D-0080-6A58-6DE8-3DBC1159A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261" y="2903765"/>
            <a:ext cx="2819071" cy="12182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652E40-1FEE-0CDB-B1CB-C889AFD5F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8562" y="4122057"/>
            <a:ext cx="3830352" cy="9437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EE88CC-86FA-475F-E575-12A7F7D020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6571" y="5224581"/>
            <a:ext cx="2757114" cy="94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95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FDC535F-AC0A-417D-96AB-6706BECAC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AAAF8E-31DB-4148-8FCA-4D8233D69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953" y="484068"/>
            <a:ext cx="6898027" cy="588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A12D75-9D99-DFB4-9BBA-76E7154AB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37" y="1513719"/>
            <a:ext cx="6253058" cy="382999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A274328-4774-4DF9-BA53-452565122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1393" y="484069"/>
            <a:ext cx="4145975" cy="34998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0E5796-5819-7D5C-D6B4-AB88D1CF8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495" y="1238032"/>
            <a:ext cx="4738094" cy="226244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1C7B46D-2FEF-4FAA-915B-8B21A66BB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1393" y="4144834"/>
            <a:ext cx="4145975" cy="22115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AE850A-FFD3-405A-B16F-A6DB5CC85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059" y="4873726"/>
            <a:ext cx="3502643" cy="75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20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CC20-B5C1-4B8B-29B1-37DFA6AF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992" y="2766218"/>
            <a:ext cx="5207758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Practice </a:t>
            </a:r>
            <a:r>
              <a:rPr lang="en-US" b="1" dirty="0" err="1">
                <a:solidFill>
                  <a:srgbClr val="0070C0"/>
                </a:solidFill>
              </a:rPr>
              <a:t>numericals</a:t>
            </a:r>
            <a:endParaRPr lang="en-I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402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2C73E-CFA6-E6DD-124A-77A35A0E1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Determine the output current IL for the circuit shown in Fig.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C9E216-B756-F2E5-0E58-9AB98959B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65102" y="1285175"/>
            <a:ext cx="4107417" cy="36726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D1C401-24CC-E484-FCF9-DF5E029892AB}"/>
              </a:ext>
            </a:extLst>
          </p:cNvPr>
          <p:cNvSpPr txBox="1"/>
          <p:nvPr/>
        </p:nvSpPr>
        <p:spPr>
          <a:xfrm>
            <a:off x="838200" y="1514007"/>
            <a:ext cx="512663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Potential at emitter by virtual ground=5V.</a:t>
            </a:r>
          </a:p>
          <a:p>
            <a:r>
              <a:rPr lang="en-US" sz="3200" dirty="0"/>
              <a:t>Using KVL analysis current through 1kohm resistor is </a:t>
            </a:r>
            <a:endParaRPr lang="en-IN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B8C70B-D2A6-B811-EF17-584277F51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565" y="3783220"/>
            <a:ext cx="3237147" cy="134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64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D8F7E-5F21-93AA-D0CB-E62FE6E6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Determine the current I in the circuit shown in Fig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08589F-791A-6A5D-1D8A-66957481A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4724" y="1343521"/>
            <a:ext cx="4637276" cy="33892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0D8D4F-4476-68AD-A58B-F5705568C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40" y="3819837"/>
            <a:ext cx="9578348" cy="244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38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DE70-DCE9-57CB-4C08-F7A78A0A4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3048"/>
          </a:xfrm>
        </p:spPr>
        <p:txBody>
          <a:bodyPr>
            <a:normAutofit/>
          </a:bodyPr>
          <a:lstStyle/>
          <a:p>
            <a:r>
              <a:rPr lang="en-US" sz="3200" dirty="0"/>
              <a:t>Determine the current through RL in the circuit shown in Fig</a:t>
            </a:r>
            <a:endParaRPr lang="en-IN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43AA67-B7DF-B5C7-5E56-3F0733CBB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9125" y="3563144"/>
            <a:ext cx="3333750" cy="876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34AB38-248D-D8E5-AD14-108387A2B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718" y="1757362"/>
            <a:ext cx="762952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466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DB896-1F8E-535D-8238-267A58500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753"/>
          </a:xfrm>
        </p:spPr>
        <p:txBody>
          <a:bodyPr>
            <a:normAutofit/>
          </a:bodyPr>
          <a:lstStyle/>
          <a:p>
            <a:r>
              <a:rPr lang="en-US" sz="3200" dirty="0"/>
              <a:t>Determine the V0 for the circuit shown in Fig</a:t>
            </a:r>
            <a:endParaRPr lang="en-IN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5275D9-EB36-B7AE-C324-79EA892B3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099" y="3261191"/>
            <a:ext cx="7630981" cy="3019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F7A0D7-38EB-3CB3-6A8F-415E4F019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432" y="958384"/>
            <a:ext cx="5973400" cy="316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0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942C-D2DE-735A-8193-B459A9E8B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86254"/>
          </a:xfrm>
        </p:spPr>
        <p:txBody>
          <a:bodyPr>
            <a:noAutofit/>
          </a:bodyPr>
          <a:lstStyle/>
          <a:p>
            <a:r>
              <a:rPr lang="en-US" sz="2200" dirty="0"/>
              <a:t>Calculate the output voltage of an op-amp summing amplifier for the following sets of input voltages V1, V2 and V3 and input resistors R1, R2 and R3. Use R1=1Mohm.</a:t>
            </a:r>
            <a:endParaRPr lang="en-IN" sz="2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756820-27D3-E558-0746-6F3D97CFA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0997" y="2645154"/>
            <a:ext cx="6943725" cy="3133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8B2D05-5498-B7C6-433B-6E719A9CB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61" y="1358900"/>
            <a:ext cx="80581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4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E8D-BDF4-E061-B386-F638F3AC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Find the output voltage of the following op-amp circuit shown in Fig. 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B4A0BC-51BC-BD38-5342-8681321AC6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61"/>
          <a:stretch>
            <a:fillRect/>
          </a:stretch>
        </p:blipFill>
        <p:spPr>
          <a:xfrm>
            <a:off x="7134580" y="1525796"/>
            <a:ext cx="4219220" cy="3552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2ED97C-D5FF-2440-A52E-822ABB941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345" y="1303129"/>
            <a:ext cx="3095590" cy="16499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B8378C-E80B-101B-B9CD-79FEE9295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358" y="3021220"/>
            <a:ext cx="3115577" cy="8510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EB0C1F-5DE4-C58D-7EE6-C7085F3923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969" y="4129061"/>
            <a:ext cx="3899831" cy="24319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322DDB-5E98-4D2F-F419-D129AAEC8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914" y="5248275"/>
            <a:ext cx="2233721" cy="99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7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0EA793-90B0-1EC0-B459-682071B60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Find gain of the following Op-amp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D2C80D-00DE-D970-1B33-793AD83F05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1048" y="1675227"/>
            <a:ext cx="8369904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60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4746F-81B1-F88B-F7C2-4189D51AB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D16BC438-B38C-0F61-AB1D-153F592845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736" y="1910010"/>
            <a:ext cx="9643465" cy="414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73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7277</TotalTime>
  <Words>709</Words>
  <Application>Microsoft Office PowerPoint</Application>
  <PresentationFormat>Widescreen</PresentationFormat>
  <Paragraphs>42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Voltage follower</vt:lpstr>
      <vt:lpstr>Summing amplifier</vt:lpstr>
      <vt:lpstr>Subtractor amplifier</vt:lpstr>
      <vt:lpstr>Integrator</vt:lpstr>
      <vt:lpstr>PowerPoint Presentation</vt:lpstr>
      <vt:lpstr>PowerPoint Presentation</vt:lpstr>
      <vt:lpstr>PowerPoint Presentation</vt:lpstr>
      <vt:lpstr>Differentiator</vt:lpstr>
      <vt:lpstr>PowerPoint Presentation</vt:lpstr>
      <vt:lpstr>Practice numericals</vt:lpstr>
      <vt:lpstr>Determine the output current IL for the circuit shown in Fig.</vt:lpstr>
      <vt:lpstr>Determine the current I in the circuit shown in Fig</vt:lpstr>
      <vt:lpstr>Determine the current through RL in the circuit shown in Fig</vt:lpstr>
      <vt:lpstr>Determine the V0 for the circuit shown in Fig</vt:lpstr>
      <vt:lpstr>Calculate the output voltage of an op-amp summing amplifier for the following sets of input voltages V1, V2 and V3 and input resistors R1, R2 and R3. Use R1=1Mohm.</vt:lpstr>
      <vt:lpstr>Find the output voltage of the following op-amp circuit shown in Fig. </vt:lpstr>
      <vt:lpstr>Find gain of the following Op-amp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Allam Akshayakranth</dc:creator>
  <cp:lastModifiedBy>Sankush Krishna</cp:lastModifiedBy>
  <cp:revision>300</cp:revision>
  <dcterms:created xsi:type="dcterms:W3CDTF">2024-12-18T15:58:50Z</dcterms:created>
  <dcterms:modified xsi:type="dcterms:W3CDTF">2026-01-28T07:18:15Z</dcterms:modified>
</cp:coreProperties>
</file>