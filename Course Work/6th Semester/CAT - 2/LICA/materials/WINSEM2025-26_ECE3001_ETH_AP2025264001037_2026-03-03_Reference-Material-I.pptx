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778" r:id="rId2"/>
    <p:sldId id="771" r:id="rId3"/>
    <p:sldId id="773" r:id="rId4"/>
    <p:sldId id="775" r:id="rId5"/>
    <p:sldId id="776" r:id="rId6"/>
    <p:sldId id="777" r:id="rId7"/>
    <p:sldId id="680" r:id="rId8"/>
    <p:sldId id="738" r:id="rId9"/>
    <p:sldId id="739" r:id="rId10"/>
    <p:sldId id="740" r:id="rId11"/>
    <p:sldId id="742" r:id="rId12"/>
    <p:sldId id="743" r:id="rId13"/>
    <p:sldId id="744" r:id="rId14"/>
    <p:sldId id="745" r:id="rId15"/>
    <p:sldId id="746" r:id="rId16"/>
    <p:sldId id="780" r:id="rId17"/>
    <p:sldId id="782" r:id="rId18"/>
    <p:sldId id="786" r:id="rId19"/>
    <p:sldId id="781" r:id="rId20"/>
    <p:sldId id="783" r:id="rId21"/>
    <p:sldId id="779" r:id="rId22"/>
    <p:sldId id="785" r:id="rId23"/>
    <p:sldId id="787" r:id="rId24"/>
    <p:sldId id="788" r:id="rId25"/>
    <p:sldId id="789" r:id="rId26"/>
    <p:sldId id="784" r:id="rId27"/>
    <p:sldId id="791" r:id="rId28"/>
    <p:sldId id="792" r:id="rId29"/>
    <p:sldId id="790" r:id="rId30"/>
    <p:sldId id="793" r:id="rId31"/>
    <p:sldId id="794" r:id="rId32"/>
    <p:sldId id="795" r:id="rId33"/>
    <p:sldId id="796" r:id="rId34"/>
    <p:sldId id="797" r:id="rId35"/>
    <p:sldId id="798" r:id="rId36"/>
    <p:sldId id="799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C7D34-3959-44CD-B271-AC4B20E0CCA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D0F69-0C55-497B-8643-A10F02F6CB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629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A02F7-8672-5B0E-A5B4-8B34C99EE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99B6E-2821-AB26-9E40-C7EACB7DD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F904-4CE2-BB9D-D3B6-BE6972B4E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ED9A5-0133-30B3-DFCA-0F81C321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2E07C-E439-6186-42D3-5379C2D67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742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FD4C-2E55-C5C3-9CD7-CCA2B5F0E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99525-B408-8939-6F4C-CF369326B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6150E-818E-E14B-B243-84509331E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DA880-72C0-B5CF-6470-1DAD552F7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EE6B3-756B-F98F-D5A9-10C64B37C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76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E0B5E-F10C-1235-7DD9-654F7C95D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C27AF-BD75-7D5C-6C88-A851B7A1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A950E-9E32-C70F-20DB-B97027885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64EFF-6F25-2FE4-B52F-A95E8D312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AE5FC-9230-76B1-C63B-6BB849AC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65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81549-CD18-AD34-9572-2845A4CF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FF3E5-00EF-C320-AB84-B0A6939A4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3EB3F-E5A5-0B2A-8B75-448480321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9B8EF-1E91-C041-662E-A27A7D4CF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E7ADD-975C-3D80-8714-90154B93D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54D3E-FC56-F043-E657-56964977C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604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8C76-4B85-C97D-7212-803412FFA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4BB80-916C-DA52-643A-2D34D243B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A7D96-68D0-00CE-F587-D64A4DF92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38895-254C-E3C6-5435-0F4558509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88805-1D67-10F7-95D0-3A3C8FFFFB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F66E2C-332E-E682-70E0-82610E8F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D65446-3D94-7C0D-4934-81DE17644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13A5D-9C8B-0648-0990-07BFD6B4A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307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DF282-8468-0FD0-92E3-C7CEDA127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7FBBC-2BCB-7011-9CDB-98C4FE8FA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5EDFB-71F0-3CC5-8A0C-6495C43C1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EB03F2-2A8F-DC03-067B-5C846171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862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E52602-B362-7CD2-227D-430559467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39BD08-128D-0F6A-2F8F-050616CA6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C61CA-792C-6390-636D-D29AD0CB5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595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9A165-338F-FF2A-FED3-40043D46A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8A43E-6F04-8391-B16B-93A087A64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E8942-D366-BC32-9880-7477D19E2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34FC9-3270-D311-DEA5-88751850B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4C366-5BB8-4E2F-AA21-2EB3F55F9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E3CDC-500D-58F0-AF5A-0FE0D14D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35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2ED05-7371-E2E3-738D-DCDD9718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3EE5A3-E5B7-DC7D-1E76-290DF61CC9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4AB0E-D801-AA28-919D-4347925AF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B0DD2-3FC4-96CB-0E25-2E045E480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A1A73-2AC8-6DCA-E4FB-3BE608D8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97E21-0120-A692-161F-E0ADCA7A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213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353D0-ABB4-1024-BBEF-EBB0C103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529043-A2E4-44F8-2AA8-AE4830A08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5025C-3598-B7C3-BC2B-E0AE59ED5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98212-50A8-9589-4C92-A02BA0856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C1A80-DD9B-1598-B20B-BD66AD748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47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3085A-AE19-7AA9-DC79-57AE296FA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35E74-A104-F62D-4C70-A9D5FE5D0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3F883-B38B-8EFF-28A2-976F768A8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DA437-E3A0-08C0-54A7-9D60B9822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0AAF1-00C3-F5EA-4459-59E0A18A9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711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1CCF01-76F7-D2D8-E5EB-8527E4C1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27A1B-7B37-C0F4-F6E5-A95316AB5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BD1DC-0CE2-81E5-3A56-8FCF3D4E3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5C6C4-792A-45FA-8D09-E89EB5A08A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D760D-422B-1897-80EE-13672A87A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CF3C8-E617-5418-CE43-FC7E58F0E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08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0.png"/><Relationship Id="rId7" Type="http://schemas.openxmlformats.org/officeDocument/2006/relationships/image" Target="../media/image83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72.png"/><Relationship Id="rId9" Type="http://schemas.openxmlformats.org/officeDocument/2006/relationships/image" Target="../media/image8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70B79A6-2E20-C2F7-1391-CDA67341A6FB}"/>
              </a:ext>
            </a:extLst>
          </p:cNvPr>
          <p:cNvSpPr txBox="1">
            <a:spLocks/>
          </p:cNvSpPr>
          <p:nvPr/>
        </p:nvSpPr>
        <p:spPr>
          <a:xfrm>
            <a:off x="62584" y="129744"/>
            <a:ext cx="10538078" cy="6655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3: Op-Amp Applications</a:t>
            </a:r>
            <a:endParaRPr lang="en-US" sz="3200" b="1" dirty="0">
              <a:solidFill>
                <a:schemeClr val="accent5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CEAB7F7-FC8E-1905-FC44-A5E437ED632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811" y="2276178"/>
            <a:ext cx="10319141" cy="187175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Sample &amp; Hold circuit, Analog multiplier</a:t>
            </a:r>
            <a:endParaRPr lang="en-US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B8E333-90D1-5384-F938-F8E576E6DA3E}"/>
              </a:ext>
            </a:extLst>
          </p:cNvPr>
          <p:cNvSpPr txBox="1"/>
          <p:nvPr/>
        </p:nvSpPr>
        <p:spPr>
          <a:xfrm>
            <a:off x="532793" y="5374053"/>
            <a:ext cx="11125200" cy="9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I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 – preparation: 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Materials and LIC Text book by ROY Choudhury, sixth edition, 2022.</a:t>
            </a:r>
          </a:p>
        </p:txBody>
      </p:sp>
      <p:pic>
        <p:nvPicPr>
          <p:cNvPr id="1026" name="Picture 2" descr="VIT-AP University - Wikipedia">
            <a:extLst>
              <a:ext uri="{FF2B5EF4-FFF2-40B4-BE49-F238E27FC236}">
                <a16:creationId xmlns:a16="http://schemas.microsoft.com/office/drawing/2014/main" id="{7A0C0248-CACC-9B28-EF4D-C496B3EDC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6409" y="230367"/>
            <a:ext cx="1358900" cy="112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CAE8A77-77BA-729D-C5D7-3215573EDB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85" y="6480301"/>
            <a:ext cx="12129416" cy="365126"/>
          </a:xfrm>
          <a:solidFill>
            <a:schemeClr val="accent6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/>
          <a:lstStyle/>
          <a:p>
            <a:r>
              <a:rPr lang="en-US" sz="18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VIT-AP University                                              Linear Integrated Circuits                                      Dr. M. Sankush Krishna</a:t>
            </a:r>
          </a:p>
        </p:txBody>
      </p:sp>
    </p:spTree>
    <p:extLst>
      <p:ext uri="{BB962C8B-B14F-4D97-AF65-F5344CB8AC3E}">
        <p14:creationId xmlns:p14="http://schemas.microsoft.com/office/powerpoint/2010/main" val="2453917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FC38-09E7-4597-AE4D-25B8F732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80"/>
            <a:ext cx="5543550" cy="647749"/>
          </a:xfrm>
        </p:spPr>
        <p:txBody>
          <a:bodyPr>
            <a:normAutofit fontScale="90000"/>
          </a:bodyPr>
          <a:lstStyle/>
          <a:p>
            <a:r>
              <a:rPr lang="en-IN" dirty="0"/>
              <a:t>Sample and Hold circuit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A72E4E5-A2FE-4301-A521-984815AB9886}"/>
              </a:ext>
            </a:extLst>
          </p:cNvPr>
          <p:cNvSpPr txBox="1">
            <a:spLocks/>
          </p:cNvSpPr>
          <p:nvPr/>
        </p:nvSpPr>
        <p:spPr>
          <a:xfrm>
            <a:off x="838199" y="956604"/>
            <a:ext cx="10725444" cy="5220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/>
              <a:t>A Sample and Hold circuit samples an analog input voltage, holds that value constant for a period of time.</a:t>
            </a:r>
          </a:p>
          <a:p>
            <a:pPr algn="just"/>
            <a:r>
              <a:rPr lang="en-IN" sz="2200" dirty="0"/>
              <a:t>During sampling: </a:t>
            </a:r>
          </a:p>
          <a:p>
            <a:pPr algn="just"/>
            <a:r>
              <a:rPr lang="en-IN" sz="2200" dirty="0"/>
              <a:t>During hold: </a:t>
            </a:r>
          </a:p>
          <a:p>
            <a:pPr algn="just"/>
            <a:r>
              <a:rPr lang="en-IN" sz="2200" dirty="0"/>
              <a:t>The MOSFET in the circuit acts as the sampling circuit. The frequency of the control voltage VC determines the sampling frequency.</a:t>
            </a:r>
          </a:p>
          <a:p>
            <a:pPr algn="just"/>
            <a:r>
              <a:rPr lang="en-IN" sz="2200" dirty="0"/>
              <a:t>The first amplifier acts as a simple voltage follower for the input signal. </a:t>
            </a:r>
          </a:p>
          <a:p>
            <a:pPr algn="just"/>
            <a:r>
              <a:rPr lang="en-IN" sz="2200" dirty="0"/>
              <a:t>The control voltage to gate of MOSFET dictates the status of MOSFET ON/OFF.</a:t>
            </a:r>
          </a:p>
          <a:p>
            <a:pPr algn="just"/>
            <a:endParaRPr lang="en-IN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8A054E-ECE0-4486-8AEC-FB31B4C58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366" y="1800394"/>
            <a:ext cx="1679007" cy="422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6E76A2-39E6-40D0-B5D2-152093F69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906" y="2205188"/>
            <a:ext cx="2046102" cy="4228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90EBAE-91B6-4620-8EDB-9A6A34AB9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045" y="4095750"/>
            <a:ext cx="8058150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127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FC38-09E7-4597-AE4D-25B8F732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80"/>
            <a:ext cx="5543550" cy="647749"/>
          </a:xfrm>
        </p:spPr>
        <p:txBody>
          <a:bodyPr>
            <a:normAutofit fontScale="90000"/>
          </a:bodyPr>
          <a:lstStyle/>
          <a:p>
            <a:r>
              <a:rPr lang="en-IN" dirty="0"/>
              <a:t>Sample and Hold circuit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A72E4E5-A2FE-4301-A521-984815AB9886}"/>
              </a:ext>
            </a:extLst>
          </p:cNvPr>
          <p:cNvSpPr txBox="1">
            <a:spLocks/>
          </p:cNvSpPr>
          <p:nvPr/>
        </p:nvSpPr>
        <p:spPr>
          <a:xfrm>
            <a:off x="838199" y="956604"/>
            <a:ext cx="6265986" cy="5220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400" dirty="0"/>
              <a:t>When </a:t>
            </a:r>
            <a:r>
              <a:rPr lang="en-IN" sz="2400" dirty="0" err="1"/>
              <a:t>Vc</a:t>
            </a:r>
            <a:r>
              <a:rPr lang="en-IN" sz="2400" dirty="0"/>
              <a:t> is positive, MOSFET is ON.</a:t>
            </a:r>
          </a:p>
          <a:p>
            <a:pPr algn="just"/>
            <a:r>
              <a:rPr lang="en-IN" sz="2400" dirty="0"/>
              <a:t>Capacitor charges with time constant (R0+rds)C. The entire input waveform appears at non-inverting terminal of Op-amp2.</a:t>
            </a:r>
          </a:p>
          <a:p>
            <a:pPr algn="just"/>
            <a:r>
              <a:rPr lang="en-IN" sz="2200" dirty="0"/>
              <a:t>When </a:t>
            </a:r>
            <a:r>
              <a:rPr lang="en-IN" sz="2200" dirty="0" err="1"/>
              <a:t>Vc</a:t>
            </a:r>
            <a:r>
              <a:rPr lang="en-IN" sz="2200" dirty="0"/>
              <a:t> is negative, MOSFET is OFF. Since, Rin of Op-amp is very high the capacitor holds the previous charge with output staying at the voltage on capacitor. </a:t>
            </a:r>
          </a:p>
          <a:p>
            <a:pPr algn="just"/>
            <a:r>
              <a:rPr lang="en-IN" sz="2200" dirty="0"/>
              <a:t>For a proper sampling of the signal, the control voltage frequency should be </a:t>
            </a:r>
            <a:r>
              <a:rPr lang="en-IN" sz="2200" dirty="0" err="1"/>
              <a:t>atleast</a:t>
            </a:r>
            <a:r>
              <a:rPr lang="en-IN" sz="2200" dirty="0"/>
              <a:t> twice the input signal frequency.</a:t>
            </a:r>
          </a:p>
          <a:p>
            <a:pPr algn="just"/>
            <a:r>
              <a:rPr lang="en-IN" sz="2200" dirty="0"/>
              <a:t>Applications of sample and hold circuit include ADCs, </a:t>
            </a:r>
            <a:r>
              <a:rPr lang="en-IN" sz="2400" dirty="0"/>
              <a:t>Pulse Amplitude Measurement, digital oscilloscopes etc.</a:t>
            </a:r>
            <a:endParaRPr lang="en-IN" sz="2200" dirty="0"/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C9EAE8-4C4D-41C6-9731-502DF5453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081" y="956604"/>
            <a:ext cx="484822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36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FC38-09E7-4597-AE4D-25B8F732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80"/>
            <a:ext cx="5543550" cy="647749"/>
          </a:xfrm>
        </p:spPr>
        <p:txBody>
          <a:bodyPr>
            <a:normAutofit fontScale="90000"/>
          </a:bodyPr>
          <a:lstStyle/>
          <a:p>
            <a:r>
              <a:rPr lang="en-IN" dirty="0"/>
              <a:t>Analog Voltage Multiplier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A72E4E5-A2FE-4301-A521-984815AB9886}"/>
              </a:ext>
            </a:extLst>
          </p:cNvPr>
          <p:cNvSpPr txBox="1">
            <a:spLocks/>
          </p:cNvSpPr>
          <p:nvPr/>
        </p:nvSpPr>
        <p:spPr>
          <a:xfrm>
            <a:off x="838198" y="956604"/>
            <a:ext cx="11034933" cy="5220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200" dirty="0"/>
              <a:t>There are multiple configurations for an Analog voltage multiplier.</a:t>
            </a:r>
          </a:p>
          <a:p>
            <a:pPr algn="just"/>
            <a:r>
              <a:rPr lang="en-IN" sz="2200" dirty="0"/>
              <a:t>One of the ways is log-antilog configuration. The outputs of log amplifiers are summed together.</a:t>
            </a:r>
          </a:p>
          <a:p>
            <a:pPr algn="just"/>
            <a:r>
              <a:rPr lang="en-US" sz="2200" dirty="0"/>
              <a:t>The circuit operation is based on the logarithmic identity. </a:t>
            </a:r>
            <a:endParaRPr lang="en-IN" sz="2200" dirty="0"/>
          </a:p>
          <a:p>
            <a:pPr algn="just"/>
            <a:endParaRPr lang="en-IN" sz="2200" dirty="0"/>
          </a:p>
          <a:p>
            <a:pPr algn="just"/>
            <a:r>
              <a:rPr lang="en-US" sz="2200" dirty="0"/>
              <a:t>Since operational amplifiers can accurately add voltages, multiplication becomes practically realizable after converting signals into logarithmic form.</a:t>
            </a:r>
          </a:p>
          <a:p>
            <a:pPr algn="just"/>
            <a:r>
              <a:rPr lang="en-US" sz="2200" dirty="0"/>
              <a:t>The summed logarithmic voltage is applied to another transistor configured as an antilog amplifier.</a:t>
            </a:r>
          </a:p>
          <a:p>
            <a:pPr algn="just"/>
            <a:endParaRPr lang="en-US" sz="2200" dirty="0"/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For voltage division give the output of </a:t>
            </a:r>
          </a:p>
          <a:p>
            <a:pPr marL="0" indent="0" algn="just">
              <a:buNone/>
            </a:pPr>
            <a:r>
              <a:rPr lang="en-US" sz="2200" dirty="0"/>
              <a:t>    log amplifier to a difference amplifier.</a:t>
            </a:r>
            <a:endParaRPr lang="en-IN" sz="2200" dirty="0"/>
          </a:p>
          <a:p>
            <a:pPr algn="just"/>
            <a:endParaRPr lang="en-IN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529E88-5865-4FB4-841D-A962047B7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700" y="4630771"/>
            <a:ext cx="5600117" cy="2016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EB2CD2-805F-40AC-9246-9A05BCD9F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839" y="2519948"/>
            <a:ext cx="3286125" cy="523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889E71-CC71-4630-B06C-C32FE7A3D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798" y="4054717"/>
            <a:ext cx="37814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34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FC38-09E7-4597-AE4D-25B8F732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80"/>
            <a:ext cx="5543550" cy="647749"/>
          </a:xfrm>
        </p:spPr>
        <p:txBody>
          <a:bodyPr>
            <a:normAutofit fontScale="90000"/>
          </a:bodyPr>
          <a:lstStyle/>
          <a:p>
            <a:r>
              <a:rPr lang="en-IN" dirty="0"/>
              <a:t>Applications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A72E4E5-A2FE-4301-A521-984815AB9886}"/>
              </a:ext>
            </a:extLst>
          </p:cNvPr>
          <p:cNvSpPr txBox="1">
            <a:spLocks/>
          </p:cNvSpPr>
          <p:nvPr/>
        </p:nvSpPr>
        <p:spPr>
          <a:xfrm>
            <a:off x="838198" y="956604"/>
            <a:ext cx="6209715" cy="5220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200" b="1" dirty="0"/>
              <a:t>Voltage Squarer</a:t>
            </a:r>
            <a:endParaRPr lang="en-IN" sz="2200" dirty="0"/>
          </a:p>
          <a:p>
            <a:pPr algn="just"/>
            <a:r>
              <a:rPr lang="en-IN" sz="2200" dirty="0"/>
              <a:t>For the above described multiplier configuration supply both the input voltages as equal signals.</a:t>
            </a:r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  <a:p>
            <a:pPr algn="just"/>
            <a:r>
              <a:rPr lang="en-IN" sz="2200" b="1" dirty="0"/>
              <a:t>Frequency Doubler:</a:t>
            </a:r>
          </a:p>
          <a:p>
            <a:pPr algn="just"/>
            <a:r>
              <a:rPr lang="en-IN" sz="2200" dirty="0"/>
              <a:t>The same voltage squarer when given with two signals of same frequency, the </a:t>
            </a:r>
            <a:r>
              <a:rPr lang="en-IN" sz="2200" dirty="0" err="1"/>
              <a:t>the</a:t>
            </a:r>
            <a:r>
              <a:rPr lang="en-IN" sz="2200" dirty="0"/>
              <a:t> output voltage turns out to be</a:t>
            </a:r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F25D28-C0C8-481A-B75D-E4CE0E1FC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241" y="534254"/>
            <a:ext cx="4486275" cy="14001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D6047F-5544-4141-8D84-DCDD8A30F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47" y="2185328"/>
            <a:ext cx="1394091" cy="4734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412057-1407-4E09-92C6-0A71AF069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605" y="4545551"/>
            <a:ext cx="5676900" cy="1571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D652BD-C663-4235-9640-747C95402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361" y="1908299"/>
            <a:ext cx="5014033" cy="26372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E32B31-3FB9-4767-AB02-6B3FD9E56A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1388" y="4654098"/>
            <a:ext cx="4593006" cy="183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066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A72E4E5-A2FE-4301-A521-984815AB9886}"/>
              </a:ext>
            </a:extLst>
          </p:cNvPr>
          <p:cNvSpPr txBox="1">
            <a:spLocks/>
          </p:cNvSpPr>
          <p:nvPr/>
        </p:nvSpPr>
        <p:spPr>
          <a:xfrm>
            <a:off x="838199" y="956604"/>
            <a:ext cx="6265986" cy="5220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400" b="1" dirty="0"/>
              <a:t>Phase angle detector:</a:t>
            </a:r>
          </a:p>
          <a:p>
            <a:pPr algn="just"/>
            <a:r>
              <a:rPr lang="en-IN" sz="2400" dirty="0"/>
              <a:t> When the inputs are given to the voltage multiplier with different phase angles the sinusoidal terms get multiplied.</a:t>
            </a:r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  <a:p>
            <a:pPr algn="just"/>
            <a:r>
              <a:rPr lang="en-IN" sz="2200" dirty="0"/>
              <a:t>The values of </a:t>
            </a:r>
            <a:r>
              <a:rPr lang="en-IN" sz="2200" dirty="0" err="1"/>
              <a:t>vxp</a:t>
            </a:r>
            <a:r>
              <a:rPr lang="en-IN" sz="2200" dirty="0"/>
              <a:t> and </a:t>
            </a:r>
            <a:r>
              <a:rPr lang="en-IN" sz="2200" dirty="0" err="1"/>
              <a:t>vyp</a:t>
            </a:r>
            <a:r>
              <a:rPr lang="en-IN" sz="2200" dirty="0"/>
              <a:t> represent peak amplitudes of input signals. A scaling factor of 10 is deployed for the multiplier configuration.</a:t>
            </a:r>
          </a:p>
          <a:p>
            <a:pPr algn="just"/>
            <a:r>
              <a:rPr lang="en-IN" sz="2200" dirty="0"/>
              <a:t>From the DC component, the phase can be calculated using phase angle meter.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35825B-7D84-4791-A3DD-62BE75400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27" y="534254"/>
            <a:ext cx="4869473" cy="20763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4A6199-2C4E-46FF-8DF1-E17A6F849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97" y="2705589"/>
            <a:ext cx="6997668" cy="8592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5D9F89-15A6-4C09-8F0F-16F0ABF3E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442" y="3835059"/>
            <a:ext cx="2571750" cy="733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71AF0F-C4FC-4DC0-9DEF-60C63DE6F8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5428" y="2705589"/>
            <a:ext cx="3972877" cy="186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81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70B79A6-2E20-C2F7-1391-CDA67341A6FB}"/>
              </a:ext>
            </a:extLst>
          </p:cNvPr>
          <p:cNvSpPr txBox="1">
            <a:spLocks/>
          </p:cNvSpPr>
          <p:nvPr/>
        </p:nvSpPr>
        <p:spPr>
          <a:xfrm>
            <a:off x="62584" y="129744"/>
            <a:ext cx="10538078" cy="6655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4: Op-Amp Applications</a:t>
            </a:r>
            <a:endParaRPr lang="en-US" sz="3200" b="1" dirty="0">
              <a:solidFill>
                <a:schemeClr val="accent5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CEAB7F7-FC8E-1905-FC44-A5E437ED632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811" y="2276178"/>
            <a:ext cx="10319141" cy="187175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Waveform Generators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Square, Triangle, Sawtooth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B8E333-90D1-5384-F938-F8E576E6DA3E}"/>
              </a:ext>
            </a:extLst>
          </p:cNvPr>
          <p:cNvSpPr txBox="1"/>
          <p:nvPr/>
        </p:nvSpPr>
        <p:spPr>
          <a:xfrm>
            <a:off x="532793" y="5374053"/>
            <a:ext cx="11125200" cy="9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I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 – preparation: 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Materials and LIC Text book by ROY Choudhury, sixth edition, 2022.</a:t>
            </a:r>
          </a:p>
        </p:txBody>
      </p:sp>
      <p:pic>
        <p:nvPicPr>
          <p:cNvPr id="1026" name="Picture 2" descr="VIT-AP University - Wikipedia">
            <a:extLst>
              <a:ext uri="{FF2B5EF4-FFF2-40B4-BE49-F238E27FC236}">
                <a16:creationId xmlns:a16="http://schemas.microsoft.com/office/drawing/2014/main" id="{7A0C0248-CACC-9B28-EF4D-C496B3EDC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6409" y="230367"/>
            <a:ext cx="1358900" cy="112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CAE8A77-77BA-729D-C5D7-3215573EDB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85" y="6480301"/>
            <a:ext cx="12129416" cy="365126"/>
          </a:xfrm>
          <a:solidFill>
            <a:schemeClr val="accent6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/>
          <a:lstStyle/>
          <a:p>
            <a:r>
              <a:rPr lang="en-US" sz="18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VIT-AP University                                              Linear Integrated Circuits                                      Dr. M. Sankush Krishna</a:t>
            </a:r>
          </a:p>
        </p:txBody>
      </p:sp>
    </p:spTree>
    <p:extLst>
      <p:ext uri="{BB962C8B-B14F-4D97-AF65-F5344CB8AC3E}">
        <p14:creationId xmlns:p14="http://schemas.microsoft.com/office/powerpoint/2010/main" val="1643373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9915-23F5-E742-F90D-849D9988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2"/>
            <a:ext cx="10515600" cy="774995"/>
          </a:xfrm>
        </p:spPr>
        <p:txBody>
          <a:bodyPr/>
          <a:lstStyle/>
          <a:p>
            <a:r>
              <a:rPr lang="en-US" dirty="0"/>
              <a:t>Waveform Generators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9BFC6-3ED8-FEFD-F2AD-DB63A925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064" y="834886"/>
            <a:ext cx="6614594" cy="5861335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400" dirty="0"/>
              <a:t>Operational amplifiers are commonly used to generate different types of waveforms such as sine, square, and triangular waves, which are required in electronic circuits.</a:t>
            </a:r>
          </a:p>
          <a:p>
            <a:pPr algn="just"/>
            <a:r>
              <a:rPr lang="en-US" sz="2400" dirty="0"/>
              <a:t>Many analog and digital systems need periodic signals for purposes like timing, control operations, testing, and synchronization.</a:t>
            </a:r>
          </a:p>
          <a:p>
            <a:pPr algn="just"/>
            <a:r>
              <a:rPr lang="en-US" sz="2400" dirty="0"/>
              <a:t>A sine wave is one of the most important and commonly used waveforms in electronics but generating an ideal sine wave with stable amplitude and frequency is comparatively difficult.</a:t>
            </a:r>
          </a:p>
          <a:p>
            <a:pPr algn="just"/>
            <a:r>
              <a:rPr lang="en-US" sz="2400" dirty="0"/>
              <a:t>An oscillator is essentially a feedback amplifier. A portion of output is fed back to input to cause oscillations. </a:t>
            </a:r>
          </a:p>
          <a:p>
            <a:pPr algn="just"/>
            <a:r>
              <a:rPr lang="en-US" sz="2400" dirty="0"/>
              <a:t>The condition for oscillations should be unity feedback gain with 0- or 360-degrees phase angle.</a:t>
            </a:r>
          </a:p>
          <a:p>
            <a:pPr algn="just"/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AA31AF-2D8C-40D9-9B82-4F50E3222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608" y="2908068"/>
            <a:ext cx="3333364" cy="27619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DBB26C-DE8F-4621-9C4C-857D88A85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2658" y="564918"/>
            <a:ext cx="4989342" cy="2343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0D6AF9-A3B3-4541-BA17-A34C4DEA9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8995" y="5669998"/>
            <a:ext cx="2343150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498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9915-23F5-E742-F90D-849D9988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2"/>
            <a:ext cx="10515600" cy="774995"/>
          </a:xfrm>
        </p:spPr>
        <p:txBody>
          <a:bodyPr/>
          <a:lstStyle/>
          <a:p>
            <a:r>
              <a:rPr lang="en-US" dirty="0"/>
              <a:t>RC-phase shift oscillator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9BFC6-3ED8-FEFD-F2AD-DB63A925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064" y="834886"/>
            <a:ext cx="6614594" cy="586133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LC oscillators require large inductors at low frequencies hence RC networks are used for oscillator design.</a:t>
            </a:r>
          </a:p>
          <a:p>
            <a:pPr algn="just"/>
            <a:r>
              <a:rPr lang="en-US" sz="2400" dirty="0"/>
              <a:t>Two commonly used RC oscillators are the RC phase-shift oscillator and the Wien bridge oscillator.</a:t>
            </a:r>
          </a:p>
          <a:p>
            <a:pPr algn="just"/>
            <a:r>
              <a:rPr lang="en-US" sz="2400" dirty="0"/>
              <a:t>In an RC phase-shift oscillator, the op-amp is operated in inverting configuration, producing a phase shift of 180 degrees.</a:t>
            </a:r>
          </a:p>
          <a:p>
            <a:pPr algn="just"/>
            <a:r>
              <a:rPr lang="en-US" sz="2400" dirty="0"/>
              <a:t>The feedback RC network provides another 180 degrees phase shift totaling a 360 degrees phase shift between input and feedback signal.</a:t>
            </a:r>
          </a:p>
          <a:p>
            <a:pPr algn="just"/>
            <a:r>
              <a:rPr lang="en-US" sz="2400" dirty="0"/>
              <a:t>The feedback network determines the oscillation frequency, while the amplifier provides the required gain to compensate for losses occurring in the RC sections.</a:t>
            </a:r>
          </a:p>
          <a:p>
            <a:pPr algn="just"/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80BF96-CCBC-437D-85ED-C3975995E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612" y="834885"/>
            <a:ext cx="4879858" cy="518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837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9915-23F5-E742-F90D-849D9988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2"/>
            <a:ext cx="10515600" cy="774995"/>
          </a:xfrm>
        </p:spPr>
        <p:txBody>
          <a:bodyPr/>
          <a:lstStyle/>
          <a:p>
            <a:r>
              <a:rPr lang="en-US" dirty="0"/>
              <a:t>RC-phase shift oscillator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B945F8-4F2B-4B51-8D15-AD90917BCD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1123" y="834887"/>
            <a:ext cx="2266950" cy="381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DEDDA9-C356-4D56-8838-8C8CD6282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997" y="1251658"/>
            <a:ext cx="4219575" cy="809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681E2B-BC3B-46EF-B835-DD57AB7DB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7754" y="834887"/>
            <a:ext cx="6424246" cy="2409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E1DAA4-F0CB-47FA-842B-79254D036D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573" y="2203385"/>
            <a:ext cx="2476500" cy="342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937158-37D1-4A62-A10B-D1526794D6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997" y="2620418"/>
            <a:ext cx="4171950" cy="819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8399BA-FF59-432C-90E2-09DF445CD4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5347" y="3636753"/>
            <a:ext cx="3905250" cy="723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5229B5-0D3D-4D5F-A1C8-7D75A4A907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8557" y="3447726"/>
            <a:ext cx="2733675" cy="11334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DCCC73-4D29-4974-BB48-595D2B58C6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7672" y="3551028"/>
            <a:ext cx="2771775" cy="8096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1BED4F2-A51D-4817-A97C-1FA36B0946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0111" y="5736133"/>
            <a:ext cx="7305675" cy="8953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1D2CE6-4565-4341-BCDF-3195C16049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6557" y="4710992"/>
            <a:ext cx="7305675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74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9915-23F5-E742-F90D-849D9988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2"/>
            <a:ext cx="10515600" cy="774995"/>
          </a:xfrm>
        </p:spPr>
        <p:txBody>
          <a:bodyPr/>
          <a:lstStyle/>
          <a:p>
            <a:r>
              <a:rPr lang="en-US" dirty="0"/>
              <a:t>RC-phase shift oscillator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681E2B-BC3B-46EF-B835-DD57AB7DB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754" y="834887"/>
            <a:ext cx="6424246" cy="2409825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1E14D28-7268-4E18-A928-6F0F40E56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2127" y="992049"/>
            <a:ext cx="5143500" cy="8763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5DBF07E-AB96-402F-B8AC-2B58493B9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29" y="1868349"/>
            <a:ext cx="5572125" cy="8667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BE67F3-186B-48CC-B82A-4F933EFED7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0471" y="2901811"/>
            <a:ext cx="2486025" cy="381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2C32D4C-808C-4F8C-BE69-4687B48BAD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9566" y="3425483"/>
            <a:ext cx="1628775" cy="685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0F5845C-BA0B-4C2B-8DC8-31AAC25D03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6686" y="4253955"/>
            <a:ext cx="1790700" cy="7524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8E70040-B803-4FFC-8500-47B7F8C7EF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3748" y="3301455"/>
            <a:ext cx="5610225" cy="17049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4063B41-7F4E-4CDF-A872-DDF5CAAC7D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8677" y="5063173"/>
            <a:ext cx="3962400" cy="96202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269F6A1-2C78-4BA2-B11D-A1420D61EC90}"/>
              </a:ext>
            </a:extLst>
          </p:cNvPr>
          <p:cNvSpPr txBox="1"/>
          <p:nvPr/>
        </p:nvSpPr>
        <p:spPr>
          <a:xfrm>
            <a:off x="1113183" y="5605670"/>
            <a:ext cx="34588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For RC </a:t>
            </a:r>
            <a:r>
              <a:rPr lang="en-IN" dirty="0" err="1"/>
              <a:t>phse</a:t>
            </a:r>
            <a:r>
              <a:rPr lang="en-IN" dirty="0"/>
              <a:t> shift oscillator gain should be 29 and frequency is oscillation is f</a:t>
            </a:r>
            <a:r>
              <a:rPr lang="en-IN" baseline="-250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797179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9915-23F5-E742-F90D-849D9988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2"/>
            <a:ext cx="10515600" cy="774995"/>
          </a:xfrm>
        </p:spPr>
        <p:txBody>
          <a:bodyPr/>
          <a:lstStyle/>
          <a:p>
            <a:r>
              <a:rPr lang="en-US"/>
              <a:t>Wein Bridge Oscillator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9BFC6-3ED8-FEFD-F2AD-DB63A925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064" y="834886"/>
            <a:ext cx="6614594" cy="5861335"/>
          </a:xfrm>
        </p:spPr>
        <p:txBody>
          <a:bodyPr>
            <a:normAutofit/>
          </a:bodyPr>
          <a:lstStyle/>
          <a:p>
            <a:pPr algn="just"/>
            <a:r>
              <a:rPr lang="en-US" sz="2400"/>
              <a:t>Similar to RC phase shift oscillator wein bridge oscillator generate sinusoidal waveform when feedback phase shift and gain become 0 and 1 respectively.</a:t>
            </a:r>
          </a:p>
          <a:p>
            <a:pPr algn="just"/>
            <a:r>
              <a:rPr lang="en-US" sz="2400"/>
              <a:t>This happens when the RC bridge is in balanced condition aka resonance condition</a:t>
            </a:r>
          </a:p>
          <a:p>
            <a:pPr algn="just"/>
            <a:r>
              <a:rPr lang="en-US" sz="2400"/>
              <a:t>Wien bridge oscillator is an audio frequency sine wave oscillator of high stability and simplicity. It consists of balanced bridge used as feedback network.</a:t>
            </a:r>
          </a:p>
          <a:p>
            <a:pPr algn="just"/>
            <a:r>
              <a:rPr lang="en-US" sz="2400"/>
              <a:t>The feedback signal in this circuit is connected to the non-inverting input terminal so that the op-amp is working as a non-inverting amplifier.Therefore, the feedback network need not provide any phase shift.</a:t>
            </a:r>
          </a:p>
          <a:p>
            <a:pPr algn="just"/>
            <a:endParaRPr lang="en-US" sz="2400"/>
          </a:p>
          <a:p>
            <a:pPr algn="just"/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F52D3E-C901-473D-83C0-0CF48DADB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666" y="3152775"/>
            <a:ext cx="3762375" cy="3143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1778E6-7F5A-4277-9373-B5D59A75C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416" y="59892"/>
            <a:ext cx="385762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9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9915-23F5-E742-F90D-849D9988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2"/>
            <a:ext cx="10515600" cy="774995"/>
          </a:xfrm>
        </p:spPr>
        <p:txBody>
          <a:bodyPr/>
          <a:lstStyle/>
          <a:p>
            <a:r>
              <a:rPr lang="en-US"/>
              <a:t>Wein Bridge Oscillator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1CEC2DD-8E06-4D58-8056-B6A28B7BD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36637"/>
            <a:ext cx="2771775" cy="657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F86A19-5DEC-4186-9AF5-47E4733B6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637" y="619125"/>
            <a:ext cx="4505325" cy="2809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40C0AE-F93A-47F7-AEBE-E7753F88B3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425" y="1895612"/>
            <a:ext cx="5772150" cy="609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9F9B89-ED7E-4DF5-B583-95BEB4E212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425" y="2742299"/>
            <a:ext cx="4791075" cy="7143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395540-B6D0-4EAC-9EF0-EA33C0F80D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0175" y="3456674"/>
            <a:ext cx="2209800" cy="7048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3BE8F8-270E-43FD-93C5-ED18D94594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687" y="4161524"/>
            <a:ext cx="2724150" cy="8191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24E5B0-D7B6-4535-8572-0CDD68895E56}"/>
              </a:ext>
            </a:extLst>
          </p:cNvPr>
          <p:cNvSpPr txBox="1"/>
          <p:nvPr/>
        </p:nvSpPr>
        <p:spPr>
          <a:xfrm>
            <a:off x="4267200" y="4571099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Gain of Op-amp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D5646A-9D4C-4865-92DD-0385792F60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425" y="5286160"/>
            <a:ext cx="3971925" cy="971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4706C1-0F6C-475C-ABCF-8F748821BE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11787" y="5283397"/>
            <a:ext cx="5591175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745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9915-23F5-E742-F90D-849D9988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2"/>
            <a:ext cx="10515600" cy="774995"/>
          </a:xfrm>
        </p:spPr>
        <p:txBody>
          <a:bodyPr/>
          <a:lstStyle/>
          <a:p>
            <a:r>
              <a:rPr lang="en-US"/>
              <a:t>Wein Bridge Oscillator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F86A19-5DEC-4186-9AF5-47E4733B6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637" y="619125"/>
            <a:ext cx="4505325" cy="2809875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F35A9C-7482-4722-9C58-BBB1B33415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7837" y="926306"/>
            <a:ext cx="4657725" cy="15525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367D7E5-E659-43BA-9468-B7043BABB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37" y="2570300"/>
            <a:ext cx="5143500" cy="1371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43519C7-3CA5-4A81-9F21-5EE2658BD7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3274" y="4033319"/>
            <a:ext cx="351472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88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D2845-8F00-4D8A-B305-7B9027AE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2275"/>
          </a:xfrm>
        </p:spPr>
        <p:txBody>
          <a:bodyPr>
            <a:normAutofit fontScale="90000"/>
          </a:bodyPr>
          <a:lstStyle/>
          <a:p>
            <a:r>
              <a:rPr lang="en-IN" dirty="0"/>
              <a:t>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70515-C975-42BA-8E26-3989EB496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4900"/>
            <a:ext cx="10172700" cy="5753100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RC phase shift oscillator does not require closely matched components for resonance</a:t>
            </a:r>
          </a:p>
          <a:p>
            <a:r>
              <a:rPr lang="en-US" dirty="0"/>
              <a:t>Does not need special amplitude stabilization circuitry in basic operation.</a:t>
            </a:r>
          </a:p>
          <a:p>
            <a:r>
              <a:rPr lang="en-US" dirty="0"/>
              <a:t>However, it requires high gain and the phase errors tends to deviate a lot due to three RC sections.</a:t>
            </a:r>
          </a:p>
          <a:p>
            <a:r>
              <a:rPr lang="en-US" dirty="0"/>
              <a:t>Frequency tuning is difficult as three stages change phase if any RC value is changed.</a:t>
            </a:r>
          </a:p>
          <a:p>
            <a:r>
              <a:rPr lang="en-IN" dirty="0"/>
              <a:t>Output amplitude is small and frequency stability is relatively low. Only suitable for low frequency applications</a:t>
            </a:r>
          </a:p>
          <a:p>
            <a:r>
              <a:rPr lang="en-IN" dirty="0"/>
              <a:t>Wein bridge amplifier requires low gain and frequency stability is more with less distortion.</a:t>
            </a:r>
          </a:p>
          <a:p>
            <a:r>
              <a:rPr lang="en-IN" dirty="0"/>
              <a:t>Frequency tuning is relatively easier with RC tuning.</a:t>
            </a:r>
          </a:p>
          <a:p>
            <a:r>
              <a:rPr lang="en-IN" dirty="0"/>
              <a:t>However, the circuit design is complex and requires closely matched RC components.</a:t>
            </a:r>
          </a:p>
          <a:p>
            <a:r>
              <a:rPr lang="en-IN" dirty="0"/>
              <a:t>Not suitable for very high frequency operations due to Op-amp bandwidth limitations.</a:t>
            </a:r>
          </a:p>
        </p:txBody>
      </p:sp>
    </p:spTree>
    <p:extLst>
      <p:ext uri="{BB962C8B-B14F-4D97-AF65-F5344CB8AC3E}">
        <p14:creationId xmlns:p14="http://schemas.microsoft.com/office/powerpoint/2010/main" val="675435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9915-23F5-E742-F90D-849D9988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2"/>
            <a:ext cx="10515600" cy="774995"/>
          </a:xfrm>
        </p:spPr>
        <p:txBody>
          <a:bodyPr/>
          <a:lstStyle/>
          <a:p>
            <a:r>
              <a:rPr lang="en-US" dirty="0"/>
              <a:t>Square wave generator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9BFC6-3ED8-FEFD-F2AD-DB63A925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063" y="834887"/>
            <a:ext cx="11378649" cy="300824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A square wave generator generates a square waveform for digital applications.</a:t>
            </a:r>
          </a:p>
          <a:p>
            <a:pPr algn="just"/>
            <a:r>
              <a:rPr lang="en-US" sz="2400" dirty="0"/>
              <a:t>It is also called </a:t>
            </a:r>
            <a:r>
              <a:rPr lang="en-US" sz="2400" dirty="0" err="1"/>
              <a:t>astable</a:t>
            </a:r>
            <a:r>
              <a:rPr lang="en-US" sz="2400" dirty="0"/>
              <a:t> </a:t>
            </a:r>
            <a:r>
              <a:rPr lang="en-US" sz="2400" dirty="0" err="1"/>
              <a:t>multivibrator</a:t>
            </a:r>
            <a:r>
              <a:rPr lang="en-US" sz="2400" dirty="0"/>
              <a:t> free running square wave.</a:t>
            </a:r>
          </a:p>
          <a:p>
            <a:pPr algn="just"/>
            <a:r>
              <a:rPr lang="en-US" sz="2400" dirty="0"/>
              <a:t>The positive feedback is connected to positive terminal and the capacitor with feedback resistance are connected to non-inverting terminal.</a:t>
            </a:r>
          </a:p>
          <a:p>
            <a:pPr algn="just"/>
            <a:r>
              <a:rPr lang="en-US" sz="2400" dirty="0"/>
              <a:t>The RF and capacitor network decides the pulse width of the square waveform.</a:t>
            </a:r>
          </a:p>
          <a:p>
            <a:pPr algn="just"/>
            <a:r>
              <a:rPr lang="en-US" sz="2400" dirty="0"/>
              <a:t>The Zener diodes used at the output decide the output square wave amplitude.</a:t>
            </a:r>
          </a:p>
          <a:p>
            <a:pPr algn="just"/>
            <a:r>
              <a:rPr lang="en-US" sz="2400" dirty="0"/>
              <a:t>The feedback network via R1 and R2 decides the threshold switching voltages.</a:t>
            </a:r>
          </a:p>
          <a:p>
            <a:pPr algn="just"/>
            <a:endParaRPr lang="en-US" sz="2400" dirty="0"/>
          </a:p>
          <a:p>
            <a:pPr algn="just"/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0990B4-49AA-4A06-A970-3B951F770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591" y="3644348"/>
            <a:ext cx="8023722" cy="315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084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9915-23F5-E742-F90D-849D9988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2"/>
            <a:ext cx="10515600" cy="774995"/>
          </a:xfrm>
        </p:spPr>
        <p:txBody>
          <a:bodyPr/>
          <a:lstStyle/>
          <a:p>
            <a:r>
              <a:rPr lang="en-US" dirty="0"/>
              <a:t>Square wave generator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9BFC6-3ED8-FEFD-F2AD-DB63A925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063" y="834887"/>
            <a:ext cx="11378649" cy="29211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400" dirty="0"/>
              <a:t>Assuming the initial output as +</a:t>
            </a:r>
            <a:r>
              <a:rPr lang="en-US" sz="2400" dirty="0" err="1"/>
              <a:t>Vsat</a:t>
            </a:r>
            <a:r>
              <a:rPr lang="en-US" sz="2400" dirty="0"/>
              <a:t>, the potential at V+ becomes +</a:t>
            </a:r>
            <a:r>
              <a:rPr lang="en-US" sz="2400" dirty="0" err="1"/>
              <a:t>Vsat</a:t>
            </a:r>
            <a:r>
              <a:rPr lang="en-US" sz="2400" dirty="0"/>
              <a:t>(R2/(R1+R2)).</a:t>
            </a:r>
          </a:p>
          <a:p>
            <a:pPr algn="just"/>
            <a:r>
              <a:rPr lang="en-US" sz="2400" dirty="0"/>
              <a:t>Since initial charge on capacitor is zero, the constant it charges towards the voltage +</a:t>
            </a:r>
            <a:r>
              <a:rPr lang="en-US" sz="2400" dirty="0" err="1"/>
              <a:t>Vsat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The charging time is decided by the feedback resistor RF and the capacitor C network and the switching thresholds decided by the positive feedback network.</a:t>
            </a:r>
          </a:p>
          <a:p>
            <a:pPr algn="just"/>
            <a:r>
              <a:rPr lang="en-US" sz="2400" dirty="0"/>
              <a:t>When the charge of V- becomes more than V+, output flips to –</a:t>
            </a:r>
            <a:r>
              <a:rPr lang="en-US" sz="2400" dirty="0" err="1"/>
              <a:t>Vsat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Now capacitor discharges to –</a:t>
            </a:r>
            <a:r>
              <a:rPr lang="en-US" sz="2400" dirty="0" err="1"/>
              <a:t>Vsat</a:t>
            </a:r>
            <a:r>
              <a:rPr lang="en-US" sz="2400" dirty="0"/>
              <a:t> until the voltage of V- becomes more negative than V+ voltage (-</a:t>
            </a:r>
            <a:r>
              <a:rPr lang="en-US" sz="2400" dirty="0" err="1"/>
              <a:t>Vsat</a:t>
            </a:r>
            <a:r>
              <a:rPr lang="en-US" sz="2400" dirty="0"/>
              <a:t> x (R2/(R1+R2))). Once it happens output flips again.</a:t>
            </a:r>
          </a:p>
          <a:p>
            <a:pPr algn="just"/>
            <a:r>
              <a:rPr lang="en-US" sz="2400" dirty="0"/>
              <a:t>The process continues creating a square waveform.</a:t>
            </a:r>
          </a:p>
          <a:p>
            <a:pPr algn="just"/>
            <a:endParaRPr lang="en-US" sz="2400" dirty="0"/>
          </a:p>
          <a:p>
            <a:pPr algn="just"/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0990B4-49AA-4A06-A970-3B951F770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18" y="3756074"/>
            <a:ext cx="8023722" cy="3153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E2CE4E-8C88-4CCA-950B-590E18100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264" y="3705225"/>
            <a:ext cx="5020917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515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9915-23F5-E742-F90D-849D9988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2"/>
            <a:ext cx="10515600" cy="774995"/>
          </a:xfrm>
        </p:spPr>
        <p:txBody>
          <a:bodyPr/>
          <a:lstStyle/>
          <a:p>
            <a:r>
              <a:rPr lang="en-US" dirty="0"/>
              <a:t>Frequency of oscillation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9BFC6-3ED8-FEFD-F2AD-DB63A925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063" y="834887"/>
            <a:ext cx="11378649" cy="2921187"/>
          </a:xfrm>
        </p:spPr>
        <p:txBody>
          <a:bodyPr>
            <a:normAutofit/>
          </a:bodyPr>
          <a:lstStyle/>
          <a:p>
            <a:pPr algn="just"/>
            <a:endParaRPr lang="en-US" sz="2400" dirty="0"/>
          </a:p>
          <a:p>
            <a:pPr algn="just"/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9D008-A9A0-4298-9729-9E2D1E0BB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888" y="1003640"/>
            <a:ext cx="1707613" cy="9651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262654-BD5F-4F9B-A439-63D83862F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007" y="2102192"/>
            <a:ext cx="5714231" cy="7836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27A9F9-F813-4A9C-8893-6F38A0BE3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887" y="2885858"/>
            <a:ext cx="2296715" cy="5431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CB401D-5E89-4C7B-B449-AE0C1E6D5F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5096" y="2845050"/>
            <a:ext cx="2019809" cy="5431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7F196A-6C66-40A3-AB6B-927AC7CBAEC7}"/>
              </a:ext>
            </a:extLst>
          </p:cNvPr>
          <p:cNvSpPr txBox="1"/>
          <p:nvPr/>
        </p:nvSpPr>
        <p:spPr>
          <a:xfrm>
            <a:off x="6358520" y="2908328"/>
            <a:ext cx="2545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Continues until this point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A377C0-ADFB-499E-81DA-CEA68DA6B6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3288" y="3528283"/>
            <a:ext cx="4926578" cy="6341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02D645-6B30-4001-9017-CC4E986419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9909" y="4383325"/>
            <a:ext cx="2415570" cy="8268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E24ABE-E235-428D-9E84-32A266BEC2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8122" y="4312986"/>
            <a:ext cx="2751009" cy="8268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7019C29-10F9-4A7A-8B53-6C4606C20C7A}"/>
              </a:ext>
            </a:extLst>
          </p:cNvPr>
          <p:cNvSpPr txBox="1"/>
          <p:nvPr/>
        </p:nvSpPr>
        <p:spPr>
          <a:xfrm>
            <a:off x="1159909" y="5219931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For complete cycle we get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8B51FF8-DFDE-4B96-BCD1-8A4568E1DB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4601" y="5608046"/>
            <a:ext cx="3001000" cy="8268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B96FCD-ED29-4027-BBA0-47B21B5C50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3251" y="5404596"/>
            <a:ext cx="2560028" cy="103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468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9915-23F5-E742-F90D-849D9988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2"/>
            <a:ext cx="10515600" cy="774995"/>
          </a:xfrm>
        </p:spPr>
        <p:txBody>
          <a:bodyPr/>
          <a:lstStyle/>
          <a:p>
            <a:r>
              <a:rPr lang="en-US" dirty="0"/>
              <a:t>Triangular wave generator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9BFC6-3ED8-FEFD-F2AD-DB63A925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063" y="834887"/>
            <a:ext cx="11378649" cy="300824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The circuit contains two stages first a comparator followed by an integrator with R1 and C1 network.</a:t>
            </a:r>
          </a:p>
          <a:p>
            <a:pPr algn="just"/>
            <a:r>
              <a:rPr lang="en-US" sz="2400" dirty="0"/>
              <a:t>The comparator compares the triangular waveform at its input with a reference level (usually ground). The output of comparator is either +</a:t>
            </a:r>
            <a:r>
              <a:rPr lang="en-US" sz="2400" dirty="0" err="1"/>
              <a:t>Vsat</a:t>
            </a:r>
            <a:r>
              <a:rPr lang="en-US" sz="2400" dirty="0"/>
              <a:t> or –</a:t>
            </a:r>
            <a:r>
              <a:rPr lang="en-US" sz="2400" dirty="0" err="1"/>
              <a:t>Vsat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The second stage integrates the input signal at the non-inverting terminal of Op-amp i.e., the output of comparator.</a:t>
            </a:r>
          </a:p>
          <a:p>
            <a:pPr algn="just"/>
            <a:r>
              <a:rPr lang="en-US" sz="2400" dirty="0"/>
              <a:t>The output of comparator is a constant +</a:t>
            </a:r>
            <a:r>
              <a:rPr lang="en-US" sz="2400" dirty="0" err="1"/>
              <a:t>Vsat</a:t>
            </a:r>
            <a:r>
              <a:rPr lang="en-US" sz="2400" dirty="0"/>
              <a:t> or –</a:t>
            </a:r>
            <a:r>
              <a:rPr lang="en-US" sz="2400" dirty="0" err="1"/>
              <a:t>Vsat</a:t>
            </a:r>
            <a:r>
              <a:rPr lang="en-US" sz="2400" dirty="0"/>
              <a:t>. The integration of a constant generates a triangular waveform. </a:t>
            </a:r>
          </a:p>
          <a:p>
            <a:pPr algn="just"/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F4C92D-492B-49B7-BE07-F301D36AF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43131"/>
            <a:ext cx="1054417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23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9915-23F5-E742-F90D-849D9988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2"/>
            <a:ext cx="10515600" cy="774995"/>
          </a:xfrm>
        </p:spPr>
        <p:txBody>
          <a:bodyPr/>
          <a:lstStyle/>
          <a:p>
            <a:r>
              <a:rPr lang="en-US" dirty="0"/>
              <a:t>Triangular wave generator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9BFC6-3ED8-FEFD-F2AD-DB63A925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063" y="834887"/>
            <a:ext cx="11378649" cy="3008244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Assuming initial v0’ as +</a:t>
            </a:r>
            <a:r>
              <a:rPr lang="en-US" sz="2400" dirty="0" err="1"/>
              <a:t>Vsat</a:t>
            </a:r>
            <a:r>
              <a:rPr lang="en-US" sz="2400" dirty="0"/>
              <a:t>, the capacitor charges to +</a:t>
            </a:r>
            <a:r>
              <a:rPr lang="en-US" sz="2400" dirty="0" err="1"/>
              <a:t>Vsat</a:t>
            </a:r>
            <a:r>
              <a:rPr lang="en-US" sz="2400" dirty="0"/>
              <a:t> with a constant current v0’/R</a:t>
            </a:r>
          </a:p>
          <a:p>
            <a:pPr algn="just"/>
            <a:r>
              <a:rPr lang="en-US" sz="2400" dirty="0"/>
              <a:t>When the comparator output is –</a:t>
            </a:r>
            <a:r>
              <a:rPr lang="en-US" sz="2400" dirty="0" err="1"/>
              <a:t>Vsat</a:t>
            </a:r>
            <a:r>
              <a:rPr lang="en-US" sz="2400" dirty="0"/>
              <a:t>, the capacitor discharges with a constant current.</a:t>
            </a:r>
          </a:p>
          <a:p>
            <a:pPr algn="just"/>
            <a:r>
              <a:rPr lang="en-US" sz="2400" dirty="0"/>
              <a:t>The frequency of oscillation for the triangular wave generator and the peak to peak amplitude depends on the resistors and the capacitors.</a:t>
            </a:r>
          </a:p>
          <a:p>
            <a:pPr algn="just"/>
            <a:r>
              <a:rPr lang="en-US" sz="2400" dirty="0"/>
              <a:t>Applying a KVL from output V0 (</a:t>
            </a:r>
            <a:r>
              <a:rPr lang="en-US" sz="2400" dirty="0" err="1"/>
              <a:t>Vramp</a:t>
            </a:r>
            <a:r>
              <a:rPr lang="en-US" sz="2400" dirty="0"/>
              <a:t>) to output of comparator (+</a:t>
            </a:r>
            <a:r>
              <a:rPr lang="en-US" sz="2400" dirty="0" err="1"/>
              <a:t>Vsat</a:t>
            </a:r>
            <a:r>
              <a:rPr lang="en-US" sz="2400" dirty="0"/>
              <a:t>/-</a:t>
            </a:r>
            <a:r>
              <a:rPr lang="en-US" sz="2400" dirty="0" err="1"/>
              <a:t>Vsat</a:t>
            </a:r>
            <a:r>
              <a:rPr lang="en-US" sz="2400" dirty="0"/>
              <a:t>).</a:t>
            </a:r>
          </a:p>
          <a:p>
            <a:pPr algn="just"/>
            <a:endParaRPr lang="en-US" sz="2400" dirty="0"/>
          </a:p>
          <a:p>
            <a:pPr algn="just"/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F4C92D-492B-49B7-BE07-F301D36AF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43131"/>
            <a:ext cx="10544175" cy="28384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115F79-9D4C-43BC-8E2B-387F85820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872" y="3325030"/>
            <a:ext cx="5103623" cy="82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263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3E1EF9-C24E-44A7-AC3B-BDFE2DA91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3726" y="358739"/>
            <a:ext cx="2958450" cy="8792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18D5C9-84DE-4371-8E4B-947F82EDB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282" y="1365665"/>
            <a:ext cx="7600950" cy="1228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1E33F4-47F3-45ED-B02A-014DFAC83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282" y="2722098"/>
            <a:ext cx="6324600" cy="1200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003193-99BF-490B-8112-3BEE5C2134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726" y="4049956"/>
            <a:ext cx="3824207" cy="9475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F4CB6D-6B45-4C23-9307-7E2690DAE4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4269" y="4049956"/>
            <a:ext cx="4516825" cy="203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0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327F9-1610-4A1D-AAF8-D132142F9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539"/>
            <a:ext cx="10515600" cy="5938424"/>
          </a:xfrm>
        </p:spPr>
        <p:txBody>
          <a:bodyPr/>
          <a:lstStyle/>
          <a:p>
            <a:r>
              <a:rPr lang="en-IN" dirty="0"/>
              <a:t>Equating bot equations we get: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4D2E8E-3C7B-452B-8507-7B1D7970A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84" y="843998"/>
            <a:ext cx="2119453" cy="10832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28AB5B-ED90-44F8-8C0D-B253D97EF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384" y="1927273"/>
            <a:ext cx="2642134" cy="1083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C40A37-FE73-433F-AF4A-033AC605D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250" y="3518145"/>
            <a:ext cx="892492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728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9915-23F5-E742-F90D-849D9988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2"/>
            <a:ext cx="10515600" cy="774995"/>
          </a:xfrm>
        </p:spPr>
        <p:txBody>
          <a:bodyPr/>
          <a:lstStyle/>
          <a:p>
            <a:r>
              <a:rPr lang="en-US" dirty="0"/>
              <a:t>Sawtooth wave generator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9BFC6-3ED8-FEFD-F2AD-DB63A925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063" y="834887"/>
            <a:ext cx="6741205" cy="532676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A triangular waveform can be modified to build a sawtooth waveform generator.</a:t>
            </a:r>
          </a:p>
          <a:p>
            <a:pPr algn="just"/>
            <a:r>
              <a:rPr lang="en-US" sz="2400" dirty="0"/>
              <a:t>A sawtooth waveform is similar to triangular waveform with smaller fall time and larger rise time.</a:t>
            </a:r>
          </a:p>
          <a:p>
            <a:pPr algn="just"/>
            <a:r>
              <a:rPr lang="en-US" sz="2400" dirty="0"/>
              <a:t>The circuit contains two Op-amp stages.</a:t>
            </a:r>
          </a:p>
          <a:p>
            <a:pPr algn="just"/>
            <a:r>
              <a:rPr lang="en-US" sz="2400" dirty="0"/>
              <a:t>The first an integrator stage and then a comparator.</a:t>
            </a:r>
          </a:p>
          <a:p>
            <a:pPr algn="just"/>
            <a:r>
              <a:rPr lang="en-US" sz="2400" dirty="0"/>
              <a:t>A transistor is connected across the capacitor to act as switch for rapid discharge.</a:t>
            </a:r>
          </a:p>
          <a:p>
            <a:pPr algn="just"/>
            <a:r>
              <a:rPr lang="en-US" sz="2400" dirty="0"/>
              <a:t>Resistances R2 and R3 provide the reference voltage for the comparator.</a:t>
            </a:r>
          </a:p>
          <a:p>
            <a:pPr algn="just"/>
            <a:r>
              <a:rPr lang="en-US" sz="2400" dirty="0"/>
              <a:t>Diodes D1 and D2 avoid excessive reverse biasing to the transistors.</a:t>
            </a:r>
          </a:p>
          <a:p>
            <a:pPr algn="just"/>
            <a:endParaRPr lang="en-US" sz="2400" dirty="0"/>
          </a:p>
          <a:p>
            <a:pPr algn="just"/>
            <a:endParaRPr lang="en-IN" sz="2400" dirty="0"/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ACB2704D-21A2-4C7F-A1EE-1A6D197A11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2"/>
          <a:stretch/>
        </p:blipFill>
        <p:spPr>
          <a:xfrm>
            <a:off x="7498081" y="602380"/>
            <a:ext cx="4538970" cy="35012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9E501C-6430-48DD-8968-8906CFDF0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118" y="3720607"/>
            <a:ext cx="2400682" cy="307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32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9915-23F5-E742-F90D-849D9988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2"/>
            <a:ext cx="10515600" cy="774995"/>
          </a:xfrm>
        </p:spPr>
        <p:txBody>
          <a:bodyPr/>
          <a:lstStyle/>
          <a:p>
            <a:r>
              <a:rPr lang="en-US" dirty="0"/>
              <a:t>Sawtooth wave generator</a:t>
            </a:r>
            <a:endParaRPr lang="en-IN" dirty="0"/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ACB2704D-21A2-4C7F-A1EE-1A6D197A11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2"/>
          <a:stretch/>
        </p:blipFill>
        <p:spPr>
          <a:xfrm>
            <a:off x="168811" y="732611"/>
            <a:ext cx="7940761" cy="612538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CB8774D-4CEB-405E-9E31-2F4B2358E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83" y="447388"/>
            <a:ext cx="3742006" cy="624883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Vi&lt;0, V+=V- capacitor charges with current Vi/R1.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For Op-amp stage 2:</a:t>
            </a:r>
          </a:p>
          <a:p>
            <a:pPr algn="just"/>
            <a:r>
              <a:rPr lang="en-US" sz="2400" dirty="0"/>
              <a:t>V+=</a:t>
            </a:r>
            <a:r>
              <a:rPr lang="en-US" sz="2400" dirty="0" err="1"/>
              <a:t>V</a:t>
            </a:r>
            <a:r>
              <a:rPr lang="en-US" sz="2400" baseline="-25000" dirty="0" err="1"/>
              <a:t>oR</a:t>
            </a:r>
            <a:r>
              <a:rPr lang="en-US" sz="2400" dirty="0"/>
              <a:t> and V-=</a:t>
            </a:r>
            <a:r>
              <a:rPr lang="en-US" sz="2400" dirty="0" err="1"/>
              <a:t>V</a:t>
            </a:r>
            <a:r>
              <a:rPr lang="en-US" sz="2400" baseline="-25000" dirty="0" err="1"/>
              <a:t>ref</a:t>
            </a:r>
            <a:r>
              <a:rPr lang="en-US" sz="2400" baseline="30000" dirty="0"/>
              <a:t> </a:t>
            </a:r>
          </a:p>
          <a:p>
            <a:pPr algn="just"/>
            <a:r>
              <a:rPr lang="en-US" sz="2400" dirty="0"/>
              <a:t>V+&lt;V- so </a:t>
            </a:r>
            <a:r>
              <a:rPr lang="en-US" sz="2400" dirty="0" err="1"/>
              <a:t>Voc</a:t>
            </a:r>
            <a:r>
              <a:rPr lang="en-US" sz="2400" dirty="0"/>
              <a:t>=_</a:t>
            </a:r>
            <a:r>
              <a:rPr lang="en-US" sz="2400" dirty="0" err="1"/>
              <a:t>Vsat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D1 and D2 OFF</a:t>
            </a:r>
          </a:p>
          <a:p>
            <a:pPr algn="just"/>
            <a:r>
              <a:rPr lang="en-US" sz="2400" dirty="0"/>
              <a:t>Q1 and Q2 OFF</a:t>
            </a:r>
          </a:p>
          <a:p>
            <a:pPr algn="just"/>
            <a:r>
              <a:rPr lang="en-US" sz="2400" dirty="0"/>
              <a:t>V- remains at 15(R3/R2)</a:t>
            </a:r>
          </a:p>
          <a:p>
            <a:pPr algn="just"/>
            <a:r>
              <a:rPr lang="en-US" sz="2400" dirty="0"/>
              <a:t>Q2 as open switch across capacitor and capacitor keeps charging and </a:t>
            </a:r>
            <a:r>
              <a:rPr lang="en-US" sz="2400" dirty="0" err="1"/>
              <a:t>VoR</a:t>
            </a:r>
            <a:r>
              <a:rPr lang="en-US" sz="2400" dirty="0"/>
              <a:t> keeps increasing. </a:t>
            </a:r>
          </a:p>
          <a:p>
            <a:pPr algn="just"/>
            <a:endParaRPr lang="en-US" sz="2400" dirty="0"/>
          </a:p>
          <a:p>
            <a:pPr algn="just"/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AC32D2-F605-4A88-93BF-2CBFB910F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933" y="1222383"/>
            <a:ext cx="1808319" cy="7749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CEBA5F-EEE0-496A-AD24-E2C1F9C93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7786" y="2146748"/>
            <a:ext cx="1813214" cy="59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671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9915-23F5-E742-F90D-849D9988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2"/>
            <a:ext cx="10515600" cy="774995"/>
          </a:xfrm>
        </p:spPr>
        <p:txBody>
          <a:bodyPr/>
          <a:lstStyle/>
          <a:p>
            <a:r>
              <a:rPr lang="en-US" dirty="0"/>
              <a:t>Sawtooth wave generator</a:t>
            </a:r>
            <a:endParaRPr lang="en-IN" dirty="0"/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ACB2704D-21A2-4C7F-A1EE-1A6D197A11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2"/>
          <a:stretch/>
        </p:blipFill>
        <p:spPr>
          <a:xfrm>
            <a:off x="168811" y="732611"/>
            <a:ext cx="7940761" cy="612538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CB8774D-4CEB-405E-9E31-2F4B2358E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83" y="447388"/>
            <a:ext cx="3742006" cy="6248833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400" dirty="0"/>
              <a:t>When </a:t>
            </a:r>
            <a:r>
              <a:rPr lang="en-US" sz="2400" dirty="0" err="1"/>
              <a:t>VoR</a:t>
            </a:r>
            <a:r>
              <a:rPr lang="en-US" sz="2400" dirty="0"/>
              <a:t>&gt;</a:t>
            </a:r>
            <a:r>
              <a:rPr lang="en-US" sz="2400" dirty="0" err="1"/>
              <a:t>Vref</a:t>
            </a:r>
            <a:endParaRPr lang="en-US" sz="2400" dirty="0"/>
          </a:p>
          <a:p>
            <a:pPr algn="just"/>
            <a:r>
              <a:rPr lang="en-US" sz="2400" dirty="0"/>
              <a:t>A </a:t>
            </a:r>
            <a:r>
              <a:rPr lang="en-US" sz="2400" dirty="0" err="1"/>
              <a:t>Voc</a:t>
            </a:r>
            <a:r>
              <a:rPr lang="en-US" sz="2400" dirty="0"/>
              <a:t>=+</a:t>
            </a:r>
            <a:r>
              <a:rPr lang="en-US" sz="2400" dirty="0" err="1"/>
              <a:t>Vsat</a:t>
            </a:r>
            <a:endParaRPr lang="en-US" sz="2400" dirty="0"/>
          </a:p>
          <a:p>
            <a:pPr algn="just"/>
            <a:r>
              <a:rPr lang="en-US" sz="2400" dirty="0"/>
              <a:t>D1 and D2 ON</a:t>
            </a:r>
          </a:p>
          <a:p>
            <a:pPr algn="just"/>
            <a:r>
              <a:rPr lang="en-US" sz="2400" dirty="0"/>
              <a:t>Q1 and Q2 ON (short circuit)</a:t>
            </a:r>
          </a:p>
          <a:p>
            <a:pPr algn="just"/>
            <a:r>
              <a:rPr lang="en-US" sz="2400" dirty="0"/>
              <a:t>Capacitor discharges across Q2 </a:t>
            </a:r>
            <a:r>
              <a:rPr lang="en-US" sz="2400" dirty="0" err="1"/>
              <a:t>rapindly</a:t>
            </a:r>
            <a:r>
              <a:rPr lang="en-US" sz="2400" dirty="0"/>
              <a:t> reaching zero.</a:t>
            </a:r>
          </a:p>
          <a:p>
            <a:pPr algn="just"/>
            <a:r>
              <a:rPr lang="en-US" sz="2400" dirty="0" err="1"/>
              <a:t>VoR</a:t>
            </a:r>
            <a:r>
              <a:rPr lang="en-US" sz="2400" dirty="0"/>
              <a:t> goes to zero with C discharge.</a:t>
            </a:r>
          </a:p>
          <a:p>
            <a:pPr algn="just"/>
            <a:r>
              <a:rPr lang="en-US" sz="2400" dirty="0"/>
              <a:t>V- of A2 reaches +</a:t>
            </a:r>
            <a:r>
              <a:rPr lang="en-US" sz="2400" dirty="0" err="1"/>
              <a:t>Vsat</a:t>
            </a:r>
            <a:r>
              <a:rPr lang="en-US" sz="2400" dirty="0"/>
              <a:t>(R/(R+R2))</a:t>
            </a:r>
          </a:p>
          <a:p>
            <a:pPr algn="just"/>
            <a:r>
              <a:rPr lang="en-US" sz="2400" dirty="0"/>
              <a:t>At A2 V+&lt;V-, O/p goes to –</a:t>
            </a:r>
            <a:r>
              <a:rPr lang="en-US" sz="2400" dirty="0" err="1"/>
              <a:t>Vsat</a:t>
            </a:r>
            <a:endParaRPr lang="en-US" sz="2400" dirty="0"/>
          </a:p>
          <a:p>
            <a:pPr algn="just"/>
            <a:r>
              <a:rPr lang="en-US" sz="2400" dirty="0"/>
              <a:t>Diodes and Transistors OFF</a:t>
            </a:r>
          </a:p>
          <a:p>
            <a:pPr algn="just"/>
            <a:r>
              <a:rPr lang="en-US" sz="2400" dirty="0"/>
              <a:t>Capacitor again starts charging increasing </a:t>
            </a:r>
            <a:r>
              <a:rPr lang="en-US" sz="2400" dirty="0" err="1"/>
              <a:t>VoR</a:t>
            </a:r>
            <a:r>
              <a:rPr lang="en-US" sz="2400" dirty="0"/>
              <a:t> and process continues.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61436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F0C0D61-D899-48E7-87A4-0FFEABEB6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7185" y="729011"/>
            <a:ext cx="8970453" cy="539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0682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awtooth Signal Generator: How does it work?">
            <a:extLst>
              <a:ext uri="{FF2B5EF4-FFF2-40B4-BE49-F238E27FC236}">
                <a16:creationId xmlns:a16="http://schemas.microsoft.com/office/drawing/2014/main" id="{75DACE1D-EF29-4707-8A47-EDA47F77C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549"/>
            <a:ext cx="5605670" cy="3153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orking Principle of Sawtooth Wave Generator">
            <a:extLst>
              <a:ext uri="{FF2B5EF4-FFF2-40B4-BE49-F238E27FC236}">
                <a16:creationId xmlns:a16="http://schemas.microsoft.com/office/drawing/2014/main" id="{48AD4395-0052-42DF-AC6B-88BEB7340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985" y="2880654"/>
            <a:ext cx="5838825" cy="379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046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9BFC6-3ED8-FEFD-F2AD-DB63A925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063" y="834887"/>
            <a:ext cx="6741205" cy="5326762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FD472F-ED37-4EA7-95B6-0BE2CD5C3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860" y="692605"/>
            <a:ext cx="1959444" cy="15589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035B81-021B-4B07-B4F5-BF18E8F8B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253" y="2834576"/>
            <a:ext cx="1552701" cy="2582711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DA4615-0500-4BA9-9F5D-3C5912A7AE76}"/>
              </a:ext>
            </a:extLst>
          </p:cNvPr>
          <p:cNvCxnSpPr>
            <a:cxnSpLocks/>
          </p:cNvCxnSpPr>
          <p:nvPr/>
        </p:nvCxnSpPr>
        <p:spPr>
          <a:xfrm flipH="1">
            <a:off x="2745178" y="783397"/>
            <a:ext cx="33780" cy="54533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53D64EFF-8728-48E6-8191-51FED97673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02"/>
          <a:stretch/>
        </p:blipFill>
        <p:spPr>
          <a:xfrm>
            <a:off x="5132206" y="447389"/>
            <a:ext cx="6880830" cy="61253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C2A645-3EB8-4DBE-A6C9-9E50BF9EDE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918" y="904155"/>
            <a:ext cx="1076381" cy="7749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F2B5E7B-3956-4FF2-8A4C-34732C0A24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757" y="1813613"/>
            <a:ext cx="1660699" cy="7749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60636BF-F7A8-4297-A7B2-8A5D742548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119" y="2718483"/>
            <a:ext cx="1944794" cy="77499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D74E56C-EC91-47BB-832A-7A1A10A8B7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918" y="3715655"/>
            <a:ext cx="1481538" cy="6980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05E2E2-D45E-4038-87D4-9EC3A3C454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918" y="4658041"/>
            <a:ext cx="1882570" cy="1434339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CD700CDF-698D-4A07-B099-E4520D969D06}"/>
              </a:ext>
            </a:extLst>
          </p:cNvPr>
          <p:cNvSpPr txBox="1">
            <a:spLocks/>
          </p:cNvSpPr>
          <p:nvPr/>
        </p:nvSpPr>
        <p:spPr>
          <a:xfrm>
            <a:off x="838200" y="59892"/>
            <a:ext cx="10515600" cy="774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Frequency of oscillation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28912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9915-23F5-E742-F90D-849D9988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2"/>
            <a:ext cx="10515600" cy="774995"/>
          </a:xfrm>
        </p:spPr>
        <p:txBody>
          <a:bodyPr/>
          <a:lstStyle/>
          <a:p>
            <a:r>
              <a:rPr lang="en-US" dirty="0"/>
              <a:t>Applications of Sawtooth wave generator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9BFC6-3ED8-FEFD-F2AD-DB63A925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063" y="834887"/>
            <a:ext cx="10515600" cy="5326762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Function generator used in testing and calibration.</a:t>
            </a:r>
          </a:p>
          <a:p>
            <a:pPr algn="just"/>
            <a:r>
              <a:rPr lang="en-US" sz="2400" dirty="0"/>
              <a:t>Signal processing as reference signal in synchronization</a:t>
            </a:r>
          </a:p>
          <a:p>
            <a:pPr algn="just"/>
            <a:r>
              <a:rPr lang="en-US" sz="2400" dirty="0"/>
              <a:t>Time-Base Generator in CRO / Oscilloscopes. The horizontal sweep in oscilloscopes requires a linear ramp voltage.</a:t>
            </a:r>
          </a:p>
          <a:p>
            <a:pPr algn="just"/>
            <a:r>
              <a:rPr lang="en-US" sz="2400" dirty="0"/>
              <a:t>Sawtooth generators act as linear time reference generators.</a:t>
            </a:r>
          </a:p>
          <a:p>
            <a:pPr algn="just"/>
            <a:endParaRPr lang="en-US" sz="2400" dirty="0"/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909403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9915-23F5-E742-F90D-849D9988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2"/>
            <a:ext cx="10515600" cy="774995"/>
          </a:xfrm>
        </p:spPr>
        <p:txBody>
          <a:bodyPr/>
          <a:lstStyle/>
          <a:p>
            <a:r>
              <a:rPr lang="en-US" dirty="0"/>
              <a:t>IC 555 Timer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9BFC6-3ED8-FEFD-F2AD-DB63A925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062" y="834887"/>
            <a:ext cx="8007297" cy="5326762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sz="2400" dirty="0"/>
              <a:t>The positive supply connected to pin 8 (VCC) and the negative supply to pin 1 (Ground), while the output at pin 3 can switch between a HIGH level (≈ VCC−0.5 VV_{CC}-0.5\,VVCC​−0.5V) and a LOW level (≈ 0.1 V).</a:t>
            </a:r>
          </a:p>
          <a:p>
            <a:pPr algn="just"/>
            <a:r>
              <a:rPr lang="en-US" sz="2400" dirty="0"/>
              <a:t>The internal operation is based on two comparators monitor input voltages and control the internal flip-flop state.</a:t>
            </a:r>
          </a:p>
          <a:p>
            <a:pPr algn="just"/>
            <a:r>
              <a:rPr lang="en-IN" sz="2400" dirty="0"/>
              <a:t>Internal voltage divider: The voltage divider arrangement with resistors arrange for the threshold voltages for upper and lower comparators with 2/3Vcc and 1/3Vcc.</a:t>
            </a:r>
          </a:p>
          <a:p>
            <a:pPr algn="just"/>
            <a:r>
              <a:rPr lang="en-IN" sz="2400" dirty="0"/>
              <a:t>The control voltage pin is used for external modulation of reference levels and generally bypassed with 0.1uF capacitor to remove noise.</a:t>
            </a:r>
          </a:p>
          <a:p>
            <a:pPr algn="just"/>
            <a:r>
              <a:rPr lang="en-IN" sz="2400" dirty="0"/>
              <a:t>Pins 2 and 6 act as trigger and threshold pins to change the state of output.</a:t>
            </a:r>
          </a:p>
          <a:p>
            <a:pPr algn="just"/>
            <a:r>
              <a:rPr lang="en-IN" sz="2400" dirty="0"/>
              <a:t>Trigger operation sets output to high when the voltage at pin2 reduces below 1/3 </a:t>
            </a:r>
            <a:r>
              <a:rPr lang="en-IN" sz="2400" dirty="0" err="1"/>
              <a:t>Vcc</a:t>
            </a:r>
            <a:r>
              <a:rPr lang="en-IN" sz="2400" dirty="0"/>
              <a:t>.</a:t>
            </a:r>
          </a:p>
          <a:p>
            <a:pPr algn="just"/>
            <a:r>
              <a:rPr lang="en-IN" sz="2400" dirty="0"/>
              <a:t>When at pin 6 voltage increases by 2/3 </a:t>
            </a:r>
            <a:r>
              <a:rPr lang="en-IN" sz="2400" dirty="0" err="1"/>
              <a:t>Vcc</a:t>
            </a:r>
            <a:r>
              <a:rPr lang="en-IN" sz="2400" dirty="0"/>
              <a:t> the output state goes high resetting the flipflop forcing Q to zero.</a:t>
            </a:r>
          </a:p>
          <a:p>
            <a:pPr algn="just"/>
            <a:r>
              <a:rPr lang="en-US" sz="2400" dirty="0"/>
              <a:t>The reset pin (pin 4) can force the output LOW when its voltage drops below 0.4 V. while the internal discharge transistor 𝑄1Q1	​ connected to pin 7 conducts when the output is LOW to discharge the external capacitor and turns OFF when the output is HIGH.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BBDC6D-4F9E-41F8-B06E-80DEE4433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101626"/>
            <a:ext cx="3489959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7931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9B384F-369E-44B9-9ECE-17B269642E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385"/>
          <a:stretch/>
        </p:blipFill>
        <p:spPr>
          <a:xfrm>
            <a:off x="2489982" y="-10209"/>
            <a:ext cx="7737230" cy="686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2233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9915-23F5-E742-F90D-849D9988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061" y="59892"/>
            <a:ext cx="10765739" cy="774995"/>
          </a:xfrm>
        </p:spPr>
        <p:txBody>
          <a:bodyPr/>
          <a:lstStyle/>
          <a:p>
            <a:r>
              <a:rPr lang="en-US" dirty="0"/>
              <a:t>Monostable </a:t>
            </a:r>
            <a:r>
              <a:rPr lang="en-US" dirty="0" err="1"/>
              <a:t>Multivibrator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9BFC6-3ED8-FEFD-F2AD-DB63A925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062" y="834887"/>
            <a:ext cx="8007297" cy="5326762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Monostable </a:t>
            </a:r>
            <a:r>
              <a:rPr lang="en-US" sz="2400" dirty="0" err="1"/>
              <a:t>multivibrator</a:t>
            </a:r>
            <a:r>
              <a:rPr lang="en-US" sz="2400" dirty="0"/>
              <a:t> has one stable state and one quasi-stable state. It is also known as </a:t>
            </a:r>
            <a:r>
              <a:rPr lang="en-US" sz="2400" dirty="0" err="1"/>
              <a:t>monoshot</a:t>
            </a:r>
            <a:r>
              <a:rPr lang="en-US" sz="2400" dirty="0"/>
              <a:t> or one-shot </a:t>
            </a:r>
            <a:r>
              <a:rPr lang="en-US" sz="2400" dirty="0" err="1"/>
              <a:t>multivibrator</a:t>
            </a:r>
            <a:r>
              <a:rPr lang="en-US" sz="2400" dirty="0"/>
              <a:t> or </a:t>
            </a:r>
            <a:r>
              <a:rPr lang="en-US" sz="2400" dirty="0" err="1"/>
              <a:t>uni</a:t>
            </a:r>
            <a:r>
              <a:rPr lang="en-US" sz="2400" dirty="0"/>
              <a:t>-vibrator.</a:t>
            </a:r>
          </a:p>
          <a:p>
            <a:pPr algn="just"/>
            <a:r>
              <a:rPr lang="en-US" sz="2400" dirty="0"/>
              <a:t>It remains in its stable state until an input pulse triggers it into its quasi-stable state. It stays in quasi-stable state for a time duration determined by an RC timing circuit.</a:t>
            </a:r>
          </a:p>
          <a:p>
            <a:pPr algn="just"/>
            <a:r>
              <a:rPr lang="en-IN" sz="2400" dirty="0"/>
              <a:t>Post RC time o/p returns to standby or stable state.</a:t>
            </a:r>
          </a:p>
          <a:p>
            <a:pPr algn="just"/>
            <a:r>
              <a:rPr lang="en-IN" sz="2400" dirty="0"/>
              <a:t>The circuit is built by connecting a resistor between pin 8 and pin6.</a:t>
            </a:r>
          </a:p>
          <a:p>
            <a:pPr algn="just"/>
            <a:r>
              <a:rPr lang="en-IN" sz="2400" dirty="0"/>
              <a:t>A capacitor is connected to pin 7 and shorted to pin 6. This RC network decides the pulse width or time constant of the pulse.</a:t>
            </a:r>
          </a:p>
          <a:p>
            <a:pPr algn="just"/>
            <a:endParaRPr lang="en-IN" sz="2400" dirty="0"/>
          </a:p>
          <a:p>
            <a:pPr algn="just"/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BBDC6D-4F9E-41F8-B06E-80DEE4433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101626"/>
            <a:ext cx="3489959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2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9BFC6-3ED8-FEFD-F2AD-DB63A925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169" y="211015"/>
            <a:ext cx="5073831" cy="5950634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Firstly UC and LC are given with 2/3 voltage for V- and 1/3 voltage for V+ respectively with voltage divider arrangement.</a:t>
            </a:r>
          </a:p>
          <a:p>
            <a:pPr algn="just"/>
            <a:r>
              <a:rPr lang="en-IN" sz="2400" dirty="0"/>
              <a:t>Pin number 2 is held at a voltage higher than 1/3Vcc.</a:t>
            </a:r>
          </a:p>
          <a:p>
            <a:pPr algn="just"/>
            <a:r>
              <a:rPr lang="en-IN" sz="2400" dirty="0"/>
              <a:t>Initially the output of </a:t>
            </a:r>
            <a:r>
              <a:rPr lang="en-IN" sz="2400" dirty="0" err="1"/>
              <a:t>flipfop</a:t>
            </a:r>
            <a:r>
              <a:rPr lang="en-IN" sz="2400" dirty="0"/>
              <a:t> is 0 making </a:t>
            </a:r>
            <a:r>
              <a:rPr lang="en-IN" sz="2400" dirty="0" err="1"/>
              <a:t>Q</a:t>
            </a:r>
            <a:r>
              <a:rPr lang="en-IN" sz="2400" baseline="-25000" dirty="0" err="1"/>
              <a:t>bar</a:t>
            </a:r>
            <a:r>
              <a:rPr lang="en-IN" sz="2400" dirty="0" err="1"/>
              <a:t>to</a:t>
            </a:r>
            <a:r>
              <a:rPr lang="en-IN" sz="2400" dirty="0"/>
              <a:t> 1 and Q1 ON.</a:t>
            </a:r>
          </a:p>
          <a:p>
            <a:pPr algn="just"/>
            <a:r>
              <a:rPr lang="en-IN" sz="2400" dirty="0"/>
              <a:t>The output of 555 timer is logic 0 or zero volts at output.</a:t>
            </a:r>
          </a:p>
          <a:p>
            <a:pPr algn="just"/>
            <a:r>
              <a:rPr lang="en-IN" sz="2400" dirty="0"/>
              <a:t>Now LC provides O/p logic zero since pin2 is more than 1/3Vcc</a:t>
            </a:r>
          </a:p>
          <a:p>
            <a:pPr algn="just"/>
            <a:r>
              <a:rPr lang="en-IN" sz="2400" dirty="0"/>
              <a:t>Since capacitor initial charge is zero, UC also provides output logic zero.</a:t>
            </a:r>
          </a:p>
          <a:p>
            <a:pPr algn="just"/>
            <a:r>
              <a:rPr lang="en-IN" sz="2400" dirty="0"/>
              <a:t>The flipflop retains earlier state as 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3ED302-50E0-4C97-B0D5-80D5E019C0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74"/>
          <a:stretch/>
        </p:blipFill>
        <p:spPr>
          <a:xfrm>
            <a:off x="112542" y="0"/>
            <a:ext cx="7005627" cy="686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73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9BFC6-3ED8-FEFD-F2AD-DB63A925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169" y="211015"/>
            <a:ext cx="5073831" cy="5950634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Now a small trigger of potential less than 1/3Vcc is applied at pin2</a:t>
            </a:r>
          </a:p>
          <a:p>
            <a:pPr algn="just"/>
            <a:r>
              <a:rPr lang="en-IN" sz="2400" dirty="0"/>
              <a:t>LC shifts output to +</a:t>
            </a:r>
            <a:r>
              <a:rPr lang="en-IN" sz="2400" dirty="0" err="1"/>
              <a:t>Vsat</a:t>
            </a:r>
            <a:r>
              <a:rPr lang="en-IN" sz="2400" dirty="0"/>
              <a:t> aka logic 1.</a:t>
            </a:r>
          </a:p>
          <a:p>
            <a:pPr algn="just"/>
            <a:r>
              <a:rPr lang="en-IN" sz="2400" dirty="0"/>
              <a:t>The UC still maintains logic zero at output as charge on capacitor is still zero.</a:t>
            </a:r>
          </a:p>
          <a:p>
            <a:pPr algn="just"/>
            <a:r>
              <a:rPr lang="en-IN" sz="2400" dirty="0"/>
              <a:t>SR flipflop with S=1 and R=0 makes Q=1</a:t>
            </a:r>
          </a:p>
          <a:p>
            <a:pPr algn="just"/>
            <a:r>
              <a:rPr lang="en-IN" sz="2400" dirty="0"/>
              <a:t>This makes </a:t>
            </a:r>
            <a:r>
              <a:rPr lang="en-IN" sz="2400" dirty="0" err="1"/>
              <a:t>Qbar</a:t>
            </a:r>
            <a:r>
              <a:rPr lang="en-IN" sz="2400" dirty="0"/>
              <a:t>=0 and Q2 OFF</a:t>
            </a:r>
          </a:p>
          <a:p>
            <a:pPr algn="just"/>
            <a:r>
              <a:rPr lang="en-IN" sz="2400" dirty="0"/>
              <a:t>Output of 555 times is logic high or saturated voltage at output.</a:t>
            </a:r>
          </a:p>
          <a:p>
            <a:pPr algn="just"/>
            <a:r>
              <a:rPr lang="en-IN" sz="2400" dirty="0"/>
              <a:t>Since Q1 off the capacitor is unclamped and starts to charge.</a:t>
            </a:r>
          </a:p>
          <a:p>
            <a:pPr algn="just"/>
            <a:r>
              <a:rPr lang="en-IN" sz="2400" dirty="0"/>
              <a:t>The capacitor charges via the resistor R connected to pin8.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3ED302-50E0-4C97-B0D5-80D5E019C0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74"/>
          <a:stretch/>
        </p:blipFill>
        <p:spPr>
          <a:xfrm>
            <a:off x="112542" y="0"/>
            <a:ext cx="7005627" cy="686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463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9BFC6-3ED8-FEFD-F2AD-DB63A925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169" y="211015"/>
            <a:ext cx="5073831" cy="5950634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Now a small trigger of potential less than 1/3Vcc is applied at pin2</a:t>
            </a:r>
          </a:p>
          <a:p>
            <a:pPr algn="just"/>
            <a:r>
              <a:rPr lang="en-IN" sz="2400" dirty="0"/>
              <a:t>LC shifts output to +</a:t>
            </a:r>
            <a:r>
              <a:rPr lang="en-IN" sz="2400" dirty="0" err="1"/>
              <a:t>Vsat</a:t>
            </a:r>
            <a:r>
              <a:rPr lang="en-IN" sz="2400" dirty="0"/>
              <a:t> aka logic 1.</a:t>
            </a:r>
          </a:p>
          <a:p>
            <a:pPr algn="just"/>
            <a:r>
              <a:rPr lang="en-IN" sz="2400" dirty="0"/>
              <a:t>The UC still maintains logic zero at output as charge on capacitor is still zero.</a:t>
            </a:r>
          </a:p>
          <a:p>
            <a:pPr algn="just"/>
            <a:r>
              <a:rPr lang="en-IN" sz="2400" dirty="0"/>
              <a:t>SR flipflop with S=1 and R=0 makes Q=1</a:t>
            </a:r>
          </a:p>
          <a:p>
            <a:pPr algn="just"/>
            <a:r>
              <a:rPr lang="en-IN" sz="2400" dirty="0"/>
              <a:t>This makes </a:t>
            </a:r>
            <a:r>
              <a:rPr lang="en-IN" sz="2400" dirty="0" err="1"/>
              <a:t>Qbar</a:t>
            </a:r>
            <a:r>
              <a:rPr lang="en-IN" sz="2400" dirty="0"/>
              <a:t>=0 and Q2 OFF</a:t>
            </a:r>
          </a:p>
          <a:p>
            <a:pPr algn="just"/>
            <a:r>
              <a:rPr lang="en-IN" sz="2400" dirty="0"/>
              <a:t>Output of 555 times is logic high or saturated voltage at output.</a:t>
            </a:r>
          </a:p>
          <a:p>
            <a:pPr algn="just"/>
            <a:r>
              <a:rPr lang="en-IN" sz="2400" dirty="0"/>
              <a:t>Since Q1 off the capacitor is unclamped and starts to charge.</a:t>
            </a:r>
          </a:p>
          <a:p>
            <a:pPr algn="just"/>
            <a:r>
              <a:rPr lang="en-IN" sz="2400" dirty="0"/>
              <a:t>The capacitor charges via the resistor R connected to pin8.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3ED302-50E0-4C97-B0D5-80D5E019C0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74"/>
          <a:stretch/>
        </p:blipFill>
        <p:spPr>
          <a:xfrm>
            <a:off x="112542" y="0"/>
            <a:ext cx="7005627" cy="686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84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9BFC6-3ED8-FEFD-F2AD-DB63A925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169" y="211015"/>
            <a:ext cx="5073831" cy="595063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N" sz="2400" dirty="0"/>
              <a:t>When the charge on capacitor exceeds 1/3Vcc the LC shifts o/p to logic 0. This makes S of FF as zero.</a:t>
            </a:r>
          </a:p>
          <a:p>
            <a:pPr algn="just"/>
            <a:r>
              <a:rPr lang="en-IN" sz="2400" dirty="0"/>
              <a:t>When the charge on capacitor exceeds 2/3Vcc, then UC shifts o/p to logic 1.</a:t>
            </a:r>
          </a:p>
          <a:p>
            <a:pPr algn="just"/>
            <a:r>
              <a:rPr lang="en-IN" sz="2400" dirty="0"/>
              <a:t>The </a:t>
            </a:r>
            <a:r>
              <a:rPr lang="en-IN" sz="2400" dirty="0" err="1"/>
              <a:t>the</a:t>
            </a:r>
            <a:r>
              <a:rPr lang="en-IN" sz="2400" dirty="0"/>
              <a:t> FF has S=0 and R=1</a:t>
            </a:r>
          </a:p>
          <a:p>
            <a:pPr algn="just"/>
            <a:r>
              <a:rPr lang="en-IN" sz="2400" dirty="0"/>
              <a:t>This makes output Q=0 and </a:t>
            </a:r>
            <a:r>
              <a:rPr lang="en-IN" sz="2400" dirty="0" err="1"/>
              <a:t>Qbar</a:t>
            </a:r>
            <a:r>
              <a:rPr lang="en-IN" sz="2400" dirty="0"/>
              <a:t>=1 and Q1 ON</a:t>
            </a:r>
          </a:p>
          <a:p>
            <a:pPr algn="just"/>
            <a:r>
              <a:rPr lang="en-IN" sz="2400" dirty="0"/>
              <a:t>As soon as Q1 is ON, the capacitor clamps to transistor and discharges via the transistor to ground potential.</a:t>
            </a:r>
          </a:p>
          <a:p>
            <a:pPr algn="just"/>
            <a:r>
              <a:rPr lang="en-IN" sz="2400" dirty="0"/>
              <a:t>The output of 555 timer reverts back to zero.</a:t>
            </a:r>
          </a:p>
          <a:p>
            <a:pPr algn="just"/>
            <a:r>
              <a:rPr lang="en-IN" sz="2400" dirty="0"/>
              <a:t>This generates a pulse width of certain time period and then reverts back to its standby mode or stable mode hence monostable </a:t>
            </a:r>
            <a:r>
              <a:rPr lang="en-IN" sz="2400" dirty="0" err="1"/>
              <a:t>multivibrator</a:t>
            </a:r>
            <a:r>
              <a:rPr lang="en-IN" sz="2400" dirty="0"/>
              <a:t>.</a:t>
            </a:r>
          </a:p>
          <a:p>
            <a:pPr algn="just"/>
            <a:r>
              <a:rPr lang="en-IN" sz="2400" dirty="0"/>
              <a:t>The output remains zero until another </a:t>
            </a:r>
            <a:r>
              <a:rPr lang="en-IN" sz="2400"/>
              <a:t>trigger </a:t>
            </a:r>
            <a:r>
              <a:rPr lang="en-IN" sz="2400" dirty="0"/>
              <a:t>p</a:t>
            </a:r>
            <a:r>
              <a:rPr lang="en-IN" sz="2400"/>
              <a:t>ulse </a:t>
            </a:r>
            <a:r>
              <a:rPr lang="en-IN" sz="2400" dirty="0"/>
              <a:t>is applied at pin 2.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3ED302-50E0-4C97-B0D5-80D5E019C0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74"/>
          <a:stretch/>
        </p:blipFill>
        <p:spPr>
          <a:xfrm>
            <a:off x="112542" y="0"/>
            <a:ext cx="7005627" cy="686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21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11428</TotalTime>
  <Words>2426</Words>
  <Application>Microsoft Office PowerPoint</Application>
  <PresentationFormat>Widescreen</PresentationFormat>
  <Paragraphs>198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Times New Roman</vt:lpstr>
      <vt:lpstr>Office Theme</vt:lpstr>
      <vt:lpstr>PowerPoint Presentation</vt:lpstr>
      <vt:lpstr>Sample and Hold circuit</vt:lpstr>
      <vt:lpstr>Sample and Hold circuit</vt:lpstr>
      <vt:lpstr>Analog Voltage Multiplier</vt:lpstr>
      <vt:lpstr>Applications</vt:lpstr>
      <vt:lpstr>PowerPoint Presentation</vt:lpstr>
      <vt:lpstr>PowerPoint Presentation</vt:lpstr>
      <vt:lpstr>Waveform Generators</vt:lpstr>
      <vt:lpstr>RC-phase shift oscillator</vt:lpstr>
      <vt:lpstr>RC-phase shift oscillator</vt:lpstr>
      <vt:lpstr>RC-phase shift oscillator</vt:lpstr>
      <vt:lpstr>Wein Bridge Oscillator</vt:lpstr>
      <vt:lpstr>Wein Bridge Oscillator</vt:lpstr>
      <vt:lpstr>Wein Bridge Oscillator</vt:lpstr>
      <vt:lpstr>Comparison</vt:lpstr>
      <vt:lpstr>Square wave generator</vt:lpstr>
      <vt:lpstr>Square wave generator</vt:lpstr>
      <vt:lpstr>Frequency of oscillation</vt:lpstr>
      <vt:lpstr>Triangular wave generator</vt:lpstr>
      <vt:lpstr>Triangular wave generator</vt:lpstr>
      <vt:lpstr>PowerPoint Presentation</vt:lpstr>
      <vt:lpstr>PowerPoint Presentation</vt:lpstr>
      <vt:lpstr>Sawtooth wave generator</vt:lpstr>
      <vt:lpstr>Sawtooth wave generator</vt:lpstr>
      <vt:lpstr>Sawtooth wave generator</vt:lpstr>
      <vt:lpstr>PowerPoint Presentation</vt:lpstr>
      <vt:lpstr>PowerPoint Presentation</vt:lpstr>
      <vt:lpstr>PowerPoint Presentation</vt:lpstr>
      <vt:lpstr>Applications of Sawtooth wave generator</vt:lpstr>
      <vt:lpstr>IC 555 Timer</vt:lpstr>
      <vt:lpstr>PowerPoint Presentation</vt:lpstr>
      <vt:lpstr>Monostable Multivibrator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Allam Akshayakranth</dc:creator>
  <cp:lastModifiedBy>M S Krishna</cp:lastModifiedBy>
  <cp:revision>507</cp:revision>
  <dcterms:created xsi:type="dcterms:W3CDTF">2024-12-18T15:58:50Z</dcterms:created>
  <dcterms:modified xsi:type="dcterms:W3CDTF">2026-03-10T17:00:19Z</dcterms:modified>
</cp:coreProperties>
</file>