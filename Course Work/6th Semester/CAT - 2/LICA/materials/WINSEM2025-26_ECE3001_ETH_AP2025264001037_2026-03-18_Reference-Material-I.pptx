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814" r:id="rId2"/>
    <p:sldId id="815" r:id="rId3"/>
    <p:sldId id="818" r:id="rId4"/>
    <p:sldId id="819" r:id="rId5"/>
    <p:sldId id="820" r:id="rId6"/>
    <p:sldId id="821" r:id="rId7"/>
    <p:sldId id="823" r:id="rId8"/>
    <p:sldId id="822" r:id="rId9"/>
    <p:sldId id="825" r:id="rId10"/>
    <p:sldId id="82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2C0736C-917C-47B9-A246-7C7FEFEA5D08}">
          <p14:sldIdLst>
            <p14:sldId id="814"/>
            <p14:sldId id="815"/>
            <p14:sldId id="818"/>
            <p14:sldId id="819"/>
            <p14:sldId id="820"/>
            <p14:sldId id="821"/>
            <p14:sldId id="823"/>
            <p14:sldId id="822"/>
            <p14:sldId id="825"/>
            <p14:sldId id="8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3027-4DE1-4713-9F14-D8EC87ED60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270E1E-B7DA-4DED-985D-2280FFEA19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C663A8-BBB0-494D-A57A-A0D7E6FCD957}"/>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5" name="Footer Placeholder 4">
            <a:extLst>
              <a:ext uri="{FF2B5EF4-FFF2-40B4-BE49-F238E27FC236}">
                <a16:creationId xmlns:a16="http://schemas.microsoft.com/office/drawing/2014/main" id="{0D93C86B-3FF0-4DAB-83BA-EFD044B921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324334-2DC3-4481-A630-C0BB6739264C}"/>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4193814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8EBAA-1CB9-453E-8743-5AD7D468CA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CFB77B-6B48-4057-B66A-D591078D5C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4333B6-51E5-47B2-ABC5-196B07A875B4}"/>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5" name="Footer Placeholder 4">
            <a:extLst>
              <a:ext uri="{FF2B5EF4-FFF2-40B4-BE49-F238E27FC236}">
                <a16:creationId xmlns:a16="http://schemas.microsoft.com/office/drawing/2014/main" id="{F0394391-0D06-4BC0-8188-3758C6EFFC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50A29C-F8CF-4C50-92BE-2A95A2924559}"/>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712343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F297A-0EFD-48EF-A938-B0BFAEBE9D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1C3843-3128-4CC2-AF36-7A469F0136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7ECA8F-252C-409B-9DB2-A81904D24B14}"/>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5" name="Footer Placeholder 4">
            <a:extLst>
              <a:ext uri="{FF2B5EF4-FFF2-40B4-BE49-F238E27FC236}">
                <a16:creationId xmlns:a16="http://schemas.microsoft.com/office/drawing/2014/main" id="{254E7569-FA90-4DA7-AC95-7AD5E2E59E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7B037F-10C4-4F28-9016-3EB140551EFB}"/>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426633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6ACBA-E567-4FE8-8500-06B51E8FF7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AC62E9-9BF3-457B-8F04-4E85C4EDFA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DD0DF85-CC44-4871-A14B-B6FA1D99A8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12DD3E-8B2D-4BEF-87CF-2F6B5F64C5FC}"/>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6" name="Footer Placeholder 5">
            <a:extLst>
              <a:ext uri="{FF2B5EF4-FFF2-40B4-BE49-F238E27FC236}">
                <a16:creationId xmlns:a16="http://schemas.microsoft.com/office/drawing/2014/main" id="{60B9F6AC-4BFC-4A38-A7D5-7AD0D55556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0D4C43-D412-4988-838C-0DE0017EBBED}"/>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1748219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A5F0C-034B-445E-B1D2-8D64E973EF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CD7C2B-9391-497F-8195-487CD91378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5A7C37-F724-4E3F-B381-79B5495E12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6087BDE-06A2-4754-BD69-63753D06CC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8EC602-D1D7-4785-A9A9-5E5DC9B074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1C3B3F-281B-467A-8881-7CA5A4B85D94}"/>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8" name="Footer Placeholder 7">
            <a:extLst>
              <a:ext uri="{FF2B5EF4-FFF2-40B4-BE49-F238E27FC236}">
                <a16:creationId xmlns:a16="http://schemas.microsoft.com/office/drawing/2014/main" id="{54D3E5C1-23AF-4F31-B89D-BF4903D1D7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F68524-AA1C-4EAB-A716-7EF413782EA4}"/>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1940336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6E6F4-AF0A-49CB-9ED7-46E23CF15E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0A2DF1-8457-4622-B95A-190ACBDC19DB}"/>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4" name="Footer Placeholder 3">
            <a:extLst>
              <a:ext uri="{FF2B5EF4-FFF2-40B4-BE49-F238E27FC236}">
                <a16:creationId xmlns:a16="http://schemas.microsoft.com/office/drawing/2014/main" id="{68C96D95-A06A-4AE3-8712-0497955B389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C38098-6243-4176-ADB1-85E58DA02256}"/>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3531786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46BCF5-9227-41C6-8AC9-4C020B16ACD2}"/>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3" name="Footer Placeholder 2">
            <a:extLst>
              <a:ext uri="{FF2B5EF4-FFF2-40B4-BE49-F238E27FC236}">
                <a16:creationId xmlns:a16="http://schemas.microsoft.com/office/drawing/2014/main" id="{27BAA0A3-69CE-435B-8A92-88B59024FE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90CF34-99E7-4C6C-A6B0-DE8594D3E38D}"/>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2100080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A53C-5F50-42BD-B892-F2AD0598F1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B093B1-B4D8-47B9-BF77-E41B36191C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63AD77-CFA9-4C21-A19F-8126F95319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39CB73-EFFD-404B-89A3-F04F528F874F}"/>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6" name="Footer Placeholder 5">
            <a:extLst>
              <a:ext uri="{FF2B5EF4-FFF2-40B4-BE49-F238E27FC236}">
                <a16:creationId xmlns:a16="http://schemas.microsoft.com/office/drawing/2014/main" id="{E6B11A24-E02D-4795-9672-3C2370BDB5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894939-E47E-4061-B86B-A01417C59CA7}"/>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3655822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7027F-D4D1-4B16-B33D-B914655489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A20E077-97E5-457B-B07E-C8E188B933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1A20734-5038-4006-96B1-9CBF8B15F8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838EB4-72D5-4726-B1FA-7F6F5CCC3E84}"/>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6" name="Footer Placeholder 5">
            <a:extLst>
              <a:ext uri="{FF2B5EF4-FFF2-40B4-BE49-F238E27FC236}">
                <a16:creationId xmlns:a16="http://schemas.microsoft.com/office/drawing/2014/main" id="{6A7E6CC9-1607-4BE9-B9DE-3155851ABC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6A3CD1-A19E-464D-964A-E244798A2520}"/>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1056888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3F650-A86E-45D5-AF1D-E0B3762B43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9E68AA-1DF2-4EE2-A1D8-C560D3BCA5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EC3956-7600-4407-908F-22DDF54F6182}"/>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5" name="Footer Placeholder 4">
            <a:extLst>
              <a:ext uri="{FF2B5EF4-FFF2-40B4-BE49-F238E27FC236}">
                <a16:creationId xmlns:a16="http://schemas.microsoft.com/office/drawing/2014/main" id="{55F0BE22-82CF-465F-B5FF-9B6886EC7E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EC889F-4D66-4767-A04F-81E4CE3D251B}"/>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337372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752104-C238-4B39-8256-D16ACA2F3D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5BF887-4838-4D16-A914-3F25585DFB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1718AE-CE5C-4BEB-8C38-716E7DD0C3C4}"/>
              </a:ext>
            </a:extLst>
          </p:cNvPr>
          <p:cNvSpPr>
            <a:spLocks noGrp="1"/>
          </p:cNvSpPr>
          <p:nvPr>
            <p:ph type="dt" sz="half" idx="10"/>
          </p:nvPr>
        </p:nvSpPr>
        <p:spPr/>
        <p:txBody>
          <a:bodyPr/>
          <a:lstStyle/>
          <a:p>
            <a:fld id="{E5AE31E9-CBD8-42A2-8F62-2FEEA4FAC164}" type="datetimeFigureOut">
              <a:rPr lang="en-IN" smtClean="0"/>
              <a:t>21-03-2026</a:t>
            </a:fld>
            <a:endParaRPr lang="en-IN"/>
          </a:p>
        </p:txBody>
      </p:sp>
      <p:sp>
        <p:nvSpPr>
          <p:cNvPr id="5" name="Footer Placeholder 4">
            <a:extLst>
              <a:ext uri="{FF2B5EF4-FFF2-40B4-BE49-F238E27FC236}">
                <a16:creationId xmlns:a16="http://schemas.microsoft.com/office/drawing/2014/main" id="{EC868C61-AA66-4F7A-A182-A0F4F461EF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BB3066-122E-4B13-9FE5-9C28D1BFE08A}"/>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1218927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D8A0FC-154E-47C3-8160-CFAF720AA0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DA71E6-8F00-403E-A048-DF8D7D2AB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6D639D-B65C-41A6-887D-F794C1E7E0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AE31E9-CBD8-42A2-8F62-2FEEA4FAC164}" type="datetimeFigureOut">
              <a:rPr lang="en-IN" smtClean="0"/>
              <a:t>21-03-2026</a:t>
            </a:fld>
            <a:endParaRPr lang="en-IN"/>
          </a:p>
        </p:txBody>
      </p:sp>
      <p:sp>
        <p:nvSpPr>
          <p:cNvPr id="5" name="Footer Placeholder 4">
            <a:extLst>
              <a:ext uri="{FF2B5EF4-FFF2-40B4-BE49-F238E27FC236}">
                <a16:creationId xmlns:a16="http://schemas.microsoft.com/office/drawing/2014/main" id="{9C266085-228F-4C7D-9C57-E672E797E3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1E5C931-F4C4-4971-9CD2-F05D5519E4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0AAAD-255F-4ABC-A35A-5BB485359B40}" type="slidenum">
              <a:rPr lang="en-IN" smtClean="0"/>
              <a:t>‹#›</a:t>
            </a:fld>
            <a:endParaRPr lang="en-IN"/>
          </a:p>
        </p:txBody>
      </p:sp>
    </p:spTree>
    <p:extLst>
      <p:ext uri="{BB962C8B-B14F-4D97-AF65-F5344CB8AC3E}">
        <p14:creationId xmlns:p14="http://schemas.microsoft.com/office/powerpoint/2010/main" val="2580716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normAutofit/>
          </a:bodyPr>
          <a:lstStyle/>
          <a:p>
            <a:r>
              <a:rPr lang="en-US" sz="3200" b="1" dirty="0"/>
              <a:t>Phase Locked Loop (PLL)</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2" y="834886"/>
            <a:ext cx="11467949" cy="58613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t>With the advancement of integrated-circuit technology </a:t>
            </a:r>
            <a:r>
              <a:rPr lang="en-IN" sz="2400" dirty="0"/>
              <a:t>PLL circuits became </a:t>
            </a:r>
            <a:r>
              <a:rPr lang="en-US" sz="2400" dirty="0"/>
              <a:t>fundamental building blocks in modern electronics</a:t>
            </a:r>
          </a:p>
          <a:p>
            <a:pPr algn="just"/>
            <a:r>
              <a:rPr lang="en-US" sz="2400" dirty="0"/>
              <a:t>PLLs are widely used in systems such as FM stereo decoders, motor speed control systems, tracking filters, frequency synthesizers in transmitters and receivers, FM demodulators, FSK decoders, and local oscillator generation in TV and FM tuners.</a:t>
            </a:r>
          </a:p>
          <a:p>
            <a:pPr algn="just"/>
            <a:r>
              <a:rPr lang="en-US" sz="2400" dirty="0"/>
              <a:t>A phase-locked loop consists of three main components:(1) Phase detector, (2) Low-pass filter, and (3) Voltage-controlled oscillator (VCO).</a:t>
            </a:r>
          </a:p>
          <a:p>
            <a:pPr algn="just"/>
            <a:r>
              <a:rPr lang="en-US" sz="2400" dirty="0"/>
              <a:t>The phase detector compares the input frequency 𝑓𝑖​ with the feedback frequency from the VCO and produces an output proportional to their phase difference.</a:t>
            </a:r>
          </a:p>
          <a:p>
            <a:pPr algn="just"/>
            <a:r>
              <a:rPr lang="en-US" sz="2400" dirty="0"/>
              <a:t>The output of the phase detector is a dc voltage proportional to the phase error, commonly called the error voltage.</a:t>
            </a:r>
          </a:p>
          <a:p>
            <a:pPr algn="just"/>
            <a:r>
              <a:rPr lang="en-US" sz="2400" dirty="0"/>
              <a:t>The low-pass filter removes high-frequency noise and ripple from the detector output and produces a smoother dc control voltage.</a:t>
            </a:r>
          </a:p>
          <a:p>
            <a:pPr algn="just"/>
            <a:r>
              <a:rPr lang="en-US" sz="2400" dirty="0"/>
              <a:t>In addition to filtering noise, the low-pass filter also determines the dynamic response and stability of the PLL.</a:t>
            </a:r>
          </a:p>
        </p:txBody>
      </p:sp>
    </p:spTree>
    <p:extLst>
      <p:ext uri="{BB962C8B-B14F-4D97-AF65-F5344CB8AC3E}">
        <p14:creationId xmlns:p14="http://schemas.microsoft.com/office/powerpoint/2010/main" val="3483937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normAutofit/>
          </a:bodyPr>
          <a:lstStyle/>
          <a:p>
            <a:r>
              <a:rPr lang="en-US" sz="3200" b="1" dirty="0"/>
              <a:t>Phase Locked Loop (PLL)</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2" y="834887"/>
            <a:ext cx="11467949" cy="338542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t>The filtered dc voltage is applied to the voltage-controlled oscillator, whose output frequency is directly proportional to the input control voltage.</a:t>
            </a:r>
          </a:p>
          <a:p>
            <a:pPr algn="just"/>
            <a:r>
              <a:rPr lang="en-US" sz="2400" dirty="0"/>
              <a:t>The VCO output is continuously compared with the input signal, and its frequency is automatically adjusted until both signals match.</a:t>
            </a:r>
          </a:p>
          <a:p>
            <a:pPr algn="just"/>
            <a:r>
              <a:rPr lang="en-US" sz="2400" dirty="0"/>
              <a:t>Before the input signal is applied, the VCO oscillates at its natural free-running frequency called free running state.</a:t>
            </a:r>
          </a:p>
          <a:p>
            <a:pPr algn="just"/>
            <a:r>
              <a:rPr lang="en-US" sz="2400" dirty="0"/>
              <a:t>When the input signal is applied, the VCO frequency begins to change under the influence of the control voltage, and the PLL enters the capture mode.</a:t>
            </a:r>
          </a:p>
          <a:p>
            <a:pPr algn="just"/>
            <a:r>
              <a:rPr lang="en-US" sz="2400" dirty="0"/>
              <a:t>When the VCO frequency becomes equal to the input frequency, the loop reaches the phase-locked condition.</a:t>
            </a:r>
          </a:p>
          <a:p>
            <a:pPr algn="just"/>
            <a:r>
              <a:rPr lang="en-US" sz="2400" dirty="0"/>
              <a:t>Once locked, the PLL can track small changes in the input frequency by continuously adjusting the VCO frequency.</a:t>
            </a:r>
          </a:p>
        </p:txBody>
      </p:sp>
      <p:pic>
        <p:nvPicPr>
          <p:cNvPr id="5" name="Picture 4">
            <a:extLst>
              <a:ext uri="{FF2B5EF4-FFF2-40B4-BE49-F238E27FC236}">
                <a16:creationId xmlns:a16="http://schemas.microsoft.com/office/drawing/2014/main" id="{B38E7783-61BD-49E3-8CBB-02E903173C42}"/>
              </a:ext>
            </a:extLst>
          </p:cNvPr>
          <p:cNvPicPr>
            <a:picLocks noChangeAspect="1"/>
          </p:cNvPicPr>
          <p:nvPr/>
        </p:nvPicPr>
        <p:blipFill>
          <a:blip r:embed="rId2"/>
          <a:stretch>
            <a:fillRect/>
          </a:stretch>
        </p:blipFill>
        <p:spPr>
          <a:xfrm>
            <a:off x="2312011" y="3936756"/>
            <a:ext cx="8533694" cy="2861352"/>
          </a:xfrm>
          <a:prstGeom prst="rect">
            <a:avLst/>
          </a:prstGeom>
        </p:spPr>
      </p:pic>
    </p:spTree>
    <p:extLst>
      <p:ext uri="{BB962C8B-B14F-4D97-AF65-F5344CB8AC3E}">
        <p14:creationId xmlns:p14="http://schemas.microsoft.com/office/powerpoint/2010/main" val="608107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normAutofit/>
          </a:bodyPr>
          <a:lstStyle/>
          <a:p>
            <a:r>
              <a:rPr lang="en-US" sz="3200" b="1" dirty="0"/>
              <a:t>Phase detector</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2" y="834887"/>
            <a:ext cx="11467949" cy="57249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t>The PLL tries to force a Voltage Controlled Oscillator (VCO) to follow the phase and frequency of an input signal.</a:t>
            </a:r>
          </a:p>
          <a:p>
            <a:r>
              <a:rPr lang="en-US" sz="2400" dirty="0"/>
              <a:t>If two periodic signals are compared: </a:t>
            </a:r>
          </a:p>
          <a:p>
            <a:pPr lvl="1"/>
            <a:r>
              <a:rPr lang="en-US" sz="2000" dirty="0"/>
              <a:t>If their </a:t>
            </a:r>
            <a:r>
              <a:rPr lang="en-US" sz="2000" b="1" dirty="0"/>
              <a:t>phases are identical</a:t>
            </a:r>
            <a:r>
              <a:rPr lang="en-US" sz="2000" dirty="0"/>
              <a:t> → error = 0</a:t>
            </a:r>
          </a:p>
          <a:p>
            <a:pPr lvl="1"/>
            <a:r>
              <a:rPr lang="en-US" sz="2000" dirty="0"/>
              <a:t>If </a:t>
            </a:r>
            <a:r>
              <a:rPr lang="en-US" sz="2000" b="1" dirty="0"/>
              <a:t>one leads or lags</a:t>
            </a:r>
            <a:r>
              <a:rPr lang="en-US" sz="2000" dirty="0"/>
              <a:t> → error ≠ 0</a:t>
            </a:r>
          </a:p>
          <a:p>
            <a:r>
              <a:rPr lang="en-US" sz="2400" dirty="0"/>
              <a:t> The phase detector converts this phase difference into a voltage called the error voltage.</a:t>
            </a:r>
          </a:p>
          <a:p>
            <a:r>
              <a:rPr lang="en-US" sz="2400" dirty="0"/>
              <a:t>  </a:t>
            </a:r>
          </a:p>
          <a:p>
            <a:r>
              <a:rPr lang="en-US" sz="2400" dirty="0"/>
              <a:t>This voltage then passes through a loop filter and adjusts the </a:t>
            </a:r>
            <a:r>
              <a:rPr lang="en-US" sz="2400" b="1" dirty="0"/>
              <a:t>VCO frequency</a:t>
            </a:r>
            <a:r>
              <a:rPr lang="en-US" sz="2400" dirty="0"/>
              <a:t> until the phase difference becomes zero (or a fixed value depending on detector type).</a:t>
            </a:r>
          </a:p>
          <a:p>
            <a:r>
              <a:rPr lang="en-IN" sz="2400" dirty="0"/>
              <a:t>Types of Phase Detectors</a:t>
            </a:r>
          </a:p>
          <a:p>
            <a:pPr lvl="1"/>
            <a:r>
              <a:rPr lang="en-IN" sz="2000" dirty="0"/>
              <a:t>Analog Phase detectors</a:t>
            </a:r>
            <a:endParaRPr lang="en-US" sz="2000" dirty="0"/>
          </a:p>
          <a:p>
            <a:pPr lvl="1" algn="just"/>
            <a:r>
              <a:rPr lang="en-US" sz="2000" dirty="0"/>
              <a:t>Digital phase detectors</a:t>
            </a:r>
          </a:p>
        </p:txBody>
      </p:sp>
      <p:pic>
        <p:nvPicPr>
          <p:cNvPr id="3" name="Picture 2">
            <a:extLst>
              <a:ext uri="{FF2B5EF4-FFF2-40B4-BE49-F238E27FC236}">
                <a16:creationId xmlns:a16="http://schemas.microsoft.com/office/drawing/2014/main" id="{F5CD46CC-C22D-4B59-9FE0-F3A201B5E870}"/>
              </a:ext>
            </a:extLst>
          </p:cNvPr>
          <p:cNvPicPr>
            <a:picLocks noChangeAspect="1"/>
          </p:cNvPicPr>
          <p:nvPr/>
        </p:nvPicPr>
        <p:blipFill>
          <a:blip r:embed="rId2"/>
          <a:stretch>
            <a:fillRect/>
          </a:stretch>
        </p:blipFill>
        <p:spPr>
          <a:xfrm>
            <a:off x="2260737" y="3200399"/>
            <a:ext cx="2964621" cy="390939"/>
          </a:xfrm>
          <a:prstGeom prst="rect">
            <a:avLst/>
          </a:prstGeom>
        </p:spPr>
      </p:pic>
    </p:spTree>
    <p:extLst>
      <p:ext uri="{BB962C8B-B14F-4D97-AF65-F5344CB8AC3E}">
        <p14:creationId xmlns:p14="http://schemas.microsoft.com/office/powerpoint/2010/main" val="3716277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2" y="59892"/>
            <a:ext cx="10765739" cy="774995"/>
          </a:xfrm>
        </p:spPr>
        <p:txBody>
          <a:bodyPr>
            <a:normAutofit/>
          </a:bodyPr>
          <a:lstStyle/>
          <a:p>
            <a:r>
              <a:rPr lang="en-US" sz="3200" b="1" dirty="0"/>
              <a:t>Analog Phase detector</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3" y="834888"/>
            <a:ext cx="7050694" cy="526620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t>An analog switch is controlled by the VCO output.</a:t>
            </a:r>
          </a:p>
          <a:p>
            <a:pPr algn="just"/>
            <a:r>
              <a:rPr lang="en-US" sz="2400" dirty="0"/>
              <a:t>The output error voltage becomes phase dependent.</a:t>
            </a:r>
          </a:p>
          <a:p>
            <a:pPr algn="just"/>
            <a:r>
              <a:rPr lang="en-US" sz="2400" dirty="0"/>
              <a:t>Let input=</a:t>
            </a:r>
          </a:p>
          <a:p>
            <a:pPr algn="just"/>
            <a:r>
              <a:rPr lang="en-US" sz="2400" dirty="0"/>
              <a:t>And output of VCO: </a:t>
            </a:r>
          </a:p>
          <a:p>
            <a:pPr algn="just"/>
            <a:r>
              <a:rPr lang="en-US" sz="2400" dirty="0"/>
              <a:t>The phase detector basically multiplies the signals.</a:t>
            </a:r>
          </a:p>
          <a:p>
            <a:pPr algn="just"/>
            <a:endParaRPr lang="en-US" sz="2400" dirty="0"/>
          </a:p>
          <a:p>
            <a:pPr algn="just"/>
            <a:endParaRPr lang="en-US" sz="2400" dirty="0"/>
          </a:p>
          <a:p>
            <a:pPr algn="just"/>
            <a:endParaRPr lang="en-US" sz="2400" dirty="0"/>
          </a:p>
          <a:p>
            <a:pPr algn="just"/>
            <a:r>
              <a:rPr lang="en-US" sz="2400" dirty="0"/>
              <a:t>The filter removes the high frequency component. The output becomes</a:t>
            </a:r>
          </a:p>
          <a:p>
            <a:pPr algn="just"/>
            <a:endParaRPr lang="en-US" sz="2400" dirty="0"/>
          </a:p>
          <a:p>
            <a:pPr algn="just"/>
            <a:endParaRPr lang="en-US" sz="2400" dirty="0"/>
          </a:p>
          <a:p>
            <a:pPr algn="just"/>
            <a:r>
              <a:rPr lang="en-US" sz="2400" dirty="0"/>
              <a:t>When both frequencies are matched it becomes:</a:t>
            </a:r>
          </a:p>
          <a:p>
            <a:pPr algn="just"/>
            <a:endParaRPr lang="en-US" sz="2400" dirty="0"/>
          </a:p>
          <a:p>
            <a:pPr algn="just"/>
            <a:endParaRPr lang="en-US" sz="2400" dirty="0"/>
          </a:p>
          <a:p>
            <a:pPr algn="just"/>
            <a:endParaRPr lang="en-US" sz="2000" dirty="0"/>
          </a:p>
        </p:txBody>
      </p:sp>
      <p:pic>
        <p:nvPicPr>
          <p:cNvPr id="4" name="Picture 3">
            <a:extLst>
              <a:ext uri="{FF2B5EF4-FFF2-40B4-BE49-F238E27FC236}">
                <a16:creationId xmlns:a16="http://schemas.microsoft.com/office/drawing/2014/main" id="{9926ADAE-AA0F-4BB3-8405-6BAF61C1F70D}"/>
              </a:ext>
            </a:extLst>
          </p:cNvPr>
          <p:cNvPicPr>
            <a:picLocks noChangeAspect="1"/>
          </p:cNvPicPr>
          <p:nvPr/>
        </p:nvPicPr>
        <p:blipFill>
          <a:blip r:embed="rId2"/>
          <a:stretch>
            <a:fillRect/>
          </a:stretch>
        </p:blipFill>
        <p:spPr>
          <a:xfrm>
            <a:off x="7745992" y="565460"/>
            <a:ext cx="4392517" cy="4920940"/>
          </a:xfrm>
          <a:prstGeom prst="rect">
            <a:avLst/>
          </a:prstGeom>
        </p:spPr>
      </p:pic>
      <p:pic>
        <p:nvPicPr>
          <p:cNvPr id="5" name="Picture 4">
            <a:extLst>
              <a:ext uri="{FF2B5EF4-FFF2-40B4-BE49-F238E27FC236}">
                <a16:creationId xmlns:a16="http://schemas.microsoft.com/office/drawing/2014/main" id="{0F26FB3F-D056-47D8-A81B-6152576C79AF}"/>
              </a:ext>
            </a:extLst>
          </p:cNvPr>
          <p:cNvPicPr>
            <a:picLocks noChangeAspect="1"/>
          </p:cNvPicPr>
          <p:nvPr/>
        </p:nvPicPr>
        <p:blipFill>
          <a:blip r:embed="rId3"/>
          <a:stretch>
            <a:fillRect/>
          </a:stretch>
        </p:blipFill>
        <p:spPr>
          <a:xfrm>
            <a:off x="2296441" y="1574451"/>
            <a:ext cx="1346099" cy="399392"/>
          </a:xfrm>
          <a:prstGeom prst="rect">
            <a:avLst/>
          </a:prstGeom>
        </p:spPr>
      </p:pic>
      <p:pic>
        <p:nvPicPr>
          <p:cNvPr id="6" name="Picture 5">
            <a:extLst>
              <a:ext uri="{FF2B5EF4-FFF2-40B4-BE49-F238E27FC236}">
                <a16:creationId xmlns:a16="http://schemas.microsoft.com/office/drawing/2014/main" id="{E4AAD307-1574-4A4E-A797-4794E139626C}"/>
              </a:ext>
            </a:extLst>
          </p:cNvPr>
          <p:cNvPicPr>
            <a:picLocks noChangeAspect="1"/>
          </p:cNvPicPr>
          <p:nvPr/>
        </p:nvPicPr>
        <p:blipFill>
          <a:blip r:embed="rId4"/>
          <a:stretch>
            <a:fillRect/>
          </a:stretch>
        </p:blipFill>
        <p:spPr>
          <a:xfrm>
            <a:off x="3303103" y="1973842"/>
            <a:ext cx="1863829" cy="399392"/>
          </a:xfrm>
          <a:prstGeom prst="rect">
            <a:avLst/>
          </a:prstGeom>
        </p:spPr>
      </p:pic>
      <p:pic>
        <p:nvPicPr>
          <p:cNvPr id="7" name="Picture 6">
            <a:extLst>
              <a:ext uri="{FF2B5EF4-FFF2-40B4-BE49-F238E27FC236}">
                <a16:creationId xmlns:a16="http://schemas.microsoft.com/office/drawing/2014/main" id="{A94CE705-F7C7-40B3-8DCD-3AD9F8DC4D06}"/>
              </a:ext>
            </a:extLst>
          </p:cNvPr>
          <p:cNvPicPr>
            <a:picLocks noChangeAspect="1"/>
          </p:cNvPicPr>
          <p:nvPr/>
        </p:nvPicPr>
        <p:blipFill>
          <a:blip r:embed="rId5"/>
          <a:stretch>
            <a:fillRect/>
          </a:stretch>
        </p:blipFill>
        <p:spPr>
          <a:xfrm>
            <a:off x="1324778" y="2871616"/>
            <a:ext cx="5106512" cy="399392"/>
          </a:xfrm>
          <a:prstGeom prst="rect">
            <a:avLst/>
          </a:prstGeom>
        </p:spPr>
      </p:pic>
      <p:pic>
        <p:nvPicPr>
          <p:cNvPr id="8" name="Picture 7">
            <a:extLst>
              <a:ext uri="{FF2B5EF4-FFF2-40B4-BE49-F238E27FC236}">
                <a16:creationId xmlns:a16="http://schemas.microsoft.com/office/drawing/2014/main" id="{1B110875-98E6-47DF-A121-76BE8C85C9FB}"/>
              </a:ext>
            </a:extLst>
          </p:cNvPr>
          <p:cNvPicPr>
            <a:picLocks noChangeAspect="1"/>
          </p:cNvPicPr>
          <p:nvPr/>
        </p:nvPicPr>
        <p:blipFill>
          <a:blip r:embed="rId6"/>
          <a:stretch>
            <a:fillRect/>
          </a:stretch>
        </p:blipFill>
        <p:spPr>
          <a:xfrm>
            <a:off x="1324778" y="3390648"/>
            <a:ext cx="5476875" cy="647700"/>
          </a:xfrm>
          <a:prstGeom prst="rect">
            <a:avLst/>
          </a:prstGeom>
        </p:spPr>
      </p:pic>
      <p:pic>
        <p:nvPicPr>
          <p:cNvPr id="10" name="Picture 9">
            <a:extLst>
              <a:ext uri="{FF2B5EF4-FFF2-40B4-BE49-F238E27FC236}">
                <a16:creationId xmlns:a16="http://schemas.microsoft.com/office/drawing/2014/main" id="{A037402B-9CCC-4B49-91CE-E954CBD65A72}"/>
              </a:ext>
            </a:extLst>
          </p:cNvPr>
          <p:cNvPicPr>
            <a:picLocks noChangeAspect="1"/>
          </p:cNvPicPr>
          <p:nvPr/>
        </p:nvPicPr>
        <p:blipFill rotWithShape="1">
          <a:blip r:embed="rId6"/>
          <a:srcRect r="39940"/>
          <a:stretch/>
        </p:blipFill>
        <p:spPr>
          <a:xfrm>
            <a:off x="1558328" y="4745869"/>
            <a:ext cx="3289426" cy="647700"/>
          </a:xfrm>
          <a:prstGeom prst="rect">
            <a:avLst/>
          </a:prstGeom>
        </p:spPr>
      </p:pic>
      <p:pic>
        <p:nvPicPr>
          <p:cNvPr id="9" name="Picture 8">
            <a:extLst>
              <a:ext uri="{FF2B5EF4-FFF2-40B4-BE49-F238E27FC236}">
                <a16:creationId xmlns:a16="http://schemas.microsoft.com/office/drawing/2014/main" id="{18919277-D1CD-4FF3-8E5E-7A75259AE39E}"/>
              </a:ext>
            </a:extLst>
          </p:cNvPr>
          <p:cNvPicPr>
            <a:picLocks noChangeAspect="1"/>
          </p:cNvPicPr>
          <p:nvPr/>
        </p:nvPicPr>
        <p:blipFill>
          <a:blip r:embed="rId7"/>
          <a:stretch>
            <a:fillRect/>
          </a:stretch>
        </p:blipFill>
        <p:spPr>
          <a:xfrm>
            <a:off x="2969490" y="5821643"/>
            <a:ext cx="2188176" cy="647700"/>
          </a:xfrm>
          <a:prstGeom prst="rect">
            <a:avLst/>
          </a:prstGeom>
        </p:spPr>
      </p:pic>
    </p:spTree>
    <p:extLst>
      <p:ext uri="{BB962C8B-B14F-4D97-AF65-F5344CB8AC3E}">
        <p14:creationId xmlns:p14="http://schemas.microsoft.com/office/powerpoint/2010/main" val="2786158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2" y="59892"/>
            <a:ext cx="10765739" cy="774995"/>
          </a:xfrm>
        </p:spPr>
        <p:txBody>
          <a:bodyPr>
            <a:normAutofit/>
          </a:bodyPr>
          <a:lstStyle/>
          <a:p>
            <a:r>
              <a:rPr lang="en-US" sz="3200" b="1" dirty="0"/>
              <a:t>Analog Phase detector</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3" y="834888"/>
            <a:ext cx="7050694" cy="5266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t>The PLL lock occurs when phase difference is 90 degrees.</a:t>
            </a:r>
          </a:p>
          <a:p>
            <a:pPr algn="just"/>
            <a:r>
              <a:rPr lang="en-US" sz="2400" dirty="0"/>
              <a:t>When the phase difference is positive it generates a positive error voltage.</a:t>
            </a:r>
          </a:p>
          <a:p>
            <a:pPr algn="just"/>
            <a:r>
              <a:rPr lang="en-US" sz="2400" dirty="0"/>
              <a:t>When phase difference is between 90-180 it generates a negative error voltage.</a:t>
            </a:r>
          </a:p>
          <a:p>
            <a:pPr algn="just"/>
            <a:r>
              <a:rPr lang="en-US" sz="2400" dirty="0"/>
              <a:t>Limitation:</a:t>
            </a:r>
          </a:p>
          <a:p>
            <a:pPr algn="just"/>
            <a:r>
              <a:rPr lang="en-US" sz="2400" dirty="0"/>
              <a:t>The error output voltage is dependent on the input signal amplitude.</a:t>
            </a:r>
          </a:p>
          <a:p>
            <a:pPr algn="just"/>
            <a:r>
              <a:rPr lang="en-US" sz="2400" dirty="0"/>
              <a:t>The non-linear response (cos(</a:t>
            </a:r>
            <a:r>
              <a:rPr lang="en-US" sz="2400" dirty="0" err="1"/>
              <a:t>phase_difference</a:t>
            </a:r>
            <a:r>
              <a:rPr lang="en-US" sz="2400" dirty="0"/>
              <a:t>)) is hard to control.</a:t>
            </a:r>
          </a:p>
          <a:p>
            <a:pPr algn="just"/>
            <a:endParaRPr lang="en-US" sz="2400" dirty="0"/>
          </a:p>
          <a:p>
            <a:pPr algn="just"/>
            <a:endParaRPr lang="en-US" sz="2000" dirty="0"/>
          </a:p>
        </p:txBody>
      </p:sp>
      <p:pic>
        <p:nvPicPr>
          <p:cNvPr id="4" name="Picture 3">
            <a:extLst>
              <a:ext uri="{FF2B5EF4-FFF2-40B4-BE49-F238E27FC236}">
                <a16:creationId xmlns:a16="http://schemas.microsoft.com/office/drawing/2014/main" id="{9926ADAE-AA0F-4BB3-8405-6BAF61C1F70D}"/>
              </a:ext>
            </a:extLst>
          </p:cNvPr>
          <p:cNvPicPr>
            <a:picLocks noChangeAspect="1"/>
          </p:cNvPicPr>
          <p:nvPr/>
        </p:nvPicPr>
        <p:blipFill>
          <a:blip r:embed="rId2"/>
          <a:stretch>
            <a:fillRect/>
          </a:stretch>
        </p:blipFill>
        <p:spPr>
          <a:xfrm>
            <a:off x="7745992" y="565460"/>
            <a:ext cx="4392517" cy="4920940"/>
          </a:xfrm>
          <a:prstGeom prst="rect">
            <a:avLst/>
          </a:prstGeom>
        </p:spPr>
      </p:pic>
    </p:spTree>
    <p:extLst>
      <p:ext uri="{BB962C8B-B14F-4D97-AF65-F5344CB8AC3E}">
        <p14:creationId xmlns:p14="http://schemas.microsoft.com/office/powerpoint/2010/main" val="1914589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713130" y="42177"/>
            <a:ext cx="10765739" cy="774995"/>
          </a:xfrm>
        </p:spPr>
        <p:txBody>
          <a:bodyPr>
            <a:normAutofit/>
          </a:bodyPr>
          <a:lstStyle/>
          <a:p>
            <a:r>
              <a:rPr lang="en-US" sz="3200" b="1" dirty="0"/>
              <a:t>Digital Phase detector</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3" y="834887"/>
            <a:ext cx="10989648" cy="59809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t>Digital phase detectors require square wave inputs.</a:t>
            </a:r>
          </a:p>
          <a:p>
            <a:pPr algn="just"/>
            <a:r>
              <a:rPr lang="en-US" sz="2000" dirty="0"/>
              <a:t>They compare the timing of edges rather than waveform amplitude.</a:t>
            </a:r>
          </a:p>
          <a:p>
            <a:pPr algn="just"/>
            <a:r>
              <a:rPr lang="en-US" sz="2000" dirty="0"/>
              <a:t>Three types are commonly used.</a:t>
            </a:r>
          </a:p>
          <a:p>
            <a:pPr lvl="1" algn="just"/>
            <a:r>
              <a:rPr lang="en-US" sz="1800" dirty="0"/>
              <a:t>EXOR Phase detector</a:t>
            </a:r>
          </a:p>
          <a:p>
            <a:pPr lvl="1" algn="just"/>
            <a:r>
              <a:rPr lang="en-US" sz="1800" dirty="0"/>
              <a:t>SR Flip flop phase detector</a:t>
            </a:r>
          </a:p>
          <a:p>
            <a:pPr algn="just"/>
            <a:r>
              <a:rPr lang="en-US" sz="2000" dirty="0"/>
              <a:t> The XOR phase detector uses an EXOR gate for the phase detection</a:t>
            </a:r>
          </a:p>
          <a:p>
            <a:pPr algn="just"/>
            <a:r>
              <a:rPr lang="en-US" sz="2000" dirty="0"/>
              <a:t>The XOR gates goes high when both the signals are different.</a:t>
            </a:r>
          </a:p>
          <a:p>
            <a:pPr algn="just"/>
            <a:endParaRPr lang="en-US" sz="2000" dirty="0"/>
          </a:p>
          <a:p>
            <a:pPr algn="just"/>
            <a:endParaRPr lang="en-US" sz="2000" dirty="0"/>
          </a:p>
          <a:p>
            <a:pPr algn="just"/>
            <a:r>
              <a:rPr lang="en-US" sz="2000" dirty="0"/>
              <a:t>So as long as the two signals have different edge timings, the XOR gate goes high generating a pulse signal.</a:t>
            </a:r>
          </a:p>
          <a:p>
            <a:pPr algn="just"/>
            <a:r>
              <a:rPr lang="en-US" sz="2000" dirty="0"/>
              <a:t>The higher the phase difference the greater is the pulse width.</a:t>
            </a:r>
          </a:p>
          <a:p>
            <a:pPr algn="just"/>
            <a:r>
              <a:rPr lang="en-US" sz="2000" dirty="0"/>
              <a:t>Based on pulse width the error voltage is generated and supplied to the VCO for frequency tuning.</a:t>
            </a:r>
          </a:p>
          <a:p>
            <a:pPr algn="just"/>
            <a:r>
              <a:rPr lang="en-US" sz="2000" dirty="0"/>
              <a:t>The error voltage is highest for 180 degrees and lowest for 0 degree phase difference.</a:t>
            </a:r>
          </a:p>
          <a:p>
            <a:pPr algn="just"/>
            <a:r>
              <a:rPr lang="en-US" sz="2000" dirty="0"/>
              <a:t>However, it works well only if both the signals are perfect square waves with 50% duty cycle.</a:t>
            </a:r>
          </a:p>
        </p:txBody>
      </p:sp>
      <p:pic>
        <p:nvPicPr>
          <p:cNvPr id="11" name="Picture 10">
            <a:extLst>
              <a:ext uri="{FF2B5EF4-FFF2-40B4-BE49-F238E27FC236}">
                <a16:creationId xmlns:a16="http://schemas.microsoft.com/office/drawing/2014/main" id="{B3DF4E36-CF15-408B-855F-1ABFE671759B}"/>
              </a:ext>
            </a:extLst>
          </p:cNvPr>
          <p:cNvPicPr>
            <a:picLocks noChangeAspect="1"/>
          </p:cNvPicPr>
          <p:nvPr/>
        </p:nvPicPr>
        <p:blipFill>
          <a:blip r:embed="rId2"/>
          <a:stretch>
            <a:fillRect/>
          </a:stretch>
        </p:blipFill>
        <p:spPr>
          <a:xfrm>
            <a:off x="3898289" y="3429000"/>
            <a:ext cx="1338679" cy="763172"/>
          </a:xfrm>
          <a:prstGeom prst="rect">
            <a:avLst/>
          </a:prstGeom>
        </p:spPr>
      </p:pic>
    </p:spTree>
    <p:extLst>
      <p:ext uri="{BB962C8B-B14F-4D97-AF65-F5344CB8AC3E}">
        <p14:creationId xmlns:p14="http://schemas.microsoft.com/office/powerpoint/2010/main" val="1819440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713130" y="42177"/>
            <a:ext cx="10765739" cy="774995"/>
          </a:xfrm>
        </p:spPr>
        <p:txBody>
          <a:bodyPr>
            <a:normAutofit/>
          </a:bodyPr>
          <a:lstStyle/>
          <a:p>
            <a:r>
              <a:rPr lang="en-US" sz="3200" b="1" dirty="0"/>
              <a:t>Digital Phase detector</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3" y="834887"/>
            <a:ext cx="7050694" cy="59809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2000" dirty="0"/>
          </a:p>
        </p:txBody>
      </p:sp>
      <p:pic>
        <p:nvPicPr>
          <p:cNvPr id="5" name="Picture 4">
            <a:extLst>
              <a:ext uri="{FF2B5EF4-FFF2-40B4-BE49-F238E27FC236}">
                <a16:creationId xmlns:a16="http://schemas.microsoft.com/office/drawing/2014/main" id="{593DC39B-A510-481E-A9C9-92407524269E}"/>
              </a:ext>
            </a:extLst>
          </p:cNvPr>
          <p:cNvPicPr>
            <a:picLocks noChangeAspect="1"/>
          </p:cNvPicPr>
          <p:nvPr/>
        </p:nvPicPr>
        <p:blipFill>
          <a:blip r:embed="rId2"/>
          <a:stretch>
            <a:fillRect/>
          </a:stretch>
        </p:blipFill>
        <p:spPr>
          <a:xfrm>
            <a:off x="593568" y="2714719"/>
            <a:ext cx="7360241" cy="3911367"/>
          </a:xfrm>
          <a:prstGeom prst="rect">
            <a:avLst/>
          </a:prstGeom>
        </p:spPr>
      </p:pic>
      <p:pic>
        <p:nvPicPr>
          <p:cNvPr id="7" name="Picture 6">
            <a:extLst>
              <a:ext uri="{FF2B5EF4-FFF2-40B4-BE49-F238E27FC236}">
                <a16:creationId xmlns:a16="http://schemas.microsoft.com/office/drawing/2014/main" id="{4F38DFDE-DC18-453F-ACA9-D713BA0237B4}"/>
              </a:ext>
            </a:extLst>
          </p:cNvPr>
          <p:cNvPicPr>
            <a:picLocks noChangeAspect="1"/>
          </p:cNvPicPr>
          <p:nvPr/>
        </p:nvPicPr>
        <p:blipFill>
          <a:blip r:embed="rId3"/>
          <a:stretch>
            <a:fillRect/>
          </a:stretch>
        </p:blipFill>
        <p:spPr>
          <a:xfrm>
            <a:off x="6069886" y="429674"/>
            <a:ext cx="6122114" cy="2994991"/>
          </a:xfrm>
          <a:prstGeom prst="rect">
            <a:avLst/>
          </a:prstGeom>
        </p:spPr>
      </p:pic>
    </p:spTree>
    <p:extLst>
      <p:ext uri="{BB962C8B-B14F-4D97-AF65-F5344CB8AC3E}">
        <p14:creationId xmlns:p14="http://schemas.microsoft.com/office/powerpoint/2010/main" val="411132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713130" y="42177"/>
            <a:ext cx="10765739" cy="774995"/>
          </a:xfrm>
        </p:spPr>
        <p:txBody>
          <a:bodyPr>
            <a:normAutofit/>
          </a:bodyPr>
          <a:lstStyle/>
          <a:p>
            <a:r>
              <a:rPr lang="en-US" sz="3200" b="1" dirty="0"/>
              <a:t>SR Flip flop Phase detector</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3" y="834887"/>
            <a:ext cx="9315592" cy="59809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t>Uses an RS latch built using NOR gates.</a:t>
            </a:r>
          </a:p>
          <a:p>
            <a:pPr algn="just"/>
            <a:r>
              <a:rPr lang="en-US" sz="2000" dirty="0"/>
              <a:t>Input frequency =set</a:t>
            </a:r>
          </a:p>
          <a:p>
            <a:pPr algn="just"/>
            <a:r>
              <a:rPr lang="en-US" sz="2000" dirty="0"/>
              <a:t>VCO output=reset</a:t>
            </a:r>
          </a:p>
          <a:p>
            <a:pPr algn="just"/>
            <a:r>
              <a:rPr lang="en-US" sz="2000" dirty="0"/>
              <a:t>input edge arrives → output set HIGH</a:t>
            </a:r>
          </a:p>
          <a:p>
            <a:pPr algn="just"/>
            <a:r>
              <a:rPr lang="en-US" sz="2000" dirty="0"/>
              <a:t>VCO edge arrives → output reset LOW</a:t>
            </a:r>
          </a:p>
          <a:p>
            <a:pPr algn="just"/>
            <a:r>
              <a:rPr lang="en-US" sz="2000" dirty="0"/>
              <a:t>Therefore the output remains HIGH during the time difference between the edges.</a:t>
            </a:r>
          </a:p>
          <a:p>
            <a:r>
              <a:rPr lang="en-US" sz="2000" dirty="0"/>
              <a:t>The </a:t>
            </a:r>
            <a:r>
              <a:rPr lang="en-US" sz="2000" b="1" dirty="0"/>
              <a:t>average value of Q output</a:t>
            </a:r>
          </a:p>
          <a:p>
            <a:r>
              <a:rPr lang="en-US" sz="2000" dirty="0" err="1"/>
              <a:t>Vdc∝phase</a:t>
            </a:r>
            <a:r>
              <a:rPr lang="en-US" sz="2000" dirty="0"/>
              <a:t> difference</a:t>
            </a:r>
            <a:endParaRPr lang="en-US" sz="2000" b="1" dirty="0"/>
          </a:p>
          <a:p>
            <a:r>
              <a:rPr lang="en-US" sz="2000" dirty="0"/>
              <a:t>Advantages Compared to XOR detector:</a:t>
            </a:r>
          </a:p>
          <a:p>
            <a:r>
              <a:rPr lang="en-US" sz="2000" dirty="0"/>
              <a:t>Linear over full 360°</a:t>
            </a:r>
          </a:p>
          <a:p>
            <a:r>
              <a:rPr lang="en-US" sz="2000" dirty="0"/>
              <a:t>Better capture range</a:t>
            </a:r>
          </a:p>
          <a:p>
            <a:r>
              <a:rPr lang="en-US" sz="2000" dirty="0"/>
              <a:t>Better lock stability</a:t>
            </a:r>
          </a:p>
          <a:p>
            <a:r>
              <a:rPr lang="en-US" sz="2000" dirty="0"/>
              <a:t>Better tracking performance</a:t>
            </a:r>
          </a:p>
          <a:p>
            <a:pPr marL="0" indent="0">
              <a:buNone/>
            </a:pPr>
            <a:r>
              <a:rPr lang="en-US" sz="2000" dirty="0"/>
              <a:t>	</a:t>
            </a:r>
          </a:p>
        </p:txBody>
      </p:sp>
      <p:pic>
        <p:nvPicPr>
          <p:cNvPr id="5" name="Picture 4">
            <a:extLst>
              <a:ext uri="{FF2B5EF4-FFF2-40B4-BE49-F238E27FC236}">
                <a16:creationId xmlns:a16="http://schemas.microsoft.com/office/drawing/2014/main" id="{1B61EA13-1C4A-422F-9099-2FBEE0506F43}"/>
              </a:ext>
            </a:extLst>
          </p:cNvPr>
          <p:cNvPicPr>
            <a:picLocks noChangeAspect="1"/>
          </p:cNvPicPr>
          <p:nvPr/>
        </p:nvPicPr>
        <p:blipFill>
          <a:blip r:embed="rId2"/>
          <a:stretch>
            <a:fillRect/>
          </a:stretch>
        </p:blipFill>
        <p:spPr>
          <a:xfrm>
            <a:off x="6736227" y="3260113"/>
            <a:ext cx="4742642" cy="3482454"/>
          </a:xfrm>
          <a:prstGeom prst="rect">
            <a:avLst/>
          </a:prstGeom>
        </p:spPr>
      </p:pic>
      <p:pic>
        <p:nvPicPr>
          <p:cNvPr id="6" name="Picture 5">
            <a:extLst>
              <a:ext uri="{FF2B5EF4-FFF2-40B4-BE49-F238E27FC236}">
                <a16:creationId xmlns:a16="http://schemas.microsoft.com/office/drawing/2014/main" id="{2082EB0F-FFD3-40D1-81A1-A177FECFE9F6}"/>
              </a:ext>
            </a:extLst>
          </p:cNvPr>
          <p:cNvPicPr>
            <a:picLocks noChangeAspect="1"/>
          </p:cNvPicPr>
          <p:nvPr/>
        </p:nvPicPr>
        <p:blipFill>
          <a:blip r:embed="rId3"/>
          <a:stretch>
            <a:fillRect/>
          </a:stretch>
        </p:blipFill>
        <p:spPr>
          <a:xfrm>
            <a:off x="5245859" y="115433"/>
            <a:ext cx="6159345" cy="2571496"/>
          </a:xfrm>
          <a:prstGeom prst="rect">
            <a:avLst/>
          </a:prstGeom>
        </p:spPr>
      </p:pic>
    </p:spTree>
    <p:extLst>
      <p:ext uri="{BB962C8B-B14F-4D97-AF65-F5344CB8AC3E}">
        <p14:creationId xmlns:p14="http://schemas.microsoft.com/office/powerpoint/2010/main" val="3135599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713130" y="42177"/>
            <a:ext cx="10765739" cy="774995"/>
          </a:xfrm>
        </p:spPr>
        <p:txBody>
          <a:bodyPr>
            <a:normAutofit/>
          </a:bodyPr>
          <a:lstStyle/>
          <a:p>
            <a:r>
              <a:rPr lang="en-US" sz="3200" b="1" dirty="0"/>
              <a:t>Low pass filter</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3" y="834887"/>
            <a:ext cx="9315592" cy="59809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t>Uses an RS latch built using NOR gates.</a:t>
            </a:r>
          </a:p>
          <a:p>
            <a:pPr algn="just"/>
            <a:endParaRPr lang="en-US" sz="2000" dirty="0"/>
          </a:p>
        </p:txBody>
      </p:sp>
      <p:pic>
        <p:nvPicPr>
          <p:cNvPr id="4" name="Picture 3">
            <a:extLst>
              <a:ext uri="{FF2B5EF4-FFF2-40B4-BE49-F238E27FC236}">
                <a16:creationId xmlns:a16="http://schemas.microsoft.com/office/drawing/2014/main" id="{B90EF4B9-BA01-4EFC-9EA5-16B7E8C69854}"/>
              </a:ext>
            </a:extLst>
          </p:cNvPr>
          <p:cNvPicPr>
            <a:picLocks noChangeAspect="1"/>
          </p:cNvPicPr>
          <p:nvPr/>
        </p:nvPicPr>
        <p:blipFill>
          <a:blip r:embed="rId2"/>
          <a:stretch>
            <a:fillRect/>
          </a:stretch>
        </p:blipFill>
        <p:spPr>
          <a:xfrm>
            <a:off x="588063" y="912129"/>
            <a:ext cx="4756502" cy="2794781"/>
          </a:xfrm>
          <a:prstGeom prst="rect">
            <a:avLst/>
          </a:prstGeom>
        </p:spPr>
      </p:pic>
      <p:pic>
        <p:nvPicPr>
          <p:cNvPr id="7" name="Picture 6">
            <a:extLst>
              <a:ext uri="{FF2B5EF4-FFF2-40B4-BE49-F238E27FC236}">
                <a16:creationId xmlns:a16="http://schemas.microsoft.com/office/drawing/2014/main" id="{3C731E84-6F65-479A-A7F5-0D347595778F}"/>
              </a:ext>
            </a:extLst>
          </p:cNvPr>
          <p:cNvPicPr>
            <a:picLocks noChangeAspect="1"/>
          </p:cNvPicPr>
          <p:nvPr/>
        </p:nvPicPr>
        <p:blipFill>
          <a:blip r:embed="rId3"/>
          <a:stretch>
            <a:fillRect/>
          </a:stretch>
        </p:blipFill>
        <p:spPr>
          <a:xfrm>
            <a:off x="2288345" y="3726546"/>
            <a:ext cx="7928700" cy="3089276"/>
          </a:xfrm>
          <a:prstGeom prst="rect">
            <a:avLst/>
          </a:prstGeom>
        </p:spPr>
      </p:pic>
    </p:spTree>
    <p:extLst>
      <p:ext uri="{BB962C8B-B14F-4D97-AF65-F5344CB8AC3E}">
        <p14:creationId xmlns:p14="http://schemas.microsoft.com/office/powerpoint/2010/main" val="2518588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713130" y="42177"/>
            <a:ext cx="10765739" cy="774995"/>
          </a:xfrm>
        </p:spPr>
        <p:txBody>
          <a:bodyPr>
            <a:normAutofit/>
          </a:bodyPr>
          <a:lstStyle/>
          <a:p>
            <a:r>
              <a:rPr lang="en-US" sz="3200" b="1" dirty="0"/>
              <a:t>VCO</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3" y="834887"/>
            <a:ext cx="9315592" cy="59809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t>Uses an RS latch built using NOR gates.</a:t>
            </a:r>
          </a:p>
          <a:p>
            <a:pPr algn="just"/>
            <a:endParaRPr lang="en-US" sz="2000" dirty="0"/>
          </a:p>
        </p:txBody>
      </p:sp>
      <p:pic>
        <p:nvPicPr>
          <p:cNvPr id="3" name="Picture 2">
            <a:extLst>
              <a:ext uri="{FF2B5EF4-FFF2-40B4-BE49-F238E27FC236}">
                <a16:creationId xmlns:a16="http://schemas.microsoft.com/office/drawing/2014/main" id="{17834529-CC0F-4A68-B472-472D2D772D76}"/>
              </a:ext>
            </a:extLst>
          </p:cNvPr>
          <p:cNvPicPr>
            <a:picLocks noChangeAspect="1"/>
          </p:cNvPicPr>
          <p:nvPr/>
        </p:nvPicPr>
        <p:blipFill>
          <a:blip r:embed="rId2"/>
          <a:stretch>
            <a:fillRect/>
          </a:stretch>
        </p:blipFill>
        <p:spPr>
          <a:xfrm>
            <a:off x="819566" y="685019"/>
            <a:ext cx="10152395" cy="5980935"/>
          </a:xfrm>
          <a:prstGeom prst="rect">
            <a:avLst/>
          </a:prstGeom>
        </p:spPr>
      </p:pic>
    </p:spTree>
    <p:extLst>
      <p:ext uri="{BB962C8B-B14F-4D97-AF65-F5344CB8AC3E}">
        <p14:creationId xmlns:p14="http://schemas.microsoft.com/office/powerpoint/2010/main" val="3541382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719</TotalTime>
  <Words>804</Words>
  <Application>Microsoft Office PowerPoint</Application>
  <PresentationFormat>Widescreen</PresentationFormat>
  <Paragraphs>82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Phase Locked Loop (PLL)</vt:lpstr>
      <vt:lpstr>Phase Locked Loop (PLL)</vt:lpstr>
      <vt:lpstr>Phase detector</vt:lpstr>
      <vt:lpstr>Analog Phase detector</vt:lpstr>
      <vt:lpstr>Analog Phase detector</vt:lpstr>
      <vt:lpstr>Digital Phase detector</vt:lpstr>
      <vt:lpstr>Digital Phase detector</vt:lpstr>
      <vt:lpstr>SR Flip flop Phase detector</vt:lpstr>
      <vt:lpstr>Low pass filter</vt:lpstr>
      <vt:lpstr>VCO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 555 Timer</dc:title>
  <dc:creator>M S Krishna</dc:creator>
  <cp:lastModifiedBy>M S Krishna</cp:lastModifiedBy>
  <cp:revision>64</cp:revision>
  <dcterms:created xsi:type="dcterms:W3CDTF">2026-03-10T17:04:49Z</dcterms:created>
  <dcterms:modified xsi:type="dcterms:W3CDTF">2026-03-21T04:09:37Z</dcterms:modified>
</cp:coreProperties>
</file>