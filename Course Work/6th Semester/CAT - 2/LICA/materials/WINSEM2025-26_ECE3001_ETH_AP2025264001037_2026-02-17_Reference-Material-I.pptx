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680" r:id="rId2"/>
    <p:sldId id="738" r:id="rId3"/>
    <p:sldId id="739" r:id="rId4"/>
    <p:sldId id="740" r:id="rId5"/>
    <p:sldId id="741" r:id="rId6"/>
    <p:sldId id="744" r:id="rId7"/>
    <p:sldId id="743" r:id="rId8"/>
    <p:sldId id="745" r:id="rId9"/>
    <p:sldId id="742" r:id="rId10"/>
    <p:sldId id="746" r:id="rId11"/>
    <p:sldId id="774" r:id="rId12"/>
    <p:sldId id="747" r:id="rId13"/>
    <p:sldId id="748" r:id="rId14"/>
    <p:sldId id="749" r:id="rId15"/>
    <p:sldId id="750" r:id="rId16"/>
    <p:sldId id="751" r:id="rId17"/>
    <p:sldId id="752" r:id="rId18"/>
    <p:sldId id="754" r:id="rId19"/>
    <p:sldId id="755" r:id="rId20"/>
    <p:sldId id="756" r:id="rId21"/>
    <p:sldId id="757" r:id="rId22"/>
    <p:sldId id="758" r:id="rId23"/>
    <p:sldId id="759" r:id="rId24"/>
    <p:sldId id="760" r:id="rId25"/>
    <p:sldId id="761" r:id="rId26"/>
    <p:sldId id="762" r:id="rId27"/>
    <p:sldId id="763" r:id="rId28"/>
    <p:sldId id="764" r:id="rId29"/>
    <p:sldId id="765" r:id="rId30"/>
    <p:sldId id="766" r:id="rId31"/>
    <p:sldId id="767" r:id="rId32"/>
    <p:sldId id="768" r:id="rId33"/>
    <p:sldId id="769" r:id="rId34"/>
    <p:sldId id="770" r:id="rId35"/>
    <p:sldId id="772" r:id="rId36"/>
    <p:sldId id="771" r:id="rId37"/>
    <p:sldId id="773" r:id="rId38"/>
    <p:sldId id="775" r:id="rId39"/>
    <p:sldId id="776" r:id="rId40"/>
    <p:sldId id="7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C7D34-3959-44CD-B271-AC4B20E0CCA3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D0F69-0C55-497B-8643-A10F02F6CB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2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02F7-8672-5B0E-A5B4-8B34C99EE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99B6E-2821-AB26-9E40-C7EACB7DD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904-4CE2-BB9D-D3B6-BE6972B4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ED9A5-0133-30B3-DFCA-0F81C321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E07C-E439-6186-42D3-5379C2D6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4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FD4C-2E55-C5C3-9CD7-CCA2B5F0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9525-B408-8939-6F4C-CF369326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6150E-818E-E14B-B243-84509331E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DA880-72C0-B5CF-6470-1DAD552F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E6B3-756B-F98F-D5A9-10C64B37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6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0B5E-F10C-1235-7DD9-654F7C95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C27AF-BD75-7D5C-6C88-A851B7A1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A950E-9E32-C70F-20DB-B9702788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4EFF-6F25-2FE4-B52F-A95E8D31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AE5FC-9230-76B1-C63B-6BB849AC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5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1549-CD18-AD34-9572-2845A4CF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FF3E5-00EF-C320-AB84-B0A6939A4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3EB3F-E5A5-0B2A-8B75-448480321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9B8EF-1E91-C041-662E-A27A7D4C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7ADD-975C-3D80-8714-90154B93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54D3E-FC56-F043-E657-56964977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60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8C76-4B85-C97D-7212-803412FFA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4BB80-916C-DA52-643A-2D34D243B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A7D96-68D0-00CE-F587-D64A4DF92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38895-254C-E3C6-5435-0F4558509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88805-1D67-10F7-95D0-3A3C8FFFF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66E2C-332E-E682-70E0-82610E8F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D65446-3D94-7C0D-4934-81DE1764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13A5D-9C8B-0648-0990-07BFD6B4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0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F282-8468-0FD0-92E3-C7CEDA12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7FBBC-2BCB-7011-9CDB-98C4FE8F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5EDFB-71F0-3CC5-8A0C-6495C43C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B03F2-2A8F-DC03-067B-5C846171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86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E52602-B362-7CD2-227D-43055946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9BD08-128D-0F6A-2F8F-050616CA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C61CA-792C-6390-636D-D29AD0CB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59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A165-338F-FF2A-FED3-40043D46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8A43E-6F04-8391-B16B-93A087A64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E8942-D366-BC32-9880-7477D19E2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34FC9-3270-D311-DEA5-88751850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4C366-5BB8-4E2F-AA21-2EB3F55F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E3CDC-500D-58F0-AF5A-0FE0D14D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3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ED05-7371-E2E3-738D-DCDD971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3EE5A3-E5B7-DC7D-1E76-290DF61CC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4AB0E-D801-AA28-919D-4347925AF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B0DD2-3FC4-96CB-0E25-2E045E480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A1A73-2AC8-6DCA-E4FB-3BE608D8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97E21-0120-A692-161F-E0ADCA7A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21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53D0-ABB4-1024-BBEF-EBB0C103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29043-A2E4-44F8-2AA8-AE4830A08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5025C-3598-B7C3-BC2B-E0AE59ED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98212-50A8-9589-4C92-A02BA085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1A80-DD9B-1598-B20B-BD66AD74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3085A-AE19-7AA9-DC79-57AE296FA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35E74-A104-F62D-4C70-A9D5FE5D0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3F883-B38B-8EFF-28A2-976F768A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DA437-E3A0-08C0-54A7-9D60B982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0AAF1-00C3-F5EA-4459-59E0A18A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711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CCF01-76F7-D2D8-E5EB-8527E4C1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27A1B-7B37-C0F4-F6E5-A95316AB5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BD1DC-0CE2-81E5-3A56-8FCF3D4E3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5C6C4-792A-45FA-8D09-E89EB5A08A8E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D760D-422B-1897-80EE-13672A87A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CF3C8-E617-5418-CE43-FC7E58F0E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8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0B79A6-2E20-C2F7-1391-CDA67341A6FB}"/>
              </a:ext>
            </a:extLst>
          </p:cNvPr>
          <p:cNvSpPr txBox="1">
            <a:spLocks/>
          </p:cNvSpPr>
          <p:nvPr/>
        </p:nvSpPr>
        <p:spPr>
          <a:xfrm>
            <a:off x="62584" y="129744"/>
            <a:ext cx="10538078" cy="6655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2: Op-Amp Applications</a:t>
            </a:r>
            <a:endParaRPr lang="en-US" sz="3200" b="1" dirty="0">
              <a:solidFill>
                <a:schemeClr val="accent5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EAB7F7-FC8E-1905-FC44-A5E437ED63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811" y="2276178"/>
            <a:ext cx="10319141" cy="18717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Op-amp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Amplifiers, Instrumentation Amplifier, Isolation amplifier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8E333-90D1-5384-F938-F8E576E6DA3E}"/>
              </a:ext>
            </a:extLst>
          </p:cNvPr>
          <p:cNvSpPr txBox="1"/>
          <p:nvPr/>
        </p:nvSpPr>
        <p:spPr>
          <a:xfrm>
            <a:off x="532793" y="5374053"/>
            <a:ext cx="11125200" cy="9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 – preparation: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Materials and LIC Text book by ROY Choudhury, sixth edition, 2022.</a:t>
            </a:r>
          </a:p>
        </p:txBody>
      </p:sp>
      <p:pic>
        <p:nvPicPr>
          <p:cNvPr id="1026" name="Picture 2" descr="VIT-AP University - Wikipedia">
            <a:extLst>
              <a:ext uri="{FF2B5EF4-FFF2-40B4-BE49-F238E27FC236}">
                <a16:creationId xmlns:a16="http://schemas.microsoft.com/office/drawing/2014/main" id="{7A0C0248-CACC-9B28-EF4D-C496B3EDC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409" y="230367"/>
            <a:ext cx="1358900" cy="11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AE8A77-77BA-729D-C5D7-3215573E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85" y="6480301"/>
            <a:ext cx="12129416" cy="365126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VIT-AP University                                              Linear Integrated Circuits                                      Dr. M. Sankush Krishna</a:t>
            </a:r>
          </a:p>
        </p:txBody>
      </p:sp>
    </p:spTree>
    <p:extLst>
      <p:ext uri="{BB962C8B-B14F-4D97-AF65-F5344CB8AC3E}">
        <p14:creationId xmlns:p14="http://schemas.microsoft.com/office/powerpoint/2010/main" val="164337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1331353"/>
          </a:xfrm>
        </p:spPr>
        <p:txBody>
          <a:bodyPr/>
          <a:lstStyle/>
          <a:p>
            <a:r>
              <a:rPr lang="en-US" dirty="0"/>
              <a:t>Differential Amplifier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9BFC6-3ED8-FEFD-F2AD-DB63A925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8" y="1391246"/>
            <a:ext cx="6686247" cy="479150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Differential Amplifier with single Op-amp is similar to a difference Op-Amp.</a:t>
            </a:r>
          </a:p>
          <a:p>
            <a:pPr algn="just"/>
            <a:r>
              <a:rPr lang="en-US" sz="2400" dirty="0"/>
              <a:t>Using superposition, when one input is grounded, the circuit behaves as an inverting or non-inverting amplifier, depending on which input is active.</a:t>
            </a:r>
          </a:p>
          <a:p>
            <a:pPr algn="just"/>
            <a:r>
              <a:rPr lang="en-US" sz="2400" dirty="0"/>
              <a:t>When both inputs are applied, the output voltage becomes Vo = Vi1 − Vi2, confirming differential amplifier operation.</a:t>
            </a:r>
          </a:p>
          <a:p>
            <a:pPr algn="just"/>
            <a:r>
              <a:rPr lang="en-US" sz="2400" dirty="0"/>
              <a:t>In practical op-amps, resistor mismatch causes a small common-mode output, defined using </a:t>
            </a:r>
            <a:r>
              <a:rPr lang="en-US" sz="2400" dirty="0" err="1"/>
              <a:t>Vcm</a:t>
            </a:r>
            <a:r>
              <a:rPr lang="en-US" sz="2400" dirty="0"/>
              <a:t> = (Vi1 + Vi2)/2.</a:t>
            </a:r>
          </a:p>
          <a:p>
            <a:pPr algn="just"/>
            <a:r>
              <a:rPr lang="en-US" sz="2400" dirty="0"/>
              <a:t>The quality of a differential amplifier is measured by CMRR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93151-DB04-49EE-8593-4EC21DE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045" y="398336"/>
            <a:ext cx="4819955" cy="3326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4D3C1C-D7C3-49ED-8006-874B8A485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633" y="4051624"/>
            <a:ext cx="4138779" cy="90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9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33B5-4F22-4DCF-AD79-AEC5BF728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952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Differential Amplifier with two Op-Amps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033A-BBC8-4F88-A6A1-3367FBC08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078"/>
            <a:ext cx="4833729" cy="512188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 two-op-amp differential amplifier increases gain and input resistance compared to a single op-amp configuration.</a:t>
            </a:r>
          </a:p>
          <a:p>
            <a:pPr algn="just"/>
            <a:r>
              <a:rPr lang="en-US" dirty="0"/>
              <a:t>The first stage (A</a:t>
            </a:r>
            <a:r>
              <a:rPr lang="en-US" baseline="-25000" dirty="0"/>
              <a:t>1</a:t>
            </a:r>
            <a:r>
              <a:rPr lang="en-US" dirty="0"/>
              <a:t>) is a non-inverting amplifier, producing V</a:t>
            </a:r>
            <a:r>
              <a:rPr lang="en-US" baseline="-25000" dirty="0"/>
              <a:t>o1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second stage (A</a:t>
            </a:r>
            <a:r>
              <a:rPr lang="en-US" baseline="-25000" dirty="0"/>
              <a:t>2</a:t>
            </a:r>
            <a:r>
              <a:rPr lang="en-US" dirty="0"/>
              <a:t>) acts as a differential amplifier, amplifying V</a:t>
            </a:r>
            <a:r>
              <a:rPr lang="en-US" baseline="-25000" dirty="0"/>
              <a:t>i2</a:t>
            </a:r>
            <a:r>
              <a:rPr lang="en-US" dirty="0"/>
              <a:t> and V</a:t>
            </a:r>
            <a:r>
              <a:rPr lang="en-US" baseline="-25000" dirty="0"/>
              <a:t>o1</a:t>
            </a:r>
            <a:r>
              <a:rPr lang="en-US" dirty="0"/>
              <a:t> with opposite polarities.</a:t>
            </a:r>
          </a:p>
          <a:p>
            <a:pPr algn="just"/>
            <a:r>
              <a:rPr lang="en-US" dirty="0"/>
              <a:t>With R</a:t>
            </a:r>
            <a:r>
              <a:rPr lang="en-US" baseline="-25000" dirty="0"/>
              <a:t>f</a:t>
            </a:r>
            <a:r>
              <a:rPr lang="en-US" dirty="0"/>
              <a:t> = R</a:t>
            </a:r>
            <a:r>
              <a:rPr lang="en-US" baseline="-25000" dirty="0"/>
              <a:t>3</a:t>
            </a:r>
            <a:r>
              <a:rPr lang="en-US" dirty="0"/>
              <a:t> and R</a:t>
            </a:r>
            <a:r>
              <a:rPr lang="en-US" baseline="-25000" dirty="0"/>
              <a:t>1</a:t>
            </a:r>
            <a:r>
              <a:rPr lang="en-US" dirty="0"/>
              <a:t> = R</a:t>
            </a:r>
            <a:r>
              <a:rPr lang="en-US" baseline="-25000" dirty="0"/>
              <a:t>2</a:t>
            </a:r>
            <a:r>
              <a:rPr lang="en-US" dirty="0"/>
              <a:t>, the output depends on the difference V</a:t>
            </a:r>
            <a:r>
              <a:rPr lang="en-US" baseline="-25000" dirty="0"/>
              <a:t>id</a:t>
            </a:r>
            <a:r>
              <a:rPr lang="en-US" dirty="0"/>
              <a:t> = V</a:t>
            </a:r>
            <a:r>
              <a:rPr lang="en-US" baseline="-25000" dirty="0"/>
              <a:t>i2</a:t>
            </a:r>
            <a:r>
              <a:rPr lang="en-US" dirty="0"/>
              <a:t> − V</a:t>
            </a:r>
            <a:r>
              <a:rPr lang="en-US" baseline="-25000" dirty="0"/>
              <a:t>i1</a:t>
            </a:r>
          </a:p>
          <a:p>
            <a:pPr algn="just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811AE-F980-4256-96BF-8728DA663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929" y="1225722"/>
            <a:ext cx="6520071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3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C15D6C-02D7-4D0E-9FB3-CCB8EA216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490" y="1872456"/>
            <a:ext cx="4229100" cy="11334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30EE1C-CA6A-4D2E-B13F-1CE8F1B08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062" y="530087"/>
            <a:ext cx="2533650" cy="110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E67E55-58B8-460B-8E66-7F1DC0179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90" y="3282086"/>
            <a:ext cx="5391150" cy="1228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26E192-A907-4238-9BC9-EBB8CBBEB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340" y="4741246"/>
            <a:ext cx="3524250" cy="1047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A03E40-C5ED-4225-A8AF-AB6B7F6FD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753" y="5055571"/>
            <a:ext cx="56864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33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4805"/>
          </a:xfrm>
        </p:spPr>
        <p:txBody>
          <a:bodyPr/>
          <a:lstStyle/>
          <a:p>
            <a:r>
              <a:rPr lang="en-IN" dirty="0"/>
              <a:t>Instrumentation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F657-724A-498A-B66A-0C3EF073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930"/>
            <a:ext cx="10515600" cy="5077033"/>
          </a:xfrm>
        </p:spPr>
        <p:txBody>
          <a:bodyPr/>
          <a:lstStyle/>
          <a:p>
            <a:r>
              <a:rPr lang="en-US" dirty="0"/>
              <a:t>Industrial transducers (temperature, pressure, humidity, light, strain gauges, etc.) produce very small signals typically µV to mV.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FAAEC4-4AA3-4E8A-942A-3177122A2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708" y="2281651"/>
            <a:ext cx="7482015" cy="448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3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4805"/>
          </a:xfrm>
        </p:spPr>
        <p:txBody>
          <a:bodyPr/>
          <a:lstStyle/>
          <a:p>
            <a:r>
              <a:rPr lang="en-IN" dirty="0"/>
              <a:t>Instrumentation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F657-724A-498A-B66A-0C3EF073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930"/>
            <a:ext cx="10515600" cy="5077033"/>
          </a:xfrm>
        </p:spPr>
        <p:txBody>
          <a:bodyPr/>
          <a:lstStyle/>
          <a:p>
            <a:r>
              <a:rPr lang="en-US" dirty="0"/>
              <a:t>Industrial transducers (temperature, pressure, humidity, light, strain gauges, etc.) produce very small signals typically µV to mV.</a:t>
            </a:r>
          </a:p>
          <a:p>
            <a:r>
              <a:rPr lang="en-US" dirty="0"/>
              <a:t>These signals ride on large common-mode voltages (noise, ground offsets, interference).</a:t>
            </a:r>
          </a:p>
          <a:p>
            <a:r>
              <a:rPr lang="en-US" dirty="0"/>
              <a:t>Hence, a special amplifier topology is required → Instrumentation Amplifier (IA).</a:t>
            </a:r>
          </a:p>
          <a:p>
            <a:r>
              <a:rPr lang="en-US" dirty="0"/>
              <a:t>For the basic difference amplifier: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D4861-3703-4D95-A3FA-36231E0A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463" y="4324278"/>
            <a:ext cx="3686590" cy="1570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323E55-930B-478E-B9AC-2DFE1991A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145" y="6056259"/>
            <a:ext cx="2181225" cy="771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351DD7-132A-4B42-A72A-2A40BA444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73" y="6038850"/>
            <a:ext cx="15144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0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A577-5B2D-4125-9196-B883E51EC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Limitations of difference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50E62-275D-4158-98C5-B0DE38BE5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5754"/>
            <a:ext cx="10515600" cy="4981209"/>
          </a:xfrm>
        </p:spPr>
        <p:txBody>
          <a:bodyPr/>
          <a:lstStyle/>
          <a:p>
            <a:r>
              <a:rPr lang="en-US" dirty="0"/>
              <a:t>CMRR depends entirely on resistor matching</a:t>
            </a:r>
          </a:p>
          <a:p>
            <a:r>
              <a:rPr lang="en-US" dirty="0"/>
              <a:t>Gain adjustment requires changing multiple resistors</a:t>
            </a:r>
          </a:p>
          <a:p>
            <a:r>
              <a:rPr lang="en-IN" dirty="0"/>
              <a:t>High gain requires large R</a:t>
            </a:r>
            <a:r>
              <a:rPr lang="en-IN" baseline="-25000" dirty="0"/>
              <a:t>2</a:t>
            </a:r>
            <a:r>
              <a:rPr lang="en-IN" dirty="0"/>
              <a:t>/R</a:t>
            </a:r>
            <a:r>
              <a:rPr lang="en-IN" baseline="-25000" dirty="0"/>
              <a:t>1</a:t>
            </a:r>
            <a:r>
              <a:rPr lang="en-IN" dirty="0"/>
              <a:t>​, which increases noise and resistor mismatch error.</a:t>
            </a:r>
          </a:p>
          <a:p>
            <a:r>
              <a:rPr lang="en-US" dirty="0"/>
              <a:t>The three-op-amp instrumentation amplifier consists of:</a:t>
            </a:r>
          </a:p>
          <a:p>
            <a:pPr lvl="1"/>
            <a:r>
              <a:rPr lang="en-US" dirty="0"/>
              <a:t>Differential Input Buffer Stage (A1, A2)</a:t>
            </a:r>
          </a:p>
          <a:p>
            <a:pPr lvl="1"/>
            <a:r>
              <a:rPr lang="en-IN" dirty="0"/>
              <a:t>Difference Amplifier Stage (A3)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5921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A577-5B2D-4125-9196-B883E51EC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Schematic of Instrumentation amplifier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2009CE-2C7B-415F-A143-B6C595BCC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3328" y="1143415"/>
            <a:ext cx="7096125" cy="4343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F3915-B30B-4310-AFBA-37D047613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58" y="1260524"/>
            <a:ext cx="3705225" cy="876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F09D8C-0E35-447A-A5E4-081FFEE78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58" y="2136824"/>
            <a:ext cx="4219575" cy="76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6FAFA5-216B-4D40-8FB2-DBA5F5B4C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80" y="3089325"/>
            <a:ext cx="4162425" cy="838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6FF219-2D2E-412E-8716-FCBECA6BC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58" y="4257162"/>
            <a:ext cx="31908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46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Merits of Instrumentation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F657-724A-498A-B66A-0C3EF073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1"/>
            <a:ext cx="10515600" cy="5010772"/>
          </a:xfrm>
        </p:spPr>
        <p:txBody>
          <a:bodyPr/>
          <a:lstStyle/>
          <a:p>
            <a:r>
              <a:rPr lang="en-US" dirty="0"/>
              <a:t>Gain depends on only one resistor 𝑅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Resistor matching in stage 2 is fixed and factory-trimmed</a:t>
            </a:r>
          </a:p>
          <a:p>
            <a:r>
              <a:rPr lang="en-US" dirty="0"/>
              <a:t>High gain achievable without degrading CMRR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B4B41-A4BF-4726-B34C-2ECAAB925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095" y="1614633"/>
            <a:ext cx="3126015" cy="107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18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4186E2-363C-4B89-BEC5-A30D91ED2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92" y="1448972"/>
            <a:ext cx="10339015" cy="434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55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0B79A6-2E20-C2F7-1391-CDA67341A6FB}"/>
              </a:ext>
            </a:extLst>
          </p:cNvPr>
          <p:cNvSpPr txBox="1">
            <a:spLocks/>
          </p:cNvSpPr>
          <p:nvPr/>
        </p:nvSpPr>
        <p:spPr>
          <a:xfrm>
            <a:off x="62584" y="129744"/>
            <a:ext cx="10538078" cy="6655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2: Op-Amp Applications</a:t>
            </a:r>
            <a:endParaRPr lang="en-US" sz="3200" b="1" dirty="0">
              <a:solidFill>
                <a:schemeClr val="accent5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EAB7F7-FC8E-1905-FC44-A5E437ED63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811" y="2276178"/>
            <a:ext cx="10319141" cy="18717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Op-amp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Rectifier, Log &amp; Anti-log Amplifiers, Schmitt Trigger, Comparator, Sample and Hold Circuits.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8E333-90D1-5384-F938-F8E576E6DA3E}"/>
              </a:ext>
            </a:extLst>
          </p:cNvPr>
          <p:cNvSpPr txBox="1"/>
          <p:nvPr/>
        </p:nvSpPr>
        <p:spPr>
          <a:xfrm>
            <a:off x="532793" y="5374053"/>
            <a:ext cx="11125200" cy="9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 – preparation: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Materials and LIC Text book by ROY Choudhury, sixth edition, 2022.</a:t>
            </a:r>
          </a:p>
        </p:txBody>
      </p:sp>
      <p:pic>
        <p:nvPicPr>
          <p:cNvPr id="1026" name="Picture 2" descr="VIT-AP University - Wikipedia">
            <a:extLst>
              <a:ext uri="{FF2B5EF4-FFF2-40B4-BE49-F238E27FC236}">
                <a16:creationId xmlns:a16="http://schemas.microsoft.com/office/drawing/2014/main" id="{7A0C0248-CACC-9B28-EF4D-C496B3EDC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409" y="230367"/>
            <a:ext cx="1358900" cy="11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AE8A77-77BA-729D-C5D7-3215573E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85" y="6480301"/>
            <a:ext cx="12129416" cy="365126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VIT-AP University                                              Linear Integrated Circuits                                      Dr. M. Sankush Krishna</a:t>
            </a:r>
          </a:p>
        </p:txBody>
      </p:sp>
    </p:spTree>
    <p:extLst>
      <p:ext uri="{BB962C8B-B14F-4D97-AF65-F5344CB8AC3E}">
        <p14:creationId xmlns:p14="http://schemas.microsoft.com/office/powerpoint/2010/main" val="114551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Precision Rectifier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F657-724A-498A-B66A-0C3EF073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1"/>
            <a:ext cx="6927166" cy="50107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Ordinary Si diodes have a cut-in voltage of 0.7 V which impedes efficient rectification</a:t>
            </a:r>
          </a:p>
          <a:p>
            <a:r>
              <a:rPr lang="en-US" dirty="0"/>
              <a:t>The circuit consists of an op-amp with a diode connected in the feedback path. The op-amp has a very high open-loop gain.</a:t>
            </a:r>
          </a:p>
          <a:p>
            <a:r>
              <a:rPr lang="en-US" dirty="0"/>
              <a:t>Because of this large gain, even a very small difference between the input and output causes the op-amp output to swing sufficiently to overcome the diode’s forward voltage. This effectively cancels the 0.7 V drop.</a:t>
            </a:r>
          </a:p>
          <a:p>
            <a:r>
              <a:rPr lang="en-US" dirty="0"/>
              <a:t>When the input voltage becomes positive, the op-amp output also becomes positive due to amplification even if input is 7 </a:t>
            </a:r>
            <a:r>
              <a:rPr lang="en-US" dirty="0" err="1"/>
              <a:t>uV</a:t>
            </a:r>
            <a:r>
              <a:rPr lang="en-US" dirty="0"/>
              <a:t> considering gain of 10</a:t>
            </a:r>
            <a:r>
              <a:rPr lang="en-US" baseline="30000" dirty="0"/>
              <a:t>5</a:t>
            </a:r>
            <a:endParaRPr lang="en-IN" baseline="30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0E780D-72DB-4544-A219-10817AC69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243" y="465431"/>
            <a:ext cx="4611757" cy="2963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19053D-99EE-4FC2-87DF-EF2B56475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66" y="3429000"/>
            <a:ext cx="4592486" cy="2747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6209F7-9443-4545-8A7C-1A0CF1559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633" y="5962650"/>
            <a:ext cx="24765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13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Precision Rectifier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E39BE1-41E0-465A-A4E9-426C9DB95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3024" y="1378580"/>
            <a:ext cx="6776232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63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Precision Inverse Half Wave Rectifier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E827B-B1AE-4D37-A0C2-DA1D4530D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29" y="1356070"/>
            <a:ext cx="10333269" cy="33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20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Precision Full Wave Rectifier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2511C7-5383-4439-B9EF-E59250846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70" y="1080307"/>
            <a:ext cx="10697308" cy="226280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When vi&gt;0: D1 off and D2 ON. V`</a:t>
            </a:r>
            <a:r>
              <a:rPr lang="en-US" baseline="-25000" dirty="0"/>
              <a:t>0</a:t>
            </a:r>
            <a:r>
              <a:rPr lang="en-US" dirty="0"/>
              <a:t>=-vi</a:t>
            </a:r>
          </a:p>
          <a:p>
            <a:r>
              <a:rPr lang="en-US" dirty="0"/>
              <a:t>Now vi through R/2 and vi through R act as inputs to summing amplifier with unity gain. </a:t>
            </a:r>
          </a:p>
          <a:p>
            <a:r>
              <a:rPr lang="en-US" dirty="0"/>
              <a:t>So inputs will be V</a:t>
            </a:r>
            <a:r>
              <a:rPr lang="en-US" baseline="-25000" dirty="0"/>
              <a:t>0</a:t>
            </a:r>
            <a:r>
              <a:rPr lang="en-US" dirty="0"/>
              <a:t>=-2V`</a:t>
            </a:r>
            <a:r>
              <a:rPr lang="en-US" baseline="-25000" dirty="0"/>
              <a:t>0</a:t>
            </a:r>
            <a:r>
              <a:rPr lang="en-US" dirty="0"/>
              <a:t>-vi so V0=vi</a:t>
            </a:r>
          </a:p>
          <a:p>
            <a:r>
              <a:rPr lang="en-US" dirty="0"/>
              <a:t>When vi&lt;0:</a:t>
            </a:r>
          </a:p>
          <a:p>
            <a:r>
              <a:rPr lang="en-US" dirty="0"/>
              <a:t>D1-ON and D2-OFF. V`0 =  0</a:t>
            </a:r>
          </a:p>
          <a:p>
            <a:r>
              <a:rPr lang="en-US" dirty="0"/>
              <a:t>Input to summing amplifier  is only from vi so output V0=-vi. Positive half cycle appears at output.</a:t>
            </a:r>
          </a:p>
          <a:p>
            <a:endParaRPr lang="en-US" dirty="0"/>
          </a:p>
          <a:p>
            <a:endParaRPr lang="en-US" dirty="0"/>
          </a:p>
          <a:p>
            <a:endParaRPr lang="en-IN" baseline="30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16A0CF-DCBE-4906-8200-8ECDE2E9D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" y="3324715"/>
            <a:ext cx="7858125" cy="33528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2DE5D9-83EB-4837-B033-627D60D8BE8D}"/>
              </a:ext>
            </a:extLst>
          </p:cNvPr>
          <p:cNvSpPr txBox="1">
            <a:spLocks/>
          </p:cNvSpPr>
          <p:nvPr/>
        </p:nvSpPr>
        <p:spPr>
          <a:xfrm>
            <a:off x="274834" y="3869711"/>
            <a:ext cx="4185651" cy="2262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aseline="30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6C0D52-62FA-45EB-B707-6B799431E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958" y="3334694"/>
            <a:ext cx="3784207" cy="306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93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Absolute value circuit.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2DE5D9-83EB-4837-B033-627D60D8BE8D}"/>
              </a:ext>
            </a:extLst>
          </p:cNvPr>
          <p:cNvSpPr txBox="1">
            <a:spLocks/>
          </p:cNvSpPr>
          <p:nvPr/>
        </p:nvSpPr>
        <p:spPr>
          <a:xfrm>
            <a:off x="274834" y="3869711"/>
            <a:ext cx="4185651" cy="2262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aseline="30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C14FB2-EC73-46A2-B0E3-97E9AE6E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72" y="2235017"/>
            <a:ext cx="7290068" cy="36754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39D094-1648-4D83-A53C-EE2A77948781}"/>
              </a:ext>
            </a:extLst>
          </p:cNvPr>
          <p:cNvSpPr txBox="1"/>
          <p:nvPr/>
        </p:nvSpPr>
        <p:spPr>
          <a:xfrm>
            <a:off x="838200" y="1234506"/>
            <a:ext cx="10101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The following full wave rectifier converts the negative values to positive values. </a:t>
            </a:r>
          </a:p>
          <a:p>
            <a:r>
              <a:rPr lang="en-IN" sz="2400" dirty="0"/>
              <a:t>Hence called absolute value rectifier.</a:t>
            </a:r>
          </a:p>
        </p:txBody>
      </p:sp>
    </p:spTree>
    <p:extLst>
      <p:ext uri="{BB962C8B-B14F-4D97-AF65-F5344CB8AC3E}">
        <p14:creationId xmlns:p14="http://schemas.microsoft.com/office/powerpoint/2010/main" val="163023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Clippers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F657-724A-498A-B66A-0C3EF073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1"/>
            <a:ext cx="11062252" cy="1961322"/>
          </a:xfrm>
        </p:spPr>
        <p:txBody>
          <a:bodyPr>
            <a:normAutofit/>
          </a:bodyPr>
          <a:lstStyle/>
          <a:p>
            <a:r>
              <a:rPr lang="en-US" sz="2400" dirty="0"/>
              <a:t>Wave-shaping circuits modify signal amplitude (limit, clip, clamp) without changing frequency.</a:t>
            </a:r>
          </a:p>
          <a:p>
            <a:r>
              <a:rPr lang="en-US" sz="2400" dirty="0"/>
              <a:t>Diode ON → feedback loop complete</a:t>
            </a:r>
            <a:br>
              <a:rPr lang="en-US" sz="2400" dirty="0"/>
            </a:br>
            <a:r>
              <a:rPr lang="en-US" sz="2400" dirty="0"/>
              <a:t>Diode OFF → feedback open</a:t>
            </a:r>
            <a:br>
              <a:rPr lang="en-US" sz="2400" dirty="0"/>
            </a:br>
            <a:r>
              <a:rPr lang="en-US" sz="2400" dirty="0"/>
              <a:t>Enables half-wave or full-wave rectification.</a:t>
            </a:r>
            <a:endParaRPr lang="en-IN" sz="2400" baseline="30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3EB1FA-1A77-4A72-AE3D-ABD64C705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127513"/>
            <a:ext cx="87058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9FD8-487D-4087-9685-383D2E64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1305"/>
            <a:ext cx="10515600" cy="290222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An op-amp clipper (amplitude limiter) is essentially an inverting amplifier with a Zener diode and a signal diode placed in the feedback path. The gain remains −𝑅</a:t>
            </a:r>
            <a:r>
              <a:rPr lang="en-US" baseline="-25000" dirty="0"/>
              <a:t>𝑓</a:t>
            </a:r>
            <a:r>
              <a:rPr lang="en-US" dirty="0"/>
              <a:t>/𝑅</a:t>
            </a:r>
            <a:r>
              <a:rPr lang="en-US" baseline="-25000" dirty="0"/>
              <a:t>1</a:t>
            </a:r>
            <a:r>
              <a:rPr lang="en-US" dirty="0"/>
              <a:t> when the diodes are inactive.</a:t>
            </a:r>
          </a:p>
          <a:p>
            <a:pPr algn="just"/>
            <a:r>
              <a:rPr lang="en-IN" dirty="0"/>
              <a:t>When ∣</a:t>
            </a:r>
            <a:r>
              <a:rPr lang="en-IN" dirty="0" err="1"/>
              <a:t>vo</a:t>
            </a:r>
            <a:r>
              <a:rPr lang="en-IN" dirty="0"/>
              <a:t>∣&lt;(V</a:t>
            </a:r>
            <a:r>
              <a:rPr lang="en-IN" baseline="-25000" dirty="0"/>
              <a:t>Z</a:t>
            </a:r>
            <a:r>
              <a:rPr lang="en-IN" dirty="0"/>
              <a:t>+V</a:t>
            </a:r>
            <a:r>
              <a:rPr lang="en-IN" baseline="-25000" dirty="0"/>
              <a:t>D</a:t>
            </a:r>
            <a:r>
              <a:rPr lang="en-IN" dirty="0"/>
              <a:t>) → diodes OFF </a:t>
            </a:r>
            <a:br>
              <a:rPr lang="en-IN" dirty="0"/>
            </a:br>
            <a:r>
              <a:rPr lang="en-IN" dirty="0"/>
              <a:t>Circuit acts as normal inverting amplifier (Av=−Rf/R1).</a:t>
            </a:r>
          </a:p>
          <a:p>
            <a:pPr algn="just"/>
            <a:r>
              <a:rPr lang="en-IN" dirty="0"/>
              <a:t>When ∣</a:t>
            </a:r>
            <a:r>
              <a:rPr lang="en-IN" dirty="0" err="1"/>
              <a:t>vo</a:t>
            </a:r>
            <a:r>
              <a:rPr lang="en-IN" dirty="0"/>
              <a:t>∣≥(V</a:t>
            </a:r>
            <a:r>
              <a:rPr lang="en-IN" baseline="-25000" dirty="0"/>
              <a:t>Z</a:t>
            </a:r>
            <a:r>
              <a:rPr lang="en-IN" dirty="0"/>
              <a:t>+V</a:t>
            </a:r>
            <a:r>
              <a:rPr lang="en-IN" baseline="-25000" dirty="0"/>
              <a:t>D</a:t>
            </a:r>
            <a:r>
              <a:rPr lang="en-IN" dirty="0"/>
              <a:t>​) → Zener in breakdown, diode forward biased →</a:t>
            </a:r>
            <a:br>
              <a:rPr lang="en-IN" dirty="0"/>
            </a:br>
            <a:r>
              <a:rPr lang="en-IN" dirty="0"/>
              <a:t>Output clipped at V</a:t>
            </a:r>
            <a:r>
              <a:rPr lang="en-IN" baseline="-25000" dirty="0"/>
              <a:t>Z</a:t>
            </a:r>
            <a:r>
              <a:rPr lang="en-IN" dirty="0"/>
              <a:t>+V</a:t>
            </a:r>
            <a:r>
              <a:rPr lang="en-IN" baseline="-25000" dirty="0"/>
              <a:t>D</a:t>
            </a:r>
            <a:r>
              <a:rPr lang="en-IN" dirty="0"/>
              <a:t>​.</a:t>
            </a:r>
          </a:p>
          <a:p>
            <a:pPr algn="just"/>
            <a:r>
              <a:rPr lang="en-US" dirty="0"/>
              <a:t>Using two back-to-back Zener diodes allows clipping in both positive and negative directions. Between the two clipping thresholds, the circuit operates as a standard linear amplifier.</a:t>
            </a:r>
          </a:p>
          <a:p>
            <a:pPr algn="just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BDC43-5671-4C64-9077-F7785622A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326" y="3233531"/>
            <a:ext cx="9980056" cy="362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82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Clampers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F657-724A-498A-B66A-0C3EF073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1"/>
            <a:ext cx="11062252" cy="2027175"/>
          </a:xfrm>
        </p:spPr>
        <p:txBody>
          <a:bodyPr>
            <a:normAutofit/>
          </a:bodyPr>
          <a:lstStyle/>
          <a:p>
            <a:r>
              <a:rPr lang="en-US" sz="2400" dirty="0"/>
              <a:t>A clamper circuit shifts the entire input waveform up or down by adding a fixed DC level, without changing its shape. It is widely used as a DC restorer (DC inserter) in television and signal processing circuits.</a:t>
            </a:r>
          </a:p>
          <a:p>
            <a:r>
              <a:rPr lang="en-US" sz="2400" dirty="0"/>
              <a:t>In a positive clamper, during the negative half-cycle the diode conducts and the capacitor charges to the negative peak value </a:t>
            </a:r>
            <a:r>
              <a:rPr lang="en-US" sz="2400" dirty="0" err="1"/>
              <a:t>Vnp</a:t>
            </a:r>
            <a:r>
              <a:rPr lang="en-US" sz="2400" dirty="0"/>
              <a:t>​ to maintain virtual ground.</a:t>
            </a:r>
          </a:p>
          <a:p>
            <a:endParaRPr lang="en-IN" sz="2400" baseline="30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02C867-CCCD-46C0-ADA1-86EB20F6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407" y="3429000"/>
            <a:ext cx="9916001" cy="308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20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8FB-C96B-41CC-A57B-9BCE95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/>
          <a:lstStyle/>
          <a:p>
            <a:r>
              <a:rPr lang="en-IN" dirty="0"/>
              <a:t>Clampers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AF657-724A-498A-B66A-0C3EF073F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91"/>
            <a:ext cx="11062252" cy="5473148"/>
          </a:xfrm>
        </p:spPr>
        <p:txBody>
          <a:bodyPr>
            <a:normAutofit/>
          </a:bodyPr>
          <a:lstStyle/>
          <a:p>
            <a:r>
              <a:rPr lang="en-US" sz="2400" dirty="0"/>
              <a:t>A clamper circuit shifts the entire input waveform up or down by adding a fixed DC level, without changing its shape. It is widely used as a DC restorer (DC inserter) in television and signal processing circuits.</a:t>
            </a:r>
          </a:p>
          <a:p>
            <a:r>
              <a:rPr lang="en-US" sz="2400" dirty="0"/>
              <a:t>In a positive clamper, during the negative half-cycle the diode conducts and the capacitor charges to the negative peak value </a:t>
            </a:r>
            <a:r>
              <a:rPr lang="en-US" sz="2400" dirty="0" err="1"/>
              <a:t>V</a:t>
            </a:r>
            <a:r>
              <a:rPr lang="en-US" sz="2400" baseline="-25000" dirty="0" err="1"/>
              <a:t>np</a:t>
            </a:r>
            <a:r>
              <a:rPr lang="en-US" sz="2400" dirty="0"/>
              <a:t>​ to maintain virtual ground.</a:t>
            </a:r>
          </a:p>
          <a:p>
            <a:r>
              <a:rPr lang="en-US" sz="2400" dirty="0"/>
              <a:t>When the input becomes positive, the diode turns OFF and the capacitor holds its charge, shifting the output such that</a:t>
            </a:r>
          </a:p>
          <a:p>
            <a:endParaRPr lang="en-US" sz="2400" baseline="30000" dirty="0"/>
          </a:p>
          <a:p>
            <a:r>
              <a:rPr lang="en-US" sz="2400" dirty="0"/>
              <a:t>Adding a reference voltage V​</a:t>
            </a:r>
            <a:r>
              <a:rPr lang="en-US" sz="2400" baseline="-25000" dirty="0"/>
              <a:t>ref</a:t>
            </a:r>
            <a:r>
              <a:rPr lang="en-US" sz="2400" dirty="0"/>
              <a:t> at the non-inverting input shifts the clamp level, giving</a:t>
            </a:r>
          </a:p>
          <a:p>
            <a:endParaRPr lang="en-US" sz="2400" baseline="30000" dirty="0"/>
          </a:p>
          <a:p>
            <a:endParaRPr lang="en-US" sz="2400" dirty="0"/>
          </a:p>
          <a:p>
            <a:r>
              <a:rPr lang="en-US" sz="2400" dirty="0"/>
              <a:t>For negative clamping, the diode polarity and reference voltage are reversed; the capacitor charges during the positive half-cycle, shifting the waveform downward.</a:t>
            </a:r>
            <a:endParaRPr lang="en-IN" sz="2400" baseline="30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5719D-2AD7-43D3-8BE7-E22E12C1F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180" y="3784209"/>
            <a:ext cx="3241744" cy="490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9B5B7A-1DA5-4E0B-8C6F-40E144A5A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303" y="4824689"/>
            <a:ext cx="2968188" cy="49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72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 dirty="0"/>
              <a:t>Logarithmic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BF56A-5997-4100-8C97-0648CC2F8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8470"/>
            <a:ext cx="5909597" cy="4838493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Resistive feedback networks provide linear </a:t>
            </a:r>
            <a:r>
              <a:rPr lang="en-IN" sz="2000" dirty="0" err="1"/>
              <a:t>i</a:t>
            </a:r>
            <a:r>
              <a:rPr lang="en-IN" sz="2000" dirty="0"/>
              <a:t>/p to o/p relations.</a:t>
            </a:r>
          </a:p>
          <a:p>
            <a:pPr algn="just"/>
            <a:r>
              <a:rPr lang="en-IN" sz="2000" dirty="0"/>
              <a:t>Using a diode in feedback path provide logarithmic relation between </a:t>
            </a:r>
            <a:r>
              <a:rPr lang="en-IN" sz="2000" dirty="0" err="1"/>
              <a:t>i</a:t>
            </a:r>
            <a:r>
              <a:rPr lang="en-IN" sz="2000" dirty="0"/>
              <a:t>/p and o/p. </a:t>
            </a:r>
          </a:p>
          <a:p>
            <a:pPr algn="just"/>
            <a:r>
              <a:rPr lang="en-IN" sz="2000" dirty="0"/>
              <a:t>A logarithmic amplifier converts input voltage into:</a:t>
            </a:r>
          </a:p>
          <a:p>
            <a:pPr marL="0" indent="0" algn="just">
              <a:buNone/>
            </a:pPr>
            <a:r>
              <a:rPr lang="en-IN" sz="2000" dirty="0"/>
              <a:t>	V</a:t>
            </a:r>
            <a:r>
              <a:rPr lang="en-IN" sz="2000" baseline="-25000" dirty="0"/>
              <a:t>0 </a:t>
            </a:r>
            <a:r>
              <a:rPr lang="en-IN" sz="2000" dirty="0"/>
              <a:t>α ln(V</a:t>
            </a:r>
            <a:r>
              <a:rPr lang="en-IN" sz="2000" baseline="-25000" dirty="0"/>
              <a:t>i</a:t>
            </a:r>
            <a:r>
              <a:rPr lang="en-IN" sz="2000" dirty="0"/>
              <a:t>)</a:t>
            </a:r>
          </a:p>
          <a:p>
            <a:pPr algn="just"/>
            <a:r>
              <a:rPr lang="en-IN" sz="2000" dirty="0"/>
              <a:t>Used in situations where large dynamic range should be handled including small and large signals (</a:t>
            </a:r>
            <a:r>
              <a:rPr lang="en-IN" sz="2000" dirty="0" err="1"/>
              <a:t>eg</a:t>
            </a:r>
            <a:r>
              <a:rPr lang="en-IN" sz="2000" dirty="0"/>
              <a:t> 10 mV to 10 V)</a:t>
            </a:r>
          </a:p>
          <a:p>
            <a:pPr algn="just"/>
            <a:r>
              <a:rPr lang="en-IN" sz="2000" dirty="0" err="1"/>
              <a:t>Transdiode</a:t>
            </a:r>
            <a:r>
              <a:rPr lang="en-IN" sz="2000" dirty="0"/>
              <a:t> with base grounded, collector to virtual ground and emitter to output.</a:t>
            </a:r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BEC7A-6C28-4D97-889A-2276291C6F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33"/>
          <a:stretch/>
        </p:blipFill>
        <p:spPr>
          <a:xfrm>
            <a:off x="6747797" y="792161"/>
            <a:ext cx="5239997" cy="3442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3C079-D0E1-42F1-BFB1-12C4FC80C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879" y="5159581"/>
            <a:ext cx="2923141" cy="6153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9C09EE-A961-4D3D-BED0-4E1F1F257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879" y="5894249"/>
            <a:ext cx="2670591" cy="615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60ED55-2B97-4301-A2A3-955D73BCB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538" y="5036235"/>
            <a:ext cx="2981185" cy="112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1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C70F-07CA-4778-9B4B-0A1541F28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3" y="381138"/>
            <a:ext cx="9853450" cy="6019662"/>
          </a:xfrm>
        </p:spPr>
        <p:txBody>
          <a:bodyPr>
            <a:normAutofit fontScale="92500"/>
          </a:bodyPr>
          <a:lstStyle/>
          <a:p>
            <a:r>
              <a:rPr lang="en-IN" dirty="0"/>
              <a:t>From the input resistor: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Substitute VBE from previous equation: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issues with above circuit is that Is changes with transistor design and temperature which might change the output calibration.</a:t>
            </a:r>
          </a:p>
          <a:p>
            <a:r>
              <a:rPr lang="en-IN" dirty="0"/>
              <a:t>Hence the following configuration is used.</a:t>
            </a:r>
          </a:p>
          <a:p>
            <a:r>
              <a:rPr lang="en-US" dirty="0"/>
              <a:t>Two matched transistors Q1​ and Q2​ are used. Since fabricated on same silicon:</a:t>
            </a:r>
          </a:p>
          <a:p>
            <a:pPr marL="0" indent="0">
              <a:buNone/>
            </a:pPr>
            <a:r>
              <a:rPr lang="en-US" dirty="0"/>
              <a:t>				I</a:t>
            </a:r>
            <a:r>
              <a:rPr lang="en-US" baseline="-25000" dirty="0"/>
              <a:t>S1</a:t>
            </a:r>
            <a:r>
              <a:rPr lang="en-US" dirty="0"/>
              <a:t>=I</a:t>
            </a:r>
            <a:r>
              <a:rPr lang="en-US" baseline="-25000" dirty="0"/>
              <a:t>S2</a:t>
            </a:r>
          </a:p>
          <a:p>
            <a:r>
              <a:rPr lang="en-US" dirty="0"/>
              <a:t>​ This ensures close matching and thermal tracking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A826A-EA3F-46AF-A380-EC1E6836F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615" y="941939"/>
            <a:ext cx="992553" cy="8587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6A8BE2-570C-42B2-BD86-B91336A25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998" y="942677"/>
            <a:ext cx="1567720" cy="618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04EB20-CC18-49ED-96CB-AE01B1910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600" y="2361466"/>
            <a:ext cx="4318400" cy="87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9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B51670-D845-4F90-BDCD-3056108E1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21" y="719168"/>
            <a:ext cx="9344465" cy="575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2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C70F-07CA-4778-9B4B-0A1541F28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3" y="381138"/>
            <a:ext cx="9853450" cy="6019662"/>
          </a:xfrm>
        </p:spPr>
        <p:txBody>
          <a:bodyPr>
            <a:normAutofit/>
          </a:bodyPr>
          <a:lstStyle/>
          <a:p>
            <a:r>
              <a:rPr lang="en-IN" dirty="0"/>
              <a:t>From first Op-amp A1: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From second Op-amp A2: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difference amplifier A3 subtracts two outputs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Overall output at stage 4 of Op-amp A4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CE7349-4422-40B6-BFC8-D01188885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274" y="754338"/>
            <a:ext cx="2886669" cy="990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C45A24-8B2B-430A-BB46-994A54664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274" y="2311936"/>
            <a:ext cx="3135174" cy="9900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2DFA80-1504-4D86-9946-86AA2BD7B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535" y="3869533"/>
            <a:ext cx="5339220" cy="990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12DF9F-7449-4C01-8480-9DD1BC96E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863" y="3869533"/>
            <a:ext cx="1872753" cy="990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F10760-8C3C-49B7-A70D-1111C9869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3004" y="5541567"/>
            <a:ext cx="3590437" cy="99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9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C70F-07CA-4778-9B4B-0A1541F28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3" y="381138"/>
            <a:ext cx="9853450" cy="6019662"/>
          </a:xfrm>
        </p:spPr>
        <p:txBody>
          <a:bodyPr>
            <a:norm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S</a:t>
            </a:r>
            <a:r>
              <a:rPr lang="en-US" dirty="0"/>
              <a:t> cancels out and temperature tracking improves.</a:t>
            </a:r>
          </a:p>
          <a:p>
            <a:r>
              <a:rPr lang="en-US" dirty="0"/>
              <a:t>If temperature increases → this term increases linearly.</a:t>
            </a:r>
          </a:p>
          <a:p>
            <a:r>
              <a:rPr lang="en-US" dirty="0"/>
              <a:t>So to compensate it a temperature dependent resistor is used.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r>
              <a:rPr lang="en-IN" dirty="0"/>
              <a:t>Positive temperature coefficient of RTC reduces gain when temperature rises compensating KT/q factor.</a:t>
            </a:r>
          </a:p>
          <a:p>
            <a:r>
              <a:rPr lang="en-IN" dirty="0"/>
              <a:t>The overall output is less susceptible to temperature variations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39D6D-EF76-4B08-9ED3-2C3FECF31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933" y="1977059"/>
            <a:ext cx="1742595" cy="9771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8CF6AB-8ABD-459A-8DB0-A4024495F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545" y="2983006"/>
            <a:ext cx="3335369" cy="61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4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/>
              <a:t>Antilog amplifier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F845EA-F67F-47BF-8503-7F8D2CA3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538" y="1044227"/>
            <a:ext cx="5515174" cy="2585238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1338470"/>
            <a:ext cx="5909597" cy="4838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000" dirty="0"/>
              <a:t>A logarithmic amplifier converts input voltage into: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000" dirty="0"/>
              <a:t>	</a:t>
            </a:r>
            <a:r>
              <a:rPr lang="en-IN" dirty="0"/>
              <a:t>V</a:t>
            </a:r>
            <a:r>
              <a:rPr lang="en-IN" baseline="-25000" dirty="0"/>
              <a:t>0 </a:t>
            </a:r>
            <a:r>
              <a:rPr lang="en-IN" dirty="0"/>
              <a:t>α ln(V</a:t>
            </a:r>
            <a:r>
              <a:rPr lang="en-IN" baseline="-25000" dirty="0"/>
              <a:t>i</a:t>
            </a:r>
            <a:r>
              <a:rPr lang="en-IN" dirty="0"/>
              <a:t>)</a:t>
            </a:r>
            <a:endParaRPr lang="en-IN" sz="2000" dirty="0"/>
          </a:p>
          <a:p>
            <a:pPr algn="just"/>
            <a:r>
              <a:rPr lang="en-IN" sz="2000" dirty="0"/>
              <a:t>Antilog amplifier reverses that result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000" dirty="0"/>
              <a:t>	</a:t>
            </a:r>
            <a:r>
              <a:rPr lang="en-IN" dirty="0"/>
              <a:t>V</a:t>
            </a:r>
            <a:r>
              <a:rPr lang="en-IN" baseline="-25000" dirty="0"/>
              <a:t>o​</a:t>
            </a:r>
            <a:r>
              <a:rPr lang="en-IN" dirty="0"/>
              <a:t> ∝ </a:t>
            </a:r>
            <a:r>
              <a:rPr lang="en-IN" dirty="0" err="1"/>
              <a:t>e</a:t>
            </a:r>
            <a:r>
              <a:rPr lang="en-IN" baseline="30000" dirty="0" err="1"/>
              <a:t>Vi</a:t>
            </a:r>
            <a:r>
              <a:rPr lang="en-IN" dirty="0"/>
              <a:t>​  or V</a:t>
            </a:r>
            <a:r>
              <a:rPr lang="en-IN" baseline="-25000" dirty="0"/>
              <a:t>o</a:t>
            </a:r>
            <a:r>
              <a:rPr lang="en-IN" dirty="0"/>
              <a:t> ​∝ 10</a:t>
            </a:r>
            <a:r>
              <a:rPr lang="en-IN" baseline="30000" dirty="0"/>
              <a:t>Vi</a:t>
            </a:r>
            <a:r>
              <a:rPr lang="en-IN" sz="2000" dirty="0"/>
              <a:t>​</a:t>
            </a:r>
          </a:p>
          <a:p>
            <a:pPr algn="just"/>
            <a:r>
              <a:rPr lang="en-IN" sz="2000" dirty="0"/>
              <a:t>Used in cases </a:t>
            </a:r>
            <a:r>
              <a:rPr lang="en-IN" sz="2000" dirty="0" err="1"/>
              <a:t>analog</a:t>
            </a:r>
            <a:r>
              <a:rPr lang="en-IN" sz="2000" dirty="0"/>
              <a:t> multiplication, division, exponentiation etc. </a:t>
            </a:r>
          </a:p>
          <a:p>
            <a:pPr algn="just"/>
            <a:r>
              <a:rPr lang="en-IN" sz="2000" dirty="0" err="1"/>
              <a:t>Transdiode</a:t>
            </a:r>
            <a:r>
              <a:rPr lang="en-IN" sz="2000" dirty="0"/>
              <a:t> with base grounded, collector to inverting input terminal of Op-amp, emitter </a:t>
            </a:r>
            <a:r>
              <a:rPr lang="en-IN" sz="2000" dirty="0" err="1"/>
              <a:t>toinput</a:t>
            </a:r>
            <a:r>
              <a:rPr lang="en-IN" sz="2000" dirty="0"/>
              <a:t> signal.</a:t>
            </a:r>
          </a:p>
          <a:p>
            <a:pPr algn="just"/>
            <a:r>
              <a:rPr lang="en-IN" sz="2000" dirty="0"/>
              <a:t>Input voltage is same as the voltage across V</a:t>
            </a:r>
            <a:r>
              <a:rPr lang="en-IN" sz="2000" baseline="-25000" dirty="0"/>
              <a:t>BE</a:t>
            </a:r>
          </a:p>
          <a:p>
            <a:pPr algn="just"/>
            <a:r>
              <a:rPr lang="en-IN" sz="2000" dirty="0"/>
              <a:t>The output voltage is derived as </a:t>
            </a:r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486B9B-19E6-415D-B26B-2F0A1B7C1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992" y="4308567"/>
            <a:ext cx="3196808" cy="616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28F381-F667-4F81-AD35-F4E64740A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992" y="5095515"/>
            <a:ext cx="3120593" cy="6750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7C6F3D-057D-4153-8566-3BF738847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573" y="5710207"/>
            <a:ext cx="1700861" cy="61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4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9236-9C28-412B-B79D-A43E35AB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4070"/>
            <a:ext cx="6026834" cy="5752893"/>
          </a:xfrm>
        </p:spPr>
        <p:txBody>
          <a:bodyPr/>
          <a:lstStyle/>
          <a:p>
            <a:r>
              <a:rPr lang="en-IN" dirty="0"/>
              <a:t>Antilog amplifier faces the same issues as the log amplifier.</a:t>
            </a:r>
          </a:p>
          <a:p>
            <a:r>
              <a:rPr lang="en-IN" dirty="0"/>
              <a:t>Hence compensated circuit is used which is shown below.</a:t>
            </a:r>
          </a:p>
          <a:p>
            <a:r>
              <a:rPr lang="en-IN" dirty="0"/>
              <a:t>The red regions are simple log amplifier sections. So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94780-065E-426A-AC9B-4B2BED2EE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391" y="123092"/>
            <a:ext cx="4688168" cy="66118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3DA764-7704-4CB9-B70F-C9815548A68F}"/>
              </a:ext>
            </a:extLst>
          </p:cNvPr>
          <p:cNvSpPr/>
          <p:nvPr/>
        </p:nvSpPr>
        <p:spPr>
          <a:xfrm>
            <a:off x="7167391" y="123092"/>
            <a:ext cx="4424387" cy="243722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9B3B1-CD74-463D-A609-964ED1B8E817}"/>
              </a:ext>
            </a:extLst>
          </p:cNvPr>
          <p:cNvSpPr/>
          <p:nvPr/>
        </p:nvSpPr>
        <p:spPr>
          <a:xfrm>
            <a:off x="7167390" y="2667000"/>
            <a:ext cx="4790148" cy="255211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33B7C4-756C-4134-A6B9-2132071C6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12" y="3428999"/>
            <a:ext cx="2920221" cy="1101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4FA1D5-65E3-41A6-A65C-D23C467EA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576" y="4668129"/>
            <a:ext cx="3023695" cy="110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/>
              <a:t>Antilog amplifier</a:t>
            </a:r>
            <a:endParaRPr lang="en-IN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1338470"/>
            <a:ext cx="10852053" cy="4838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r>
              <a:rPr lang="en-IN" dirty="0"/>
              <a:t>Now V</a:t>
            </a:r>
            <a:r>
              <a:rPr lang="en-IN" baseline="-25000" dirty="0"/>
              <a:t>B</a:t>
            </a:r>
            <a:r>
              <a:rPr lang="en-IN" dirty="0"/>
              <a:t>=V</a:t>
            </a:r>
            <a:r>
              <a:rPr lang="en-IN" baseline="-25000" dirty="0"/>
              <a:t>BE2</a:t>
            </a:r>
            <a:r>
              <a:rPr lang="en-IN" dirty="0"/>
              <a:t>-V</a:t>
            </a:r>
            <a:r>
              <a:rPr lang="en-IN" baseline="-25000" dirty="0"/>
              <a:t>BE1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So V</a:t>
            </a:r>
            <a:r>
              <a:rPr lang="en-IN" baseline="-25000" dirty="0"/>
              <a:t>B</a:t>
            </a:r>
            <a:r>
              <a:rPr lang="en-IN" dirty="0"/>
              <a:t>=  </a:t>
            </a:r>
          </a:p>
          <a:p>
            <a:pPr algn="just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3AC2FA-AB72-4BCA-915F-137AF66C0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290" y="1338470"/>
            <a:ext cx="3591795" cy="854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3D50B9-2FF7-4CBC-8D18-7C52F987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834" y="2321754"/>
            <a:ext cx="2753546" cy="1107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DD3951-4E24-4970-914C-7C7FEE34E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967" y="4412284"/>
            <a:ext cx="4442825" cy="110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3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IN" dirty="0"/>
              <a:t>Antilog amplifier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1338470"/>
            <a:ext cx="10852053" cy="4838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000" dirty="0"/>
              <a:t>Now substitute V</a:t>
            </a:r>
            <a:r>
              <a:rPr lang="en-IN" sz="2000" baseline="-25000" dirty="0"/>
              <a:t>B</a:t>
            </a:r>
            <a:r>
              <a:rPr lang="en-IN" sz="2000" dirty="0"/>
              <a:t> values:</a:t>
            </a:r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9613C2-A48C-413B-B909-B8621AC60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67" y="1863586"/>
            <a:ext cx="3785477" cy="8796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8B8EA1-9E4D-4568-B401-9D47B3499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992" y="3016671"/>
            <a:ext cx="5747608" cy="879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59916F-49C8-4C2C-B346-677DA00C1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465" y="3095625"/>
            <a:ext cx="2933638" cy="477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3D80FC-497C-4AE3-AFF2-FC192276D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152" y="4169756"/>
            <a:ext cx="2187456" cy="8796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019238-0D8E-4316-941E-7B3E60AB5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9561" y="4169756"/>
            <a:ext cx="3811652" cy="8796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97C760-06F8-4BAB-8A56-0B84221BB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5217" y="5519530"/>
            <a:ext cx="2718574" cy="65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7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Op-Amp Comparator 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5543551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/>
              <a:t>An Op-amp comparator compares the input voltage with a certain reference voltage and produces either of two outputs ±</a:t>
            </a:r>
            <a:r>
              <a:rPr lang="en-IN" sz="2200" dirty="0" err="1"/>
              <a:t>Vsat</a:t>
            </a:r>
            <a:r>
              <a:rPr lang="en-IN" sz="2200" dirty="0"/>
              <a:t>. </a:t>
            </a:r>
          </a:p>
          <a:p>
            <a:pPr algn="just"/>
            <a:r>
              <a:rPr lang="en-IN" sz="2200" dirty="0"/>
              <a:t>Op-amp comparator is constructed using open-loop configuration either in inverting or  non-inverting mode.</a:t>
            </a:r>
          </a:p>
          <a:p>
            <a:pPr algn="just"/>
            <a:r>
              <a:rPr lang="en-IN" sz="2200" dirty="0"/>
              <a:t>The practical and ideal characteristics of an ideal Op-amp are shown on right side.</a:t>
            </a:r>
          </a:p>
          <a:p>
            <a:pPr algn="just"/>
            <a:r>
              <a:rPr lang="en-IN" sz="2200" dirty="0"/>
              <a:t>In practical comparator there is an approximate 2mV transition period during which the output is uncertain due Op-amp offset voltage.</a:t>
            </a:r>
          </a:p>
          <a:p>
            <a:pPr algn="just"/>
            <a:r>
              <a:rPr lang="en-IN" sz="2200" dirty="0"/>
              <a:t>An inverting comparator produces -</a:t>
            </a:r>
            <a:r>
              <a:rPr lang="en-IN" sz="2200" dirty="0" err="1"/>
              <a:t>Vsat</a:t>
            </a:r>
            <a:r>
              <a:rPr lang="en-IN" sz="2200" dirty="0"/>
              <a:t> when Vi&gt;</a:t>
            </a:r>
            <a:r>
              <a:rPr lang="en-IN" sz="2200" dirty="0" err="1"/>
              <a:t>Vref</a:t>
            </a:r>
            <a:endParaRPr lang="en-IN" sz="2200" dirty="0"/>
          </a:p>
          <a:p>
            <a:pPr algn="just"/>
            <a:r>
              <a:rPr lang="en-IN" sz="2200" dirty="0"/>
              <a:t>A non-inverting comparator produces </a:t>
            </a:r>
            <a:r>
              <a:rPr lang="en-IN" sz="2200" dirty="0" err="1"/>
              <a:t>Vsat</a:t>
            </a:r>
            <a:r>
              <a:rPr lang="en-IN" sz="2200" dirty="0"/>
              <a:t> when Vi&gt;</a:t>
            </a:r>
            <a:r>
              <a:rPr lang="en-IN" sz="2200" dirty="0" err="1"/>
              <a:t>Vref</a:t>
            </a:r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42557E-EF2C-4109-ABDD-A06DDF408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476" y="681036"/>
            <a:ext cx="5650523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7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/>
              <a:t>Op-Amp Comparator </a:t>
            </a:r>
            <a:endParaRPr lang="en-IN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552449" y="3786858"/>
            <a:ext cx="7847967" cy="2860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/>
              <a:t>Figure shown a inverting comparator.</a:t>
            </a:r>
          </a:p>
          <a:p>
            <a:pPr algn="just"/>
            <a:r>
              <a:rPr lang="en-IN" sz="2200" dirty="0"/>
              <a:t>When Vi&gt;</a:t>
            </a:r>
            <a:r>
              <a:rPr lang="en-IN" sz="2200" dirty="0" err="1"/>
              <a:t>Vref</a:t>
            </a:r>
            <a:r>
              <a:rPr lang="en-IN" sz="2200" dirty="0"/>
              <a:t>, a positive differential voltage appears at Op-amp inputs giving </a:t>
            </a:r>
            <a:r>
              <a:rPr lang="en-IN" sz="2200" dirty="0" err="1"/>
              <a:t>Vsat</a:t>
            </a:r>
            <a:r>
              <a:rPr lang="en-IN" sz="2200" dirty="0"/>
              <a:t> at output</a:t>
            </a:r>
          </a:p>
          <a:p>
            <a:pPr algn="just"/>
            <a:r>
              <a:rPr lang="en-IN" sz="2200" dirty="0"/>
              <a:t>When Vi&lt;</a:t>
            </a:r>
            <a:r>
              <a:rPr lang="en-IN" sz="2200" dirty="0" err="1"/>
              <a:t>Vref</a:t>
            </a:r>
            <a:r>
              <a:rPr lang="en-IN" sz="2200" dirty="0"/>
              <a:t>, a negative differential voltage appears at Op-amp inputs giving -</a:t>
            </a:r>
            <a:r>
              <a:rPr lang="en-IN" sz="2200" dirty="0" err="1"/>
              <a:t>Vsat</a:t>
            </a:r>
            <a:r>
              <a:rPr lang="en-IN" sz="2200" dirty="0"/>
              <a:t> at output</a:t>
            </a:r>
          </a:p>
          <a:p>
            <a:pPr algn="just"/>
            <a:endParaRPr lang="en-IN" sz="2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5D0855-B478-4317-B90B-8EC296F797E0}"/>
              </a:ext>
            </a:extLst>
          </p:cNvPr>
          <p:cNvGrpSpPr/>
          <p:nvPr/>
        </p:nvGrpSpPr>
        <p:grpSpPr>
          <a:xfrm>
            <a:off x="8077199" y="319709"/>
            <a:ext cx="3883163" cy="4932299"/>
            <a:chOff x="7645399" y="2652092"/>
            <a:chExt cx="3883163" cy="493229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62AB201-4079-4B63-B9C5-9961794A84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933"/>
            <a:stretch/>
          </p:blipFill>
          <p:spPr>
            <a:xfrm>
              <a:off x="7645399" y="2652092"/>
              <a:ext cx="3883163" cy="28194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FEFD5F0-4B8C-4578-A7C4-3470403F4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68616" y="5279341"/>
              <a:ext cx="3324225" cy="230505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7EB5104-9F65-4E2B-8BE8-53B3673A83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81" t="2359"/>
          <a:stretch/>
        </p:blipFill>
        <p:spPr>
          <a:xfrm>
            <a:off x="993775" y="858129"/>
            <a:ext cx="5387975" cy="264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6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Op-Amp Comparator 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5543551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/>
              <a:t>The reference voltage can be obtained using voltage divider circuit from </a:t>
            </a:r>
            <a:r>
              <a:rPr lang="en-IN" sz="2200" dirty="0" err="1"/>
              <a:t>V</a:t>
            </a:r>
            <a:r>
              <a:rPr lang="en-IN" sz="2200" baseline="-25000" dirty="0" err="1"/>
              <a:t>cc</a:t>
            </a:r>
            <a:r>
              <a:rPr lang="en-IN" sz="2200" dirty="0"/>
              <a:t> and –V</a:t>
            </a:r>
            <a:r>
              <a:rPr lang="en-IN" sz="2200" baseline="-25000" dirty="0"/>
              <a:t>EE</a:t>
            </a:r>
            <a:r>
              <a:rPr lang="en-IN" sz="2200" dirty="0"/>
              <a:t> using a potentiometer.</a:t>
            </a:r>
          </a:p>
          <a:p>
            <a:pPr algn="just"/>
            <a:r>
              <a:rPr lang="en-IN" sz="2200" dirty="0"/>
              <a:t>The output voltage other than saturation voltage can be obtained using the Zener diodes at the output.</a:t>
            </a:r>
          </a:p>
          <a:p>
            <a:pPr algn="just"/>
            <a:r>
              <a:rPr lang="en-IN" sz="2200" dirty="0"/>
              <a:t>For the circuit shown, the output goes +</a:t>
            </a:r>
            <a:r>
              <a:rPr lang="en-IN" sz="2200" dirty="0" err="1"/>
              <a:t>Vsat</a:t>
            </a:r>
            <a:r>
              <a:rPr lang="en-IN" sz="2200" dirty="0"/>
              <a:t> when Vi&gt;</a:t>
            </a:r>
            <a:r>
              <a:rPr lang="en-IN" sz="2200" dirty="0" err="1"/>
              <a:t>Vref</a:t>
            </a:r>
            <a:r>
              <a:rPr lang="en-IN" sz="2200" dirty="0"/>
              <a:t>.</a:t>
            </a:r>
          </a:p>
          <a:p>
            <a:pPr algn="just"/>
            <a:r>
              <a:rPr lang="en-IN" sz="2200" dirty="0"/>
              <a:t>Applications:</a:t>
            </a:r>
          </a:p>
          <a:p>
            <a:pPr lvl="1" algn="just"/>
            <a:r>
              <a:rPr lang="en-IN" sz="1800" b="1" dirty="0"/>
              <a:t>Zero crossing detector (sine wave to square wave converter) </a:t>
            </a:r>
          </a:p>
          <a:p>
            <a:pPr lvl="1" algn="just"/>
            <a:r>
              <a:rPr lang="en-IN" sz="1800" b="1" dirty="0"/>
              <a:t>Amplitude distribution analyser </a:t>
            </a:r>
          </a:p>
          <a:p>
            <a:pPr lvl="1" algn="just"/>
            <a:r>
              <a:rPr lang="en-IN" sz="1800" b="1" dirty="0"/>
              <a:t>Pulse-time modulator </a:t>
            </a:r>
          </a:p>
          <a:p>
            <a:pPr lvl="1" algn="just"/>
            <a:r>
              <a:rPr lang="en-IN" sz="1800" b="1" dirty="0"/>
              <a:t>Window detector</a:t>
            </a:r>
          </a:p>
          <a:p>
            <a:pPr lvl="1" algn="just"/>
            <a:r>
              <a:rPr lang="en-IN" sz="1800" b="1" dirty="0"/>
              <a:t>Timing marker signal generator </a:t>
            </a:r>
          </a:p>
          <a:p>
            <a:pPr lvl="1" algn="just"/>
            <a:r>
              <a:rPr lang="en-IN" sz="1800" b="1" dirty="0"/>
              <a:t>Phase detector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216DEE-AD3C-469C-AE8A-FF352B4E1047}"/>
              </a:ext>
            </a:extLst>
          </p:cNvPr>
          <p:cNvGrpSpPr/>
          <p:nvPr/>
        </p:nvGrpSpPr>
        <p:grpSpPr>
          <a:xfrm>
            <a:off x="6697110" y="734684"/>
            <a:ext cx="5342490" cy="2552700"/>
            <a:chOff x="6849510" y="3566784"/>
            <a:chExt cx="5342490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2444C88-DCB4-47DE-98C5-BD7B859CF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49510" y="3566784"/>
              <a:ext cx="4732891" cy="2552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EBC1F39-3890-41BE-B93C-4E77FAC0E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96575" y="3896346"/>
              <a:ext cx="1495425" cy="1609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730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Schmitt trigger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7039709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/>
              <a:t>A false triggering can happen in simple comparator due to input noise owing to high open loop gain of Op-amp.</a:t>
            </a:r>
          </a:p>
          <a:p>
            <a:pPr algn="just"/>
            <a:r>
              <a:rPr lang="en-IN" sz="2200" dirty="0"/>
              <a:t>To avoid that a positive feedback is provided from the output called regenerative comparator.</a:t>
            </a:r>
          </a:p>
          <a:p>
            <a:pPr algn="just"/>
            <a:r>
              <a:rPr lang="en-IN" sz="2200" dirty="0"/>
              <a:t>The positive feedback creates infinite closed loop gain if feedback gain is kept to unity.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r>
              <a:rPr lang="en-US" sz="2200" dirty="0"/>
              <a:t>Positive feedback creates two different switching levels. It remembers previous state.</a:t>
            </a:r>
            <a:endParaRPr lang="en-IN" sz="2200" dirty="0"/>
          </a:p>
          <a:p>
            <a:pPr algn="just"/>
            <a:r>
              <a:rPr lang="en-IN" sz="2200" dirty="0"/>
              <a:t>If V0=+</a:t>
            </a:r>
            <a:r>
              <a:rPr lang="en-IN" sz="2200" dirty="0" err="1"/>
              <a:t>Vsat</a:t>
            </a:r>
            <a:r>
              <a:rPr lang="en-IN" sz="2200" dirty="0"/>
              <a:t> then output flips only Vi&gt;V+. This voltage is called upper threshold voltage.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86EB4-262F-41C9-A8F8-2F57BBE7B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31" y="3148560"/>
            <a:ext cx="2054087" cy="762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8B472B-8B40-4E46-83FC-DB5C55276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5" y="210380"/>
            <a:ext cx="4260598" cy="3446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D70224-D368-4BB8-B159-18604A04F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730" y="5374004"/>
            <a:ext cx="4785800" cy="90143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179C190-A03B-4D36-AC39-17BFED00C911}"/>
              </a:ext>
            </a:extLst>
          </p:cNvPr>
          <p:cNvGrpSpPr/>
          <p:nvPr/>
        </p:nvGrpSpPr>
        <p:grpSpPr>
          <a:xfrm>
            <a:off x="7762875" y="2781506"/>
            <a:ext cx="3240890" cy="3949875"/>
            <a:chOff x="7762875" y="2781506"/>
            <a:chExt cx="3240890" cy="39498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57DDD26-08F2-44B3-9F11-5E9F23E01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62875" y="2781506"/>
              <a:ext cx="3240890" cy="394987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995CD6-56C7-4B83-B832-8796EA9053BA}"/>
                </a:ext>
              </a:extLst>
            </p:cNvPr>
            <p:cNvSpPr/>
            <p:nvPr/>
          </p:nvSpPr>
          <p:spPr>
            <a:xfrm>
              <a:off x="7877908" y="3305908"/>
              <a:ext cx="262792" cy="33417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5707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Schmitt trigger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8" y="956604"/>
            <a:ext cx="10267123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/>
              <a:t>When V0=-</a:t>
            </a:r>
            <a:r>
              <a:rPr lang="en-IN" sz="2200" dirty="0" err="1"/>
              <a:t>Vsat</a:t>
            </a:r>
            <a:r>
              <a:rPr lang="en-IN" sz="2200" dirty="0"/>
              <a:t>, the output flips when Vi exceeds the following voltage: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r>
              <a:rPr lang="en-IN" sz="2200" dirty="0"/>
              <a:t>It can be observed that VH is independent of </a:t>
            </a:r>
            <a:r>
              <a:rPr lang="en-IN" sz="2200" dirty="0" err="1"/>
              <a:t>V</a:t>
            </a:r>
            <a:r>
              <a:rPr lang="en-IN" sz="2200" baseline="-25000" dirty="0" err="1"/>
              <a:t>ref</a:t>
            </a:r>
            <a:r>
              <a:rPr lang="en-IN" sz="2200" dirty="0"/>
              <a:t>. If </a:t>
            </a:r>
            <a:r>
              <a:rPr lang="en-IN" sz="2200" dirty="0" err="1"/>
              <a:t>Vref</a:t>
            </a:r>
            <a:r>
              <a:rPr lang="en-IN" sz="2200" dirty="0"/>
              <a:t> is made 0, then a symmetrical square wave is produced at output 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0C9FF4-91D9-4228-BE25-CDD123402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99" y="1685374"/>
            <a:ext cx="3744974" cy="635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161923-CE20-4296-81C5-5F44AC8E2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99" y="2426348"/>
            <a:ext cx="2924175" cy="733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06B195-F7A2-44AD-8797-7DDF06585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653" y="3813647"/>
            <a:ext cx="6085076" cy="283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13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Merits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8" y="956604"/>
            <a:ext cx="10267123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/>
              <a:t>The Schmitt trigger produced two threshold switching output at VLT and VUT.</a:t>
            </a:r>
          </a:p>
          <a:p>
            <a:pPr algn="just"/>
            <a:r>
              <a:rPr lang="en-IN" sz="2200" dirty="0"/>
              <a:t>The circuit switches its output only when input changes after certain threshold.</a:t>
            </a:r>
          </a:p>
          <a:p>
            <a:pPr algn="just"/>
            <a:r>
              <a:rPr lang="en-IN" sz="2200" dirty="0"/>
              <a:t>Hence circuit is immune to noise signals.</a:t>
            </a:r>
          </a:p>
          <a:p>
            <a:pPr algn="just"/>
            <a:r>
              <a:rPr lang="en-IN" sz="2200" dirty="0"/>
              <a:t>The Schmitt trigger produces clean square waves making switching more deterministic and avoids false triggering.</a:t>
            </a:r>
          </a:p>
          <a:p>
            <a:pPr algn="just"/>
            <a:r>
              <a:rPr lang="en-IN" sz="2200" b="1" dirty="0"/>
              <a:t>Applications:</a:t>
            </a:r>
          </a:p>
          <a:p>
            <a:pPr lvl="1" algn="just"/>
            <a:r>
              <a:rPr lang="en-US" dirty="0"/>
              <a:t>Converting Slow Analog Signals to Clean Digital Signals</a:t>
            </a:r>
          </a:p>
          <a:p>
            <a:pPr lvl="1" algn="just"/>
            <a:r>
              <a:rPr lang="en-IN" dirty="0"/>
              <a:t>Clock Signal Conditioning</a:t>
            </a:r>
          </a:p>
          <a:p>
            <a:pPr lvl="1" algn="just"/>
            <a:r>
              <a:rPr lang="en-IN" dirty="0"/>
              <a:t>Threshold Detection with Stability</a:t>
            </a:r>
          </a:p>
          <a:p>
            <a:pPr lvl="1" algn="just"/>
            <a:r>
              <a:rPr lang="en-IN" dirty="0"/>
              <a:t>Improving Noise Margin in Digital Logic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46603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and Hold circuit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10725444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A Sample and Hold circuit samples an analog input voltage, holds that value constant for a period of time.</a:t>
            </a:r>
          </a:p>
          <a:p>
            <a:pPr algn="just"/>
            <a:r>
              <a:rPr lang="en-IN" sz="2200" dirty="0"/>
              <a:t>During </a:t>
            </a:r>
            <a:r>
              <a:rPr lang="en-IN" sz="2200" dirty="0" err="1"/>
              <a:t>sampleing</a:t>
            </a:r>
            <a:r>
              <a:rPr lang="en-IN" sz="2200" dirty="0"/>
              <a:t>: </a:t>
            </a:r>
          </a:p>
          <a:p>
            <a:pPr algn="just"/>
            <a:r>
              <a:rPr lang="en-IN" sz="2200" dirty="0"/>
              <a:t>During hold: </a:t>
            </a:r>
          </a:p>
          <a:p>
            <a:pPr algn="just"/>
            <a:r>
              <a:rPr lang="en-IN" sz="2200" dirty="0"/>
              <a:t>The MOSFET in the circuit acts as the sampling circuit. The frequency of the control voltage VC determines the sampling frequency.</a:t>
            </a:r>
          </a:p>
          <a:p>
            <a:pPr algn="just"/>
            <a:r>
              <a:rPr lang="en-IN" sz="2200" dirty="0"/>
              <a:t>The first amplifier acts as a simple voltage follower for the input signal. </a:t>
            </a:r>
          </a:p>
          <a:p>
            <a:pPr algn="just"/>
            <a:r>
              <a:rPr lang="en-IN" sz="2200" dirty="0"/>
              <a:t>The control voltage to gate of MOSFET dictates the status of MOSFET ON/OFF.</a:t>
            </a:r>
          </a:p>
          <a:p>
            <a:pPr algn="just"/>
            <a:endParaRPr lang="en-IN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A054E-ECE0-4486-8AEC-FB31B4C58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366" y="1800394"/>
            <a:ext cx="1679007" cy="422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6E76A2-39E6-40D0-B5D2-152093F69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906" y="2205188"/>
            <a:ext cx="2046102" cy="4228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90EBAE-91B6-4620-8EDB-9A6A34AB9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045" y="4095750"/>
            <a:ext cx="80581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27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and Hold circuit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6265986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400" dirty="0"/>
              <a:t>When </a:t>
            </a:r>
            <a:r>
              <a:rPr lang="en-IN" sz="2400" dirty="0" err="1"/>
              <a:t>Vc</a:t>
            </a:r>
            <a:r>
              <a:rPr lang="en-IN" sz="2400" dirty="0"/>
              <a:t> is positive, MOSFET is ON.</a:t>
            </a:r>
          </a:p>
          <a:p>
            <a:pPr algn="just"/>
            <a:r>
              <a:rPr lang="en-IN" sz="2400" dirty="0"/>
              <a:t>Capacitor charges with time constant (R0+rds)C. The entire input waveform appears at non-inverting terminal of Op-amp2.</a:t>
            </a:r>
          </a:p>
          <a:p>
            <a:pPr algn="just"/>
            <a:r>
              <a:rPr lang="en-IN" sz="2200" dirty="0"/>
              <a:t>When </a:t>
            </a:r>
            <a:r>
              <a:rPr lang="en-IN" sz="2200" dirty="0" err="1"/>
              <a:t>Vc</a:t>
            </a:r>
            <a:r>
              <a:rPr lang="en-IN" sz="2200" dirty="0"/>
              <a:t> is negative, MOSFET is OFF. Since, Rin of Op-amp is very high the capacitor holds the previous charge with output staying at the voltage on capacitor. </a:t>
            </a:r>
          </a:p>
          <a:p>
            <a:pPr algn="just"/>
            <a:r>
              <a:rPr lang="en-IN" sz="2200" dirty="0"/>
              <a:t>For a proper sampling of the signal, the control voltage frequency should be </a:t>
            </a:r>
            <a:r>
              <a:rPr lang="en-IN" sz="2200" dirty="0" err="1"/>
              <a:t>atleast</a:t>
            </a:r>
            <a:r>
              <a:rPr lang="en-IN" sz="2200" dirty="0"/>
              <a:t> twice the input signal frequency.</a:t>
            </a:r>
          </a:p>
          <a:p>
            <a:pPr algn="just"/>
            <a:r>
              <a:rPr lang="en-IN" sz="2200" dirty="0"/>
              <a:t>Applications of sample and hold circuit include ADCs, </a:t>
            </a:r>
            <a:r>
              <a:rPr lang="en-IN" sz="2400" dirty="0"/>
              <a:t>Pulse Amplitude Measurement, digital oscilloscopes etc.</a:t>
            </a:r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9EAE8-4C4D-41C6-9731-502DF5453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081" y="956604"/>
            <a:ext cx="48482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365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Analog Voltage Multiplier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8" y="956604"/>
            <a:ext cx="11034933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/>
              <a:t>There are multiple configurations for an Analog voltage multiplier.</a:t>
            </a:r>
          </a:p>
          <a:p>
            <a:pPr algn="just"/>
            <a:r>
              <a:rPr lang="en-IN" sz="2200" dirty="0"/>
              <a:t>One of the ways is log-antilog configuration. The outputs of log amplifiers are summed together.</a:t>
            </a:r>
          </a:p>
          <a:p>
            <a:pPr algn="just"/>
            <a:r>
              <a:rPr lang="en-US" sz="2200" dirty="0"/>
              <a:t>The circuit operation is based on the logarithmic identity. </a:t>
            </a:r>
            <a:endParaRPr lang="en-IN" sz="2200" dirty="0"/>
          </a:p>
          <a:p>
            <a:pPr algn="just"/>
            <a:endParaRPr lang="en-IN" sz="2200" dirty="0"/>
          </a:p>
          <a:p>
            <a:pPr algn="just"/>
            <a:r>
              <a:rPr lang="en-US" sz="2200" dirty="0"/>
              <a:t>Since operational amplifiers can accurately add voltages, multiplication becomes practically realizable after converting signals into logarithmic form.</a:t>
            </a:r>
          </a:p>
          <a:p>
            <a:pPr algn="just"/>
            <a:r>
              <a:rPr lang="en-US" sz="2200" dirty="0"/>
              <a:t>The summed logarithmic voltage is applied to another transistor configured as an antilog amplifier.</a:t>
            </a:r>
          </a:p>
          <a:p>
            <a:pPr algn="just"/>
            <a:endParaRPr lang="en-US" sz="2200" dirty="0"/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For voltage division give the output of </a:t>
            </a:r>
          </a:p>
          <a:p>
            <a:pPr marL="0" indent="0" algn="just">
              <a:buNone/>
            </a:pPr>
            <a:r>
              <a:rPr lang="en-US" sz="2200" dirty="0"/>
              <a:t>    log amplifier to a difference amplifier.</a:t>
            </a:r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529E88-5865-4FB4-841D-A962047B7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700" y="4630771"/>
            <a:ext cx="5600117" cy="2016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B2CD2-805F-40AC-9246-9A05BCD9F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839" y="2519948"/>
            <a:ext cx="3286125" cy="523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889E71-CC71-4630-B06C-C32FE7A3D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798" y="4054717"/>
            <a:ext cx="37814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34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FC38-09E7-4597-AE4D-25B8F732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0"/>
            <a:ext cx="5543550" cy="647749"/>
          </a:xfrm>
        </p:spPr>
        <p:txBody>
          <a:bodyPr>
            <a:normAutofit fontScale="90000"/>
          </a:bodyPr>
          <a:lstStyle/>
          <a:p>
            <a:r>
              <a:rPr lang="en-IN" dirty="0"/>
              <a:t>Applications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8" y="956604"/>
            <a:ext cx="6209715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b="1" dirty="0"/>
              <a:t>Voltage Squarer</a:t>
            </a:r>
            <a:endParaRPr lang="en-IN" sz="2200" dirty="0"/>
          </a:p>
          <a:p>
            <a:pPr algn="just"/>
            <a:r>
              <a:rPr lang="en-IN" sz="2200" dirty="0"/>
              <a:t>For the above described multiplier configuration supply both the input voltages as equal signals.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r>
              <a:rPr lang="en-IN" sz="2200" b="1" dirty="0"/>
              <a:t>Frequency Doubler:</a:t>
            </a:r>
          </a:p>
          <a:p>
            <a:pPr algn="just"/>
            <a:r>
              <a:rPr lang="en-IN" sz="2200" dirty="0"/>
              <a:t>The same voltage squarer when given with two signals of same frequency, the </a:t>
            </a:r>
            <a:r>
              <a:rPr lang="en-IN" sz="2200" dirty="0" err="1"/>
              <a:t>the</a:t>
            </a:r>
            <a:r>
              <a:rPr lang="en-IN" sz="2200" dirty="0"/>
              <a:t> output voltage turns out to be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F25D28-C0C8-481A-B75D-E4CE0E1FC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241" y="534254"/>
            <a:ext cx="4486275" cy="1400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D6047F-5544-4141-8D84-DCDD8A30F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47" y="2185328"/>
            <a:ext cx="1394091" cy="4734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412057-1407-4E09-92C6-0A71AF069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05" y="4545551"/>
            <a:ext cx="5676900" cy="1571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D652BD-C663-4235-9640-747C95402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361" y="1908299"/>
            <a:ext cx="5014033" cy="2637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E32B31-3FB9-4767-AB02-6B3FD9E56A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388" y="4654098"/>
            <a:ext cx="4593006" cy="183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660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A72E4E5-A2FE-4301-A521-984815AB9886}"/>
              </a:ext>
            </a:extLst>
          </p:cNvPr>
          <p:cNvSpPr txBox="1">
            <a:spLocks/>
          </p:cNvSpPr>
          <p:nvPr/>
        </p:nvSpPr>
        <p:spPr>
          <a:xfrm>
            <a:off x="838199" y="956604"/>
            <a:ext cx="6265986" cy="5220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400" b="1" dirty="0"/>
              <a:t>Phase angle detector:</a:t>
            </a:r>
          </a:p>
          <a:p>
            <a:pPr algn="just"/>
            <a:r>
              <a:rPr lang="en-IN" sz="2400" dirty="0"/>
              <a:t> When the inputs are given to the voltage multiplier with different phase angles the sinusoidal terms get multiplied.</a:t>
            </a:r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endParaRPr lang="en-IN" sz="2200" dirty="0"/>
          </a:p>
          <a:p>
            <a:pPr algn="just"/>
            <a:r>
              <a:rPr lang="en-IN" sz="2200" dirty="0"/>
              <a:t>The values of </a:t>
            </a:r>
            <a:r>
              <a:rPr lang="en-IN" sz="2200" dirty="0" err="1"/>
              <a:t>vxp</a:t>
            </a:r>
            <a:r>
              <a:rPr lang="en-IN" sz="2200" dirty="0"/>
              <a:t> and </a:t>
            </a:r>
            <a:r>
              <a:rPr lang="en-IN" sz="2200" dirty="0" err="1"/>
              <a:t>vyp</a:t>
            </a:r>
            <a:r>
              <a:rPr lang="en-IN" sz="2200" dirty="0"/>
              <a:t> represent peak amplitudes of input signals. A scaling factor of 10 is deployed for the multiplier configuration.</a:t>
            </a:r>
          </a:p>
          <a:p>
            <a:pPr algn="just"/>
            <a:r>
              <a:rPr lang="en-IN" sz="2200" dirty="0"/>
              <a:t>From the DC component, the phase can be calculated using phase angle meter.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35825B-7D84-4791-A3DD-62BE7540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7" y="534254"/>
            <a:ext cx="4869473" cy="20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4A6199-2C4E-46FF-8DF1-E17A6F84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007" y="2705589"/>
            <a:ext cx="5891433" cy="7234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5D9F89-15A6-4C09-8F0F-16F0ABF3E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442" y="3527475"/>
            <a:ext cx="2571750" cy="733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1AF0F-C4FC-4DC0-9DEF-60C63DE6F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5428" y="2705589"/>
            <a:ext cx="3972877" cy="186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81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9623</TotalTime>
  <Words>2198</Words>
  <Application>Microsoft Office PowerPoint</Application>
  <PresentationFormat>Widescreen</PresentationFormat>
  <Paragraphs>234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Times New Roman</vt:lpstr>
      <vt:lpstr>Office Theme</vt:lpstr>
      <vt:lpstr>PowerPoint Presentation</vt:lpstr>
      <vt:lpstr>Differential Amplifier</vt:lpstr>
      <vt:lpstr>Differential Amplifier with two Op-Amps</vt:lpstr>
      <vt:lpstr>PowerPoint Presentation</vt:lpstr>
      <vt:lpstr>Instrumentation Amplifier</vt:lpstr>
      <vt:lpstr>Instrumentation Amplifier</vt:lpstr>
      <vt:lpstr>Limitations of difference amplifier</vt:lpstr>
      <vt:lpstr>Schematic of Instrumentation amplifier</vt:lpstr>
      <vt:lpstr>Merits of Instrumentation Amplifier</vt:lpstr>
      <vt:lpstr>PowerPoint Presentation</vt:lpstr>
      <vt:lpstr>PowerPoint Presentation</vt:lpstr>
      <vt:lpstr>Precision Rectifier</vt:lpstr>
      <vt:lpstr>Precision Rectifier</vt:lpstr>
      <vt:lpstr>Precision Inverse Half Wave Rectifier</vt:lpstr>
      <vt:lpstr>Precision Full Wave Rectifier</vt:lpstr>
      <vt:lpstr>Absolute value circuit.</vt:lpstr>
      <vt:lpstr>Clippers</vt:lpstr>
      <vt:lpstr>PowerPoint Presentation</vt:lpstr>
      <vt:lpstr>Clampers</vt:lpstr>
      <vt:lpstr>Clampers</vt:lpstr>
      <vt:lpstr>Logarithmic amplifier</vt:lpstr>
      <vt:lpstr>PowerPoint Presentation</vt:lpstr>
      <vt:lpstr>PowerPoint Presentation</vt:lpstr>
      <vt:lpstr>PowerPoint Presentation</vt:lpstr>
      <vt:lpstr>PowerPoint Presentation</vt:lpstr>
      <vt:lpstr>Antilog amplifier</vt:lpstr>
      <vt:lpstr>PowerPoint Presentation</vt:lpstr>
      <vt:lpstr>Antilog amplifier</vt:lpstr>
      <vt:lpstr>Antilog amplifier</vt:lpstr>
      <vt:lpstr>Op-Amp Comparator </vt:lpstr>
      <vt:lpstr>Op-Amp Comparator </vt:lpstr>
      <vt:lpstr>Op-Amp Comparator </vt:lpstr>
      <vt:lpstr>Schmitt trigger</vt:lpstr>
      <vt:lpstr>Schmitt trigger</vt:lpstr>
      <vt:lpstr>Merits</vt:lpstr>
      <vt:lpstr>Sample and Hold circuit</vt:lpstr>
      <vt:lpstr>Sample and Hold circuit</vt:lpstr>
      <vt:lpstr>Analog Voltage Multiplier</vt:lpstr>
      <vt:lpstr>Applications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Allam Akshayakranth</dc:creator>
  <cp:lastModifiedBy>M S Krishna</cp:lastModifiedBy>
  <cp:revision>430</cp:revision>
  <dcterms:created xsi:type="dcterms:W3CDTF">2024-12-18T15:58:50Z</dcterms:created>
  <dcterms:modified xsi:type="dcterms:W3CDTF">2026-03-02T05:40:12Z</dcterms:modified>
</cp:coreProperties>
</file>