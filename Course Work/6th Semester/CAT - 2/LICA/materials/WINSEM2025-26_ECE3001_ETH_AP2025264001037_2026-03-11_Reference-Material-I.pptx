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93" r:id="rId2"/>
    <p:sldId id="794" r:id="rId3"/>
    <p:sldId id="795" r:id="rId4"/>
    <p:sldId id="796" r:id="rId5"/>
    <p:sldId id="797" r:id="rId6"/>
    <p:sldId id="799" r:id="rId7"/>
    <p:sldId id="802" r:id="rId8"/>
    <p:sldId id="800" r:id="rId9"/>
    <p:sldId id="801" r:id="rId10"/>
    <p:sldId id="803" r:id="rId11"/>
    <p:sldId id="804" r:id="rId12"/>
    <p:sldId id="805" r:id="rId13"/>
    <p:sldId id="806" r:id="rId14"/>
    <p:sldId id="816" r:id="rId15"/>
    <p:sldId id="807" r:id="rId16"/>
    <p:sldId id="808" r:id="rId17"/>
    <p:sldId id="809" r:id="rId18"/>
    <p:sldId id="811" r:id="rId19"/>
    <p:sldId id="812" r:id="rId20"/>
    <p:sldId id="813" r:id="rId21"/>
    <p:sldId id="814" r:id="rId22"/>
    <p:sldId id="81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2C0736C-917C-47B9-A246-7C7FEFEA5D08}">
          <p14:sldIdLst>
            <p14:sldId id="793"/>
            <p14:sldId id="794"/>
            <p14:sldId id="795"/>
            <p14:sldId id="796"/>
            <p14:sldId id="797"/>
            <p14:sldId id="799"/>
            <p14:sldId id="802"/>
            <p14:sldId id="800"/>
            <p14:sldId id="801"/>
            <p14:sldId id="803"/>
            <p14:sldId id="804"/>
            <p14:sldId id="805"/>
            <p14:sldId id="806"/>
            <p14:sldId id="816"/>
            <p14:sldId id="807"/>
            <p14:sldId id="808"/>
            <p14:sldId id="809"/>
            <p14:sldId id="811"/>
            <p14:sldId id="812"/>
            <p14:sldId id="813"/>
            <p14:sldId id="814"/>
            <p14:sldId id="8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3027-4DE1-4713-9F14-D8EC87ED60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270E1E-B7DA-4DED-985D-2280FFEA19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C663A8-BBB0-494D-A57A-A0D7E6FCD957}"/>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5" name="Footer Placeholder 4">
            <a:extLst>
              <a:ext uri="{FF2B5EF4-FFF2-40B4-BE49-F238E27FC236}">
                <a16:creationId xmlns:a16="http://schemas.microsoft.com/office/drawing/2014/main" id="{0D93C86B-3FF0-4DAB-83BA-EFD044B921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324334-2DC3-4481-A630-C0BB6739264C}"/>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4193814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8EBAA-1CB9-453E-8743-5AD7D468CA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CFB77B-6B48-4057-B66A-D591078D5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4333B6-51E5-47B2-ABC5-196B07A875B4}"/>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5" name="Footer Placeholder 4">
            <a:extLst>
              <a:ext uri="{FF2B5EF4-FFF2-40B4-BE49-F238E27FC236}">
                <a16:creationId xmlns:a16="http://schemas.microsoft.com/office/drawing/2014/main" id="{F0394391-0D06-4BC0-8188-3758C6EFFC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50A29C-F8CF-4C50-92BE-2A95A2924559}"/>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712343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F297A-0EFD-48EF-A938-B0BFAEBE9D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1C3843-3128-4CC2-AF36-7A469F0136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7ECA8F-252C-409B-9DB2-A81904D24B14}"/>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5" name="Footer Placeholder 4">
            <a:extLst>
              <a:ext uri="{FF2B5EF4-FFF2-40B4-BE49-F238E27FC236}">
                <a16:creationId xmlns:a16="http://schemas.microsoft.com/office/drawing/2014/main" id="{254E7569-FA90-4DA7-AC95-7AD5E2E59E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7B037F-10C4-4F28-9016-3EB140551EFB}"/>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426633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6ACBA-E567-4FE8-8500-06B51E8FF7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AC62E9-9BF3-457B-8F04-4E85C4EDFA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DD0DF85-CC44-4871-A14B-B6FA1D99A8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12DD3E-8B2D-4BEF-87CF-2F6B5F64C5FC}"/>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6" name="Footer Placeholder 5">
            <a:extLst>
              <a:ext uri="{FF2B5EF4-FFF2-40B4-BE49-F238E27FC236}">
                <a16:creationId xmlns:a16="http://schemas.microsoft.com/office/drawing/2014/main" id="{60B9F6AC-4BFC-4A38-A7D5-7AD0D55556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0D4C43-D412-4988-838C-0DE0017EBBED}"/>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1748219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A5F0C-034B-445E-B1D2-8D64E973EF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CD7C2B-9391-497F-8195-487CD91378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5A7C37-F724-4E3F-B381-79B5495E12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087BDE-06A2-4754-BD69-63753D06CC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8EC602-D1D7-4785-A9A9-5E5DC9B074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1C3B3F-281B-467A-8881-7CA5A4B85D94}"/>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8" name="Footer Placeholder 7">
            <a:extLst>
              <a:ext uri="{FF2B5EF4-FFF2-40B4-BE49-F238E27FC236}">
                <a16:creationId xmlns:a16="http://schemas.microsoft.com/office/drawing/2014/main" id="{54D3E5C1-23AF-4F31-B89D-BF4903D1D7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F68524-AA1C-4EAB-A716-7EF413782EA4}"/>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1940336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6E6F4-AF0A-49CB-9ED7-46E23CF15E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0A2DF1-8457-4622-B95A-190ACBDC19DB}"/>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4" name="Footer Placeholder 3">
            <a:extLst>
              <a:ext uri="{FF2B5EF4-FFF2-40B4-BE49-F238E27FC236}">
                <a16:creationId xmlns:a16="http://schemas.microsoft.com/office/drawing/2014/main" id="{68C96D95-A06A-4AE3-8712-0497955B38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C38098-6243-4176-ADB1-85E58DA02256}"/>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3531786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46BCF5-9227-41C6-8AC9-4C020B16ACD2}"/>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3" name="Footer Placeholder 2">
            <a:extLst>
              <a:ext uri="{FF2B5EF4-FFF2-40B4-BE49-F238E27FC236}">
                <a16:creationId xmlns:a16="http://schemas.microsoft.com/office/drawing/2014/main" id="{27BAA0A3-69CE-435B-8A92-88B59024FE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90CF34-99E7-4C6C-A6B0-DE8594D3E38D}"/>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210008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A53C-5F50-42BD-B892-F2AD0598F1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B093B1-B4D8-47B9-BF77-E41B36191C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63AD77-CFA9-4C21-A19F-8126F9531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9CB73-EFFD-404B-89A3-F04F528F874F}"/>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6" name="Footer Placeholder 5">
            <a:extLst>
              <a:ext uri="{FF2B5EF4-FFF2-40B4-BE49-F238E27FC236}">
                <a16:creationId xmlns:a16="http://schemas.microsoft.com/office/drawing/2014/main" id="{E6B11A24-E02D-4795-9672-3C2370BDB5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894939-E47E-4061-B86B-A01417C59CA7}"/>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3655822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7027F-D4D1-4B16-B33D-B914655489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20E077-97E5-457B-B07E-C8E188B933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A20734-5038-4006-96B1-9CBF8B15F8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838EB4-72D5-4726-B1FA-7F6F5CCC3E84}"/>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6" name="Footer Placeholder 5">
            <a:extLst>
              <a:ext uri="{FF2B5EF4-FFF2-40B4-BE49-F238E27FC236}">
                <a16:creationId xmlns:a16="http://schemas.microsoft.com/office/drawing/2014/main" id="{6A7E6CC9-1607-4BE9-B9DE-3155851ABC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6A3CD1-A19E-464D-964A-E244798A2520}"/>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1056888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3F650-A86E-45D5-AF1D-E0B3762B43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9E68AA-1DF2-4EE2-A1D8-C560D3BCA5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EC3956-7600-4407-908F-22DDF54F6182}"/>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5" name="Footer Placeholder 4">
            <a:extLst>
              <a:ext uri="{FF2B5EF4-FFF2-40B4-BE49-F238E27FC236}">
                <a16:creationId xmlns:a16="http://schemas.microsoft.com/office/drawing/2014/main" id="{55F0BE22-82CF-465F-B5FF-9B6886EC7E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EC889F-4D66-4767-A04F-81E4CE3D251B}"/>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337372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752104-C238-4B39-8256-D16ACA2F3D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5BF887-4838-4D16-A914-3F25585DFB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1718AE-CE5C-4BEB-8C38-716E7DD0C3C4}"/>
              </a:ext>
            </a:extLst>
          </p:cNvPr>
          <p:cNvSpPr>
            <a:spLocks noGrp="1"/>
          </p:cNvSpPr>
          <p:nvPr>
            <p:ph type="dt" sz="half" idx="10"/>
          </p:nvPr>
        </p:nvSpPr>
        <p:spPr/>
        <p:txBody>
          <a:bodyPr/>
          <a:lstStyle/>
          <a:p>
            <a:fld id="{E5AE31E9-CBD8-42A2-8F62-2FEEA4FAC164}" type="datetimeFigureOut">
              <a:rPr lang="en-IN" smtClean="0"/>
              <a:t>13-03-2026</a:t>
            </a:fld>
            <a:endParaRPr lang="en-IN"/>
          </a:p>
        </p:txBody>
      </p:sp>
      <p:sp>
        <p:nvSpPr>
          <p:cNvPr id="5" name="Footer Placeholder 4">
            <a:extLst>
              <a:ext uri="{FF2B5EF4-FFF2-40B4-BE49-F238E27FC236}">
                <a16:creationId xmlns:a16="http://schemas.microsoft.com/office/drawing/2014/main" id="{EC868C61-AA66-4F7A-A182-A0F4F461EF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BB3066-122E-4B13-9FE5-9C28D1BFE08A}"/>
              </a:ext>
            </a:extLst>
          </p:cNvPr>
          <p:cNvSpPr>
            <a:spLocks noGrp="1"/>
          </p:cNvSpPr>
          <p:nvPr>
            <p:ph type="sldNum" sz="quarter" idx="12"/>
          </p:nvPr>
        </p:nvSpPr>
        <p:spPr/>
        <p:txBody>
          <a:bodyPr/>
          <a:lstStyle/>
          <a:p>
            <a:fld id="{D0E0AAAD-255F-4ABC-A35A-5BB485359B40}" type="slidenum">
              <a:rPr lang="en-IN" smtClean="0"/>
              <a:t>‹#›</a:t>
            </a:fld>
            <a:endParaRPr lang="en-IN"/>
          </a:p>
        </p:txBody>
      </p:sp>
    </p:spTree>
    <p:extLst>
      <p:ext uri="{BB962C8B-B14F-4D97-AF65-F5344CB8AC3E}">
        <p14:creationId xmlns:p14="http://schemas.microsoft.com/office/powerpoint/2010/main" val="1218927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D8A0FC-154E-47C3-8160-CFAF720AA0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DA71E6-8F00-403E-A048-DF8D7D2AB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6D639D-B65C-41A6-887D-F794C1E7E0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E31E9-CBD8-42A2-8F62-2FEEA4FAC164}" type="datetimeFigureOut">
              <a:rPr lang="en-IN" smtClean="0"/>
              <a:t>13-03-2026</a:t>
            </a:fld>
            <a:endParaRPr lang="en-IN"/>
          </a:p>
        </p:txBody>
      </p:sp>
      <p:sp>
        <p:nvSpPr>
          <p:cNvPr id="5" name="Footer Placeholder 4">
            <a:extLst>
              <a:ext uri="{FF2B5EF4-FFF2-40B4-BE49-F238E27FC236}">
                <a16:creationId xmlns:a16="http://schemas.microsoft.com/office/drawing/2014/main" id="{9C266085-228F-4C7D-9C57-E672E797E3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1E5C931-F4C4-4971-9CD2-F05D5519E4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0AAAD-255F-4ABC-A35A-5BB485359B40}" type="slidenum">
              <a:rPr lang="en-IN" smtClean="0"/>
              <a:t>‹#›</a:t>
            </a:fld>
            <a:endParaRPr lang="en-IN"/>
          </a:p>
        </p:txBody>
      </p:sp>
    </p:spTree>
    <p:extLst>
      <p:ext uri="{BB962C8B-B14F-4D97-AF65-F5344CB8AC3E}">
        <p14:creationId xmlns:p14="http://schemas.microsoft.com/office/powerpoint/2010/main" val="2580716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838200" y="59892"/>
            <a:ext cx="10515600" cy="774995"/>
          </a:xfrm>
        </p:spPr>
        <p:txBody>
          <a:bodyPr/>
          <a:lstStyle/>
          <a:p>
            <a:r>
              <a:rPr lang="en-US" dirty="0"/>
              <a:t>IC 555 Timer</a:t>
            </a:r>
            <a:endParaRPr lang="en-IN" dirty="0"/>
          </a:p>
        </p:txBody>
      </p:sp>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588062" y="834887"/>
            <a:ext cx="8007297" cy="5326762"/>
          </a:xfrm>
        </p:spPr>
        <p:txBody>
          <a:bodyPr>
            <a:normAutofit fontScale="85000" lnSpcReduction="20000"/>
          </a:bodyPr>
          <a:lstStyle/>
          <a:p>
            <a:pPr algn="just"/>
            <a:r>
              <a:rPr lang="en-US" sz="2400" dirty="0"/>
              <a:t>The positive supply connected to pin 8 (VCC) and the negative supply to pin 1 (Ground), while the output at pin 3 can switch between a HIGH level (≈ VCC−0.5 ) and a LOW level (≈ 0.1 V).</a:t>
            </a:r>
          </a:p>
          <a:p>
            <a:pPr algn="just"/>
            <a:r>
              <a:rPr lang="en-US" sz="2400" dirty="0"/>
              <a:t>The internal operation is based on two comparators monitor input voltages and control the internal flip-flop state.</a:t>
            </a:r>
          </a:p>
          <a:p>
            <a:pPr algn="just"/>
            <a:r>
              <a:rPr lang="en-IN" sz="2400" dirty="0"/>
              <a:t>Internal voltage divider: The voltage divider arrangement with resistors arrange for the threshold voltages for upper and lower comparators with 2/3Vcc and 1/3Vcc.</a:t>
            </a:r>
          </a:p>
          <a:p>
            <a:pPr algn="just"/>
            <a:r>
              <a:rPr lang="en-IN" sz="2400" dirty="0"/>
              <a:t>The control voltage pin is used for external modulation of reference levels and generally bypassed with 0.1uF capacitor to remove noise.</a:t>
            </a:r>
          </a:p>
          <a:p>
            <a:pPr algn="just"/>
            <a:r>
              <a:rPr lang="en-IN" sz="2400" dirty="0"/>
              <a:t>Pins 2 and 6 act as trigger and threshold pins to change the state of output.</a:t>
            </a:r>
          </a:p>
          <a:p>
            <a:pPr algn="just"/>
            <a:r>
              <a:rPr lang="en-IN" sz="2400" dirty="0"/>
              <a:t>Trigger operation sets output to high when the voltage at pin2 reduces below 1/3 </a:t>
            </a:r>
            <a:r>
              <a:rPr lang="en-IN" sz="2400" dirty="0" err="1"/>
              <a:t>Vcc</a:t>
            </a:r>
            <a:r>
              <a:rPr lang="en-IN" sz="2400" dirty="0"/>
              <a:t>.</a:t>
            </a:r>
          </a:p>
          <a:p>
            <a:pPr algn="just"/>
            <a:r>
              <a:rPr lang="en-IN" sz="2400" dirty="0"/>
              <a:t>When at pin 6 voltage increases by 2/3 </a:t>
            </a:r>
            <a:r>
              <a:rPr lang="en-IN" sz="2400" dirty="0" err="1"/>
              <a:t>Vcc</a:t>
            </a:r>
            <a:r>
              <a:rPr lang="en-IN" sz="2400" dirty="0"/>
              <a:t> the output state goes high resetting the flipflop forcing Q to zero.</a:t>
            </a:r>
          </a:p>
          <a:p>
            <a:pPr algn="just"/>
            <a:r>
              <a:rPr lang="en-US" sz="2400" dirty="0"/>
              <a:t>The reset pin (pin 4) can force the output LOW when its voltage drops below 0.4 V. while the internal discharge transistor 𝑄1Q1	​ connected to pin 7 conducts when the output is LOW to discharge the external capacitor and turns OFF when the output is HIGH.</a:t>
            </a:r>
            <a:endParaRPr lang="en-IN" sz="2400" dirty="0"/>
          </a:p>
        </p:txBody>
      </p:sp>
      <p:pic>
        <p:nvPicPr>
          <p:cNvPr id="4" name="Picture 3">
            <a:extLst>
              <a:ext uri="{FF2B5EF4-FFF2-40B4-BE49-F238E27FC236}">
                <a16:creationId xmlns:a16="http://schemas.microsoft.com/office/drawing/2014/main" id="{99BBDC6D-4F9E-41F8-B06E-80DEE4433950}"/>
              </a:ext>
            </a:extLst>
          </p:cNvPr>
          <p:cNvPicPr>
            <a:picLocks noChangeAspect="1"/>
          </p:cNvPicPr>
          <p:nvPr/>
        </p:nvPicPr>
        <p:blipFill>
          <a:blip r:embed="rId2"/>
          <a:stretch>
            <a:fillRect/>
          </a:stretch>
        </p:blipFill>
        <p:spPr>
          <a:xfrm>
            <a:off x="8595360" y="1101626"/>
            <a:ext cx="3489959" cy="3695700"/>
          </a:xfrm>
          <a:prstGeom prst="rect">
            <a:avLst/>
          </a:prstGeom>
        </p:spPr>
      </p:pic>
    </p:spTree>
    <p:extLst>
      <p:ext uri="{BB962C8B-B14F-4D97-AF65-F5344CB8AC3E}">
        <p14:creationId xmlns:p14="http://schemas.microsoft.com/office/powerpoint/2010/main" val="1907793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E9B384F-369E-44B9-9ECE-17B269642E08}"/>
              </a:ext>
            </a:extLst>
          </p:cNvPr>
          <p:cNvPicPr>
            <a:picLocks noGrp="1" noChangeAspect="1"/>
          </p:cNvPicPr>
          <p:nvPr>
            <p:ph idx="1"/>
          </p:nvPr>
        </p:nvPicPr>
        <p:blipFill rotWithShape="1">
          <a:blip r:embed="rId2"/>
          <a:srcRect l="7385"/>
          <a:stretch/>
        </p:blipFill>
        <p:spPr>
          <a:xfrm>
            <a:off x="2489982" y="-10209"/>
            <a:ext cx="7737230" cy="6868209"/>
          </a:xfrm>
          <a:prstGeom prst="rect">
            <a:avLst/>
          </a:prstGeom>
        </p:spPr>
      </p:pic>
    </p:spTree>
    <p:extLst>
      <p:ext uri="{BB962C8B-B14F-4D97-AF65-F5344CB8AC3E}">
        <p14:creationId xmlns:p14="http://schemas.microsoft.com/office/powerpoint/2010/main" val="1776223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lstStyle/>
          <a:p>
            <a:r>
              <a:rPr lang="en-US" dirty="0"/>
              <a:t>Monostable </a:t>
            </a:r>
            <a:r>
              <a:rPr lang="en-US" dirty="0" err="1"/>
              <a:t>Multivibrator</a:t>
            </a:r>
            <a:endParaRPr lang="en-IN" dirty="0"/>
          </a:p>
        </p:txBody>
      </p:sp>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588063" y="834887"/>
            <a:ext cx="7388320" cy="5326762"/>
          </a:xfrm>
        </p:spPr>
        <p:txBody>
          <a:bodyPr>
            <a:normAutofit/>
          </a:bodyPr>
          <a:lstStyle/>
          <a:p>
            <a:pPr algn="just"/>
            <a:r>
              <a:rPr lang="en-US" sz="2400" dirty="0"/>
              <a:t>Monostable </a:t>
            </a:r>
            <a:r>
              <a:rPr lang="en-US" sz="2400" dirty="0" err="1"/>
              <a:t>multivibrator</a:t>
            </a:r>
            <a:r>
              <a:rPr lang="en-US" sz="2400" dirty="0"/>
              <a:t> has one stable state and one quasi-stable state. It is also known as </a:t>
            </a:r>
            <a:r>
              <a:rPr lang="en-US" sz="2400" dirty="0" err="1"/>
              <a:t>monoshot</a:t>
            </a:r>
            <a:r>
              <a:rPr lang="en-US" sz="2400" dirty="0"/>
              <a:t> or one-shot </a:t>
            </a:r>
            <a:r>
              <a:rPr lang="en-US" sz="2400" dirty="0" err="1"/>
              <a:t>multivibrator</a:t>
            </a:r>
            <a:r>
              <a:rPr lang="en-US" sz="2400" dirty="0"/>
              <a:t> or </a:t>
            </a:r>
            <a:r>
              <a:rPr lang="en-US" sz="2400" dirty="0" err="1"/>
              <a:t>uni</a:t>
            </a:r>
            <a:r>
              <a:rPr lang="en-US" sz="2400" dirty="0"/>
              <a:t>-vibrator.</a:t>
            </a:r>
          </a:p>
          <a:p>
            <a:pPr algn="just"/>
            <a:r>
              <a:rPr lang="en-US" sz="2400" dirty="0"/>
              <a:t>It remains in its stable state until an input pulse triggers it into its quasi-stable state. It stays in quasi-stable state for a time duration determined by an RC timing circuit.</a:t>
            </a:r>
          </a:p>
          <a:p>
            <a:pPr algn="just"/>
            <a:r>
              <a:rPr lang="en-IN" sz="2400" dirty="0"/>
              <a:t>Post RC time o/p returns to standby or stable state.</a:t>
            </a:r>
          </a:p>
          <a:p>
            <a:pPr algn="just"/>
            <a:r>
              <a:rPr lang="en-IN" sz="2400" dirty="0"/>
              <a:t>The circuit is built by connecting a resistor between pin 8 and pin6.</a:t>
            </a:r>
          </a:p>
          <a:p>
            <a:pPr algn="just"/>
            <a:r>
              <a:rPr lang="en-IN" sz="2400" dirty="0"/>
              <a:t>A capacitor is connected to pin 7 and shorted to pin 6. This RC network decides the pulse width or time constant of the pulse.</a:t>
            </a:r>
          </a:p>
          <a:p>
            <a:pPr algn="just"/>
            <a:endParaRPr lang="en-IN" sz="2400" dirty="0"/>
          </a:p>
          <a:p>
            <a:pPr algn="just"/>
            <a:endParaRPr lang="en-IN" sz="2400" dirty="0"/>
          </a:p>
        </p:txBody>
      </p:sp>
      <p:pic>
        <p:nvPicPr>
          <p:cNvPr id="5" name="Picture 4">
            <a:extLst>
              <a:ext uri="{FF2B5EF4-FFF2-40B4-BE49-F238E27FC236}">
                <a16:creationId xmlns:a16="http://schemas.microsoft.com/office/drawing/2014/main" id="{7BEFF4F3-DC39-4D84-9F9D-CF0EE348E17B}"/>
              </a:ext>
            </a:extLst>
          </p:cNvPr>
          <p:cNvPicPr>
            <a:picLocks noChangeAspect="1"/>
          </p:cNvPicPr>
          <p:nvPr/>
        </p:nvPicPr>
        <p:blipFill>
          <a:blip r:embed="rId2"/>
          <a:stretch>
            <a:fillRect/>
          </a:stretch>
        </p:blipFill>
        <p:spPr>
          <a:xfrm>
            <a:off x="8102990" y="1041009"/>
            <a:ext cx="3870813" cy="3664194"/>
          </a:xfrm>
          <a:prstGeom prst="rect">
            <a:avLst/>
          </a:prstGeom>
        </p:spPr>
      </p:pic>
    </p:spTree>
    <p:extLst>
      <p:ext uri="{BB962C8B-B14F-4D97-AF65-F5344CB8AC3E}">
        <p14:creationId xmlns:p14="http://schemas.microsoft.com/office/powerpoint/2010/main" val="77072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7118169" y="211015"/>
            <a:ext cx="5073831" cy="5950634"/>
          </a:xfrm>
        </p:spPr>
        <p:txBody>
          <a:bodyPr>
            <a:normAutofit/>
          </a:bodyPr>
          <a:lstStyle/>
          <a:p>
            <a:pPr algn="just"/>
            <a:r>
              <a:rPr lang="en-IN" sz="2400" dirty="0"/>
              <a:t>Firstly UC and LC are given with 2/3 voltage for V- and 1/3 voltage for V+ respectively with voltage divider arrangement.</a:t>
            </a:r>
          </a:p>
          <a:p>
            <a:pPr algn="just"/>
            <a:r>
              <a:rPr lang="en-IN" sz="2400" dirty="0"/>
              <a:t>Pin number 2 is held at a voltage higher than 1/3Vcc.</a:t>
            </a:r>
          </a:p>
          <a:p>
            <a:pPr algn="just"/>
            <a:r>
              <a:rPr lang="en-IN" sz="2400" dirty="0"/>
              <a:t>Initially the output of </a:t>
            </a:r>
            <a:r>
              <a:rPr lang="en-IN" sz="2400" dirty="0" err="1"/>
              <a:t>flipfop</a:t>
            </a:r>
            <a:r>
              <a:rPr lang="en-IN" sz="2400" dirty="0"/>
              <a:t> is 0 making </a:t>
            </a:r>
            <a:r>
              <a:rPr lang="en-IN" sz="2400" dirty="0" err="1"/>
              <a:t>Q</a:t>
            </a:r>
            <a:r>
              <a:rPr lang="en-IN" sz="2400" baseline="-25000" dirty="0" err="1"/>
              <a:t>bar</a:t>
            </a:r>
            <a:r>
              <a:rPr lang="en-IN" sz="2400" dirty="0" err="1"/>
              <a:t>to</a:t>
            </a:r>
            <a:r>
              <a:rPr lang="en-IN" sz="2400" dirty="0"/>
              <a:t> 1 and Q1 ON.</a:t>
            </a:r>
          </a:p>
          <a:p>
            <a:pPr algn="just"/>
            <a:r>
              <a:rPr lang="en-IN" sz="2400" dirty="0"/>
              <a:t>The output of 555 timer is logic 0 or zero volts at output.</a:t>
            </a:r>
          </a:p>
          <a:p>
            <a:pPr algn="just"/>
            <a:r>
              <a:rPr lang="en-IN" sz="2400" dirty="0"/>
              <a:t>Now LC provides O/p logic zero since pin2 is more than 1/3Vcc</a:t>
            </a:r>
          </a:p>
          <a:p>
            <a:pPr algn="just"/>
            <a:r>
              <a:rPr lang="en-IN" sz="2400" dirty="0"/>
              <a:t>Since capacitor initial charge is zero, UC also provides output logic zero.</a:t>
            </a:r>
          </a:p>
          <a:p>
            <a:pPr algn="just"/>
            <a:r>
              <a:rPr lang="en-IN" sz="2400" dirty="0"/>
              <a:t>The flipflop retains earlier state as 0</a:t>
            </a:r>
          </a:p>
        </p:txBody>
      </p:sp>
      <p:pic>
        <p:nvPicPr>
          <p:cNvPr id="5" name="Picture 4">
            <a:extLst>
              <a:ext uri="{FF2B5EF4-FFF2-40B4-BE49-F238E27FC236}">
                <a16:creationId xmlns:a16="http://schemas.microsoft.com/office/drawing/2014/main" id="{C63ED302-50E0-4C97-B0D5-80D5E019C017}"/>
              </a:ext>
            </a:extLst>
          </p:cNvPr>
          <p:cNvPicPr>
            <a:picLocks noChangeAspect="1"/>
          </p:cNvPicPr>
          <p:nvPr/>
        </p:nvPicPr>
        <p:blipFill rotWithShape="1">
          <a:blip r:embed="rId2"/>
          <a:srcRect l="5774"/>
          <a:stretch/>
        </p:blipFill>
        <p:spPr>
          <a:xfrm>
            <a:off x="112542" y="0"/>
            <a:ext cx="7005627" cy="6868488"/>
          </a:xfrm>
          <a:prstGeom prst="rect">
            <a:avLst/>
          </a:prstGeom>
        </p:spPr>
      </p:pic>
    </p:spTree>
    <p:extLst>
      <p:ext uri="{BB962C8B-B14F-4D97-AF65-F5344CB8AC3E}">
        <p14:creationId xmlns:p14="http://schemas.microsoft.com/office/powerpoint/2010/main" val="234873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7118169" y="211015"/>
            <a:ext cx="5073831" cy="5950634"/>
          </a:xfrm>
        </p:spPr>
        <p:txBody>
          <a:bodyPr>
            <a:normAutofit/>
          </a:bodyPr>
          <a:lstStyle/>
          <a:p>
            <a:pPr algn="just"/>
            <a:r>
              <a:rPr lang="en-IN" sz="2400" dirty="0"/>
              <a:t>Now a small trigger of potential less than 1/3Vcc is applied at pin2</a:t>
            </a:r>
          </a:p>
          <a:p>
            <a:pPr algn="just"/>
            <a:r>
              <a:rPr lang="en-IN" sz="2400" dirty="0"/>
              <a:t>LC shifts output to +</a:t>
            </a:r>
            <a:r>
              <a:rPr lang="en-IN" sz="2400" dirty="0" err="1"/>
              <a:t>Vsat</a:t>
            </a:r>
            <a:r>
              <a:rPr lang="en-IN" sz="2400" dirty="0"/>
              <a:t> aka logic 1.</a:t>
            </a:r>
          </a:p>
          <a:p>
            <a:pPr algn="just"/>
            <a:r>
              <a:rPr lang="en-IN" sz="2400" dirty="0"/>
              <a:t>The UC still maintains logic zero at output as charge on capacitor is still zero.</a:t>
            </a:r>
          </a:p>
          <a:p>
            <a:pPr algn="just"/>
            <a:r>
              <a:rPr lang="en-IN" sz="2400" dirty="0"/>
              <a:t>SR flipflop with S=1 and R=0 makes Q=1</a:t>
            </a:r>
          </a:p>
          <a:p>
            <a:pPr algn="just"/>
            <a:r>
              <a:rPr lang="en-IN" sz="2400" dirty="0"/>
              <a:t>This makes </a:t>
            </a:r>
            <a:r>
              <a:rPr lang="en-IN" sz="2400" dirty="0" err="1"/>
              <a:t>Qbar</a:t>
            </a:r>
            <a:r>
              <a:rPr lang="en-IN" sz="2400" dirty="0"/>
              <a:t>=0 and Q2 OFF</a:t>
            </a:r>
          </a:p>
          <a:p>
            <a:pPr algn="just"/>
            <a:r>
              <a:rPr lang="en-IN" sz="2400" dirty="0"/>
              <a:t>Output of 555 times is logic high or saturated voltage at output.</a:t>
            </a:r>
          </a:p>
          <a:p>
            <a:pPr algn="just"/>
            <a:r>
              <a:rPr lang="en-IN" sz="2400" dirty="0"/>
              <a:t>Since Q1 off the capacitor is unclamped and starts to charge.</a:t>
            </a:r>
          </a:p>
          <a:p>
            <a:pPr algn="just"/>
            <a:r>
              <a:rPr lang="en-IN" sz="2400" dirty="0"/>
              <a:t>The capacitor charges via the resistor R connected to pin8.</a:t>
            </a:r>
          </a:p>
        </p:txBody>
      </p:sp>
      <p:pic>
        <p:nvPicPr>
          <p:cNvPr id="5" name="Picture 4">
            <a:extLst>
              <a:ext uri="{FF2B5EF4-FFF2-40B4-BE49-F238E27FC236}">
                <a16:creationId xmlns:a16="http://schemas.microsoft.com/office/drawing/2014/main" id="{C63ED302-50E0-4C97-B0D5-80D5E019C017}"/>
              </a:ext>
            </a:extLst>
          </p:cNvPr>
          <p:cNvPicPr>
            <a:picLocks noChangeAspect="1"/>
          </p:cNvPicPr>
          <p:nvPr/>
        </p:nvPicPr>
        <p:blipFill rotWithShape="1">
          <a:blip r:embed="rId2"/>
          <a:srcRect l="5774"/>
          <a:stretch/>
        </p:blipFill>
        <p:spPr>
          <a:xfrm>
            <a:off x="112542" y="0"/>
            <a:ext cx="7005627" cy="6868488"/>
          </a:xfrm>
          <a:prstGeom prst="rect">
            <a:avLst/>
          </a:prstGeom>
        </p:spPr>
      </p:pic>
    </p:spTree>
    <p:extLst>
      <p:ext uri="{BB962C8B-B14F-4D97-AF65-F5344CB8AC3E}">
        <p14:creationId xmlns:p14="http://schemas.microsoft.com/office/powerpoint/2010/main" val="321846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7118169" y="211014"/>
            <a:ext cx="5073831" cy="6657473"/>
          </a:xfrm>
        </p:spPr>
        <p:txBody>
          <a:bodyPr>
            <a:normAutofit fontScale="85000" lnSpcReduction="10000"/>
          </a:bodyPr>
          <a:lstStyle/>
          <a:p>
            <a:pPr algn="just"/>
            <a:r>
              <a:rPr lang="en-IN" sz="2400" dirty="0"/>
              <a:t>When the charge on capacitor exceeds 1/3Vcc the LC shifts o/p to logic 0. This makes S of FF as zero.</a:t>
            </a:r>
          </a:p>
          <a:p>
            <a:pPr algn="just"/>
            <a:r>
              <a:rPr lang="en-IN" sz="2400" dirty="0"/>
              <a:t>When the charge on capacitor exceeds 2/3Vcc, then UC shifts o/p to logic 1.</a:t>
            </a:r>
          </a:p>
          <a:p>
            <a:pPr algn="just"/>
            <a:r>
              <a:rPr lang="en-IN" sz="2400" dirty="0"/>
              <a:t>The FF has S=0 and R=1</a:t>
            </a:r>
          </a:p>
          <a:p>
            <a:pPr algn="just"/>
            <a:r>
              <a:rPr lang="en-IN" sz="2400" dirty="0"/>
              <a:t>This makes output Q=0 and </a:t>
            </a:r>
            <a:r>
              <a:rPr lang="en-IN" sz="2400" dirty="0" err="1"/>
              <a:t>Qbar</a:t>
            </a:r>
            <a:r>
              <a:rPr lang="en-IN" sz="2400" dirty="0"/>
              <a:t>=1 and Q1 ON</a:t>
            </a:r>
          </a:p>
          <a:p>
            <a:pPr algn="just"/>
            <a:r>
              <a:rPr lang="en-IN" sz="2400" dirty="0"/>
              <a:t>As soon as Q1 is ON, the capacitor clamps to transistor and discharges via the transistor to ground potential.</a:t>
            </a:r>
          </a:p>
          <a:p>
            <a:pPr algn="just"/>
            <a:r>
              <a:rPr lang="en-IN" sz="2400" dirty="0"/>
              <a:t>The output of 555 timer reverts back to zero.</a:t>
            </a:r>
          </a:p>
          <a:p>
            <a:pPr algn="just"/>
            <a:r>
              <a:rPr lang="en-IN" sz="2400" dirty="0"/>
              <a:t>This generates a pulse width of certain time period and then reverts back to its standby mode or stable mode hence monostable </a:t>
            </a:r>
            <a:r>
              <a:rPr lang="en-IN" sz="2400" dirty="0" err="1"/>
              <a:t>multivibrator</a:t>
            </a:r>
            <a:r>
              <a:rPr lang="en-IN" sz="2400" dirty="0"/>
              <a:t>.</a:t>
            </a:r>
          </a:p>
          <a:p>
            <a:pPr algn="just"/>
            <a:r>
              <a:rPr lang="en-IN" sz="2400" dirty="0"/>
              <a:t>The output remains zero until another trigger pulse is applied at pin 2.</a:t>
            </a:r>
          </a:p>
          <a:p>
            <a:pPr algn="just"/>
            <a:r>
              <a:rPr lang="en-US" sz="2400" dirty="0"/>
              <a:t>For proper monostable operation with the 555 timer, the negative-going trigger pulse width should be kept shorter compared to the desired output pulse width.</a:t>
            </a:r>
            <a:endParaRPr lang="en-IN" sz="2400" dirty="0"/>
          </a:p>
        </p:txBody>
      </p:sp>
      <p:pic>
        <p:nvPicPr>
          <p:cNvPr id="5" name="Picture 4">
            <a:extLst>
              <a:ext uri="{FF2B5EF4-FFF2-40B4-BE49-F238E27FC236}">
                <a16:creationId xmlns:a16="http://schemas.microsoft.com/office/drawing/2014/main" id="{C63ED302-50E0-4C97-B0D5-80D5E019C017}"/>
              </a:ext>
            </a:extLst>
          </p:cNvPr>
          <p:cNvPicPr>
            <a:picLocks noChangeAspect="1"/>
          </p:cNvPicPr>
          <p:nvPr/>
        </p:nvPicPr>
        <p:blipFill rotWithShape="1">
          <a:blip r:embed="rId2"/>
          <a:srcRect l="5774"/>
          <a:stretch/>
        </p:blipFill>
        <p:spPr>
          <a:xfrm>
            <a:off x="112542" y="0"/>
            <a:ext cx="7005627" cy="6868488"/>
          </a:xfrm>
          <a:prstGeom prst="rect">
            <a:avLst/>
          </a:prstGeom>
        </p:spPr>
      </p:pic>
    </p:spTree>
    <p:extLst>
      <p:ext uri="{BB962C8B-B14F-4D97-AF65-F5344CB8AC3E}">
        <p14:creationId xmlns:p14="http://schemas.microsoft.com/office/powerpoint/2010/main" val="269412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6FF2B2-9055-4D4B-ACEA-8F28EEB6CE7E}"/>
              </a:ext>
            </a:extLst>
          </p:cNvPr>
          <p:cNvPicPr>
            <a:picLocks noChangeAspect="1"/>
          </p:cNvPicPr>
          <p:nvPr/>
        </p:nvPicPr>
        <p:blipFill>
          <a:blip r:embed="rId2"/>
          <a:stretch>
            <a:fillRect/>
          </a:stretch>
        </p:blipFill>
        <p:spPr>
          <a:xfrm>
            <a:off x="6243429" y="406469"/>
            <a:ext cx="5694633" cy="2435205"/>
          </a:xfrm>
          <a:prstGeom prst="rect">
            <a:avLst/>
          </a:prstGeom>
        </p:spPr>
      </p:pic>
      <p:pic>
        <p:nvPicPr>
          <p:cNvPr id="7" name="Picture 6">
            <a:extLst>
              <a:ext uri="{FF2B5EF4-FFF2-40B4-BE49-F238E27FC236}">
                <a16:creationId xmlns:a16="http://schemas.microsoft.com/office/drawing/2014/main" id="{EAB5742B-13DE-4EA9-A4D7-DE16FFB5B66B}"/>
              </a:ext>
            </a:extLst>
          </p:cNvPr>
          <p:cNvPicPr>
            <a:picLocks noChangeAspect="1"/>
          </p:cNvPicPr>
          <p:nvPr/>
        </p:nvPicPr>
        <p:blipFill>
          <a:blip r:embed="rId3"/>
          <a:stretch>
            <a:fillRect/>
          </a:stretch>
        </p:blipFill>
        <p:spPr>
          <a:xfrm>
            <a:off x="391184" y="238417"/>
            <a:ext cx="5735465" cy="5585607"/>
          </a:xfrm>
          <a:prstGeom prst="rect">
            <a:avLst/>
          </a:prstGeom>
        </p:spPr>
      </p:pic>
    </p:spTree>
    <p:extLst>
      <p:ext uri="{BB962C8B-B14F-4D97-AF65-F5344CB8AC3E}">
        <p14:creationId xmlns:p14="http://schemas.microsoft.com/office/powerpoint/2010/main" val="1850760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lstStyle/>
          <a:p>
            <a:r>
              <a:rPr lang="en-US" dirty="0" err="1"/>
              <a:t>Astable</a:t>
            </a:r>
            <a:r>
              <a:rPr lang="en-US" dirty="0"/>
              <a:t> </a:t>
            </a:r>
            <a:r>
              <a:rPr lang="en-US" dirty="0" err="1"/>
              <a:t>Multivibrator</a:t>
            </a:r>
            <a:endParaRPr lang="en-IN" dirty="0"/>
          </a:p>
        </p:txBody>
      </p:sp>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588063" y="834887"/>
            <a:ext cx="6656800" cy="5326762"/>
          </a:xfrm>
        </p:spPr>
        <p:txBody>
          <a:bodyPr>
            <a:normAutofit/>
          </a:bodyPr>
          <a:lstStyle/>
          <a:p>
            <a:pPr algn="just"/>
            <a:r>
              <a:rPr lang="en-US" sz="2400" dirty="0" err="1"/>
              <a:t>Astable</a:t>
            </a:r>
            <a:r>
              <a:rPr lang="en-US" sz="2400" dirty="0"/>
              <a:t> </a:t>
            </a:r>
            <a:r>
              <a:rPr lang="en-US" sz="2400" dirty="0" err="1"/>
              <a:t>multivibrator</a:t>
            </a:r>
            <a:r>
              <a:rPr lang="en-US" sz="2400" dirty="0"/>
              <a:t> has no stable state and continuously oscillates between HIGH and LOW output levels.</a:t>
            </a:r>
          </a:p>
          <a:p>
            <a:pPr algn="just"/>
            <a:r>
              <a:rPr lang="en-US" sz="2400" dirty="0"/>
              <a:t>It generates a continuous square wave without any external trigger.</a:t>
            </a:r>
          </a:p>
          <a:p>
            <a:pPr algn="just"/>
            <a:r>
              <a:rPr lang="en-US" sz="2400" dirty="0"/>
              <a:t>The oscillation frequency and duty cycle are determined by external resistors RA, RB and capacitor C.</a:t>
            </a:r>
          </a:p>
          <a:p>
            <a:pPr algn="just"/>
            <a:r>
              <a:rPr lang="en-US" sz="2400" dirty="0"/>
              <a:t>Pins 2 and 6 are connected together to monitor the capacitor voltage.</a:t>
            </a:r>
          </a:p>
          <a:p>
            <a:pPr algn="just"/>
            <a:r>
              <a:rPr lang="en-US" sz="2400" dirty="0"/>
              <a:t>Charging and discharging of capacitor between 1/3 VCC and 2/3 VCC produces oscillations.</a:t>
            </a:r>
          </a:p>
          <a:p>
            <a:pPr algn="just"/>
            <a:endParaRPr lang="en-IN" sz="2400" dirty="0"/>
          </a:p>
          <a:p>
            <a:pPr algn="just"/>
            <a:endParaRPr lang="en-IN" sz="2400" dirty="0"/>
          </a:p>
        </p:txBody>
      </p:sp>
      <p:pic>
        <p:nvPicPr>
          <p:cNvPr id="5" name="Picture 4">
            <a:extLst>
              <a:ext uri="{FF2B5EF4-FFF2-40B4-BE49-F238E27FC236}">
                <a16:creationId xmlns:a16="http://schemas.microsoft.com/office/drawing/2014/main" id="{0B8204E0-C8AB-4F66-9FCF-185E99B9DF8E}"/>
              </a:ext>
            </a:extLst>
          </p:cNvPr>
          <p:cNvPicPr>
            <a:picLocks noChangeAspect="1"/>
          </p:cNvPicPr>
          <p:nvPr/>
        </p:nvPicPr>
        <p:blipFill>
          <a:blip r:embed="rId2"/>
          <a:stretch>
            <a:fillRect/>
          </a:stretch>
        </p:blipFill>
        <p:spPr>
          <a:xfrm>
            <a:off x="7462617" y="1243305"/>
            <a:ext cx="4610100" cy="4349112"/>
          </a:xfrm>
          <a:prstGeom prst="rect">
            <a:avLst/>
          </a:prstGeom>
        </p:spPr>
      </p:pic>
    </p:spTree>
    <p:extLst>
      <p:ext uri="{BB962C8B-B14F-4D97-AF65-F5344CB8AC3E}">
        <p14:creationId xmlns:p14="http://schemas.microsoft.com/office/powerpoint/2010/main" val="2487118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7118169" y="211015"/>
            <a:ext cx="5073831" cy="5950634"/>
          </a:xfrm>
        </p:spPr>
        <p:txBody>
          <a:bodyPr>
            <a:normAutofit fontScale="92500" lnSpcReduction="20000"/>
          </a:bodyPr>
          <a:lstStyle/>
          <a:p>
            <a:r>
              <a:rPr lang="en-IN" sz="2400" dirty="0"/>
              <a:t> </a:t>
            </a:r>
            <a:r>
              <a:rPr lang="en-US" sz="2400" dirty="0"/>
              <a:t>Initially the capacitor voltage VC is approximately 0 V.</a:t>
            </a:r>
          </a:p>
          <a:p>
            <a:r>
              <a:rPr lang="en-US" sz="2400" dirty="0"/>
              <a:t>Since VC &lt; 1/3 VCC, the trigger comparator sets the flip‑flop.</a:t>
            </a:r>
          </a:p>
          <a:p>
            <a:r>
              <a:rPr lang="en-US" sz="2400" dirty="0"/>
              <a:t>Output becomes HIGH: </a:t>
            </a:r>
            <a:r>
              <a:rPr lang="en-US" sz="2400" dirty="0" err="1"/>
              <a:t>Vout</a:t>
            </a:r>
            <a:r>
              <a:rPr lang="en-US" sz="2400" dirty="0"/>
              <a:t> ≈ VCC.</a:t>
            </a:r>
          </a:p>
          <a:p>
            <a:r>
              <a:rPr lang="en-US" sz="2400" dirty="0"/>
              <a:t>Discharge transistor Q1 becomes OFF.</a:t>
            </a:r>
          </a:p>
          <a:p>
            <a:r>
              <a:rPr lang="en-US" sz="2400" dirty="0"/>
              <a:t>The capacitor begins charging through resistors RA and RB toward VCC.</a:t>
            </a:r>
          </a:p>
          <a:p>
            <a:r>
              <a:rPr lang="en-US" sz="2400" dirty="0"/>
              <a:t>Capacitor charges through RA and RB with time constant (RA + RB)C.</a:t>
            </a:r>
          </a:p>
          <a:p>
            <a:r>
              <a:rPr lang="en-US" sz="2400" dirty="0"/>
              <a:t>The capacitor voltage increases exponentially toward VCC.</a:t>
            </a:r>
          </a:p>
          <a:p>
            <a:r>
              <a:rPr lang="en-US" sz="2400" dirty="0"/>
              <a:t>Charging equation: VC(t) = VCC(1 − e^(−t / ((RA + RB)C))).</a:t>
            </a:r>
          </a:p>
          <a:p>
            <a:r>
              <a:rPr lang="en-US" sz="2400" dirty="0"/>
              <a:t>When </a:t>
            </a:r>
            <a:r>
              <a:rPr lang="en-US" sz="2400" dirty="0" err="1"/>
              <a:t>Vc</a:t>
            </a:r>
            <a:r>
              <a:rPr lang="en-US" sz="2400" dirty="0"/>
              <a:t> exceeds 1/3Vcc output of LC becomes logic zero.</a:t>
            </a:r>
          </a:p>
          <a:p>
            <a:r>
              <a:rPr lang="en-US" sz="2400" dirty="0"/>
              <a:t>When VC reaches the threshold level 2/3 VCC the upper comparator activates.</a:t>
            </a:r>
          </a:p>
          <a:p>
            <a:r>
              <a:rPr lang="en-US" sz="2400" dirty="0"/>
              <a:t>This causes the flip‑flop to reset.</a:t>
            </a:r>
          </a:p>
          <a:p>
            <a:pPr algn="just"/>
            <a:endParaRPr lang="en-IN" sz="2400" dirty="0"/>
          </a:p>
        </p:txBody>
      </p:sp>
      <p:pic>
        <p:nvPicPr>
          <p:cNvPr id="2" name="Picture 1">
            <a:extLst>
              <a:ext uri="{FF2B5EF4-FFF2-40B4-BE49-F238E27FC236}">
                <a16:creationId xmlns:a16="http://schemas.microsoft.com/office/drawing/2014/main" id="{7EAFB74B-185B-4284-9B35-EB1A5301750C}"/>
              </a:ext>
            </a:extLst>
          </p:cNvPr>
          <p:cNvPicPr>
            <a:picLocks noChangeAspect="1"/>
          </p:cNvPicPr>
          <p:nvPr/>
        </p:nvPicPr>
        <p:blipFill>
          <a:blip r:embed="rId2"/>
          <a:stretch>
            <a:fillRect/>
          </a:stretch>
        </p:blipFill>
        <p:spPr>
          <a:xfrm>
            <a:off x="119062" y="0"/>
            <a:ext cx="6999107" cy="6506817"/>
          </a:xfrm>
          <a:prstGeom prst="rect">
            <a:avLst/>
          </a:prstGeom>
        </p:spPr>
      </p:pic>
    </p:spTree>
    <p:extLst>
      <p:ext uri="{BB962C8B-B14F-4D97-AF65-F5344CB8AC3E}">
        <p14:creationId xmlns:p14="http://schemas.microsoft.com/office/powerpoint/2010/main" val="429237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7118169" y="211015"/>
            <a:ext cx="5073831" cy="5950634"/>
          </a:xfrm>
        </p:spPr>
        <p:txBody>
          <a:bodyPr>
            <a:normAutofit fontScale="85000" lnSpcReduction="20000"/>
          </a:bodyPr>
          <a:lstStyle/>
          <a:p>
            <a:r>
              <a:rPr lang="en-US" sz="2400" dirty="0"/>
              <a:t>When VC = 2/3 VCC the upper comparator output becomes HIGH.</a:t>
            </a:r>
          </a:p>
          <a:p>
            <a:r>
              <a:rPr lang="en-US" sz="2400" dirty="0"/>
              <a:t>The flip‑flop resets making output LOW.</a:t>
            </a:r>
          </a:p>
          <a:p>
            <a:r>
              <a:rPr lang="en-US" sz="2400" dirty="0"/>
              <a:t>Output voltage becomes approximately 0 V. </a:t>
            </a:r>
            <a:r>
              <a:rPr lang="en-US" sz="2400" dirty="0" err="1"/>
              <a:t>Qbar</a:t>
            </a:r>
            <a:r>
              <a:rPr lang="en-US" sz="2400" dirty="0"/>
              <a:t> becomes high or logic 1.</a:t>
            </a:r>
          </a:p>
          <a:p>
            <a:r>
              <a:rPr lang="en-US" sz="2400" dirty="0"/>
              <a:t>The discharge transistor Q1 turns ON.</a:t>
            </a:r>
          </a:p>
          <a:p>
            <a:r>
              <a:rPr lang="en-US" sz="2400" dirty="0"/>
              <a:t>The capacitor gets a path from </a:t>
            </a:r>
            <a:r>
              <a:rPr lang="en-US" sz="2400" dirty="0" err="1"/>
              <a:t>Rb</a:t>
            </a:r>
            <a:r>
              <a:rPr lang="en-US" sz="2400" dirty="0"/>
              <a:t> to ground via transistor Q1.</a:t>
            </a:r>
          </a:p>
          <a:p>
            <a:r>
              <a:rPr lang="en-US" sz="2400" dirty="0"/>
              <a:t>The capacitor now begins discharging through RB only.</a:t>
            </a:r>
          </a:p>
          <a:p>
            <a:r>
              <a:rPr lang="en-US" sz="2400" dirty="0"/>
              <a:t>During discharge the capacitor voltage decreases exponentially toward 0.</a:t>
            </a:r>
          </a:p>
          <a:p>
            <a:r>
              <a:rPr lang="en-US" sz="2400" dirty="0"/>
              <a:t>Discharging equation: VC(t) = (2/3)VCC e^(−t / (RB C)).</a:t>
            </a:r>
          </a:p>
          <a:p>
            <a:r>
              <a:rPr lang="en-US" sz="2400" dirty="0"/>
              <a:t>When VC falls to 1/3 VCC the lower comparator triggers.</a:t>
            </a:r>
          </a:p>
          <a:p>
            <a:r>
              <a:rPr lang="en-US" sz="2400" dirty="0"/>
              <a:t>The flip‑flop sets again making output HIGH.</a:t>
            </a:r>
          </a:p>
          <a:p>
            <a:r>
              <a:rPr lang="en-US" sz="2400" dirty="0"/>
              <a:t>The discharge transistor turns OFF and charging starts again.</a:t>
            </a:r>
          </a:p>
          <a:p>
            <a:r>
              <a:rPr lang="en-US" sz="2400" dirty="0"/>
              <a:t>.</a:t>
            </a:r>
          </a:p>
          <a:p>
            <a:pPr algn="just"/>
            <a:endParaRPr lang="en-IN" sz="2400" dirty="0"/>
          </a:p>
        </p:txBody>
      </p:sp>
      <p:pic>
        <p:nvPicPr>
          <p:cNvPr id="2" name="Picture 1">
            <a:extLst>
              <a:ext uri="{FF2B5EF4-FFF2-40B4-BE49-F238E27FC236}">
                <a16:creationId xmlns:a16="http://schemas.microsoft.com/office/drawing/2014/main" id="{7EAFB74B-185B-4284-9B35-EB1A5301750C}"/>
              </a:ext>
            </a:extLst>
          </p:cNvPr>
          <p:cNvPicPr>
            <a:picLocks noChangeAspect="1"/>
          </p:cNvPicPr>
          <p:nvPr/>
        </p:nvPicPr>
        <p:blipFill>
          <a:blip r:embed="rId2"/>
          <a:stretch>
            <a:fillRect/>
          </a:stretch>
        </p:blipFill>
        <p:spPr>
          <a:xfrm>
            <a:off x="119062" y="0"/>
            <a:ext cx="6999107" cy="6506817"/>
          </a:xfrm>
          <a:prstGeom prst="rect">
            <a:avLst/>
          </a:prstGeom>
        </p:spPr>
      </p:pic>
    </p:spTree>
    <p:extLst>
      <p:ext uri="{BB962C8B-B14F-4D97-AF65-F5344CB8AC3E}">
        <p14:creationId xmlns:p14="http://schemas.microsoft.com/office/powerpoint/2010/main" val="12438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8B43770-7C2F-4BDE-B0F0-BD7AA30C053A}"/>
              </a:ext>
            </a:extLst>
          </p:cNvPr>
          <p:cNvPicPr>
            <a:picLocks noGrp="1" noChangeAspect="1"/>
          </p:cNvPicPr>
          <p:nvPr>
            <p:ph idx="1"/>
          </p:nvPr>
        </p:nvPicPr>
        <p:blipFill>
          <a:blip r:embed="rId2"/>
          <a:stretch>
            <a:fillRect/>
          </a:stretch>
        </p:blipFill>
        <p:spPr>
          <a:xfrm>
            <a:off x="1370793" y="785947"/>
            <a:ext cx="10267956" cy="4123677"/>
          </a:xfrm>
          <a:prstGeom prst="rect">
            <a:avLst/>
          </a:prstGeom>
        </p:spPr>
      </p:pic>
    </p:spTree>
    <p:extLst>
      <p:ext uri="{BB962C8B-B14F-4D97-AF65-F5344CB8AC3E}">
        <p14:creationId xmlns:p14="http://schemas.microsoft.com/office/powerpoint/2010/main" val="4263193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1138CA4-D40D-471C-B03E-A9C7178113F5}"/>
              </a:ext>
            </a:extLst>
          </p:cNvPr>
          <p:cNvPicPr>
            <a:picLocks noGrp="1" noChangeAspect="1"/>
          </p:cNvPicPr>
          <p:nvPr>
            <p:ph idx="1"/>
          </p:nvPr>
        </p:nvPicPr>
        <p:blipFill>
          <a:blip r:embed="rId2"/>
          <a:stretch>
            <a:fillRect/>
          </a:stretch>
        </p:blipFill>
        <p:spPr>
          <a:xfrm>
            <a:off x="188163" y="512089"/>
            <a:ext cx="7715250" cy="1114425"/>
          </a:xfrm>
          <a:prstGeom prst="rect">
            <a:avLst/>
          </a:prstGeom>
        </p:spPr>
      </p:pic>
      <p:pic>
        <p:nvPicPr>
          <p:cNvPr id="5" name="Picture 4">
            <a:extLst>
              <a:ext uri="{FF2B5EF4-FFF2-40B4-BE49-F238E27FC236}">
                <a16:creationId xmlns:a16="http://schemas.microsoft.com/office/drawing/2014/main" id="{B4FB595C-399A-45A1-B9D9-759F5D5AABFF}"/>
              </a:ext>
            </a:extLst>
          </p:cNvPr>
          <p:cNvPicPr>
            <a:picLocks noChangeAspect="1"/>
          </p:cNvPicPr>
          <p:nvPr/>
        </p:nvPicPr>
        <p:blipFill>
          <a:blip r:embed="rId3"/>
          <a:stretch>
            <a:fillRect/>
          </a:stretch>
        </p:blipFill>
        <p:spPr>
          <a:xfrm>
            <a:off x="188163" y="2144810"/>
            <a:ext cx="7648575" cy="1133475"/>
          </a:xfrm>
          <a:prstGeom prst="rect">
            <a:avLst/>
          </a:prstGeom>
        </p:spPr>
      </p:pic>
      <p:pic>
        <p:nvPicPr>
          <p:cNvPr id="6" name="Picture 5">
            <a:extLst>
              <a:ext uri="{FF2B5EF4-FFF2-40B4-BE49-F238E27FC236}">
                <a16:creationId xmlns:a16="http://schemas.microsoft.com/office/drawing/2014/main" id="{A2F5EFE6-2EA7-4A2A-BA16-77F6886302A7}"/>
              </a:ext>
            </a:extLst>
          </p:cNvPr>
          <p:cNvPicPr>
            <a:picLocks noChangeAspect="1"/>
          </p:cNvPicPr>
          <p:nvPr/>
        </p:nvPicPr>
        <p:blipFill>
          <a:blip r:embed="rId4"/>
          <a:stretch>
            <a:fillRect/>
          </a:stretch>
        </p:blipFill>
        <p:spPr>
          <a:xfrm>
            <a:off x="188163" y="3579716"/>
            <a:ext cx="8591550" cy="1381125"/>
          </a:xfrm>
          <a:prstGeom prst="rect">
            <a:avLst/>
          </a:prstGeom>
        </p:spPr>
      </p:pic>
      <p:pic>
        <p:nvPicPr>
          <p:cNvPr id="7" name="Picture 6">
            <a:extLst>
              <a:ext uri="{FF2B5EF4-FFF2-40B4-BE49-F238E27FC236}">
                <a16:creationId xmlns:a16="http://schemas.microsoft.com/office/drawing/2014/main" id="{D6B7EC6F-ED91-45FF-AE3D-011CA5EC4D29}"/>
              </a:ext>
            </a:extLst>
          </p:cNvPr>
          <p:cNvPicPr>
            <a:picLocks noChangeAspect="1"/>
          </p:cNvPicPr>
          <p:nvPr/>
        </p:nvPicPr>
        <p:blipFill>
          <a:blip r:embed="rId5"/>
          <a:stretch>
            <a:fillRect/>
          </a:stretch>
        </p:blipFill>
        <p:spPr>
          <a:xfrm>
            <a:off x="2442210" y="5040987"/>
            <a:ext cx="2552700" cy="381000"/>
          </a:xfrm>
          <a:prstGeom prst="rect">
            <a:avLst/>
          </a:prstGeom>
        </p:spPr>
      </p:pic>
      <p:pic>
        <p:nvPicPr>
          <p:cNvPr id="8" name="Picture 7">
            <a:extLst>
              <a:ext uri="{FF2B5EF4-FFF2-40B4-BE49-F238E27FC236}">
                <a16:creationId xmlns:a16="http://schemas.microsoft.com/office/drawing/2014/main" id="{9E227463-0CB4-4747-B7CD-09D267D74C83}"/>
              </a:ext>
            </a:extLst>
          </p:cNvPr>
          <p:cNvPicPr>
            <a:picLocks noChangeAspect="1"/>
          </p:cNvPicPr>
          <p:nvPr/>
        </p:nvPicPr>
        <p:blipFill>
          <a:blip r:embed="rId6"/>
          <a:stretch>
            <a:fillRect/>
          </a:stretch>
        </p:blipFill>
        <p:spPr>
          <a:xfrm>
            <a:off x="4994910" y="5079087"/>
            <a:ext cx="4876800" cy="1552575"/>
          </a:xfrm>
          <a:prstGeom prst="rect">
            <a:avLst/>
          </a:prstGeom>
        </p:spPr>
      </p:pic>
      <p:pic>
        <p:nvPicPr>
          <p:cNvPr id="9" name="Picture 8">
            <a:extLst>
              <a:ext uri="{FF2B5EF4-FFF2-40B4-BE49-F238E27FC236}">
                <a16:creationId xmlns:a16="http://schemas.microsoft.com/office/drawing/2014/main" id="{758348C9-5557-49A5-9BD4-3AA917771D96}"/>
              </a:ext>
            </a:extLst>
          </p:cNvPr>
          <p:cNvPicPr>
            <a:picLocks noChangeAspect="1"/>
          </p:cNvPicPr>
          <p:nvPr/>
        </p:nvPicPr>
        <p:blipFill>
          <a:blip r:embed="rId7"/>
          <a:stretch>
            <a:fillRect/>
          </a:stretch>
        </p:blipFill>
        <p:spPr>
          <a:xfrm>
            <a:off x="9753161" y="6326862"/>
            <a:ext cx="1885950" cy="304800"/>
          </a:xfrm>
          <a:prstGeom prst="rect">
            <a:avLst/>
          </a:prstGeom>
        </p:spPr>
      </p:pic>
    </p:spTree>
    <p:extLst>
      <p:ext uri="{BB962C8B-B14F-4D97-AF65-F5344CB8AC3E}">
        <p14:creationId xmlns:p14="http://schemas.microsoft.com/office/powerpoint/2010/main" val="1679561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F8AE9818-FC5D-49D6-9E61-9F8DECFA31F2}"/>
              </a:ext>
            </a:extLst>
          </p:cNvPr>
          <p:cNvPicPr>
            <a:picLocks noGrp="1" noChangeAspect="1"/>
          </p:cNvPicPr>
          <p:nvPr>
            <p:ph idx="1"/>
          </p:nvPr>
        </p:nvPicPr>
        <p:blipFill>
          <a:blip r:embed="rId2"/>
          <a:stretch>
            <a:fillRect/>
          </a:stretch>
        </p:blipFill>
        <p:spPr>
          <a:xfrm>
            <a:off x="546221" y="1795891"/>
            <a:ext cx="6381750" cy="2019300"/>
          </a:xfrm>
          <a:prstGeom prst="rect">
            <a:avLst/>
          </a:prstGeom>
        </p:spPr>
      </p:pic>
      <p:pic>
        <p:nvPicPr>
          <p:cNvPr id="10" name="Picture 9">
            <a:extLst>
              <a:ext uri="{FF2B5EF4-FFF2-40B4-BE49-F238E27FC236}">
                <a16:creationId xmlns:a16="http://schemas.microsoft.com/office/drawing/2014/main" id="{B2F43682-11D2-4736-90BF-CC4C9B27DF9D}"/>
              </a:ext>
            </a:extLst>
          </p:cNvPr>
          <p:cNvPicPr>
            <a:picLocks noChangeAspect="1"/>
          </p:cNvPicPr>
          <p:nvPr/>
        </p:nvPicPr>
        <p:blipFill>
          <a:blip r:embed="rId3"/>
          <a:stretch>
            <a:fillRect/>
          </a:stretch>
        </p:blipFill>
        <p:spPr>
          <a:xfrm>
            <a:off x="546221" y="329418"/>
            <a:ext cx="7019925" cy="1219200"/>
          </a:xfrm>
          <a:prstGeom prst="rect">
            <a:avLst/>
          </a:prstGeom>
        </p:spPr>
      </p:pic>
    </p:spTree>
    <p:extLst>
      <p:ext uri="{BB962C8B-B14F-4D97-AF65-F5344CB8AC3E}">
        <p14:creationId xmlns:p14="http://schemas.microsoft.com/office/powerpoint/2010/main" val="870468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E9B384F-369E-44B9-9ECE-17B269642E08}"/>
              </a:ext>
            </a:extLst>
          </p:cNvPr>
          <p:cNvPicPr>
            <a:picLocks noGrp="1" noChangeAspect="1"/>
          </p:cNvPicPr>
          <p:nvPr>
            <p:ph idx="1"/>
          </p:nvPr>
        </p:nvPicPr>
        <p:blipFill rotWithShape="1">
          <a:blip r:embed="rId2"/>
          <a:srcRect l="7385"/>
          <a:stretch/>
        </p:blipFill>
        <p:spPr>
          <a:xfrm>
            <a:off x="2489982" y="-10209"/>
            <a:ext cx="7737230" cy="6868209"/>
          </a:xfrm>
          <a:prstGeom prst="rect">
            <a:avLst/>
          </a:prstGeom>
        </p:spPr>
      </p:pic>
    </p:spTree>
    <p:extLst>
      <p:ext uri="{BB962C8B-B14F-4D97-AF65-F5344CB8AC3E}">
        <p14:creationId xmlns:p14="http://schemas.microsoft.com/office/powerpoint/2010/main" val="2726925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fontScale="90000"/>
          </a:bodyPr>
          <a:lstStyle/>
          <a:p>
            <a:r>
              <a:rPr lang="en-US" dirty="0"/>
              <a:t>Applications of Monostable </a:t>
            </a:r>
            <a:r>
              <a:rPr lang="en-US" dirty="0" err="1"/>
              <a:t>Multivibrator</a:t>
            </a:r>
            <a:br>
              <a:rPr lang="en-US" dirty="0"/>
            </a:br>
            <a:r>
              <a:rPr lang="en-US" sz="3200" b="1" dirty="0"/>
              <a:t>Ramp Generator</a:t>
            </a:r>
            <a:endParaRPr lang="en-IN" b="1" dirty="0"/>
          </a:p>
        </p:txBody>
      </p:sp>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588063" y="834887"/>
            <a:ext cx="6656800" cy="5326762"/>
          </a:xfrm>
        </p:spPr>
        <p:txBody>
          <a:bodyPr>
            <a:normAutofit/>
          </a:bodyPr>
          <a:lstStyle/>
          <a:p>
            <a:pPr algn="just"/>
            <a:r>
              <a:rPr lang="en-US" sz="2400" dirty="0"/>
              <a:t>A linear ramp (sawtooth) signal is generated by charging a capacitor with a constant current source instead of a resistor.</a:t>
            </a:r>
          </a:p>
          <a:p>
            <a:pPr algn="just"/>
            <a:r>
              <a:rPr lang="en-US" sz="2400" dirty="0"/>
              <a:t>If the capacitor C is charged by a constant current </a:t>
            </a:r>
            <a:r>
              <a:rPr lang="en-US" sz="2400" dirty="0" err="1"/>
              <a:t>i</a:t>
            </a:r>
            <a:r>
              <a:rPr lang="en-US" sz="2400" dirty="0"/>
              <a:t>, the capacitor voltage is obtained by integrating the current over time</a:t>
            </a:r>
          </a:p>
          <a:p>
            <a:pPr algn="just"/>
            <a:endParaRPr lang="en-US" sz="2400" dirty="0"/>
          </a:p>
          <a:p>
            <a:pPr algn="just"/>
            <a:endParaRPr lang="en-US" sz="2400" dirty="0"/>
          </a:p>
          <a:p>
            <a:pPr algn="just"/>
            <a:r>
              <a:rPr lang="en-US" sz="2400" dirty="0"/>
              <a:t>The transistor 𝑄𝐿 acts as a constant current source, supplying a nearly fixed current to the capacitor regardless of the capacitor voltage.</a:t>
            </a:r>
          </a:p>
          <a:p>
            <a:pPr algn="just"/>
            <a:r>
              <a:rPr lang="en-US" sz="2400" dirty="0"/>
              <a:t>KVL form base to emitter gives</a:t>
            </a:r>
          </a:p>
          <a:p>
            <a:pPr algn="just"/>
            <a:endParaRPr lang="en-US" sz="2400" dirty="0"/>
          </a:p>
          <a:p>
            <a:pPr algn="just"/>
            <a:endParaRPr lang="en-US" sz="2400" dirty="0"/>
          </a:p>
          <a:p>
            <a:pPr algn="just"/>
            <a:endParaRPr lang="en-US" sz="2400" dirty="0"/>
          </a:p>
        </p:txBody>
      </p:sp>
      <p:pic>
        <p:nvPicPr>
          <p:cNvPr id="4" name="Picture 3">
            <a:extLst>
              <a:ext uri="{FF2B5EF4-FFF2-40B4-BE49-F238E27FC236}">
                <a16:creationId xmlns:a16="http://schemas.microsoft.com/office/drawing/2014/main" id="{64ED17DE-71A7-4CFA-B8A3-13A09CF748F1}"/>
              </a:ext>
            </a:extLst>
          </p:cNvPr>
          <p:cNvPicPr>
            <a:picLocks noChangeAspect="1"/>
          </p:cNvPicPr>
          <p:nvPr/>
        </p:nvPicPr>
        <p:blipFill>
          <a:blip r:embed="rId2"/>
          <a:stretch>
            <a:fillRect/>
          </a:stretch>
        </p:blipFill>
        <p:spPr>
          <a:xfrm>
            <a:off x="7429500" y="1543050"/>
            <a:ext cx="4762500" cy="3771900"/>
          </a:xfrm>
          <a:prstGeom prst="rect">
            <a:avLst/>
          </a:prstGeom>
        </p:spPr>
      </p:pic>
      <p:pic>
        <p:nvPicPr>
          <p:cNvPr id="6" name="Picture 5">
            <a:extLst>
              <a:ext uri="{FF2B5EF4-FFF2-40B4-BE49-F238E27FC236}">
                <a16:creationId xmlns:a16="http://schemas.microsoft.com/office/drawing/2014/main" id="{D7B9E4FC-8C0A-4E31-8ED4-CF9F15B25288}"/>
              </a:ext>
            </a:extLst>
          </p:cNvPr>
          <p:cNvPicPr>
            <a:picLocks noChangeAspect="1"/>
          </p:cNvPicPr>
          <p:nvPr/>
        </p:nvPicPr>
        <p:blipFill>
          <a:blip r:embed="rId3"/>
          <a:stretch>
            <a:fillRect/>
          </a:stretch>
        </p:blipFill>
        <p:spPr>
          <a:xfrm>
            <a:off x="2937217" y="3048000"/>
            <a:ext cx="1362075" cy="762000"/>
          </a:xfrm>
          <a:prstGeom prst="rect">
            <a:avLst/>
          </a:prstGeom>
        </p:spPr>
      </p:pic>
      <p:pic>
        <p:nvPicPr>
          <p:cNvPr id="7" name="Picture 6">
            <a:extLst>
              <a:ext uri="{FF2B5EF4-FFF2-40B4-BE49-F238E27FC236}">
                <a16:creationId xmlns:a16="http://schemas.microsoft.com/office/drawing/2014/main" id="{1F51F628-EB27-49C7-92B0-39A36C4764DA}"/>
              </a:ext>
            </a:extLst>
          </p:cNvPr>
          <p:cNvPicPr>
            <a:picLocks noChangeAspect="1"/>
          </p:cNvPicPr>
          <p:nvPr/>
        </p:nvPicPr>
        <p:blipFill>
          <a:blip r:embed="rId4"/>
          <a:stretch>
            <a:fillRect/>
          </a:stretch>
        </p:blipFill>
        <p:spPr>
          <a:xfrm>
            <a:off x="2322269" y="5594911"/>
            <a:ext cx="3343275" cy="1133475"/>
          </a:xfrm>
          <a:prstGeom prst="rect">
            <a:avLst/>
          </a:prstGeom>
        </p:spPr>
      </p:pic>
    </p:spTree>
    <p:extLst>
      <p:ext uri="{BB962C8B-B14F-4D97-AF65-F5344CB8AC3E}">
        <p14:creationId xmlns:p14="http://schemas.microsoft.com/office/powerpoint/2010/main" val="222897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lstStyle/>
          <a:p>
            <a:r>
              <a:rPr lang="en-US" dirty="0"/>
              <a:t>Applications of Monostable </a:t>
            </a:r>
            <a:r>
              <a:rPr lang="en-US" dirty="0" err="1"/>
              <a:t>Multivibrator</a:t>
            </a:r>
            <a:endParaRPr lang="en-IN" dirty="0"/>
          </a:p>
        </p:txBody>
      </p:sp>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588063" y="834887"/>
            <a:ext cx="6656800" cy="5326762"/>
          </a:xfrm>
        </p:spPr>
        <p:txBody>
          <a:bodyPr>
            <a:normAutofit/>
          </a:bodyPr>
          <a:lstStyle/>
          <a:p>
            <a:pPr algn="just"/>
            <a:r>
              <a:rPr lang="en-US" sz="2400" dirty="0"/>
              <a:t>  </a:t>
            </a:r>
          </a:p>
          <a:p>
            <a:pPr algn="just"/>
            <a:endParaRPr lang="en-US" sz="2400" dirty="0"/>
          </a:p>
        </p:txBody>
      </p:sp>
      <p:pic>
        <p:nvPicPr>
          <p:cNvPr id="5" name="Picture 4">
            <a:extLst>
              <a:ext uri="{FF2B5EF4-FFF2-40B4-BE49-F238E27FC236}">
                <a16:creationId xmlns:a16="http://schemas.microsoft.com/office/drawing/2014/main" id="{3738E054-5AC6-4CD1-BFB5-19E2D611E4A0}"/>
              </a:ext>
            </a:extLst>
          </p:cNvPr>
          <p:cNvPicPr>
            <a:picLocks noChangeAspect="1"/>
          </p:cNvPicPr>
          <p:nvPr/>
        </p:nvPicPr>
        <p:blipFill>
          <a:blip r:embed="rId2"/>
          <a:stretch>
            <a:fillRect/>
          </a:stretch>
        </p:blipFill>
        <p:spPr>
          <a:xfrm>
            <a:off x="1504803" y="1107645"/>
            <a:ext cx="2724150" cy="742950"/>
          </a:xfrm>
          <a:prstGeom prst="rect">
            <a:avLst/>
          </a:prstGeom>
        </p:spPr>
      </p:pic>
      <p:pic>
        <p:nvPicPr>
          <p:cNvPr id="8" name="Picture 7">
            <a:extLst>
              <a:ext uri="{FF2B5EF4-FFF2-40B4-BE49-F238E27FC236}">
                <a16:creationId xmlns:a16="http://schemas.microsoft.com/office/drawing/2014/main" id="{9AD8D59D-4680-47B8-B7C3-74AB108A7C9B}"/>
              </a:ext>
            </a:extLst>
          </p:cNvPr>
          <p:cNvPicPr>
            <a:picLocks noChangeAspect="1"/>
          </p:cNvPicPr>
          <p:nvPr/>
        </p:nvPicPr>
        <p:blipFill>
          <a:blip r:embed="rId3"/>
          <a:stretch>
            <a:fillRect/>
          </a:stretch>
        </p:blipFill>
        <p:spPr>
          <a:xfrm>
            <a:off x="1258032" y="2046353"/>
            <a:ext cx="3486150" cy="1676400"/>
          </a:xfrm>
          <a:prstGeom prst="rect">
            <a:avLst/>
          </a:prstGeom>
        </p:spPr>
      </p:pic>
      <p:pic>
        <p:nvPicPr>
          <p:cNvPr id="9" name="Picture 8">
            <a:extLst>
              <a:ext uri="{FF2B5EF4-FFF2-40B4-BE49-F238E27FC236}">
                <a16:creationId xmlns:a16="http://schemas.microsoft.com/office/drawing/2014/main" id="{073D9A6E-197B-4EDE-96ED-41895DD3C696}"/>
              </a:ext>
            </a:extLst>
          </p:cNvPr>
          <p:cNvPicPr>
            <a:picLocks noChangeAspect="1"/>
          </p:cNvPicPr>
          <p:nvPr/>
        </p:nvPicPr>
        <p:blipFill>
          <a:blip r:embed="rId4"/>
          <a:stretch>
            <a:fillRect/>
          </a:stretch>
        </p:blipFill>
        <p:spPr>
          <a:xfrm>
            <a:off x="1258032" y="3878676"/>
            <a:ext cx="3981450" cy="885825"/>
          </a:xfrm>
          <a:prstGeom prst="rect">
            <a:avLst/>
          </a:prstGeom>
        </p:spPr>
      </p:pic>
      <p:pic>
        <p:nvPicPr>
          <p:cNvPr id="10" name="Picture 9">
            <a:extLst>
              <a:ext uri="{FF2B5EF4-FFF2-40B4-BE49-F238E27FC236}">
                <a16:creationId xmlns:a16="http://schemas.microsoft.com/office/drawing/2014/main" id="{50A95BCD-8727-470A-A63A-9DA1AAFF7684}"/>
              </a:ext>
            </a:extLst>
          </p:cNvPr>
          <p:cNvPicPr>
            <a:picLocks noChangeAspect="1"/>
          </p:cNvPicPr>
          <p:nvPr/>
        </p:nvPicPr>
        <p:blipFill>
          <a:blip r:embed="rId5"/>
          <a:stretch>
            <a:fillRect/>
          </a:stretch>
        </p:blipFill>
        <p:spPr>
          <a:xfrm>
            <a:off x="1504803" y="4890880"/>
            <a:ext cx="2971800" cy="838200"/>
          </a:xfrm>
          <a:prstGeom prst="rect">
            <a:avLst/>
          </a:prstGeom>
        </p:spPr>
      </p:pic>
      <p:pic>
        <p:nvPicPr>
          <p:cNvPr id="11" name="Picture 10">
            <a:extLst>
              <a:ext uri="{FF2B5EF4-FFF2-40B4-BE49-F238E27FC236}">
                <a16:creationId xmlns:a16="http://schemas.microsoft.com/office/drawing/2014/main" id="{74CF81B2-727F-4142-9C0F-65972C7064AD}"/>
              </a:ext>
            </a:extLst>
          </p:cNvPr>
          <p:cNvPicPr>
            <a:picLocks noChangeAspect="1"/>
          </p:cNvPicPr>
          <p:nvPr/>
        </p:nvPicPr>
        <p:blipFill>
          <a:blip r:embed="rId6"/>
          <a:stretch>
            <a:fillRect/>
          </a:stretch>
        </p:blipFill>
        <p:spPr>
          <a:xfrm>
            <a:off x="6156222" y="990600"/>
            <a:ext cx="4777746" cy="5715434"/>
          </a:xfrm>
          <a:prstGeom prst="rect">
            <a:avLst/>
          </a:prstGeom>
        </p:spPr>
      </p:pic>
    </p:spTree>
    <p:extLst>
      <p:ext uri="{BB962C8B-B14F-4D97-AF65-F5344CB8AC3E}">
        <p14:creationId xmlns:p14="http://schemas.microsoft.com/office/powerpoint/2010/main" val="2609073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a:bodyPr>
          <a:lstStyle/>
          <a:p>
            <a:r>
              <a:rPr lang="en-US" sz="3200" b="1" dirty="0"/>
              <a:t>Frequency divider</a:t>
            </a:r>
            <a:endParaRPr lang="en-IN" b="1" dirty="0"/>
          </a:p>
        </p:txBody>
      </p:sp>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588062" y="834887"/>
            <a:ext cx="11397611" cy="3441691"/>
          </a:xfrm>
        </p:spPr>
        <p:txBody>
          <a:bodyPr>
            <a:normAutofit fontScale="92500" lnSpcReduction="20000"/>
          </a:bodyPr>
          <a:lstStyle/>
          <a:p>
            <a:pPr algn="just"/>
            <a:r>
              <a:rPr lang="en-US" sz="2400" dirty="0"/>
              <a:t>A monostable </a:t>
            </a:r>
            <a:r>
              <a:rPr lang="en-US" sz="2400" dirty="0" err="1"/>
              <a:t>multivibrator</a:t>
            </a:r>
            <a:r>
              <a:rPr lang="en-US" sz="2400" dirty="0"/>
              <a:t> can function as a frequency divider when it is continuously triggered by a square-wave signal.</a:t>
            </a:r>
          </a:p>
          <a:p>
            <a:pPr algn="just"/>
            <a:r>
              <a:rPr lang="en-US" sz="2400" dirty="0"/>
              <a:t>The timing interval 𝑇 of the monostable must be greater than the period of the input square wave so that the circuit does not respond to every trigger.</a:t>
            </a:r>
          </a:p>
          <a:p>
            <a:pPr algn="just"/>
            <a:r>
              <a:rPr lang="en-US" sz="2400" dirty="0"/>
              <a:t>The monostable is triggered by the first negative edge of the input square wave, causing the output to switch HIGH</a:t>
            </a:r>
          </a:p>
          <a:p>
            <a:pPr algn="just"/>
            <a:r>
              <a:rPr lang="en-US" sz="2400" dirty="0"/>
              <a:t>When the second negative edge arrives, the monostable is still in its active state because 𝑇</a:t>
            </a:r>
          </a:p>
          <a:p>
            <a:pPr algn="just"/>
            <a:r>
              <a:rPr lang="en-US" sz="2400" dirty="0"/>
              <a:t>By the time the third negative edge occurs, the timing interval has completed and the monostable has returned to its stable state, allowing it to trigger again.</a:t>
            </a:r>
          </a:p>
          <a:p>
            <a:pPr algn="just"/>
            <a:r>
              <a:rPr lang="en-US" sz="2400" dirty="0"/>
              <a:t>Since the monostable responds only to alternate input edges, the output frequency becomes a fraction of the input frequency.</a:t>
            </a:r>
          </a:p>
        </p:txBody>
      </p:sp>
      <p:pic>
        <p:nvPicPr>
          <p:cNvPr id="5" name="Picture 4">
            <a:extLst>
              <a:ext uri="{FF2B5EF4-FFF2-40B4-BE49-F238E27FC236}">
                <a16:creationId xmlns:a16="http://schemas.microsoft.com/office/drawing/2014/main" id="{BF237989-603E-4F2D-930F-B6A18FAB8332}"/>
              </a:ext>
            </a:extLst>
          </p:cNvPr>
          <p:cNvPicPr>
            <a:picLocks noChangeAspect="1"/>
          </p:cNvPicPr>
          <p:nvPr/>
        </p:nvPicPr>
        <p:blipFill>
          <a:blip r:embed="rId2"/>
          <a:stretch>
            <a:fillRect/>
          </a:stretch>
        </p:blipFill>
        <p:spPr>
          <a:xfrm>
            <a:off x="4454082" y="3868266"/>
            <a:ext cx="5578111" cy="2929842"/>
          </a:xfrm>
          <a:prstGeom prst="rect">
            <a:avLst/>
          </a:prstGeom>
        </p:spPr>
      </p:pic>
    </p:spTree>
    <p:extLst>
      <p:ext uri="{BB962C8B-B14F-4D97-AF65-F5344CB8AC3E}">
        <p14:creationId xmlns:p14="http://schemas.microsoft.com/office/powerpoint/2010/main" val="3842714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a:bodyPr>
          <a:lstStyle/>
          <a:p>
            <a:r>
              <a:rPr lang="en-IN" sz="3200" b="1" dirty="0"/>
              <a:t>Pulse Width Modulator</a:t>
            </a:r>
          </a:p>
        </p:txBody>
      </p:sp>
      <p:sp>
        <p:nvSpPr>
          <p:cNvPr id="3" name="Content Placeholder 2">
            <a:extLst>
              <a:ext uri="{FF2B5EF4-FFF2-40B4-BE49-F238E27FC236}">
                <a16:creationId xmlns:a16="http://schemas.microsoft.com/office/drawing/2014/main" id="{7439BFC6-3ED8-FEFD-F2AD-DB63A9259E76}"/>
              </a:ext>
            </a:extLst>
          </p:cNvPr>
          <p:cNvSpPr>
            <a:spLocks noGrp="1"/>
          </p:cNvSpPr>
          <p:nvPr>
            <p:ph idx="1"/>
          </p:nvPr>
        </p:nvSpPr>
        <p:spPr>
          <a:xfrm>
            <a:off x="588063" y="834887"/>
            <a:ext cx="6976546" cy="5326762"/>
          </a:xfrm>
        </p:spPr>
        <p:txBody>
          <a:bodyPr>
            <a:normAutofit fontScale="85000" lnSpcReduction="20000"/>
          </a:bodyPr>
          <a:lstStyle/>
          <a:p>
            <a:pPr algn="just"/>
            <a:r>
              <a:rPr lang="en-US" sz="2400" dirty="0"/>
              <a:t>By giving modulating control signal at pin5 555 timer can act as a pulse width modulator.</a:t>
            </a:r>
          </a:p>
          <a:p>
            <a:pPr algn="just"/>
            <a:r>
              <a:rPr lang="en-US" sz="2400" dirty="0"/>
              <a:t>A sequence of trigger pulses applied to pin 2 produces a corresponding sequence of output pulses at the output terminal.</a:t>
            </a:r>
          </a:p>
          <a:p>
            <a:pPr algn="just"/>
            <a:r>
              <a:rPr lang="en-US" sz="2400" dirty="0"/>
              <a:t>The width of each output pulse depends on when the upper comparator resets the flip-flop, which occurs when the capacitor voltage reaches the comparator threshold.</a:t>
            </a:r>
          </a:p>
          <a:p>
            <a:pPr algn="just"/>
            <a:r>
              <a:rPr lang="en-US" sz="2400" dirty="0"/>
              <a:t>The modulating signal applied at pin 5 alters the threshold voltage of the upper comparator. Normally this threshold is 2/3𝑉</a:t>
            </a:r>
            <a:r>
              <a:rPr lang="en-US" sz="2400" baseline="-25000" dirty="0"/>
              <a:t>𝐶𝐶</a:t>
            </a:r>
            <a:r>
              <a:rPr lang="en-US" sz="2400" dirty="0"/>
              <a:t>	​.</a:t>
            </a:r>
          </a:p>
          <a:p>
            <a:pPr algn="just"/>
            <a:r>
              <a:rPr lang="en-US" sz="2400" dirty="0"/>
              <a:t>The modulating signal is superimposed on the internal voltage divider voltage, causing the threshold level to increase or decrease.</a:t>
            </a:r>
          </a:p>
          <a:p>
            <a:pPr algn="just"/>
            <a:r>
              <a:rPr lang="en-US" sz="2400" dirty="0"/>
              <a:t>Because the capacitor must charge to this varying threshold, the time taken to reach the threshold changes, which changes the pulse width of the output.</a:t>
            </a:r>
          </a:p>
          <a:p>
            <a:pPr algn="just"/>
            <a:r>
              <a:rPr lang="en-US" sz="2400" dirty="0"/>
              <a:t>The trigger pulses determine the output frequency, so the frequency remains constant (trigger pulse frequency), while the duty cycle varies according to the modulating signal.</a:t>
            </a:r>
          </a:p>
          <a:p>
            <a:pPr algn="just"/>
            <a:endParaRPr lang="en-US" sz="2400" dirty="0"/>
          </a:p>
        </p:txBody>
      </p:sp>
      <p:pic>
        <p:nvPicPr>
          <p:cNvPr id="5" name="Picture 4">
            <a:extLst>
              <a:ext uri="{FF2B5EF4-FFF2-40B4-BE49-F238E27FC236}">
                <a16:creationId xmlns:a16="http://schemas.microsoft.com/office/drawing/2014/main" id="{44207ECB-8F69-44C1-94C2-FE3407ABAF76}"/>
              </a:ext>
            </a:extLst>
          </p:cNvPr>
          <p:cNvPicPr>
            <a:picLocks noChangeAspect="1"/>
          </p:cNvPicPr>
          <p:nvPr/>
        </p:nvPicPr>
        <p:blipFill>
          <a:blip r:embed="rId2"/>
          <a:stretch>
            <a:fillRect/>
          </a:stretch>
        </p:blipFill>
        <p:spPr>
          <a:xfrm>
            <a:off x="8105864" y="159332"/>
            <a:ext cx="3867150" cy="3427930"/>
          </a:xfrm>
          <a:prstGeom prst="rect">
            <a:avLst/>
          </a:prstGeom>
        </p:spPr>
      </p:pic>
      <p:pic>
        <p:nvPicPr>
          <p:cNvPr id="8" name="Picture 7">
            <a:extLst>
              <a:ext uri="{FF2B5EF4-FFF2-40B4-BE49-F238E27FC236}">
                <a16:creationId xmlns:a16="http://schemas.microsoft.com/office/drawing/2014/main" id="{92F31D13-F7E0-40BB-BC1D-B84D1EB126B1}"/>
              </a:ext>
            </a:extLst>
          </p:cNvPr>
          <p:cNvPicPr>
            <a:picLocks noChangeAspect="1"/>
          </p:cNvPicPr>
          <p:nvPr/>
        </p:nvPicPr>
        <p:blipFill>
          <a:blip r:embed="rId3"/>
          <a:stretch>
            <a:fillRect/>
          </a:stretch>
        </p:blipFill>
        <p:spPr>
          <a:xfrm>
            <a:off x="7898755" y="3587262"/>
            <a:ext cx="3996299" cy="3141124"/>
          </a:xfrm>
          <a:prstGeom prst="rect">
            <a:avLst/>
          </a:prstGeom>
        </p:spPr>
      </p:pic>
    </p:spTree>
    <p:extLst>
      <p:ext uri="{BB962C8B-B14F-4D97-AF65-F5344CB8AC3E}">
        <p14:creationId xmlns:p14="http://schemas.microsoft.com/office/powerpoint/2010/main" val="323910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fontScale="90000"/>
          </a:bodyPr>
          <a:lstStyle/>
          <a:p>
            <a:r>
              <a:rPr lang="en-US" dirty="0"/>
              <a:t>Applications of </a:t>
            </a:r>
            <a:r>
              <a:rPr lang="en-US" dirty="0" err="1"/>
              <a:t>Astable</a:t>
            </a:r>
            <a:r>
              <a:rPr lang="en-US" dirty="0"/>
              <a:t> </a:t>
            </a:r>
            <a:r>
              <a:rPr lang="en-US" dirty="0" err="1"/>
              <a:t>Multivibrator</a:t>
            </a:r>
            <a:br>
              <a:rPr lang="en-US" dirty="0"/>
            </a:br>
            <a:r>
              <a:rPr lang="en-US" sz="3200" b="1" dirty="0"/>
              <a:t>FSK Generator</a:t>
            </a:r>
            <a:endParaRPr lang="en-IN" b="1" dirty="0"/>
          </a:p>
        </p:txBody>
      </p:sp>
      <p:pic>
        <p:nvPicPr>
          <p:cNvPr id="5" name="Picture 4">
            <a:extLst>
              <a:ext uri="{FF2B5EF4-FFF2-40B4-BE49-F238E27FC236}">
                <a16:creationId xmlns:a16="http://schemas.microsoft.com/office/drawing/2014/main" id="{F2FAC4D8-C1EB-494E-B8AC-1E9850556623}"/>
              </a:ext>
            </a:extLst>
          </p:cNvPr>
          <p:cNvPicPr>
            <a:picLocks noChangeAspect="1"/>
          </p:cNvPicPr>
          <p:nvPr/>
        </p:nvPicPr>
        <p:blipFill>
          <a:blip r:embed="rId2"/>
          <a:stretch>
            <a:fillRect/>
          </a:stretch>
        </p:blipFill>
        <p:spPr>
          <a:xfrm>
            <a:off x="7757508" y="1060627"/>
            <a:ext cx="4335671" cy="3824987"/>
          </a:xfrm>
          <a:prstGeom prst="rect">
            <a:avLst/>
          </a:prstGeom>
        </p:spPr>
      </p:pic>
      <p:pic>
        <p:nvPicPr>
          <p:cNvPr id="8" name="Picture 7">
            <a:extLst>
              <a:ext uri="{FF2B5EF4-FFF2-40B4-BE49-F238E27FC236}">
                <a16:creationId xmlns:a16="http://schemas.microsoft.com/office/drawing/2014/main" id="{6AE42C46-F929-4F6E-9925-4DAE0F6A9095}"/>
              </a:ext>
            </a:extLst>
          </p:cNvPr>
          <p:cNvPicPr>
            <a:picLocks noChangeAspect="1"/>
          </p:cNvPicPr>
          <p:nvPr/>
        </p:nvPicPr>
        <p:blipFill>
          <a:blip r:embed="rId3"/>
          <a:stretch>
            <a:fillRect/>
          </a:stretch>
        </p:blipFill>
        <p:spPr>
          <a:xfrm>
            <a:off x="2986070" y="2163550"/>
            <a:ext cx="1914525" cy="752475"/>
          </a:xfrm>
          <a:prstGeom prst="rect">
            <a:avLst/>
          </a:prstGeom>
        </p:spPr>
      </p:pic>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6"/>
            <a:ext cx="7908824" cy="596322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FSK mechanism transmits data with different frequencies for logic 0 and logic 1.</a:t>
            </a:r>
          </a:p>
          <a:p>
            <a:pPr algn="just"/>
            <a:r>
              <a:rPr lang="en-US" sz="2400" dirty="0"/>
              <a:t>In this circuit, a 555 timer is configured in </a:t>
            </a:r>
            <a:r>
              <a:rPr lang="en-US" sz="2400" dirty="0" err="1"/>
              <a:t>astable</a:t>
            </a:r>
            <a:r>
              <a:rPr lang="en-US" sz="2400" dirty="0"/>
              <a:t> mode so that it continuously generates square-wave oscillations.</a:t>
            </a:r>
          </a:p>
          <a:p>
            <a:pPr algn="just"/>
            <a:r>
              <a:rPr lang="en-US" sz="2400" dirty="0"/>
              <a:t>Initially the </a:t>
            </a:r>
            <a:r>
              <a:rPr lang="en-US" sz="2400" dirty="0" err="1"/>
              <a:t>astable</a:t>
            </a:r>
            <a:r>
              <a:rPr lang="en-US" sz="2400" dirty="0"/>
              <a:t> </a:t>
            </a:r>
            <a:r>
              <a:rPr lang="en-US" sz="2400" dirty="0" err="1"/>
              <a:t>multivibrator</a:t>
            </a:r>
            <a:r>
              <a:rPr lang="en-US" sz="2400" dirty="0"/>
              <a:t> operator works with a fixed frequency of </a:t>
            </a:r>
          </a:p>
          <a:p>
            <a:pPr algn="just"/>
            <a:endParaRPr lang="en-US" sz="2400" dirty="0"/>
          </a:p>
          <a:p>
            <a:pPr algn="just"/>
            <a:endParaRPr lang="en-US" sz="2400" dirty="0"/>
          </a:p>
          <a:p>
            <a:pPr algn="just"/>
            <a:r>
              <a:rPr lang="en-US" sz="2400" dirty="0"/>
              <a:t>The digital input applied to the circuit typically has a low frequency such as 150 Hz and represents the binary data to be transmitted.</a:t>
            </a:r>
          </a:p>
          <a:p>
            <a:pPr algn="just"/>
            <a:r>
              <a:rPr lang="en-US" sz="2400" dirty="0"/>
              <a:t>When the input signal is HIGH, transistor 𝑄𝑀​ remains OFF. In this condition, the 555 timer operates like a normal </a:t>
            </a:r>
            <a:r>
              <a:rPr lang="en-US" sz="2400" dirty="0" err="1"/>
              <a:t>astable</a:t>
            </a:r>
            <a:r>
              <a:rPr lang="en-US" sz="2400" dirty="0"/>
              <a:t> </a:t>
            </a:r>
            <a:r>
              <a:rPr lang="en-US" sz="2400" dirty="0" err="1"/>
              <a:t>multivibrator</a:t>
            </a:r>
            <a:r>
              <a:rPr lang="en-US" sz="2400" dirty="0"/>
              <a:t>.</a:t>
            </a:r>
          </a:p>
          <a:p>
            <a:pPr algn="just"/>
            <a:r>
              <a:rPr lang="en-US" sz="2400" dirty="0"/>
              <a:t>When the input signal becomes LOW, transistor 𝑄𝑀	​ turns ON. This connects an additional resistor 𝑅𝐶 in parallel with 𝑅𝐴	​.</a:t>
            </a:r>
          </a:p>
          <a:p>
            <a:pPr algn="just"/>
            <a:r>
              <a:rPr lang="en-US" sz="2400" dirty="0"/>
              <a:t>Because 𝑅𝐶 is connected across 𝑅𝐴 the effective resistance becomes 𝑅𝐴∥𝑅𝐶​. This reduced resistance alters the charging path of the capacitor.</a:t>
            </a:r>
          </a:p>
          <a:p>
            <a:pPr algn="just"/>
            <a:r>
              <a:rPr lang="en-US" sz="2400" dirty="0"/>
              <a:t>The new oscillation frequency produced when QMQ_MQM​ is ON is given by</a:t>
            </a:r>
          </a:p>
          <a:p>
            <a:pPr algn="just"/>
            <a:endParaRPr lang="en-US" sz="2400" dirty="0"/>
          </a:p>
          <a:p>
            <a:pPr algn="just"/>
            <a:endParaRPr lang="en-US" sz="2400" dirty="0"/>
          </a:p>
          <a:p>
            <a:pPr algn="just"/>
            <a:r>
              <a:rPr lang="en-US" sz="2400" dirty="0"/>
              <a:t>As the digital input switches between HIGH and LOW, the output alternates between </a:t>
            </a:r>
            <a:r>
              <a:rPr lang="en-US" sz="2400" b="1" dirty="0"/>
              <a:t>two different frequencies</a:t>
            </a:r>
            <a:r>
              <a:rPr lang="en-US" sz="2400" dirty="0"/>
              <a:t>, thereby encoding binary data using the </a:t>
            </a:r>
            <a:r>
              <a:rPr lang="en-US" sz="2400" b="1" dirty="0"/>
              <a:t>FSK modulation technique</a:t>
            </a:r>
            <a:r>
              <a:rPr lang="en-US" sz="2400" dirty="0"/>
              <a:t>.</a:t>
            </a:r>
          </a:p>
          <a:p>
            <a:pPr algn="just"/>
            <a:endParaRPr lang="en-US" sz="2400" dirty="0"/>
          </a:p>
        </p:txBody>
      </p:sp>
      <p:pic>
        <p:nvPicPr>
          <p:cNvPr id="13" name="Picture 12">
            <a:extLst>
              <a:ext uri="{FF2B5EF4-FFF2-40B4-BE49-F238E27FC236}">
                <a16:creationId xmlns:a16="http://schemas.microsoft.com/office/drawing/2014/main" id="{B590A116-C3A1-4FAA-B95C-1A0E214172C1}"/>
              </a:ext>
            </a:extLst>
          </p:cNvPr>
          <p:cNvPicPr>
            <a:picLocks noChangeAspect="1"/>
          </p:cNvPicPr>
          <p:nvPr/>
        </p:nvPicPr>
        <p:blipFill>
          <a:blip r:embed="rId4"/>
          <a:stretch>
            <a:fillRect/>
          </a:stretch>
        </p:blipFill>
        <p:spPr>
          <a:xfrm>
            <a:off x="2924156" y="5227410"/>
            <a:ext cx="2982027" cy="752474"/>
          </a:xfrm>
          <a:prstGeom prst="rect">
            <a:avLst/>
          </a:prstGeom>
        </p:spPr>
      </p:pic>
    </p:spTree>
    <p:extLst>
      <p:ext uri="{BB962C8B-B14F-4D97-AF65-F5344CB8AC3E}">
        <p14:creationId xmlns:p14="http://schemas.microsoft.com/office/powerpoint/2010/main" val="589365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a:bodyPr>
          <a:lstStyle/>
          <a:p>
            <a:r>
              <a:rPr lang="en-US" sz="3200" b="1" dirty="0"/>
              <a:t>Schmitt Trigger using 555 timer</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3" y="834886"/>
            <a:ext cx="6023752" cy="596322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The timer IC 555 can be used to function as a Schmitt trigger with variable threshold voltage levels.</a:t>
            </a:r>
          </a:p>
          <a:p>
            <a:pPr algn="just"/>
            <a:r>
              <a:rPr lang="en-US" sz="2400" dirty="0"/>
              <a:t>The two internal comparator inputs (pins 2 and 6) are connected together and externally biased with a voltage VCC /2 through R1 and R2 potential divider network.</a:t>
            </a:r>
          </a:p>
          <a:p>
            <a:pPr algn="just"/>
            <a:r>
              <a:rPr lang="en-US" sz="2400" dirty="0"/>
              <a:t>Since the voltage at pins 6 and 2 will trigger the upper comparator (UC) at (2/3)VCC and the lower comparator (LC) at (1/3)VCC , the bias provided by R1 and R2 is centered within these two threshold levels. </a:t>
            </a:r>
          </a:p>
          <a:p>
            <a:pPr algn="just"/>
            <a:r>
              <a:rPr lang="en-US" sz="2400" dirty="0"/>
              <a:t>When a sine wave input of sufficient amplitude (vi ), where vi is greater than [(2/3)VCC – (1/3)VCC] is applied to the circuit, it causes the internal flip-flop to alternatively Set and Reset generating a square wave output. </a:t>
            </a:r>
          </a:p>
        </p:txBody>
      </p:sp>
      <p:pic>
        <p:nvPicPr>
          <p:cNvPr id="3" name="Picture 2">
            <a:extLst>
              <a:ext uri="{FF2B5EF4-FFF2-40B4-BE49-F238E27FC236}">
                <a16:creationId xmlns:a16="http://schemas.microsoft.com/office/drawing/2014/main" id="{66D0B224-BB4D-4D94-BC2A-7D4A171A32EB}"/>
              </a:ext>
            </a:extLst>
          </p:cNvPr>
          <p:cNvPicPr>
            <a:picLocks noChangeAspect="1"/>
          </p:cNvPicPr>
          <p:nvPr/>
        </p:nvPicPr>
        <p:blipFill>
          <a:blip r:embed="rId2"/>
          <a:stretch>
            <a:fillRect/>
          </a:stretch>
        </p:blipFill>
        <p:spPr>
          <a:xfrm>
            <a:off x="7578456" y="240893"/>
            <a:ext cx="4181475" cy="3562350"/>
          </a:xfrm>
          <a:prstGeom prst="rect">
            <a:avLst/>
          </a:prstGeom>
        </p:spPr>
      </p:pic>
      <p:pic>
        <p:nvPicPr>
          <p:cNvPr id="4" name="Picture 3">
            <a:extLst>
              <a:ext uri="{FF2B5EF4-FFF2-40B4-BE49-F238E27FC236}">
                <a16:creationId xmlns:a16="http://schemas.microsoft.com/office/drawing/2014/main" id="{314B44EF-98C5-4261-B4CC-15342AC7548C}"/>
              </a:ext>
            </a:extLst>
          </p:cNvPr>
          <p:cNvPicPr>
            <a:picLocks noChangeAspect="1"/>
          </p:cNvPicPr>
          <p:nvPr/>
        </p:nvPicPr>
        <p:blipFill>
          <a:blip r:embed="rId3"/>
          <a:stretch>
            <a:fillRect/>
          </a:stretch>
        </p:blipFill>
        <p:spPr>
          <a:xfrm>
            <a:off x="6635920" y="4057104"/>
            <a:ext cx="5372100" cy="2371725"/>
          </a:xfrm>
          <a:prstGeom prst="rect">
            <a:avLst/>
          </a:prstGeom>
        </p:spPr>
      </p:pic>
    </p:spTree>
    <p:extLst>
      <p:ext uri="{BB962C8B-B14F-4D97-AF65-F5344CB8AC3E}">
        <p14:creationId xmlns:p14="http://schemas.microsoft.com/office/powerpoint/2010/main" val="1848385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a:bodyPr>
          <a:lstStyle/>
          <a:p>
            <a:r>
              <a:rPr lang="en-US" sz="3200" b="1" dirty="0"/>
              <a:t>Phase Locked Loop (PLL)</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2" y="834886"/>
            <a:ext cx="11467949" cy="58613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With the advancement of integrated-circuit technology </a:t>
            </a:r>
            <a:r>
              <a:rPr lang="en-IN" sz="2400" dirty="0"/>
              <a:t>PLL circuits became </a:t>
            </a:r>
            <a:r>
              <a:rPr lang="en-US" sz="2400" dirty="0"/>
              <a:t>fundamental building blocks in modern electronics</a:t>
            </a:r>
          </a:p>
          <a:p>
            <a:pPr algn="just"/>
            <a:r>
              <a:rPr lang="en-US" sz="2400" dirty="0"/>
              <a:t>PLLs are widely used in systems such as FM stereo decoders, motor speed control systems, tracking filters, frequency synthesizers in transmitters and receivers, FM demodulators, FSK decoders, and local oscillator generation in TV and FM tuners.</a:t>
            </a:r>
          </a:p>
          <a:p>
            <a:pPr algn="just"/>
            <a:r>
              <a:rPr lang="en-US" sz="2400" dirty="0"/>
              <a:t>A phase-locked loop consists of three main components:(1) Phase detector,(2) Low-pass filter, and(3) Voltage-controlled oscillator (VCO).</a:t>
            </a:r>
          </a:p>
          <a:p>
            <a:pPr algn="just"/>
            <a:r>
              <a:rPr lang="en-US" sz="2400" dirty="0"/>
              <a:t>The phase detector compares the input frequency 𝑓𝑖​ with the feedback frequency from the VCO and produces an output proportional to their phase difference.</a:t>
            </a:r>
          </a:p>
          <a:p>
            <a:pPr algn="just"/>
            <a:r>
              <a:rPr lang="en-US" sz="2400" dirty="0"/>
              <a:t>The output of the phase detector is a dc voltage proportional to the phase error, commonly called the error voltage.</a:t>
            </a:r>
          </a:p>
          <a:p>
            <a:pPr algn="just"/>
            <a:r>
              <a:rPr lang="en-US" sz="2400" dirty="0"/>
              <a:t>The low-pass filter removes high-frequency noise and ripple from the detector output and produces a smoother dc control voltage.</a:t>
            </a:r>
          </a:p>
          <a:p>
            <a:pPr algn="just"/>
            <a:r>
              <a:rPr lang="en-US" sz="2400" dirty="0"/>
              <a:t>In addition to filtering noise, the low-pass filter also determines the dynamic response and stability of the PLL.</a:t>
            </a:r>
          </a:p>
        </p:txBody>
      </p:sp>
    </p:spTree>
    <p:extLst>
      <p:ext uri="{BB962C8B-B14F-4D97-AF65-F5344CB8AC3E}">
        <p14:creationId xmlns:p14="http://schemas.microsoft.com/office/powerpoint/2010/main" val="3483937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9915-23F5-E742-F90D-849D9988DD7A}"/>
              </a:ext>
            </a:extLst>
          </p:cNvPr>
          <p:cNvSpPr>
            <a:spLocks noGrp="1"/>
          </p:cNvSpPr>
          <p:nvPr>
            <p:ph type="title"/>
          </p:nvPr>
        </p:nvSpPr>
        <p:spPr>
          <a:xfrm>
            <a:off x="588061" y="59892"/>
            <a:ext cx="10765739" cy="774995"/>
          </a:xfrm>
        </p:spPr>
        <p:txBody>
          <a:bodyPr>
            <a:normAutofit/>
          </a:bodyPr>
          <a:lstStyle/>
          <a:p>
            <a:r>
              <a:rPr lang="en-US" sz="3200" b="1" dirty="0"/>
              <a:t>Phase Locked Loop (PLL)</a:t>
            </a:r>
            <a:endParaRPr lang="en-IN" b="1" dirty="0"/>
          </a:p>
        </p:txBody>
      </p:sp>
      <p:sp>
        <p:nvSpPr>
          <p:cNvPr id="12" name="Content Placeholder 2">
            <a:extLst>
              <a:ext uri="{FF2B5EF4-FFF2-40B4-BE49-F238E27FC236}">
                <a16:creationId xmlns:a16="http://schemas.microsoft.com/office/drawing/2014/main" id="{DEF09DBD-5368-46EE-A8D0-DD602D082E5B}"/>
              </a:ext>
            </a:extLst>
          </p:cNvPr>
          <p:cNvSpPr txBox="1">
            <a:spLocks/>
          </p:cNvSpPr>
          <p:nvPr/>
        </p:nvSpPr>
        <p:spPr>
          <a:xfrm>
            <a:off x="588062" y="834887"/>
            <a:ext cx="11467949" cy="338542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The filtered dc voltage is applied to the voltage-controlled oscillator, whose output frequency is directly proportional to the input control voltage.</a:t>
            </a:r>
          </a:p>
          <a:p>
            <a:pPr algn="just"/>
            <a:r>
              <a:rPr lang="en-US" sz="2400" dirty="0"/>
              <a:t>The VCO output is continuously compared with the input signal, and its frequency is automatically adjusted until both signals match.</a:t>
            </a:r>
          </a:p>
          <a:p>
            <a:pPr algn="just"/>
            <a:r>
              <a:rPr lang="en-US" sz="2400" dirty="0"/>
              <a:t>Before the input signal is applied, the VCO oscillates at its natural free-running frequency called free running state.</a:t>
            </a:r>
          </a:p>
          <a:p>
            <a:pPr algn="just"/>
            <a:r>
              <a:rPr lang="en-US" sz="2400" dirty="0"/>
              <a:t>When the input signal is applied, the VCO frequency begins to change under the influence of the control voltage, and the PLL enters the capture mode.</a:t>
            </a:r>
          </a:p>
          <a:p>
            <a:pPr algn="just"/>
            <a:r>
              <a:rPr lang="en-US" sz="2400" dirty="0"/>
              <a:t>When the VCO frequency becomes equal to the input frequency, the loop reaches the phase-locked condition.</a:t>
            </a:r>
          </a:p>
          <a:p>
            <a:pPr algn="just"/>
            <a:r>
              <a:rPr lang="en-US" sz="2400" dirty="0"/>
              <a:t>Once locked, the PLL can track small changes in the input frequency by continuously adjusting the VCO frequency.</a:t>
            </a:r>
          </a:p>
        </p:txBody>
      </p:sp>
      <p:pic>
        <p:nvPicPr>
          <p:cNvPr id="5" name="Picture 4">
            <a:extLst>
              <a:ext uri="{FF2B5EF4-FFF2-40B4-BE49-F238E27FC236}">
                <a16:creationId xmlns:a16="http://schemas.microsoft.com/office/drawing/2014/main" id="{B38E7783-61BD-49E3-8CBB-02E903173C42}"/>
              </a:ext>
            </a:extLst>
          </p:cNvPr>
          <p:cNvPicPr>
            <a:picLocks noChangeAspect="1"/>
          </p:cNvPicPr>
          <p:nvPr/>
        </p:nvPicPr>
        <p:blipFill>
          <a:blip r:embed="rId2"/>
          <a:stretch>
            <a:fillRect/>
          </a:stretch>
        </p:blipFill>
        <p:spPr>
          <a:xfrm>
            <a:off x="2312011" y="3936756"/>
            <a:ext cx="8533694" cy="2861352"/>
          </a:xfrm>
          <a:prstGeom prst="rect">
            <a:avLst/>
          </a:prstGeom>
        </p:spPr>
      </p:pic>
    </p:spTree>
    <p:extLst>
      <p:ext uri="{BB962C8B-B14F-4D97-AF65-F5344CB8AC3E}">
        <p14:creationId xmlns:p14="http://schemas.microsoft.com/office/powerpoint/2010/main" val="608107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2093</Words>
  <Application>Microsoft Office PowerPoint</Application>
  <PresentationFormat>Widescreen</PresentationFormat>
  <Paragraphs>127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IC 555 Timer</vt:lpstr>
      <vt:lpstr>PowerPoint Presentation</vt:lpstr>
      <vt:lpstr>Monostable Multivibrator</vt:lpstr>
      <vt:lpstr>PowerPoint Presentation</vt:lpstr>
      <vt:lpstr>PowerPoint Presentation</vt:lpstr>
      <vt:lpstr>PowerPoint Presentation</vt:lpstr>
      <vt:lpstr>PowerPoint Presentation</vt:lpstr>
      <vt:lpstr>Astable Multivibrator</vt:lpstr>
      <vt:lpstr>PowerPoint Presentation</vt:lpstr>
      <vt:lpstr>PowerPoint Presentation</vt:lpstr>
      <vt:lpstr>PowerPoint Presentation</vt:lpstr>
      <vt:lpstr>PowerPoint Presentation</vt:lpstr>
      <vt:lpstr>PowerPoint Presentation</vt:lpstr>
      <vt:lpstr>PowerPoint Presentation</vt:lpstr>
      <vt:lpstr>Applications of Monostable Multivibrator Ramp Generator</vt:lpstr>
      <vt:lpstr>Applications of Monostable Multivibrator</vt:lpstr>
      <vt:lpstr>Frequency divider</vt:lpstr>
      <vt:lpstr>Pulse Width Modulator</vt:lpstr>
      <vt:lpstr>Applications of Astable Multivibrator FSK Generator</vt:lpstr>
      <vt:lpstr>Schmitt Trigger using 555 timer</vt:lpstr>
      <vt:lpstr>Phase Locked Loop (PLL)</vt:lpstr>
      <vt:lpstr>Phase Locked Loop (PLL)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 555 Timer</dc:title>
  <dc:creator>M S Krishna</dc:creator>
  <cp:lastModifiedBy>M S Krishna</cp:lastModifiedBy>
  <cp:revision>43</cp:revision>
  <dcterms:created xsi:type="dcterms:W3CDTF">2026-03-10T17:04:49Z</dcterms:created>
  <dcterms:modified xsi:type="dcterms:W3CDTF">2026-03-13T03:20:02Z</dcterms:modified>
</cp:coreProperties>
</file>